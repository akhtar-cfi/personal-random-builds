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png"/><Relationship Id="rId5" Type="http://schemas.openxmlformats.org/officeDocument/2006/relationships/image" Target="../media/image1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1691640" cy="2337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24367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AUGUST 2026  ·  NEW DELHI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i="0" spc="200">
                <a:solidFill>
                  <a:srgbClr val="4A35FF"/>
                </a:solidFill>
                <a:latin typeface="Montserrat"/>
              </a:rPr>
              <a:t>FOR DISCUSSION  ·  CRASHFREE INDIA × TRAFFICURE · GOOGLE MAPS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56816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181D"/>
                </a:solidFill>
                <a:latin typeface="Montserrat"/>
              </a:rPr>
              <a:t>The safety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3464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Traffic data already manages congestion.</a:t>
            </a:r>
          </a:p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Together it can start preventing crashes.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25196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chool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33974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8992" y="4297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Lead idea: the School Safety Index, prototype built, launching with government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map-pi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906670"/>
            <a:ext cx="190195" cy="190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" y="4864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Second idea: live crash hotspots, solved together through Project Rakshak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538581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handshak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5473598"/>
            <a:ext cx="190195" cy="1901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" y="543153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Both run through government doors we already hold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093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Ideas to shape together. Nothing here is a commitment.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7327" y="63093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crashfreeindia.org</a:t>
            </a:r>
          </a:p>
        </p:txBody>
      </p:sp>
      <p:pic>
        <p:nvPicPr>
          <p:cNvPr id="19" name="Picture 18" descr="slide_ssi_ind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051560"/>
            <a:ext cx="3246120" cy="253603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366760" y="1051560"/>
            <a:ext cx="3246120" cy="2536031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633311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School Safety Index, Delhi NCR prototype, live.</a:t>
            </a:r>
          </a:p>
        </p:txBody>
      </p:sp>
      <p:pic>
        <p:nvPicPr>
          <p:cNvPr id="22" name="Picture 21" descr="defect_live.png_3.55x1.60_0.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160520"/>
            <a:ext cx="3246120" cy="14630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366760" y="4160520"/>
            <a:ext cx="3246120" cy="146304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56692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Road-Infrastructure Defect Repository, live.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TRAFFICURE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01 · UNDERSTANDING TRAFFICURE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What TraffiCure is,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and what Pune 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Software only. No cameras, no sensors. Google Maps probe data, turned into a working tool for the people who run the roads.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05740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building-2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14518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0391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Built by Lepton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3911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Google Maps Platform Premier Partner, working with Google since 2010. TraffiCure launched 2025.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898648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gauge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2986430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2880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Runs on Roads Management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80360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Google's public-sector traffic feed, launched Aug 2025. Every road, refreshed every 2 minutes.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739896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mark_0A9955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3827678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37216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Live with Pune City Traffic Police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721608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Deployed January 2026, activated in weeks. Corridors also measured in Delhi, Hyderabad, Ahmedabad.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7091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THE PUNE RESULT, POLICE-MEASURED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292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3892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964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32704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roads watched live, every 2 minutes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98648" y="50292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513892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20 → 26.8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632704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km/h average speed, in a year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0368" y="50292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513892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632704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worst junctions ranked and briefed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2057400"/>
            <a:ext cx="37947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2240280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60">
                <a:solidFill>
                  <a:srgbClr val="4A35FF"/>
                </a:solidFill>
                <a:latin typeface="Montserrat"/>
              </a:rPr>
              <a:t>WHY PUNE MATTERS TO 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2606040"/>
            <a:ext cx="3392424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The police did not stop at watching traffic.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They ranked their worst junctions, diagnosed why each fails, and handed the municipal corporation an engineering brief. Fixes got built.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Data → ranked list → brief to authority → built fix.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That is exactly how Project Rakshak works. Same operating theory, different data.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01 · UNDERSTANDING THE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Five signals in the feed,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read through a safety 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The product was built to manage traffic. Every signal in it has a second life in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148840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gaug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69" y="2249789"/>
            <a:ext cx="218724" cy="2187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6736" y="212140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Live speeds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42316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Every road, every 2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2139696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How fast traffic really moves past a school gate at 8 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16352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953512"/>
            <a:ext cx="420624" cy="420624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database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69" y="3054461"/>
            <a:ext cx="218724" cy="2187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6736" y="29260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Speed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22783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Hourly, by road, in BigQuery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944368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Baselines: what is normal, what changed after a fix was built.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21024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758184"/>
            <a:ext cx="420624" cy="420624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s_0A9955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69" y="3859133"/>
            <a:ext cx="218724" cy="2187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16736" y="373075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Vehicle 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403250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Per road, per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374904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Exposure: how many vehicles pass the danger. Priority = risk × exposure.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4567" y="38130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2855" y="381304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26A00"/>
                </a:solidFill>
                <a:latin typeface="Montserrat"/>
              </a:rPr>
              <a:t>NEW · MAY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425696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4562856"/>
            <a:ext cx="420624" cy="420624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zap_B26A0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69" y="4663805"/>
            <a:ext cx="218724" cy="2187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16736" y="45354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Harsh braking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6736" y="483717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Anonymised points, junction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455371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Near-misses, visible before the crash. Their guide calls it the safety signal nobody else has.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24567" y="46177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2855" y="461772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26A00"/>
                </a:solidFill>
                <a:latin typeface="Montserrat"/>
              </a:rPr>
              <a:t>NEW · MAY 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230368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1520" y="536752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bot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69" y="5468477"/>
            <a:ext cx="218724" cy="21872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16736" y="53400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User-reported incidents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6736" y="564184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Crashes and hazards, from Maps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0208" y="5358384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Incidents the official record may never see.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24567" y="542239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42855" y="5422392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26A00"/>
                </a:solidFill>
                <a:latin typeface="Montserrat"/>
              </a:rPr>
              <a:t>NEW · MAY 2026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WHAT WE BRING TO DISCUSS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Two ideas we believe in,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one small one, and our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755648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4467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435608" y="1755648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school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46" y="1860986"/>
            <a:ext cx="228234" cy="2282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03120" y="16916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Idea 01 · School Safety Index ×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9339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The centrepiece: what is built, why it matters, the plan, and how we do it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4567" y="179222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05 – 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05456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96" y="2688336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67736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435608" y="2688336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map-pin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46" y="2793674"/>
            <a:ext cx="228234" cy="2282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03120" y="2624328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Idea 02 · Live hotspots × Project Rakshak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926080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The feed keeps the crash map alive; Rakshak turns it into audits, joint plans and built fixes.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24567" y="27249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09 – 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38144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" y="3621024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61005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1435608" y="3621024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landmar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946" y="3726362"/>
            <a:ext cx="228234" cy="2282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03120" y="355701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Idea 03 · The DRSC data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858768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Small and immediate: the feed, summarised monthly, on the table where districts decide.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4567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70832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8096" y="4553712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54274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1435608" y="4553712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building-2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946" y="4659050"/>
            <a:ext cx="228234" cy="2282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03120" y="448970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About us, briefly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791456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Who we are and SATARK, our enforcement platform with police.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4567" y="45902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12 – 13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03520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8096" y="5486400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47542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435608" y="5486400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handshak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0946" y="5591738"/>
            <a:ext cx="228234" cy="22823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103120" y="542239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Next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724144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Three steps, two questions, one date to fix.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24567" y="55229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14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01 · 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01 · SCHOOL SAFETY INDEX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A public grade for the road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outside every school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Prototype built and live. It grades the road, never the school, against IRC:SP:32, India's own school-zone standard.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1" i="0">
                <a:solidFill>
                  <a:srgbClr val="4A35FF"/>
                </a:solidFill>
                <a:latin typeface="Montserrat"/>
              </a:rPr>
              <a:t>3,814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18653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Delhi NCR schools mapped, prototype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210312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21284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1" i="0">
                <a:solidFill>
                  <a:srgbClr val="4A35FF"/>
                </a:solidFill>
                <a:latin typeface="Montserrat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706624"/>
            <a:ext cx="18653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checks per school zone, from IRC:SP:32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210312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21284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1" i="0">
                <a:solidFill>
                  <a:srgbClr val="4A35FF"/>
                </a:solidFill>
                <a:latin typeface="Montserrat"/>
              </a:rPr>
              <a:t>0–100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706624"/>
            <a:ext cx="18653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score per school, evidence photos pinned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can-lin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3699662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35935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How a school gets its 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59359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Street View imagery of the gate zone, scored by an AI auditor, independently verified before anything is published.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43484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footprints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522622"/>
            <a:ext cx="190195" cy="1901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4165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Grades that demand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41655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 low grade is a demand on the road-owning authority: the missing crossing, the absent speed hump, the broken footpath.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" y="525780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landmar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5345582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52395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Launch with government, planned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23951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Public launch being prepared with a government partner; our four district committee seats carry the worst zones into the statutory forum.</a:t>
            </a:r>
          </a:p>
        </p:txBody>
      </p:sp>
      <p:pic>
        <p:nvPicPr>
          <p:cNvPr id="29" name="Picture 28" descr="slide_ssi_ind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103120"/>
            <a:ext cx="2516428" cy="196596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818120" y="2103120"/>
            <a:ext cx="2516428" cy="19659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4114800"/>
            <a:ext cx="25164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The index, worst grades first.</a:t>
            </a:r>
          </a:p>
        </p:txBody>
      </p:sp>
      <p:pic>
        <p:nvPicPr>
          <p:cNvPr id="32" name="Picture 31" descr="opt_slide_ssi_school_15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343400"/>
            <a:ext cx="2117924" cy="173736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7818120" y="4343400"/>
            <a:ext cx="2117924" cy="17373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6126480"/>
            <a:ext cx="21179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 school's report card, evidence pinned.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01 · 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01 · WHY THIS MATTERS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Children die at fixable places,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and nobody keeps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The standard exists. The danger is measurable. What is missing is a public number that makes someone 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2624328" cy="12344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~10,000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2295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minors died on Indian roads in 2023 (MoRTH)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103120"/>
            <a:ext cx="2624328" cy="12344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212848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706624"/>
            <a:ext cx="2295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 crashes happen in school and college zones (e-DAR)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2103120"/>
            <a:ext cx="2624328" cy="12344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212848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10% → 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706624"/>
            <a:ext cx="2295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 child pedestrian's fatality risk, 30 vs 70 km/h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103120"/>
            <a:ext cx="2624328" cy="12344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2212848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706624"/>
            <a:ext cx="2295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Indian cities that rank school-zone danger today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3749039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users_0A9955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3836821"/>
            <a:ext cx="190195" cy="1901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373075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A number parents understand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730751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 grade at the gate makes invisible risk visible to the people with the most reason to demand the fix.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4571999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landmark_0A9955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659781"/>
            <a:ext cx="190195" cy="19019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455371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A number authorities can act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553711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Worst-first rankings become work orders: which 10 zones, which fixes, this budget cycle — through committees we already sit on.</a:t>
            </a:r>
          </a:p>
        </p:txBody>
      </p:sp>
      <p:sp>
        <p:nvSpPr>
          <p:cNvPr id="28" name="Oval 27"/>
          <p:cNvSpPr/>
          <p:nvPr/>
        </p:nvSpPr>
        <p:spPr>
          <a:xfrm>
            <a:off x="566928" y="5394959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git-compare_0A9955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5482741"/>
            <a:ext cx="190195" cy="19019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97280" y="537667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A number that proves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376671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Re-grade after the fix is built. With the speed layer, the improvement is measured, not claimed.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01 · 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01 · THE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From prototype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to public institution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Four phases. The first is done. The speed layer is where TraffiCure changes what this can 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262432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31720"/>
            <a:ext cx="11064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A9955"/>
                </a:solidFill>
                <a:latin typeface="Montserrat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0632"/>
            <a:ext cx="2295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29514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Delhi NCR: 3,814 schools mapped, rubric built on IRC:SP:32, pilot report cards live with pinned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5828" y="3520440"/>
            <a:ext cx="128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6E7180"/>
                </a:solidFill>
                <a:latin typeface="Montserrat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148840"/>
            <a:ext cx="262432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83864" y="233172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2331720"/>
            <a:ext cx="11064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770632"/>
            <a:ext cx="2295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Government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200400"/>
            <a:ext cx="229514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Validated first batch of ~100 zones; DRSC resolution; public launch with a named government partner.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8172" y="3520440"/>
            <a:ext cx="128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6E7180"/>
                </a:solidFill>
                <a:latin typeface="Montserrat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71616" y="2148840"/>
            <a:ext cx="262432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6208" y="233172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2331720"/>
            <a:ext cx="11064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B26A00"/>
                </a:solidFill>
                <a:latin typeface="Montserrat"/>
              </a:rPr>
              <a:t>WITH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770632"/>
            <a:ext cx="2295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The speed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200400"/>
            <a:ext cx="229514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Speed past the gate at school-run hours, harsh braking, vehicle counts: every school ranked by measured danger, a first for India.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0516" y="3520440"/>
            <a:ext cx="128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6E7180"/>
                </a:solidFill>
                <a:latin typeface="Montserrat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2148840"/>
            <a:ext cx="262432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88552" y="233172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331720"/>
            <a:ext cx="11064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E8A8A"/>
                </a:solidFill>
                <a:latin typeface="Montserrat"/>
              </a:rPr>
              <a:t>THEN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2" y="2770632"/>
            <a:ext cx="2295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Fix, re-grade,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3200400"/>
            <a:ext cx="229514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Worst zones into Rakshak audits and authority work orders; re-graded after fixes; Jaipur next, 1,572 schools already mapped.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77840"/>
            <a:ext cx="11057839" cy="73152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5669279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6181D"/>
                </a:solidFill>
                <a:latin typeface="Geist"/>
              </a:rPr>
              <a:t>The honest gate: </a:t>
            </a:r>
            <a:r>
              <a:rPr sz="1050" b="0" i="0">
                <a:solidFill>
                  <a:srgbClr val="16181D"/>
                </a:solidFill>
                <a:latin typeface="Geist"/>
              </a:rPr>
              <a:t>the speed layer ships only if RMI segments resolve short gate streets and school-run-hour slices. One technical session on 10 corridors we have already defined settles it in a week.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01 · 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01 · HOW WE TAKE IT FORWARD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Clear roles,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three steps, one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We hold the method and the government seats. You hold the data and the tooling. The launch names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76272"/>
            <a:ext cx="4992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 spc="160">
                <a:solidFill>
                  <a:srgbClr val="4A35FF"/>
                </a:solidFill>
                <a:latin typeface="Montserrat"/>
              </a:rPr>
              <a:t>CRASHFREE INDIA</a:t>
            </a:r>
          </a:p>
        </p:txBody>
      </p:sp>
      <p:pic>
        <p:nvPicPr>
          <p:cNvPr id="10" name="Picture 9" descr="badge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578608"/>
            <a:ext cx="219456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5568" y="255117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Index method, verification, publication</a:t>
            </a:r>
          </a:p>
        </p:txBody>
      </p:sp>
      <p:pic>
        <p:nvPicPr>
          <p:cNvPr id="12" name="Picture 11" descr="badge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081528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" y="305409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Field checks by student teams at worst-graded zones</a:t>
            </a:r>
          </a:p>
        </p:txBody>
      </p:sp>
      <p:pic>
        <p:nvPicPr>
          <p:cNvPr id="14" name="Picture 13" descr="badge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584448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55701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DRSC resolutions and the government launch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176272"/>
            <a:ext cx="4992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 spc="160">
                <a:solidFill>
                  <a:srgbClr val="0A9955"/>
                </a:solidFill>
                <a:latin typeface="Montserrat"/>
              </a:rPr>
              <a:t>TRAFFICURE + GOOGLE</a:t>
            </a:r>
          </a:p>
        </p:txBody>
      </p:sp>
      <p:pic>
        <p:nvPicPr>
          <p:cNvPr id="18" name="Picture 17" descr="badge-check_0A9955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578608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6560" y="255117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Speed, braking and count layers per school zone</a:t>
            </a:r>
          </a:p>
        </p:txBody>
      </p:sp>
      <p:pic>
        <p:nvPicPr>
          <p:cNvPr id="20" name="Picture 19" descr="badge-check_0A9955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3081528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66560" y="305409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Corridor tooling and school-run-hour slices</a:t>
            </a:r>
          </a:p>
        </p:txBody>
      </p:sp>
      <p:pic>
        <p:nvPicPr>
          <p:cNvPr id="22" name="Picture 21" descr="badge-check_0A9955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3584448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66560" y="355701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Terms for a public, attributed, nonprofit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572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NEXT STEPS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92040"/>
            <a:ext cx="3566160" cy="1143000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5038344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0273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02005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This week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367528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Technical session: Lepton + Maps + CFI on 10 gate corridors, already defined on our cloud project.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4892040"/>
            <a:ext cx="3566160" cy="1143000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98264" y="5038344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8264" y="50273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3752" y="502005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Weeks 2 –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8264" y="5367528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Joint speed-exposure scoring on the ~100-zone launch batch, thresholds agreed up front.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36992" y="4892040"/>
            <a:ext cx="3566160" cy="1143000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83296" y="5038344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3296" y="50273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8784" y="502005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Launch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5367528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Government launch of the index with the speed layer in, both names on it.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02 · 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IDEA 02 · LIVE HOTSPOTS × PROJECT RAKSHAK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Keep the crash map alive,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then fix 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Official blackspot lists update every few years. The feed can refresh the danger map monthly — and Rakshak already turns danger maps into built fixes.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4884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295144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zap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72" y="2391704"/>
            <a:ext cx="209214" cy="2092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6464" y="229514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Live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2651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speeds · braking · 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468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i="0">
                <a:solidFill>
                  <a:srgbClr val="4A35FF"/>
                </a:solidFill>
                <a:latin typeface="Montserrat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4568" y="214884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90872" y="2295144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map-pin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432" y="2391704"/>
            <a:ext cx="209214" cy="2092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21224" y="229514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+ Crash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651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police e-DAR, via our DRSC seats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2468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i="0">
                <a:solidFill>
                  <a:srgbClr val="4A35FF"/>
                </a:solidFill>
                <a:latin typeface="Montserrat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214884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EFED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85632" y="2295144"/>
            <a:ext cx="402336" cy="402336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ayers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192" y="2391704"/>
            <a:ext cx="209214" cy="2092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15984" y="229514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Live hotspot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2651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risk-ranked, refreshed monthly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8" y="365760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85632" y="3803904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search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192" y="3900464"/>
            <a:ext cx="209214" cy="20921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15984" y="380390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Rakshak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41605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student teams + certified auditors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44568" y="365760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EFED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90872" y="3803904"/>
            <a:ext cx="402336" cy="402336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landmark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432" y="3900464"/>
            <a:ext cx="209214" cy="20921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221224" y="380390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Joint plan to authority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21224" y="41605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the Pune move, for safety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55864" y="3977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i="0">
                <a:solidFill>
                  <a:srgbClr val="4A35FF"/>
                </a:solidFill>
                <a:latin typeface="Montserrat"/>
              </a:rPr>
              <a:t>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365760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6112" y="3803904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git-compare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672" y="3900464"/>
            <a:ext cx="209214" cy="20921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26464" y="380390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Fix built &amp; measured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" y="41605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before/after speeds, public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61104" y="3977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i="0">
                <a:solidFill>
                  <a:srgbClr val="4A35FF"/>
                </a:solidFill>
                <a:latin typeface="Montserrat"/>
              </a:rPr>
              <a:t>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8" y="3310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i="0">
                <a:solidFill>
                  <a:srgbClr val="4A35FF"/>
                </a:solidFill>
                <a:latin typeface="Montserrat"/>
              </a:rPr>
              <a:t>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49240"/>
            <a:ext cx="11057839" cy="77724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440679"/>
            <a:ext cx="10600639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6181D"/>
                </a:solidFill>
                <a:latin typeface="Geist"/>
              </a:rPr>
              <a:t>Why it works: </a:t>
            </a:r>
            <a:r>
              <a:rPr sz="1050" b="0" i="0">
                <a:solidFill>
                  <a:srgbClr val="16181D"/>
                </a:solidFill>
                <a:latin typeface="Geist"/>
              </a:rPr>
              <a:t>every piece already runs. 150+ audits planned this year, 15 fixes in implementation, 25+ authority approvals, dashboards live. The feed adds the one thing we cannot make: a danger map that never goes stale.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02 · 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IDEA 02 · WHAT EXISTS, AND THE NEXT 90 DAYS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Nothing to invent —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three moves to make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The audit machine, the government doors and the public dashboard exist. The feed plugs into all three.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2624328" cy="118872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1" i="0">
                <a:solidFill>
                  <a:srgbClr val="4A35FF"/>
                </a:solidFill>
                <a:latin typeface="Montserrat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60904"/>
            <a:ext cx="2295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police-mapped crash clusters in Jaipur, 361 GPS-located crashes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057400"/>
            <a:ext cx="2624328" cy="118872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167128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1" i="0">
                <a:solidFill>
                  <a:srgbClr val="4A35FF"/>
                </a:solidFill>
                <a:latin typeface="Montserrat"/>
              </a:rPr>
              <a:t>150+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60904"/>
            <a:ext cx="2295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blackspot audits planned this Rakshak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2057400"/>
            <a:ext cx="2624328" cy="118872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167128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1" i="0">
                <a:solidFill>
                  <a:srgbClr val="4A35FF"/>
                </a:solidFill>
                <a:latin typeface="Montserrat"/>
              </a:rPr>
              <a:t>75+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660904"/>
            <a:ext cx="2295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implementations targeted, each with a build 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59" y="2057400"/>
            <a:ext cx="2624328" cy="118872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1" y="2167128"/>
            <a:ext cx="2295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1" i="0">
                <a:solidFill>
                  <a:srgbClr val="4A35FF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1" y="2660904"/>
            <a:ext cx="2295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district committees where a joint plan can be tabled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204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685032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740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3739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Overlay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78808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Harsh braking + speeds over Jaipur's 96 clusters. Does the feed see the danger police already know? Four weeks, answer either way.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5204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16552" y="3685032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36740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3739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4178808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Subscribe corridors for 2 Rakshak sites entering construction now — so before/after proof starts with the build, not after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35204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01584" y="3685032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4" y="36740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6" y="3739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1584" y="4178808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 live speed panel per site on the public Rakshak dashboard: 'measured with Google road data'. The joint plan, visible to everyone.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577840"/>
            <a:ext cx="11057839" cy="73152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669279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6181D"/>
                </a:solidFill>
                <a:latin typeface="Geist"/>
              </a:rPr>
              <a:t>The honest gate: </a:t>
            </a:r>
            <a:r>
              <a:rPr sz="1050" b="0" i="0">
                <a:solidFill>
                  <a:srgbClr val="16181D"/>
                </a:solidFill>
                <a:latin typeface="Geist"/>
              </a:rPr>
              <a:t>if braking density is too thin at Jaipur's clusters, idea 02 narrows to before/after proof only — still worth having, and we say so in writing at day 30.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03 · DRSC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04 · IDEA 03 · SMALL, IMMEDIATE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The DRSC data pack: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feed, where decisions are made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District Road Safety Committees meet on a statutory calendar and decide with anecdotes. We sit on four of them.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14884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landmar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23662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1305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3055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One page per district, every month: speeds on the worst corridors, school-gate speeds, changes since last meeting. We format it; the committee decides with it.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10896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timer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196742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0906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Why it is easy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9067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Feed access for four districts, a template, nothing else. Live within a month of access; no product build, no launch, no risk.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06908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glob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156862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40507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What it does for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5079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Google's data enters the statutory record of four districts, every month, attributed — the quietest, fastest government-partnership story in this deck.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148840"/>
            <a:ext cx="3794760" cy="292608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331720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60">
                <a:solidFill>
                  <a:srgbClr val="4A35FF"/>
                </a:solidFill>
                <a:latin typeface="Montserrat"/>
              </a:rPr>
              <a:t>THE PACK, EACH MONTH</a:t>
            </a:r>
          </a:p>
        </p:txBody>
      </p:sp>
      <p:pic>
        <p:nvPicPr>
          <p:cNvPr id="22" name="Picture 21" descr="badge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6" y="2743200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66760" y="27157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Worst 5 corridors by measured speed</a:t>
            </a:r>
          </a:p>
        </p:txBody>
      </p:sp>
      <p:pic>
        <p:nvPicPr>
          <p:cNvPr id="24" name="Picture 23" descr="badge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6" y="3291840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66760" y="32644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School gates above safe speed at 8 am</a:t>
            </a:r>
          </a:p>
        </p:txBody>
      </p:sp>
      <p:pic>
        <p:nvPicPr>
          <p:cNvPr id="26" name="Picture 25" descr="badge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6" y="3840480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66760" y="38130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Change since last meeting, corridor by corridor</a:t>
            </a:r>
          </a:p>
        </p:txBody>
      </p:sp>
      <p:pic>
        <p:nvPicPr>
          <p:cNvPr id="28" name="Picture 27" descr="badge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6" y="4389120"/>
            <a:ext cx="219456" cy="2194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66760" y="43616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One before/after: did last month's action work?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05 · ABOUT 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Six lines of work,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one connected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nonprofit registered as the Vision Zero Trust · Co-founded by Cars24 and the Indian Road Safety Council · 18 cities · everything below is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plementation_work.jpg_3.95x1.28_0.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3611880" cy="11704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Student-led road audits, fixed with authorities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31 sites · 15 in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atark_billboard.jpg_3.95x1.28_0.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938528"/>
            <a:ext cx="3611880" cy="117043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88536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SATARK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AI support that helps police find high-risk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3,00,000+ vehicles screened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h_helpdesk_desk.jpg_3.95x1.28_0.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938528"/>
            <a:ext cx="3611880" cy="11704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10144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Victim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Aasha chatbot, calculator, hospital helpdesks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100+ victims helped in first 4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sctracker.png_3.95x1.28_0.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206240"/>
            <a:ext cx="3611880" cy="117043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66928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Open public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Four self-updating data platforms, free to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36 states &amp; 50 cities covered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slide_ssi_school.png_3.95x1.28_0.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4206240"/>
            <a:ext cx="3611880" cy="117043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288536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School Safety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Public grading of school-zone road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3,814 Delhi NCR schools mapped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ph_ideathon_winners.jpg_3.95x1.28_0.2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4206240"/>
            <a:ext cx="3611880" cy="117043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10144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Youth &amp; 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NextMile ideathon and national dialogue series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2,000+ participants engaged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05 · ABOUT US, SATARK IN THE FIELD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SATARK: AI that helps police stop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right 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Built with Cars24 engineers. Reads number plates, checks government records, and alerts officers to repeat offenders, in real time.</a:t>
            </a:r>
          </a:p>
        </p:txBody>
      </p:sp>
      <p:pic>
        <p:nvPicPr>
          <p:cNvPr id="8" name="Picture 7" descr="satark_billboard.jpg_4.35x2.65_0.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3977639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65960"/>
            <a:ext cx="3977639" cy="24231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434840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Rambagh Circle, Jaipur, live plate, pending challans and dues on a public billboard.</a:t>
            </a:r>
          </a:p>
        </p:txBody>
      </p:sp>
      <p:pic>
        <p:nvPicPr>
          <p:cNvPr id="11" name="Picture 10" descr="satark_officer_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65960"/>
            <a:ext cx="1828800" cy="215028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09160" y="1965960"/>
            <a:ext cx="1828800" cy="2150283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16196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view, challans,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RC &amp; compliance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screened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₹30 Cr+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pending challan value 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high-risk vehicles intercepted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70,019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found with pending challans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4848" y="3767328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767328"/>
            <a:ext cx="22037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A9955"/>
                </a:solidFill>
                <a:latin typeface="Montserrat"/>
              </a:rPr>
              <a:t>LIVE · Jaipur &amp; Bengaluru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76732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3767328"/>
            <a:ext cx="1563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NEW · Gurugram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26110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Bengaluru's Trinity Circle billboard was India's first, covered by Deccan Herald and national press. Pune and Ahmedabad are next.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" y="5358384"/>
            <a:ext cx="10326319" cy="0"/>
          </a:xfrm>
          <a:prstGeom prst="line">
            <a:avLst/>
          </a:prstGeom>
          <a:ln w="12700">
            <a:solidFill>
              <a:srgbClr val="E8E9EE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1038586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camera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24" y="5244266"/>
            <a:ext cx="228234" cy="22823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ANPR camera</a:t>
            </a:r>
          </a:p>
        </p:txBody>
      </p:sp>
      <p:sp>
        <p:nvSpPr>
          <p:cNvPr id="31" name="Oval 30"/>
          <p:cNvSpPr/>
          <p:nvPr/>
        </p:nvSpPr>
        <p:spPr>
          <a:xfrm>
            <a:off x="242081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can-lin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153" y="5244266"/>
            <a:ext cx="228234" cy="2282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4915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Plate read</a:t>
            </a:r>
          </a:p>
        </p:txBody>
      </p:sp>
      <p:sp>
        <p:nvSpPr>
          <p:cNvPr id="34" name="Oval 33"/>
          <p:cNvSpPr/>
          <p:nvPr/>
        </p:nvSpPr>
        <p:spPr>
          <a:xfrm>
            <a:off x="380304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databas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383" y="5244266"/>
            <a:ext cx="228234" cy="228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138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Records check</a:t>
            </a:r>
          </a:p>
        </p:txBody>
      </p:sp>
      <p:sp>
        <p:nvSpPr>
          <p:cNvPr id="37" name="Oval 36"/>
          <p:cNvSpPr/>
          <p:nvPr/>
        </p:nvSpPr>
        <p:spPr>
          <a:xfrm>
            <a:off x="518527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alert-triangle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0613" y="5244266"/>
            <a:ext cx="228234" cy="2282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1361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Risk flag</a:t>
            </a:r>
          </a:p>
        </p:txBody>
      </p:sp>
      <p:sp>
        <p:nvSpPr>
          <p:cNvPr id="40" name="Oval 39"/>
          <p:cNvSpPr/>
          <p:nvPr/>
        </p:nvSpPr>
        <p:spPr>
          <a:xfrm>
            <a:off x="656750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bell-ring_4A35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843" y="5244266"/>
            <a:ext cx="228234" cy="22823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9584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alert</a:t>
            </a:r>
          </a:p>
        </p:txBody>
      </p:sp>
      <p:sp>
        <p:nvSpPr>
          <p:cNvPr id="43" name="Oval 42"/>
          <p:cNvSpPr/>
          <p:nvPr/>
        </p:nvSpPr>
        <p:spPr>
          <a:xfrm>
            <a:off x="794973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monitor_4A35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5073" y="5244266"/>
            <a:ext cx="228234" cy="2282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47807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Billboard</a:t>
            </a:r>
          </a:p>
        </p:txBody>
      </p:sp>
      <p:sp>
        <p:nvSpPr>
          <p:cNvPr id="46" name="Oval 45"/>
          <p:cNvSpPr/>
          <p:nvPr/>
        </p:nvSpPr>
        <p:spPr>
          <a:xfrm>
            <a:off x="933196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hand_4A35FF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7303" y="5244266"/>
            <a:ext cx="228234" cy="2282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6030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Interception</a:t>
            </a:r>
          </a:p>
        </p:txBody>
      </p:sp>
      <p:sp>
        <p:nvSpPr>
          <p:cNvPr id="49" name="Oval 48"/>
          <p:cNvSpPr/>
          <p:nvPr/>
        </p:nvSpPr>
        <p:spPr>
          <a:xfrm>
            <a:off x="1071419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shield-check_4A35FF_256_2.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9533" y="5244266"/>
            <a:ext cx="228234" cy="22823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24253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Enforcement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06 · WHERE WE WOULD TAKE THIS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Three steps, two questions,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one date to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Everything on our side is funded and ready. The first step costs one afternoon.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THREE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4028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404872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9390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4597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Fix the technical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5351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Lepton + Maps + CFI, on real data: 10 school-gate corridors and Jaipur's 96 crash clusters, ready on our configured cloud project.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24028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2404872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239390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4597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Run the two overlays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95351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SSI speed scoring on the ~100-zone launch batch; braking over Jaipur's clusters. Thresholds agreed up front, results shared either 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36992" y="224028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01584" y="2404872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4" y="239390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24597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Put both names on what survives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295351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The index launch with government, and the live speed panel on the Rakshak dashboard.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06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TWO QUESTIONS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526280"/>
            <a:ext cx="5394960" cy="146304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70916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databas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8" y="4805720"/>
            <a:ext cx="209214" cy="20921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16736" y="476402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Access &amp; terms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184648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Can a nonprofit public index sit on the feed — braking and counts included — with attribution? Through Google, Lepton, or both?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526280"/>
            <a:ext cx="5394960" cy="146304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70916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360" y="4805720"/>
            <a:ext cx="209214" cy="20921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67728" y="476402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Which doors matter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184648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Which cities and stories help TraffiCure and RMI most next quarter? Our seats and MoUs work best pointed somewhere specific.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828800" cy="252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8288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Traffic data already runs the daily commute.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Together it can start preventing the crash.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74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C8C0FF"/>
                </a:solidFill>
                <a:latin typeface="Geist"/>
              </a:rPr>
              <a:t>Two ideas we believe in, one small one, and a technical session that settles the open questions in an afternoon.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4206240"/>
            <a:ext cx="4754880" cy="0"/>
          </a:xfrm>
          <a:prstGeom prst="line">
            <a:avLst/>
          </a:prstGeom>
          <a:ln w="12700">
            <a:solidFill>
              <a:srgbClr val="6A55FF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6692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Akhtar Hussain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914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Mission Lead · akhtar@crashfreeindia.org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Deepanshu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47914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Trustee · deepanshu@crashfreeindia.org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Gajendra Jangid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8" y="47914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Trustee · gajendra@crashfreeindia.org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Crashfree India · A Cars24 commitment · Operated by Vision Zero Trust, New Delhi · crashfreeindia.org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