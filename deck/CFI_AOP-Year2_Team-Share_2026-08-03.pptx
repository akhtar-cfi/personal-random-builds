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9.png"/><Relationship Id="rId4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24.png"/><Relationship Id="rId6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899855" y="0"/>
            <a:ext cx="3291840" cy="6858000"/>
          </a:xfrm>
          <a:prstGeom prst="rect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4-Point Star 3"/>
          <p:cNvSpPr/>
          <p:nvPr/>
        </p:nvSpPr>
        <p:spPr>
          <a:xfrm>
            <a:off x="9357055" y="502920"/>
            <a:ext cx="457200" cy="457200"/>
          </a:xfrm>
          <a:prstGeom prst="star4">
            <a:avLst/>
          </a:prstGeom>
          <a:solidFill>
            <a:srgbClr val="C8C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57055" y="210312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 spc="180">
                <a:solidFill>
                  <a:srgbClr val="FFFFFF"/>
                </a:solidFill>
                <a:latin typeface="Montserrat"/>
              </a:rPr>
              <a:t>PROJECT RAKSHAK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357055" y="2487168"/>
            <a:ext cx="2377440" cy="0"/>
          </a:xfrm>
          <a:prstGeom prst="line">
            <a:avLst/>
          </a:prstGeom>
          <a:ln w="9525">
            <a:solidFill>
              <a:srgbClr val="6A5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57055" y="2761488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 spc="180">
                <a:solidFill>
                  <a:srgbClr val="FFFFFF"/>
                </a:solidFill>
                <a:latin typeface="Montserrat"/>
              </a:rPr>
              <a:t>HIT &amp; RUN COMPENSATION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357055" y="3145536"/>
            <a:ext cx="2377440" cy="0"/>
          </a:xfrm>
          <a:prstGeom prst="line">
            <a:avLst/>
          </a:prstGeom>
          <a:ln w="9525">
            <a:solidFill>
              <a:srgbClr val="6A5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9357055" y="341985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 spc="180">
                <a:solidFill>
                  <a:srgbClr val="FFFFFF"/>
                </a:solidFill>
                <a:latin typeface="Montserrat"/>
              </a:rPr>
              <a:t>CIVIC &amp; GOVTECH  ·  SATARK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357055" y="3803904"/>
            <a:ext cx="2377440" cy="0"/>
          </a:xfrm>
          <a:prstGeom prst="line">
            <a:avLst/>
          </a:prstGeom>
          <a:ln w="9525">
            <a:solidFill>
              <a:srgbClr val="6A5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357055" y="4078224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 spc="180">
                <a:solidFill>
                  <a:srgbClr val="FFFFFF"/>
                </a:solidFill>
                <a:latin typeface="Montserrat"/>
              </a:rPr>
              <a:t>CAMPAIGN &amp; ENABLERS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357055" y="4462272"/>
            <a:ext cx="2377440" cy="0"/>
          </a:xfrm>
          <a:prstGeom prst="line">
            <a:avLst/>
          </a:prstGeom>
          <a:ln w="9525">
            <a:solidFill>
              <a:srgbClr val="6A5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357055" y="4736592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 spc="180">
                <a:solidFill>
                  <a:srgbClr val="FFFFFF"/>
                </a:solidFill>
                <a:latin typeface="Montserrat"/>
              </a:rPr>
              <a:t>BETS  ·  SSI + GIG RIDER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357055" y="5120640"/>
            <a:ext cx="2377440" cy="0"/>
          </a:xfrm>
          <a:prstGeom prst="line">
            <a:avLst/>
          </a:prstGeom>
          <a:ln w="9525">
            <a:solidFill>
              <a:srgbClr val="6A5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logo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2103120" cy="29061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" y="21488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ANNUAL OPERATING PLAN  ·  JULY 2026 - JUNE 2027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5146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1A1C1C"/>
                </a:solidFill>
                <a:latin typeface="Montserrat"/>
              </a:rPr>
              <a:t>From programmes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1546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4A35FF"/>
                </a:solidFill>
                <a:latin typeface="Montserrat"/>
              </a:rPr>
              <a:t>to institutions.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069080"/>
            <a:ext cx="7680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777589"/>
                </a:solidFill>
                <a:latin typeface="Geist"/>
              </a:rPr>
              <a:t>Year 2 runs three core programmes and one civic-tech vertical, deep not wide.</a:t>
            </a:r>
          </a:p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777589"/>
                </a:solidFill>
                <a:latin typeface="Geist"/>
              </a:rPr>
              <a:t>Everything else is an exploratory bet that must earn its way to scale.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5806440"/>
            <a:ext cx="7680960" cy="0"/>
          </a:xfrm>
          <a:prstGeom prst="line">
            <a:avLst/>
          </a:prstGeom>
          <a:ln w="12700">
            <a:solidFill>
              <a:srgbClr val="EDEE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5989320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 spc="140">
                <a:solidFill>
                  <a:srgbClr val="777589"/>
                </a:solidFill>
                <a:latin typeface="Montserrat"/>
              </a:rPr>
              <a:t>Vision Zero Trust  ·  Internal Planning Document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4-Point Star 2"/>
          <p:cNvSpPr/>
          <p:nvPr/>
        </p:nvSpPr>
        <p:spPr>
          <a:xfrm>
            <a:off x="11338560" y="292608"/>
            <a:ext cx="457200" cy="45720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4-Point Star 3"/>
          <p:cNvSpPr/>
          <p:nvPr/>
        </p:nvSpPr>
        <p:spPr>
          <a:xfrm>
            <a:off x="11064240" y="658368"/>
            <a:ext cx="274320" cy="27432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YEAR 1 IN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What one year of audit-led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put on the board.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47088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777589"/>
                </a:solidFill>
                <a:latin typeface="Geist"/>
              </a:rPr>
              <a:t>Cohort 1 proved the model: youth-generated audits can reach district officials and trigger engineering action.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514600"/>
            <a:ext cx="2587752" cy="148132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ap-pin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912" y="2715768"/>
            <a:ext cx="292608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8680" y="271576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4A35FF"/>
                </a:solidFill>
                <a:latin typeface="Montserrat"/>
              </a:rPr>
              <a:t>31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383280"/>
            <a:ext cx="2130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777589"/>
                </a:solidFill>
                <a:latin typeface="Geist"/>
              </a:rPr>
              <a:t>Priority sites audited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0712" y="2514600"/>
            <a:ext cx="2587752" cy="148132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building-2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544" y="2715768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639312" y="271576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4A35FF"/>
                </a:solidFill>
                <a:latin typeface="Montserrat"/>
              </a:rPr>
              <a:t>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3383280"/>
            <a:ext cx="2130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777589"/>
                </a:solidFill>
                <a:latin typeface="Geist"/>
              </a:rPr>
              <a:t>Cities engaged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2514600"/>
            <a:ext cx="2587752" cy="148132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ircle-check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6176" y="2715768"/>
            <a:ext cx="292608" cy="29260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09944" y="271576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4A35FF"/>
                </a:solidFill>
                <a:latin typeface="Montserrat"/>
              </a:rPr>
              <a:t>25+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3383280"/>
            <a:ext cx="2130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777589"/>
                </a:solidFill>
                <a:latin typeface="Geist"/>
              </a:rPr>
              <a:t>Approvals &amp; actions initiated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51976" y="2514600"/>
            <a:ext cx="2587752" cy="148132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hard-hat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36808" y="2715768"/>
            <a:ext cx="292608" cy="29260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180576" y="2715768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4A35FF"/>
                </a:solidFill>
                <a:latin typeface="Montserrat"/>
              </a:rPr>
              <a:t>7+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576" y="3383280"/>
            <a:ext cx="2130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777589"/>
                </a:solidFill>
                <a:latin typeface="Geist"/>
              </a:rPr>
              <a:t>Engineering works begun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224528"/>
            <a:ext cx="2587752" cy="148132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users_4A35FF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24912" y="4425696"/>
            <a:ext cx="292608" cy="2926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68680" y="4425696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4A35FF"/>
                </a:solidFill>
                <a:latin typeface="Montserrat"/>
              </a:rPr>
              <a:t>900+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093208"/>
            <a:ext cx="2130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777589"/>
                </a:solidFill>
                <a:latin typeface="Geist"/>
              </a:rPr>
              <a:t>Stakeholder surveys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10712" y="4224528"/>
            <a:ext cx="2587752" cy="148132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hand-helping_4A35FF_256_2.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95544" y="4425696"/>
            <a:ext cx="292608" cy="29260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639312" y="4425696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4A35FF"/>
                </a:solidFill>
                <a:latin typeface="Montserrat"/>
              </a:rPr>
              <a:t>120+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39312" y="5093208"/>
            <a:ext cx="2130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777589"/>
                </a:solidFill>
                <a:latin typeface="Geist"/>
              </a:rPr>
              <a:t>Victims &amp; families surveyed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81344" y="4224528"/>
            <a:ext cx="2587752" cy="148132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mic_4A35FF_256_2.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66176" y="4425696"/>
            <a:ext cx="292608" cy="29260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409944" y="4425696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4A35FF"/>
                </a:solidFill>
                <a:latin typeface="Montserrat"/>
              </a:rPr>
              <a:t>30+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9944" y="5093208"/>
            <a:ext cx="2130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777589"/>
                </a:solidFill>
                <a:latin typeface="Geist"/>
              </a:rPr>
              <a:t>Expert consultations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51976" y="4224528"/>
            <a:ext cx="2587752" cy="148132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megaphone_4A35FF_256_2.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36808" y="4425696"/>
            <a:ext cx="292608" cy="292608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180576" y="4425696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 i="0">
                <a:solidFill>
                  <a:srgbClr val="4A35FF"/>
                </a:solidFill>
                <a:latin typeface="Montserrat"/>
              </a:rPr>
              <a:t>1M+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0576" y="5093208"/>
            <a:ext cx="21305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777589"/>
                </a:solidFill>
                <a:latin typeface="Geist"/>
              </a:rPr>
              <a:t>Citizens reached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5897880"/>
            <a:ext cx="10911535" cy="384048"/>
          </a:xfrm>
          <a:prstGeom prst="roundRect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8978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1" i="0">
                <a:solidFill>
                  <a:srgbClr val="FFFFFF"/>
                </a:solidFill>
                <a:latin typeface="Montserrat"/>
              </a:rPr>
              <a:t>150+ members  ·  50+ experts  ·  AASHA chatbot live  ·  MoUs with Gurugram &amp; Jaipur Traffic Police  ·  DRSC integration begun in SW Delhi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CRASHFREE INDIA  ·  AOP 2026-27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2416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4-Point Star 2"/>
          <p:cNvSpPr/>
          <p:nvPr/>
        </p:nvSpPr>
        <p:spPr>
          <a:xfrm>
            <a:off x="11338560" y="292608"/>
            <a:ext cx="457200" cy="45720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4-Point Star 3"/>
          <p:cNvSpPr/>
          <p:nvPr/>
        </p:nvSpPr>
        <p:spPr>
          <a:xfrm>
            <a:off x="11064240" y="658368"/>
            <a:ext cx="274320" cy="27432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LEARNINGS FROM YEAR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Five lessons that rewired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the Year 2 plan.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10911535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2157984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adge-check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2240280"/>
            <a:ext cx="237744" cy="2377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17320" y="2084832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A1C1C"/>
                </a:solidFill>
                <a:latin typeface="Montserrat"/>
              </a:rPr>
              <a:t>Credibility is the currency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084832"/>
            <a:ext cx="39776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777589"/>
                </a:solidFill>
                <a:latin typeface="Geist"/>
              </a:rPr>
              <a:t>Energy and field discovery were strong; report quality must meet DRSC and NHAI standards without rework.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08483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160">
                <a:solidFill>
                  <a:srgbClr val="4A35FF"/>
                </a:solidFill>
                <a:latin typeface="Montserrat"/>
              </a:rPr>
              <a:t>IN Y2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95144"/>
            <a:ext cx="2880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1A1C1C"/>
                </a:solidFill>
                <a:latin typeface="Geist"/>
              </a:rPr>
              <a:t>Expert Consortium, certified RSAs, Rakshak Audit Manual v1.0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834640"/>
            <a:ext cx="10911535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1248" y="3026664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cale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3108960"/>
            <a:ext cx="237744" cy="2377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417320" y="2953512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A1C1C"/>
                </a:solidFill>
                <a:latin typeface="Montserrat"/>
              </a:rPr>
              <a:t>Awareness alone doesn't move claims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953512"/>
            <a:ext cx="39776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777589"/>
                </a:solidFill>
                <a:latin typeface="Geist"/>
              </a:rPr>
              <a:t>Institutional incapacity and process non-compliance - not just awareness gaps - drive claim dropout.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95351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160">
                <a:solidFill>
                  <a:srgbClr val="4A35FF"/>
                </a:solidFill>
                <a:latin typeface="Montserrat"/>
              </a:rPr>
              <a:t>IN Y2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163824"/>
            <a:ext cx="2880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1A1C1C"/>
                </a:solidFill>
                <a:latin typeface="Geist"/>
              </a:rPr>
              <a:t>Shift from awareness drives to stage-wise scheme audit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703320"/>
            <a:ext cx="10911535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1248" y="3895344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map-pin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3977640"/>
            <a:ext cx="237744" cy="23774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417320" y="3822192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A1C1C"/>
                </a:solidFill>
                <a:latin typeface="Montserrat"/>
              </a:rPr>
              <a:t>Depth beats breadth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3822192"/>
            <a:ext cx="39776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777589"/>
                </a:solidFill>
                <a:latin typeface="Geist"/>
              </a:rPr>
              <a:t>Parallel full-scale sites diluted bandwidth and institutional trust took longer than planned.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82219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160">
                <a:solidFill>
                  <a:srgbClr val="4A35FF"/>
                </a:solidFill>
                <a:latin typeface="Montserrat"/>
              </a:rPr>
              <a:t>IN Y2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032504"/>
            <a:ext cx="2880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1A1C1C"/>
                </a:solidFill>
                <a:latin typeface="Geist"/>
              </a:rPr>
              <a:t>Anchor districts + model-district approach; MACT reform deprioritised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572000"/>
            <a:ext cx="10911535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41248" y="4764024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clipboard-check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4846320"/>
            <a:ext cx="237744" cy="23774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417320" y="4690872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A1C1C"/>
                </a:solidFill>
                <a:latin typeface="Montserrat"/>
              </a:rPr>
              <a:t>Audits die at submission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3400" y="4690872"/>
            <a:ext cx="39776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777589"/>
                </a:solidFill>
                <a:latin typeface="Geist"/>
              </a:rPr>
              <a:t>Most audit programmes stop at report submission; follow-through is where impact happens.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469087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160">
                <a:solidFill>
                  <a:srgbClr val="4A35FF"/>
                </a:solidFill>
                <a:latin typeface="Montserrat"/>
              </a:rPr>
              <a:t>IN Y2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4901184"/>
            <a:ext cx="2880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1A1C1C"/>
                </a:solidFill>
                <a:latin typeface="Geist"/>
              </a:rPr>
              <a:t>Public accountability loop - every recommendation tracked to implementation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5440680"/>
            <a:ext cx="10911535" cy="7863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41248" y="5632704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ndian-rupee_4A35FF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544" y="5715000"/>
            <a:ext cx="237744" cy="23774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417320" y="5559552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A1C1C"/>
                </a:solidFill>
                <a:latin typeface="Montserrat"/>
              </a:rPr>
              <a:t>Plan with rigour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43400" y="5559552"/>
            <a:ext cx="397763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777589"/>
                </a:solidFill>
                <a:latin typeface="Geist"/>
              </a:rPr>
              <a:t>Prior plans carried loosely-scoped activities and untracked workstreams.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555955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160">
                <a:solidFill>
                  <a:srgbClr val="4A35FF"/>
                </a:solidFill>
                <a:latin typeface="Montserrat"/>
              </a:rPr>
              <a:t>IN Y2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5769864"/>
            <a:ext cx="28803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1A1C1C"/>
                </a:solidFill>
                <a:latin typeface="Geist"/>
              </a:rPr>
              <a:t>Unit-based planning, quarterly phasing, formula-driven rollups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CRASHFREE INDIA  ·  AOP 2026-27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2416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4-Point Star 2"/>
          <p:cNvSpPr/>
          <p:nvPr/>
        </p:nvSpPr>
        <p:spPr>
          <a:xfrm>
            <a:off x="11338560" y="292608"/>
            <a:ext cx="457200" cy="45720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4-Point Star 3"/>
          <p:cNvSpPr/>
          <p:nvPr/>
        </p:nvSpPr>
        <p:spPr>
          <a:xfrm>
            <a:off x="11064240" y="658368"/>
            <a:ext cx="274320" cy="27432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OBJECTIVES  ·  THE DESTINATION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What must be true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when Year 2 ends.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38528"/>
            <a:ext cx="10911535" cy="658368"/>
          </a:xfrm>
          <a:prstGeom prst="roundRect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38528"/>
            <a:ext cx="10271455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1" i="0" spc="180">
                <a:solidFill>
                  <a:srgbClr val="C8C0FF"/>
                </a:solidFill>
                <a:latin typeface="Montserrat"/>
              </a:rPr>
              <a:t>POSITION  </a:t>
            </a:r>
            <a:r>
              <a:rPr sz="1100" b="0" i="0">
                <a:solidFill>
                  <a:srgbClr val="FFFFFF"/>
                </a:solidFill>
                <a:latin typeface="Geist"/>
              </a:rPr>
              <a:t>By June 2027, CFI is India's audit-and-accountability institution for road safety - the organisation governments call to find where systems break, and to hold the fix to completion.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61488"/>
            <a:ext cx="5358384" cy="162763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8" y="2962656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hard-hat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3044952"/>
            <a:ext cx="237744" cy="2377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71600" y="2926080"/>
            <a:ext cx="4352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1C1C"/>
                </a:solidFill>
                <a:latin typeface="Montserrat"/>
              </a:rPr>
              <a:t>Rakshak runs inside institutions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200400"/>
            <a:ext cx="43525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19" b="0" i="0">
                <a:solidFill>
                  <a:srgbClr val="777589"/>
                </a:solidFill>
                <a:latin typeface="Geist"/>
              </a:rPr>
              <a:t>An audit pipeline owned by universities, NGO partners and certified RSAs - consortium, Audit Manual v1.0 and a public dashboard - that no longer needs CFI to push every audit.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096512"/>
            <a:ext cx="435254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120">
                <a:solidFill>
                  <a:srgbClr val="4A35FF"/>
                </a:solidFill>
                <a:latin typeface="Montserrat"/>
              </a:rPr>
              <a:t>Y3: national scale through chapters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2761488"/>
            <a:ext cx="5358384" cy="162763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82512" y="2962656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cale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3044952"/>
            <a:ext cx="237744" cy="23774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912864" y="2926080"/>
            <a:ext cx="4352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1C1C"/>
                </a:solidFill>
                <a:latin typeface="Montserrat"/>
              </a:rPr>
              <a:t>Compensation fixed, then replicated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12864" y="3200400"/>
            <a:ext cx="43525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19" b="0" i="0">
                <a:solidFill>
                  <a:srgbClr val="777589"/>
                </a:solidFill>
                <a:latin typeface="Geist"/>
              </a:rPr>
              <a:t>Two districts where the hit &amp; run claim pipeline demonstrably works, pilots running beyond them, and the process mapped in 8+ districts - a replication playbook, not a project.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12864" y="4096512"/>
            <a:ext cx="435254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120">
                <a:solidFill>
                  <a:srgbClr val="4A35FF"/>
                </a:solidFill>
                <a:latin typeface="Montserrat"/>
              </a:rPr>
              <a:t>Y3: state-level adoption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553712"/>
            <a:ext cx="5358384" cy="162763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1248" y="4754880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radar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4837176"/>
            <a:ext cx="237744" cy="23774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371600" y="4718304"/>
            <a:ext cx="4352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1C1C"/>
                </a:solidFill>
                <a:latin typeface="Montserrat"/>
              </a:rPr>
              <a:t>SATARK as public infrastructure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992624"/>
            <a:ext cx="43525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19" b="0" i="0">
                <a:solidFill>
                  <a:srgbClr val="777589"/>
                </a:solidFill>
                <a:latin typeface="Geist"/>
              </a:rPr>
              <a:t>Enforcement intelligence live in 30 cities, plus an active exploration track for new govtech products and digital public goods with government partners.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5888736"/>
            <a:ext cx="435254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120">
                <a:solidFill>
                  <a:srgbClr val="4A35FF"/>
                </a:solidFill>
                <a:latin typeface="Montserrat"/>
              </a:rPr>
              <a:t>Y3: the road-safety data layer for government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81344" y="4553712"/>
            <a:ext cx="5358384" cy="162763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382512" y="4754880"/>
            <a:ext cx="402336" cy="40233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megaphone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4808" y="4837176"/>
            <a:ext cx="237744" cy="237744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912864" y="4718304"/>
            <a:ext cx="43525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A1C1C"/>
                </a:solidFill>
                <a:latin typeface="Montserrat"/>
              </a:rPr>
              <a:t>A public evidence brand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2864" y="4992624"/>
            <a:ext cx="435254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19" b="0" i="0">
                <a:solidFill>
                  <a:srgbClr val="777589"/>
                </a:solidFill>
                <a:latin typeface="Geist"/>
              </a:rPr>
              <a:t>Four open data products cited by committees and press, 1M+ citizens engaged through the campaign, and both bets resolved with board-ready designs.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12864" y="5888736"/>
            <a:ext cx="435254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120">
                <a:solidFill>
                  <a:srgbClr val="4A35FF"/>
                </a:solidFill>
                <a:latin typeface="Montserrat"/>
              </a:rPr>
              <a:t>Y3: evidence citations drive inbound demand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CRASHFREE INDIA  ·  AOP 2026-27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4-Point Star 2"/>
          <p:cNvSpPr/>
          <p:nvPr/>
        </p:nvSpPr>
        <p:spPr>
          <a:xfrm>
            <a:off x="11338560" y="292608"/>
            <a:ext cx="457200" cy="45720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4-Point Star 3"/>
          <p:cNvSpPr/>
          <p:nvPr/>
        </p:nvSpPr>
        <p:spPr>
          <a:xfrm>
            <a:off x="11064240" y="658368"/>
            <a:ext cx="274320" cy="27432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YEAR 2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One operating model,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run deeper.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057400"/>
            <a:ext cx="457200" cy="457200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earch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2157984"/>
            <a:ext cx="256032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98448" y="203911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 spc="120">
                <a:solidFill>
                  <a:srgbClr val="1A1C1C"/>
                </a:solidFill>
                <a:latin typeface="Montserrat"/>
              </a:rPr>
              <a:t>01  ·  AUDIT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2331720"/>
            <a:ext cx="6035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777589"/>
                </a:solidFill>
                <a:latin typeface="Geist"/>
              </a:rPr>
              <a:t>Diagnose where systems break - blackspots, claim pipelines, school zones, platform practices - with evidence that survives institutional review.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429000"/>
            <a:ext cx="457200" cy="457200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megaphone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3529584"/>
            <a:ext cx="256032" cy="2560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98448" y="341071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 spc="120">
                <a:solidFill>
                  <a:srgbClr val="1A1C1C"/>
                </a:solidFill>
                <a:latin typeface="Montserrat"/>
              </a:rPr>
              <a:t>02  ·  ADVOCATE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3703320"/>
            <a:ext cx="6035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777589"/>
                </a:solidFill>
                <a:latin typeface="Geist"/>
              </a:rPr>
              <a:t>Turn evidence into stakeholder action: DRSC integration, co-designed fixes, model districts, a sustained publishing cadence.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800600"/>
            <a:ext cx="457200" cy="457200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hield-check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4901184"/>
            <a:ext cx="256032" cy="25603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98448" y="478231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 spc="120">
                <a:solidFill>
                  <a:srgbClr val="1A1C1C"/>
                </a:solidFill>
                <a:latin typeface="Montserrat"/>
              </a:rPr>
              <a:t>03  ·  HOLD ACCOUNTABLE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5074920"/>
            <a:ext cx="60350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777589"/>
                </a:solidFill>
                <a:latin typeface="Geist"/>
              </a:rPr>
              <a:t>Track every recommendation publicly from submission to implementation; escalate from district fixes to system reform.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2011680"/>
            <a:ext cx="3779215" cy="4160520"/>
          </a:xfrm>
          <a:prstGeom prst="roundRect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2331720"/>
            <a:ext cx="30476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spc="220">
                <a:solidFill>
                  <a:srgbClr val="C8C0FF"/>
                </a:solidFill>
                <a:latin typeface="Montserrat"/>
              </a:rPr>
              <a:t>THE YEAR 2 SHIFT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697480"/>
            <a:ext cx="304769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Montserrat"/>
              </a:rPr>
              <a:t>From programmes</a:t>
            </a:r>
          </a:p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FFFFFF"/>
                </a:solidFill>
                <a:latin typeface="Montserrat"/>
              </a:rPr>
              <a:t>to institutions.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138160" y="3611880"/>
            <a:ext cx="3047695" cy="0"/>
          </a:xfrm>
          <a:prstGeom prst="line">
            <a:avLst/>
          </a:prstGeom>
          <a:ln w="12700">
            <a:solidFill>
              <a:srgbClr val="6A5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8156448" y="3867912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94192" y="3794760"/>
            <a:ext cx="28190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FFFFFF"/>
                </a:solidFill>
                <a:latin typeface="Geist"/>
              </a:rPr>
              <a:t>Expert Consortium + Audit Manual v1.0 give audits institutional authority</a:t>
            </a:r>
          </a:p>
        </p:txBody>
      </p:sp>
      <p:sp>
        <p:nvSpPr>
          <p:cNvPr id="26" name="Oval 25"/>
          <p:cNvSpPr/>
          <p:nvPr/>
        </p:nvSpPr>
        <p:spPr>
          <a:xfrm>
            <a:off x="8156448" y="4453128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94192" y="4379976"/>
            <a:ext cx="28190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FFFFFF"/>
                </a:solidFill>
                <a:latin typeface="Geist"/>
              </a:rPr>
              <a:t>Model districts, not scattered pilots - Gurugram, SW Delhi, anchor cities</a:t>
            </a:r>
          </a:p>
        </p:txBody>
      </p:sp>
      <p:sp>
        <p:nvSpPr>
          <p:cNvPr id="28" name="Oval 27"/>
          <p:cNvSpPr/>
          <p:nvPr/>
        </p:nvSpPr>
        <p:spPr>
          <a:xfrm>
            <a:off x="8156448" y="5038344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94192" y="4965192"/>
            <a:ext cx="28190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FFFFFF"/>
                </a:solidFill>
                <a:latin typeface="Geist"/>
              </a:rPr>
              <a:t>Civic tech in government hands: SATARK enforcement + four open data products</a:t>
            </a:r>
          </a:p>
        </p:txBody>
      </p:sp>
      <p:sp>
        <p:nvSpPr>
          <p:cNvPr id="30" name="Oval 29"/>
          <p:cNvSpPr/>
          <p:nvPr/>
        </p:nvSpPr>
        <p:spPr>
          <a:xfrm>
            <a:off x="8156448" y="5623560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94192" y="5550408"/>
            <a:ext cx="28190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FFFFFF"/>
                </a:solidFill>
                <a:latin typeface="Geist"/>
              </a:rPr>
              <a:t>Publishing cadence: monthly field notes, quarterly findings, year-end audit reports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CRASHFREE INDIA  ·  AOP 2026-27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4-Point Star 2"/>
          <p:cNvSpPr/>
          <p:nvPr/>
        </p:nvSpPr>
        <p:spPr>
          <a:xfrm>
            <a:off x="11338560" y="292608"/>
            <a:ext cx="457200" cy="45720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4-Point Star 3"/>
          <p:cNvSpPr/>
          <p:nvPr/>
        </p:nvSpPr>
        <p:spPr>
          <a:xfrm>
            <a:off x="11064240" y="658368"/>
            <a:ext cx="274320" cy="27432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KEY FOCUS AREAS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Three core programmes,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two exploratory bets.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47088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777589"/>
                </a:solidFill>
                <a:latin typeface="Geist"/>
              </a:rPr>
              <a:t>Each core programme has a north-star outcome. Bets are exploratory - they scale only if their pilots earn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87168"/>
            <a:ext cx="3511296" cy="221284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724912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hard-hat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825496"/>
            <a:ext cx="274320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36192" y="2724912"/>
            <a:ext cx="23408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1" i="0" spc="150">
                <a:solidFill>
                  <a:srgbClr val="4A35FF"/>
                </a:solidFill>
                <a:latin typeface="Montserrat"/>
              </a:rPr>
              <a:t>CORE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944368"/>
            <a:ext cx="23408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A1C1C"/>
                </a:solidFill>
                <a:latin typeface="Montserrat"/>
              </a:rPr>
              <a:t>Project Rakshak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383280"/>
            <a:ext cx="296265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Institutionalise the national audit pipeline: three-track model, Expert Consortium, Audit Manual v1.0.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187952"/>
            <a:ext cx="2962656" cy="347472"/>
          </a:xfrm>
          <a:prstGeom prst="roundRect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87952"/>
            <a:ext cx="296265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880" b="1" i="0">
                <a:solidFill>
                  <a:srgbClr val="FFFFFF"/>
                </a:solidFill>
                <a:latin typeface="Montserrat"/>
              </a:rPr>
              <a:t>150+ blackspots audited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256" y="2487168"/>
            <a:ext cx="3511296" cy="221284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08576" y="2724912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scale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825496"/>
            <a:ext cx="274320" cy="2743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230368" y="2724912"/>
            <a:ext cx="23408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1" i="0" spc="150">
                <a:solidFill>
                  <a:srgbClr val="4A35FF"/>
                </a:solidFill>
                <a:latin typeface="Montserrat"/>
              </a:rPr>
              <a:t>CORE 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0368" y="2944368"/>
            <a:ext cx="23408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A1C1C"/>
                </a:solidFill>
                <a:latin typeface="Montserrat"/>
              </a:rPr>
              <a:t>Hit &amp; Run Compensation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08576" y="3383280"/>
            <a:ext cx="296265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Fix the claim pipeline in two districts, pilot the playbook beyond them, and map the process in 8+ districts.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08576" y="4187952"/>
            <a:ext cx="2962656" cy="347472"/>
          </a:xfrm>
          <a:prstGeom prst="roundRect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08576" y="4187952"/>
            <a:ext cx="296265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880" b="1" i="0">
                <a:solidFill>
                  <a:srgbClr val="FFFFFF"/>
                </a:solidFill>
                <a:latin typeface="Montserrat"/>
              </a:rPr>
              <a:t>2 fixed  ·  8+ mapped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8432" y="2487168"/>
            <a:ext cx="3511296" cy="221284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02752" y="2724912"/>
            <a:ext cx="475488" cy="47548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radar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3336" y="2825496"/>
            <a:ext cx="274320" cy="2743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924544" y="2724912"/>
            <a:ext cx="23408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1" i="0" spc="150">
                <a:solidFill>
                  <a:srgbClr val="4A35FF"/>
                </a:solidFill>
                <a:latin typeface="Montserrat"/>
              </a:rPr>
              <a:t>CORE 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24544" y="2944368"/>
            <a:ext cx="23408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 i="0">
                <a:solidFill>
                  <a:srgbClr val="1A1C1C"/>
                </a:solidFill>
                <a:latin typeface="Montserrat"/>
              </a:rPr>
              <a:t>Civic &amp; GovTech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2" y="3383280"/>
            <a:ext cx="296265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Scale SATARK - the AI enforcement co-pilot for traffic police - to 30 cities; explore the next govtech products and partnerships.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02752" y="4187952"/>
            <a:ext cx="2962656" cy="347472"/>
          </a:xfrm>
          <a:prstGeom prst="roundRect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2752" y="4187952"/>
            <a:ext cx="2962656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880" b="1" i="0">
                <a:solidFill>
                  <a:srgbClr val="FFFFFF"/>
                </a:solidFill>
                <a:latin typeface="Montserrat"/>
              </a:rPr>
              <a:t>SATARK live in 30 cities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86460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spc="200">
                <a:solidFill>
                  <a:srgbClr val="4A35FF"/>
                </a:solidFill>
                <a:latin typeface="Montserrat"/>
              </a:rPr>
              <a:t>TWO BETS  ·  STAGE-GATED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5175504"/>
            <a:ext cx="5358384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22960" y="5431536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school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5513832"/>
            <a:ext cx="237744" cy="237744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371600" y="530352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A1C1C"/>
                </a:solidFill>
                <a:latin typeface="Montserrat"/>
              </a:rPr>
              <a:t>School Safety Index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5559552"/>
            <a:ext cx="320954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The 2,000-school index is parked. First step: validate the IRC:SP:32 rubric on ~100 schools in one city.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00016" y="5477256"/>
            <a:ext cx="1115568" cy="329184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00016" y="5477256"/>
            <a:ext cx="111556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819" b="1" i="0">
                <a:solidFill>
                  <a:srgbClr val="4A35FF"/>
                </a:solidFill>
                <a:latin typeface="Montserrat"/>
              </a:rPr>
              <a:t>Pilot on ~100 schools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81344" y="5175504"/>
            <a:ext cx="5358384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64224" y="5431536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bike_4A35FF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5513832"/>
            <a:ext cx="237744" cy="237744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912864" y="530352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A1C1C"/>
                </a:solidFill>
                <a:latin typeface="Montserrat"/>
              </a:rPr>
              <a:t>Gig Rider Safety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12864" y="5559552"/>
            <a:ext cx="320954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The national study is parked. First step: scoping study + first engagements with delivery platforms.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241280" y="5477256"/>
            <a:ext cx="1115568" cy="329184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241280" y="5477256"/>
            <a:ext cx="111556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819" b="1" i="0">
                <a:solidFill>
                  <a:srgbClr val="4A35FF"/>
                </a:solidFill>
                <a:latin typeface="Montserrat"/>
              </a:rPr>
              <a:t>Scoping + platforms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CRASHFREE INDIA  ·  AOP 2026-27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2416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4-Point Star 2"/>
          <p:cNvSpPr/>
          <p:nvPr/>
        </p:nvSpPr>
        <p:spPr>
          <a:xfrm>
            <a:off x="11338560" y="292608"/>
            <a:ext cx="457200" cy="45720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4-Point Star 3"/>
          <p:cNvSpPr/>
          <p:nvPr/>
        </p:nvSpPr>
        <p:spPr>
          <a:xfrm>
            <a:off x="11064240" y="658368"/>
            <a:ext cx="274320" cy="27432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DEEP DIVE  ·  CORE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Project Rakshak: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put the audit pipeline inside institutions.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spc="180">
                <a:solidFill>
                  <a:srgbClr val="4A35FF"/>
                </a:solidFill>
                <a:latin typeface="Montserrat"/>
              </a:rPr>
              <a:t>THE THREE-TRACK MODEL  ·  RUN BY INSTITUTIONS, NOT BY CFI ALONE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59152"/>
            <a:ext cx="685800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2505456"/>
            <a:ext cx="420624" cy="420624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532888"/>
            <a:ext cx="4206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44144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A1C1C"/>
                </a:solidFill>
                <a:latin typeface="Montserrat"/>
              </a:rPr>
              <a:t>Institutional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69748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IIT / NIT / SPA student teams under expert mentors; IRC-aligned rubric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551176"/>
            <a:ext cx="1051560" cy="329184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2551176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1" i="0">
                <a:solidFill>
                  <a:srgbClr val="4A35FF"/>
                </a:solidFill>
                <a:latin typeface="Montserrat"/>
              </a:rPr>
              <a:t>~90 sites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685800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3310128"/>
            <a:ext cx="420624" cy="420624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337560"/>
            <a:ext cx="4206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2461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A1C1C"/>
                </a:solidFill>
                <a:latin typeface="Montserrat"/>
              </a:rPr>
              <a:t>NGO Partners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502152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NGO field teams; 100% desk review + 10-15% physical re-checks by CFI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355848"/>
            <a:ext cx="1051560" cy="329184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3355848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1" i="0">
                <a:solidFill>
                  <a:srgbClr val="4A35FF"/>
                </a:solidFill>
                <a:latin typeface="Montserrat"/>
              </a:rPr>
              <a:t>~20 sites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968496"/>
            <a:ext cx="6858000" cy="71323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4114800"/>
            <a:ext cx="420624" cy="420624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142232"/>
            <a:ext cx="42062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0507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A1C1C"/>
                </a:solidFill>
                <a:latin typeface="Montserrat"/>
              </a:rPr>
              <a:t>Certified RSAs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306824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CRRI-certified auditors; full IRC SP:88 - usable by NHAI without rework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160520"/>
            <a:ext cx="1051560" cy="329184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4160520"/>
            <a:ext cx="10515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1" i="0">
                <a:solidFill>
                  <a:srgbClr val="4A35FF"/>
                </a:solidFill>
                <a:latin typeface="Montserrat"/>
              </a:rPr>
              <a:t>~40 sites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79145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 i="0">
                <a:solidFill>
                  <a:srgbClr val="1A1C1C"/>
                </a:solidFill>
                <a:latin typeface="Montserrat"/>
              </a:rPr>
              <a:t>Anchor districts:  </a:t>
            </a:r>
            <a:r>
              <a:rPr sz="950" b="0" i="0">
                <a:solidFill>
                  <a:srgbClr val="777589"/>
                </a:solidFill>
                <a:latin typeface="Geist"/>
              </a:rPr>
              <a:t>Gurugram (NH-48)  ·  SW Delhi (NH-48/44)  ·  Jaipur (NH-8)  ·  +10 exploratory cities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120640"/>
            <a:ext cx="6858000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0080" y="5120640"/>
            <a:ext cx="6858000" cy="29260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04672" y="5221224"/>
            <a:ext cx="91440" cy="91440"/>
          </a:xfrm>
          <a:prstGeom prst="ellipse">
            <a:avLst/>
          </a:prstGeom>
          <a:solidFill>
            <a:srgbClr val="F100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69264" y="5221224"/>
            <a:ext cx="91440" cy="91440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33856" y="5221224"/>
            <a:ext cx="91440" cy="91440"/>
          </a:xfrm>
          <a:prstGeom prst="ellipse">
            <a:avLst/>
          </a:prstGeom>
          <a:solidFill>
            <a:srgbClr val="00A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17320" y="5166360"/>
            <a:ext cx="5943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77589"/>
                </a:solidFill>
                <a:latin typeface="Geist"/>
              </a:rPr>
              <a:t>crashfreeindia.org/rakshak/dashboard</a:t>
            </a:r>
          </a:p>
        </p:txBody>
      </p:sp>
      <p:pic>
        <p:nvPicPr>
          <p:cNvPr id="37" name="Picture 36" descr="bar-chart-3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5541264"/>
            <a:ext cx="310896" cy="31089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298448" y="548640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1A1C1C"/>
                </a:solidFill>
                <a:latin typeface="Montserrat"/>
              </a:rPr>
              <a:t>Public accountability dashboard - the institutional spine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98448" y="5724144"/>
            <a:ext cx="6035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0" i="1">
                <a:solidFill>
                  <a:srgbClr val="777589"/>
                </a:solidFill>
                <a:latin typeface="Geist"/>
              </a:rPr>
              <a:t>Every site tracked in public: identification &gt; audit &gt; authority review &gt; engineering implementation.  [Insert live dashboard screenshot before circulation]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818120" y="2011680"/>
            <a:ext cx="3733495" cy="4114800"/>
          </a:xfrm>
          <a:prstGeom prst="roundRect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38160" y="2286000"/>
            <a:ext cx="3093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spc="200">
                <a:solidFill>
                  <a:srgbClr val="C8C0FF"/>
                </a:solidFill>
                <a:latin typeface="Montserrat"/>
              </a:rPr>
              <a:t>FY 2026-27 TARGETS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2670048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Montserrat"/>
              </a:rPr>
              <a:t>150+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89720" y="2715768"/>
            <a:ext cx="19961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i="0">
                <a:solidFill>
                  <a:srgbClr val="C8C0FF"/>
                </a:solidFill>
                <a:latin typeface="Geist"/>
              </a:rPr>
              <a:t>blackspots audited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60" y="3236976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Montserrat"/>
              </a:rPr>
              <a:t>100+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9720" y="3282696"/>
            <a:ext cx="19961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i="0">
                <a:solidFill>
                  <a:srgbClr val="C8C0FF"/>
                </a:solidFill>
                <a:latin typeface="Geist"/>
              </a:rPr>
              <a:t>recommendations accepted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38160" y="3803904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Montserrat"/>
              </a:rPr>
              <a:t>75+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89720" y="3849624"/>
            <a:ext cx="19961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i="0">
                <a:solidFill>
                  <a:srgbClr val="C8C0FF"/>
                </a:solidFill>
                <a:latin typeface="Geist"/>
              </a:rPr>
              <a:t>implementations initiated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38160" y="4370832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Montserrat"/>
              </a:rPr>
              <a:t>12+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89720" y="4416552"/>
            <a:ext cx="19961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i="0">
                <a:solidFill>
                  <a:srgbClr val="C8C0FF"/>
                </a:solidFill>
                <a:latin typeface="Geist"/>
              </a:rPr>
              <a:t>DRSC presentations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38160" y="4937760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Montserrat"/>
              </a:rPr>
              <a:t>v1.0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89720" y="4983480"/>
            <a:ext cx="19961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" b="0" i="0">
                <a:solidFill>
                  <a:srgbClr val="C8C0FF"/>
                </a:solidFill>
                <a:latin typeface="Geist"/>
              </a:rPr>
              <a:t>Rakshak Audit Manual + 4 Expert Consortium meetings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138160" y="5596128"/>
            <a:ext cx="3093415" cy="0"/>
          </a:xfrm>
          <a:prstGeom prst="line">
            <a:avLst/>
          </a:prstGeom>
          <a:ln w="12700">
            <a:solidFill>
              <a:srgbClr val="6A5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CRASHFREE INDIA  ·  AOP 2026-27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2416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4-Point Star 2"/>
          <p:cNvSpPr/>
          <p:nvPr/>
        </p:nvSpPr>
        <p:spPr>
          <a:xfrm>
            <a:off x="11338560" y="292608"/>
            <a:ext cx="457200" cy="45720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4-Point Star 3"/>
          <p:cNvSpPr/>
          <p:nvPr/>
        </p:nvSpPr>
        <p:spPr>
          <a:xfrm>
            <a:off x="11064240" y="658368"/>
            <a:ext cx="274320" cy="27432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DEEP DIVE  ·  CORE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Hit &amp; Run Compensation: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fix two districts, map eight.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spc="200">
                <a:solidFill>
                  <a:srgbClr val="4A35FF"/>
                </a:solidFill>
                <a:latin typeface="Montserrat"/>
              </a:rPr>
              <a:t>FOUR PILLARS  ·  AUDIT-LED, RESEARCH-EMBEDDED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77440"/>
            <a:ext cx="6858000" cy="7589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2551176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earch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2633472"/>
            <a:ext cx="237744" cy="2377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89888" y="2478024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A1C1C"/>
                </a:solidFill>
                <a:latin typeface="Montserrat"/>
              </a:rPr>
              <a:t>Scheme audit &amp; process documentation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724912"/>
            <a:ext cx="5943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19" b="0" i="0">
                <a:solidFill>
                  <a:srgbClr val="777589"/>
                </a:solidFill>
                <a:latin typeface="Geist"/>
              </a:rPr>
              <a:t>Stage-wise pipeline audit in Gurugram: FIR to GI Council disbursal; 20-30 claims tracked end-to-end.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227832"/>
            <a:ext cx="6858000" cy="7589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3401568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andmark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3483864"/>
            <a:ext cx="237744" cy="23774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89888" y="3328416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A1C1C"/>
                </a:solidFill>
                <a:latin typeface="Montserrat"/>
              </a:rPr>
              <a:t>Institutional capacity building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3575304"/>
            <a:ext cx="5943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19" b="0" i="0">
                <a:solidFill>
                  <a:srgbClr val="777589"/>
                </a:solidFill>
                <a:latin typeface="Geist"/>
              </a:rPr>
              <a:t>Fellow-in-Residence at Tehsildar office; SOP reference cards; training-gap assessment - research-embedded, not social work.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078224"/>
            <a:ext cx="6858000" cy="7589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" y="4251960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bot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4334256"/>
            <a:ext cx="237744" cy="23774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389888" y="4178808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A1C1C"/>
                </a:solidFill>
                <a:latin typeface="Montserrat"/>
              </a:rPr>
              <a:t>Victim identification &amp; AASHA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9888" y="4425696"/>
            <a:ext cx="5943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19" b="0" i="0">
                <a:solidFill>
                  <a:srgbClr val="777589"/>
                </a:solidFill>
                <a:latin typeface="Geist"/>
              </a:rPr>
              <a:t>DLSA-partnered helpdesks; AASHA QR deployment at police stations and trauma centres; usage measured monthly.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928616"/>
            <a:ext cx="6858000" cy="75895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2960" y="5102352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file-text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5184648"/>
            <a:ext cx="237744" cy="23774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89888" y="502920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1A1C1C"/>
                </a:solidFill>
                <a:latin typeface="Montserrat"/>
              </a:rPr>
              <a:t>Policy audit &amp; advocacy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5276088"/>
            <a:ext cx="59436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19" b="0" i="0">
                <a:solidFill>
                  <a:srgbClr val="777589"/>
                </a:solidFill>
                <a:latin typeface="Geist"/>
              </a:rPr>
              <a:t>'Where the Pipeline Breaks' - comprehensive scheme audit submitted to MoRTH; quarterly findings + public brief.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8247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1A1C1C"/>
                </a:solidFill>
                <a:latin typeface="Montserrat"/>
              </a:rPr>
              <a:t>Fix &gt; pilot &gt; map:  </a:t>
            </a:r>
            <a:r>
              <a:rPr sz="1000" b="0" i="0">
                <a:solidFill>
                  <a:srgbClr val="777589"/>
                </a:solidFill>
                <a:latin typeface="Geist"/>
              </a:rPr>
              <a:t>FIX Gurugram + SW Delhi (measured uptake lift)  ·  PILOT the playbook in Jaipur + watchlist districts  ·  MAP the claim process in 8+ districts by June 2027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18120" y="2011680"/>
            <a:ext cx="3733495" cy="4114800"/>
          </a:xfrm>
          <a:prstGeom prst="roundRect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2286000"/>
            <a:ext cx="3093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spc="200">
                <a:solidFill>
                  <a:srgbClr val="C8C0FF"/>
                </a:solidFill>
                <a:latin typeface="Montserrat"/>
              </a:rPr>
              <a:t>FY 2026-27 TARGETS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2670048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2706624"/>
            <a:ext cx="19961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i="0">
                <a:solidFill>
                  <a:srgbClr val="C8C0FF"/>
                </a:solidFill>
                <a:latin typeface="Geist"/>
              </a:rPr>
              <a:t>districts FIXED - measured claim-uptake lift, -20% processing time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3236976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Montserrat"/>
              </a:rPr>
              <a:t>2+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20" y="3273552"/>
            <a:ext cx="19961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i="0">
                <a:solidFill>
                  <a:srgbClr val="C8C0FF"/>
                </a:solidFill>
                <a:latin typeface="Geist"/>
              </a:rPr>
              <a:t>districts PILOTING the fixed-pipeline playbook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3803904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Montserrat"/>
              </a:rPr>
              <a:t>8+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20" y="3840480"/>
            <a:ext cx="19961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i="0">
                <a:solidFill>
                  <a:srgbClr val="C8C0FF"/>
                </a:solidFill>
                <a:latin typeface="Geist"/>
              </a:rPr>
              <a:t>districts process-MAPPED by June 2027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4370832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Montserrat"/>
              </a:rPr>
              <a:t>20-30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9720" y="4407408"/>
            <a:ext cx="19961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i="0">
                <a:solidFill>
                  <a:srgbClr val="C8C0FF"/>
                </a:solidFill>
                <a:latin typeface="Geist"/>
              </a:rPr>
              <a:t>claims tracked FIR to disbursal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0" y="4937760"/>
            <a:ext cx="1051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89720" y="4974336"/>
            <a:ext cx="19961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i="0">
                <a:solidFill>
                  <a:srgbClr val="C8C0FF"/>
                </a:solidFill>
                <a:latin typeface="Geist"/>
              </a:rPr>
              <a:t>scheme audit report to MoRTH (Apr-May '27)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138160" y="5596128"/>
            <a:ext cx="3093415" cy="0"/>
          </a:xfrm>
          <a:prstGeom prst="line">
            <a:avLst/>
          </a:prstGeom>
          <a:ln w="12700">
            <a:solidFill>
              <a:srgbClr val="6A5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CRASHFREE INDIA  ·  AOP 2026-27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2416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4-Point Star 2"/>
          <p:cNvSpPr/>
          <p:nvPr/>
        </p:nvSpPr>
        <p:spPr>
          <a:xfrm>
            <a:off x="11338560" y="292608"/>
            <a:ext cx="457200" cy="45720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4-Point Star 3"/>
          <p:cNvSpPr/>
          <p:nvPr/>
        </p:nvSpPr>
        <p:spPr>
          <a:xfrm>
            <a:off x="11064240" y="658368"/>
            <a:ext cx="274320" cy="27432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DEEP DIVE  ·  CORE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Civic &amp; GovTech: take SATARK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from 2 cities to 30.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spc="180">
                <a:solidFill>
                  <a:srgbClr val="4A35FF"/>
                </a:solidFill>
                <a:latin typeface="Montserrat"/>
              </a:rPr>
              <a:t>SATARK  ·  THE ENFORCEMENT CO-PILOT FOR TRAFFIC POLICE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59152"/>
            <a:ext cx="1207008" cy="603504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59152"/>
            <a:ext cx="120700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i="0">
                <a:solidFill>
                  <a:srgbClr val="1A1C1C"/>
                </a:solidFill>
                <a:latin typeface="Montserrat"/>
              </a:rPr>
              <a:t>ANPR</a:t>
            </a:r>
          </a:p>
          <a:p>
            <a:pPr algn="ctr">
              <a:lnSpc>
                <a:spcPct val="115000"/>
              </a:lnSpc>
            </a:pPr>
            <a:r>
              <a:rPr sz="819" b="1" i="0">
                <a:solidFill>
                  <a:srgbClr val="1A1C1C"/>
                </a:solidFill>
                <a:latin typeface="Montserrat"/>
              </a:rPr>
              <a:t>plate scan</a:t>
            </a:r>
          </a:p>
        </p:txBody>
      </p:sp>
      <p:pic>
        <p:nvPicPr>
          <p:cNvPr id="11" name="Picture 10" descr="chevron-right_6A5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5376" y="2578608"/>
            <a:ext cx="164592" cy="16459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2048256" y="2359152"/>
            <a:ext cx="1207008" cy="603504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48256" y="2359152"/>
            <a:ext cx="120700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i="0">
                <a:solidFill>
                  <a:srgbClr val="1A1C1C"/>
                </a:solidFill>
                <a:latin typeface="Montserrat"/>
              </a:rPr>
              <a:t>ULIP</a:t>
            </a:r>
          </a:p>
          <a:p>
            <a:pPr algn="ctr">
              <a:lnSpc>
                <a:spcPct val="115000"/>
              </a:lnSpc>
            </a:pPr>
            <a:r>
              <a:rPr sz="819" b="1" i="0">
                <a:solidFill>
                  <a:srgbClr val="1A1C1C"/>
                </a:solidFill>
                <a:latin typeface="Montserrat"/>
              </a:rPr>
              <a:t>vehicle records</a:t>
            </a:r>
          </a:p>
        </p:txBody>
      </p:sp>
      <p:pic>
        <p:nvPicPr>
          <p:cNvPr id="14" name="Picture 13" descr="chevron-right_6A5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552" y="2578608"/>
            <a:ext cx="164592" cy="164592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3456432" y="2359152"/>
            <a:ext cx="1207008" cy="603504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56432" y="2359152"/>
            <a:ext cx="120700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i="0">
                <a:solidFill>
                  <a:srgbClr val="1A1C1C"/>
                </a:solidFill>
                <a:latin typeface="Montserrat"/>
              </a:rPr>
              <a:t>SATARK</a:t>
            </a:r>
          </a:p>
          <a:p>
            <a:pPr algn="ctr">
              <a:lnSpc>
                <a:spcPct val="115000"/>
              </a:lnSpc>
            </a:pPr>
            <a:r>
              <a:rPr sz="819" b="1" i="0">
                <a:solidFill>
                  <a:srgbClr val="1A1C1C"/>
                </a:solidFill>
                <a:latin typeface="Montserrat"/>
              </a:rPr>
              <a:t>rule engine</a:t>
            </a:r>
          </a:p>
        </p:txBody>
      </p:sp>
      <p:pic>
        <p:nvPicPr>
          <p:cNvPr id="17" name="Picture 16" descr="chevron-right_6A5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2578608"/>
            <a:ext cx="164592" cy="164592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4864608" y="2359152"/>
            <a:ext cx="1207008" cy="603504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4608" y="2359152"/>
            <a:ext cx="120700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i="0">
                <a:solidFill>
                  <a:srgbClr val="1A1C1C"/>
                </a:solidFill>
                <a:latin typeface="Montserrat"/>
              </a:rPr>
              <a:t>Billboard +</a:t>
            </a:r>
          </a:p>
          <a:p>
            <a:pPr algn="ctr">
              <a:lnSpc>
                <a:spcPct val="115000"/>
              </a:lnSpc>
            </a:pPr>
            <a:r>
              <a:rPr sz="819" b="1" i="0">
                <a:solidFill>
                  <a:srgbClr val="1A1C1C"/>
                </a:solidFill>
                <a:latin typeface="Montserrat"/>
              </a:rPr>
              <a:t>officer app</a:t>
            </a:r>
          </a:p>
        </p:txBody>
      </p:sp>
      <p:pic>
        <p:nvPicPr>
          <p:cNvPr id="20" name="Picture 19" descr="chevron-right_6A5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904" y="2578608"/>
            <a:ext cx="164592" cy="164592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272784" y="2359152"/>
            <a:ext cx="1207008" cy="603504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2784" y="2359152"/>
            <a:ext cx="120700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19" b="1" i="0">
                <a:solidFill>
                  <a:srgbClr val="1A1C1C"/>
                </a:solidFill>
                <a:latin typeface="Montserrat"/>
              </a:rPr>
              <a:t>Interception</a:t>
            </a:r>
          </a:p>
          <a:p>
            <a:pPr algn="ctr">
              <a:lnSpc>
                <a:spcPct val="115000"/>
              </a:lnSpc>
            </a:pPr>
            <a:r>
              <a:rPr sz="819" b="1" i="0">
                <a:solidFill>
                  <a:srgbClr val="1A1C1C"/>
                </a:solidFill>
                <a:latin typeface="Montserrat"/>
              </a:rPr>
              <a:t>logged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20040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spc="180">
                <a:solidFill>
                  <a:srgbClr val="4A35FF"/>
                </a:solidFill>
                <a:latin typeface="Montserrat"/>
              </a:rPr>
              <a:t>PROVEN IN THE FIELD  ·  CUMULATIVE, LIVE DEPLOYMENTS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529584"/>
            <a:ext cx="3337560" cy="71323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3621024"/>
            <a:ext cx="29352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1" i="0">
                <a:solidFill>
                  <a:srgbClr val="4A35FF"/>
                </a:solidFill>
                <a:latin typeface="Montserrat"/>
              </a:rPr>
              <a:t>3,00,000+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3931920"/>
            <a:ext cx="2935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vehicles scanned at live sites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60520" y="3529584"/>
            <a:ext cx="3337560" cy="71323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1688" y="3621024"/>
            <a:ext cx="29352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1" i="0">
                <a:solidFill>
                  <a:srgbClr val="4A35FF"/>
                </a:solidFill>
                <a:latin typeface="Montserrat"/>
              </a:rPr>
              <a:t>Rs 30 Cr+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61688" y="3931920"/>
            <a:ext cx="2935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pending challan value surfaced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379976"/>
            <a:ext cx="3337560" cy="71323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4471416"/>
            <a:ext cx="29352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1" i="0">
                <a:solidFill>
                  <a:srgbClr val="4A35FF"/>
                </a:solidFill>
                <a:latin typeface="Montserrat"/>
              </a:rPr>
              <a:t>350+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4782312"/>
            <a:ext cx="2935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vehicles intercepted in the field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60520" y="4379976"/>
            <a:ext cx="3337560" cy="713232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61688" y="4471416"/>
            <a:ext cx="29352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1" i="0">
                <a:solidFill>
                  <a:srgbClr val="4A35FF"/>
                </a:solidFill>
                <a:latin typeface="Montserrat"/>
              </a:rPr>
              <a:t>2 cities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61688" y="4782312"/>
            <a:ext cx="29352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live today - Jaipur &amp; Bengaluru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230368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spc="180">
                <a:solidFill>
                  <a:srgbClr val="4A35FF"/>
                </a:solidFill>
                <a:latin typeface="Montserrat"/>
              </a:rPr>
              <a:t>BEYOND SATARK  ·  DATA STACK + GOVTECH EXPLORATION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486400"/>
            <a:ext cx="6949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Sustain the four open data products: Defect Repository (daily, 146 districts) · Parliament tracker (1,423 questions) · SC Litigation Tracker · Crash Data Dashboard (CC-BY).</a:t>
            </a:r>
          </a:p>
          <a:p>
            <a:pPr algn="l">
              <a:lnSpc>
                <a:spcPct val="135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Scout the next govtech wedges: new digital public goods, state integrations, and partnerships across the ULIP / MoRTH ecosystem.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818120" y="2011680"/>
            <a:ext cx="3733495" cy="4114800"/>
          </a:xfrm>
          <a:prstGeom prst="roundRect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38160" y="2286000"/>
            <a:ext cx="3093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spc="200">
                <a:solidFill>
                  <a:srgbClr val="C8C0FF"/>
                </a:solidFill>
                <a:latin typeface="Montserrat"/>
              </a:rPr>
              <a:t>FY 2026-27 TARGETS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38160" y="269748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Montserrat"/>
              </a:rPr>
              <a:t>30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20" y="2743200"/>
            <a:ext cx="17675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i="0">
                <a:solidFill>
                  <a:srgbClr val="C8C0FF"/>
                </a:solidFill>
                <a:latin typeface="Geist"/>
              </a:rPr>
              <a:t>cities live with SATARK - Gurugram, Pune &amp; Ahmedabad first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3355848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Montserrat"/>
              </a:rPr>
              <a:t>1,000+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0" y="3401568"/>
            <a:ext cx="17675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i="0">
                <a:solidFill>
                  <a:srgbClr val="C8C0FF"/>
                </a:solidFill>
                <a:latin typeface="Geist"/>
              </a:rPr>
              <a:t>field interceptions logged - a floor, not a ceiling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60" y="4014216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18320" y="4059936"/>
            <a:ext cx="17675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i="0">
                <a:solidFill>
                  <a:srgbClr val="C8C0FF"/>
                </a:solidFill>
                <a:latin typeface="Geist"/>
              </a:rPr>
              <a:t>open data products sustained &amp; cited in DRSCs and press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38160" y="4672584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Montserrat"/>
              </a:rPr>
              <a:t>2+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18320" y="4718304"/>
            <a:ext cx="17675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 i="0">
                <a:solidFill>
                  <a:srgbClr val="C8C0FF"/>
                </a:solidFill>
                <a:latin typeface="Geist"/>
              </a:rPr>
              <a:t>new govtech / DPG opportunities scoped with partners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138160" y="5596128"/>
            <a:ext cx="3093415" cy="0"/>
          </a:xfrm>
          <a:prstGeom prst="line">
            <a:avLst/>
          </a:prstGeom>
          <a:ln w="12700">
            <a:solidFill>
              <a:srgbClr val="6A5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CRASHFREE INDIA  ·  AOP 2026-27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2416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4-Point Star 2"/>
          <p:cNvSpPr/>
          <p:nvPr/>
        </p:nvSpPr>
        <p:spPr>
          <a:xfrm>
            <a:off x="11338560" y="292608"/>
            <a:ext cx="457200" cy="45720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4-Point Star 3"/>
          <p:cNvSpPr/>
          <p:nvPr/>
        </p:nvSpPr>
        <p:spPr>
          <a:xfrm>
            <a:off x="11064240" y="658368"/>
            <a:ext cx="274320" cy="27432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THE BETS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Two bets, exploratory now 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scaled only if they earn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47088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777589"/>
                </a:solidFill>
                <a:latin typeface="Geist"/>
              </a:rPr>
              <a:t>School Safety and Gig Rider stay exploratory this year. Each runs a small pilot, released against a board-approved design.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68880"/>
            <a:ext cx="5358384" cy="3246120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724912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chool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834640"/>
            <a:ext cx="283464" cy="2834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54480" y="274320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0" b="1" i="0" spc="150">
                <a:solidFill>
                  <a:srgbClr val="4A35FF"/>
                </a:solidFill>
                <a:latin typeface="Montserrat"/>
              </a:rPr>
              <a:t>BET 01  ·  STAGE-GATED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97180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1A1C1C"/>
                </a:solidFill>
                <a:latin typeface="Montserrat"/>
              </a:rPr>
              <a:t>School Safety Index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93008"/>
            <a:ext cx="4809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1">
                <a:solidFill>
                  <a:srgbClr val="777589"/>
                </a:solidFill>
                <a:latin typeface="Geist"/>
              </a:rPr>
              <a:t>The 2,000-school index is parked, not killed.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1363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160">
                <a:solidFill>
                  <a:srgbClr val="4A35FF"/>
                </a:solidFill>
                <a:latin typeface="Montserrat"/>
              </a:rPr>
              <a:t>THE 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33088"/>
            <a:ext cx="480974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40" b="0" i="0">
                <a:solidFill>
                  <a:srgbClr val="1A1C1C"/>
                </a:solidFill>
                <a:latin typeface="Geist"/>
              </a:rPr>
              <a:t>Validate the IRC:SP:32-2023 rubric (44 checks, 13 sections) on ~100 school zones in one anchor city; test the Zone Captain audit model end-to-end.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6460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160">
                <a:solidFill>
                  <a:srgbClr val="4A35FF"/>
                </a:solidFill>
                <a:latin typeface="Montserrat"/>
              </a:rPr>
              <a:t>THE GATE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84064"/>
            <a:ext cx="48097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40" b="0" i="0">
                <a:solidFill>
                  <a:srgbClr val="1A1C1C"/>
                </a:solidFill>
                <a:latin typeface="Geist"/>
              </a:rPr>
              <a:t>A defensible per-school method and validated rubric &gt; board approves a multi-city index in Year 3.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81344" y="2468880"/>
            <a:ext cx="5358384" cy="3246120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55664" y="2724912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bike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2834640"/>
            <a:ext cx="283464" cy="28346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095744" y="274320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60" b="1" i="0" spc="150">
                <a:solidFill>
                  <a:srgbClr val="4A35FF"/>
                </a:solidFill>
                <a:latin typeface="Montserrat"/>
              </a:rPr>
              <a:t>BET 02  ·  STAGE-GATED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95744" y="297180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1A1C1C"/>
                </a:solidFill>
                <a:latin typeface="Montserrat"/>
              </a:rPr>
              <a:t>Gig Rider Safety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3493008"/>
            <a:ext cx="4809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1">
                <a:solidFill>
                  <a:srgbClr val="777589"/>
                </a:solidFill>
                <a:latin typeface="Geist"/>
              </a:rPr>
              <a:t>The national study is parked until the field model is proven.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391363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160">
                <a:solidFill>
                  <a:srgbClr val="4A35FF"/>
                </a:solidFill>
                <a:latin typeface="Montserrat"/>
              </a:rPr>
              <a:t>THE PILOT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5664" y="4133088"/>
            <a:ext cx="4809744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40" b="0" i="0">
                <a:solidFill>
                  <a:srgbClr val="1A1C1C"/>
                </a:solidFill>
                <a:latin typeface="Geist"/>
              </a:rPr>
              <a:t>Scoping study on gig rider crash data + first structured engagements with delivery platforms and OMI Foundation.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5664" y="486460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1" i="0" spc="160">
                <a:solidFill>
                  <a:srgbClr val="4A35FF"/>
                </a:solidFill>
                <a:latin typeface="Montserrat"/>
              </a:rPr>
              <a:t>THE GATE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5084064"/>
            <a:ext cx="48097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40" b="0" i="0">
                <a:solidFill>
                  <a:srgbClr val="1A1C1C"/>
                </a:solidFill>
                <a:latin typeface="Geist"/>
              </a:rPr>
              <a:t>3+ platforms at the table and a viable study design &gt; board approves the full programme in Year 3.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870448"/>
            <a:ext cx="10911535" cy="384048"/>
          </a:xfrm>
          <a:prstGeom prst="roundRect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870448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>
                <a:solidFill>
                  <a:srgbClr val="FFFFFF"/>
                </a:solidFill>
                <a:latin typeface="Montserrat"/>
              </a:rPr>
              <a:t>Both bets are stage-gated  ·  nothing scales without a board-approved design  ·  a proven bet returns as a Year 3 programme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CRASHFREE INDIA  ·  AOP 2026-27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4-Point Star 2"/>
          <p:cNvSpPr/>
          <p:nvPr/>
        </p:nvSpPr>
        <p:spPr>
          <a:xfrm>
            <a:off x="11338560" y="292608"/>
            <a:ext cx="457200" cy="45720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4-Point Star 3"/>
          <p:cNvSpPr/>
          <p:nvPr/>
        </p:nvSpPr>
        <p:spPr>
          <a:xfrm>
            <a:off x="11064240" y="658368"/>
            <a:ext cx="274320" cy="27432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OBJECTIVES &amp; KPIS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One north star per programme,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measured quarterly.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10911535" cy="7955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2157984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hard-hat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" y="2240280"/>
            <a:ext cx="237744" cy="2377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17320" y="2112264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A1C1C"/>
                </a:solidFill>
                <a:latin typeface="Montserrat"/>
              </a:rPr>
              <a:t>Project Rakshak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075688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1" i="0" spc="140">
                <a:solidFill>
                  <a:srgbClr val="4A35FF"/>
                </a:solidFill>
                <a:latin typeface="Montserrat"/>
              </a:rPr>
              <a:t>NORTH STAR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295144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C1C"/>
                </a:solidFill>
                <a:latin typeface="Geist"/>
              </a:rPr>
              <a:t>75+ implementations initiated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20756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1" i="0" spc="140">
                <a:solidFill>
                  <a:srgbClr val="777589"/>
                </a:solidFill>
                <a:latin typeface="Montserrat"/>
              </a:rPr>
              <a:t>SUPPORTING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295144"/>
            <a:ext cx="42062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150+ audits · 100+ recommendations accepted · 12+ DRSC presentations · Audit Manual v1.0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843784"/>
            <a:ext cx="10911535" cy="7955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" y="3035808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cale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3118104"/>
            <a:ext cx="237744" cy="23774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417320" y="2990088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A1C1C"/>
                </a:solidFill>
                <a:latin typeface="Montserrat"/>
              </a:rPr>
              <a:t>Hit &amp; Run Compensation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295351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1" i="0" spc="140">
                <a:solidFill>
                  <a:srgbClr val="4A35FF"/>
                </a:solidFill>
                <a:latin typeface="Montserrat"/>
              </a:rPr>
              <a:t>NORTH STAR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172968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C1C"/>
                </a:solidFill>
                <a:latin typeface="Geist"/>
              </a:rPr>
              <a:t>2 districts fixed, 8+ mapped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2953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1" i="0" spc="140">
                <a:solidFill>
                  <a:srgbClr val="777589"/>
                </a:solidFill>
                <a:latin typeface="Montserrat"/>
              </a:rPr>
              <a:t>SUPPORTING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172968"/>
            <a:ext cx="42062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-20% median processing time · 20-30 claims tracked · pilots beyond model districts · audit report to MoRTH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721608"/>
            <a:ext cx="10911535" cy="7955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41248" y="3913632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radar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44" y="3995928"/>
            <a:ext cx="237744" cy="23774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417320" y="3867912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A1C1C"/>
                </a:solidFill>
                <a:latin typeface="Montserrat"/>
              </a:rPr>
              <a:t>Civic &amp; GovTech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3831336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1" i="0" spc="140">
                <a:solidFill>
                  <a:srgbClr val="4A35FF"/>
                </a:solidFill>
                <a:latin typeface="Montserrat"/>
              </a:rPr>
              <a:t>NORTH STAR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4050792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C1C"/>
                </a:solidFill>
                <a:latin typeface="Geist"/>
              </a:rPr>
              <a:t>SATARK live in 30 cities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83133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1" i="0" spc="140">
                <a:solidFill>
                  <a:srgbClr val="777589"/>
                </a:solidFill>
                <a:latin typeface="Montserrat"/>
              </a:rPr>
              <a:t>SUPPORTING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4050792"/>
            <a:ext cx="42062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1,000+ interceptions logged · 4 open data products cited in DRSCs &amp; press · 2+ new govtech opportunities scoped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599432"/>
            <a:ext cx="10911535" cy="7955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1248" y="4791456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sprout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4873752"/>
            <a:ext cx="237744" cy="23774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417320" y="4745736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A1C1C"/>
                </a:solidFill>
                <a:latin typeface="Montserrat"/>
              </a:rPr>
              <a:t>Bets (SSI + Gig Rider)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4709160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1" i="0" spc="140">
                <a:solidFill>
                  <a:srgbClr val="4A35FF"/>
                </a:solidFill>
                <a:latin typeface="Montserrat"/>
              </a:rPr>
              <a:t>NORTH STAR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4928616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C1C"/>
                </a:solidFill>
                <a:latin typeface="Geist"/>
              </a:rPr>
              <a:t>2 board-ready pilot designs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470916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1" i="0" spc="140">
                <a:solidFill>
                  <a:srgbClr val="777589"/>
                </a:solidFill>
                <a:latin typeface="Montserrat"/>
              </a:rPr>
              <a:t>SUPPORTING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78040" y="4928616"/>
            <a:ext cx="42062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SSI rubric validated on ~100 schools · gig scoping study · 3+ platform engagements · scaled only on board approval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5477256"/>
            <a:ext cx="10911535" cy="7955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DEE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41248" y="5669280"/>
            <a:ext cx="402336" cy="402336"/>
          </a:xfrm>
          <a:prstGeom prst="ellipse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megaphone_4A35FF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544" y="5751576"/>
            <a:ext cx="237744" cy="23774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417320" y="5623560"/>
            <a:ext cx="2148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1A1C1C"/>
                </a:solidFill>
                <a:latin typeface="Montserrat"/>
              </a:rPr>
              <a:t>Campaign &amp; Comms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5586984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1" i="0" spc="140">
                <a:solidFill>
                  <a:srgbClr val="4A35FF"/>
                </a:solidFill>
                <a:latin typeface="Montserrat"/>
              </a:rPr>
              <a:t>NORTH STAR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0" y="580644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C1C"/>
                </a:solidFill>
                <a:latin typeface="Geist"/>
              </a:rPr>
              <a:t>1M+ engaged via 'Safety is the New Swag'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78040" y="558698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1" i="0" spc="140">
                <a:solidFill>
                  <a:srgbClr val="777589"/>
                </a:solidFill>
                <a:latin typeface="Montserrat"/>
              </a:rPr>
              <a:t>SUPPORTING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78040" y="5806440"/>
            <a:ext cx="42062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0" i="0">
                <a:solidFill>
                  <a:srgbClr val="777589"/>
                </a:solidFill>
                <a:latin typeface="Geist"/>
              </a:rPr>
              <a:t>50 micro-influencers · OOH in 3-4 cities · monthly field notes · quarterly findings · year-end reports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CRASHFREE INDIA  ·  AOP 2026-27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2416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4-Point Star 2"/>
          <p:cNvSpPr/>
          <p:nvPr/>
        </p:nvSpPr>
        <p:spPr>
          <a:xfrm>
            <a:off x="11338560" y="292608"/>
            <a:ext cx="457200" cy="45720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4-Point Star 3"/>
          <p:cNvSpPr/>
          <p:nvPr/>
        </p:nvSpPr>
        <p:spPr>
          <a:xfrm>
            <a:off x="11064240" y="658368"/>
            <a:ext cx="274320" cy="274320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029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ENABLERS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412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1A1C1C"/>
                </a:solidFill>
                <a:latin typeface="Montserrat"/>
              </a:rPr>
              <a:t>The campaign and the backbone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98448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 i="0">
                <a:solidFill>
                  <a:srgbClr val="4A35FF"/>
                </a:solidFill>
                <a:latin typeface="Montserrat"/>
              </a:rPr>
              <a:t>behind the plan.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spc="180">
                <a:solidFill>
                  <a:srgbClr val="4A35FF"/>
                </a:solidFill>
                <a:latin typeface="Montserrat"/>
              </a:rPr>
              <a:t>SAFETY IS THE NEW SWAG  ·  THE CAMPAIGN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77440"/>
            <a:ext cx="3310128" cy="148132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lapperboard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606040"/>
            <a:ext cx="292608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98448" y="2596896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A1C1C"/>
                </a:solidFill>
                <a:latin typeface="Montserrat"/>
              </a:rPr>
              <a:t>Media advocacy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99232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Editorial partnerships, radio &amp; podcast integration, PSA distribution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51376" y="2377440"/>
            <a:ext cx="3310128" cy="148132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lay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976" y="2606040"/>
            <a:ext cx="292608" cy="2926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809744" y="2596896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A1C1C"/>
                </a:solidFill>
                <a:latin typeface="Montserrat"/>
              </a:rPr>
              <a:t>Digital advocacy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9976" y="2999232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50 micro-influencers, branded short films, #SafeSwag digital IPs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41648"/>
            <a:ext cx="3310128" cy="148132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map-pin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270248"/>
            <a:ext cx="292608" cy="29260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98448" y="4261104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A1C1C"/>
                </a:solidFill>
                <a:latin typeface="Montserrat"/>
              </a:rPr>
              <a:t>Offline awareness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663440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OOH in 3-4 cities, guerilla installations, event co-branding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51376" y="4041648"/>
            <a:ext cx="3310128" cy="1481328"/>
          </a:xfrm>
          <a:prstGeom prst="roundRect">
            <a:avLst/>
          </a:prstGeom>
          <a:solidFill>
            <a:srgbClr val="F3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users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9976" y="4270248"/>
            <a:ext cx="292608" cy="29260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809744" y="4261104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1A1C1C"/>
                </a:solidFill>
                <a:latin typeface="Montserrat"/>
              </a:rPr>
              <a:t>Community mobilization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9976" y="4663440"/>
            <a:ext cx="285292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30" b="0" i="0">
                <a:solidFill>
                  <a:srgbClr val="777589"/>
                </a:solidFill>
                <a:latin typeface="Geist"/>
              </a:rPr>
              <a:t>College competitions, app-based engagement, real-life stories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06440"/>
            <a:ext cx="6766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1">
                <a:solidFill>
                  <a:srgbClr val="777589"/>
                </a:solidFill>
                <a:latin typeface="Geist"/>
              </a:rPr>
              <a:t>All four campaign pillars are now active workstreams (the prior plan ran only one of four).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18120" y="2011680"/>
            <a:ext cx="3733495" cy="4114800"/>
          </a:xfrm>
          <a:prstGeom prst="roundRect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2286000"/>
            <a:ext cx="3093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 spc="180">
                <a:solidFill>
                  <a:srgbClr val="C8C0FF"/>
                </a:solidFill>
                <a:latin typeface="Montserrat"/>
              </a:rPr>
              <a:t>ORG BACKBONE</a:t>
            </a:r>
          </a:p>
        </p:txBody>
      </p:sp>
      <p:pic>
        <p:nvPicPr>
          <p:cNvPr id="28" name="Picture 27" descr="users-round_C8C0FF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0" y="2743200"/>
            <a:ext cx="256032" cy="25603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8531352" y="2724912"/>
            <a:ext cx="26819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60" b="0" i="0">
                <a:solidFill>
                  <a:srgbClr val="FFFFFF"/>
                </a:solidFill>
                <a:latin typeface="Geist"/>
              </a:rPr>
              <a:t>Core team salaries &amp; benefits</a:t>
            </a:r>
          </a:p>
        </p:txBody>
      </p:sp>
      <p:pic>
        <p:nvPicPr>
          <p:cNvPr id="30" name="Picture 29" descr="landmark_C8C0FF_256_2.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60" y="3364992"/>
            <a:ext cx="256032" cy="25603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531352" y="3346704"/>
            <a:ext cx="26819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60" b="0" i="0">
                <a:solidFill>
                  <a:srgbClr val="FFFFFF"/>
                </a:solidFill>
                <a:latin typeface="Geist"/>
              </a:rPr>
              <a:t>IRSC institutional support &amp; expert consultation</a:t>
            </a:r>
          </a:p>
        </p:txBody>
      </p:sp>
      <p:pic>
        <p:nvPicPr>
          <p:cNvPr id="32" name="Picture 31" descr="bot_C8C0FF_256_2.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8160" y="3986784"/>
            <a:ext cx="256032" cy="25603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531352" y="3968496"/>
            <a:ext cx="26819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60" b="0" i="0">
                <a:solidFill>
                  <a:srgbClr val="FFFFFF"/>
                </a:solidFill>
                <a:latin typeface="Geist"/>
              </a:rPr>
              <a:t>IT, SaaS &amp; AI tooling (Workspace, Slack, Claude)</a:t>
            </a:r>
          </a:p>
        </p:txBody>
      </p:sp>
      <p:pic>
        <p:nvPicPr>
          <p:cNvPr id="34" name="Picture 33" descr="clipboard-check_C8C0FF_256_2.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38160" y="4608576"/>
            <a:ext cx="256032" cy="25603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531352" y="4590288"/>
            <a:ext cx="26819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60" b="0" i="0">
                <a:solidFill>
                  <a:srgbClr val="FFFFFF"/>
                </a:solidFill>
                <a:latin typeface="Geist"/>
              </a:rPr>
              <a:t>M&amp;E, statutory &amp; impact audit</a:t>
            </a:r>
          </a:p>
        </p:txBody>
      </p:sp>
      <p:pic>
        <p:nvPicPr>
          <p:cNvPr id="36" name="Picture 35" descr="briefcase_C8C0FF_256_2.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38160" y="5230368"/>
            <a:ext cx="256032" cy="25603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531352" y="5212080"/>
            <a:ext cx="26819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60" b="0" i="0">
                <a:solidFill>
                  <a:srgbClr val="FFFFFF"/>
                </a:solidFill>
                <a:latin typeface="Geist"/>
              </a:rPr>
              <a:t>Travel, branding, compliance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CRASHFREE INDIA  ·  AOP 2026-27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4160" y="65105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1" i="0" spc="160">
                <a:solidFill>
                  <a:srgbClr val="777589"/>
                </a:solidFill>
                <a:latin typeface="Montserrat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3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4-Point Star 2"/>
          <p:cNvSpPr/>
          <p:nvPr/>
        </p:nvSpPr>
        <p:spPr>
          <a:xfrm>
            <a:off x="11247120" y="320040"/>
            <a:ext cx="502920" cy="502920"/>
          </a:xfrm>
          <a:prstGeom prst="star4">
            <a:avLst/>
          </a:prstGeom>
          <a:solidFill>
            <a:srgbClr val="C8C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4-Point Star 3"/>
          <p:cNvSpPr/>
          <p:nvPr/>
        </p:nvSpPr>
        <p:spPr>
          <a:xfrm>
            <a:off x="10927080" y="731520"/>
            <a:ext cx="292608" cy="292608"/>
          </a:xfrm>
          <a:prstGeom prst="star4">
            <a:avLst/>
          </a:prstGeom>
          <a:solidFill>
            <a:srgbClr val="C8C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2103120" cy="2906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554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 spc="240">
                <a:solidFill>
                  <a:srgbClr val="C8C0FF"/>
                </a:solidFill>
                <a:latin typeface="Montserrat"/>
              </a:rPr>
              <a:t>WHAT SUCCESS LOOKS LIKE  ·  JUNE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FFFFFF"/>
                </a:solidFill>
                <a:latin typeface="Montserrat"/>
              </a:rPr>
              <a:t>Systems work because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C8C0FF"/>
                </a:solidFill>
                <a:latin typeface="Montserrat"/>
              </a:rPr>
              <a:t>we hold them accountable.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31927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heck_4A35FF_256_3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364992"/>
            <a:ext cx="182880" cy="182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97280" y="329184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FFFFFF"/>
                </a:solidFill>
                <a:latin typeface="Geist"/>
              </a:rPr>
              <a:t>Rakshak running inside institutions: consortium, Audit Manual v1.0, and a public dashboard tracking 75+ implementations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886200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eck_4A35FF_256_3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931920"/>
            <a:ext cx="182880" cy="182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97280" y="3858768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FFFFFF"/>
                </a:solidFill>
                <a:latin typeface="Geist"/>
              </a:rPr>
              <a:t>Claim pipeline fixed in two districts, piloted beyond them, and mapped in 8+ - a replication playbook, not a project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4453128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eck_4A35FF_256_3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498848"/>
            <a:ext cx="182880" cy="1828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97280" y="4425696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FFFFFF"/>
                </a:solidFill>
                <a:latin typeface="Geist"/>
              </a:rPr>
              <a:t>SATARK live in 30 cities, 1,000+ interceptions logged, and a govtech pipeline positioning CFI as government's road-safety data layer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5020056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eck_4A35FF_256_3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065776"/>
            <a:ext cx="182880" cy="1828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97280" y="4992624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FFFFFF"/>
                </a:solidFill>
                <a:latin typeface="Geist"/>
              </a:rPr>
              <a:t>Two board-ready pilot designs that decide whether School Safety and Gig Rider become full Year 3 programmes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5586984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heck_4A35FF_256_3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632704"/>
            <a:ext cx="182880" cy="1828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97280" y="5559552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FFFFFF"/>
                </a:solidFill>
                <a:latin typeface="Geist"/>
              </a:rPr>
              <a:t>An Expert Consortium, an Audit Manual, and a publishing cadence that outlive any single cohort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0080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1" i="0" spc="180">
                <a:solidFill>
                  <a:srgbClr val="C8C0FF"/>
                </a:solidFill>
                <a:latin typeface="Montserrat"/>
              </a:rPr>
              <a:t>CRASHFREE INDIA  ·  AOP 2026-27  ·  INTERNAL PLANNING DOCUMENT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