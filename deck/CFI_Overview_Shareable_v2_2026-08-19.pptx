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8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jpg"/><Relationship Id="rId9" Type="http://schemas.openxmlformats.org/officeDocument/2006/relationships/image" Target="../media/image4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png"/><Relationship Id="rId4" Type="http://schemas.openxmlformats.org/officeDocument/2006/relationships/image" Target="../media/image4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image" Target="../media/image5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image" Target="../media/image57.jp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image" Target="../media/image71.png"/><Relationship Id="rId13" Type="http://schemas.openxmlformats.org/officeDocument/2006/relationships/image" Target="../media/image72.png"/><Relationship Id="rId14" Type="http://schemas.openxmlformats.org/officeDocument/2006/relationships/image" Target="../media/image7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75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1691640" cy="2337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24367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1" i="0" spc="180">
                <a:solidFill>
                  <a:srgbClr val="6E7180"/>
                </a:solidFill>
                <a:latin typeface="Montserrat"/>
              </a:rPr>
              <a:t>ORGANISATION OVERVIEW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17904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 spc="220">
                <a:solidFill>
                  <a:srgbClr val="4A35FF"/>
                </a:solidFill>
                <a:latin typeface="Montserrat"/>
              </a:rPr>
              <a:t>A ROAD SAFETY NONPROFIT  ·  NEW DELHI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01952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6181D"/>
                </a:solidFill>
                <a:latin typeface="Montserrat"/>
              </a:rPr>
              <a:t>Crashfree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79776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4A35FF"/>
                </a:solidFill>
                <a:latin typeface="Montserrat"/>
              </a:rPr>
              <a:t>Technology and governance for road safety,</a:t>
            </a:r>
          </a:p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4A35FF"/>
                </a:solidFill>
                <a:latin typeface="Montserrat"/>
              </a:rPr>
              <a:t>built into an institution designed to make itself redundant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4133087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cpu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4220869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8992" y="4178807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Digital public goods: enforcement AI, open data platforms, victim tools on WhatsApp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681727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landmar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4769509"/>
            <a:ext cx="190195" cy="1901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8992" y="4727447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Governance from inside: 4 district committee seats, police MoUs, 25+ written approvals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5230367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building-2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5318149"/>
            <a:ext cx="190195" cy="1901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2" y="5276087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Standards, manuals and dashboards built so the system can run this work without 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87044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60">
                <a:solidFill>
                  <a:srgbClr val="4A35FF"/>
                </a:solidFill>
                <a:latin typeface="Montserrat"/>
              </a:rPr>
              <a:t>FOCUS AREAS   </a:t>
            </a:r>
            <a:r>
              <a:rPr sz="950" b="1" i="0">
                <a:solidFill>
                  <a:srgbClr val="16181D"/>
                </a:solidFill>
                <a:latin typeface="Montserrat"/>
              </a:rPr>
              <a:t>Road infrastructure · Enforcement · Crash compensation · Gig rider safety · School zones · Open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27648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Registered as the Vision Zero Trust · A Cars24 commitment · Co-founded with the Indian Road Safety Council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7327" y="63276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crashfreeindia.org</a:t>
            </a:r>
          </a:p>
        </p:txBody>
      </p:sp>
      <p:pic>
        <p:nvPicPr>
          <p:cNvPr id="20" name="Picture 19" descr="ph_dhoni_white.jpg_3.60x4.90_0.1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1051560"/>
            <a:ext cx="3291840" cy="448056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321040" y="1051560"/>
            <a:ext cx="3291840" cy="448056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5020056"/>
            <a:ext cx="3291840" cy="512064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505663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 spc="100">
                <a:solidFill>
                  <a:srgbClr val="FFFFFF"/>
                </a:solidFill>
                <a:latin typeface="Montserrat"/>
              </a:rPr>
              <a:t>MS DHONI · GOODWILL AMBASSADOR,</a:t>
            </a:r>
          </a:p>
          <a:p>
            <a:pPr algn="ctr">
              <a:lnSpc>
                <a:spcPct val="115000"/>
              </a:lnSpc>
            </a:pPr>
            <a:r>
              <a:rPr sz="850" b="1" i="0" spc="100">
                <a:solidFill>
                  <a:srgbClr val="FFFFFF"/>
                </a:solidFill>
                <a:latin typeface="Montserrat"/>
              </a:rPr>
              <a:t>CRASHFREE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01 · ABOUT 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Crashfree India: technology and policy,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built to be handed 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Registered as the Vision Zero Trust · Co-founded by Cars24 and the Indian Road Safety Council · Working since June 2025 · New Delhi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011680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-check_0A9955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2099462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199339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Evidence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93392"/>
            <a:ext cx="3886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Structured field audits, file reviews and research to official standards, not opinion.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761488"/>
            <a:ext cx="365760" cy="365760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cpu_0E8A8A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2849270"/>
            <a:ext cx="190195" cy="1901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2743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Technology as public goods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43200"/>
            <a:ext cx="3886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Enforcement AI, open data platforms and WhatsApp tools, built with authorities and free for any of them to adopt.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3511296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scal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3599078"/>
            <a:ext cx="190195" cy="1901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34930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Policy that lands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493008"/>
            <a:ext cx="3886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Research written so officials can act on it: briefed to ministries and district committees, cited by national newsrooms.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4261104"/>
            <a:ext cx="365760" cy="365760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building-2_E58900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4348886"/>
            <a:ext cx="190195" cy="1901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424281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Built to make ourselves redundant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242816"/>
            <a:ext cx="3886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Standards, audit manuals and public dashboards designed so institutions can run the work without 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66360"/>
            <a:ext cx="6903720" cy="841248"/>
          </a:xfrm>
          <a:prstGeom prst="roundRect">
            <a:avLst>
              <a:gd name="adj" fmla="val 16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5230368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Geist"/>
              </a:rPr>
              <a:t>Proof in year one: </a:t>
            </a:r>
            <a:r>
              <a:rPr sz="1100" b="0" i="0">
                <a:solidFill>
                  <a:srgbClr val="4A35FF"/>
                </a:solidFill>
                <a:latin typeface="Geist"/>
              </a:rPr>
              <a:t>31 sites audited · 25+ written authority approvals · implementation started at 15 sites · 3,00,000+ vehicles screened · seats on 4 district committees</a:t>
            </a:r>
          </a:p>
        </p:txBody>
      </p:sp>
      <p:pic>
        <p:nvPicPr>
          <p:cNvPr id="26" name="Picture 25" descr="cfi_map_do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1965960"/>
            <a:ext cx="3291840" cy="3911357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8092440" y="1965960"/>
            <a:ext cx="3291840" cy="3911357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5923037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Where we work today, 18 cities, north to south.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Six lines of work,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one connected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Audits create data · data supports policy · policy guides the field. Six focus areas, one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plementation_work.jpg_3.95x1.28_0.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38528"/>
            <a:ext cx="3611880" cy="11704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1938528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182112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Project Rakshak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419856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Student-led road audits, fixed with authorities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785616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31 sites · 7 fixes fully built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938528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satark_billboard.jpg_3.95x1.28_0.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938528"/>
            <a:ext cx="3611880" cy="117043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88536" y="1938528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3182112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SATARK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419856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AI support that helps police find high-risk vehicles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785616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3,00,000+ vehicles screened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1938528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ph_helpdesk_desk.jpg_3.95x1.28_0.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938528"/>
            <a:ext cx="3611880" cy="117043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10144" y="1938528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182112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Crash compensation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419856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 policy implementation gap we close with tech, embedded in districts and DRSCs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785616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District pilots · 4 DRSC seats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206240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sctracker.png_3.95x1.28_0.0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206240"/>
            <a:ext cx="3611880" cy="117043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66928" y="4206240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44982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Open public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5687568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Four self-updating data platforms, free to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605332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36 states &amp; 50 cities covered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8536" y="4206240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ph_gig_riders.jpg_3.95x1.28_0.3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8536" y="4206240"/>
            <a:ext cx="3611880" cy="117043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288536" y="4206240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2" y="544982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Gig rider 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5687568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Research-led: published brief, 300-rider study, platform engagement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6552" y="605332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1 in 2 of 431 riders had crashed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0144" y="4206240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slide_ssi_index.png_3.95x1.28_0.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144" y="4206240"/>
            <a:ext cx="3611880" cy="117043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010144" y="4206240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544982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School Safety Index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687568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 public 0–100 score for the road outside every school 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605332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Delhi &amp; Jaipur · 5,386 schools mapped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ROAD INFRASTRUCTURE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Project Rakshak: student audits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that end in built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Trained student teams, guided by senior experts, audit dangerous locations to IRC codes, and we walk each fix through the road-owning authority until it is built.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1783080" cy="11430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1214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4A35FF"/>
                </a:solidFill>
                <a:latin typeface="Montserrat"/>
              </a:rPr>
              <a:t>120+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5786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locations screened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774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6E7180"/>
                </a:solidFill>
                <a:latin typeface="Geist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7168" y="2011680"/>
            <a:ext cx="1783080" cy="11430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21214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4A35FF"/>
                </a:solidFill>
                <a:latin typeface="Montserrat"/>
              </a:rPr>
              <a:t>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5786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sites audited, 11 official black spots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3774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6E7180"/>
                </a:solidFill>
                <a:latin typeface="Geist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2011680"/>
            <a:ext cx="1783080" cy="11430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1214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4A35FF"/>
                </a:solidFill>
                <a:latin typeface="Montserrat"/>
              </a:rPr>
              <a:t>25+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5786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written authority approvals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3774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6E7180"/>
                </a:solidFill>
                <a:latin typeface="Geist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2011680"/>
            <a:ext cx="1783080" cy="1143000"/>
          </a:xfrm>
          <a:prstGeom prst="roundRect">
            <a:avLst>
              <a:gd name="adj" fmla="val 12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21214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ontserrat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5786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FFFFFF"/>
                </a:solidFill>
                <a:latin typeface="Geist"/>
              </a:rPr>
              <a:t>sites in implementation, 7 fully 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38328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E7180"/>
                </a:solidFill>
                <a:latin typeface="Geist"/>
              </a:rPr>
              <a:t>31 student teams · 20 institutions including nine IITs · 900+ stakeholder surveys · 17 subject-matter experts guiding every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886200"/>
            <a:ext cx="7498079" cy="1234440"/>
          </a:xfrm>
          <a:prstGeom prst="roundRect">
            <a:avLst>
              <a:gd name="adj" fmla="val 10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00507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 spc="120">
                <a:solidFill>
                  <a:srgbClr val="0A9955"/>
                </a:solidFill>
                <a:latin typeface="Montserrat"/>
              </a:rPr>
              <a:t>MARQUEE CASE, OUTER RING ROAD, SOUTH DELHI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29768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On our audit, PWD built a continuous 1.8 m accessible pedestrian corridor, upgraded drainage at ponding sites, installed bollards against footpath encroachment, and deployed camera-backed speed-feedback boards.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303520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6181D"/>
                </a:solidFill>
                <a:latin typeface="Geist"/>
              </a:rPr>
              <a:t>Every site is tracked on a public dashboard </a:t>
            </a:r>
            <a:r>
              <a:rPr sz="1000" b="0" i="0">
                <a:solidFill>
                  <a:srgbClr val="6E7180"/>
                </a:solidFill>
                <a:latin typeface="Geist"/>
              </a:rPr>
              <a:t>from submission through approval to completed construction, an honest read on how quickly agencies can act.</a:t>
            </a:r>
          </a:p>
        </p:txBody>
      </p:sp>
      <p:pic>
        <p:nvPicPr>
          <p:cNvPr id="28" name="Picture 27" descr="implementation_work.jpg_3.60x4.35_0.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965960"/>
            <a:ext cx="3291840" cy="3977639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321040" y="1965960"/>
            <a:ext cx="3291840" cy="3977639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5989319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Construction underway after a student audit, tracked publicly to completion.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ENFORCEMENT TECHNOLOGY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SATARK: AI that helps police stop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the right vehicle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Built with Cars24 engineers. Reads number plates, checks government records, and alerts officers to repeat offenders, in real time.</a:t>
            </a:r>
          </a:p>
        </p:txBody>
      </p:sp>
      <p:pic>
        <p:nvPicPr>
          <p:cNvPr id="8" name="Picture 7" descr="satark_billboard.jpg_4.35x2.65_0.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3977639" cy="2423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1965960"/>
            <a:ext cx="3977639" cy="242316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434840"/>
            <a:ext cx="3977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Rambagh Circle, Jaipur, live plate, pending challans and dues on a public billboard.</a:t>
            </a:r>
          </a:p>
        </p:txBody>
      </p:sp>
      <p:pic>
        <p:nvPicPr>
          <p:cNvPr id="11" name="Picture 10" descr="satark_officer_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965960"/>
            <a:ext cx="1828800" cy="215028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709160" y="1965960"/>
            <a:ext cx="1828800" cy="2150283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4161963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Officer view, challans,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RC &amp; compliance status.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9202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3,00,000+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3774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vehicles screened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9202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₹30 Cr+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3774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pending challan value identified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816352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350+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2735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high-risk vehicles intercepted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816352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70,019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2735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vehicles found with pending challans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84848" y="3767328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767328"/>
            <a:ext cx="22037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A9955"/>
                </a:solidFill>
                <a:latin typeface="Montserrat"/>
              </a:rPr>
              <a:t>LIVE · Jaipur &amp; Bengaluru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76732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3767328"/>
            <a:ext cx="1563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NEW · Gurugram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26110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Bengaluru's Trinity Circle billboard was India's first, covered by Deccan Herald and national press. Pune and Ahmedabad are next.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2688" y="5358384"/>
            <a:ext cx="10326319" cy="0"/>
          </a:xfrm>
          <a:prstGeom prst="line">
            <a:avLst/>
          </a:prstGeom>
          <a:ln w="12700">
            <a:solidFill>
              <a:srgbClr val="E8E9EE"/>
            </a:solidFill>
          </a:ln>
          <a:effectLst/>
        </p:spPr>
      </p:cxnSp>
      <p:sp>
        <p:nvSpPr>
          <p:cNvPr id="28" name="Oval 27"/>
          <p:cNvSpPr/>
          <p:nvPr/>
        </p:nvSpPr>
        <p:spPr>
          <a:xfrm>
            <a:off x="1038586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camera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24" y="5244266"/>
            <a:ext cx="228234" cy="22823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ANPR camera</a:t>
            </a:r>
          </a:p>
        </p:txBody>
      </p:sp>
      <p:sp>
        <p:nvSpPr>
          <p:cNvPr id="31" name="Oval 30"/>
          <p:cNvSpPr/>
          <p:nvPr/>
        </p:nvSpPr>
        <p:spPr>
          <a:xfrm>
            <a:off x="242081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scan-line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6153" y="5244266"/>
            <a:ext cx="228234" cy="22823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4915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Plate read</a:t>
            </a:r>
          </a:p>
        </p:txBody>
      </p:sp>
      <p:sp>
        <p:nvSpPr>
          <p:cNvPr id="34" name="Oval 33"/>
          <p:cNvSpPr/>
          <p:nvPr/>
        </p:nvSpPr>
        <p:spPr>
          <a:xfrm>
            <a:off x="380304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databas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8383" y="5244266"/>
            <a:ext cx="228234" cy="22823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33138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Records check</a:t>
            </a:r>
          </a:p>
        </p:txBody>
      </p:sp>
      <p:sp>
        <p:nvSpPr>
          <p:cNvPr id="37" name="Oval 36"/>
          <p:cNvSpPr/>
          <p:nvPr/>
        </p:nvSpPr>
        <p:spPr>
          <a:xfrm>
            <a:off x="518527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alert-triangle_4A35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0613" y="5244266"/>
            <a:ext cx="228234" cy="22823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1361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Risk flag</a:t>
            </a:r>
          </a:p>
        </p:txBody>
      </p:sp>
      <p:sp>
        <p:nvSpPr>
          <p:cNvPr id="40" name="Oval 39"/>
          <p:cNvSpPr/>
          <p:nvPr/>
        </p:nvSpPr>
        <p:spPr>
          <a:xfrm>
            <a:off x="656750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bell-ring_4A35FF_256_2.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2843" y="5244266"/>
            <a:ext cx="228234" cy="22823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9584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Officer alert</a:t>
            </a:r>
          </a:p>
        </p:txBody>
      </p:sp>
      <p:sp>
        <p:nvSpPr>
          <p:cNvPr id="43" name="Oval 42"/>
          <p:cNvSpPr/>
          <p:nvPr/>
        </p:nvSpPr>
        <p:spPr>
          <a:xfrm>
            <a:off x="794973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monitor_4A35FF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5073" y="5244266"/>
            <a:ext cx="228234" cy="22823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47807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Billboard</a:t>
            </a:r>
          </a:p>
        </p:txBody>
      </p:sp>
      <p:sp>
        <p:nvSpPr>
          <p:cNvPr id="46" name="Oval 45"/>
          <p:cNvSpPr/>
          <p:nvPr/>
        </p:nvSpPr>
        <p:spPr>
          <a:xfrm>
            <a:off x="933196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hand_4A35FF_256_2.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7303" y="5244266"/>
            <a:ext cx="228234" cy="22823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86030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Interception</a:t>
            </a:r>
          </a:p>
        </p:txBody>
      </p:sp>
      <p:sp>
        <p:nvSpPr>
          <p:cNvPr id="49" name="Oval 48"/>
          <p:cNvSpPr/>
          <p:nvPr/>
        </p:nvSpPr>
        <p:spPr>
          <a:xfrm>
            <a:off x="1071419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shield-check_4A35FF_256_2.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19533" y="5244266"/>
            <a:ext cx="228234" cy="22823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24253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Enforcement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OPEN PUBLIC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Live public data platforms,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free for any authority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Four platforms, each turning a scattered public record into structured, citable evidence. The Parliament tracker is shown live, as captured this week.</a:t>
            </a:r>
          </a:p>
        </p:txBody>
      </p:sp>
      <p:pic>
        <p:nvPicPr>
          <p:cNvPr id="8" name="Picture 7" descr="parliament_live.png_6.00x2.62_0.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38528"/>
            <a:ext cx="5486400" cy="23957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1938528"/>
            <a:ext cx="5486400" cy="2395728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3799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Road Safety in Parliament: all 1,444 questions since 2014 across four ministries; 275 of 540 sitting Lok Sabha MPs have never asked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938528"/>
            <a:ext cx="5486400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121408"/>
            <a:ext cx="420624" cy="420624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database_0E8A8A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597" y="2222357"/>
            <a:ext cx="218724" cy="218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76288" y="210312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National Road-Infrastructure</a:t>
            </a:r>
          </a:p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Defect Repository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13848" y="2139696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32136" y="2139696"/>
            <a:ext cx="12252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0E8A8A"/>
                </a:solidFill>
                <a:latin typeface="Montserrat"/>
              </a:rPr>
              <a:t>DAILY · 07:00 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798064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An AI pipeline reads local-language news every morning and turns road-defect reports into structured, mapped, ranked evidence, each entry carrying its verbatim source.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3310128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33101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Potholes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0063" y="3310128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1" y="33101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Missing signage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78" y="3310128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6" y="33101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Unlit stretches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54893" y="3310128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3181" y="33101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Blind curves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97308" y="3310128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596" y="33101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Broken dividers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7648" y="3694176"/>
            <a:ext cx="1645920" cy="512064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49039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8A8A"/>
                </a:solidFill>
                <a:latin typeface="Montserrat"/>
              </a:rPr>
              <a:t>146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3739896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 i="0">
                <a:solidFill>
                  <a:srgbClr val="6E7180"/>
                </a:solidFill>
                <a:latin typeface="Geist"/>
              </a:rPr>
              <a:t>districts scanned daily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3694176"/>
            <a:ext cx="1645920" cy="512064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3749039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8A8A"/>
                </a:solidFill>
                <a:latin typeface="Montserrat"/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0224" y="3739896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 i="0">
                <a:solidFill>
                  <a:srgbClr val="6E7180"/>
                </a:solidFill>
                <a:latin typeface="Geist"/>
              </a:rPr>
              <a:t>languages read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38944" y="3694176"/>
            <a:ext cx="1645920" cy="512064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30384" y="3749039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8A8A"/>
                </a:solidFill>
                <a:latin typeface="Montserrat"/>
              </a:rPr>
              <a:t>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05872" y="3739896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 i="0">
                <a:solidFill>
                  <a:srgbClr val="6E7180"/>
                </a:solidFill>
                <a:latin typeface="Geist"/>
              </a:rPr>
              <a:t>defect codes tracked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3799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Local news → AI extraction → confidence gate → human review → public map. Live across Bihar, UP and other districts today.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956048"/>
            <a:ext cx="54864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3232" y="5102352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scal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" y="5190134"/>
            <a:ext cx="190195" cy="19019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88720" y="5074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Montserrat"/>
              </a:rPr>
              <a:t>Supreme Court Litigation Tracker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0" y="5093208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90288" y="5093208"/>
            <a:ext cx="13167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A35FF"/>
                </a:solidFill>
                <a:latin typeface="Montserrat"/>
              </a:rPr>
              <a:t>WEEKLY · LIVE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5522976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Every systemic road-safety matter before the Supreme Court, orders indexed, precedent judgments digested, refreshed every Tuesday.</a:t>
            </a:r>
          </a:p>
        </p:txBody>
      </p:sp>
      <p:pic>
        <p:nvPicPr>
          <p:cNvPr id="45" name="Picture 44" descr="strip_sctrac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9936" y="5522976"/>
            <a:ext cx="1847088" cy="362006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6144768" y="4956048"/>
            <a:ext cx="54864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91072" y="5102352"/>
            <a:ext cx="365760" cy="365760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bar-chart-3_E58900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854" y="5190134"/>
            <a:ext cx="190195" cy="19019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66560" y="5074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Montserrat"/>
              </a:rPr>
              <a:t>Crash Data Dashboard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49840" y="5093208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68128" y="5093208"/>
            <a:ext cx="13167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E58900"/>
                </a:solidFill>
                <a:latin typeface="Montserrat"/>
              </a:rPr>
              <a:t>ANNUAL · OPEN 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1072" y="5522976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MoRTH's annual 'Road Accidents in India' books as a usable product: report cards for 36 states and 50 cities, every number reconciled against the printed books, open licence (CC-BY).</a:t>
            </a:r>
          </a:p>
        </p:txBody>
      </p:sp>
      <p:pic>
        <p:nvPicPr>
          <p:cNvPr id="53" name="Picture 52" descr="strip_cra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7776" y="5522976"/>
            <a:ext cx="1847088" cy="362006"/>
          </a:xfrm>
          <a:prstGeom prst="rect">
            <a:avLst/>
          </a:prstGeom>
        </p:spPr>
      </p:pic>
      <p:cxnSp>
        <p:nvCxnSpPr>
          <p:cNvPr id="54" name="Connector 5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VICTIM SUPPORT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Help a family can actually use,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in their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From the first hours after a crash to the final compensation order, on WhatsApp, on paper, and in person.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2679192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ui_aasha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48256"/>
            <a:ext cx="2459736" cy="181077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94944" y="4526280"/>
            <a:ext cx="347472" cy="34747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bot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37" y="4609673"/>
            <a:ext cx="180685" cy="1806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3856" y="4562856"/>
            <a:ext cx="2002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Aasha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495604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India's first AI legal companion for crash victims, on WhatsApp and voice, no app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920240"/>
            <a:ext cx="2679192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ui_mact_cal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522" y="2048256"/>
            <a:ext cx="2315843" cy="228600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3483864" y="4526280"/>
            <a:ext cx="347472" cy="347472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calculator_0E8A8A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257" y="4609673"/>
            <a:ext cx="180685" cy="1806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22776" y="4562856"/>
            <a:ext cx="2002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Compensation Calculator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495604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Free instant estimates computed on Supreme Court principles (Sarla Verma, Pranay Sethi).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920240"/>
            <a:ext cx="2679192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comic_aasha_p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503" y="2048256"/>
            <a:ext cx="1727722" cy="2286000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6272784" y="4526280"/>
            <a:ext cx="347472" cy="347472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book-open_E58900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6177" y="4609673"/>
            <a:ext cx="180685" cy="1806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11696" y="4562856"/>
            <a:ext cx="2002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'Meet Aasha' comics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495604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Plain-language legal education that families actually read, at desks and in schools.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3688" y="1920240"/>
            <a:ext cx="2679192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opt_guide_p1_150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8979" y="2048256"/>
            <a:ext cx="1668610" cy="22860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9061704" y="4526280"/>
            <a:ext cx="347472" cy="347472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languages_0A9955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5097" y="4609673"/>
            <a:ext cx="180685" cy="1806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500616" y="4562856"/>
            <a:ext cx="2002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Hindi rights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1704" y="495604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All three compensation routes, NALSA 15100 and the Cashless Treatment Scheme 2025.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870448"/>
            <a:ext cx="11057839" cy="457200"/>
          </a:xfrm>
          <a:prstGeom prst="roundRect">
            <a:avLst>
              <a:gd name="adj" fmla="val 14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5943600"/>
            <a:ext cx="106463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0A9955"/>
                </a:solidFill>
                <a:latin typeface="Geist"/>
              </a:rPr>
              <a:t>Hospital helpdesks bring all of this to the trauma-ward bedside </a:t>
            </a:r>
            <a:r>
              <a:rPr sz="950" b="0" i="0">
                <a:solidFill>
                  <a:srgbClr val="0A9955"/>
                </a:solidFill>
                <a:latin typeface="Geist"/>
              </a:rPr>
              <a:t>, 100+ victims supported in the first four days, run with DLSA and Neev Foundation.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OUR RESEARCH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Published evidence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the sector cites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Original research, launched publicly and covered by national press. Each report turns a policy gap into something authorities can act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opt_cov_justice_unserved_15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636" y="2331720"/>
            <a:ext cx="1526463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44805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'Justice Unserved'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800600"/>
            <a:ext cx="11521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A35FF"/>
                </a:solidFill>
                <a:latin typeface="Montserrat"/>
              </a:rPr>
              <a:t>Jan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18464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Why so few hit-and-run and third-party claims reach the families entitled to them. Launched at IIT Delhi; findings presented to MoRTH.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14884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cov_deposi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923" y="2331720"/>
            <a:ext cx="1533106" cy="2011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71416" y="44805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'Deposited But Not Delivered'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71416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4800600"/>
            <a:ext cx="11521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A35FF"/>
                </a:solidFill>
                <a:latin typeface="Montserrat"/>
              </a:rPr>
              <a:t>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518464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~₹986 crore of court-awarded compensation lies unclaimed across five High Court jurisdictions, a bottleneck the Supreme Court noted in 2025.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214884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primer_cove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4689" y="2331720"/>
            <a:ext cx="1422790" cy="2011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93024" y="44805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Pre-Hospital Care Primer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24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11521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A35FF"/>
                </a:solidFill>
                <a:latin typeface="Montserrat"/>
              </a:rPr>
              <a:t>Sep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518464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Benchmarks ERSS-112 response and documents state EMS innovations, with contributions from the AIIMS Trauma Centre.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Plus: </a:t>
            </a:r>
            <a:r>
              <a:rPr sz="950" b="0" i="0">
                <a:solidFill>
                  <a:srgbClr val="6E7180"/>
                </a:solidFill>
                <a:latin typeface="Geist"/>
              </a:rPr>
              <a:t>the gig-rider brief 'When Risks Become Routine', and four open public-data platforms, all free to use and openly licensed.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VULNERABLE ROAD USERS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The fastest-growing risk on Indian roads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rides a two-wheeler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Two-wheeler riders carry the largest share of road deaths, and gig and delivery work concentrates that exposure. We study it, and we work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58568"/>
            <a:ext cx="20848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 i="0">
                <a:solidFill>
                  <a:srgbClr val="4A35FF"/>
                </a:solidFill>
                <a:latin typeface="Montserrat"/>
              </a:rPr>
              <a:t>~45%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715768"/>
            <a:ext cx="20848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of India's crash fatalities are two-wheeler users, rising year on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54096" y="21488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258568"/>
            <a:ext cx="20848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 i="0">
                <a:solidFill>
                  <a:srgbClr val="4A35FF"/>
                </a:solidFill>
                <a:latin typeface="Montserrat"/>
              </a:rPr>
              <a:t>23.5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15768"/>
            <a:ext cx="20848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gig and platform workers projected by 2029-30 (NITI Aayog)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41264" y="21488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2258568"/>
            <a:ext cx="20848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 i="0">
                <a:solidFill>
                  <a:srgbClr val="4A35FF"/>
                </a:solidFill>
                <a:latin typeface="Montserrat"/>
              </a:rPr>
              <a:t>1 in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715768"/>
            <a:ext cx="20848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delivery riders in a 431-rider Mumbai crash study had already crashed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3794760"/>
            <a:ext cx="365760" cy="365760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file-search_E58900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3882542"/>
            <a:ext cx="190195" cy="1901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" y="37764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A published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776472"/>
            <a:ext cx="3977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'When Risks Become Routine' (Feb 2026): 40 pages, 87 references, from incentive design and helmet compliance to the e-bike regulatory blind spot.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4544568"/>
            <a:ext cx="365760" cy="365760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gauge_0E8A8A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4632350"/>
            <a:ext cx="190195" cy="1901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45262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A 300-rider study, now in the field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526280"/>
            <a:ext cx="3977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Quantifying how often riders face near-misses, which risk factors matter most, and what rider profiles exist, so interventions can be targeted.</a:t>
            </a:r>
          </a:p>
        </p:txBody>
      </p:sp>
      <p:sp>
        <p:nvSpPr>
          <p:cNvPr id="25" name="Oval 24"/>
          <p:cNvSpPr/>
          <p:nvPr/>
        </p:nvSpPr>
        <p:spPr>
          <a:xfrm>
            <a:off x="566928" y="5294376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bik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5382158"/>
            <a:ext cx="190195" cy="19019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52760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Field, not only desk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276088"/>
            <a:ext cx="3977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Fieldwork included shadowing a delivery rider through a full nine-hour shift, documented on video.</a:t>
            </a:r>
          </a:p>
        </p:txBody>
      </p:sp>
      <p:pic>
        <p:nvPicPr>
          <p:cNvPr id="29" name="Picture 28" descr="opt_cov_gig_15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7239" y="1965960"/>
            <a:ext cx="2682279" cy="379476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8557239" y="1965960"/>
            <a:ext cx="2682279" cy="379476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57239" y="5806440"/>
            <a:ext cx="2682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'When Risks Become Routine' · Crashfree India research brief, February 2026.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SCHOOL ZONES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School Safety Index: a public score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for every school's road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 child's walk to school can be graded. We grade it against India's own standard, publish the evidence, and hand the worst zones to field teams and the road-owning authority.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212848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can-line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2300630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2194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Screening at city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9456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Dated Street View imagery, scored 0–100 by an AI auditor against IRC:SP:32-2023, India's school-zone standard, and independently verified before publication.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108960"/>
            <a:ext cx="365760" cy="365760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school_0E8A8A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3196742"/>
            <a:ext cx="190195" cy="1901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30906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Delhi and Jaipur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090672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5,386 schools mapped across the two cities. Named schools and per-school photo evidence published from the first batch, re-audited every six months.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005072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footprints_0A9955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4092854"/>
            <a:ext cx="190195" cy="1901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398678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It measures the road, never the school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986784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 low score is a demand on the road-owning authority, not a criticism of the school. The worst zones feed our student field audits, the 41-check ground tier.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47488"/>
            <a:ext cx="2212848" cy="1133856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138928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 i="0">
                <a:solidFill>
                  <a:srgbClr val="4A35FF"/>
                </a:solidFill>
                <a:latin typeface="Montserrat"/>
              </a:rPr>
              <a:t>~10,000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5522976"/>
            <a:ext cx="1938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minors died on Indian roads in 2023 (MoRTH)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07792" y="5047488"/>
            <a:ext cx="2212848" cy="1133856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5138928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 i="0">
                <a:solidFill>
                  <a:srgbClr val="4A35FF"/>
                </a:solidFill>
                <a:latin typeface="Montserrat"/>
              </a:rPr>
              <a:t>4.6%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4952" y="5522976"/>
            <a:ext cx="1938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of crashes occur in school and college zones (e-DAR 2024)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48656" y="5047488"/>
            <a:ext cx="2212848" cy="1133856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85816" y="5138928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 i="0">
                <a:solidFill>
                  <a:srgbClr val="4A35FF"/>
                </a:solidFill>
                <a:latin typeface="Montserrat"/>
              </a:rPr>
              <a:t>730+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5816" y="5522976"/>
            <a:ext cx="1938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schools graded from imagery worldwide, validating the method (iRAP)</a:t>
            </a:r>
          </a:p>
        </p:txBody>
      </p:sp>
      <p:pic>
        <p:nvPicPr>
          <p:cNvPr id="29" name="Picture 28" descr="slide_ssi_index.png_4.15x3.62_0.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212848"/>
            <a:ext cx="3794760" cy="331012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818120" y="2212848"/>
            <a:ext cx="3794760" cy="3310128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5568696"/>
            <a:ext cx="3794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The pilot dashboard: score-first, evidence-pinned. Delhi and Jaipur batches are in build now.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IN THE NEWS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The work,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as the press tells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National newsrooms cite our research, cover our deployments, and quote our researchers by name.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66543"/>
            <a:ext cx="3611880" cy="1956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trip_dh_ju.jpg_3.95x0.86_0.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66543"/>
            <a:ext cx="3611880" cy="7863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2066543"/>
            <a:ext cx="3611880" cy="786384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62655"/>
            <a:ext cx="32826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 i="0" spc="120">
                <a:solidFill>
                  <a:srgbClr val="4A35FF"/>
                </a:solidFill>
                <a:latin typeface="Montserrat"/>
              </a:rPr>
              <a:t>DECCAN HERALD  ·  MARCH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82111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Road crash victims struggle as ₹80,000 crore compensation lies unpaid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75887"/>
            <a:ext cx="3282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National coverage of our 'Justice Unserved' brief; DH hosts the full report for readers.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2252" y="2066543"/>
            <a:ext cx="3611880" cy="1956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strip_wire_survivors.jpg_3.95x0.86_0.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252" y="2066543"/>
            <a:ext cx="3611880" cy="78638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302252" y="2066543"/>
            <a:ext cx="3611880" cy="786384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6844" y="2962655"/>
            <a:ext cx="32826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 i="0" spc="120">
                <a:solidFill>
                  <a:srgbClr val="4A35FF"/>
                </a:solidFill>
                <a:latin typeface="Montserrat"/>
              </a:rPr>
              <a:t>THE WIRE  ·  INDIASPEND  ·  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6844" y="3182111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For India's road accident survivors, legal compensation is elusive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6844" y="3675887"/>
            <a:ext cx="3282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Quotes our research lead Kesar Kanjhlia on where claims stall.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6" y="2066543"/>
            <a:ext cx="3611880" cy="1956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strip_indiaspend_crash.jpg_3.95x0.86_0.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2066543"/>
            <a:ext cx="3611880" cy="78638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37576" y="2066543"/>
            <a:ext cx="3611880" cy="786384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2962655"/>
            <a:ext cx="32826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 i="0" spc="120">
                <a:solidFill>
                  <a:srgbClr val="4A35FF"/>
                </a:solidFill>
                <a:latin typeface="Montserrat"/>
              </a:rPr>
              <a:t>INDIASPEND  ·  ISIGNAL  ·  MARCH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3182111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One crash, years of crisis: the hidden scale of serious road injuries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3675887"/>
            <a:ext cx="3282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Cites our gig-rider research; quotes Aastha Shreeharsh on missing risk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151375"/>
            <a:ext cx="3611880" cy="1956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strip_dh_billboard.jpg_3.95x0.86_0.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151375"/>
            <a:ext cx="3611880" cy="786384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66928" y="4151375"/>
            <a:ext cx="3611880" cy="786384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47487"/>
            <a:ext cx="32826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 i="0" spc="120">
                <a:solidFill>
                  <a:srgbClr val="4A35FF"/>
                </a:solidFill>
                <a:latin typeface="Montserrat"/>
              </a:rPr>
              <a:t>DECCAN HERALD  ·  SEPT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66943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Big boss watching! Billboard at Trinity Circle displays violations in real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60719"/>
            <a:ext cx="3282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Our live challan billboard with Bengaluru Traffic Police and Cars24.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02252" y="4151375"/>
            <a:ext cx="3611880" cy="1956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strip_tli_billboard.jpg_3.95x0.86_0.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2252" y="4151375"/>
            <a:ext cx="3611880" cy="786384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302252" y="4151375"/>
            <a:ext cx="3611880" cy="786384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66844" y="5047487"/>
            <a:ext cx="32826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 i="0" spc="120">
                <a:solidFill>
                  <a:srgbClr val="4A35FF"/>
                </a:solidFill>
                <a:latin typeface="Montserrat"/>
              </a:rPr>
              <a:t>THE LOGICAL INDIAN  ·  SEPT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6844" y="5266943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India's first AI-powered billboard to display pending challans in real 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6844" y="5760719"/>
            <a:ext cx="3282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Also covered by Siasat, CarToq, Media Infoline and Daily Jagran.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37576" y="4151375"/>
            <a:ext cx="3611880" cy="1956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37576" y="4151375"/>
            <a:ext cx="3611880" cy="1956816"/>
          </a:xfrm>
          <a:prstGeom prst="roundRect">
            <a:avLst>
              <a:gd name="adj" fmla="val 6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0456" y="4334255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 i="0" spc="120">
                <a:solidFill>
                  <a:srgbClr val="4A35FF"/>
                </a:solidFill>
                <a:latin typeface="Montserrat"/>
              </a:rPr>
              <a:t>FROM OUR POLICY DESK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0456" y="4608575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A steady line of published argument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0456" y="519379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Articles and explainers by Shubham Kumar and our policy team, from claim pipelines to enforcement design.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14476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6181D"/>
                </a:solidFill>
                <a:latin typeface="Geist"/>
              </a:rPr>
              <a:t>Also in the record:  </a:t>
            </a:r>
            <a:r>
              <a:rPr sz="850" b="0" i="0">
                <a:solidFill>
                  <a:srgbClr val="6E7180"/>
                </a:solidFill>
                <a:latin typeface="Geist"/>
              </a:rPr>
              <a:t>'Justice Unserved' launched at IIT Delhi and presented to MoRTH · launch coverage in Team-BHP, Adgully and The CSR Universe.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YOUTH &amp; POLICY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Young talent and senior experts,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working the same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 steady pipeline of engineers and policy minds, so road safety work never runs out of hands.</a:t>
            </a:r>
          </a:p>
        </p:txBody>
      </p:sp>
      <p:pic>
        <p:nvPicPr>
          <p:cNvPr id="8" name="Picture 7" descr="ph_ideathon_winners.jpg_4.05x2.50_0.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38528"/>
            <a:ext cx="3703320" cy="2286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1938528"/>
            <a:ext cx="3703320" cy="228600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270248"/>
            <a:ext cx="3703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NextMile: Road Safety Policy Ideathon, grand finale, 28 Sep 2025, New Delhi.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463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35FF"/>
                </a:solidFill>
                <a:latin typeface="Montserrat"/>
              </a:rPr>
              <a:t>2,000+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035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participants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48463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35FF"/>
                </a:solidFill>
                <a:latin typeface="Montserrat"/>
              </a:rPr>
              <a:t>250+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53035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concept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48463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35FF"/>
                </a:solidFill>
                <a:latin typeface="Montserrat"/>
              </a:rPr>
              <a:t>700+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53035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48463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35FF"/>
                </a:solidFill>
                <a:latin typeface="Montserrat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53035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finalist teams</a:t>
            </a:r>
          </a:p>
        </p:txBody>
      </p:sp>
      <p:pic>
        <p:nvPicPr>
          <p:cNvPr id="19" name="Picture 18" descr="ph_forum_stage2.jpg_3.70x2.50_0.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938528"/>
            <a:ext cx="3383280" cy="2286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434840" y="1938528"/>
            <a:ext cx="3383280" cy="228600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270248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National Road Safety Implementation Forum, IIT Delhi: 60+ experts from MoRTH, WHO, UNICEF, iRAP and CSIR-CRRI reviewed the 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28032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Mentors and jury from senior government, NIUA, OMI, NASSCOM and CSEP judged the student teams; winning tracks now feed our audit and research pipeline.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0" y="1938528"/>
            <a:ext cx="384048" cy="384048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mic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771" y="2030699"/>
            <a:ext cx="199704" cy="1997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759952" y="1911096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National Road Safety Dialogue Series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9952" y="2267712"/>
            <a:ext cx="2880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200+ live attendees; speakers from MoRTH, CIRT, AIIMS Trauma Centre, CSIR-CRRI and ARAI.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0" y="3108960"/>
            <a:ext cx="384048" cy="384048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message-square_0E8A8A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771" y="3201131"/>
            <a:ext cx="199704" cy="1997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759952" y="3081528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Three sessions so far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9952" y="3438144"/>
            <a:ext cx="2880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Bus safety · Delivery rider safety · Good Samaritan law &amp; the Cashless Treatment Scheme.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0" y="4279392"/>
            <a:ext cx="384048" cy="384048"/>
          </a:xfrm>
          <a:prstGeom prst="ellipse">
            <a:avLst/>
          </a:prstGeom>
          <a:solidFill>
            <a:srgbClr val="FD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monitor-play_E11900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771" y="4371563"/>
            <a:ext cx="199704" cy="1997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759952" y="425196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Advocacy on video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4608576"/>
            <a:ext cx="2880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Our YouTube channel documents hazards and fixes on camera: ground-audit walkthroughs, Dialogue Series recordings and victim-education explainers. A public record any authority can cite.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5486400"/>
            <a:ext cx="3383280" cy="658368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555955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Next: </a:t>
            </a:r>
            <a:r>
              <a:rPr sz="950" b="0" i="0">
                <a:solidFill>
                  <a:srgbClr val="6E7180"/>
                </a:solidFill>
                <a:latin typeface="Geist"/>
              </a:rPr>
              <a:t>'Be a Rakshak' university chapters at IITs, NITs and SPAs.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OUR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03 · OUR PEOPLE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A full-time team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built for this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Engineering, law, policy, product and field operations, under trustees who have led Indian road safety for a decade.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83664"/>
            <a:ext cx="3630168" cy="859536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t_am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93392"/>
            <a:ext cx="64008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196596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Amar Srivastava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402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President · Founder, Indian Road Safety Campaign · Member, National Road Safety Council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1" y="1883664"/>
            <a:ext cx="3630168" cy="859536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t_deepansh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3" y="1993392"/>
            <a:ext cx="640080" cy="640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75503" y="196596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Deepanshu Gupta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3" y="22402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Managing Trustee · Founder, IRSC · Global Youth Coalition for Road Safety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4" y="1883664"/>
            <a:ext cx="3630168" cy="859536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t_gajend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6" y="1993392"/>
            <a:ext cx="640080" cy="640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87966" y="196596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Gajendra Jangid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6" y="22402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General Secretary · Co-founder, Cars24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94436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 spc="150">
                <a:solidFill>
                  <a:srgbClr val="6E7180"/>
                </a:solidFill>
                <a:latin typeface="Montserrat"/>
              </a:rPr>
              <a:t>THE FULL-TIME TEAM</a:t>
            </a:r>
          </a:p>
        </p:txBody>
      </p:sp>
      <p:pic>
        <p:nvPicPr>
          <p:cNvPr id="21" name="Picture 20" descr="t_akh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73552"/>
            <a:ext cx="530352" cy="5303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25296" y="3236976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Akhtar Hussain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Mission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3456432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IIT Delhi · ex-Bain · strategy, programmes, new initiatives, partnerships and product</a:t>
            </a:r>
          </a:p>
        </p:txBody>
      </p:sp>
      <p:pic>
        <p:nvPicPr>
          <p:cNvPr id="24" name="Picture 23" descr="t_shubh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1" y="3273552"/>
            <a:ext cx="530352" cy="5303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37759" y="3236976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Shubham Kumar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Policy &amp; Advocacy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59" y="3456432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NALSAR Hyderabad · programmes, policy advocacy, legal research, government relations</a:t>
            </a:r>
          </a:p>
        </p:txBody>
      </p:sp>
      <p:pic>
        <p:nvPicPr>
          <p:cNvPr id="27" name="Picture 26" descr="t_musk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1854" y="3273552"/>
            <a:ext cx="530352" cy="5303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50222" y="3236976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Muskan Yadav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Programmes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0222" y="3456432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TISS · district programmes, Project Rakshak, infrastructure interventions, DRSC work</a:t>
            </a:r>
          </a:p>
        </p:txBody>
      </p:sp>
      <p:pic>
        <p:nvPicPr>
          <p:cNvPr id="30" name="Picture 29" descr="t_krishn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3968496"/>
            <a:ext cx="530352" cy="5303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25296" y="39319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Krishna Jain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Tech &amp; 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6" y="4151376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Builds and runs Aasha, SATARK and the open public data platforms</a:t>
            </a:r>
          </a:p>
        </p:txBody>
      </p:sp>
      <p:pic>
        <p:nvPicPr>
          <p:cNvPr id="33" name="Picture 32" descr="t_aasth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9391" y="3968496"/>
            <a:ext cx="530352" cy="53035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937759" y="39319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Aastha Shreeharsh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Development Communications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9" y="4151376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HKUST · institutional communications, government relations</a:t>
            </a:r>
          </a:p>
        </p:txBody>
      </p:sp>
      <p:pic>
        <p:nvPicPr>
          <p:cNvPr id="36" name="Picture 35" descr="t_roh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1854" y="3968496"/>
            <a:ext cx="530352" cy="53035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650222" y="39319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Rohan Sharma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Cause Marketing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0222" y="4151376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Awareness campaigns, digital advocacy, community mobilisation</a:t>
            </a:r>
          </a:p>
        </p:txBody>
      </p:sp>
      <p:pic>
        <p:nvPicPr>
          <p:cNvPr id="39" name="Picture 38" descr="t_ishit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928" y="4663440"/>
            <a:ext cx="530352" cy="53035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25296" y="4626864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Ishita Rathore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People &amp; Culture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5296" y="484632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Talent and hiring, volunteers, the 75+ intern engineering corps</a:t>
            </a:r>
          </a:p>
        </p:txBody>
      </p:sp>
      <p:pic>
        <p:nvPicPr>
          <p:cNvPr id="42" name="Picture 41" descr="t_yuvraj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9391" y="4663440"/>
            <a:ext cx="530352" cy="53035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937759" y="4626864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Yuvraj Yadav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Operations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59" y="484632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Field operations across 18 cities · works with police on SATARK and enforcement rollouts</a:t>
            </a:r>
          </a:p>
        </p:txBody>
      </p:sp>
      <p:pic>
        <p:nvPicPr>
          <p:cNvPr id="45" name="Picture 44" descr="t_lovis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1854" y="4663440"/>
            <a:ext cx="530352" cy="53035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650222" y="4626864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Lovish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Creative (Video)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0222" y="484632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Video explainers, ground-audit films and the YouTube channel</a:t>
            </a:r>
          </a:p>
        </p:txBody>
      </p:sp>
      <p:pic>
        <p:nvPicPr>
          <p:cNvPr id="48" name="Picture 47" descr="t_shipr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6928" y="5358384"/>
            <a:ext cx="530352" cy="53035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225296" y="5321808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Shipra Kushwaha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Creative (Graphic)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25296" y="5541264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Guides, comics and bilingual campaign material families actually read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53712" y="5340096"/>
            <a:ext cx="5120640" cy="548640"/>
          </a:xfrm>
          <a:prstGeom prst="roundRect">
            <a:avLst>
              <a:gd name="adj" fmla="val 12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0" y="534009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A35FF"/>
                </a:solidFill>
                <a:latin typeface="Geist"/>
              </a:rPr>
              <a:t>Plus 75+ engineering interns and 31 student audit teams.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5989320"/>
            <a:ext cx="11057839" cy="384048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" y="6053328"/>
            <a:ext cx="106463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81D"/>
                </a:solidFill>
                <a:latin typeface="Geist"/>
              </a:rPr>
              <a:t>In-house capabilities: </a:t>
            </a:r>
            <a:r>
              <a:rPr sz="900" b="0" i="0">
                <a:solidFill>
                  <a:srgbClr val="6E7180"/>
                </a:solidFill>
                <a:latin typeface="Geist"/>
              </a:rPr>
              <a:t>road-engineering audits · legal &amp; policy research · AI product development · district operations · behaviour-change communication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THE YEAR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04 · THE YEAR AHEAD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Where we are going, and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how to work with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Year 2 moves from programmes to institutions. These are the goals, and the concrete ways to get involved.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5349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80">
                <a:solidFill>
                  <a:srgbClr val="6E7180"/>
                </a:solidFill>
                <a:latin typeface="Montserrat"/>
              </a:rPr>
              <a:t>THE YEAR AHEAD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hard-hat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2264054"/>
            <a:ext cx="190195" cy="1901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" y="215798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Project Rakshak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57984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Audits running inside institutions, with 75+ implementations initiated and every one tracked publicly.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2962656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scal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3050438"/>
            <a:ext cx="190195" cy="1901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7280" y="294436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Crash compensation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44368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Claim pipeline fixed in two districts, mapped in eight, with a playbook states can adopt.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374904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cpu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3836822"/>
            <a:ext cx="190195" cy="1901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" y="37307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SATARK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730752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From 3 cities toward 30, as shared public infrastructure for traffic police.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4535424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rocket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4623206"/>
            <a:ext cx="190195" cy="1901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4517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Two exploratory bets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517136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School Safety Index and gig rider safety, each scaled only if a small, honest pilot earns it.</a:t>
            </a:r>
          </a:p>
        </p:txBody>
      </p:sp>
      <p:sp>
        <p:nvSpPr>
          <p:cNvPr id="25" name="Oval 24"/>
          <p:cNvSpPr/>
          <p:nvPr/>
        </p:nvSpPr>
        <p:spPr>
          <a:xfrm>
            <a:off x="566928" y="5321808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building-2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" y="5409590"/>
            <a:ext cx="190195" cy="19019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53035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Institutions that outlive 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30352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An expert consortium, an audit manual and a publishing cadence that outlive any single cohort.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1847088"/>
            <a:ext cx="5324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80">
                <a:solidFill>
                  <a:srgbClr val="6E7180"/>
                </a:solidFill>
                <a:latin typeface="Montserrat"/>
              </a:rPr>
              <a:t>HOW TO WORK WITH US</a:t>
            </a:r>
          </a:p>
        </p:txBody>
      </p:sp>
      <p:sp>
        <p:nvSpPr>
          <p:cNvPr id="30" name="Oval 29"/>
          <p:cNvSpPr/>
          <p:nvPr/>
        </p:nvSpPr>
        <p:spPr>
          <a:xfrm>
            <a:off x="6300216" y="2176272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search-check_0A9955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7998" y="2264054"/>
            <a:ext cx="190195" cy="19019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30568" y="215798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Partner on audits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9448" y="2157984"/>
            <a:ext cx="226131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Bring Project Rakshak to your city or campus, or co-audit a corridor you care about.</a:t>
            </a:r>
          </a:p>
        </p:txBody>
      </p:sp>
      <p:sp>
        <p:nvSpPr>
          <p:cNvPr id="34" name="Oval 33"/>
          <p:cNvSpPr/>
          <p:nvPr/>
        </p:nvSpPr>
        <p:spPr>
          <a:xfrm>
            <a:off x="6300216" y="2962656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database_0A9955_256_2.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7998" y="3050438"/>
            <a:ext cx="190195" cy="19019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30568" y="294436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Adopt our open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2944368"/>
            <a:ext cx="226131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Four public platforms, free for any authority, researcher or newsroom to build on.</a:t>
            </a:r>
          </a:p>
        </p:txBody>
      </p:sp>
      <p:sp>
        <p:nvSpPr>
          <p:cNvPr id="38" name="Oval 37"/>
          <p:cNvSpPr/>
          <p:nvPr/>
        </p:nvSpPr>
        <p:spPr>
          <a:xfrm>
            <a:off x="6300216" y="3749040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cpu_0A9955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7998" y="3836822"/>
            <a:ext cx="190195" cy="19019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30568" y="37307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Bring SATARK to your city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3730752"/>
            <a:ext cx="226131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Enforcement intelligence for traffic police, proven across three cities.</a:t>
            </a:r>
          </a:p>
        </p:txBody>
      </p:sp>
      <p:sp>
        <p:nvSpPr>
          <p:cNvPr id="42" name="Oval 41"/>
          <p:cNvSpPr/>
          <p:nvPr/>
        </p:nvSpPr>
        <p:spPr>
          <a:xfrm>
            <a:off x="6300216" y="4535424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handshake_0A9955_256_2.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7998" y="4623206"/>
            <a:ext cx="190195" cy="19019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830568" y="4517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Back a programme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9448" y="4517136"/>
            <a:ext cx="226131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Fund a focus area, or join the expert bench that reviews the work.</a:t>
            </a:r>
          </a:p>
        </p:txBody>
      </p:sp>
      <p:sp>
        <p:nvSpPr>
          <p:cNvPr id="46" name="Oval 45"/>
          <p:cNvSpPr/>
          <p:nvPr/>
        </p:nvSpPr>
        <p:spPr>
          <a:xfrm>
            <a:off x="6300216" y="5321808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mail_0A9955_256_2.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7998" y="5409590"/>
            <a:ext cx="190195" cy="19019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830568" y="53035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Talk to 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9448" y="5303520"/>
            <a:ext cx="226131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akhtar@crashfreeindia.org  ·  crashfreeindia.org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66928"/>
            <a:ext cx="1828800" cy="2527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92024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No life lost on an Indian road</a:t>
            </a:r>
          </a:p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is acceptable.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5204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C8C0FF"/>
                </a:solidFill>
                <a:latin typeface="Geist"/>
              </a:rPr>
              <a:t>We add the hands, the evidence and the tools that turn that goal into work the system can carry, and we track it in public.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4315968"/>
            <a:ext cx="4754880" cy="0"/>
          </a:xfrm>
          <a:prstGeom prst="line">
            <a:avLst/>
          </a:prstGeom>
          <a:ln w="12700">
            <a:solidFill>
              <a:srgbClr val="6A55FF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66928" y="4517136"/>
            <a:ext cx="9875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1">
                <a:solidFill>
                  <a:srgbClr val="FFFFFF"/>
                </a:solidFill>
                <a:latin typeface="Montserrat"/>
              </a:rPr>
              <a:t>"We already know what is going wrong. What we need now is more responsibility, more discipline, more respect for life."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17550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MS Dhoni · Goodwill Ambassador, Crashfree India</a:t>
            </a:r>
          </a:p>
        </p:txBody>
      </p:sp>
      <p:pic>
        <p:nvPicPr>
          <p:cNvPr id="9" name="Picture 8" descr="globe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614416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8408" y="55961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crashfreeindia.org</a:t>
            </a:r>
          </a:p>
        </p:txBody>
      </p:sp>
      <p:pic>
        <p:nvPicPr>
          <p:cNvPr id="11" name="Picture 10" descr="mail_C8C0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035040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8408" y="60167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akhtar@crashfreeindia.org  ·  helpdesk@crashfreeindia.org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Crashfree India · A Cars24 commitment · Operated by Vision Zero Trust, New Delhi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