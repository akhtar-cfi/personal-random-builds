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8.png"/><Relationship Id="rId6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image" Target="../media/image14.png"/><Relationship Id="rId5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651760" cy="36643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777589"/>
                </a:solidFill>
                <a:latin typeface="Montserrat"/>
              </a:rPr>
              <a:t>Expression of Interest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1A1C1C"/>
                </a:solidFill>
                <a:latin typeface="Montserrat"/>
              </a:rPr>
              <a:t>Working Group 5:</a:t>
            </a:r>
          </a:p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1A1C1C"/>
                </a:solidFill>
                <a:latin typeface="Montserrat"/>
              </a:rPr>
              <a:t>Post-Crash Care, Policy Standards &amp; State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C1C"/>
                </a:solidFill>
                <a:latin typeface="Geist"/>
              </a:rPr>
              <a:t>Submitted to the National Road Safety 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77589"/>
                </a:solidFill>
                <a:latin typeface="Geist"/>
              </a:rPr>
              <a:t>by Crashfree India (Vision Zero Trust) · August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669280"/>
            <a:ext cx="2139696" cy="3840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2139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1M+ people reached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6936" y="5669280"/>
            <a:ext cx="1275588" cy="3840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5669280"/>
            <a:ext cx="12755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18 cities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9684" y="5669280"/>
            <a:ext cx="2619756" cy="3840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9684" y="5669280"/>
            <a:ext cx="26197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25+ authority approvals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5669280"/>
            <a:ext cx="2427732" cy="3840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5669280"/>
            <a:ext cx="24277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4 district committees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crashfreeindia.org · helpdesk@crashfreeindia.org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ABOUT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Crashfree India: a nonprofit working for safer roads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Registered as Vision Zero Trust. Co-founded by Cars24 and the Indian Road Safety Council, June 2025. We follow the global Vision Zero principle: no loss of life on the road is acceptable.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28600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search-chec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226771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Evidence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77589"/>
                </a:solidFill>
                <a:latin typeface="Geist"/>
              </a:rPr>
              <a:t>Structured field audits, file reviews and research to official standards — not opinion.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35808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landmar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27248"/>
            <a:ext cx="219456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30175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Institutional collaboration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35808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77589"/>
                </a:solidFill>
                <a:latin typeface="Geist"/>
              </a:rPr>
              <a:t>We work through PWDs, NHAI, transport departments, police and District Road Safety Committees.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78561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users-round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19456" cy="219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376732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Youth-led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85616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77589"/>
                </a:solidFill>
                <a:latin typeface="Geist"/>
              </a:rPr>
              <a:t>Trained student teams from IITs, NITs and SPAs add auditing hands the system needs.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53542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monitor-chec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626864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34440" y="451713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Technology for follow-through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535424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77589"/>
                </a:solidFill>
                <a:latin typeface="Geist"/>
              </a:rPr>
              <a:t>Public dashboards track every recommendation from submission to completion.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486400"/>
            <a:ext cx="10911535" cy="5486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8640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Backed by a US$3 million, three-year commitment from Cars24 — with programmes, not overheads, receiving 71% of the budget.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OUR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One year of work across four connected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Each area strengthens the others — audits create data, data supports policy, policy guides the field.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492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hard-hat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615184"/>
            <a:ext cx="256032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81328" y="254203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Project Rakshak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944368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Youth-led road safety audits to IRC / MoRTH standards; 31 sites, 25+ approvals, 15 implementations underway.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286000"/>
            <a:ext cx="53492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9088" y="251460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scan-lin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615184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31736" y="254203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SATARK &amp; enforcement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944368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AI number-plate platform built with traffic police — 3,00,000+ vehicles screened in Jaipur &amp; Bengaluru.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53492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43484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hand-helping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535424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81328" y="446227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Post-crash support &amp; compensation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864608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'Justice Unserved' research, Aasha chatbot, hospital helpdesks, district committee integration, Rajasthan portal design.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4206240"/>
            <a:ext cx="53492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9088" y="443484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bar-chart-3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4535424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31736" y="4462272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Open data &amp; public education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4864608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Four public data platforms; comics, Hindi guides and a pre-hospital care primer.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OUR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We build serious public technology — and keep it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Self-updating platforms that make road-safety work transparent, measurable and usable by government.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157984"/>
            <a:ext cx="5468112" cy="2592953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5394960" cy="2519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805801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77589"/>
                </a:solidFill>
                <a:latin typeface="Geist"/>
              </a:rPr>
              <a:t>Project Rakshak public dashboard — every site, authority and status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Rakshak accountability portal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rakshak.crashfreeindia.org — submission → committee ratification → 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072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SATARK enforcement platform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ANPR + national vehicle records, officer app and public compliance billboards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6557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Aasha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24/7 multilingual AI guide for crash victims, on WhatsApp and 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2394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Compensation Calculator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Free estimates on Supreme Court principles (Sarla Verma, Pranay Sethi)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823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National crash data dashboard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MoRTH statistics productised: report cards for 36 states, 50 cities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4406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Road defect repository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AI reads local news in 13 languages across 146 districts; hazards mapped publicly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OUR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Academic leadership, senior advisors and a multidisciplinary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34924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gtiw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29968"/>
            <a:ext cx="73152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7360" y="2029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Prof. Geetam Tiwari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3172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Emeritus Professor &amp; Chair, TRIP Centre, IIT Delhi · Member, IRC H-7 Committee on Road Safety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874519"/>
            <a:ext cx="534924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91656" y="2029968"/>
            <a:ext cx="731520" cy="73152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20299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Montserrat"/>
              </a:rPr>
              <a:t>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7768" y="2029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Piyush Tewari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7768" y="233172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Founder &amp; CEO, SaveLIFE Foundation · Architect of the Good Samaritan Law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20">
                <a:solidFill>
                  <a:srgbClr val="777589"/>
                </a:solidFill>
                <a:latin typeface="Montserrat"/>
              </a:rPr>
              <a:t>BOARD OF ADVISORS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77589"/>
                </a:solidFill>
                <a:latin typeface="Geist"/>
              </a:rPr>
              <a:t>Guided also by Dr. Richa Ahuja (IIT Kharagpur) and an expert network spanning CSIR-CRRI, IRF India, CoERS IIT Madras, IISc, IIT Bombay, IIT Roorkee, IIT Kanpur and the Schools of Planning &amp; Architecture.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4A35FF"/>
                </a:solidFill>
                <a:latin typeface="Montserrat"/>
              </a:rPr>
              <a:t>Trustees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160520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Amar Srivastava (Founder, Indian Road Safety Council) · Deepanshu Gupta (Founder, IRSC) · Gajendra Jangid (Co-founder, Cars24)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908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4A35FF"/>
                </a:solidFill>
                <a:latin typeface="Montserrat"/>
              </a:rPr>
              <a:t>Full-time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690872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Educated at IIT Delhi, NALSAR &amp; Delhi University (law), TISS (development studies), HKUST — experience across engineering, law, policy, psychology and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212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4A35FF"/>
                </a:solidFill>
                <a:latin typeface="Montserrat"/>
              </a:rPr>
              <a:t>Field strength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21224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75+ road-engineering interns and 31 student audit teams across 18 cities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5157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4A35FF"/>
                </a:solidFill>
                <a:latin typeface="Montserrat"/>
              </a:rPr>
              <a:t>Goodwill Ambassador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751576"/>
            <a:ext cx="8595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C1C"/>
                </a:solidFill>
                <a:latin typeface="Geist"/>
              </a:rPr>
              <a:t>MS Dhoni — voice for youth participation and safer school zones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WORKING GROUP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The mandate, and where we align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Post-crash care, policy standards and state implementation.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772668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7726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77340" y="2103120"/>
            <a:ext cx="1613916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7340" y="2103120"/>
            <a:ext cx="16139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Trauma 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2103120"/>
            <a:ext cx="877824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2103120"/>
            <a:ext cx="87782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Laws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103120"/>
            <a:ext cx="2455164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2103120"/>
            <a:ext cx="245516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Standards catalogue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18020" y="2103120"/>
            <a:ext cx="1824228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8020" y="2103120"/>
            <a:ext cx="18242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State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2103120"/>
            <a:ext cx="2139696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2103120"/>
            <a:ext cx="21396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District toolkit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26080"/>
            <a:ext cx="10911535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03580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Compensation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03580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'Justice Unserved' research; file-level audits with districts; claim-pipeline rebuild with the Rajasthan Transport Department.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85616"/>
            <a:ext cx="10911535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9534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District machinery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895344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Working inside four District Road Safety Committees — formally tasked by the South-West Delhi DRSC; a fellow embedded with Gurugram district offices.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45152"/>
            <a:ext cx="10911535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7548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Victim-facing standards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7548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Aasha chatbot, Compensation Calculator on Supreme Court principles, plain-language Hindi guides and hospital helpdesks.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04688"/>
            <a:ext cx="10911535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614416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Emergency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614416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A Pre-Hospital Care Primer benchmarking India's golden-hour response against global standards, with state innovations documented.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THE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A family experiences many institutions — not one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Hospitals, police, district offices, enquiry officers, insurers, legal-services bodies and tribunals each do their part; the journey across them is what we work to simplify.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340864"/>
            <a:ext cx="10954512" cy="2716646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journey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0"/>
            <a:ext cx="10881360" cy="26434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13066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777589"/>
                </a:solidFill>
                <a:latin typeface="Geist"/>
              </a:rPr>
              <a:t>The hit-and-run claim journey as we mapped it with officials in Jaipur — seven stages across six institutions.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86400"/>
            <a:ext cx="10911535" cy="64008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Our work: make each hand-off visible, guide the family at every stage, and give administrators the dashboards to see where files wait.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OUR RESEARCH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'Justice Unserved' — the evidence base we built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Published January 2026 · launched at IIT Delhi · findings presented to MoRTH · cited by national press.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112264"/>
            <a:ext cx="2624173" cy="336499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comp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2551021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74720" y="214884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Awareness  —  </a:t>
            </a:r>
            <a:r>
              <a:rPr sz="1150" b="0" i="0">
                <a:solidFill>
                  <a:srgbClr val="1A1C1C"/>
                </a:solidFill>
                <a:latin typeface="Geist"/>
              </a:rPr>
              <a:t>70% of low-income families are unaware compensation exists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679192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Timeliness  —  </a:t>
            </a:r>
            <a:r>
              <a:rPr sz="1150" b="0" i="0">
                <a:solidFill>
                  <a:srgbClr val="1A1C1C"/>
                </a:solidFill>
                <a:latin typeface="Geist"/>
              </a:rPr>
              <a:t>3.6-year average claim; MACT cases often run 8–10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09544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Documentation  —  </a:t>
            </a:r>
            <a:r>
              <a:rPr sz="1150" b="0" i="0">
                <a:solidFill>
                  <a:srgbClr val="1A1C1C"/>
                </a:solidFill>
                <a:latin typeface="Geist"/>
              </a:rPr>
              <a:t>90% of pending hit-and-run claims stall on documents 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739896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Adequacy  —  </a:t>
            </a:r>
            <a:r>
              <a:rPr sz="1150" b="0" i="0">
                <a:solidFill>
                  <a:srgbClr val="1A1C1C"/>
                </a:solidFill>
                <a:latin typeface="Geist"/>
              </a:rPr>
              <a:t>Informal workers valued at minimum wage until courts enhance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270248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Equity  —  </a:t>
            </a:r>
            <a:r>
              <a:rPr sz="1150" b="0" i="0">
                <a:solidFill>
                  <a:srgbClr val="1A1C1C"/>
                </a:solidFill>
                <a:latin typeface="Geist"/>
              </a:rPr>
              <a:t>14% of low-income households compensated vs 24% of high-income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5029200"/>
            <a:ext cx="8074152" cy="7772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5029200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4A35FF"/>
                </a:solidFill>
                <a:latin typeface="Montserrat"/>
              </a:rPr>
              <a:t>Headline finding: only 205 hit-and-run claims were filed in FY22-23 against ~25,000 eligible crashes. The scheme is sound — the pipeline to it needs support.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FROM RESEARCH TO DISTRICTS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Working inside the district machinery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We took the research to where claims actually move: District Road Safety Committees and district offices.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01168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landmar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199339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Four DRSCs joined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777589"/>
                </a:solidFill>
                <a:latin typeface="Geist"/>
              </a:rPr>
              <a:t>Gurugram, South-West Delhi, North-West Delhi and Jaipur — with formal MoUs with Jaipur Traffic Police and Gurugram Police.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44368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file-text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35808"/>
            <a:ext cx="219456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29260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File-level 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944368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777589"/>
                </a:solidFill>
                <a:latin typeface="Geist"/>
              </a:rPr>
              <a:t>With Gurugram's administration, we reviewed 102 hit-and-run files from 2022 onwards — mapping exactly where eligible families drop out.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770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badge-chec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68496"/>
            <a:ext cx="219456" cy="219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38587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Formally tasked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877056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777589"/>
                </a:solidFill>
                <a:latin typeface="Geist"/>
              </a:rPr>
              <a:t>The South-West Delhi DRSC's signed minutes task Crashfree India with digitisation and analytics support for scheme files.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80974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user-chec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901184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34440" y="4791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Embedded presence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09744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777589"/>
                </a:solidFill>
                <a:latin typeface="Geist"/>
              </a:rPr>
              <a:t>A research fellow placed with Gurugram district offices — implementation support, not external commentary.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15000"/>
            <a:ext cx="10911535" cy="5486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This is district-toolkit experience in practice — the working knowledge WG-5's state-implementation mandate needs.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STATE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With Rajasthan: from mapping to a working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Supporting the state Lead Agency and Transport Department on the Hit-and-Run Compensation Scheme.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21408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Ground mapping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21408"/>
            <a:ext cx="7589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Consultations across every office a claim touches in Jaipur — police thanas, DLSA, ADM office, SDM cell, DM and 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90088"/>
            <a:ext cx="10911535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099816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What the data showed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99816"/>
            <a:ext cx="7589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Jaipur alone delivers roughly half of Rajasthan's hit-and-run claims (~180 of ~395 in 2025) — active outreach and a single coordination cell explain the difference.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68496"/>
            <a:ext cx="10911535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078224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Findings shared as 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078224"/>
            <a:ext cx="7589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Document standard (7 court-agreed items vs 11–13 demanded), family traceability, stage-wise SLAs and five clarification queries prepared for GIC.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46904"/>
            <a:ext cx="10911535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05663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Portal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056632"/>
            <a:ext cx="7589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A guided-filing, stage-visible case-management portal for the scheme — designed so no stakeholder changes their medium, and officials retain every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VICTIM-FACING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Aasha and the tools that guide families through the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Built so that a family's first hours after a crash come with clear, correct guidance — in their language.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67344" y="1975104"/>
            <a:ext cx="2876417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guide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011680"/>
            <a:ext cx="2803265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59436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Hindi legal-rights guide — hospitals &amp; police stations.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01168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bot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219456" cy="219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4440" y="1993392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Aasha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011680"/>
            <a:ext cx="4434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India's first 24/7 multilingual AI companion for crash victims — step-by-step guidance on rights, schemes and documents, on WhatsApp and voice.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999232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calculator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90672"/>
            <a:ext cx="219456" cy="219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4440" y="2980944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Compensation Calculator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999232"/>
            <a:ext cx="4434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Free, instant estimates based on Supreme Court principles (Sarla Verma, Pranay Sethi) — strengthening families' position.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98678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hand-helping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78224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34440" y="3968496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Hospital helpdesks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986784"/>
            <a:ext cx="4434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Legal helpdesks in trauma wards — 100+ victims supported in the first four days of operation.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97433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book-open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065776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4440" y="4956048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Plain-language 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974336"/>
            <a:ext cx="4434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Comics ('Know Your Rights with Aasha') and Hindi guides covering all three compensation routes, NALSA 15100 and the Cashless Treatment Scheme 2025.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EMERGENCY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The Pre-Hospital Care Primer: our EMS evidence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Published September 2025 — benchmarking India's golden-hour response and documenting what states are getting right.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01168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siren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199339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The response gap, measured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ERSS-112 is live in all 36 states and UTs, yet highway ambulance arrival averages 25–35 minutes; the full episode runs 55–75 minutes against a 60-minute global benchmark.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54095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heart-puls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45535"/>
            <a:ext cx="219456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3035807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State innovations documented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054095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Maharashtra's MEMS centralised dispatch across 937 ambulances; Tamil Nadu's TAEI model — pre-arrival alerts, trauma registries, automated triage — improving district response times.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9651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shield-chec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87950"/>
            <a:ext cx="219456" cy="219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407822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Good Samaritan 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096510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Bystander protections and the Cashless Treatment Scheme 2025 (₹1.5 lakh / 7 days) explained in our public guides — the demand side of trauma care.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138925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route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230365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34440" y="5120637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Where this serves WG-5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138925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A ready, referenced baseline for the Group's EMS and trauma-care standards discussions — with state models already compared.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TECHNOLOGY, CAREFULLY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Design principles for public post-crash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What we have learned building for the compensation pipeline — offered as reusable standards for any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0911535" cy="74980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574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No stakeholder changes their 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057400"/>
            <a:ext cx="6583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Families use WhatsApp and calls; officials keep their existing files and formats — the system adapts to them, not the reverse.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25496"/>
            <a:ext cx="10911535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916936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Officials retain every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916936"/>
            <a:ext cx="6583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Technology flags, reminds and organises; sanctioning and verification stay entirely with the designated authorities.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85032"/>
            <a:ext cx="10911535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77647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Traceability before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776472"/>
            <a:ext cx="6583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Phase 1 simply makes every file findable and every stage visible — the single largest lever we observed.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44568"/>
            <a:ext cx="10911535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636008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Single-pass clarification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636008"/>
            <a:ext cx="6583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Objections batched and resolved once, not loops that reset the clock for a family.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04104"/>
            <a:ext cx="10911535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495544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4A35FF"/>
                </a:solidFill>
                <a:latin typeface="Montserrat"/>
              </a:rPr>
              <a:t>Evidence for administrators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5495544"/>
            <a:ext cx="65836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1A1C1C"/>
                </a:solidFill>
                <a:latin typeface="Geist"/>
              </a:rPr>
              <a:t>Dashboards reveal where files wait, which documents fail and where outreach is needed — reform guided by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THE PIPELINE,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The numbers WG-5's standards can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Specialist figures from our research and file work — each one a lever the Group's standards and toolkits can act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12344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4A35FF"/>
                </a:solidFill>
                <a:latin typeface="Montserrat"/>
              </a:rPr>
              <a:t>205 vs ~25,000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518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hit-and-run claims filed vs eligible crashes (FY22-23)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474720" cy="12344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1945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4A35FF"/>
                </a:solidFill>
                <a:latin typeface="Montserrat"/>
              </a:rPr>
              <a:t>921 of 1,026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1518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pending claims stalled on documentation alone (Jul 2024)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474720" cy="12344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945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4A35FF"/>
                </a:solidFill>
                <a:latin typeface="Montserrat"/>
              </a:rPr>
              <a:t>~60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1518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intake latency where claim surfacing waits for bi-monthly meetings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20440"/>
            <a:ext cx="3474720" cy="12344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4A35FF"/>
                </a:solidFill>
                <a:latin typeface="Montserrat"/>
              </a:rPr>
              <a:t>~50%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3250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of FIRs lack a usable family phone number — traceability is the first lever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520440"/>
            <a:ext cx="3474720" cy="12344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6118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4A35FF"/>
                </a:solidFill>
                <a:latin typeface="Montserrat"/>
              </a:rPr>
              <a:t>7 vs 11–13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03250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court-agreed documents vs documents demanded in practice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520440"/>
            <a:ext cx="3474720" cy="12344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6118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4A35FF"/>
                </a:solidFill>
                <a:latin typeface="Montserrat"/>
              </a:rPr>
              <a:t>FY23-24: 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03250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of eligible crashes converted to filed claims — improving, far from done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20640"/>
            <a:ext cx="10911535" cy="64008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103628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None of these require new legislation. Each responds to a standard, a toolkit entry or a communication norm — exactly what WG-5 exists to produce.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THE WIDER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We already work with the claim's other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Compensation standards only work if insurers, tribunals and legal-services institutions are in the room — we engage all three.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01168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landmar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199339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GIC &amp; insurers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Five clarification queries prepared for GIC on MACT-affidavit objections; consultations with IFFCO Tokio and New India Assurance on settlement practice.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7180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scal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40"/>
            <a:ext cx="219456" cy="2194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295351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Tribunal &amp; legal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971800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Guidance from Justice J. R. Midha (Retd., Delhi High Court), architect of the FastDAR process; working partners across MACT courts and DLSAs.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93192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file-text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23360"/>
            <a:ext cx="219456" cy="219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391363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Right-to-information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931920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22+ RTIs filed on scheme performance (12 answered) — building the public record that standards work needs.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89204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users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983480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34440" y="487375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Victim-side ground truth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92040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77589"/>
                </a:solidFill>
                <a:latin typeface="Geist"/>
              </a:rPr>
              <a:t>120+ victim and family interactions; 300+ citizens reached through awareness sessions; 30+ expert consultations.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WHY OUR TEAM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Post-crash care needs more than one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A legally sound framework can still be hard to use; a good portal can still miss district workflows. Our team is built across that whole 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6060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3172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scale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432304"/>
            <a:ext cx="256032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29718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Law &amp;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NALSAR and Delhi University-trained; scheme analysis, RTIs, MoRTH engagement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103120"/>
            <a:ext cx="26060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30168" y="233172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cpu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752" y="2432304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30168" y="29718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Technology &amp;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52044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IIT-trained; Aasha, calculator, dashboards and portal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2103120"/>
            <a:ext cx="26060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91656" y="233172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users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432304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91656" y="29718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Field &amp; development practice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52044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TISS-trained; victim interviews, district engagement, DRSC 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4544" y="2103120"/>
            <a:ext cx="26060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53144" y="233172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brain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728" y="2432304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53144" y="297180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Behaviour &amp; communication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3520440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Psychology and design; guides, comics and multilingual communication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091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C1C"/>
                </a:solidFill>
                <a:latin typeface="Geist"/>
              </a:rPr>
              <a:t>Advised by Piyush Tewari (SaveLIFE Foundation), Prof. Geetam Tiwari (IIT Delhi) and Justice J. R. Midha (Retd., Delhi High Court — architect of the FastDAR process), with practitioner partners across MACT courts, DLSAs and insurers.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OUR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Four concrete contributions to Working Group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911535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203704"/>
            <a:ext cx="457200" cy="45720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0370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93976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A victim-side evidence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093976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'Justice Unserved', 120+ victim and family interactions, and file-level audit data showing precisely where eligible families drop out of the process.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08375"/>
            <a:ext cx="10911535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246119"/>
            <a:ext cx="457200" cy="45720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461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36391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A district toolkit, drawn from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136391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Working DRSC integration experience — agendas, file digitisation, fellow placement — ready to be codified into the Group's district toolkit.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50790"/>
            <a:ext cx="10911535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288534"/>
            <a:ext cx="457200" cy="45720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8853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78806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A reusable state portal 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178806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The Rajasthan case-management design — guided filing, stage-wise visibility, single-pass clarification — offered as a template any state can adapt.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93205"/>
            <a:ext cx="10911535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5330949"/>
            <a:ext cx="457200" cy="45720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33094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221221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Standards input from the claimant's side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5221221"/>
            <a:ext cx="6675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Document standards (the court-agreed 7), communication standards and timeline benchmarks, grounded in what families actually experience.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spc="80">
                <a:solidFill>
                  <a:srgbClr val="4A35FF"/>
                </a:solidFill>
                <a:latin typeface="Montserrat"/>
              </a:rPr>
              <a:t>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A1C1C"/>
                </a:solidFill>
                <a:latin typeface="Montserrat"/>
              </a:rPr>
              <a:t>A young organisation the ecosystem already engages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975104"/>
            <a:ext cx="5193792" cy="295351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comp_image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9834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77589"/>
                </a:solidFill>
                <a:latin typeface="Geist"/>
              </a:rPr>
              <a:t>National Road Safety Implementation Forum, IIT Delhi — April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10312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National forum at IIT Delhi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60+ experts; MoRTH, WHO, UNICEF, IRF and CSIR-CRRI participation; hosted with the TRIP Centre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06324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MS Dhoni, Goodwill Ambassador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announced at the forum; covered by Business Standard, The Tribune and The Wire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02336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Research in national press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'Justice Unserved' covered by Deccan Herald, Economic Times, Fortune India, IndiaSpend, Moneycontrol, Scroll.in and The Wire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98348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Government partnerships  —  </a:t>
            </a:r>
            <a:r>
              <a:rPr sz="1050" b="0" i="0">
                <a:solidFill>
                  <a:srgbClr val="777589"/>
                </a:solidFill>
                <a:latin typeface="Geist"/>
              </a:rPr>
              <a:t>MoUs with Jaipur Traffic Police &amp; Gurugram Police; formal tasking by the South-West Delhi DRSC; Rajasthan Transport Department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 India · NRSB Working Group 5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103120" cy="2906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19456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We would be honoured to contribute to</a:t>
            </a:r>
          </a:p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Working Group 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C8C0FF"/>
                </a:solidFill>
                <a:latin typeface="Geist"/>
              </a:rPr>
              <a:t>Our evidence, our district relationships, our technology and our expert network are available to the Board — in whichever form is most useful.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663440"/>
            <a:ext cx="10881360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pic>
        <p:nvPicPr>
          <p:cNvPr id="7" name="Picture 6" descr="globe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992624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4128" y="4983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Geist"/>
              </a:rPr>
              <a:t>crashfreeindia.org</a:t>
            </a:r>
          </a:p>
        </p:txBody>
      </p:sp>
      <p:pic>
        <p:nvPicPr>
          <p:cNvPr id="9" name="Picture 8" descr="mail_C8C0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431536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4128" y="5422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Geist"/>
              </a:rPr>
              <a:t>helpdesk@crashfreeindia.org</a:t>
            </a:r>
          </a:p>
        </p:txBody>
      </p:sp>
      <p:pic>
        <p:nvPicPr>
          <p:cNvPr id="11" name="Picture 10" descr="bar-chart-3_C8C0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870448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4128" y="58613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Geist"/>
              </a:rPr>
              <a:t>Live portal: rakshak.crashfreeindia.org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Crashfree India · A Cars24 Commitment · operated by Vision Zero Trust, New Delhi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