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12.png"/><Relationship Id="rId7" Type="http://schemas.openxmlformats.org/officeDocument/2006/relationships/image" Target="../media/image3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53.jpg"/><Relationship Id="rId6" Type="http://schemas.openxmlformats.org/officeDocument/2006/relationships/image" Target="../media/image5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58.jp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image" Target="../media/image62.jpg"/><Relationship Id="rId8" Type="http://schemas.openxmlformats.org/officeDocument/2006/relationships/image" Target="../media/image63.jpg"/><Relationship Id="rId9" Type="http://schemas.openxmlformats.org/officeDocument/2006/relationships/image" Target="../media/image64.jpg"/><Relationship Id="rId10" Type="http://schemas.openxmlformats.org/officeDocument/2006/relationships/image" Target="../media/image65.jpg"/><Relationship Id="rId11" Type="http://schemas.openxmlformats.org/officeDocument/2006/relationships/image" Target="../media/image66.jpg"/><Relationship Id="rId12" Type="http://schemas.openxmlformats.org/officeDocument/2006/relationships/image" Target="../media/image67.jpg"/><Relationship Id="rId13" Type="http://schemas.openxmlformats.org/officeDocument/2006/relationships/image" Target="../media/image6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image" Target="../media/image70.png"/><Relationship Id="rId4" Type="http://schemas.openxmlformats.org/officeDocument/2006/relationships/image" Target="../media/image71.jpg"/><Relationship Id="rId5" Type="http://schemas.openxmlformats.org/officeDocument/2006/relationships/image" Target="../media/image72.png"/><Relationship Id="rId6" Type="http://schemas.openxmlformats.org/officeDocument/2006/relationships/image" Target="../media/image73.jpg"/><Relationship Id="rId7" Type="http://schemas.openxmlformats.org/officeDocument/2006/relationships/image" Target="../media/image7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78.jpg"/><Relationship Id="rId5" Type="http://schemas.openxmlformats.org/officeDocument/2006/relationships/image" Target="../media/image79.jpg"/><Relationship Id="rId6" Type="http://schemas.openxmlformats.org/officeDocument/2006/relationships/image" Target="../media/image80.jpg"/><Relationship Id="rId7" Type="http://schemas.openxmlformats.org/officeDocument/2006/relationships/image" Target="../media/image8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jpg"/><Relationship Id="rId7" Type="http://schemas.openxmlformats.org/officeDocument/2006/relationships/image" Target="../media/image9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 Id="rId6" Type="http://schemas.openxmlformats.org/officeDocument/2006/relationships/image" Target="../media/image102.jpg"/><Relationship Id="rId7" Type="http://schemas.openxmlformats.org/officeDocument/2006/relationships/image" Target="../media/image10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298448"/>
            <a:ext cx="10058400" cy="274320"/>
          </a:xfrm>
          <a:prstGeom prst="rect">
            <a:avLst/>
          </a:prstGeom>
          <a:noFill/>
        </p:spPr>
        <p:txBody>
          <a:bodyPr wrap="square" lIns="0" rIns="0" tIns="0" bIns="0" anchor="t">
            <a:spAutoFit/>
          </a:bodyPr>
          <a:lstStyle/>
          <a:p>
            <a:pPr algn="l">
              <a:lnSpc>
                <a:spcPct val="128000"/>
              </a:lnSpc>
            </a:pPr>
            <a:r>
              <a:rPr sz="1050" b="1" i="0" spc="240">
                <a:solidFill>
                  <a:srgbClr val="4A35FF"/>
                </a:solidFill>
                <a:latin typeface="Montserrat"/>
              </a:rPr>
              <a:t>EXPRESSION OF INTEREST  ·  NATIONAL ROAD SAFETY BOARD</a:t>
            </a:r>
          </a:p>
        </p:txBody>
      </p:sp>
      <p:sp>
        <p:nvSpPr>
          <p:cNvPr id="6" name="TextBox 5"/>
          <p:cNvSpPr txBox="1"/>
          <p:nvPr/>
        </p:nvSpPr>
        <p:spPr>
          <a:xfrm>
            <a:off x="566928" y="1691640"/>
            <a:ext cx="11064240" cy="594360"/>
          </a:xfrm>
          <a:prstGeom prst="rect">
            <a:avLst/>
          </a:prstGeom>
          <a:noFill/>
        </p:spPr>
        <p:txBody>
          <a:bodyPr wrap="square" lIns="0" rIns="0" tIns="0" bIns="0" anchor="t">
            <a:spAutoFit/>
          </a:bodyPr>
          <a:lstStyle/>
          <a:p>
            <a:pPr algn="l">
              <a:lnSpc>
                <a:spcPct val="105000"/>
              </a:lnSpc>
            </a:pPr>
            <a:r>
              <a:rPr sz="3000" b="1" i="0">
                <a:solidFill>
                  <a:srgbClr val="16181D"/>
                </a:solidFill>
                <a:latin typeface="Montserrat"/>
              </a:rPr>
              <a:t>Working Group 2: Safe Roads, Speeds &amp;</a:t>
            </a:r>
          </a:p>
        </p:txBody>
      </p:sp>
      <p:sp>
        <p:nvSpPr>
          <p:cNvPr id="7" name="TextBox 6"/>
          <p:cNvSpPr txBox="1"/>
          <p:nvPr/>
        </p:nvSpPr>
        <p:spPr>
          <a:xfrm>
            <a:off x="566928" y="2231136"/>
            <a:ext cx="11064240" cy="566928"/>
          </a:xfrm>
          <a:prstGeom prst="rect">
            <a:avLst/>
          </a:prstGeom>
          <a:noFill/>
        </p:spPr>
        <p:txBody>
          <a:bodyPr wrap="square" lIns="0" rIns="0" tIns="0" bIns="0" anchor="t">
            <a:spAutoFit/>
          </a:bodyPr>
          <a:lstStyle/>
          <a:p>
            <a:pPr algn="l">
              <a:lnSpc>
                <a:spcPct val="105000"/>
              </a:lnSpc>
            </a:pPr>
            <a:r>
              <a:rPr sz="3000" b="1" i="0">
                <a:solidFill>
                  <a:srgbClr val="4A35FF"/>
                </a:solidFill>
                <a:latin typeface="Montserrat"/>
              </a:rPr>
              <a:t>Vulnerable Road Users</a:t>
            </a:r>
          </a:p>
        </p:txBody>
      </p:sp>
      <p:sp>
        <p:nvSpPr>
          <p:cNvPr id="8" name="TextBox 7"/>
          <p:cNvSpPr txBox="1"/>
          <p:nvPr/>
        </p:nvSpPr>
        <p:spPr>
          <a:xfrm>
            <a:off x="566928" y="2907792"/>
            <a:ext cx="10607040" cy="566928"/>
          </a:xfrm>
          <a:prstGeom prst="rect">
            <a:avLst/>
          </a:prstGeom>
          <a:noFill/>
        </p:spPr>
        <p:txBody>
          <a:bodyPr wrap="square" lIns="0" rIns="0" tIns="0" bIns="0" anchor="t">
            <a:spAutoFit/>
          </a:bodyPr>
          <a:lstStyle/>
          <a:p>
            <a:pPr algn="l">
              <a:lnSpc>
                <a:spcPct val="135000"/>
              </a:lnSpc>
            </a:pPr>
            <a:r>
              <a:rPr sz="1200" b="0" i="0">
                <a:solidFill>
                  <a:srgbClr val="6E7180"/>
                </a:solidFill>
                <a:latin typeface="Geist"/>
              </a:rPr>
              <a:t>Submitted by Crashfree India (Vision Zero Trust) — a technology-led road safety nonprofit backed by Cars24,</a:t>
            </a:r>
          </a:p>
          <a:p>
            <a:pPr algn="l">
              <a:lnSpc>
                <a:spcPct val="135000"/>
              </a:lnSpc>
            </a:pPr>
            <a:r>
              <a:rPr sz="1200" b="0" i="0">
                <a:solidFill>
                  <a:srgbClr val="6E7180"/>
                </a:solidFill>
                <a:latin typeface="Geist"/>
              </a:rPr>
              <a:t>working with public authorities across 18 cities.</a:t>
            </a:r>
          </a:p>
        </p:txBody>
      </p:sp>
      <p:sp>
        <p:nvSpPr>
          <p:cNvPr id="9" name="Rounded Rectangle 8"/>
          <p:cNvSpPr/>
          <p:nvPr/>
        </p:nvSpPr>
        <p:spPr>
          <a:xfrm>
            <a:off x="566928"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0" name="TextBox 9"/>
          <p:cNvSpPr txBox="1"/>
          <p:nvPr/>
        </p:nvSpPr>
        <p:spPr>
          <a:xfrm>
            <a:off x="713232"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31</a:t>
            </a:r>
          </a:p>
        </p:txBody>
      </p:sp>
      <p:sp>
        <p:nvSpPr>
          <p:cNvPr id="11" name="TextBox 10"/>
          <p:cNvSpPr txBox="1"/>
          <p:nvPr/>
        </p:nvSpPr>
        <p:spPr>
          <a:xfrm>
            <a:off x="713232"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sites audited across 18 cities</a:t>
            </a:r>
          </a:p>
        </p:txBody>
      </p:sp>
      <p:sp>
        <p:nvSpPr>
          <p:cNvPr id="12" name="Rounded Rectangle 11"/>
          <p:cNvSpPr/>
          <p:nvPr/>
        </p:nvSpPr>
        <p:spPr>
          <a:xfrm>
            <a:off x="3360420"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3" name="TextBox 12"/>
          <p:cNvSpPr txBox="1"/>
          <p:nvPr/>
        </p:nvSpPr>
        <p:spPr>
          <a:xfrm>
            <a:off x="3506724"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25+</a:t>
            </a:r>
          </a:p>
        </p:txBody>
      </p:sp>
      <p:sp>
        <p:nvSpPr>
          <p:cNvPr id="14" name="TextBox 13"/>
          <p:cNvSpPr txBox="1"/>
          <p:nvPr/>
        </p:nvSpPr>
        <p:spPr>
          <a:xfrm>
            <a:off x="3506724"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written authority approvals</a:t>
            </a:r>
          </a:p>
        </p:txBody>
      </p:sp>
      <p:sp>
        <p:nvSpPr>
          <p:cNvPr id="15" name="Rounded Rectangle 14"/>
          <p:cNvSpPr/>
          <p:nvPr/>
        </p:nvSpPr>
        <p:spPr>
          <a:xfrm>
            <a:off x="6153912"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6" name="TextBox 15"/>
          <p:cNvSpPr txBox="1"/>
          <p:nvPr/>
        </p:nvSpPr>
        <p:spPr>
          <a:xfrm>
            <a:off x="6300216"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15</a:t>
            </a:r>
          </a:p>
        </p:txBody>
      </p:sp>
      <p:sp>
        <p:nvSpPr>
          <p:cNvPr id="17" name="TextBox 16"/>
          <p:cNvSpPr txBox="1"/>
          <p:nvPr/>
        </p:nvSpPr>
        <p:spPr>
          <a:xfrm>
            <a:off x="6300216"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implementations underway</a:t>
            </a:r>
          </a:p>
        </p:txBody>
      </p:sp>
      <p:sp>
        <p:nvSpPr>
          <p:cNvPr id="18" name="Rounded Rectangle 17"/>
          <p:cNvSpPr/>
          <p:nvPr/>
        </p:nvSpPr>
        <p:spPr>
          <a:xfrm>
            <a:off x="8947404" y="3703320"/>
            <a:ext cx="2670048" cy="713232"/>
          </a:xfrm>
          <a:prstGeom prst="roundRect">
            <a:avLst>
              <a:gd name="adj" fmla="val 16000"/>
            </a:avLst>
          </a:prstGeom>
          <a:solidFill>
            <a:srgbClr val="F7F7FA"/>
          </a:solidFill>
          <a:ln>
            <a:noFill/>
          </a:ln>
          <a:effectLst/>
        </p:spPr>
        <p:txBody>
          <a:bodyPr rtlCol="0" anchor="ctr"/>
          <a:lstStyle/>
          <a:p>
            <a:pPr algn="ctr"/>
          </a:p>
        </p:txBody>
      </p:sp>
      <p:sp>
        <p:nvSpPr>
          <p:cNvPr id="19" name="TextBox 18"/>
          <p:cNvSpPr txBox="1"/>
          <p:nvPr/>
        </p:nvSpPr>
        <p:spPr>
          <a:xfrm>
            <a:off x="9093708" y="3785616"/>
            <a:ext cx="2395728" cy="365760"/>
          </a:xfrm>
          <a:prstGeom prst="rect">
            <a:avLst/>
          </a:prstGeom>
          <a:noFill/>
        </p:spPr>
        <p:txBody>
          <a:bodyPr wrap="square" lIns="0" rIns="0" tIns="0" bIns="0" anchor="t">
            <a:spAutoFit/>
          </a:bodyPr>
          <a:lstStyle/>
          <a:p>
            <a:pPr algn="l">
              <a:lnSpc>
                <a:spcPct val="100000"/>
              </a:lnSpc>
            </a:pPr>
            <a:r>
              <a:rPr sz="1600" b="1" i="0">
                <a:solidFill>
                  <a:srgbClr val="4A35FF"/>
                </a:solidFill>
                <a:latin typeface="Montserrat"/>
              </a:rPr>
              <a:t>3,00,000+</a:t>
            </a:r>
          </a:p>
        </p:txBody>
      </p:sp>
      <p:sp>
        <p:nvSpPr>
          <p:cNvPr id="20" name="TextBox 19"/>
          <p:cNvSpPr txBox="1"/>
          <p:nvPr/>
        </p:nvSpPr>
        <p:spPr>
          <a:xfrm>
            <a:off x="9093708" y="4096512"/>
            <a:ext cx="2395728" cy="274320"/>
          </a:xfrm>
          <a:prstGeom prst="rect">
            <a:avLst/>
          </a:prstGeom>
          <a:noFill/>
        </p:spPr>
        <p:txBody>
          <a:bodyPr wrap="square" lIns="0" rIns="0" tIns="0" bIns="0" anchor="t">
            <a:spAutoFit/>
          </a:bodyPr>
          <a:lstStyle/>
          <a:p>
            <a:pPr algn="l">
              <a:lnSpc>
                <a:spcPct val="100000"/>
              </a:lnSpc>
            </a:pPr>
            <a:r>
              <a:rPr sz="900" b="0" i="0">
                <a:solidFill>
                  <a:srgbClr val="6E7180"/>
                </a:solidFill>
                <a:latin typeface="Geist"/>
              </a:rPr>
              <a:t>vehicles screened by SATARK</a:t>
            </a:r>
          </a:p>
        </p:txBody>
      </p:sp>
      <p:pic>
        <p:nvPicPr>
          <p:cNvPr id="21" name="Picture 20" descr="implementation_work.jpg_2.92x1.72.jpg"/>
          <p:cNvPicPr>
            <a:picLocks noChangeAspect="1"/>
          </p:cNvPicPr>
          <p:nvPr/>
        </p:nvPicPr>
        <p:blipFill>
          <a:blip r:embed="rId3"/>
          <a:stretch>
            <a:fillRect/>
          </a:stretch>
        </p:blipFill>
        <p:spPr>
          <a:xfrm>
            <a:off x="566928" y="4617720"/>
            <a:ext cx="2670048" cy="1572768"/>
          </a:xfrm>
          <a:prstGeom prst="rect">
            <a:avLst/>
          </a:prstGeom>
        </p:spPr>
      </p:pic>
      <p:sp>
        <p:nvSpPr>
          <p:cNvPr id="22" name="Rectangle 21"/>
          <p:cNvSpPr/>
          <p:nvPr/>
        </p:nvSpPr>
        <p:spPr>
          <a:xfrm>
            <a:off x="566928" y="4617720"/>
            <a:ext cx="2670048" cy="1572768"/>
          </a:xfrm>
          <a:prstGeom prst="rect">
            <a:avLst/>
          </a:prstGeom>
          <a:noFill/>
          <a:ln w="12700">
            <a:solidFill>
              <a:srgbClr val="E8E9EE"/>
            </a:solidFill>
          </a:ln>
          <a:effectLst/>
        </p:spPr>
        <p:txBody>
          <a:bodyPr rtlCol="0" anchor="ctr"/>
          <a:lstStyle/>
          <a:p>
            <a:pPr algn="ctr"/>
          </a:p>
        </p:txBody>
      </p:sp>
      <p:pic>
        <p:nvPicPr>
          <p:cNvPr id="23" name="Picture 22" descr="guntur_junction.jpg_2.92x1.72.jpg"/>
          <p:cNvPicPr>
            <a:picLocks noChangeAspect="1"/>
          </p:cNvPicPr>
          <p:nvPr/>
        </p:nvPicPr>
        <p:blipFill>
          <a:blip r:embed="rId4"/>
          <a:stretch>
            <a:fillRect/>
          </a:stretch>
        </p:blipFill>
        <p:spPr>
          <a:xfrm>
            <a:off x="3360420" y="4617720"/>
            <a:ext cx="2670048" cy="1572768"/>
          </a:xfrm>
          <a:prstGeom prst="rect">
            <a:avLst/>
          </a:prstGeom>
        </p:spPr>
      </p:pic>
      <p:sp>
        <p:nvSpPr>
          <p:cNvPr id="24" name="Rectangle 23"/>
          <p:cNvSpPr/>
          <p:nvPr/>
        </p:nvSpPr>
        <p:spPr>
          <a:xfrm>
            <a:off x="3360420" y="4617720"/>
            <a:ext cx="2670048" cy="1572768"/>
          </a:xfrm>
          <a:prstGeom prst="rect">
            <a:avLst/>
          </a:prstGeom>
          <a:noFill/>
          <a:ln w="12700">
            <a:solidFill>
              <a:srgbClr val="E8E9EE"/>
            </a:solidFill>
          </a:ln>
          <a:effectLst/>
        </p:spPr>
        <p:txBody>
          <a:bodyPr rtlCol="0" anchor="ctr"/>
          <a:lstStyle/>
          <a:p>
            <a:pPr algn="ctr"/>
          </a:p>
        </p:txBody>
      </p:sp>
      <p:pic>
        <p:nvPicPr>
          <p:cNvPr id="25" name="Picture 24" descr="iv_indore_footpath.png_2.92x1.72.jpg"/>
          <p:cNvPicPr>
            <a:picLocks noChangeAspect="1"/>
          </p:cNvPicPr>
          <p:nvPr/>
        </p:nvPicPr>
        <p:blipFill>
          <a:blip r:embed="rId5"/>
          <a:stretch>
            <a:fillRect/>
          </a:stretch>
        </p:blipFill>
        <p:spPr>
          <a:xfrm>
            <a:off x="6153912" y="4617720"/>
            <a:ext cx="2670048" cy="1572768"/>
          </a:xfrm>
          <a:prstGeom prst="rect">
            <a:avLst/>
          </a:prstGeom>
        </p:spPr>
      </p:pic>
      <p:sp>
        <p:nvSpPr>
          <p:cNvPr id="26" name="Rectangle 25"/>
          <p:cNvSpPr/>
          <p:nvPr/>
        </p:nvSpPr>
        <p:spPr>
          <a:xfrm>
            <a:off x="6153912" y="4617720"/>
            <a:ext cx="2670048" cy="1572768"/>
          </a:xfrm>
          <a:prstGeom prst="rect">
            <a:avLst/>
          </a:prstGeom>
          <a:noFill/>
          <a:ln w="12700">
            <a:solidFill>
              <a:srgbClr val="E8E9EE"/>
            </a:solidFill>
          </a:ln>
          <a:effectLst/>
        </p:spPr>
        <p:txBody>
          <a:bodyPr rtlCol="0" anchor="ctr"/>
          <a:lstStyle/>
          <a:p>
            <a:pPr algn="ctr"/>
          </a:p>
        </p:txBody>
      </p:sp>
      <p:pic>
        <p:nvPicPr>
          <p:cNvPr id="27" name="Picture 26" descr="ph_police_rally.jpg_2.92x1.72.jpg"/>
          <p:cNvPicPr>
            <a:picLocks noChangeAspect="1"/>
          </p:cNvPicPr>
          <p:nvPr/>
        </p:nvPicPr>
        <p:blipFill>
          <a:blip r:embed="rId6"/>
          <a:stretch>
            <a:fillRect/>
          </a:stretch>
        </p:blipFill>
        <p:spPr>
          <a:xfrm>
            <a:off x="8947404" y="4617720"/>
            <a:ext cx="2670048" cy="1572768"/>
          </a:xfrm>
          <a:prstGeom prst="rect">
            <a:avLst/>
          </a:prstGeom>
        </p:spPr>
      </p:pic>
      <p:sp>
        <p:nvSpPr>
          <p:cNvPr id="28" name="Rectangle 27"/>
          <p:cNvSpPr/>
          <p:nvPr/>
        </p:nvSpPr>
        <p:spPr>
          <a:xfrm>
            <a:off x="8947404" y="4617720"/>
            <a:ext cx="2670048" cy="1572768"/>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566928" y="6355080"/>
            <a:ext cx="868680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2, National Road Safety Board</a:t>
            </a:r>
          </a:p>
        </p:txBody>
      </p:sp>
      <p:sp>
        <p:nvSpPr>
          <p:cNvPr id="30" name="TextBox 29"/>
          <p:cNvSpPr txBox="1"/>
          <p:nvPr/>
        </p:nvSpPr>
        <p:spPr>
          <a:xfrm>
            <a:off x="9247327" y="635508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2000"/>
              </a:lnSpc>
              <a:spcAft>
                <a:spcPts val="700"/>
              </a:spcAft>
            </a:pPr>
            <a:r>
              <a:rPr sz="1080" b="0" i="0">
                <a:solidFill>
                  <a:srgbClr val="16181D"/>
                </a:solidFill>
                <a:latin typeface="Geist"/>
              </a:rPr>
              <a:t>Respected Chairperson and Members of Working Group 2,</a:t>
            </a:r>
          </a:p>
          <a:p>
            <a:pPr algn="l">
              <a:lnSpc>
                <a:spcPct val="132000"/>
              </a:lnSpc>
              <a:spcAft>
                <a:spcPts val="700"/>
              </a:spcAft>
            </a:pPr>
            <a:r>
              <a:rPr sz="1080" b="0" i="0">
                <a:solidFill>
                  <a:srgbClr val="16181D"/>
                </a:solidFill>
                <a:latin typeface="Geist"/>
              </a:rPr>
              <a:t>Crashfree India is a young road safety nonprofit —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a:t>
            </a:r>
          </a:p>
          <a:p>
            <a:pPr algn="l">
              <a:lnSpc>
                <a:spcPct val="132000"/>
              </a:lnSpc>
              <a:spcAft>
                <a:spcPts val="700"/>
              </a:spcAft>
            </a:pPr>
            <a:r>
              <a:rPr sz="1080" b="0" i="0">
                <a:solidFill>
                  <a:srgbClr val="16181D"/>
                </a:solidFill>
                <a:latin typeface="Geist"/>
              </a:rPr>
              <a:t>In our first year we audited 31 high-risk locations across 18 cities, secured 25+ written approvals from road-owning authorities, and began implementation at 15 sites — each tracked on a public dashboard. SATARK, our AI enforcement platform, has screened over 3,00,000 vehicles for police in Jaipur and Bengaluru and has now reached Gurugram. Four open-data platforms, the Aasha victim chatbot, hospital helpdesks and MS Dhoni as our Goodwill Ambassador complete the picture.</a:t>
            </a:r>
          </a:p>
          <a:p>
            <a:pPr algn="l">
              <a:lnSpc>
                <a:spcPct val="132000"/>
              </a:lnSpc>
              <a:spcAft>
                <a:spcPts val="700"/>
              </a:spcAft>
            </a:pPr>
            <a:r>
              <a:rPr sz="108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8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About Crashfree India</a:t>
            </a:r>
          </a:p>
        </p:txBody>
      </p:sp>
      <p:sp>
        <p:nvSpPr>
          <p:cNvPr id="12" name="TextBox 11"/>
          <p:cNvSpPr txBox="1"/>
          <p:nvPr/>
        </p:nvSpPr>
        <p:spPr>
          <a:xfrm>
            <a:off x="2103120" y="1993392"/>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how we are set up, and the principles we work by.</a:t>
            </a:r>
          </a:p>
        </p:txBody>
      </p:sp>
      <p:sp>
        <p:nvSpPr>
          <p:cNvPr id="13" name="TextBox 12"/>
          <p:cNvSpPr txBox="1"/>
          <p:nvPr/>
        </p:nvSpPr>
        <p:spPr>
          <a:xfrm>
            <a:off x="10070287" y="1792224"/>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What we have built</a:t>
            </a:r>
          </a:p>
        </p:txBody>
      </p:sp>
      <p:sp>
        <p:nvSpPr>
          <p:cNvPr id="20" name="TextBox 19"/>
          <p:cNvSpPr txBox="1"/>
          <p:nvPr/>
        </p:nvSpPr>
        <p:spPr>
          <a:xfrm>
            <a:off x="2103120" y="2926080"/>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 audits, enforcement tech, victim support, open data, youth, campaigns.</a:t>
            </a:r>
          </a:p>
        </p:txBody>
      </p:sp>
      <p:sp>
        <p:nvSpPr>
          <p:cNvPr id="21" name="TextBox 20"/>
          <p:cNvSpPr txBox="1"/>
          <p:nvPr/>
        </p:nvSpPr>
        <p:spPr>
          <a:xfrm>
            <a:off x="10070287" y="2724912"/>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05 – 11</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Our people</a:t>
            </a:r>
          </a:p>
        </p:txBody>
      </p:sp>
      <p:sp>
        <p:nvSpPr>
          <p:cNvPr id="28" name="TextBox 27"/>
          <p:cNvSpPr txBox="1"/>
          <p:nvPr/>
        </p:nvSpPr>
        <p:spPr>
          <a:xfrm>
            <a:off x="2103120" y="3858768"/>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Trustees, Board of Advisors, and the expert bench behind the work.</a:t>
            </a:r>
          </a:p>
        </p:txBody>
      </p:sp>
      <p:sp>
        <p:nvSpPr>
          <p:cNvPr id="29" name="TextBox 28"/>
          <p:cNvSpPr txBox="1"/>
          <p:nvPr/>
        </p:nvSpPr>
        <p:spPr>
          <a:xfrm>
            <a:off x="10070287" y="3657600"/>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12</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Project Rakshak in depth</a:t>
            </a:r>
          </a:p>
        </p:txBody>
      </p:sp>
      <p:sp>
        <p:nvSpPr>
          <p:cNvPr id="36" name="TextBox 35"/>
          <p:cNvSpPr txBox="1"/>
          <p:nvPr/>
        </p:nvSpPr>
        <p:spPr>
          <a:xfrm>
            <a:off x="2103120" y="4791456"/>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 evidence, method, and results.</a:t>
            </a:r>
          </a:p>
        </p:txBody>
      </p:sp>
      <p:sp>
        <p:nvSpPr>
          <p:cNvPr id="37" name="TextBox 36"/>
          <p:cNvSpPr txBox="1"/>
          <p:nvPr/>
        </p:nvSpPr>
        <p:spPr>
          <a:xfrm>
            <a:off x="10070287" y="4590288"/>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13 – 21</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3291840" cy="365760"/>
          </a:xfrm>
          <a:prstGeom prst="rect">
            <a:avLst/>
          </a:prstGeom>
          <a:noFill/>
        </p:spPr>
        <p:txBody>
          <a:bodyPr wrap="square" lIns="0" rIns="0" tIns="0" bIns="0" anchor="t">
            <a:spAutoFit/>
          </a:bodyPr>
          <a:lstStyle/>
          <a:p>
            <a:pPr algn="l">
              <a:lnSpc>
                <a:spcPct val="100000"/>
              </a:lnSpc>
            </a:pPr>
            <a:r>
              <a:rPr sz="1350" b="1" i="0">
                <a:solidFill>
                  <a:srgbClr val="16181D"/>
                </a:solidFill>
                <a:latin typeface="Montserrat"/>
              </a:rPr>
              <a:t>How we can contribute</a:t>
            </a:r>
          </a:p>
        </p:txBody>
      </p:sp>
      <p:sp>
        <p:nvSpPr>
          <p:cNvPr id="44" name="TextBox 43"/>
          <p:cNvSpPr txBox="1"/>
          <p:nvPr/>
        </p:nvSpPr>
        <p:spPr>
          <a:xfrm>
            <a:off x="2103120" y="5724144"/>
            <a:ext cx="6949440"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70287" y="5522976"/>
            <a:ext cx="132588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22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15 under implementation</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 in real time.</a:t>
            </a:r>
          </a:p>
        </p:txBody>
      </p:sp>
      <p:pic>
        <p:nvPicPr>
          <p:cNvPr id="8" name="Picture 7" descr="satark_billboard.jpg_4.35x2.65.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 live plate, pending challans and dues on a public billboard.</a:t>
            </a:r>
          </a:p>
        </p:txBody>
      </p:sp>
      <p:pic>
        <p:nvPicPr>
          <p:cNvPr id="11" name="Picture 10" descr="satark_officer_app.jpg_2.00x2.65.jpg"/>
          <p:cNvPicPr>
            <a:picLocks noChangeAspect="1"/>
          </p:cNvPicPr>
          <p:nvPr/>
        </p:nvPicPr>
        <p:blipFill>
          <a:blip r:embed="rId3"/>
          <a:stretch>
            <a:fillRect/>
          </a:stretch>
        </p:blipFill>
        <p:spPr>
          <a:xfrm>
            <a:off x="4709160" y="1965960"/>
            <a:ext cx="1828800" cy="2423160"/>
          </a:xfrm>
          <a:prstGeom prst="rect">
            <a:avLst/>
          </a:prstGeom>
        </p:spPr>
      </p:pic>
      <p:sp>
        <p:nvSpPr>
          <p:cNvPr id="12" name="Rectangle 11"/>
          <p:cNvSpPr/>
          <p:nvPr/>
        </p:nvSpPr>
        <p:spPr>
          <a:xfrm>
            <a:off x="4709160" y="1965960"/>
            <a:ext cx="1828800" cy="242316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434840"/>
            <a:ext cx="18288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 pending challans,</a:t>
            </a:r>
          </a:p>
          <a:p>
            <a:pPr algn="l">
              <a:lnSpc>
                <a:spcPct val="110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Public data platforms any authority can use, </a:t>
            </a:r>
            <a:r>
              <a:rPr sz="2250" b="1" i="0">
                <a:solidFill>
                  <a:srgbClr val="4A35FF"/>
                </a:solidFill>
                <a:latin typeface="Montserrat"/>
              </a:rPr>
              <a:t>free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and maintained by our team; self-updating; no login, no fee. Shown live below.</a:t>
            </a:r>
          </a:p>
        </p:txBody>
      </p:sp>
      <p:pic>
        <p:nvPicPr>
          <p:cNvPr id="8" name="Picture 7" descr="sctracker.png_6.10x2.90.jpg"/>
          <p:cNvPicPr>
            <a:picLocks noChangeAspect="1"/>
          </p:cNvPicPr>
          <p:nvPr/>
        </p:nvPicPr>
        <p:blipFill>
          <a:blip r:embed="rId2"/>
          <a:stretch>
            <a:fillRect/>
          </a:stretch>
        </p:blipFill>
        <p:spPr>
          <a:xfrm>
            <a:off x="566928" y="1938528"/>
            <a:ext cx="5577840" cy="2651760"/>
          </a:xfrm>
          <a:prstGeom prst="rect">
            <a:avLst/>
          </a:prstGeom>
        </p:spPr>
      </p:pic>
      <p:sp>
        <p:nvSpPr>
          <p:cNvPr id="9" name="Rectangle 8"/>
          <p:cNvSpPr/>
          <p:nvPr/>
        </p:nvSpPr>
        <p:spPr>
          <a:xfrm>
            <a:off x="566928" y="1938528"/>
            <a:ext cx="5577840" cy="26517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636008"/>
            <a:ext cx="5577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 live: 20 systemic cases, 191 orders indexed, 30 precedent judgments (1 Aug 2026).</a:t>
            </a:r>
          </a:p>
        </p:txBody>
      </p:sp>
      <p:pic>
        <p:nvPicPr>
          <p:cNvPr id="11" name="Picture 10" descr="suraksha_cards.png_6.10x1.00.jpg"/>
          <p:cNvPicPr>
            <a:picLocks noChangeAspect="1"/>
          </p:cNvPicPr>
          <p:nvPr/>
        </p:nvPicPr>
        <p:blipFill>
          <a:blip r:embed="rId3"/>
          <a:stretch>
            <a:fillRect/>
          </a:stretch>
        </p:blipFill>
        <p:spPr>
          <a:xfrm>
            <a:off x="566928" y="5138928"/>
            <a:ext cx="5577840" cy="914400"/>
          </a:xfrm>
          <a:prstGeom prst="rect">
            <a:avLst/>
          </a:prstGeom>
        </p:spPr>
      </p:pic>
      <p:sp>
        <p:nvSpPr>
          <p:cNvPr id="12" name="Rectangle 11"/>
          <p:cNvSpPr/>
          <p:nvPr/>
        </p:nvSpPr>
        <p:spPr>
          <a:xfrm>
            <a:off x="566928" y="5138928"/>
            <a:ext cx="5577840" cy="914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66928" y="6108192"/>
            <a:ext cx="585216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Suraksha Mitra &amp; Sadak Suraksha Suchak — citizen hazard reporting in Hindi (50+ hazards in the first 20 days).</a:t>
            </a:r>
          </a:p>
        </p:txBody>
      </p:sp>
      <p:pic>
        <p:nvPicPr>
          <p:cNvPr id="14" name="Picture 13" descr="resources_hub.jpg_5.65x2.45.jpg"/>
          <p:cNvPicPr>
            <a:picLocks noChangeAspect="1"/>
          </p:cNvPicPr>
          <p:nvPr/>
        </p:nvPicPr>
        <p:blipFill>
          <a:blip r:embed="rId4"/>
          <a:stretch>
            <a:fillRect/>
          </a:stretch>
        </p:blipFill>
        <p:spPr>
          <a:xfrm>
            <a:off x="6446520" y="1938528"/>
            <a:ext cx="5166360" cy="2240280"/>
          </a:xfrm>
          <a:prstGeom prst="rect">
            <a:avLst/>
          </a:prstGeom>
        </p:spPr>
      </p:pic>
      <p:sp>
        <p:nvSpPr>
          <p:cNvPr id="15" name="Rectangle 14"/>
          <p:cNvSpPr/>
          <p:nvPr/>
        </p:nvSpPr>
        <p:spPr>
          <a:xfrm>
            <a:off x="6446520" y="1938528"/>
            <a:ext cx="5166360" cy="224028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446520" y="4224528"/>
            <a:ext cx="51663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Resources Hub — primers, data portals and guides in one place.</a:t>
            </a:r>
          </a:p>
        </p:txBody>
      </p:sp>
      <p:sp>
        <p:nvSpPr>
          <p:cNvPr id="17" name="Oval 16"/>
          <p:cNvSpPr/>
          <p:nvPr/>
        </p:nvSpPr>
        <p:spPr>
          <a:xfrm>
            <a:off x="6446520" y="4645152"/>
            <a:ext cx="365760" cy="365760"/>
          </a:xfrm>
          <a:prstGeom prst="ellipse">
            <a:avLst/>
          </a:prstGeom>
          <a:solidFill>
            <a:srgbClr val="E7F4F4"/>
          </a:solidFill>
          <a:ln>
            <a:noFill/>
          </a:ln>
          <a:effectLst/>
        </p:spPr>
        <p:txBody>
          <a:bodyPr rtlCol="0" anchor="ctr"/>
          <a:lstStyle/>
          <a:p>
            <a:pPr algn="ctr"/>
          </a:p>
        </p:txBody>
      </p:sp>
      <p:pic>
        <p:nvPicPr>
          <p:cNvPr id="18" name="Picture 17" descr="database_0E8A8A_256_2.0.png"/>
          <p:cNvPicPr>
            <a:picLocks noChangeAspect="1"/>
          </p:cNvPicPr>
          <p:nvPr/>
        </p:nvPicPr>
        <p:blipFill>
          <a:blip r:embed="rId5"/>
          <a:stretch>
            <a:fillRect/>
          </a:stretch>
        </p:blipFill>
        <p:spPr>
          <a:xfrm>
            <a:off x="6534302" y="4732934"/>
            <a:ext cx="190195" cy="190195"/>
          </a:xfrm>
          <a:prstGeom prst="rect">
            <a:avLst/>
          </a:prstGeom>
        </p:spPr>
      </p:pic>
      <p:sp>
        <p:nvSpPr>
          <p:cNvPr id="19" name="TextBox 18"/>
          <p:cNvSpPr txBox="1"/>
          <p:nvPr/>
        </p:nvSpPr>
        <p:spPr>
          <a:xfrm>
            <a:off x="6967728" y="462686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Road Defect Repository</a:t>
            </a:r>
          </a:p>
        </p:txBody>
      </p:sp>
      <p:sp>
        <p:nvSpPr>
          <p:cNvPr id="20" name="TextBox 19"/>
          <p:cNvSpPr txBox="1"/>
          <p:nvPr/>
        </p:nvSpPr>
        <p:spPr>
          <a:xfrm>
            <a:off x="8732520" y="462686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146 districts · 13 languages — defect news, mapped publicly.</a:t>
            </a:r>
          </a:p>
        </p:txBody>
      </p:sp>
      <p:sp>
        <p:nvSpPr>
          <p:cNvPr id="21" name="Oval 20"/>
          <p:cNvSpPr/>
          <p:nvPr/>
        </p:nvSpPr>
        <p:spPr>
          <a:xfrm>
            <a:off x="6446520" y="5193792"/>
            <a:ext cx="365760" cy="365760"/>
          </a:xfrm>
          <a:prstGeom prst="ellipse">
            <a:avLst/>
          </a:prstGeom>
          <a:solidFill>
            <a:srgbClr val="EFEDFF"/>
          </a:solidFill>
          <a:ln>
            <a:noFill/>
          </a:ln>
          <a:effectLst/>
        </p:spPr>
        <p:txBody>
          <a:bodyPr rtlCol="0" anchor="ctr"/>
          <a:lstStyle/>
          <a:p>
            <a:pPr algn="ctr"/>
          </a:p>
        </p:txBody>
      </p:sp>
      <p:pic>
        <p:nvPicPr>
          <p:cNvPr id="22" name="Picture 21" descr="landmark_4A35FF_256_2.0.png"/>
          <p:cNvPicPr>
            <a:picLocks noChangeAspect="1"/>
          </p:cNvPicPr>
          <p:nvPr/>
        </p:nvPicPr>
        <p:blipFill>
          <a:blip r:embed="rId6"/>
          <a:stretch>
            <a:fillRect/>
          </a:stretch>
        </p:blipFill>
        <p:spPr>
          <a:xfrm>
            <a:off x="6534302" y="5281574"/>
            <a:ext cx="190195" cy="190195"/>
          </a:xfrm>
          <a:prstGeom prst="rect">
            <a:avLst/>
          </a:prstGeom>
        </p:spPr>
      </p:pic>
      <p:sp>
        <p:nvSpPr>
          <p:cNvPr id="23" name="TextBox 22"/>
          <p:cNvSpPr txBox="1"/>
          <p:nvPr/>
        </p:nvSpPr>
        <p:spPr>
          <a:xfrm>
            <a:off x="6967728" y="517550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Parliament tracker</a:t>
            </a:r>
          </a:p>
        </p:txBody>
      </p:sp>
      <p:sp>
        <p:nvSpPr>
          <p:cNvPr id="24" name="TextBox 23"/>
          <p:cNvSpPr txBox="1"/>
          <p:nvPr/>
        </p:nvSpPr>
        <p:spPr>
          <a:xfrm>
            <a:off x="8732520" y="517550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1,423 road-safety questions indexed across the Lok Sabha &amp; Rajya Sabha.</a:t>
            </a:r>
          </a:p>
        </p:txBody>
      </p:sp>
      <p:sp>
        <p:nvSpPr>
          <p:cNvPr id="25" name="Oval 24"/>
          <p:cNvSpPr/>
          <p:nvPr/>
        </p:nvSpPr>
        <p:spPr>
          <a:xfrm>
            <a:off x="6446520" y="5742432"/>
            <a:ext cx="365760" cy="365760"/>
          </a:xfrm>
          <a:prstGeom prst="ellipse">
            <a:avLst/>
          </a:prstGeom>
          <a:solidFill>
            <a:srgbClr val="FDF3E3"/>
          </a:solidFill>
          <a:ln>
            <a:noFill/>
          </a:ln>
          <a:effectLst/>
        </p:spPr>
        <p:txBody>
          <a:bodyPr rtlCol="0" anchor="ctr"/>
          <a:lstStyle/>
          <a:p>
            <a:pPr algn="ctr"/>
          </a:p>
        </p:txBody>
      </p:sp>
      <p:pic>
        <p:nvPicPr>
          <p:cNvPr id="26" name="Picture 25" descr="bar-chart-3_E58900_256_2.0.png"/>
          <p:cNvPicPr>
            <a:picLocks noChangeAspect="1"/>
          </p:cNvPicPr>
          <p:nvPr/>
        </p:nvPicPr>
        <p:blipFill>
          <a:blip r:embed="rId7"/>
          <a:stretch>
            <a:fillRect/>
          </a:stretch>
        </p:blipFill>
        <p:spPr>
          <a:xfrm>
            <a:off x="6534302" y="5830214"/>
            <a:ext cx="190195" cy="190195"/>
          </a:xfrm>
          <a:prstGeom prst="rect">
            <a:avLst/>
          </a:prstGeom>
        </p:spPr>
      </p:pic>
      <p:sp>
        <p:nvSpPr>
          <p:cNvPr id="27" name="TextBox 26"/>
          <p:cNvSpPr txBox="1"/>
          <p:nvPr/>
        </p:nvSpPr>
        <p:spPr>
          <a:xfrm>
            <a:off x="6967728" y="5724144"/>
            <a:ext cx="2011680" cy="36576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Crash Data Dashboard</a:t>
            </a:r>
          </a:p>
        </p:txBody>
      </p:sp>
      <p:sp>
        <p:nvSpPr>
          <p:cNvPr id="28" name="TextBox 27"/>
          <p:cNvSpPr txBox="1"/>
          <p:nvPr/>
        </p:nvSpPr>
        <p:spPr>
          <a:xfrm>
            <a:off x="8732520" y="5724144"/>
            <a:ext cx="2926080" cy="502920"/>
          </a:xfrm>
          <a:prstGeom prst="rect">
            <a:avLst/>
          </a:prstGeom>
          <a:noFill/>
        </p:spPr>
        <p:txBody>
          <a:bodyPr wrap="square" lIns="0" rIns="0" tIns="0" bIns="0" anchor="t">
            <a:spAutoFit/>
          </a:bodyPr>
          <a:lstStyle/>
          <a:p>
            <a:pPr algn="l">
              <a:lnSpc>
                <a:spcPct val="115000"/>
              </a:lnSpc>
            </a:pPr>
            <a:r>
              <a:rPr sz="900" b="0" i="0">
                <a:solidFill>
                  <a:srgbClr val="6E7180"/>
                </a:solidFill>
                <a:latin typeface="Geist"/>
              </a:rPr>
              <a:t>MoRTH statistics made usable — 36 states, 50 cities, open licence.</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 on WhatsApp, on paper, and in person.</a:t>
            </a:r>
          </a:p>
        </p:txBody>
      </p:sp>
      <p:pic>
        <p:nvPicPr>
          <p:cNvPr id="8" name="Picture 7" descr="wa_phone1.png"/>
          <p:cNvPicPr>
            <a:picLocks noChangeAspect="1"/>
          </p:cNvPicPr>
          <p:nvPr/>
        </p:nvPicPr>
        <p:blipFill>
          <a:blip r:embed="rId2"/>
          <a:stretch>
            <a:fillRect/>
          </a:stretch>
        </p:blipFill>
        <p:spPr>
          <a:xfrm>
            <a:off x="566928" y="1920240"/>
            <a:ext cx="1444752" cy="2140373"/>
          </a:xfrm>
          <a:prstGeom prst="rect">
            <a:avLst/>
          </a:prstGeom>
        </p:spPr>
      </p:pic>
      <p:sp>
        <p:nvSpPr>
          <p:cNvPr id="9" name="TextBox 8"/>
          <p:cNvSpPr txBox="1"/>
          <p:nvPr/>
        </p:nvSpPr>
        <p:spPr>
          <a:xfrm>
            <a:off x="566928"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Day one after FIR</a:t>
            </a:r>
          </a:p>
        </p:txBody>
      </p:sp>
      <p:pic>
        <p:nvPicPr>
          <p:cNvPr id="10" name="Picture 9" descr="wa_phone2.png"/>
          <p:cNvPicPr>
            <a:picLocks noChangeAspect="1"/>
          </p:cNvPicPr>
          <p:nvPr/>
        </p:nvPicPr>
        <p:blipFill>
          <a:blip r:embed="rId3"/>
          <a:stretch>
            <a:fillRect/>
          </a:stretch>
        </p:blipFill>
        <p:spPr>
          <a:xfrm>
            <a:off x="2139696" y="1920240"/>
            <a:ext cx="1444752" cy="2140373"/>
          </a:xfrm>
          <a:prstGeom prst="rect">
            <a:avLst/>
          </a:prstGeom>
        </p:spPr>
      </p:pic>
      <p:sp>
        <p:nvSpPr>
          <p:cNvPr id="11" name="TextBox 10"/>
          <p:cNvSpPr txBox="1"/>
          <p:nvPr/>
        </p:nvSpPr>
        <p:spPr>
          <a:xfrm>
            <a:off x="2139696"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Document capture</a:t>
            </a:r>
          </a:p>
        </p:txBody>
      </p:sp>
      <p:pic>
        <p:nvPicPr>
          <p:cNvPr id="12" name="Picture 11" descr="wa_phone3.png"/>
          <p:cNvPicPr>
            <a:picLocks noChangeAspect="1"/>
          </p:cNvPicPr>
          <p:nvPr/>
        </p:nvPicPr>
        <p:blipFill>
          <a:blip r:embed="rId4"/>
          <a:stretch>
            <a:fillRect/>
          </a:stretch>
        </p:blipFill>
        <p:spPr>
          <a:xfrm>
            <a:off x="3712464" y="1920240"/>
            <a:ext cx="1444752" cy="2140373"/>
          </a:xfrm>
          <a:prstGeom prst="rect">
            <a:avLst/>
          </a:prstGeom>
        </p:spPr>
      </p:pic>
      <p:sp>
        <p:nvSpPr>
          <p:cNvPr id="13" name="TextBox 12"/>
          <p:cNvSpPr txBox="1"/>
          <p:nvPr/>
        </p:nvSpPr>
        <p:spPr>
          <a:xfrm>
            <a:off x="3712464" y="4133087"/>
            <a:ext cx="1463040" cy="274320"/>
          </a:xfrm>
          <a:prstGeom prst="rect">
            <a:avLst/>
          </a:prstGeom>
          <a:noFill/>
        </p:spPr>
        <p:txBody>
          <a:bodyPr wrap="square" lIns="0" rIns="0" tIns="0" bIns="0" anchor="t">
            <a:spAutoFit/>
          </a:bodyPr>
          <a:lstStyle/>
          <a:p>
            <a:pPr algn="ctr">
              <a:lnSpc>
                <a:spcPct val="128000"/>
              </a:lnSpc>
            </a:pPr>
            <a:r>
              <a:rPr sz="850" b="1" i="0">
                <a:solidFill>
                  <a:srgbClr val="16181D"/>
                </a:solidFill>
                <a:latin typeface="Montserrat"/>
              </a:rPr>
              <a:t>Live case status</a:t>
            </a:r>
          </a:p>
        </p:txBody>
      </p:sp>
      <p:sp>
        <p:nvSpPr>
          <p:cNvPr id="14" name="TextBox 13"/>
          <p:cNvSpPr txBox="1"/>
          <p:nvPr/>
        </p:nvSpPr>
        <p:spPr>
          <a:xfrm>
            <a:off x="566928" y="4462272"/>
            <a:ext cx="4663440" cy="4572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Aasha — our 24/7 multilingual AI companion. The family needs no app and no portal; everything runs on WhatsApp and voice, in Hindi.</a:t>
            </a:r>
          </a:p>
        </p:txBody>
      </p:sp>
      <p:sp>
        <p:nvSpPr>
          <p:cNvPr id="15" name="Oval 14"/>
          <p:cNvSpPr/>
          <p:nvPr/>
        </p:nvSpPr>
        <p:spPr>
          <a:xfrm>
            <a:off x="5257800" y="1920240"/>
            <a:ext cx="365760" cy="365760"/>
          </a:xfrm>
          <a:prstGeom prst="ellipse">
            <a:avLst/>
          </a:prstGeom>
          <a:solidFill>
            <a:srgbClr val="EFEDFF"/>
          </a:solidFill>
          <a:ln>
            <a:noFill/>
          </a:ln>
          <a:effectLst/>
        </p:spPr>
        <p:txBody>
          <a:bodyPr rtlCol="0" anchor="ctr"/>
          <a:lstStyle/>
          <a:p>
            <a:pPr algn="ctr"/>
          </a:p>
        </p:txBody>
      </p:sp>
      <p:pic>
        <p:nvPicPr>
          <p:cNvPr id="16" name="Picture 15" descr="bot_4A35FF_256_2.0.png"/>
          <p:cNvPicPr>
            <a:picLocks noChangeAspect="1"/>
          </p:cNvPicPr>
          <p:nvPr/>
        </p:nvPicPr>
        <p:blipFill>
          <a:blip r:embed="rId5"/>
          <a:stretch>
            <a:fillRect/>
          </a:stretch>
        </p:blipFill>
        <p:spPr>
          <a:xfrm>
            <a:off x="5345582" y="2008022"/>
            <a:ext cx="190195" cy="190195"/>
          </a:xfrm>
          <a:prstGeom prst="rect">
            <a:avLst/>
          </a:prstGeom>
        </p:spPr>
      </p:pic>
      <p:sp>
        <p:nvSpPr>
          <p:cNvPr id="17" name="TextBox 16"/>
          <p:cNvSpPr txBox="1"/>
          <p:nvPr/>
        </p:nvSpPr>
        <p:spPr>
          <a:xfrm>
            <a:off x="5779008" y="1901952"/>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Aasha chatbot</a:t>
            </a:r>
          </a:p>
        </p:txBody>
      </p:sp>
      <p:sp>
        <p:nvSpPr>
          <p:cNvPr id="18" name="TextBox 17"/>
          <p:cNvSpPr txBox="1"/>
          <p:nvPr/>
        </p:nvSpPr>
        <p:spPr>
          <a:xfrm>
            <a:off x="7589520" y="1901952"/>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Step-by-step guidance on rights, schemes and documents — 24/7, multilingual.</a:t>
            </a:r>
          </a:p>
        </p:txBody>
      </p:sp>
      <p:sp>
        <p:nvSpPr>
          <p:cNvPr id="19" name="Oval 18"/>
          <p:cNvSpPr/>
          <p:nvPr/>
        </p:nvSpPr>
        <p:spPr>
          <a:xfrm>
            <a:off x="5257800" y="2633472"/>
            <a:ext cx="365760" cy="365760"/>
          </a:xfrm>
          <a:prstGeom prst="ellipse">
            <a:avLst/>
          </a:prstGeom>
          <a:solidFill>
            <a:srgbClr val="E7F4F4"/>
          </a:solidFill>
          <a:ln>
            <a:noFill/>
          </a:ln>
          <a:effectLst/>
        </p:spPr>
        <p:txBody>
          <a:bodyPr rtlCol="0" anchor="ctr"/>
          <a:lstStyle/>
          <a:p>
            <a:pPr algn="ctr"/>
          </a:p>
        </p:txBody>
      </p:sp>
      <p:pic>
        <p:nvPicPr>
          <p:cNvPr id="20" name="Picture 19" descr="calculator_0E8A8A_256_2.0.png"/>
          <p:cNvPicPr>
            <a:picLocks noChangeAspect="1"/>
          </p:cNvPicPr>
          <p:nvPr/>
        </p:nvPicPr>
        <p:blipFill>
          <a:blip r:embed="rId6"/>
          <a:stretch>
            <a:fillRect/>
          </a:stretch>
        </p:blipFill>
        <p:spPr>
          <a:xfrm>
            <a:off x="5345582" y="2721254"/>
            <a:ext cx="190195" cy="190195"/>
          </a:xfrm>
          <a:prstGeom prst="rect">
            <a:avLst/>
          </a:prstGeom>
        </p:spPr>
      </p:pic>
      <p:sp>
        <p:nvSpPr>
          <p:cNvPr id="21" name="TextBox 20"/>
          <p:cNvSpPr txBox="1"/>
          <p:nvPr/>
        </p:nvSpPr>
        <p:spPr>
          <a:xfrm>
            <a:off x="5779008" y="2615184"/>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Compensation Calculator</a:t>
            </a:r>
          </a:p>
        </p:txBody>
      </p:sp>
      <p:sp>
        <p:nvSpPr>
          <p:cNvPr id="22" name="TextBox 21"/>
          <p:cNvSpPr txBox="1"/>
          <p:nvPr/>
        </p:nvSpPr>
        <p:spPr>
          <a:xfrm>
            <a:off x="7589520" y="2615184"/>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Free instant estimates on Supreme Court principles (Sarla Verma, Pranay Sethi).</a:t>
            </a:r>
          </a:p>
        </p:txBody>
      </p:sp>
      <p:sp>
        <p:nvSpPr>
          <p:cNvPr id="23" name="Oval 22"/>
          <p:cNvSpPr/>
          <p:nvPr/>
        </p:nvSpPr>
        <p:spPr>
          <a:xfrm>
            <a:off x="5257800" y="3346704"/>
            <a:ext cx="365760" cy="365760"/>
          </a:xfrm>
          <a:prstGeom prst="ellipse">
            <a:avLst/>
          </a:prstGeom>
          <a:solidFill>
            <a:srgbClr val="E9F7F0"/>
          </a:solidFill>
          <a:ln>
            <a:noFill/>
          </a:ln>
          <a:effectLst/>
        </p:spPr>
        <p:txBody>
          <a:bodyPr rtlCol="0" anchor="ctr"/>
          <a:lstStyle/>
          <a:p>
            <a:pPr algn="ctr"/>
          </a:p>
        </p:txBody>
      </p:sp>
      <p:pic>
        <p:nvPicPr>
          <p:cNvPr id="24" name="Picture 23" descr="life-buoy_0A9955_256_2.0.png"/>
          <p:cNvPicPr>
            <a:picLocks noChangeAspect="1"/>
          </p:cNvPicPr>
          <p:nvPr/>
        </p:nvPicPr>
        <p:blipFill>
          <a:blip r:embed="rId7"/>
          <a:stretch>
            <a:fillRect/>
          </a:stretch>
        </p:blipFill>
        <p:spPr>
          <a:xfrm>
            <a:off x="5345582" y="3434486"/>
            <a:ext cx="190195" cy="190195"/>
          </a:xfrm>
          <a:prstGeom prst="rect">
            <a:avLst/>
          </a:prstGeom>
        </p:spPr>
      </p:pic>
      <p:sp>
        <p:nvSpPr>
          <p:cNvPr id="25" name="TextBox 24"/>
          <p:cNvSpPr txBox="1"/>
          <p:nvPr/>
        </p:nvSpPr>
        <p:spPr>
          <a:xfrm>
            <a:off x="5779008" y="3328416"/>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Hospital helpdesks</a:t>
            </a:r>
          </a:p>
        </p:txBody>
      </p:sp>
      <p:sp>
        <p:nvSpPr>
          <p:cNvPr id="26" name="TextBox 25"/>
          <p:cNvSpPr txBox="1"/>
          <p:nvPr/>
        </p:nvSpPr>
        <p:spPr>
          <a:xfrm>
            <a:off x="7589520" y="3328416"/>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Legal desks in trauma wards — 100+ victims supported in the first four days.</a:t>
            </a:r>
          </a:p>
        </p:txBody>
      </p:sp>
      <p:sp>
        <p:nvSpPr>
          <p:cNvPr id="27" name="Oval 26"/>
          <p:cNvSpPr/>
          <p:nvPr/>
        </p:nvSpPr>
        <p:spPr>
          <a:xfrm>
            <a:off x="5257800" y="4059936"/>
            <a:ext cx="365760" cy="365760"/>
          </a:xfrm>
          <a:prstGeom prst="ellipse">
            <a:avLst/>
          </a:prstGeom>
          <a:solidFill>
            <a:srgbClr val="FDF3E3"/>
          </a:solidFill>
          <a:ln>
            <a:noFill/>
          </a:ln>
          <a:effectLst/>
        </p:spPr>
        <p:txBody>
          <a:bodyPr rtlCol="0" anchor="ctr"/>
          <a:lstStyle/>
          <a:p>
            <a:pPr algn="ctr"/>
          </a:p>
        </p:txBody>
      </p:sp>
      <p:pic>
        <p:nvPicPr>
          <p:cNvPr id="28" name="Picture 27" descr="book-open_E58900_256_2.0.png"/>
          <p:cNvPicPr>
            <a:picLocks noChangeAspect="1"/>
          </p:cNvPicPr>
          <p:nvPr/>
        </p:nvPicPr>
        <p:blipFill>
          <a:blip r:embed="rId8"/>
          <a:stretch>
            <a:fillRect/>
          </a:stretch>
        </p:blipFill>
        <p:spPr>
          <a:xfrm>
            <a:off x="5345582" y="4147718"/>
            <a:ext cx="190195" cy="190195"/>
          </a:xfrm>
          <a:prstGeom prst="rect">
            <a:avLst/>
          </a:prstGeom>
        </p:spPr>
      </p:pic>
      <p:sp>
        <p:nvSpPr>
          <p:cNvPr id="29" name="TextBox 28"/>
          <p:cNvSpPr txBox="1"/>
          <p:nvPr/>
        </p:nvSpPr>
        <p:spPr>
          <a:xfrm>
            <a:off x="5779008" y="4041648"/>
            <a:ext cx="1783080" cy="50292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Plain-language education</a:t>
            </a:r>
          </a:p>
        </p:txBody>
      </p:sp>
      <p:sp>
        <p:nvSpPr>
          <p:cNvPr id="30" name="TextBox 29"/>
          <p:cNvSpPr txBox="1"/>
          <p:nvPr/>
        </p:nvSpPr>
        <p:spPr>
          <a:xfrm>
            <a:off x="7589520" y="4041648"/>
            <a:ext cx="1965960" cy="685800"/>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Comics and Hindi guides on all three compensation routes, NALSA 15100 and the Cashless Treatment Scheme 2025.</a:t>
            </a:r>
          </a:p>
        </p:txBody>
      </p:sp>
      <p:pic>
        <p:nvPicPr>
          <p:cNvPr id="31" name="Picture 30" descr="guide_p1.png"/>
          <p:cNvPicPr>
            <a:picLocks noChangeAspect="1"/>
          </p:cNvPicPr>
          <p:nvPr/>
        </p:nvPicPr>
        <p:blipFill>
          <a:blip r:embed="rId9"/>
          <a:stretch>
            <a:fillRect/>
          </a:stretch>
        </p:blipFill>
        <p:spPr>
          <a:xfrm>
            <a:off x="9784080" y="1920240"/>
            <a:ext cx="1847088" cy="2530515"/>
          </a:xfrm>
          <a:prstGeom prst="rect">
            <a:avLst/>
          </a:prstGeom>
        </p:spPr>
      </p:pic>
      <p:sp>
        <p:nvSpPr>
          <p:cNvPr id="32" name="Rectangle 31"/>
          <p:cNvSpPr/>
          <p:nvPr/>
        </p:nvSpPr>
        <p:spPr>
          <a:xfrm>
            <a:off x="9784080" y="1920240"/>
            <a:ext cx="1847088" cy="2530515"/>
          </a:xfrm>
          <a:prstGeom prst="rect">
            <a:avLst/>
          </a:prstGeom>
          <a:noFill/>
          <a:ln w="12700">
            <a:solidFill>
              <a:srgbClr val="E8E9EE"/>
            </a:solidFill>
          </a:ln>
          <a:effectLst/>
        </p:spPr>
        <p:txBody>
          <a:bodyPr rtlCol="0" anchor="ctr"/>
          <a:lstStyle/>
          <a:p>
            <a:pPr algn="ctr"/>
          </a:p>
        </p:txBody>
      </p:sp>
      <p:sp>
        <p:nvSpPr>
          <p:cNvPr id="33" name="TextBox 32"/>
          <p:cNvSpPr txBox="1"/>
          <p:nvPr/>
        </p:nvSpPr>
        <p:spPr>
          <a:xfrm>
            <a:off x="9784080" y="4496475"/>
            <a:ext cx="1847088"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Hindi legal-rights guide — used in</a:t>
            </a:r>
          </a:p>
          <a:p>
            <a:pPr algn="l">
              <a:lnSpc>
                <a:spcPct val="110000"/>
              </a:lnSpc>
            </a:pPr>
            <a:r>
              <a:rPr sz="850" b="0" i="0">
                <a:solidFill>
                  <a:srgbClr val="6E7180"/>
                </a:solidFill>
                <a:latin typeface="Geist"/>
              </a:rPr>
              <a:t>hospitals &amp; police stations.</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 so road safety work never runs out of hands.</a:t>
            </a:r>
          </a:p>
        </p:txBody>
      </p:sp>
      <p:pic>
        <p:nvPicPr>
          <p:cNvPr id="8" name="Picture 7" descr="ph_ideathon_winners.jpg_4.05x2.5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vision_wall.jpg_3.70x2.5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Vision Wall 2040 — participants write the road-safety future they want.</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evaluators came from the Government of Rajasthan, NIUA, OMI, NASSCOM and CSEP.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Public YouTube channel</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Session recordings, victim-education videos and explainers — free to reuse in trainings.</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 in Hindi and local languages.</a:t>
            </a:r>
          </a:p>
        </p:txBody>
      </p:sp>
      <p:pic>
        <p:nvPicPr>
          <p:cNvPr id="8" name="Picture 7" descr="ph_police_rally.jpg_4.70x3.5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 on the road with district traffic police, Jan 2026.</a:t>
            </a:r>
          </a:p>
        </p:txBody>
      </p:sp>
      <p:pic>
        <p:nvPicPr>
          <p:cNvPr id="11" name="Picture 10" descr="ph_stall.jpg_3.55x1.72.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carries the message; </a:t>
            </a:r>
            <a:r>
              <a:rPr sz="2250" b="1" i="0">
                <a:solidFill>
                  <a:srgbClr val="4A35FF"/>
                </a:solidFill>
                <a:latin typeface="Montserrat"/>
              </a:rPr>
              <a:t>the ecosystem engages</a:t>
            </a:r>
          </a:p>
        </p:txBody>
      </p:sp>
      <p:pic>
        <p:nvPicPr>
          <p:cNvPr id="7" name="Picture 6" descr="ph_dhoni_white.jpg_2.90x3.75.jpg"/>
          <p:cNvPicPr>
            <a:picLocks noChangeAspect="1"/>
          </p:cNvPicPr>
          <p:nvPr/>
        </p:nvPicPr>
        <p:blipFill>
          <a:blip r:embed="rId2"/>
          <a:stretch>
            <a:fillRect/>
          </a:stretch>
        </p:blipFill>
        <p:spPr>
          <a:xfrm>
            <a:off x="566928" y="1783080"/>
            <a:ext cx="2651760" cy="3429000"/>
          </a:xfrm>
          <a:prstGeom prst="rect">
            <a:avLst/>
          </a:prstGeom>
        </p:spPr>
      </p:pic>
      <p:sp>
        <p:nvSpPr>
          <p:cNvPr id="8" name="Rectangle 7"/>
          <p:cNvSpPr/>
          <p:nvPr/>
        </p:nvSpPr>
        <p:spPr>
          <a:xfrm>
            <a:off x="566928" y="1783080"/>
            <a:ext cx="2651760" cy="342900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257800"/>
            <a:ext cx="26517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 Goodwill Ambassador, announced April 2026.</a:t>
            </a:r>
          </a:p>
        </p:txBody>
      </p:sp>
      <p:sp>
        <p:nvSpPr>
          <p:cNvPr id="10" name="Rounded Rectangle 9"/>
          <p:cNvSpPr/>
          <p:nvPr/>
        </p:nvSpPr>
        <p:spPr>
          <a:xfrm>
            <a:off x="3520440" y="1783080"/>
            <a:ext cx="3291840" cy="342900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749039" y="2057400"/>
            <a:ext cx="2834640" cy="2011680"/>
          </a:xfrm>
          <a:prstGeom prst="rect">
            <a:avLst/>
          </a:prstGeom>
          <a:noFill/>
        </p:spPr>
        <p:txBody>
          <a:bodyPr wrap="square" lIns="0" rIns="0" tIns="0" bIns="0" anchor="t">
            <a:spAutoFit/>
          </a:bodyPr>
          <a:lstStyle/>
          <a:p>
            <a:pPr algn="l">
              <a:lnSpc>
                <a:spcPct val="135000"/>
              </a:lnSpc>
            </a:pPr>
            <a:r>
              <a:rPr sz="14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749039" y="4434840"/>
            <a:ext cx="2834640" cy="54864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MS Dhoni, at the National Road Safety</a:t>
            </a:r>
          </a:p>
          <a:p>
            <a:pPr algn="l">
              <a:lnSpc>
                <a:spcPct val="125000"/>
              </a:lnSpc>
            </a:pPr>
            <a:r>
              <a:rPr sz="950" b="0" i="0">
                <a:solidFill>
                  <a:srgbClr val="6E7180"/>
                </a:solidFill>
                <a:latin typeface="Geist"/>
              </a:rPr>
              <a:t>Implementation Forum, IIT Delhi</a:t>
            </a:r>
          </a:p>
        </p:txBody>
      </p:sp>
      <p:pic>
        <p:nvPicPr>
          <p:cNvPr id="13" name="Picture 12" descr="comp_image6.jpeg_4.95x2.78.jpg"/>
          <p:cNvPicPr>
            <a:picLocks noChangeAspect="1"/>
          </p:cNvPicPr>
          <p:nvPr/>
        </p:nvPicPr>
        <p:blipFill>
          <a:blip r:embed="rId3"/>
          <a:stretch>
            <a:fillRect/>
          </a:stretch>
        </p:blipFill>
        <p:spPr>
          <a:xfrm>
            <a:off x="7086600" y="1783080"/>
            <a:ext cx="4526280" cy="2542032"/>
          </a:xfrm>
          <a:prstGeom prst="rect">
            <a:avLst/>
          </a:prstGeom>
        </p:spPr>
      </p:pic>
      <p:sp>
        <p:nvSpPr>
          <p:cNvPr id="14" name="Rectangle 13"/>
          <p:cNvSpPr/>
          <p:nvPr/>
        </p:nvSpPr>
        <p:spPr>
          <a:xfrm>
            <a:off x="7086600" y="1783080"/>
            <a:ext cx="4526280" cy="2542032"/>
          </a:xfrm>
          <a:prstGeom prst="rect">
            <a:avLst/>
          </a:prstGeom>
          <a:noFill/>
          <a:ln w="12700">
            <a:solidFill>
              <a:srgbClr val="E8E9EE"/>
            </a:solidFill>
          </a:ln>
          <a:effectLst/>
        </p:spPr>
        <p:txBody>
          <a:bodyPr rtlCol="0" anchor="ctr"/>
          <a:lstStyle/>
          <a:p>
            <a:pPr algn="ctr"/>
          </a:p>
        </p:txBody>
      </p:sp>
      <p:sp>
        <p:nvSpPr>
          <p:cNvPr id="15" name="TextBox 14"/>
          <p:cNvSpPr txBox="1"/>
          <p:nvPr/>
        </p:nvSpPr>
        <p:spPr>
          <a:xfrm>
            <a:off x="7086600" y="4370832"/>
            <a:ext cx="4526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 60+ experts including MoRTH, WHO, UNICEF, iRAP and CSIR-CRRI.</a:t>
            </a:r>
          </a:p>
        </p:txBody>
      </p:sp>
      <p:sp>
        <p:nvSpPr>
          <p:cNvPr id="16" name="TextBox 15"/>
          <p:cNvSpPr txBox="1"/>
          <p:nvPr/>
        </p:nvSpPr>
        <p:spPr>
          <a:xfrm>
            <a:off x="7086600" y="4800600"/>
            <a:ext cx="4526280" cy="274320"/>
          </a:xfrm>
          <a:prstGeom prst="rect">
            <a:avLst/>
          </a:prstGeom>
          <a:noFill/>
        </p:spPr>
        <p:txBody>
          <a:bodyPr wrap="square" lIns="0" rIns="0" tIns="0" bIns="0" anchor="t">
            <a:spAutoFit/>
          </a:bodyPr>
          <a:lstStyle/>
          <a:p>
            <a:pPr algn="l">
              <a:lnSpc>
                <a:spcPct val="128000"/>
              </a:lnSpc>
            </a:pPr>
            <a:r>
              <a:rPr sz="850" b="1" i="0" spc="180">
                <a:solidFill>
                  <a:srgbClr val="6E7180"/>
                </a:solidFill>
                <a:latin typeface="Montserrat"/>
              </a:rPr>
              <a:t>COVERED IN NATIONAL PRESS</a:t>
            </a:r>
          </a:p>
        </p:txBody>
      </p:sp>
      <p:sp>
        <p:nvSpPr>
          <p:cNvPr id="17" name="Rounded Rectangle 16"/>
          <p:cNvSpPr/>
          <p:nvPr/>
        </p:nvSpPr>
        <p:spPr>
          <a:xfrm>
            <a:off x="7086600" y="5074920"/>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18" name="TextBox 17"/>
          <p:cNvSpPr txBox="1"/>
          <p:nvPr/>
        </p:nvSpPr>
        <p:spPr>
          <a:xfrm>
            <a:off x="7104888" y="5074920"/>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Deccan Herald</a:t>
            </a:r>
          </a:p>
        </p:txBody>
      </p:sp>
      <p:sp>
        <p:nvSpPr>
          <p:cNvPr id="19" name="Rounded Rectangle 18"/>
          <p:cNvSpPr/>
          <p:nvPr/>
        </p:nvSpPr>
        <p:spPr>
          <a:xfrm>
            <a:off x="9418320" y="5074920"/>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0" name="TextBox 19"/>
          <p:cNvSpPr txBox="1"/>
          <p:nvPr/>
        </p:nvSpPr>
        <p:spPr>
          <a:xfrm>
            <a:off x="9436608" y="5074920"/>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Economic Times</a:t>
            </a:r>
          </a:p>
        </p:txBody>
      </p:sp>
      <p:sp>
        <p:nvSpPr>
          <p:cNvPr id="21" name="Rounded Rectangle 20"/>
          <p:cNvSpPr/>
          <p:nvPr/>
        </p:nvSpPr>
        <p:spPr>
          <a:xfrm>
            <a:off x="7086600" y="5458968"/>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2" name="TextBox 21"/>
          <p:cNvSpPr txBox="1"/>
          <p:nvPr/>
        </p:nvSpPr>
        <p:spPr>
          <a:xfrm>
            <a:off x="7104888" y="5458968"/>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Fortune India</a:t>
            </a:r>
          </a:p>
        </p:txBody>
      </p:sp>
      <p:sp>
        <p:nvSpPr>
          <p:cNvPr id="23" name="Rounded Rectangle 22"/>
          <p:cNvSpPr/>
          <p:nvPr/>
        </p:nvSpPr>
        <p:spPr>
          <a:xfrm>
            <a:off x="9418320" y="5458968"/>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4" name="TextBox 23"/>
          <p:cNvSpPr txBox="1"/>
          <p:nvPr/>
        </p:nvSpPr>
        <p:spPr>
          <a:xfrm>
            <a:off x="9436608" y="5458968"/>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IndiaSpend</a:t>
            </a:r>
          </a:p>
        </p:txBody>
      </p:sp>
      <p:sp>
        <p:nvSpPr>
          <p:cNvPr id="25" name="Rounded Rectangle 24"/>
          <p:cNvSpPr/>
          <p:nvPr/>
        </p:nvSpPr>
        <p:spPr>
          <a:xfrm>
            <a:off x="7086600" y="5843016"/>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6" name="TextBox 25"/>
          <p:cNvSpPr txBox="1"/>
          <p:nvPr/>
        </p:nvSpPr>
        <p:spPr>
          <a:xfrm>
            <a:off x="7104888" y="5843016"/>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Scroll.in</a:t>
            </a:r>
          </a:p>
        </p:txBody>
      </p:sp>
      <p:sp>
        <p:nvSpPr>
          <p:cNvPr id="27" name="Rounded Rectangle 26"/>
          <p:cNvSpPr/>
          <p:nvPr/>
        </p:nvSpPr>
        <p:spPr>
          <a:xfrm>
            <a:off x="9418320" y="5843016"/>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8" name="TextBox 27"/>
          <p:cNvSpPr txBox="1"/>
          <p:nvPr/>
        </p:nvSpPr>
        <p:spPr>
          <a:xfrm>
            <a:off x="9436608" y="5843016"/>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The Wire</a:t>
            </a:r>
          </a:p>
        </p:txBody>
      </p:sp>
      <p:sp>
        <p:nvSpPr>
          <p:cNvPr id="29" name="Rounded Rectangle 28"/>
          <p:cNvSpPr/>
          <p:nvPr/>
        </p:nvSpPr>
        <p:spPr>
          <a:xfrm>
            <a:off x="7086600" y="6227064"/>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0" name="TextBox 29"/>
          <p:cNvSpPr txBox="1"/>
          <p:nvPr/>
        </p:nvSpPr>
        <p:spPr>
          <a:xfrm>
            <a:off x="7104888" y="6227064"/>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Times of India</a:t>
            </a:r>
          </a:p>
        </p:txBody>
      </p:sp>
      <p:sp>
        <p:nvSpPr>
          <p:cNvPr id="31" name="Rounded Rectangle 30"/>
          <p:cNvSpPr/>
          <p:nvPr/>
        </p:nvSpPr>
        <p:spPr>
          <a:xfrm>
            <a:off x="9418320" y="6227064"/>
            <a:ext cx="2240280" cy="310896"/>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2" name="TextBox 31"/>
          <p:cNvSpPr txBox="1"/>
          <p:nvPr/>
        </p:nvSpPr>
        <p:spPr>
          <a:xfrm>
            <a:off x="9436608" y="6227064"/>
            <a:ext cx="2203704" cy="310896"/>
          </a:xfrm>
          <a:prstGeom prst="rect">
            <a:avLst/>
          </a:prstGeom>
          <a:noFill/>
        </p:spPr>
        <p:txBody>
          <a:bodyPr wrap="square" lIns="0" rIns="0" tIns="0" bIns="0" anchor="ctr">
            <a:spAutoFit/>
          </a:bodyPr>
          <a:lstStyle/>
          <a:p>
            <a:pPr algn="ctr">
              <a:lnSpc>
                <a:spcPct val="100000"/>
              </a:lnSpc>
            </a:pPr>
            <a:r>
              <a:rPr sz="850" b="0" i="0">
                <a:solidFill>
                  <a:srgbClr val="16181D"/>
                </a:solidFill>
                <a:latin typeface="Montserrat"/>
              </a:rPr>
              <a:t>Business Standard</a:t>
            </a:r>
          </a:p>
        </p:txBody>
      </p:sp>
      <p:sp>
        <p:nvSpPr>
          <p:cNvPr id="33" name="TextBox 32"/>
          <p:cNvSpPr txBox="1"/>
          <p:nvPr/>
        </p:nvSpPr>
        <p:spPr>
          <a:xfrm>
            <a:off x="566928" y="5532120"/>
            <a:ext cx="640080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69264"/>
          </a:xfrm>
          <a:prstGeom prst="roundRect">
            <a:avLst>
              <a:gd name="adj" fmla="val 12000"/>
            </a:avLst>
          </a:prstGeom>
          <a:solidFill>
            <a:srgbClr val="F7F7FA"/>
          </a:solidFill>
          <a:ln>
            <a:noFill/>
          </a:ln>
          <a:effectLst/>
        </p:spPr>
        <p:txBody>
          <a:bodyPr rtlCol="0" anchor="ctr"/>
          <a:lstStyle/>
          <a:p>
            <a:pPr algn="ctr"/>
          </a:p>
        </p:txBody>
      </p:sp>
      <p:pic>
        <p:nvPicPr>
          <p:cNvPr id="8" name="Picture 7" descr="gtiwari.png_0.78x0.78.jpg"/>
          <p:cNvPicPr>
            <a:picLocks noChangeAspect="1"/>
          </p:cNvPicPr>
          <p:nvPr/>
        </p:nvPicPr>
        <p:blipFill>
          <a:blip r:embed="rId2"/>
          <a:stretch>
            <a:fillRect/>
          </a:stretch>
        </p:blipFill>
        <p:spPr>
          <a:xfrm>
            <a:off x="694944" y="1682496"/>
            <a:ext cx="713232" cy="713232"/>
          </a:xfrm>
          <a:prstGeom prst="rect">
            <a:avLst/>
          </a:prstGeom>
        </p:spPr>
      </p:pic>
      <p:sp>
        <p:nvSpPr>
          <p:cNvPr id="9" name="TextBox 8"/>
          <p:cNvSpPr txBox="1"/>
          <p:nvPr/>
        </p:nvSpPr>
        <p:spPr>
          <a:xfrm>
            <a:off x="1536192" y="1682496"/>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 Board of Advisors</a:t>
            </a:r>
          </a:p>
        </p:txBody>
      </p:sp>
      <p:sp>
        <p:nvSpPr>
          <p:cNvPr id="10" name="TextBox 9"/>
          <p:cNvSpPr txBox="1"/>
          <p:nvPr/>
        </p:nvSpPr>
        <p:spPr>
          <a:xfrm>
            <a:off x="1536192" y="1975104"/>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69264"/>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713232" cy="713232"/>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713232" cy="713232"/>
          </a:xfrm>
          <a:prstGeom prst="rect">
            <a:avLst/>
          </a:prstGeom>
          <a:noFill/>
        </p:spPr>
        <p:txBody>
          <a:bodyPr wrap="square" lIns="0" rIns="0" tIns="0" bIns="0" anchor="ctr">
            <a:spAutoFit/>
          </a:bodyPr>
          <a:lstStyle/>
          <a:p>
            <a:pPr algn="ctr">
              <a:lnSpc>
                <a:spcPct val="128000"/>
              </a:lnSpc>
            </a:pPr>
            <a:r>
              <a:rPr sz="1500" b="1" i="0">
                <a:solidFill>
                  <a:srgbClr val="4A35FF"/>
                </a:solidFill>
                <a:latin typeface="Montserrat"/>
              </a:rPr>
              <a:t>PT</a:t>
            </a:r>
          </a:p>
        </p:txBody>
      </p:sp>
      <p:sp>
        <p:nvSpPr>
          <p:cNvPr id="14" name="TextBox 13"/>
          <p:cNvSpPr txBox="1"/>
          <p:nvPr/>
        </p:nvSpPr>
        <p:spPr>
          <a:xfrm>
            <a:off x="7232904" y="1682496"/>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 Board of Advisors</a:t>
            </a:r>
          </a:p>
        </p:txBody>
      </p:sp>
      <p:sp>
        <p:nvSpPr>
          <p:cNvPr id="15" name="TextBox 14"/>
          <p:cNvSpPr txBox="1"/>
          <p:nvPr/>
        </p:nvSpPr>
        <p:spPr>
          <a:xfrm>
            <a:off x="7232904" y="1975104"/>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74320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THE EXPERT BENCH AROUND OUR WORK — JURY, MENTORS &amp; REVIEWERS</a:t>
            </a:r>
          </a:p>
        </p:txBody>
      </p:sp>
      <p:pic>
        <p:nvPicPr>
          <p:cNvPr id="17" name="Picture 16" descr="midha.png_0.72x0.72.jpg"/>
          <p:cNvPicPr>
            <a:picLocks noChangeAspect="1"/>
          </p:cNvPicPr>
          <p:nvPr/>
        </p:nvPicPr>
        <p:blipFill>
          <a:blip r:embed="rId3"/>
          <a:stretch>
            <a:fillRect/>
          </a:stretch>
        </p:blipFill>
        <p:spPr>
          <a:xfrm>
            <a:off x="1133856" y="3035808"/>
            <a:ext cx="658368" cy="658368"/>
          </a:xfrm>
          <a:prstGeom prst="rect">
            <a:avLst/>
          </a:prstGeom>
        </p:spPr>
      </p:pic>
      <p:sp>
        <p:nvSpPr>
          <p:cNvPr id="18" name="TextBox 17"/>
          <p:cNvSpPr txBox="1"/>
          <p:nvPr/>
        </p:nvSpPr>
        <p:spPr>
          <a:xfrm>
            <a:off x="566928"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damle.png_0.72x0.72.jpg"/>
          <p:cNvPicPr>
            <a:picLocks noChangeAspect="1"/>
          </p:cNvPicPr>
          <p:nvPr/>
        </p:nvPicPr>
        <p:blipFill>
          <a:blip r:embed="rId4"/>
          <a:stretch>
            <a:fillRect/>
          </a:stretch>
        </p:blipFill>
        <p:spPr>
          <a:xfrm>
            <a:off x="2999232" y="3035808"/>
            <a:ext cx="658368" cy="658368"/>
          </a:xfrm>
          <a:prstGeom prst="rect">
            <a:avLst/>
          </a:prstGeom>
        </p:spPr>
      </p:pic>
      <p:sp>
        <p:nvSpPr>
          <p:cNvPr id="21" name="TextBox 20"/>
          <p:cNvSpPr txBox="1"/>
          <p:nvPr/>
        </p:nvSpPr>
        <p:spPr>
          <a:xfrm>
            <a:off x="2432304"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dange.png_0.72x0.72.jpg"/>
          <p:cNvPicPr>
            <a:picLocks noChangeAspect="1"/>
          </p:cNvPicPr>
          <p:nvPr/>
        </p:nvPicPr>
        <p:blipFill>
          <a:blip r:embed="rId5"/>
          <a:stretch>
            <a:fillRect/>
          </a:stretch>
        </p:blipFill>
        <p:spPr>
          <a:xfrm>
            <a:off x="4864608" y="3035808"/>
            <a:ext cx="658368" cy="658368"/>
          </a:xfrm>
          <a:prstGeom prst="rect">
            <a:avLst/>
          </a:prstGeom>
        </p:spPr>
      </p:pic>
      <p:sp>
        <p:nvSpPr>
          <p:cNvPr id="24" name="TextBox 23"/>
          <p:cNvSpPr txBox="1"/>
          <p:nvPr/>
        </p:nvSpPr>
        <p:spPr>
          <a:xfrm>
            <a:off x="4297680"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tandon.png_0.72x0.72.jpg"/>
          <p:cNvPicPr>
            <a:picLocks noChangeAspect="1"/>
          </p:cNvPicPr>
          <p:nvPr/>
        </p:nvPicPr>
        <p:blipFill>
          <a:blip r:embed="rId6"/>
          <a:stretch>
            <a:fillRect/>
          </a:stretch>
        </p:blipFill>
        <p:spPr>
          <a:xfrm>
            <a:off x="6729984" y="3035808"/>
            <a:ext cx="658368" cy="658368"/>
          </a:xfrm>
          <a:prstGeom prst="rect">
            <a:avLst/>
          </a:prstGeom>
        </p:spPr>
      </p:pic>
      <p:sp>
        <p:nvSpPr>
          <p:cNvPr id="27" name="TextBox 26"/>
          <p:cNvSpPr txBox="1"/>
          <p:nvPr/>
        </p:nvSpPr>
        <p:spPr>
          <a:xfrm>
            <a:off x="6163056"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ratnam.png_0.72x0.72.jpg"/>
          <p:cNvPicPr>
            <a:picLocks noChangeAspect="1"/>
          </p:cNvPicPr>
          <p:nvPr/>
        </p:nvPicPr>
        <p:blipFill>
          <a:blip r:embed="rId7"/>
          <a:stretch>
            <a:fillRect/>
          </a:stretch>
        </p:blipFill>
        <p:spPr>
          <a:xfrm>
            <a:off x="8595360" y="3035808"/>
            <a:ext cx="658368" cy="658368"/>
          </a:xfrm>
          <a:prstGeom prst="rect">
            <a:avLst/>
          </a:prstGeom>
        </p:spPr>
      </p:pic>
      <p:sp>
        <p:nvSpPr>
          <p:cNvPr id="30" name="TextBox 29"/>
          <p:cNvSpPr txBox="1"/>
          <p:nvPr/>
        </p:nvSpPr>
        <p:spPr>
          <a:xfrm>
            <a:off x="8028432"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asrivastava.png_0.72x0.72.jpg"/>
          <p:cNvPicPr>
            <a:picLocks noChangeAspect="1"/>
          </p:cNvPicPr>
          <p:nvPr/>
        </p:nvPicPr>
        <p:blipFill>
          <a:blip r:embed="rId8"/>
          <a:stretch>
            <a:fillRect/>
          </a:stretch>
        </p:blipFill>
        <p:spPr>
          <a:xfrm>
            <a:off x="10460736" y="3035808"/>
            <a:ext cx="658368" cy="658368"/>
          </a:xfrm>
          <a:prstGeom prst="rect">
            <a:avLst/>
          </a:prstGeom>
        </p:spPr>
      </p:pic>
      <p:sp>
        <p:nvSpPr>
          <p:cNvPr id="33" name="TextBox 32"/>
          <p:cNvSpPr txBox="1"/>
          <p:nvPr/>
        </p:nvSpPr>
        <p:spPr>
          <a:xfrm>
            <a:off x="9893808" y="373075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92277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gsingh.png_0.72x0.72.jpg"/>
          <p:cNvPicPr>
            <a:picLocks noChangeAspect="1"/>
          </p:cNvPicPr>
          <p:nvPr/>
        </p:nvPicPr>
        <p:blipFill>
          <a:blip r:embed="rId9"/>
          <a:stretch>
            <a:fillRect/>
          </a:stretch>
        </p:blipFill>
        <p:spPr>
          <a:xfrm>
            <a:off x="1133856" y="4270248"/>
            <a:ext cx="658368" cy="658368"/>
          </a:xfrm>
          <a:prstGeom prst="rect">
            <a:avLst/>
          </a:prstGeom>
        </p:spPr>
      </p:pic>
      <p:sp>
        <p:nvSpPr>
          <p:cNvPr id="36" name="TextBox 35"/>
          <p:cNvSpPr txBox="1"/>
          <p:nvPr/>
        </p:nvSpPr>
        <p:spPr>
          <a:xfrm>
            <a:off x="566928"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raman.png_0.72x0.72.jpg"/>
          <p:cNvPicPr>
            <a:picLocks noChangeAspect="1"/>
          </p:cNvPicPr>
          <p:nvPr/>
        </p:nvPicPr>
        <p:blipFill>
          <a:blip r:embed="rId10"/>
          <a:stretch>
            <a:fillRect/>
          </a:stretch>
        </p:blipFill>
        <p:spPr>
          <a:xfrm>
            <a:off x="2999232" y="4270248"/>
            <a:ext cx="658368" cy="658368"/>
          </a:xfrm>
          <a:prstGeom prst="rect">
            <a:avLst/>
          </a:prstGeom>
        </p:spPr>
      </p:pic>
      <p:sp>
        <p:nvSpPr>
          <p:cNvPr id="39" name="TextBox 38"/>
          <p:cNvSpPr txBox="1"/>
          <p:nvPr/>
        </p:nvSpPr>
        <p:spPr>
          <a:xfrm>
            <a:off x="2432304"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nkumar.png_0.72x0.72.jpg"/>
          <p:cNvPicPr>
            <a:picLocks noChangeAspect="1"/>
          </p:cNvPicPr>
          <p:nvPr/>
        </p:nvPicPr>
        <p:blipFill>
          <a:blip r:embed="rId11"/>
          <a:stretch>
            <a:fillRect/>
          </a:stretch>
        </p:blipFill>
        <p:spPr>
          <a:xfrm>
            <a:off x="4864608" y="4270248"/>
            <a:ext cx="658368" cy="658368"/>
          </a:xfrm>
          <a:prstGeom prst="rect">
            <a:avLst/>
          </a:prstGeom>
        </p:spPr>
      </p:pic>
      <p:sp>
        <p:nvSpPr>
          <p:cNvPr id="42" name="TextBox 41"/>
          <p:cNvSpPr txBox="1"/>
          <p:nvPr/>
        </p:nvSpPr>
        <p:spPr>
          <a:xfrm>
            <a:off x="4297680"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pandey.png_0.72x0.72.jpg"/>
          <p:cNvPicPr>
            <a:picLocks noChangeAspect="1"/>
          </p:cNvPicPr>
          <p:nvPr/>
        </p:nvPicPr>
        <p:blipFill>
          <a:blip r:embed="rId12"/>
          <a:stretch>
            <a:fillRect/>
          </a:stretch>
        </p:blipFill>
        <p:spPr>
          <a:xfrm>
            <a:off x="6729984" y="4270248"/>
            <a:ext cx="658368" cy="658368"/>
          </a:xfrm>
          <a:prstGeom prst="rect">
            <a:avLst/>
          </a:prstGeom>
        </p:spPr>
      </p:pic>
      <p:sp>
        <p:nvSpPr>
          <p:cNvPr id="45" name="TextBox 44"/>
          <p:cNvSpPr txBox="1"/>
          <p:nvPr/>
        </p:nvSpPr>
        <p:spPr>
          <a:xfrm>
            <a:off x="6163056"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dash.png_0.72x0.72.jpg"/>
          <p:cNvPicPr>
            <a:picLocks noChangeAspect="1"/>
          </p:cNvPicPr>
          <p:nvPr/>
        </p:nvPicPr>
        <p:blipFill>
          <a:blip r:embed="rId13"/>
          <a:stretch>
            <a:fillRect/>
          </a:stretch>
        </p:blipFill>
        <p:spPr>
          <a:xfrm>
            <a:off x="8595360" y="4270248"/>
            <a:ext cx="658368" cy="658368"/>
          </a:xfrm>
          <a:prstGeom prst="rect">
            <a:avLst/>
          </a:prstGeom>
        </p:spPr>
      </p:pic>
      <p:sp>
        <p:nvSpPr>
          <p:cNvPr id="48" name="TextBox 47"/>
          <p:cNvSpPr txBox="1"/>
          <p:nvPr/>
        </p:nvSpPr>
        <p:spPr>
          <a:xfrm>
            <a:off x="8028432" y="4965192"/>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157216"/>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623560"/>
            <a:ext cx="11057839" cy="603504"/>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95528" y="5724144"/>
            <a:ext cx="10600639" cy="41148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Trustees: </a:t>
            </a:r>
            <a:r>
              <a:rPr sz="950" b="0" i="0">
                <a:solidFill>
                  <a:srgbClr val="6E7180"/>
                </a:solidFill>
                <a:latin typeface="Geist"/>
              </a:rPr>
              <a:t>Amar Srivastava (President · Founder, IRSC) · Deepanshu Gupta (Managing Trustee) · Gajendra Jangid (Co-founder, Cars24)   </a:t>
            </a:r>
            <a:r>
              <a:rPr sz="950" b="1" i="0">
                <a:solidFill>
                  <a:srgbClr val="16181D"/>
                </a:solidFill>
                <a:latin typeface="Geist"/>
              </a:rPr>
              <a:t>Team: </a:t>
            </a:r>
            <a:r>
              <a:rPr sz="950" b="0" i="0">
                <a:solidFill>
                  <a:srgbClr val="6E7180"/>
                </a:solidFill>
                <a:latin typeface="Geist"/>
              </a:rPr>
              <a:t>IIT Delhi, NALSAR, TISS &amp; HKUST alumni · 75+ engineering interns · 31 student audit teams</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WHAT IT IS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a:t>
            </a:r>
            <a:r>
              <a:rPr sz="2250" b="1" i="0">
                <a:solidFill>
                  <a:srgbClr val="4A35FF"/>
                </a:solidFill>
                <a:latin typeface="Montserrat"/>
              </a:rPr>
              <a:t>in one sentence</a:t>
            </a:r>
          </a:p>
        </p:txBody>
      </p:sp>
      <p:sp>
        <p:nvSpPr>
          <p:cNvPr id="7" name="TextBox 6"/>
          <p:cNvSpPr txBox="1"/>
          <p:nvPr/>
        </p:nvSpPr>
        <p:spPr>
          <a:xfrm>
            <a:off x="566928" y="1572768"/>
            <a:ext cx="10972800" cy="777240"/>
          </a:xfrm>
          <a:prstGeom prst="rect">
            <a:avLst/>
          </a:prstGeom>
          <a:noFill/>
        </p:spPr>
        <p:txBody>
          <a:bodyPr wrap="square" lIns="0" rIns="0" tIns="0" bIns="0" anchor="t">
            <a:spAutoFit/>
          </a:bodyPr>
          <a:lstStyle/>
          <a:p>
            <a:pPr algn="l">
              <a:lnSpc>
                <a:spcPct val="135000"/>
              </a:lnSpc>
            </a:pPr>
            <a:r>
              <a:rPr sz="1550" b="0" i="0">
                <a:solidFill>
                  <a:srgbClr val="16181D"/>
                </a:solidFill>
                <a:latin typeface="Montserrat"/>
              </a:rPr>
              <a:t>Trained student teams, guided by senior road-safety experts, audit dangerous road locations — and Crashfree India walks each recommended fix through the road-owning authority until it is built.</a:t>
            </a:r>
          </a:p>
        </p:txBody>
      </p:sp>
      <p:sp>
        <p:nvSpPr>
          <p:cNvPr id="8" name="Rounded Rectangle 7"/>
          <p:cNvSpPr/>
          <p:nvPr/>
        </p:nvSpPr>
        <p:spPr>
          <a:xfrm>
            <a:off x="566928"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guntur_junction.jpg_3.95x1.55.jpg"/>
          <p:cNvPicPr>
            <a:picLocks noChangeAspect="1"/>
          </p:cNvPicPr>
          <p:nvPr/>
        </p:nvPicPr>
        <p:blipFill>
          <a:blip r:embed="rId2"/>
          <a:stretch>
            <a:fillRect/>
          </a:stretch>
        </p:blipFill>
        <p:spPr>
          <a:xfrm>
            <a:off x="566928" y="2514600"/>
            <a:ext cx="3611880" cy="1417320"/>
          </a:xfrm>
          <a:prstGeom prst="rect">
            <a:avLst/>
          </a:prstGeom>
        </p:spPr>
      </p:pic>
      <p:sp>
        <p:nvSpPr>
          <p:cNvPr id="10" name="Rectangle 9"/>
          <p:cNvSpPr/>
          <p:nvPr/>
        </p:nvSpPr>
        <p:spPr>
          <a:xfrm>
            <a:off x="566928" y="2514600"/>
            <a:ext cx="3611880" cy="1417320"/>
          </a:xfrm>
          <a:prstGeom prst="rect">
            <a:avLst/>
          </a:prstGeom>
          <a:noFill/>
          <a:ln w="12700">
            <a:solidFill>
              <a:srgbClr val="E8E9EE"/>
            </a:solidFill>
          </a:ln>
          <a:effectLst/>
        </p:spPr>
        <p:txBody>
          <a:bodyPr rtlCol="0" anchor="ctr"/>
          <a:lstStyle/>
          <a:p>
            <a:pPr algn="ctr"/>
          </a:p>
        </p:txBody>
      </p:sp>
      <p:sp>
        <p:nvSpPr>
          <p:cNvPr id="11" name="Oval 10"/>
          <p:cNvSpPr/>
          <p:nvPr/>
        </p:nvSpPr>
        <p:spPr>
          <a:xfrm>
            <a:off x="704088" y="4069080"/>
            <a:ext cx="384048" cy="384048"/>
          </a:xfrm>
          <a:prstGeom prst="ellipse">
            <a:avLst/>
          </a:prstGeom>
          <a:solidFill>
            <a:srgbClr val="EFEDFF"/>
          </a:solidFill>
          <a:ln>
            <a:noFill/>
          </a:ln>
          <a:effectLst/>
        </p:spPr>
        <p:txBody>
          <a:bodyPr rtlCol="0" anchor="ctr"/>
          <a:lstStyle/>
          <a:p>
            <a:pPr algn="ctr"/>
          </a:p>
        </p:txBody>
      </p:sp>
      <p:pic>
        <p:nvPicPr>
          <p:cNvPr id="12" name="Picture 11" descr="clipboard-list_4A35FF_256_2.0.png"/>
          <p:cNvPicPr>
            <a:picLocks noChangeAspect="1"/>
          </p:cNvPicPr>
          <p:nvPr/>
        </p:nvPicPr>
        <p:blipFill>
          <a:blip r:embed="rId3"/>
          <a:stretch>
            <a:fillRect/>
          </a:stretch>
        </p:blipFill>
        <p:spPr>
          <a:xfrm>
            <a:off x="796259" y="4161251"/>
            <a:ext cx="199704" cy="199704"/>
          </a:xfrm>
          <a:prstGeom prst="rect">
            <a:avLst/>
          </a:prstGeom>
        </p:spPr>
      </p:pic>
      <p:sp>
        <p:nvSpPr>
          <p:cNvPr id="13" name="TextBox 12"/>
          <p:cNvSpPr txBox="1"/>
          <p:nvPr/>
        </p:nvSpPr>
        <p:spPr>
          <a:xfrm>
            <a:off x="1207008"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Students audit</a:t>
            </a:r>
          </a:p>
        </p:txBody>
      </p:sp>
      <p:sp>
        <p:nvSpPr>
          <p:cNvPr id="14" name="TextBox 13"/>
          <p:cNvSpPr txBox="1"/>
          <p:nvPr/>
        </p:nvSpPr>
        <p:spPr>
          <a:xfrm>
            <a:off x="704088"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Teams from IITs, NITs and SPAs collect data on-site: traffic, conflicts, 900+ stakeholder surveys.</a:t>
            </a:r>
          </a:p>
        </p:txBody>
      </p:sp>
      <p:sp>
        <p:nvSpPr>
          <p:cNvPr id="15" name="Rounded Rectangle 14"/>
          <p:cNvSpPr/>
          <p:nvPr/>
        </p:nvSpPr>
        <p:spPr>
          <a:xfrm>
            <a:off x="4288536"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6" name="Picture 15" descr="ph_jury_room.jpg_3.95x1.55.jpg"/>
          <p:cNvPicPr>
            <a:picLocks noChangeAspect="1"/>
          </p:cNvPicPr>
          <p:nvPr/>
        </p:nvPicPr>
        <p:blipFill>
          <a:blip r:embed="rId4"/>
          <a:stretch>
            <a:fillRect/>
          </a:stretch>
        </p:blipFill>
        <p:spPr>
          <a:xfrm>
            <a:off x="4288536" y="2514600"/>
            <a:ext cx="3611880" cy="1417320"/>
          </a:xfrm>
          <a:prstGeom prst="rect">
            <a:avLst/>
          </a:prstGeom>
        </p:spPr>
      </p:pic>
      <p:sp>
        <p:nvSpPr>
          <p:cNvPr id="17" name="Rectangle 16"/>
          <p:cNvSpPr/>
          <p:nvPr/>
        </p:nvSpPr>
        <p:spPr>
          <a:xfrm>
            <a:off x="4288536" y="2514600"/>
            <a:ext cx="3611880" cy="1417320"/>
          </a:xfrm>
          <a:prstGeom prst="rect">
            <a:avLst/>
          </a:prstGeom>
          <a:noFill/>
          <a:ln w="12700">
            <a:solidFill>
              <a:srgbClr val="E8E9EE"/>
            </a:solidFill>
          </a:ln>
          <a:effectLst/>
        </p:spPr>
        <p:txBody>
          <a:bodyPr rtlCol="0" anchor="ctr"/>
          <a:lstStyle/>
          <a:p>
            <a:pPr algn="ctr"/>
          </a:p>
        </p:txBody>
      </p:sp>
      <p:sp>
        <p:nvSpPr>
          <p:cNvPr id="18" name="Oval 17"/>
          <p:cNvSpPr/>
          <p:nvPr/>
        </p:nvSpPr>
        <p:spPr>
          <a:xfrm>
            <a:off x="4425696" y="4069080"/>
            <a:ext cx="384048" cy="384048"/>
          </a:xfrm>
          <a:prstGeom prst="ellipse">
            <a:avLst/>
          </a:prstGeom>
          <a:solidFill>
            <a:srgbClr val="EFEDFF"/>
          </a:solidFill>
          <a:ln>
            <a:noFill/>
          </a:ln>
          <a:effectLst/>
        </p:spPr>
        <p:txBody>
          <a:bodyPr rtlCol="0" anchor="ctr"/>
          <a:lstStyle/>
          <a:p>
            <a:pPr algn="ctr"/>
          </a:p>
        </p:txBody>
      </p:sp>
      <p:pic>
        <p:nvPicPr>
          <p:cNvPr id="19" name="Picture 18" descr="badge-check_4A35FF_256_2.0.png"/>
          <p:cNvPicPr>
            <a:picLocks noChangeAspect="1"/>
          </p:cNvPicPr>
          <p:nvPr/>
        </p:nvPicPr>
        <p:blipFill>
          <a:blip r:embed="rId5"/>
          <a:stretch>
            <a:fillRect/>
          </a:stretch>
        </p:blipFill>
        <p:spPr>
          <a:xfrm>
            <a:off x="4517867" y="4161251"/>
            <a:ext cx="199704" cy="199704"/>
          </a:xfrm>
          <a:prstGeom prst="rect">
            <a:avLst/>
          </a:prstGeom>
        </p:spPr>
      </p:pic>
      <p:sp>
        <p:nvSpPr>
          <p:cNvPr id="20" name="TextBox 19"/>
          <p:cNvSpPr txBox="1"/>
          <p:nvPr/>
        </p:nvSpPr>
        <p:spPr>
          <a:xfrm>
            <a:off x="4928616"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Experts verify</a:t>
            </a:r>
          </a:p>
        </p:txBody>
      </p:sp>
      <p:sp>
        <p:nvSpPr>
          <p:cNvPr id="21" name="TextBox 20"/>
          <p:cNvSpPr txBox="1"/>
          <p:nvPr/>
        </p:nvSpPr>
        <p:spPr>
          <a:xfrm>
            <a:off x="4425696"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anchor every audit to IRC codes and MoRTH checklists before anything is proposed.</a:t>
            </a:r>
          </a:p>
        </p:txBody>
      </p:sp>
      <p:sp>
        <p:nvSpPr>
          <p:cNvPr id="22" name="Rounded Rectangle 21"/>
          <p:cNvSpPr/>
          <p:nvPr/>
        </p:nvSpPr>
        <p:spPr>
          <a:xfrm>
            <a:off x="8010144" y="2514600"/>
            <a:ext cx="3611880" cy="301752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3" name="Picture 22" descr="implementation_work.jpg_3.95x1.55.jpg"/>
          <p:cNvPicPr>
            <a:picLocks noChangeAspect="1"/>
          </p:cNvPicPr>
          <p:nvPr/>
        </p:nvPicPr>
        <p:blipFill>
          <a:blip r:embed="rId6"/>
          <a:stretch>
            <a:fillRect/>
          </a:stretch>
        </p:blipFill>
        <p:spPr>
          <a:xfrm>
            <a:off x="8010144" y="2514600"/>
            <a:ext cx="3611880" cy="1417320"/>
          </a:xfrm>
          <a:prstGeom prst="rect">
            <a:avLst/>
          </a:prstGeom>
        </p:spPr>
      </p:pic>
      <p:sp>
        <p:nvSpPr>
          <p:cNvPr id="24" name="Rectangle 23"/>
          <p:cNvSpPr/>
          <p:nvPr/>
        </p:nvSpPr>
        <p:spPr>
          <a:xfrm>
            <a:off x="8010144" y="2514600"/>
            <a:ext cx="3611880" cy="1417320"/>
          </a:xfrm>
          <a:prstGeom prst="rect">
            <a:avLst/>
          </a:prstGeom>
          <a:noFill/>
          <a:ln w="12700">
            <a:solidFill>
              <a:srgbClr val="E8E9EE"/>
            </a:solidFill>
          </a:ln>
          <a:effectLst/>
        </p:spPr>
        <p:txBody>
          <a:bodyPr rtlCol="0" anchor="ctr"/>
          <a:lstStyle/>
          <a:p>
            <a:pPr algn="ctr"/>
          </a:p>
        </p:txBody>
      </p:sp>
      <p:sp>
        <p:nvSpPr>
          <p:cNvPr id="25" name="Oval 24"/>
          <p:cNvSpPr/>
          <p:nvPr/>
        </p:nvSpPr>
        <p:spPr>
          <a:xfrm>
            <a:off x="8147304" y="4069080"/>
            <a:ext cx="384048" cy="384048"/>
          </a:xfrm>
          <a:prstGeom prst="ellipse">
            <a:avLst/>
          </a:prstGeom>
          <a:solidFill>
            <a:srgbClr val="EFEDFF"/>
          </a:solidFill>
          <a:ln>
            <a:noFill/>
          </a:ln>
          <a:effectLst/>
        </p:spPr>
        <p:txBody>
          <a:bodyPr rtlCol="0" anchor="ctr"/>
          <a:lstStyle/>
          <a:p>
            <a:pPr algn="ctr"/>
          </a:p>
        </p:txBody>
      </p:sp>
      <p:pic>
        <p:nvPicPr>
          <p:cNvPr id="26" name="Picture 25" descr="hard-hat_4A35FF_256_2.0.png"/>
          <p:cNvPicPr>
            <a:picLocks noChangeAspect="1"/>
          </p:cNvPicPr>
          <p:nvPr/>
        </p:nvPicPr>
        <p:blipFill>
          <a:blip r:embed="rId7"/>
          <a:stretch>
            <a:fillRect/>
          </a:stretch>
        </p:blipFill>
        <p:spPr>
          <a:xfrm>
            <a:off x="8239475" y="4161251"/>
            <a:ext cx="199704" cy="199704"/>
          </a:xfrm>
          <a:prstGeom prst="rect">
            <a:avLst/>
          </a:prstGeom>
        </p:spPr>
      </p:pic>
      <p:sp>
        <p:nvSpPr>
          <p:cNvPr id="27" name="TextBox 26"/>
          <p:cNvSpPr txBox="1"/>
          <p:nvPr/>
        </p:nvSpPr>
        <p:spPr>
          <a:xfrm>
            <a:off x="8650224" y="4123944"/>
            <a:ext cx="2834640"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Authorities build</a:t>
            </a:r>
          </a:p>
        </p:txBody>
      </p:sp>
      <p:sp>
        <p:nvSpPr>
          <p:cNvPr id="28" name="TextBox 27"/>
          <p:cNvSpPr txBox="1"/>
          <p:nvPr/>
        </p:nvSpPr>
        <p:spPr>
          <a:xfrm>
            <a:off x="8147304" y="4544568"/>
            <a:ext cx="333756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fix goes to the PWD, corporation or NHAI in its own format — and we track it to completion.</a:t>
            </a:r>
          </a:p>
        </p:txBody>
      </p:sp>
      <p:sp>
        <p:nvSpPr>
          <p:cNvPr id="29" name="TextBox 28"/>
          <p:cNvSpPr txBox="1"/>
          <p:nvPr/>
        </p:nvSpPr>
        <p:spPr>
          <a:xfrm>
            <a:off x="566928" y="5760720"/>
            <a:ext cx="11057839" cy="320040"/>
          </a:xfrm>
          <a:prstGeom prst="rect">
            <a:avLst/>
          </a:prstGeom>
          <a:noFill/>
        </p:spPr>
        <p:txBody>
          <a:bodyPr wrap="square" lIns="0" rIns="0" tIns="0" bIns="0" anchor="t">
            <a:spAutoFit/>
          </a:bodyPr>
          <a:lstStyle/>
          <a:p>
            <a:pPr algn="l">
              <a:lnSpc>
                <a:spcPct val="120000"/>
              </a:lnSpc>
            </a:pPr>
            <a:r>
              <a:rPr sz="1000" b="1" i="0">
                <a:solidFill>
                  <a:srgbClr val="16181D"/>
                </a:solidFill>
                <a:latin typeface="Geist"/>
              </a:rPr>
              <a:t>Four phases each cohort: </a:t>
            </a:r>
            <a:r>
              <a:rPr sz="1000" b="0" i="0">
                <a:solidFill>
                  <a:srgbClr val="6E7180"/>
                </a:solidFill>
                <a:latin typeface="Geist"/>
              </a:rPr>
              <a:t>Research &amp; problem identification  →  Stakeholder engagement &amp; audits  →  Analysis &amp; costed solutions  →  Reporting &amp; authority engagement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WHY IT MATTERS TO WG-2</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Identification has outpaced rectification — </a:t>
            </a:r>
            <a:r>
              <a:rPr sz="2250" b="1" i="0">
                <a:solidFill>
                  <a:srgbClr val="4A35FF"/>
                </a:solidFill>
                <a:latin typeface="Montserrat"/>
              </a:rPr>
              <a:t>capacity is the constraint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knowledge exists; the pipeline that turns identified risk into completed engineering needs more trained hands.</a:t>
            </a:r>
          </a:p>
        </p:txBody>
      </p:sp>
      <p:sp>
        <p:nvSpPr>
          <p:cNvPr id="8" name="Rounded Rectangle 7"/>
          <p:cNvSpPr/>
          <p:nvPr/>
        </p:nvSpPr>
        <p:spPr>
          <a:xfrm>
            <a:off x="56692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9" name="TextBox 8"/>
          <p:cNvSpPr txBox="1"/>
          <p:nvPr/>
        </p:nvSpPr>
        <p:spPr>
          <a:xfrm>
            <a:off x="69494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13,795</a:t>
            </a:r>
          </a:p>
        </p:txBody>
      </p:sp>
      <p:sp>
        <p:nvSpPr>
          <p:cNvPr id="10" name="TextBox 9"/>
          <p:cNvSpPr txBox="1"/>
          <p:nvPr/>
        </p:nvSpPr>
        <p:spPr>
          <a:xfrm>
            <a:off x="69494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black spots identified nationally (MoRTH)</a:t>
            </a:r>
          </a:p>
        </p:txBody>
      </p:sp>
      <p:sp>
        <p:nvSpPr>
          <p:cNvPr id="11" name="Rounded Rectangle 10"/>
          <p:cNvSpPr/>
          <p:nvPr/>
        </p:nvSpPr>
        <p:spPr>
          <a:xfrm>
            <a:off x="381304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2" name="TextBox 11"/>
          <p:cNvSpPr txBox="1"/>
          <p:nvPr/>
        </p:nvSpPr>
        <p:spPr>
          <a:xfrm>
            <a:off x="3941064" y="2194560"/>
            <a:ext cx="2852928" cy="502920"/>
          </a:xfrm>
          <a:prstGeom prst="rect">
            <a:avLst/>
          </a:prstGeom>
          <a:noFill/>
        </p:spPr>
        <p:txBody>
          <a:bodyPr wrap="square" lIns="0" rIns="0" tIns="0" bIns="0" anchor="t">
            <a:spAutoFit/>
          </a:bodyPr>
          <a:lstStyle/>
          <a:p>
            <a:pPr algn="l">
              <a:lnSpc>
                <a:spcPct val="100000"/>
              </a:lnSpc>
            </a:pPr>
            <a:r>
              <a:rPr sz="3000" b="1" i="0">
                <a:solidFill>
                  <a:srgbClr val="4A35FF"/>
                </a:solidFill>
                <a:latin typeface="Montserrat"/>
              </a:rPr>
              <a:t>5,036</a:t>
            </a:r>
          </a:p>
        </p:txBody>
      </p:sp>
      <p:sp>
        <p:nvSpPr>
          <p:cNvPr id="13" name="TextBox 12"/>
          <p:cNvSpPr txBox="1"/>
          <p:nvPr/>
        </p:nvSpPr>
        <p:spPr>
          <a:xfrm>
            <a:off x="394106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permanently rectified so far (Parliamentary Standing Committee, 2024)</a:t>
            </a:r>
          </a:p>
        </p:txBody>
      </p:sp>
      <p:sp>
        <p:nvSpPr>
          <p:cNvPr id="14" name="Rounded Rectangle 13"/>
          <p:cNvSpPr/>
          <p:nvPr/>
        </p:nvSpPr>
        <p:spPr>
          <a:xfrm>
            <a:off x="7059168" y="2103120"/>
            <a:ext cx="3108960" cy="1188720"/>
          </a:xfrm>
          <a:prstGeom prst="roundRect">
            <a:avLst>
              <a:gd name="adj" fmla="val 14000"/>
            </a:avLst>
          </a:prstGeom>
          <a:solidFill>
            <a:srgbClr val="F7F7FA"/>
          </a:solidFill>
          <a:ln>
            <a:noFill/>
          </a:ln>
          <a:effectLst/>
        </p:spPr>
        <p:txBody>
          <a:bodyPr rtlCol="0" anchor="ctr"/>
          <a:lstStyle/>
          <a:p>
            <a:pPr algn="ctr"/>
          </a:p>
        </p:txBody>
      </p:sp>
      <p:sp>
        <p:nvSpPr>
          <p:cNvPr id="15" name="TextBox 14"/>
          <p:cNvSpPr txBox="1"/>
          <p:nvPr/>
        </p:nvSpPr>
        <p:spPr>
          <a:xfrm>
            <a:off x="7187184" y="2194560"/>
            <a:ext cx="2852928" cy="502920"/>
          </a:xfrm>
          <a:prstGeom prst="rect">
            <a:avLst/>
          </a:prstGeom>
          <a:noFill/>
        </p:spPr>
        <p:txBody>
          <a:bodyPr wrap="square" lIns="0" rIns="0" tIns="0" bIns="0" anchor="t">
            <a:spAutoFit/>
          </a:bodyPr>
          <a:lstStyle/>
          <a:p>
            <a:pPr algn="l">
              <a:lnSpc>
                <a:spcPct val="100000"/>
              </a:lnSpc>
            </a:pPr>
            <a:r>
              <a:rPr sz="3000" b="1" i="0">
                <a:solidFill>
                  <a:srgbClr val="E58900"/>
                </a:solidFill>
                <a:latin typeface="Montserrat"/>
              </a:rPr>
              <a:t>44</a:t>
            </a:r>
          </a:p>
        </p:txBody>
      </p:sp>
      <p:sp>
        <p:nvSpPr>
          <p:cNvPr id="16" name="TextBox 15"/>
          <p:cNvSpPr txBox="1"/>
          <p:nvPr/>
        </p:nvSpPr>
        <p:spPr>
          <a:xfrm>
            <a:off x="7187184" y="2651760"/>
            <a:ext cx="2852928" cy="6400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certified Road Safety Auditors on the national registry (July 2026)</a:t>
            </a:r>
          </a:p>
        </p:txBody>
      </p:sp>
      <p:sp>
        <p:nvSpPr>
          <p:cNvPr id="17" name="TextBox 16"/>
          <p:cNvSpPr txBox="1"/>
          <p:nvPr/>
        </p:nvSpPr>
        <p:spPr>
          <a:xfrm>
            <a:off x="566928" y="3611880"/>
            <a:ext cx="6675120" cy="1188720"/>
          </a:xfrm>
          <a:prstGeom prst="rect">
            <a:avLst/>
          </a:prstGeom>
          <a:noFill/>
        </p:spPr>
        <p:txBody>
          <a:bodyPr wrap="square" lIns="0" rIns="0" tIns="0" bIns="0" anchor="t">
            <a:spAutoFit/>
          </a:bodyPr>
          <a:lstStyle/>
          <a:p>
            <a:pPr algn="l">
              <a:lnSpc>
                <a:spcPct val="140000"/>
              </a:lnSpc>
            </a:pPr>
            <a:r>
              <a:rPr sz="1100" b="0" i="0">
                <a:solidFill>
                  <a:srgbClr val="16181D"/>
                </a:solidFill>
                <a:latin typeface="Geist"/>
              </a:rPr>
              <a:t>Low-cost engineering measures — raised crossings, traffic calming, lighting, safer intersections — reduce crashes by 20–80% where applied (iRAP &amp; PIARC evidence). What limits progress is steady, supervised auditing capacity and follow-up, working under the road-owning authority.</a:t>
            </a:r>
          </a:p>
        </p:txBody>
      </p:sp>
      <p:sp>
        <p:nvSpPr>
          <p:cNvPr id="18" name="Rounded Rectangle 17"/>
          <p:cNvSpPr/>
          <p:nvPr/>
        </p:nvSpPr>
        <p:spPr>
          <a:xfrm>
            <a:off x="566928" y="5029200"/>
            <a:ext cx="6675120" cy="868680"/>
          </a:xfrm>
          <a:prstGeom prst="roundRect">
            <a:avLst>
              <a:gd name="adj" fmla="val 12000"/>
            </a:avLst>
          </a:prstGeom>
          <a:solidFill>
            <a:srgbClr val="EFEDFF"/>
          </a:solidFill>
          <a:ln>
            <a:noFill/>
          </a:ln>
          <a:effectLst/>
        </p:spPr>
        <p:txBody>
          <a:bodyPr rtlCol="0" anchor="ctr"/>
          <a:lstStyle/>
          <a:p>
            <a:pPr algn="ctr"/>
          </a:p>
        </p:txBody>
      </p:sp>
      <p:sp>
        <p:nvSpPr>
          <p:cNvPr id="19" name="TextBox 18"/>
          <p:cNvSpPr txBox="1"/>
          <p:nvPr/>
        </p:nvSpPr>
        <p:spPr>
          <a:xfrm>
            <a:off x="768096" y="5138928"/>
            <a:ext cx="6309360" cy="685800"/>
          </a:xfrm>
          <a:prstGeom prst="rect">
            <a:avLst/>
          </a:prstGeom>
          <a:noFill/>
        </p:spPr>
        <p:txBody>
          <a:bodyPr wrap="square" lIns="0" rIns="0" tIns="0" bIns="0" anchor="t">
            <a:spAutoFit/>
          </a:bodyPr>
          <a:lstStyle/>
          <a:p>
            <a:pPr algn="l">
              <a:lnSpc>
                <a:spcPct val="130000"/>
              </a:lnSpc>
            </a:pPr>
            <a:r>
              <a:rPr sz="1050" b="1" i="0">
                <a:solidFill>
                  <a:srgbClr val="4A35FF"/>
                </a:solidFill>
                <a:latin typeface="Geist"/>
              </a:rPr>
              <a:t>Project Rakshak was designed for precisely this constraint: </a:t>
            </a:r>
            <a:r>
              <a:rPr sz="1050" b="0" i="0">
                <a:solidFill>
                  <a:srgbClr val="4A35FF"/>
                </a:solidFill>
                <a:latin typeface="Geist"/>
              </a:rPr>
              <a:t>trained auditing capacity that supports road-owning agencies — and tracks every fix to completion.</a:t>
            </a:r>
          </a:p>
        </p:txBody>
      </p:sp>
      <p:pic>
        <p:nvPicPr>
          <p:cNvPr id="20" name="Picture 19" descr="iv_guntur_drainage.png_4.35x2.50.jpg"/>
          <p:cNvPicPr>
            <a:picLocks noChangeAspect="1"/>
          </p:cNvPicPr>
          <p:nvPr/>
        </p:nvPicPr>
        <p:blipFill>
          <a:blip r:embed="rId2"/>
          <a:stretch>
            <a:fillRect/>
          </a:stretch>
        </p:blipFill>
        <p:spPr>
          <a:xfrm>
            <a:off x="7635240" y="3611880"/>
            <a:ext cx="3977639" cy="2286000"/>
          </a:xfrm>
          <a:prstGeom prst="rect">
            <a:avLst/>
          </a:prstGeom>
        </p:spPr>
      </p:pic>
      <p:sp>
        <p:nvSpPr>
          <p:cNvPr id="21" name="Rectangle 20"/>
          <p:cNvSpPr/>
          <p:nvPr/>
        </p:nvSpPr>
        <p:spPr>
          <a:xfrm>
            <a:off x="7635240" y="3611880"/>
            <a:ext cx="3977639" cy="2286000"/>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7635240" y="594360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Guntur, Andhra Pradesh — drainage correction underway after audit.</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YEAR ONE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Cohort 1: a </a:t>
            </a:r>
            <a:r>
              <a:rPr sz="2250" b="1" i="0">
                <a:solidFill>
                  <a:srgbClr val="4A35FF"/>
                </a:solidFill>
                <a:latin typeface="Montserrat"/>
              </a:rPr>
              <a:t>national footprint</a:t>
            </a:r>
            <a:r>
              <a:rPr sz="2250" b="1" i="0">
                <a:solidFill>
                  <a:srgbClr val="16181D"/>
                </a:solidFill>
                <a:latin typeface="Montserrat"/>
              </a:rPr>
              <a:t> in the first year</a:t>
            </a:r>
          </a:p>
        </p:txBody>
      </p:sp>
      <p:sp>
        <p:nvSpPr>
          <p:cNvPr id="7" name="Rounded Rectangle 6"/>
          <p:cNvSpPr/>
          <p:nvPr/>
        </p:nvSpPr>
        <p:spPr>
          <a:xfrm>
            <a:off x="56692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8" name="TextBox 7"/>
          <p:cNvSpPr txBox="1"/>
          <p:nvPr/>
        </p:nvSpPr>
        <p:spPr>
          <a:xfrm>
            <a:off x="69494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9" name="TextBox 8"/>
          <p:cNvSpPr txBox="1"/>
          <p:nvPr/>
        </p:nvSpPr>
        <p:spPr>
          <a:xfrm>
            <a:off x="69494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0" name="TextBox 9"/>
          <p:cNvSpPr txBox="1"/>
          <p:nvPr/>
        </p:nvSpPr>
        <p:spPr>
          <a:xfrm>
            <a:off x="233172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1" name="Rounded Rectangle 10"/>
          <p:cNvSpPr/>
          <p:nvPr/>
        </p:nvSpPr>
        <p:spPr>
          <a:xfrm>
            <a:off x="248716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261518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3" name="TextBox 12"/>
          <p:cNvSpPr txBox="1"/>
          <p:nvPr/>
        </p:nvSpPr>
        <p:spPr>
          <a:xfrm>
            <a:off x="261518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 11 official black spots</a:t>
            </a:r>
          </a:p>
        </p:txBody>
      </p:sp>
      <p:sp>
        <p:nvSpPr>
          <p:cNvPr id="14" name="TextBox 13"/>
          <p:cNvSpPr txBox="1"/>
          <p:nvPr/>
        </p:nvSpPr>
        <p:spPr>
          <a:xfrm>
            <a:off x="425196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5" name="Rounded Rectangle 14"/>
          <p:cNvSpPr/>
          <p:nvPr/>
        </p:nvSpPr>
        <p:spPr>
          <a:xfrm>
            <a:off x="4407408" y="1965960"/>
            <a:ext cx="1783080" cy="1143000"/>
          </a:xfrm>
          <a:prstGeom prst="roundRect">
            <a:avLst>
              <a:gd name="adj" fmla="val 12000"/>
            </a:avLst>
          </a:prstGeom>
          <a:solidFill>
            <a:srgbClr val="F7F7FA"/>
          </a:solidFill>
          <a:ln>
            <a:noFill/>
          </a:ln>
          <a:effectLst/>
        </p:spPr>
        <p:txBody>
          <a:bodyPr rtlCol="0" anchor="ctr"/>
          <a:lstStyle/>
          <a:p>
            <a:pPr algn="ctr"/>
          </a:p>
        </p:txBody>
      </p:sp>
      <p:sp>
        <p:nvSpPr>
          <p:cNvPr id="16" name="TextBox 15"/>
          <p:cNvSpPr txBox="1"/>
          <p:nvPr/>
        </p:nvSpPr>
        <p:spPr>
          <a:xfrm>
            <a:off x="4535424" y="207568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7" name="TextBox 16"/>
          <p:cNvSpPr txBox="1"/>
          <p:nvPr/>
        </p:nvSpPr>
        <p:spPr>
          <a:xfrm>
            <a:off x="4535424" y="253288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8" name="TextBox 17"/>
          <p:cNvSpPr txBox="1"/>
          <p:nvPr/>
        </p:nvSpPr>
        <p:spPr>
          <a:xfrm>
            <a:off x="6172200" y="233172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9" name="Rounded Rectangle 18"/>
          <p:cNvSpPr/>
          <p:nvPr/>
        </p:nvSpPr>
        <p:spPr>
          <a:xfrm>
            <a:off x="6327648" y="1965960"/>
            <a:ext cx="1783080" cy="1143000"/>
          </a:xfrm>
          <a:prstGeom prst="roundRect">
            <a:avLst>
              <a:gd name="adj" fmla="val 12000"/>
            </a:avLst>
          </a:prstGeom>
          <a:solidFill>
            <a:srgbClr val="4A35FF"/>
          </a:solidFill>
          <a:ln>
            <a:noFill/>
          </a:ln>
          <a:effectLst/>
        </p:spPr>
        <p:txBody>
          <a:bodyPr rtlCol="0" anchor="ctr"/>
          <a:lstStyle/>
          <a:p>
            <a:pPr algn="ctr"/>
          </a:p>
        </p:txBody>
      </p:sp>
      <p:sp>
        <p:nvSpPr>
          <p:cNvPr id="20" name="TextBox 19"/>
          <p:cNvSpPr txBox="1"/>
          <p:nvPr/>
        </p:nvSpPr>
        <p:spPr>
          <a:xfrm>
            <a:off x="6455664" y="207568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15</a:t>
            </a:r>
          </a:p>
        </p:txBody>
      </p:sp>
      <p:sp>
        <p:nvSpPr>
          <p:cNvPr id="21" name="TextBox 20"/>
          <p:cNvSpPr txBox="1"/>
          <p:nvPr/>
        </p:nvSpPr>
        <p:spPr>
          <a:xfrm>
            <a:off x="6455664" y="253288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implementations underway</a:t>
            </a:r>
          </a:p>
        </p:txBody>
      </p:sp>
      <p:sp>
        <p:nvSpPr>
          <p:cNvPr id="22" name="TextBox 21"/>
          <p:cNvSpPr txBox="1"/>
          <p:nvPr/>
        </p:nvSpPr>
        <p:spPr>
          <a:xfrm>
            <a:off x="566928" y="3310128"/>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guided by 8 mentors and independent evaluators</a:t>
            </a:r>
          </a:p>
        </p:txBody>
      </p:sp>
      <p:sp>
        <p:nvSpPr>
          <p:cNvPr id="23" name="TextBox 22"/>
          <p:cNvSpPr txBox="1"/>
          <p:nvPr/>
        </p:nvSpPr>
        <p:spPr>
          <a:xfrm>
            <a:off x="566928" y="3749039"/>
            <a:ext cx="7498079" cy="685800"/>
          </a:xfrm>
          <a:prstGeom prst="rect">
            <a:avLst/>
          </a:prstGeom>
          <a:noFill/>
        </p:spPr>
        <p:txBody>
          <a:bodyPr wrap="square" lIns="0" rIns="0" tIns="0" bIns="0" anchor="t">
            <a:spAutoFit/>
          </a:bodyPr>
          <a:lstStyle/>
          <a:p>
            <a:pPr algn="l">
              <a:lnSpc>
                <a:spcPct val="135000"/>
              </a:lnSpc>
            </a:pPr>
            <a:r>
              <a:rPr sz="1000" b="0" i="0">
                <a:solidFill>
                  <a:srgbClr val="6E7180"/>
                </a:solidFill>
                <a:latin typeface="Geist"/>
              </a:rPr>
              <a:t>North: Ropar, Dehradun, Roorkee, Delhi, Lucknow, Varanasi · East: Guwahati, Durgapur · West &amp; Central: Indore, Mumbai, Surat · South: Vijayawada, Guntur, Kozhikode, Chennai — among 18 cities.</a:t>
            </a:r>
          </a:p>
        </p:txBody>
      </p:sp>
      <p:sp>
        <p:nvSpPr>
          <p:cNvPr id="24" name="Rounded Rectangle 23"/>
          <p:cNvSpPr/>
          <p:nvPr/>
        </p:nvSpPr>
        <p:spPr>
          <a:xfrm>
            <a:off x="566928" y="4709160"/>
            <a:ext cx="7498079" cy="1188720"/>
          </a:xfrm>
          <a:prstGeom prst="roundRect">
            <a:avLst>
              <a:gd name="adj" fmla="val 10000"/>
            </a:avLst>
          </a:prstGeom>
          <a:solidFill>
            <a:srgbClr val="FDF3E3"/>
          </a:solidFill>
          <a:ln>
            <a:noFill/>
          </a:ln>
          <a:effectLst/>
        </p:spPr>
        <p:txBody>
          <a:bodyPr rtlCol="0" anchor="ctr"/>
          <a:lstStyle/>
          <a:p>
            <a:pPr algn="ctr"/>
          </a:p>
        </p:txBody>
      </p:sp>
      <p:sp>
        <p:nvSpPr>
          <p:cNvPr id="25" name="TextBox 24"/>
          <p:cNvSpPr txBox="1"/>
          <p:nvPr/>
        </p:nvSpPr>
        <p:spPr>
          <a:xfrm>
            <a:off x="768096" y="4846320"/>
            <a:ext cx="7132320" cy="914400"/>
          </a:xfrm>
          <a:prstGeom prst="rect">
            <a:avLst/>
          </a:prstGeom>
          <a:noFill/>
        </p:spPr>
        <p:txBody>
          <a:bodyPr wrap="square" lIns="0" rIns="0" tIns="0" bIns="0" anchor="t">
            <a:spAutoFit/>
          </a:bodyPr>
          <a:lstStyle/>
          <a:p>
            <a:pPr algn="l">
              <a:lnSpc>
                <a:spcPct val="130000"/>
              </a:lnSpc>
            </a:pPr>
            <a:r>
              <a:rPr sz="1050" b="1" i="0">
                <a:solidFill>
                  <a:srgbClr val="E58900"/>
                </a:solidFill>
                <a:latin typeface="Geist"/>
              </a:rPr>
              <a:t>Estimated 20–50% crash reduction at treated sites once complete </a:t>
            </a:r>
            <a:r>
              <a:rPr sz="1050" b="0" i="0">
                <a:solidFill>
                  <a:srgbClr val="E58900"/>
                </a:solidFill>
                <a:latin typeface="Geist"/>
              </a:rPr>
              <a:t>— based on WHO / iRAP evidence for these counter-measures; we will verify with before-and-after data as implementations finish.</a:t>
            </a:r>
          </a:p>
        </p:txBody>
      </p:sp>
      <p:pic>
        <p:nvPicPr>
          <p:cNvPr id="26" name="Picture 25" descr="cfi_map_dots.png"/>
          <p:cNvPicPr>
            <a:picLocks noChangeAspect="1"/>
          </p:cNvPicPr>
          <p:nvPr/>
        </p:nvPicPr>
        <p:blipFill>
          <a:blip r:embed="rId2"/>
          <a:stretch>
            <a:fillRect/>
          </a:stretch>
        </p:blipFill>
        <p:spPr>
          <a:xfrm>
            <a:off x="8321040" y="1920240"/>
            <a:ext cx="3291840" cy="3911357"/>
          </a:xfrm>
          <a:prstGeom prst="rect">
            <a:avLst/>
          </a:prstGeom>
        </p:spPr>
      </p:pic>
      <p:sp>
        <p:nvSpPr>
          <p:cNvPr id="27" name="Rectangle 26"/>
          <p:cNvSpPr/>
          <p:nvPr/>
        </p:nvSpPr>
        <p:spPr>
          <a:xfrm>
            <a:off x="8321040" y="192024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321040" y="587731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Cohort-1 sites across India.</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THE PAPER TRAIL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Approvals </a:t>
            </a:r>
            <a:r>
              <a:rPr sz="2250" b="1" i="0">
                <a:solidFill>
                  <a:srgbClr val="4A35FF"/>
                </a:solidFill>
                <a:latin typeface="Montserrat"/>
              </a:rPr>
              <a:t>in writing</a:t>
            </a:r>
            <a:r>
              <a:rPr sz="2250" b="1" i="0">
                <a:solidFill>
                  <a:srgbClr val="16181D"/>
                </a:solidFill>
                <a:latin typeface="Montserrat"/>
              </a:rPr>
              <a:t>, from the authorities that own the roads</a:t>
            </a:r>
          </a:p>
        </p:txBody>
      </p:sp>
      <p:pic>
        <p:nvPicPr>
          <p:cNvPr id="7" name="Picture 6" descr="Crashzero.png_1.92x2.60.jpg"/>
          <p:cNvPicPr>
            <a:picLocks noChangeAspect="1"/>
          </p:cNvPicPr>
          <p:nvPr/>
        </p:nvPicPr>
        <p:blipFill>
          <a:blip r:embed="rId2"/>
          <a:stretch>
            <a:fillRect/>
          </a:stretch>
        </p:blipFill>
        <p:spPr>
          <a:xfrm>
            <a:off x="566928" y="1874519"/>
            <a:ext cx="1755648" cy="2377440"/>
          </a:xfrm>
          <a:prstGeom prst="rect">
            <a:avLst/>
          </a:prstGeom>
        </p:spPr>
      </p:pic>
      <p:sp>
        <p:nvSpPr>
          <p:cNvPr id="8" name="Rectangle 7"/>
          <p:cNvSpPr/>
          <p:nvPr/>
        </p:nvSpPr>
        <p:spPr>
          <a:xfrm>
            <a:off x="566928" y="1874519"/>
            <a:ext cx="1755648" cy="2377440"/>
          </a:xfrm>
          <a:prstGeom prst="rect">
            <a:avLst/>
          </a:prstGeom>
          <a:noFill/>
          <a:ln w="12700">
            <a:solidFill>
              <a:srgbClr val="E8E9EE"/>
            </a:solidFill>
          </a:ln>
          <a:effectLst/>
        </p:spPr>
        <p:txBody>
          <a:bodyPr rtlCol="0" anchor="ctr"/>
          <a:lstStyle/>
          <a:p>
            <a:pPr algn="ctr"/>
          </a:p>
        </p:txBody>
      </p:sp>
      <p:pic>
        <p:nvPicPr>
          <p:cNvPr id="9" name="Picture 8" descr="Pathrakshak.png_1.92x2.60.jpg"/>
          <p:cNvPicPr>
            <a:picLocks noChangeAspect="1"/>
          </p:cNvPicPr>
          <p:nvPr/>
        </p:nvPicPr>
        <p:blipFill>
          <a:blip r:embed="rId3"/>
          <a:stretch>
            <a:fillRect/>
          </a:stretch>
        </p:blipFill>
        <p:spPr>
          <a:xfrm>
            <a:off x="2423160" y="1874519"/>
            <a:ext cx="1755648" cy="2377440"/>
          </a:xfrm>
          <a:prstGeom prst="rect">
            <a:avLst/>
          </a:prstGeom>
        </p:spPr>
      </p:pic>
      <p:sp>
        <p:nvSpPr>
          <p:cNvPr id="10" name="Rectangle 9"/>
          <p:cNvSpPr/>
          <p:nvPr/>
        </p:nvSpPr>
        <p:spPr>
          <a:xfrm>
            <a:off x="2423160" y="1874519"/>
            <a:ext cx="1755648" cy="2377440"/>
          </a:xfrm>
          <a:prstGeom prst="rect">
            <a:avLst/>
          </a:prstGeom>
          <a:noFill/>
          <a:ln w="12700">
            <a:solidFill>
              <a:srgbClr val="E8E9EE"/>
            </a:solidFill>
          </a:ln>
          <a:effectLst/>
        </p:spPr>
        <p:txBody>
          <a:bodyPr rtlCol="0" anchor="ctr"/>
          <a:lstStyle/>
          <a:p>
            <a:pPr algn="ctr"/>
          </a:p>
        </p:txBody>
      </p:sp>
      <p:pic>
        <p:nvPicPr>
          <p:cNvPr id="11" name="Picture 10" descr="Safegrid.png_1.92x2.60.jpg"/>
          <p:cNvPicPr>
            <a:picLocks noChangeAspect="1"/>
          </p:cNvPicPr>
          <p:nvPr/>
        </p:nvPicPr>
        <p:blipFill>
          <a:blip r:embed="rId4"/>
          <a:stretch>
            <a:fillRect/>
          </a:stretch>
        </p:blipFill>
        <p:spPr>
          <a:xfrm>
            <a:off x="4279392" y="1874519"/>
            <a:ext cx="1755648" cy="2377440"/>
          </a:xfrm>
          <a:prstGeom prst="rect">
            <a:avLst/>
          </a:prstGeom>
        </p:spPr>
      </p:pic>
      <p:sp>
        <p:nvSpPr>
          <p:cNvPr id="12" name="Rectangle 11"/>
          <p:cNvSpPr/>
          <p:nvPr/>
        </p:nvSpPr>
        <p:spPr>
          <a:xfrm>
            <a:off x="4279392" y="1874519"/>
            <a:ext cx="1755648" cy="2377440"/>
          </a:xfrm>
          <a:prstGeom prst="rect">
            <a:avLst/>
          </a:prstGeom>
          <a:noFill/>
          <a:ln w="12700">
            <a:solidFill>
              <a:srgbClr val="E8E9EE"/>
            </a:solidFill>
          </a:ln>
          <a:effectLst/>
        </p:spPr>
        <p:txBody>
          <a:bodyPr rtlCol="0" anchor="ctr"/>
          <a:lstStyle/>
          <a:p>
            <a:pPr algn="ctr"/>
          </a:p>
        </p:txBody>
      </p:sp>
      <p:pic>
        <p:nvPicPr>
          <p:cNvPr id="13" name="Picture 12" descr="Sentinels.png_1.92x2.60.jpg"/>
          <p:cNvPicPr>
            <a:picLocks noChangeAspect="1"/>
          </p:cNvPicPr>
          <p:nvPr/>
        </p:nvPicPr>
        <p:blipFill>
          <a:blip r:embed="rId5"/>
          <a:stretch>
            <a:fillRect/>
          </a:stretch>
        </p:blipFill>
        <p:spPr>
          <a:xfrm>
            <a:off x="6135624" y="1874519"/>
            <a:ext cx="1755648" cy="2377440"/>
          </a:xfrm>
          <a:prstGeom prst="rect">
            <a:avLst/>
          </a:prstGeom>
        </p:spPr>
      </p:pic>
      <p:sp>
        <p:nvSpPr>
          <p:cNvPr id="14" name="Rectangle 13"/>
          <p:cNvSpPr/>
          <p:nvPr/>
        </p:nvSpPr>
        <p:spPr>
          <a:xfrm>
            <a:off x="6135624" y="1874519"/>
            <a:ext cx="1755648" cy="2377440"/>
          </a:xfrm>
          <a:prstGeom prst="rect">
            <a:avLst/>
          </a:prstGeom>
          <a:noFill/>
          <a:ln w="12700">
            <a:solidFill>
              <a:srgbClr val="E8E9EE"/>
            </a:solidFill>
          </a:ln>
          <a:effectLst/>
        </p:spPr>
        <p:txBody>
          <a:bodyPr rtlCol="0" anchor="ctr"/>
          <a:lstStyle/>
          <a:p>
            <a:pPr algn="ctr"/>
          </a:p>
        </p:txBody>
      </p:sp>
      <p:pic>
        <p:nvPicPr>
          <p:cNvPr id="15" name="Picture 14" descr="Vision_Zero_Squad.png_1.92x2.60.jpg"/>
          <p:cNvPicPr>
            <a:picLocks noChangeAspect="1"/>
          </p:cNvPicPr>
          <p:nvPr/>
        </p:nvPicPr>
        <p:blipFill>
          <a:blip r:embed="rId6"/>
          <a:stretch>
            <a:fillRect/>
          </a:stretch>
        </p:blipFill>
        <p:spPr>
          <a:xfrm>
            <a:off x="7991856" y="1874519"/>
            <a:ext cx="1755648" cy="2377440"/>
          </a:xfrm>
          <a:prstGeom prst="rect">
            <a:avLst/>
          </a:prstGeom>
        </p:spPr>
      </p:pic>
      <p:sp>
        <p:nvSpPr>
          <p:cNvPr id="16" name="Rectangle 15"/>
          <p:cNvSpPr/>
          <p:nvPr/>
        </p:nvSpPr>
        <p:spPr>
          <a:xfrm>
            <a:off x="7991856" y="1874519"/>
            <a:ext cx="1755648" cy="2377440"/>
          </a:xfrm>
          <a:prstGeom prst="rect">
            <a:avLst/>
          </a:prstGeom>
          <a:noFill/>
          <a:ln w="12700">
            <a:solidFill>
              <a:srgbClr val="E8E9EE"/>
            </a:solidFill>
          </a:ln>
          <a:effectLst/>
        </p:spPr>
        <p:txBody>
          <a:bodyPr rtlCol="0" anchor="ctr"/>
          <a:lstStyle/>
          <a:p>
            <a:pPr algn="ctr"/>
          </a:p>
        </p:txBody>
      </p:sp>
      <p:pic>
        <p:nvPicPr>
          <p:cNvPr id="17" name="Picture 16" descr="Visioneers.png_1.92x2.60.jpg"/>
          <p:cNvPicPr>
            <a:picLocks noChangeAspect="1"/>
          </p:cNvPicPr>
          <p:nvPr/>
        </p:nvPicPr>
        <p:blipFill>
          <a:blip r:embed="rId7"/>
          <a:stretch>
            <a:fillRect/>
          </a:stretch>
        </p:blipFill>
        <p:spPr>
          <a:xfrm>
            <a:off x="9848088" y="1874519"/>
            <a:ext cx="1755648" cy="2377440"/>
          </a:xfrm>
          <a:prstGeom prst="rect">
            <a:avLst/>
          </a:prstGeom>
        </p:spPr>
      </p:pic>
      <p:sp>
        <p:nvSpPr>
          <p:cNvPr id="18" name="Rectangle 17"/>
          <p:cNvSpPr/>
          <p:nvPr/>
        </p:nvSpPr>
        <p:spPr>
          <a:xfrm>
            <a:off x="9848088" y="1874519"/>
            <a:ext cx="1755648" cy="237744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66928" y="4434840"/>
            <a:ext cx="1105783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sample of the 25+ approval and acknowledgement letters issued by public works and district authorities.</a:t>
            </a:r>
          </a:p>
        </p:txBody>
      </p:sp>
      <p:sp>
        <p:nvSpPr>
          <p:cNvPr id="20" name="TextBox 19"/>
          <p:cNvSpPr txBox="1"/>
          <p:nvPr/>
        </p:nvSpPr>
        <p:spPr>
          <a:xfrm>
            <a:off x="566928" y="4846320"/>
            <a:ext cx="30175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APPROVING AUTHORITIES INCLUDE</a:t>
            </a:r>
          </a:p>
        </p:txBody>
      </p:sp>
      <p:sp>
        <p:nvSpPr>
          <p:cNvPr id="21" name="Rounded Rectangle 20"/>
          <p:cNvSpPr/>
          <p:nvPr/>
        </p:nvSpPr>
        <p:spPr>
          <a:xfrm>
            <a:off x="566928" y="5138928"/>
            <a:ext cx="2697480" cy="384048"/>
          </a:xfrm>
          <a:prstGeom prst="roundRect">
            <a:avLst>
              <a:gd name="adj" fmla="val 50000"/>
            </a:avLst>
          </a:prstGeom>
          <a:solidFill>
            <a:srgbClr val="E9F7F0"/>
          </a:solidFill>
          <a:ln>
            <a:noFill/>
          </a:ln>
          <a:effectLst/>
        </p:spPr>
        <p:txBody>
          <a:bodyPr rtlCol="0" anchor="ctr"/>
          <a:lstStyle/>
          <a:p>
            <a:pPr algn="ctr"/>
          </a:p>
        </p:txBody>
      </p:sp>
      <p:sp>
        <p:nvSpPr>
          <p:cNvPr id="22" name="TextBox 21"/>
          <p:cNvSpPr txBox="1"/>
          <p:nvPr/>
        </p:nvSpPr>
        <p:spPr>
          <a:xfrm>
            <a:off x="585216" y="51389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PWD Kerala</a:t>
            </a:r>
          </a:p>
        </p:txBody>
      </p:sp>
      <p:sp>
        <p:nvSpPr>
          <p:cNvPr id="23" name="Rounded Rectangle 22"/>
          <p:cNvSpPr/>
          <p:nvPr/>
        </p:nvSpPr>
        <p:spPr>
          <a:xfrm>
            <a:off x="3355848" y="5138928"/>
            <a:ext cx="2697480" cy="384048"/>
          </a:xfrm>
          <a:prstGeom prst="roundRect">
            <a:avLst>
              <a:gd name="adj" fmla="val 50000"/>
            </a:avLst>
          </a:prstGeom>
          <a:solidFill>
            <a:srgbClr val="E9F7F0"/>
          </a:solidFill>
          <a:ln>
            <a:noFill/>
          </a:ln>
          <a:effectLst/>
        </p:spPr>
        <p:txBody>
          <a:bodyPr rtlCol="0" anchor="ctr"/>
          <a:lstStyle/>
          <a:p>
            <a:pPr algn="ctr"/>
          </a:p>
        </p:txBody>
      </p:sp>
      <p:sp>
        <p:nvSpPr>
          <p:cNvPr id="24" name="TextBox 23"/>
          <p:cNvSpPr txBox="1"/>
          <p:nvPr/>
        </p:nvSpPr>
        <p:spPr>
          <a:xfrm>
            <a:off x="3374136" y="51389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PWD Uttar Pradesh</a:t>
            </a:r>
          </a:p>
        </p:txBody>
      </p:sp>
      <p:sp>
        <p:nvSpPr>
          <p:cNvPr id="25" name="Rounded Rectangle 24"/>
          <p:cNvSpPr/>
          <p:nvPr/>
        </p:nvSpPr>
        <p:spPr>
          <a:xfrm>
            <a:off x="6144768" y="5138928"/>
            <a:ext cx="2697480" cy="384048"/>
          </a:xfrm>
          <a:prstGeom prst="roundRect">
            <a:avLst>
              <a:gd name="adj" fmla="val 50000"/>
            </a:avLst>
          </a:prstGeom>
          <a:solidFill>
            <a:srgbClr val="E9F7F0"/>
          </a:solidFill>
          <a:ln>
            <a:noFill/>
          </a:ln>
          <a:effectLst/>
        </p:spPr>
        <p:txBody>
          <a:bodyPr rtlCol="0" anchor="ctr"/>
          <a:lstStyle/>
          <a:p>
            <a:pPr algn="ctr"/>
          </a:p>
        </p:txBody>
      </p:sp>
      <p:sp>
        <p:nvSpPr>
          <p:cNvPr id="26" name="TextBox 25"/>
          <p:cNvSpPr txBox="1"/>
          <p:nvPr/>
        </p:nvSpPr>
        <p:spPr>
          <a:xfrm>
            <a:off x="6163056" y="51389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PWD Punjab</a:t>
            </a:r>
          </a:p>
        </p:txBody>
      </p:sp>
      <p:sp>
        <p:nvSpPr>
          <p:cNvPr id="27" name="Rounded Rectangle 26"/>
          <p:cNvSpPr/>
          <p:nvPr/>
        </p:nvSpPr>
        <p:spPr>
          <a:xfrm>
            <a:off x="8933688" y="5138928"/>
            <a:ext cx="2697480" cy="384048"/>
          </a:xfrm>
          <a:prstGeom prst="roundRect">
            <a:avLst>
              <a:gd name="adj" fmla="val 50000"/>
            </a:avLst>
          </a:prstGeom>
          <a:solidFill>
            <a:srgbClr val="E9F7F0"/>
          </a:solidFill>
          <a:ln>
            <a:noFill/>
          </a:ln>
          <a:effectLst/>
        </p:spPr>
        <p:txBody>
          <a:bodyPr rtlCol="0" anchor="ctr"/>
          <a:lstStyle/>
          <a:p>
            <a:pPr algn="ctr"/>
          </a:p>
        </p:txBody>
      </p:sp>
      <p:sp>
        <p:nvSpPr>
          <p:cNvPr id="28" name="TextBox 27"/>
          <p:cNvSpPr txBox="1"/>
          <p:nvPr/>
        </p:nvSpPr>
        <p:spPr>
          <a:xfrm>
            <a:off x="8951976" y="51389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CPWD + Addl. Collector, Indore</a:t>
            </a:r>
          </a:p>
        </p:txBody>
      </p:sp>
      <p:sp>
        <p:nvSpPr>
          <p:cNvPr id="29" name="Rounded Rectangle 28"/>
          <p:cNvSpPr/>
          <p:nvPr/>
        </p:nvSpPr>
        <p:spPr>
          <a:xfrm>
            <a:off x="566928" y="5596128"/>
            <a:ext cx="2697480" cy="384048"/>
          </a:xfrm>
          <a:prstGeom prst="roundRect">
            <a:avLst>
              <a:gd name="adj" fmla="val 50000"/>
            </a:avLst>
          </a:prstGeom>
          <a:solidFill>
            <a:srgbClr val="E9F7F0"/>
          </a:solidFill>
          <a:ln>
            <a:noFill/>
          </a:ln>
          <a:effectLst/>
        </p:spPr>
        <p:txBody>
          <a:bodyPr rtlCol="0" anchor="ctr"/>
          <a:lstStyle/>
          <a:p>
            <a:pPr algn="ctr"/>
          </a:p>
        </p:txBody>
      </p:sp>
      <p:sp>
        <p:nvSpPr>
          <p:cNvPr id="30" name="TextBox 29"/>
          <p:cNvSpPr txBox="1"/>
          <p:nvPr/>
        </p:nvSpPr>
        <p:spPr>
          <a:xfrm>
            <a:off x="585216" y="55961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ADDA Durgapur</a:t>
            </a:r>
          </a:p>
        </p:txBody>
      </p:sp>
      <p:sp>
        <p:nvSpPr>
          <p:cNvPr id="31" name="Rounded Rectangle 30"/>
          <p:cNvSpPr/>
          <p:nvPr/>
        </p:nvSpPr>
        <p:spPr>
          <a:xfrm>
            <a:off x="3355848" y="5596128"/>
            <a:ext cx="2697480" cy="384048"/>
          </a:xfrm>
          <a:prstGeom prst="roundRect">
            <a:avLst>
              <a:gd name="adj" fmla="val 50000"/>
            </a:avLst>
          </a:prstGeom>
          <a:solidFill>
            <a:srgbClr val="E9F7F0"/>
          </a:solidFill>
          <a:ln>
            <a:noFill/>
          </a:ln>
          <a:effectLst/>
        </p:spPr>
        <p:txBody>
          <a:bodyPr rtlCol="0" anchor="ctr"/>
          <a:lstStyle/>
          <a:p>
            <a:pPr algn="ctr"/>
          </a:p>
        </p:txBody>
      </p:sp>
      <p:sp>
        <p:nvSpPr>
          <p:cNvPr id="32" name="TextBox 31"/>
          <p:cNvSpPr txBox="1"/>
          <p:nvPr/>
        </p:nvSpPr>
        <p:spPr>
          <a:xfrm>
            <a:off x="3374136" y="55961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R&amp;B Andhra Pradesh</a:t>
            </a:r>
          </a:p>
        </p:txBody>
      </p:sp>
      <p:sp>
        <p:nvSpPr>
          <p:cNvPr id="33" name="Rounded Rectangle 32"/>
          <p:cNvSpPr/>
          <p:nvPr/>
        </p:nvSpPr>
        <p:spPr>
          <a:xfrm>
            <a:off x="6144768" y="5596128"/>
            <a:ext cx="2697480" cy="384048"/>
          </a:xfrm>
          <a:prstGeom prst="roundRect">
            <a:avLst>
              <a:gd name="adj" fmla="val 50000"/>
            </a:avLst>
          </a:prstGeom>
          <a:solidFill>
            <a:srgbClr val="E9F7F0"/>
          </a:solidFill>
          <a:ln>
            <a:noFill/>
          </a:ln>
          <a:effectLst/>
        </p:spPr>
        <p:txBody>
          <a:bodyPr rtlCol="0" anchor="ctr"/>
          <a:lstStyle/>
          <a:p>
            <a:pPr algn="ctr"/>
          </a:p>
        </p:txBody>
      </p:sp>
      <p:sp>
        <p:nvSpPr>
          <p:cNvPr id="34" name="TextBox 33"/>
          <p:cNvSpPr txBox="1"/>
          <p:nvPr/>
        </p:nvSpPr>
        <p:spPr>
          <a:xfrm>
            <a:off x="6163056" y="55961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GCC Chennai</a:t>
            </a:r>
          </a:p>
        </p:txBody>
      </p:sp>
      <p:sp>
        <p:nvSpPr>
          <p:cNvPr id="35" name="Rounded Rectangle 34"/>
          <p:cNvSpPr/>
          <p:nvPr/>
        </p:nvSpPr>
        <p:spPr>
          <a:xfrm>
            <a:off x="8933688" y="5596128"/>
            <a:ext cx="2697480" cy="384048"/>
          </a:xfrm>
          <a:prstGeom prst="roundRect">
            <a:avLst>
              <a:gd name="adj" fmla="val 50000"/>
            </a:avLst>
          </a:prstGeom>
          <a:solidFill>
            <a:srgbClr val="E9F7F0"/>
          </a:solidFill>
          <a:ln>
            <a:noFill/>
          </a:ln>
          <a:effectLst/>
        </p:spPr>
        <p:txBody>
          <a:bodyPr rtlCol="0" anchor="ctr"/>
          <a:lstStyle/>
          <a:p>
            <a:pPr algn="ctr"/>
          </a:p>
        </p:txBody>
      </p:sp>
      <p:sp>
        <p:nvSpPr>
          <p:cNvPr id="36" name="TextBox 35"/>
          <p:cNvSpPr txBox="1"/>
          <p:nvPr/>
        </p:nvSpPr>
        <p:spPr>
          <a:xfrm>
            <a:off x="8951976" y="5596128"/>
            <a:ext cx="26609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BMC Mumbai</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approval to construction: </a:t>
            </a:r>
            <a:r>
              <a:rPr sz="2250" b="1" i="0">
                <a:solidFill>
                  <a:srgbClr val="4A35FF"/>
                </a:solidFill>
                <a:latin typeface="Montserrat"/>
              </a:rPr>
              <a:t>implementations under way</a:t>
            </a:r>
          </a:p>
        </p:txBody>
      </p:sp>
      <p:pic>
        <p:nvPicPr>
          <p:cNvPr id="7" name="Picture 6" descr="iv_durgapur_parking.png_3.95x1.72.jpg"/>
          <p:cNvPicPr>
            <a:picLocks noChangeAspect="1"/>
          </p:cNvPicPr>
          <p:nvPr/>
        </p:nvPicPr>
        <p:blipFill>
          <a:blip r:embed="rId2"/>
          <a:stretch>
            <a:fillRect/>
          </a:stretch>
        </p:blipFill>
        <p:spPr>
          <a:xfrm>
            <a:off x="566928" y="1874519"/>
            <a:ext cx="3611880" cy="1572768"/>
          </a:xfrm>
          <a:prstGeom prst="rect">
            <a:avLst/>
          </a:prstGeom>
        </p:spPr>
      </p:pic>
      <p:sp>
        <p:nvSpPr>
          <p:cNvPr id="8" name="Rectangle 7"/>
          <p:cNvSpPr/>
          <p:nvPr/>
        </p:nvSpPr>
        <p:spPr>
          <a:xfrm>
            <a:off x="566928" y="1874519"/>
            <a:ext cx="3611880" cy="1572768"/>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3493007"/>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Parking rationalisation — Durgapur</a:t>
            </a:r>
          </a:p>
        </p:txBody>
      </p:sp>
      <p:pic>
        <p:nvPicPr>
          <p:cNvPr id="10" name="Picture 9" descr="iv_durgapur_road.png_3.95x1.72.jpg"/>
          <p:cNvPicPr>
            <a:picLocks noChangeAspect="1"/>
          </p:cNvPicPr>
          <p:nvPr/>
        </p:nvPicPr>
        <p:blipFill>
          <a:blip r:embed="rId3"/>
          <a:stretch>
            <a:fillRect/>
          </a:stretch>
        </p:blipFill>
        <p:spPr>
          <a:xfrm>
            <a:off x="4288536" y="1874519"/>
            <a:ext cx="3611880" cy="1572768"/>
          </a:xfrm>
          <a:prstGeom prst="rect">
            <a:avLst/>
          </a:prstGeom>
        </p:spPr>
      </p:pic>
      <p:sp>
        <p:nvSpPr>
          <p:cNvPr id="11" name="Rectangle 10"/>
          <p:cNvSpPr/>
          <p:nvPr/>
        </p:nvSpPr>
        <p:spPr>
          <a:xfrm>
            <a:off x="4288536" y="1874519"/>
            <a:ext cx="3611880" cy="1572768"/>
          </a:xfrm>
          <a:prstGeom prst="rect">
            <a:avLst/>
          </a:prstGeom>
          <a:noFill/>
          <a:ln w="12700">
            <a:solidFill>
              <a:srgbClr val="E8E9EE"/>
            </a:solidFill>
          </a:ln>
          <a:effectLst/>
        </p:spPr>
        <p:txBody>
          <a:bodyPr rtlCol="0" anchor="ctr"/>
          <a:lstStyle/>
          <a:p>
            <a:pPr algn="ctr"/>
          </a:p>
        </p:txBody>
      </p:sp>
      <p:sp>
        <p:nvSpPr>
          <p:cNvPr id="12" name="TextBox 11"/>
          <p:cNvSpPr txBox="1"/>
          <p:nvPr/>
        </p:nvSpPr>
        <p:spPr>
          <a:xfrm>
            <a:off x="4288536" y="3493007"/>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&amp; shoulder work — Durgapur</a:t>
            </a:r>
          </a:p>
        </p:txBody>
      </p:sp>
      <p:pic>
        <p:nvPicPr>
          <p:cNvPr id="13" name="Picture 12" descr="iv_guntur_markings.png_3.95x1.72.jpg"/>
          <p:cNvPicPr>
            <a:picLocks noChangeAspect="1"/>
          </p:cNvPicPr>
          <p:nvPr/>
        </p:nvPicPr>
        <p:blipFill>
          <a:blip r:embed="rId4"/>
          <a:stretch>
            <a:fillRect/>
          </a:stretch>
        </p:blipFill>
        <p:spPr>
          <a:xfrm>
            <a:off x="8010144" y="1874519"/>
            <a:ext cx="3611880" cy="1572768"/>
          </a:xfrm>
          <a:prstGeom prst="rect">
            <a:avLst/>
          </a:prstGeom>
        </p:spPr>
      </p:pic>
      <p:sp>
        <p:nvSpPr>
          <p:cNvPr id="14" name="Rectangle 13"/>
          <p:cNvSpPr/>
          <p:nvPr/>
        </p:nvSpPr>
        <p:spPr>
          <a:xfrm>
            <a:off x="8010144" y="1874519"/>
            <a:ext cx="3611880" cy="1572768"/>
          </a:xfrm>
          <a:prstGeom prst="rect">
            <a:avLst/>
          </a:prstGeom>
          <a:noFill/>
          <a:ln w="12700">
            <a:solidFill>
              <a:srgbClr val="E8E9EE"/>
            </a:solidFill>
          </a:ln>
          <a:effectLst/>
        </p:spPr>
        <p:txBody>
          <a:bodyPr rtlCol="0" anchor="ctr"/>
          <a:lstStyle/>
          <a:p>
            <a:pPr algn="ctr"/>
          </a:p>
        </p:txBody>
      </p:sp>
      <p:sp>
        <p:nvSpPr>
          <p:cNvPr id="15" name="TextBox 14"/>
          <p:cNvSpPr txBox="1"/>
          <p:nvPr/>
        </p:nvSpPr>
        <p:spPr>
          <a:xfrm>
            <a:off x="8010144" y="3493007"/>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Fresh markings — Guntur</a:t>
            </a:r>
          </a:p>
        </p:txBody>
      </p:sp>
      <p:pic>
        <p:nvPicPr>
          <p:cNvPr id="16" name="Picture 15" descr="iv_indore_barricade.png_3.95x1.72.jpg"/>
          <p:cNvPicPr>
            <a:picLocks noChangeAspect="1"/>
          </p:cNvPicPr>
          <p:nvPr/>
        </p:nvPicPr>
        <p:blipFill>
          <a:blip r:embed="rId5"/>
          <a:stretch>
            <a:fillRect/>
          </a:stretch>
        </p:blipFill>
        <p:spPr>
          <a:xfrm>
            <a:off x="566928" y="3904487"/>
            <a:ext cx="3611880" cy="1572768"/>
          </a:xfrm>
          <a:prstGeom prst="rect">
            <a:avLst/>
          </a:prstGeom>
        </p:spPr>
      </p:pic>
      <p:sp>
        <p:nvSpPr>
          <p:cNvPr id="17" name="Rectangle 16"/>
          <p:cNvSpPr/>
          <p:nvPr/>
        </p:nvSpPr>
        <p:spPr>
          <a:xfrm>
            <a:off x="566928" y="3904487"/>
            <a:ext cx="3611880" cy="1572768"/>
          </a:xfrm>
          <a:prstGeom prst="rect">
            <a:avLst/>
          </a:prstGeom>
          <a:noFill/>
          <a:ln w="12700">
            <a:solidFill>
              <a:srgbClr val="E8E9EE"/>
            </a:solidFill>
          </a:ln>
          <a:effectLst/>
        </p:spPr>
        <p:txBody>
          <a:bodyPr rtlCol="0" anchor="ctr"/>
          <a:lstStyle/>
          <a:p>
            <a:pPr algn="ctr"/>
          </a:p>
        </p:txBody>
      </p:sp>
      <p:sp>
        <p:nvSpPr>
          <p:cNvPr id="18" name="TextBox 17"/>
          <p:cNvSpPr txBox="1"/>
          <p:nvPr/>
        </p:nvSpPr>
        <p:spPr>
          <a:xfrm>
            <a:off x="566928" y="5522975"/>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Barricading — Indore</a:t>
            </a:r>
          </a:p>
        </p:txBody>
      </p:sp>
      <p:pic>
        <p:nvPicPr>
          <p:cNvPr id="19" name="Picture 18" descr="iv_indore_footpath.png_3.95x1.72.jpg"/>
          <p:cNvPicPr>
            <a:picLocks noChangeAspect="1"/>
          </p:cNvPicPr>
          <p:nvPr/>
        </p:nvPicPr>
        <p:blipFill>
          <a:blip r:embed="rId6"/>
          <a:stretch>
            <a:fillRect/>
          </a:stretch>
        </p:blipFill>
        <p:spPr>
          <a:xfrm>
            <a:off x="4288536" y="3904487"/>
            <a:ext cx="3611880" cy="1572768"/>
          </a:xfrm>
          <a:prstGeom prst="rect">
            <a:avLst/>
          </a:prstGeom>
        </p:spPr>
      </p:pic>
      <p:sp>
        <p:nvSpPr>
          <p:cNvPr id="20" name="Rectangle 19"/>
          <p:cNvSpPr/>
          <p:nvPr/>
        </p:nvSpPr>
        <p:spPr>
          <a:xfrm>
            <a:off x="4288536" y="3904487"/>
            <a:ext cx="3611880" cy="1572768"/>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288536" y="5522975"/>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Footpath construction — Indore</a:t>
            </a:r>
          </a:p>
        </p:txBody>
      </p:sp>
      <p:pic>
        <p:nvPicPr>
          <p:cNvPr id="22" name="Picture 21" descr="iv_mumbai_signage.png_3.95x1.72.jpg"/>
          <p:cNvPicPr>
            <a:picLocks noChangeAspect="1"/>
          </p:cNvPicPr>
          <p:nvPr/>
        </p:nvPicPr>
        <p:blipFill>
          <a:blip r:embed="rId7"/>
          <a:stretch>
            <a:fillRect/>
          </a:stretch>
        </p:blipFill>
        <p:spPr>
          <a:xfrm>
            <a:off x="8010144" y="3904487"/>
            <a:ext cx="3611880" cy="1572768"/>
          </a:xfrm>
          <a:prstGeom prst="rect">
            <a:avLst/>
          </a:prstGeom>
        </p:spPr>
      </p:pic>
      <p:sp>
        <p:nvSpPr>
          <p:cNvPr id="23" name="Rectangle 22"/>
          <p:cNvSpPr/>
          <p:nvPr/>
        </p:nvSpPr>
        <p:spPr>
          <a:xfrm>
            <a:off x="8010144" y="3904487"/>
            <a:ext cx="3611880" cy="1572768"/>
          </a:xfrm>
          <a:prstGeom prst="rect">
            <a:avLst/>
          </a:prstGeom>
          <a:noFill/>
          <a:ln w="12700">
            <a:solidFill>
              <a:srgbClr val="E8E9EE"/>
            </a:solidFill>
          </a:ln>
          <a:effectLst/>
        </p:spPr>
        <p:txBody>
          <a:bodyPr rtlCol="0" anchor="ctr"/>
          <a:lstStyle/>
          <a:p>
            <a:pPr algn="ctr"/>
          </a:p>
        </p:txBody>
      </p:sp>
      <p:sp>
        <p:nvSpPr>
          <p:cNvPr id="24" name="TextBox 23"/>
          <p:cNvSpPr txBox="1"/>
          <p:nvPr/>
        </p:nvSpPr>
        <p:spPr>
          <a:xfrm>
            <a:off x="8010144" y="5522975"/>
            <a:ext cx="36118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Signage — Mumbai</a:t>
            </a:r>
          </a:p>
        </p:txBody>
      </p:sp>
      <p:sp>
        <p:nvSpPr>
          <p:cNvPr id="25" name="Rounded Rectangle 24"/>
          <p:cNvSpPr/>
          <p:nvPr/>
        </p:nvSpPr>
        <p:spPr>
          <a:xfrm>
            <a:off x="566928" y="5806440"/>
            <a:ext cx="11057839" cy="475488"/>
          </a:xfrm>
          <a:prstGeom prst="roundRect">
            <a:avLst>
              <a:gd name="adj" fmla="val 16000"/>
            </a:avLst>
          </a:prstGeom>
          <a:solidFill>
            <a:srgbClr val="EFEDFF"/>
          </a:solidFill>
          <a:ln>
            <a:noFill/>
          </a:ln>
          <a:effectLst/>
        </p:spPr>
        <p:txBody>
          <a:bodyPr rtlCol="0" anchor="ctr"/>
          <a:lstStyle/>
          <a:p>
            <a:pPr algn="ctr"/>
          </a:p>
        </p:txBody>
      </p:sp>
      <p:sp>
        <p:nvSpPr>
          <p:cNvPr id="26" name="TextBox 25"/>
          <p:cNvSpPr txBox="1"/>
          <p:nvPr/>
        </p:nvSpPr>
        <p:spPr>
          <a:xfrm>
            <a:off x="768096" y="5870448"/>
            <a:ext cx="10646359" cy="365760"/>
          </a:xfrm>
          <a:prstGeom prst="rect">
            <a:avLst/>
          </a:prstGeom>
          <a:noFill/>
        </p:spPr>
        <p:txBody>
          <a:bodyPr wrap="square" lIns="0" rIns="0" tIns="0" bIns="0" anchor="t">
            <a:spAutoFit/>
          </a:bodyPr>
          <a:lstStyle/>
          <a:p>
            <a:pPr algn="l">
              <a:lnSpc>
                <a:spcPct val="120000"/>
              </a:lnSpc>
            </a:pPr>
            <a:r>
              <a:rPr sz="1000" b="1" i="0">
                <a:solidFill>
                  <a:srgbClr val="4A35FF"/>
                </a:solidFill>
                <a:latin typeface="Geist"/>
              </a:rPr>
              <a:t>Case: Tejaji Nagar Junction, Indore </a:t>
            </a:r>
            <a:r>
              <a:rPr sz="1000" b="0" i="0">
                <a:solidFill>
                  <a:srgbClr val="4A35FF"/>
                </a:solidFill>
                <a:latin typeface="Geist"/>
              </a:rPr>
              <a:t>— an official black spot; redesign approved by CPWD and the Additional Collector's office.</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TRANSPARENCY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public dashboard tracks </a:t>
            </a:r>
            <a:r>
              <a:rPr sz="2250" b="1" i="0">
                <a:solidFill>
                  <a:srgbClr val="4A35FF"/>
                </a:solidFill>
                <a:latin typeface="Montserrat"/>
              </a:rPr>
              <a:t>every site to completion</a:t>
            </a:r>
          </a:p>
        </p:txBody>
      </p:sp>
      <p:pic>
        <p:nvPicPr>
          <p:cNvPr id="7" name="Picture 6" descr="rakshak_dashboard_full.png"/>
          <p:cNvPicPr>
            <a:picLocks noChangeAspect="1"/>
          </p:cNvPicPr>
          <p:nvPr/>
        </p:nvPicPr>
        <p:blipFill>
          <a:blip r:embed="rId2"/>
          <a:stretch>
            <a:fillRect/>
          </a:stretch>
        </p:blipFill>
        <p:spPr>
          <a:xfrm>
            <a:off x="566928" y="1810512"/>
            <a:ext cx="6949440" cy="3087512"/>
          </a:xfrm>
          <a:prstGeom prst="rect">
            <a:avLst/>
          </a:prstGeom>
        </p:spPr>
      </p:pic>
      <p:sp>
        <p:nvSpPr>
          <p:cNvPr id="8" name="Rectangle 7"/>
          <p:cNvSpPr/>
          <p:nvPr/>
        </p:nvSpPr>
        <p:spPr>
          <a:xfrm>
            <a:off x="566928" y="1810512"/>
            <a:ext cx="6949440" cy="3087512"/>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943744"/>
            <a:ext cx="69494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public dashboard — every site, its authority, risk level and implementation stage.</a:t>
            </a:r>
          </a:p>
        </p:txBody>
      </p:sp>
      <p:sp>
        <p:nvSpPr>
          <p:cNvPr id="10" name="Oval 9"/>
          <p:cNvSpPr/>
          <p:nvPr/>
        </p:nvSpPr>
        <p:spPr>
          <a:xfrm>
            <a:off x="7818120" y="1874519"/>
            <a:ext cx="384048" cy="384048"/>
          </a:xfrm>
          <a:prstGeom prst="ellipse">
            <a:avLst/>
          </a:prstGeom>
          <a:solidFill>
            <a:srgbClr val="EFEDFF"/>
          </a:solidFill>
          <a:ln>
            <a:noFill/>
          </a:ln>
          <a:effectLst/>
        </p:spPr>
        <p:txBody>
          <a:bodyPr rtlCol="0" anchor="ctr"/>
          <a:lstStyle/>
          <a:p>
            <a:pPr algn="ctr"/>
          </a:p>
        </p:txBody>
      </p:sp>
      <p:pic>
        <p:nvPicPr>
          <p:cNvPr id="11" name="Picture 10" descr="route_4A35FF_256_2.0.png"/>
          <p:cNvPicPr>
            <a:picLocks noChangeAspect="1"/>
          </p:cNvPicPr>
          <p:nvPr/>
        </p:nvPicPr>
        <p:blipFill>
          <a:blip r:embed="rId3"/>
          <a:stretch>
            <a:fillRect/>
          </a:stretch>
        </p:blipFill>
        <p:spPr>
          <a:xfrm>
            <a:off x="7910291" y="1966690"/>
            <a:ext cx="199704" cy="199704"/>
          </a:xfrm>
          <a:prstGeom prst="rect">
            <a:avLst/>
          </a:prstGeom>
        </p:spPr>
      </p:pic>
      <p:sp>
        <p:nvSpPr>
          <p:cNvPr id="12" name="TextBox 11"/>
          <p:cNvSpPr txBox="1"/>
          <p:nvPr/>
        </p:nvSpPr>
        <p:spPr>
          <a:xfrm>
            <a:off x="8348472" y="18470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Every site tracked</a:t>
            </a:r>
          </a:p>
        </p:txBody>
      </p:sp>
      <p:sp>
        <p:nvSpPr>
          <p:cNvPr id="13" name="TextBox 12"/>
          <p:cNvSpPr txBox="1"/>
          <p:nvPr/>
        </p:nvSpPr>
        <p:spPr>
          <a:xfrm>
            <a:off x="8348472" y="21488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From submission through approval to completed construction — regardless of who audited it.</a:t>
            </a:r>
          </a:p>
        </p:txBody>
      </p:sp>
      <p:sp>
        <p:nvSpPr>
          <p:cNvPr id="14" name="Oval 13"/>
          <p:cNvSpPr/>
          <p:nvPr/>
        </p:nvSpPr>
        <p:spPr>
          <a:xfrm>
            <a:off x="7818120" y="3246119"/>
            <a:ext cx="384048" cy="384048"/>
          </a:xfrm>
          <a:prstGeom prst="ellipse">
            <a:avLst/>
          </a:prstGeom>
          <a:solidFill>
            <a:srgbClr val="E7F4F4"/>
          </a:solidFill>
          <a:ln>
            <a:noFill/>
          </a:ln>
          <a:effectLst/>
        </p:spPr>
        <p:txBody>
          <a:bodyPr rtlCol="0" anchor="ctr"/>
          <a:lstStyle/>
          <a:p>
            <a:pPr algn="ctr"/>
          </a:p>
        </p:txBody>
      </p:sp>
      <p:pic>
        <p:nvPicPr>
          <p:cNvPr id="15" name="Picture 14" descr="git-compare_0E8A8A_256_2.0.png"/>
          <p:cNvPicPr>
            <a:picLocks noChangeAspect="1"/>
          </p:cNvPicPr>
          <p:nvPr/>
        </p:nvPicPr>
        <p:blipFill>
          <a:blip r:embed="rId4"/>
          <a:stretch>
            <a:fillRect/>
          </a:stretch>
        </p:blipFill>
        <p:spPr>
          <a:xfrm>
            <a:off x="7910291" y="3338290"/>
            <a:ext cx="199704" cy="199704"/>
          </a:xfrm>
          <a:prstGeom prst="rect">
            <a:avLst/>
          </a:prstGeom>
        </p:spPr>
      </p:pic>
      <p:sp>
        <p:nvSpPr>
          <p:cNvPr id="16" name="TextBox 15"/>
          <p:cNvSpPr txBox="1"/>
          <p:nvPr/>
        </p:nvSpPr>
        <p:spPr>
          <a:xfrm>
            <a:off x="8348472" y="32186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The PRAGATI parallel</a:t>
            </a:r>
          </a:p>
        </p:txBody>
      </p:sp>
      <p:sp>
        <p:nvSpPr>
          <p:cNvPr id="17" name="TextBox 16"/>
          <p:cNvSpPr txBox="1"/>
          <p:nvPr/>
        </p:nvSpPr>
        <p:spPr>
          <a:xfrm>
            <a:off x="8348472" y="35204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PM's PRAGATI platform showed what visible follow-up does for stuck projects. Same principle here, for road safety fixes.</a:t>
            </a:r>
          </a:p>
        </p:txBody>
      </p:sp>
      <p:sp>
        <p:nvSpPr>
          <p:cNvPr id="18" name="Oval 17"/>
          <p:cNvSpPr/>
          <p:nvPr/>
        </p:nvSpPr>
        <p:spPr>
          <a:xfrm>
            <a:off x="7818120" y="4617719"/>
            <a:ext cx="384048" cy="384048"/>
          </a:xfrm>
          <a:prstGeom prst="ellipse">
            <a:avLst/>
          </a:prstGeom>
          <a:solidFill>
            <a:srgbClr val="E9F7F0"/>
          </a:solidFill>
          <a:ln>
            <a:noFill/>
          </a:ln>
          <a:effectLst/>
        </p:spPr>
        <p:txBody>
          <a:bodyPr rtlCol="0" anchor="ctr"/>
          <a:lstStyle/>
          <a:p>
            <a:pPr algn="ctr"/>
          </a:p>
        </p:txBody>
      </p:sp>
      <p:pic>
        <p:nvPicPr>
          <p:cNvPr id="19" name="Picture 18" descr="eye_0A9955_256_2.0.png"/>
          <p:cNvPicPr>
            <a:picLocks noChangeAspect="1"/>
          </p:cNvPicPr>
          <p:nvPr/>
        </p:nvPicPr>
        <p:blipFill>
          <a:blip r:embed="rId5"/>
          <a:stretch>
            <a:fillRect/>
          </a:stretch>
        </p:blipFill>
        <p:spPr>
          <a:xfrm>
            <a:off x="7910291" y="4709890"/>
            <a:ext cx="199704" cy="199704"/>
          </a:xfrm>
          <a:prstGeom prst="rect">
            <a:avLst/>
          </a:prstGeom>
        </p:spPr>
      </p:pic>
      <p:sp>
        <p:nvSpPr>
          <p:cNvPr id="20" name="TextBox 19"/>
          <p:cNvSpPr txBox="1"/>
          <p:nvPr/>
        </p:nvSpPr>
        <p:spPr>
          <a:xfrm>
            <a:off x="8348472" y="4590287"/>
            <a:ext cx="329184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the Board gains</a:t>
            </a:r>
          </a:p>
        </p:txBody>
      </p:sp>
      <p:sp>
        <p:nvSpPr>
          <p:cNvPr id="21" name="TextBox 20"/>
          <p:cNvSpPr txBox="1"/>
          <p:nvPr/>
        </p:nvSpPr>
        <p:spPr>
          <a:xfrm>
            <a:off x="8348472" y="4892039"/>
            <a:ext cx="329184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An honest, live read on how quickly road-owning agencies can act — evidence for capacity planning, not just compliance.</a:t>
            </a:r>
          </a:p>
        </p:txBody>
      </p:sp>
      <p:cxnSp>
        <p:nvCxnSpPr>
          <p:cNvPr id="22" name="Connector 21"/>
          <p:cNvCxnSpPr/>
          <p:nvPr/>
        </p:nvCxnSpPr>
        <p:spPr>
          <a:xfrm>
            <a:off x="566928" y="6455664"/>
            <a:ext cx="11057839" cy="0"/>
          </a:xfrm>
          <a:prstGeom prst="line">
            <a:avLst/>
          </a:prstGeom>
          <a:ln w="9525">
            <a:solidFill>
              <a:srgbClr val="E8E9EE"/>
            </a:solidFill>
          </a:ln>
          <a:effectLst/>
        </p:spPr>
      </p:cxnSp>
      <p:sp>
        <p:nvSpPr>
          <p:cNvPr id="23" name="TextBox 2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24" name="TextBox 2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METHOD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Anchored to the codes </a:t>
            </a:r>
            <a:r>
              <a:rPr sz="2250" b="1" i="0">
                <a:solidFill>
                  <a:srgbClr val="4A35FF"/>
                </a:solidFill>
                <a:latin typeface="Montserrat"/>
              </a:rPr>
              <a:t>your engineers already use</a:t>
            </a:r>
          </a:p>
        </p:txBody>
      </p:sp>
      <p:sp>
        <p:nvSpPr>
          <p:cNvPr id="7" name="Oval 6"/>
          <p:cNvSpPr/>
          <p:nvPr/>
        </p:nvSpPr>
        <p:spPr>
          <a:xfrm>
            <a:off x="566928" y="1920240"/>
            <a:ext cx="365760" cy="365760"/>
          </a:xfrm>
          <a:prstGeom prst="ellipse">
            <a:avLst/>
          </a:prstGeom>
          <a:solidFill>
            <a:srgbClr val="EFEDFF"/>
          </a:solidFill>
          <a:ln>
            <a:noFill/>
          </a:ln>
          <a:effectLst/>
        </p:spPr>
        <p:txBody>
          <a:bodyPr rtlCol="0" anchor="ctr"/>
          <a:lstStyle/>
          <a:p>
            <a:pPr algn="ctr"/>
          </a:p>
        </p:txBody>
      </p:sp>
      <p:pic>
        <p:nvPicPr>
          <p:cNvPr id="8" name="Picture 7" descr="book-check_4A35FF_256_2.0.png"/>
          <p:cNvPicPr>
            <a:picLocks noChangeAspect="1"/>
          </p:cNvPicPr>
          <p:nvPr/>
        </p:nvPicPr>
        <p:blipFill>
          <a:blip r:embed="rId2"/>
          <a:stretch>
            <a:fillRect/>
          </a:stretch>
        </p:blipFill>
        <p:spPr>
          <a:xfrm>
            <a:off x="654710" y="2008022"/>
            <a:ext cx="190195" cy="190195"/>
          </a:xfrm>
          <a:prstGeom prst="rect">
            <a:avLst/>
          </a:prstGeom>
        </p:spPr>
      </p:pic>
      <p:sp>
        <p:nvSpPr>
          <p:cNvPr id="9" name="TextBox 8"/>
          <p:cNvSpPr txBox="1"/>
          <p:nvPr/>
        </p:nvSpPr>
        <p:spPr>
          <a:xfrm>
            <a:off x="1097280" y="1901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IRC codes &amp; MoRTH checklists</a:t>
            </a:r>
          </a:p>
        </p:txBody>
      </p:sp>
      <p:sp>
        <p:nvSpPr>
          <p:cNvPr id="10" name="TextBox 9"/>
          <p:cNvSpPr txBox="1"/>
          <p:nvPr/>
        </p:nvSpPr>
        <p:spPr>
          <a:xfrm>
            <a:off x="3566160" y="190195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Every audit instrument is built on them — nothing bespoke, nothing incompatible.</a:t>
            </a:r>
          </a:p>
        </p:txBody>
      </p:sp>
      <p:sp>
        <p:nvSpPr>
          <p:cNvPr id="11" name="Oval 10"/>
          <p:cNvSpPr/>
          <p:nvPr/>
        </p:nvSpPr>
        <p:spPr>
          <a:xfrm>
            <a:off x="566928" y="2788920"/>
            <a:ext cx="365760" cy="365760"/>
          </a:xfrm>
          <a:prstGeom prst="ellipse">
            <a:avLst/>
          </a:prstGeom>
          <a:solidFill>
            <a:srgbClr val="E9F7F0"/>
          </a:solidFill>
          <a:ln>
            <a:noFill/>
          </a:ln>
          <a:effectLst/>
        </p:spPr>
        <p:txBody>
          <a:bodyPr rtlCol="0" anchor="ctr"/>
          <a:lstStyle/>
          <a:p>
            <a:pPr algn="ctr"/>
          </a:p>
        </p:txBody>
      </p:sp>
      <p:pic>
        <p:nvPicPr>
          <p:cNvPr id="12" name="Picture 11" descr="link_0A9955_256_2.0.png"/>
          <p:cNvPicPr>
            <a:picLocks noChangeAspect="1"/>
          </p:cNvPicPr>
          <p:nvPr/>
        </p:nvPicPr>
        <p:blipFill>
          <a:blip r:embed="rId3"/>
          <a:stretch>
            <a:fillRect/>
          </a:stretch>
        </p:blipFill>
        <p:spPr>
          <a:xfrm>
            <a:off x="654710" y="2876702"/>
            <a:ext cx="190195" cy="190195"/>
          </a:xfrm>
          <a:prstGeom prst="rect">
            <a:avLst/>
          </a:prstGeom>
        </p:spPr>
      </p:pic>
      <p:sp>
        <p:nvSpPr>
          <p:cNvPr id="13" name="TextBox 12"/>
          <p:cNvSpPr txBox="1"/>
          <p:nvPr/>
        </p:nvSpPr>
        <p:spPr>
          <a:xfrm>
            <a:off x="1097280" y="27706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line into IRC H-7</a:t>
            </a:r>
          </a:p>
        </p:txBody>
      </p:sp>
      <p:sp>
        <p:nvSpPr>
          <p:cNvPr id="14" name="TextBox 13"/>
          <p:cNvSpPr txBox="1"/>
          <p:nvPr/>
        </p:nvSpPr>
        <p:spPr>
          <a:xfrm>
            <a:off x="3566160" y="277063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Geetam Tiwari, member of the IRC H-7 Committee on Road Safety Audit, chairs our advisory work.</a:t>
            </a:r>
          </a:p>
        </p:txBody>
      </p:sp>
      <p:sp>
        <p:nvSpPr>
          <p:cNvPr id="15" name="Oval 14"/>
          <p:cNvSpPr/>
          <p:nvPr/>
        </p:nvSpPr>
        <p:spPr>
          <a:xfrm>
            <a:off x="566928" y="3657600"/>
            <a:ext cx="365760" cy="365760"/>
          </a:xfrm>
          <a:prstGeom prst="ellipse">
            <a:avLst/>
          </a:prstGeom>
          <a:solidFill>
            <a:srgbClr val="FDF3E3"/>
          </a:solidFill>
          <a:ln>
            <a:noFill/>
          </a:ln>
          <a:effectLst/>
        </p:spPr>
        <p:txBody>
          <a:bodyPr rtlCol="0" anchor="ctr"/>
          <a:lstStyle/>
          <a:p>
            <a:pPr algn="ctr"/>
          </a:p>
        </p:txBody>
      </p:sp>
      <p:pic>
        <p:nvPicPr>
          <p:cNvPr id="16" name="Picture 15" descr="graduation-cap_E58900_256_2.0.png"/>
          <p:cNvPicPr>
            <a:picLocks noChangeAspect="1"/>
          </p:cNvPicPr>
          <p:nvPr/>
        </p:nvPicPr>
        <p:blipFill>
          <a:blip r:embed="rId4"/>
          <a:stretch>
            <a:fillRect/>
          </a:stretch>
        </p:blipFill>
        <p:spPr>
          <a:xfrm>
            <a:off x="654710" y="3745382"/>
            <a:ext cx="190195" cy="190195"/>
          </a:xfrm>
          <a:prstGeom prst="rect">
            <a:avLst/>
          </a:prstGeom>
        </p:spPr>
      </p:pic>
      <p:sp>
        <p:nvSpPr>
          <p:cNvPr id="17" name="TextBox 16"/>
          <p:cNvSpPr txBox="1"/>
          <p:nvPr/>
        </p:nvSpPr>
        <p:spPr>
          <a:xfrm>
            <a:off x="1097280" y="3639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Masterclasses before fieldwork</a:t>
            </a:r>
          </a:p>
        </p:txBody>
      </p:sp>
      <p:sp>
        <p:nvSpPr>
          <p:cNvPr id="18" name="TextBox 17"/>
          <p:cNvSpPr txBox="1"/>
          <p:nvPr/>
        </p:nvSpPr>
        <p:spPr>
          <a:xfrm>
            <a:off x="3566160" y="3639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Prof. Tiwari on the Safe System approach; Dr. S. Velmurugan (CSIR-CRRI) on IRC-131 and SP-55.</a:t>
            </a:r>
          </a:p>
        </p:txBody>
      </p:sp>
      <p:sp>
        <p:nvSpPr>
          <p:cNvPr id="19" name="Oval 18"/>
          <p:cNvSpPr/>
          <p:nvPr/>
        </p:nvSpPr>
        <p:spPr>
          <a:xfrm>
            <a:off x="566928" y="4526280"/>
            <a:ext cx="365760" cy="365760"/>
          </a:xfrm>
          <a:prstGeom prst="ellipse">
            <a:avLst/>
          </a:prstGeom>
          <a:solidFill>
            <a:srgbClr val="E7F4F4"/>
          </a:solidFill>
          <a:ln>
            <a:noFill/>
          </a:ln>
          <a:effectLst/>
        </p:spPr>
        <p:txBody>
          <a:bodyPr rtlCol="0" anchor="ctr"/>
          <a:lstStyle/>
          <a:p>
            <a:pPr algn="ctr"/>
          </a:p>
        </p:txBody>
      </p:sp>
      <p:pic>
        <p:nvPicPr>
          <p:cNvPr id="20" name="Picture 19" descr="file-output_0E8A8A_256_2.0.png"/>
          <p:cNvPicPr>
            <a:picLocks noChangeAspect="1"/>
          </p:cNvPicPr>
          <p:nvPr/>
        </p:nvPicPr>
        <p:blipFill>
          <a:blip r:embed="rId5"/>
          <a:stretch>
            <a:fillRect/>
          </a:stretch>
        </p:blipFill>
        <p:spPr>
          <a:xfrm>
            <a:off x="654710" y="4614062"/>
            <a:ext cx="190195" cy="190195"/>
          </a:xfrm>
          <a:prstGeom prst="rect">
            <a:avLst/>
          </a:prstGeom>
        </p:spPr>
      </p:pic>
      <p:sp>
        <p:nvSpPr>
          <p:cNvPr id="21" name="TextBox 20"/>
          <p:cNvSpPr txBox="1"/>
          <p:nvPr/>
        </p:nvSpPr>
        <p:spPr>
          <a:xfrm>
            <a:off x="1097280" y="45079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Handover in the authority's format</a:t>
            </a:r>
          </a:p>
        </p:txBody>
      </p:sp>
      <p:sp>
        <p:nvSpPr>
          <p:cNvPr id="22" name="TextBox 21"/>
          <p:cNvSpPr txBox="1"/>
          <p:nvPr/>
        </p:nvSpPr>
        <p:spPr>
          <a:xfrm>
            <a:off x="3566160" y="450799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Findings arrive as the PWD or corporation needs them — ready to action, tracked publicly after.</a:t>
            </a:r>
          </a:p>
        </p:txBody>
      </p:sp>
      <p:pic>
        <p:nvPicPr>
          <p:cNvPr id="23" name="Picture 22" descr="ph_meeting_official.jpg_4.20x2.60.jpg"/>
          <p:cNvPicPr>
            <a:picLocks noChangeAspect="1"/>
          </p:cNvPicPr>
          <p:nvPr/>
        </p:nvPicPr>
        <p:blipFill>
          <a:blip r:embed="rId6"/>
          <a:stretch>
            <a:fillRect/>
          </a:stretch>
        </p:blipFill>
        <p:spPr>
          <a:xfrm>
            <a:off x="7772400" y="1920240"/>
            <a:ext cx="3840480" cy="2377440"/>
          </a:xfrm>
          <a:prstGeom prst="rect">
            <a:avLst/>
          </a:prstGeom>
        </p:spPr>
      </p:pic>
      <p:sp>
        <p:nvSpPr>
          <p:cNvPr id="24" name="Rectangle 23"/>
          <p:cNvSpPr/>
          <p:nvPr/>
        </p:nvSpPr>
        <p:spPr>
          <a:xfrm>
            <a:off x="7772400" y="1920240"/>
            <a:ext cx="3840480" cy="23774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34340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Mentor and authority engagement is continuous — not a one-time submission.</a:t>
            </a:r>
          </a:p>
        </p:txBody>
      </p:sp>
      <p:pic>
        <p:nvPicPr>
          <p:cNvPr id="26" name="Picture 25" descr="iv_mumbai_signage.png_4.20x1.45.jpg"/>
          <p:cNvPicPr>
            <a:picLocks noChangeAspect="1"/>
          </p:cNvPicPr>
          <p:nvPr/>
        </p:nvPicPr>
        <p:blipFill>
          <a:blip r:embed="rId7"/>
          <a:stretch>
            <a:fillRect/>
          </a:stretch>
        </p:blipFill>
        <p:spPr>
          <a:xfrm>
            <a:off x="7772400" y="4709160"/>
            <a:ext cx="3840480" cy="1325880"/>
          </a:xfrm>
          <a:prstGeom prst="rect">
            <a:avLst/>
          </a:prstGeom>
        </p:spPr>
      </p:pic>
      <p:sp>
        <p:nvSpPr>
          <p:cNvPr id="27" name="Rectangle 26"/>
          <p:cNvSpPr/>
          <p:nvPr/>
        </p:nvSpPr>
        <p:spPr>
          <a:xfrm>
            <a:off x="7772400" y="4709160"/>
            <a:ext cx="3840480" cy="132588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PROJECT RAKSHAK — THE LONG VIEW</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Built to be </a:t>
            </a:r>
            <a:r>
              <a:rPr sz="2250" b="1" i="0">
                <a:solidFill>
                  <a:srgbClr val="4A35FF"/>
                </a:solidFill>
                <a:latin typeface="Montserrat"/>
              </a:rPr>
              <a:t>institutionalised</a:t>
            </a:r>
            <a:r>
              <a:rPr sz="2250" b="1" i="0">
                <a:solidFill>
                  <a:srgbClr val="16181D"/>
                </a:solidFill>
                <a:latin typeface="Montserrat"/>
              </a:rPr>
              <a:t> — not to depend on us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Three audit tracks matched to road types, and a role for CFI that narrows over time.</a:t>
            </a:r>
          </a:p>
        </p:txBody>
      </p:sp>
      <p:sp>
        <p:nvSpPr>
          <p:cNvPr id="8" name="Rounded Rectangle 7"/>
          <p:cNvSpPr/>
          <p:nvPr/>
        </p:nvSpPr>
        <p:spPr>
          <a:xfrm>
            <a:off x="566928"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9" name="Rectangle 8"/>
          <p:cNvSpPr/>
          <p:nvPr/>
        </p:nvSpPr>
        <p:spPr>
          <a:xfrm>
            <a:off x="566928" y="2103120"/>
            <a:ext cx="3611880" cy="384048"/>
          </a:xfrm>
          <a:prstGeom prst="rect">
            <a:avLst/>
          </a:prstGeom>
          <a:solidFill>
            <a:srgbClr val="EFEDFF"/>
          </a:solidFill>
          <a:ln>
            <a:noFill/>
          </a:ln>
          <a:effectLst/>
        </p:spPr>
        <p:txBody>
          <a:bodyPr rtlCol="0" anchor="ctr"/>
          <a:lstStyle/>
          <a:p>
            <a:pPr algn="ctr"/>
          </a:p>
        </p:txBody>
      </p:sp>
      <p:sp>
        <p:nvSpPr>
          <p:cNvPr id="10" name="TextBox 9"/>
          <p:cNvSpPr txBox="1"/>
          <p:nvPr/>
        </p:nvSpPr>
        <p:spPr>
          <a:xfrm>
            <a:off x="713232" y="2167128"/>
            <a:ext cx="33375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Track A — Institutional</a:t>
            </a:r>
          </a:p>
        </p:txBody>
      </p:sp>
      <p:sp>
        <p:nvSpPr>
          <p:cNvPr id="11" name="TextBox 10"/>
          <p:cNvSpPr txBox="1"/>
          <p:nvPr/>
        </p:nvSpPr>
        <p:spPr>
          <a:xfrm>
            <a:off x="713232"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IIT / NIT / SPA teams under expert mentors</a:t>
            </a:r>
          </a:p>
        </p:txBody>
      </p:sp>
      <p:sp>
        <p:nvSpPr>
          <p:cNvPr id="12" name="TextBox 11"/>
          <p:cNvSpPr txBox="1"/>
          <p:nvPr/>
        </p:nvSpPr>
        <p:spPr>
          <a:xfrm>
            <a:off x="713232"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Urban arterials, in-town state highways, district roads</a:t>
            </a:r>
          </a:p>
        </p:txBody>
      </p:sp>
      <p:sp>
        <p:nvSpPr>
          <p:cNvPr id="13" name="Rounded Rectangle 12"/>
          <p:cNvSpPr/>
          <p:nvPr/>
        </p:nvSpPr>
        <p:spPr>
          <a:xfrm>
            <a:off x="4288536"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4" name="Rectangle 13"/>
          <p:cNvSpPr/>
          <p:nvPr/>
        </p:nvSpPr>
        <p:spPr>
          <a:xfrm>
            <a:off x="4288536" y="2103120"/>
            <a:ext cx="3611880" cy="384048"/>
          </a:xfrm>
          <a:prstGeom prst="rect">
            <a:avLst/>
          </a:prstGeom>
          <a:solidFill>
            <a:srgbClr val="E7F4F4"/>
          </a:solidFill>
          <a:ln>
            <a:noFill/>
          </a:ln>
          <a:effectLst/>
        </p:spPr>
        <p:txBody>
          <a:bodyPr rtlCol="0" anchor="ctr"/>
          <a:lstStyle/>
          <a:p>
            <a:pPr algn="ctr"/>
          </a:p>
        </p:txBody>
      </p:sp>
      <p:sp>
        <p:nvSpPr>
          <p:cNvPr id="15" name="TextBox 14"/>
          <p:cNvSpPr txBox="1"/>
          <p:nvPr/>
        </p:nvSpPr>
        <p:spPr>
          <a:xfrm>
            <a:off x="4434840" y="2167128"/>
            <a:ext cx="3337560" cy="274320"/>
          </a:xfrm>
          <a:prstGeom prst="rect">
            <a:avLst/>
          </a:prstGeom>
          <a:noFill/>
        </p:spPr>
        <p:txBody>
          <a:bodyPr wrap="square" lIns="0" rIns="0" tIns="0" bIns="0" anchor="t">
            <a:spAutoFit/>
          </a:bodyPr>
          <a:lstStyle/>
          <a:p>
            <a:pPr algn="l">
              <a:lnSpc>
                <a:spcPct val="128000"/>
              </a:lnSpc>
            </a:pPr>
            <a:r>
              <a:rPr sz="1100" b="1" i="0">
                <a:solidFill>
                  <a:srgbClr val="0E8A8A"/>
                </a:solidFill>
                <a:latin typeface="Montserrat"/>
              </a:rPr>
              <a:t>Track B — NGO partners</a:t>
            </a:r>
          </a:p>
        </p:txBody>
      </p:sp>
      <p:sp>
        <p:nvSpPr>
          <p:cNvPr id="16" name="TextBox 15"/>
          <p:cNvSpPr txBox="1"/>
          <p:nvPr/>
        </p:nvSpPr>
        <p:spPr>
          <a:xfrm>
            <a:off x="4434840"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Field teams; desk-reviewed and re-verified by CFI</a:t>
            </a:r>
          </a:p>
        </p:txBody>
      </p:sp>
      <p:sp>
        <p:nvSpPr>
          <p:cNvPr id="17" name="TextBox 16"/>
          <p:cNvSpPr txBox="1"/>
          <p:nvPr/>
        </p:nvSpPr>
        <p:spPr>
          <a:xfrm>
            <a:off x="4434840"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District &amp; peri-urban corridors</a:t>
            </a:r>
          </a:p>
        </p:txBody>
      </p:sp>
      <p:sp>
        <p:nvSpPr>
          <p:cNvPr id="18" name="Rounded Rectangle 17"/>
          <p:cNvSpPr/>
          <p:nvPr/>
        </p:nvSpPr>
        <p:spPr>
          <a:xfrm>
            <a:off x="8010144" y="2103120"/>
            <a:ext cx="3611880" cy="1600200"/>
          </a:xfrm>
          <a:prstGeom prst="roundRect">
            <a:avLst>
              <a:gd name="adj" fmla="val 8000"/>
            </a:avLst>
          </a:prstGeom>
          <a:solidFill>
            <a:srgbClr val="F7F7FA"/>
          </a:solidFill>
          <a:ln>
            <a:noFill/>
          </a:ln>
          <a:effectLst/>
        </p:spPr>
        <p:txBody>
          <a:bodyPr rtlCol="0" anchor="ctr"/>
          <a:lstStyle/>
          <a:p>
            <a:pPr algn="ctr"/>
          </a:p>
        </p:txBody>
      </p:sp>
      <p:sp>
        <p:nvSpPr>
          <p:cNvPr id="19" name="Rectangle 18"/>
          <p:cNvSpPr/>
          <p:nvPr/>
        </p:nvSpPr>
        <p:spPr>
          <a:xfrm>
            <a:off x="8010144" y="2103120"/>
            <a:ext cx="3611880" cy="384048"/>
          </a:xfrm>
          <a:prstGeom prst="rect">
            <a:avLst/>
          </a:prstGeom>
          <a:solidFill>
            <a:srgbClr val="FDF3E3"/>
          </a:solidFill>
          <a:ln>
            <a:noFill/>
          </a:ln>
          <a:effectLst/>
        </p:spPr>
        <p:txBody>
          <a:bodyPr rtlCol="0" anchor="ctr"/>
          <a:lstStyle/>
          <a:p>
            <a:pPr algn="ctr"/>
          </a:p>
        </p:txBody>
      </p:sp>
      <p:sp>
        <p:nvSpPr>
          <p:cNvPr id="20" name="TextBox 19"/>
          <p:cNvSpPr txBox="1"/>
          <p:nvPr/>
        </p:nvSpPr>
        <p:spPr>
          <a:xfrm>
            <a:off x="8156448" y="2167128"/>
            <a:ext cx="3337560" cy="274320"/>
          </a:xfrm>
          <a:prstGeom prst="rect">
            <a:avLst/>
          </a:prstGeom>
          <a:noFill/>
        </p:spPr>
        <p:txBody>
          <a:bodyPr wrap="square" lIns="0" rIns="0" tIns="0" bIns="0" anchor="t">
            <a:spAutoFit/>
          </a:bodyPr>
          <a:lstStyle/>
          <a:p>
            <a:pPr algn="l">
              <a:lnSpc>
                <a:spcPct val="128000"/>
              </a:lnSpc>
            </a:pPr>
            <a:r>
              <a:rPr sz="1100" b="1" i="0">
                <a:solidFill>
                  <a:srgbClr val="E58900"/>
                </a:solidFill>
                <a:latin typeface="Montserrat"/>
              </a:rPr>
              <a:t>Track C — Certified RSAs</a:t>
            </a:r>
          </a:p>
        </p:txBody>
      </p:sp>
      <p:sp>
        <p:nvSpPr>
          <p:cNvPr id="21" name="TextBox 20"/>
          <p:cNvSpPr txBox="1"/>
          <p:nvPr/>
        </p:nvSpPr>
        <p:spPr>
          <a:xfrm>
            <a:off x="8156448" y="2578608"/>
            <a:ext cx="3319272" cy="548640"/>
          </a:xfrm>
          <a:prstGeom prst="rect">
            <a:avLst/>
          </a:prstGeom>
          <a:noFill/>
        </p:spPr>
        <p:txBody>
          <a:bodyPr wrap="square" lIns="0" rIns="0" tIns="0" bIns="0" anchor="t">
            <a:spAutoFit/>
          </a:bodyPr>
          <a:lstStyle/>
          <a:p>
            <a:pPr algn="l">
              <a:lnSpc>
                <a:spcPct val="125000"/>
              </a:lnSpc>
            </a:pPr>
            <a:r>
              <a:rPr sz="950" b="0" i="0">
                <a:solidFill>
                  <a:srgbClr val="16181D"/>
                </a:solidFill>
                <a:latin typeface="Geist"/>
              </a:rPr>
              <a:t>CSIR-CRRI-certified auditors, full IRC SP-88</a:t>
            </a:r>
          </a:p>
        </p:txBody>
      </p:sp>
      <p:sp>
        <p:nvSpPr>
          <p:cNvPr id="22" name="TextBox 21"/>
          <p:cNvSpPr txBox="1"/>
          <p:nvPr/>
        </p:nvSpPr>
        <p:spPr>
          <a:xfrm>
            <a:off x="8156448" y="3182112"/>
            <a:ext cx="3319272"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National highways, complex junctions</a:t>
            </a:r>
          </a:p>
        </p:txBody>
      </p:sp>
      <p:sp>
        <p:nvSpPr>
          <p:cNvPr id="23" name="Rounded Rectangle 22"/>
          <p:cNvSpPr/>
          <p:nvPr/>
        </p:nvSpPr>
        <p:spPr>
          <a:xfrm>
            <a:off x="566928" y="4069080"/>
            <a:ext cx="1234440" cy="457200"/>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585216" y="4069080"/>
            <a:ext cx="1197864" cy="457200"/>
          </a:xfrm>
          <a:prstGeom prst="rect">
            <a:avLst/>
          </a:prstGeom>
          <a:noFill/>
        </p:spPr>
        <p:txBody>
          <a:bodyPr wrap="square" lIns="0" rIns="0" tIns="0" bIns="0" anchor="ctr">
            <a:spAutoFit/>
          </a:bodyPr>
          <a:lstStyle/>
          <a:p>
            <a:pPr algn="ctr">
              <a:lnSpc>
                <a:spcPct val="100000"/>
              </a:lnSpc>
            </a:pPr>
            <a:r>
              <a:rPr sz="1000" b="1" i="0">
                <a:solidFill>
                  <a:srgbClr val="4A35FF"/>
                </a:solidFill>
                <a:latin typeface="Montserrat"/>
              </a:rPr>
              <a:t>Today</a:t>
            </a:r>
          </a:p>
        </p:txBody>
      </p:sp>
      <p:sp>
        <p:nvSpPr>
          <p:cNvPr id="25" name="TextBox 24"/>
          <p:cNvSpPr txBox="1"/>
          <p:nvPr/>
        </p:nvSpPr>
        <p:spPr>
          <a:xfrm>
            <a:off x="1984248" y="4114800"/>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CFI runs cohorts, quality-controls audits and stewards the public portal.</a:t>
            </a:r>
          </a:p>
        </p:txBody>
      </p:sp>
      <p:sp>
        <p:nvSpPr>
          <p:cNvPr id="26" name="Rounded Rectangle 25"/>
          <p:cNvSpPr/>
          <p:nvPr/>
        </p:nvSpPr>
        <p:spPr>
          <a:xfrm>
            <a:off x="566928" y="4727448"/>
            <a:ext cx="1234440" cy="45720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585216" y="4727448"/>
            <a:ext cx="1197864" cy="457200"/>
          </a:xfrm>
          <a:prstGeom prst="rect">
            <a:avLst/>
          </a:prstGeom>
          <a:noFill/>
        </p:spPr>
        <p:txBody>
          <a:bodyPr wrap="square" lIns="0" rIns="0" tIns="0" bIns="0" anchor="ctr">
            <a:spAutoFit/>
          </a:bodyPr>
          <a:lstStyle/>
          <a:p>
            <a:pPr algn="ctr">
              <a:lnSpc>
                <a:spcPct val="100000"/>
              </a:lnSpc>
            </a:pPr>
            <a:r>
              <a:rPr sz="1000" b="1" i="0">
                <a:solidFill>
                  <a:srgbClr val="0E8A8A"/>
                </a:solidFill>
                <a:latin typeface="Montserrat"/>
              </a:rPr>
              <a:t>Next</a:t>
            </a:r>
          </a:p>
        </p:txBody>
      </p:sp>
      <p:sp>
        <p:nvSpPr>
          <p:cNvPr id="28" name="TextBox 27"/>
          <p:cNvSpPr txBox="1"/>
          <p:nvPr/>
        </p:nvSpPr>
        <p:spPr>
          <a:xfrm>
            <a:off x="1984248" y="4773168"/>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Rakshak Audit Manual v1.0 codifies the method; universities field their own teams; NGOs run Track B directly.</a:t>
            </a:r>
          </a:p>
        </p:txBody>
      </p:sp>
      <p:sp>
        <p:nvSpPr>
          <p:cNvPr id="29" name="Rounded Rectangle 28"/>
          <p:cNvSpPr/>
          <p:nvPr/>
        </p:nvSpPr>
        <p:spPr>
          <a:xfrm>
            <a:off x="566928" y="5385816"/>
            <a:ext cx="1234440" cy="457200"/>
          </a:xfrm>
          <a:prstGeom prst="roundRect">
            <a:avLst>
              <a:gd name="adj" fmla="val 50000"/>
            </a:avLst>
          </a:prstGeom>
          <a:solidFill>
            <a:srgbClr val="F7F7FA"/>
          </a:solidFill>
          <a:ln>
            <a:noFill/>
          </a:ln>
          <a:effectLst/>
        </p:spPr>
        <p:txBody>
          <a:bodyPr rtlCol="0" anchor="ctr"/>
          <a:lstStyle/>
          <a:p>
            <a:pPr algn="ctr"/>
          </a:p>
        </p:txBody>
      </p:sp>
      <p:sp>
        <p:nvSpPr>
          <p:cNvPr id="30" name="TextBox 29"/>
          <p:cNvSpPr txBox="1"/>
          <p:nvPr/>
        </p:nvSpPr>
        <p:spPr>
          <a:xfrm>
            <a:off x="585216" y="5385816"/>
            <a:ext cx="1197864" cy="457200"/>
          </a:xfrm>
          <a:prstGeom prst="rect">
            <a:avLst/>
          </a:prstGeom>
          <a:noFill/>
        </p:spPr>
        <p:txBody>
          <a:bodyPr wrap="square" lIns="0" rIns="0" tIns="0" bIns="0" anchor="ctr">
            <a:spAutoFit/>
          </a:bodyPr>
          <a:lstStyle/>
          <a:p>
            <a:pPr algn="ctr">
              <a:lnSpc>
                <a:spcPct val="100000"/>
              </a:lnSpc>
            </a:pPr>
            <a:r>
              <a:rPr sz="1000" b="1" i="0">
                <a:solidFill>
                  <a:srgbClr val="0A9955"/>
                </a:solidFill>
                <a:latin typeface="Montserrat"/>
              </a:rPr>
              <a:t>Mature</a:t>
            </a:r>
          </a:p>
        </p:txBody>
      </p:sp>
      <p:sp>
        <p:nvSpPr>
          <p:cNvPr id="31" name="TextBox 30"/>
          <p:cNvSpPr txBox="1"/>
          <p:nvPr/>
        </p:nvSpPr>
        <p:spPr>
          <a:xfrm>
            <a:off x="1984248" y="5431536"/>
            <a:ext cx="9509760" cy="457200"/>
          </a:xfrm>
          <a:prstGeom prst="rect">
            <a:avLst/>
          </a:prstGeom>
          <a:noFill/>
        </p:spPr>
        <p:txBody>
          <a:bodyPr wrap="square" lIns="0" rIns="0" tIns="0" bIns="0" anchor="t">
            <a:spAutoFit/>
          </a:bodyPr>
          <a:lstStyle/>
          <a:p>
            <a:pPr algn="l">
              <a:lnSpc>
                <a:spcPct val="125000"/>
              </a:lnSpc>
            </a:pPr>
            <a:r>
              <a:rPr sz="1050" b="0" i="0">
                <a:solidFill>
                  <a:srgbClr val="6E7180"/>
                </a:solidFill>
                <a:latin typeface="Geist"/>
              </a:rPr>
              <a:t>States engage certified RSAs for Track C without CFI as intermediary; the portal remains the shared public record.</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PROJECT RAKSHAK</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growing evidence base on </a:t>
            </a:r>
            <a:r>
              <a:rPr sz="2250" b="1" i="0">
                <a:solidFill>
                  <a:srgbClr val="4A35FF"/>
                </a:solidFill>
                <a:latin typeface="Montserrat"/>
              </a:rPr>
              <a:t>those most at risk</a:t>
            </a:r>
          </a:p>
        </p:txBody>
      </p:sp>
      <p:sp>
        <p:nvSpPr>
          <p:cNvPr id="7" name="Oval 6"/>
          <p:cNvSpPr/>
          <p:nvPr/>
        </p:nvSpPr>
        <p:spPr>
          <a:xfrm>
            <a:off x="566928" y="1828800"/>
            <a:ext cx="365760" cy="365760"/>
          </a:xfrm>
          <a:prstGeom prst="ellipse">
            <a:avLst/>
          </a:prstGeom>
          <a:solidFill>
            <a:srgbClr val="FDF3E3"/>
          </a:solidFill>
          <a:ln>
            <a:noFill/>
          </a:ln>
          <a:effectLst/>
        </p:spPr>
        <p:txBody>
          <a:bodyPr rtlCol="0" anchor="ctr"/>
          <a:lstStyle/>
          <a:p>
            <a:pPr algn="ctr"/>
          </a:p>
        </p:txBody>
      </p:sp>
      <p:pic>
        <p:nvPicPr>
          <p:cNvPr id="8" name="Picture 7" descr="bike_E58900_256_2.0.png"/>
          <p:cNvPicPr>
            <a:picLocks noChangeAspect="1"/>
          </p:cNvPicPr>
          <p:nvPr/>
        </p:nvPicPr>
        <p:blipFill>
          <a:blip r:embed="rId2"/>
          <a:stretch>
            <a:fillRect/>
          </a:stretch>
        </p:blipFill>
        <p:spPr>
          <a:xfrm>
            <a:off x="654710" y="1916582"/>
            <a:ext cx="190195" cy="190195"/>
          </a:xfrm>
          <a:prstGeom prst="rect">
            <a:avLst/>
          </a:prstGeom>
        </p:spPr>
      </p:pic>
      <p:sp>
        <p:nvSpPr>
          <p:cNvPr id="9" name="TextBox 8"/>
          <p:cNvSpPr txBox="1"/>
          <p:nvPr/>
        </p:nvSpPr>
        <p:spPr>
          <a:xfrm>
            <a:off x="1097280" y="1810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Gig &amp; delivery riders</a:t>
            </a:r>
          </a:p>
        </p:txBody>
      </p:sp>
      <p:sp>
        <p:nvSpPr>
          <p:cNvPr id="10" name="TextBox 9"/>
          <p:cNvSpPr txBox="1"/>
          <p:nvPr/>
        </p:nvSpPr>
        <p:spPr>
          <a:xfrm>
            <a:off x="3566160" y="1810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'When Risks Become Routine' (Feb 2026): incentive pressure, helmet compliance and training gaps — 300+ rider study, Delhi NCR.</a:t>
            </a:r>
          </a:p>
        </p:txBody>
      </p:sp>
      <p:sp>
        <p:nvSpPr>
          <p:cNvPr id="11" name="Oval 10"/>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2" name="Picture 11" descr="footprints_4A35FF_256_2.0.png"/>
          <p:cNvPicPr>
            <a:picLocks noChangeAspect="1"/>
          </p:cNvPicPr>
          <p:nvPr/>
        </p:nvPicPr>
        <p:blipFill>
          <a:blip r:embed="rId3"/>
          <a:stretch>
            <a:fillRect/>
          </a:stretch>
        </p:blipFill>
        <p:spPr>
          <a:xfrm>
            <a:off x="654710" y="2849270"/>
            <a:ext cx="190195" cy="190195"/>
          </a:xfrm>
          <a:prstGeom prst="rect">
            <a:avLst/>
          </a:prstGeom>
        </p:spPr>
      </p:pic>
      <p:sp>
        <p:nvSpPr>
          <p:cNvPr id="13" name="TextBox 12"/>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Pedestrian-first audits</a:t>
            </a:r>
          </a:p>
        </p:txBody>
      </p:sp>
      <p:sp>
        <p:nvSpPr>
          <p:cNvPr id="14" name="TextBox 13"/>
          <p:cNvSpPr txBox="1"/>
          <p:nvPr/>
        </p:nvSpPr>
        <p:spPr>
          <a:xfrm>
            <a:off x="3566160" y="2743200"/>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Rakshak audits document crossings, footpaths and lighting as designable protections — 900+ stakeholders consulted.</a:t>
            </a:r>
          </a:p>
        </p:txBody>
      </p:sp>
      <p:sp>
        <p:nvSpPr>
          <p:cNvPr id="15" name="Oval 14"/>
          <p:cNvSpPr/>
          <p:nvPr/>
        </p:nvSpPr>
        <p:spPr>
          <a:xfrm>
            <a:off x="566928" y="3694176"/>
            <a:ext cx="365760" cy="365760"/>
          </a:xfrm>
          <a:prstGeom prst="ellipse">
            <a:avLst/>
          </a:prstGeom>
          <a:solidFill>
            <a:srgbClr val="E7F4F4"/>
          </a:solidFill>
          <a:ln>
            <a:noFill/>
          </a:ln>
          <a:effectLst/>
        </p:spPr>
        <p:txBody>
          <a:bodyPr rtlCol="0" anchor="ctr"/>
          <a:lstStyle/>
          <a:p>
            <a:pPr algn="ctr"/>
          </a:p>
        </p:txBody>
      </p:sp>
      <p:pic>
        <p:nvPicPr>
          <p:cNvPr id="16" name="Picture 15" descr="school_0E8A8A_256_2.0.png"/>
          <p:cNvPicPr>
            <a:picLocks noChangeAspect="1"/>
          </p:cNvPicPr>
          <p:nvPr/>
        </p:nvPicPr>
        <p:blipFill>
          <a:blip r:embed="rId4"/>
          <a:stretch>
            <a:fillRect/>
          </a:stretch>
        </p:blipFill>
        <p:spPr>
          <a:xfrm>
            <a:off x="654710" y="3781958"/>
            <a:ext cx="190195" cy="190195"/>
          </a:xfrm>
          <a:prstGeom prst="rect">
            <a:avLst/>
          </a:prstGeom>
        </p:spPr>
      </p:pic>
      <p:sp>
        <p:nvSpPr>
          <p:cNvPr id="17" name="TextBox 16"/>
          <p:cNvSpPr txBox="1"/>
          <p:nvPr/>
        </p:nvSpPr>
        <p:spPr>
          <a:xfrm>
            <a:off x="1097280" y="367588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School zones</a:t>
            </a:r>
          </a:p>
        </p:txBody>
      </p:sp>
      <p:sp>
        <p:nvSpPr>
          <p:cNvPr id="18" name="TextBox 17"/>
          <p:cNvSpPr txBox="1"/>
          <p:nvPr/>
        </p:nvSpPr>
        <p:spPr>
          <a:xfrm>
            <a:off x="3566160" y="3675888"/>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College-led, standards-based school-zone screening under exploration as the next extension of the audit platform.</a:t>
            </a:r>
          </a:p>
        </p:txBody>
      </p:sp>
      <p:sp>
        <p:nvSpPr>
          <p:cNvPr id="19" name="Oval 18"/>
          <p:cNvSpPr/>
          <p:nvPr/>
        </p:nvSpPr>
        <p:spPr>
          <a:xfrm>
            <a:off x="566928" y="4626864"/>
            <a:ext cx="365760" cy="365760"/>
          </a:xfrm>
          <a:prstGeom prst="ellipse">
            <a:avLst/>
          </a:prstGeom>
          <a:solidFill>
            <a:srgbClr val="E9F7F0"/>
          </a:solidFill>
          <a:ln>
            <a:noFill/>
          </a:ln>
          <a:effectLst/>
        </p:spPr>
        <p:txBody>
          <a:bodyPr rtlCol="0" anchor="ctr"/>
          <a:lstStyle/>
          <a:p>
            <a:pPr algn="ctr"/>
          </a:p>
        </p:txBody>
      </p:sp>
      <p:pic>
        <p:nvPicPr>
          <p:cNvPr id="20" name="Picture 19" descr="shield_0A9955_256_2.0.png"/>
          <p:cNvPicPr>
            <a:picLocks noChangeAspect="1"/>
          </p:cNvPicPr>
          <p:nvPr/>
        </p:nvPicPr>
        <p:blipFill>
          <a:blip r:embed="rId5"/>
          <a:stretch>
            <a:fillRect/>
          </a:stretch>
        </p:blipFill>
        <p:spPr>
          <a:xfrm>
            <a:off x="654710" y="4714646"/>
            <a:ext cx="190195" cy="190195"/>
          </a:xfrm>
          <a:prstGeom prst="rect">
            <a:avLst/>
          </a:prstGeom>
        </p:spPr>
      </p:pic>
      <p:sp>
        <p:nvSpPr>
          <p:cNvPr id="21" name="TextBox 20"/>
          <p:cNvSpPr txBox="1"/>
          <p:nvPr/>
        </p:nvSpPr>
        <p:spPr>
          <a:xfrm>
            <a:off x="1097280" y="460857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Enforcement that protects VRUs</a:t>
            </a:r>
          </a:p>
        </p:txBody>
      </p:sp>
      <p:sp>
        <p:nvSpPr>
          <p:cNvPr id="22" name="TextBox 21"/>
          <p:cNvSpPr txBox="1"/>
          <p:nvPr/>
        </p:nvSpPr>
        <p:spPr>
          <a:xfrm>
            <a:off x="3566160" y="4608576"/>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helps police prioritise the small share of vehicles with the worst records — targeted, fair, technology-led.</a:t>
            </a:r>
          </a:p>
        </p:txBody>
      </p:sp>
      <p:pic>
        <p:nvPicPr>
          <p:cNvPr id="23" name="Picture 22" descr="ph_gig_riders.jpg_4.20x2.60.jpg"/>
          <p:cNvPicPr>
            <a:picLocks noChangeAspect="1"/>
          </p:cNvPicPr>
          <p:nvPr/>
        </p:nvPicPr>
        <p:blipFill>
          <a:blip r:embed="rId6"/>
          <a:stretch>
            <a:fillRect/>
          </a:stretch>
        </p:blipFill>
        <p:spPr>
          <a:xfrm>
            <a:off x="7772400" y="1828800"/>
            <a:ext cx="3840480" cy="2377440"/>
          </a:xfrm>
          <a:prstGeom prst="rect">
            <a:avLst/>
          </a:prstGeom>
        </p:spPr>
      </p:pic>
      <p:sp>
        <p:nvSpPr>
          <p:cNvPr id="24" name="Rectangle 23"/>
          <p:cNvSpPr/>
          <p:nvPr/>
        </p:nvSpPr>
        <p:spPr>
          <a:xfrm>
            <a:off x="7772400" y="1828800"/>
            <a:ext cx="3840480" cy="23774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7772400" y="425196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 materials and rights briefings at shift points.</a:t>
            </a:r>
          </a:p>
        </p:txBody>
      </p:sp>
      <p:pic>
        <p:nvPicPr>
          <p:cNvPr id="26" name="Picture 25" descr="ph_school_activity.jpg_4.20x1.55.jpg"/>
          <p:cNvPicPr>
            <a:picLocks noChangeAspect="1"/>
          </p:cNvPicPr>
          <p:nvPr/>
        </p:nvPicPr>
        <p:blipFill>
          <a:blip r:embed="rId7"/>
          <a:stretch>
            <a:fillRect/>
          </a:stretch>
        </p:blipFill>
        <p:spPr>
          <a:xfrm>
            <a:off x="7772400" y="4617720"/>
            <a:ext cx="3840480" cy="1417320"/>
          </a:xfrm>
          <a:prstGeom prst="rect">
            <a:avLst/>
          </a:prstGeom>
        </p:spPr>
      </p:pic>
      <p:sp>
        <p:nvSpPr>
          <p:cNvPr id="27" name="Rectangle 26"/>
          <p:cNvSpPr/>
          <p:nvPr/>
        </p:nvSpPr>
        <p:spPr>
          <a:xfrm>
            <a:off x="7772400" y="4617720"/>
            <a:ext cx="3840480" cy="1417320"/>
          </a:xfrm>
          <a:prstGeom prst="rect">
            <a:avLst/>
          </a:prstGeom>
          <a:noFill/>
          <a:ln w="12700">
            <a:solidFill>
              <a:srgbClr val="E8E9EE"/>
            </a:solidFill>
          </a:ln>
          <a:effectLst/>
        </p:spPr>
        <p:txBody>
          <a:bodyPr rtlCol="0" anchor="ctr"/>
          <a:lstStyle/>
          <a:p>
            <a:pPr algn="ct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2</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Ready evidence for standard-setting</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Site-level audit data, crash-pattern analysis and costed intervention designs across emerging hotspots and official black spots — for rectification protocols and speed-management guidance.</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live testing ground</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Active district relationships in Gurugram, South-West Delhi and Jaipur offer a ready pipeline to pilot or stress-test draft recommendations before national rollout.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Ground-level implementation diagnostics</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Granular, field-verified insight into how DRSCs and road-owning agencies actually move — meeting cadence, data use, follow-through.</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Technical bench strength on request</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Our academic and expert network stands ready for drafting, review and technical input on road design, speed and VRU standards.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2</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2286000"/>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2.</a:t>
            </a:r>
          </a:p>
        </p:txBody>
      </p:sp>
      <p:sp>
        <p:nvSpPr>
          <p:cNvPr id="5" name="TextBox 4"/>
          <p:cNvSpPr txBox="1"/>
          <p:nvPr/>
        </p:nvSpPr>
        <p:spPr>
          <a:xfrm>
            <a:off x="566928" y="3794760"/>
            <a:ext cx="9601200" cy="64008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 in whichever form is most useful.</a:t>
            </a:r>
          </a:p>
        </p:txBody>
      </p:sp>
      <p:pic>
        <p:nvPicPr>
          <p:cNvPr id="6" name="Picture 5" descr="globe_C8C0FF_256_2.0.png"/>
          <p:cNvPicPr>
            <a:picLocks noChangeAspect="1"/>
          </p:cNvPicPr>
          <p:nvPr/>
        </p:nvPicPr>
        <p:blipFill>
          <a:blip r:embed="rId3"/>
          <a:stretch>
            <a:fillRect/>
          </a:stretch>
        </p:blipFill>
        <p:spPr>
          <a:xfrm>
            <a:off x="566928" y="4709160"/>
            <a:ext cx="274320" cy="274320"/>
          </a:xfrm>
          <a:prstGeom prst="rect">
            <a:avLst/>
          </a:prstGeom>
        </p:spPr>
      </p:pic>
      <p:sp>
        <p:nvSpPr>
          <p:cNvPr id="7" name="TextBox 6"/>
          <p:cNvSpPr txBox="1"/>
          <p:nvPr/>
        </p:nvSpPr>
        <p:spPr>
          <a:xfrm>
            <a:off x="1024128" y="4690872"/>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crashfreeindia.org</a:t>
            </a:r>
          </a:p>
        </p:txBody>
      </p:sp>
      <p:pic>
        <p:nvPicPr>
          <p:cNvPr id="8" name="Picture 7" descr="mail_C8C0FF_256_2.0.png"/>
          <p:cNvPicPr>
            <a:picLocks noChangeAspect="1"/>
          </p:cNvPicPr>
          <p:nvPr/>
        </p:nvPicPr>
        <p:blipFill>
          <a:blip r:embed="rId4"/>
          <a:stretch>
            <a:fillRect/>
          </a:stretch>
        </p:blipFill>
        <p:spPr>
          <a:xfrm>
            <a:off x="566928" y="5184648"/>
            <a:ext cx="274320" cy="274320"/>
          </a:xfrm>
          <a:prstGeom prst="rect">
            <a:avLst/>
          </a:prstGeom>
        </p:spPr>
      </p:pic>
      <p:sp>
        <p:nvSpPr>
          <p:cNvPr id="9" name="TextBox 8"/>
          <p:cNvSpPr txBox="1"/>
          <p:nvPr/>
        </p:nvSpPr>
        <p:spPr>
          <a:xfrm>
            <a:off x="1024128" y="5166360"/>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akhtar@crashfreeindia.org  ·  helpdesk@crashfreeindia.org</a:t>
            </a:r>
          </a:p>
        </p:txBody>
      </p:sp>
      <p:pic>
        <p:nvPicPr>
          <p:cNvPr id="10" name="Picture 9" descr="layout-dashboard_C8C0FF_256_2.0.png"/>
          <p:cNvPicPr>
            <a:picLocks noChangeAspect="1"/>
          </p:cNvPicPr>
          <p:nvPr/>
        </p:nvPicPr>
        <p:blipFill>
          <a:blip r:embed="rId5"/>
          <a:stretch>
            <a:fillRect/>
          </a:stretch>
        </p:blipFill>
        <p:spPr>
          <a:xfrm>
            <a:off x="566928" y="5660136"/>
            <a:ext cx="274320" cy="274320"/>
          </a:xfrm>
          <a:prstGeom prst="rect">
            <a:avLst/>
          </a:prstGeom>
        </p:spPr>
      </p:pic>
      <p:sp>
        <p:nvSpPr>
          <p:cNvPr id="11" name="TextBox 10"/>
          <p:cNvSpPr txBox="1"/>
          <p:nvPr/>
        </p:nvSpPr>
        <p:spPr>
          <a:xfrm>
            <a:off x="1024128" y="5641848"/>
            <a:ext cx="10058400" cy="320040"/>
          </a:xfrm>
          <a:prstGeom prst="rect">
            <a:avLst/>
          </a:prstGeom>
          <a:noFill/>
        </p:spPr>
        <p:txBody>
          <a:bodyPr wrap="square" lIns="0" rIns="0" tIns="0" bIns="0" anchor="t">
            <a:spAutoFit/>
          </a:bodyPr>
          <a:lstStyle/>
          <a:p>
            <a:pPr algn="l">
              <a:lnSpc>
                <a:spcPct val="120000"/>
              </a:lnSpc>
            </a:pPr>
            <a:r>
              <a:rPr sz="1150" b="0" i="0">
                <a:solidFill>
                  <a:srgbClr val="FFFFFF"/>
                </a:solidFill>
                <a:latin typeface="Geist"/>
              </a:rPr>
              <a:t>Live portals: Rakshak dashboard · SC litigation tracker · crash data · defect repository</a:t>
            </a:r>
          </a:p>
        </p:txBody>
      </p:sp>
      <p:sp>
        <p:nvSpPr>
          <p:cNvPr id="12" name="TextBox 11"/>
          <p:cNvSpPr txBox="1"/>
          <p:nvPr/>
        </p:nvSpPr>
        <p:spPr>
          <a:xfrm>
            <a:off x="566928" y="6419088"/>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