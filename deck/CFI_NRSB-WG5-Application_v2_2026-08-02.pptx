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image" Target="../media/image17.jpg"/><Relationship Id="rId4" Type="http://schemas.openxmlformats.org/officeDocument/2006/relationships/image" Target="../media/image18.jpg"/><Relationship Id="rId5" Type="http://schemas.openxmlformats.org/officeDocument/2006/relationships/image" Target="../media/image19.jpg"/><Relationship Id="rId6" Type="http://schemas.openxmlformats.org/officeDocument/2006/relationships/image" Target="../media/image20.jpg"/><Relationship Id="rId7" Type="http://schemas.openxmlformats.org/officeDocument/2006/relationships/image" Target="../media/image2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30.png"/><Relationship Id="rId11" Type="http://schemas.openxmlformats.org/officeDocument/2006/relationships/image" Target="../media/image3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image" Target="../media/image35.png"/><Relationship Id="rId6" Type="http://schemas.openxmlformats.org/officeDocument/2006/relationships/image" Target="../media/image12.png"/><Relationship Id="rId7" Type="http://schemas.openxmlformats.org/officeDocument/2006/relationships/image" Target="../media/image3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4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image" Target="../media/image46.jp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image" Target="../media/image51.jpg"/><Relationship Id="rId4" Type="http://schemas.openxmlformats.org/officeDocument/2006/relationships/image" Target="../media/image52.jpg"/><Relationship Id="rId5" Type="http://schemas.openxmlformats.org/officeDocument/2006/relationships/image" Target="../media/image53.jpg"/><Relationship Id="rId6" Type="http://schemas.openxmlformats.org/officeDocument/2006/relationships/image" Target="../media/image5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image" Target="../media/image58.jpg"/><Relationship Id="rId4" Type="http://schemas.openxmlformats.org/officeDocument/2006/relationships/image" Target="../media/image59.jpg"/><Relationship Id="rId5" Type="http://schemas.openxmlformats.org/officeDocument/2006/relationships/image" Target="../media/image60.jpg"/><Relationship Id="rId6" Type="http://schemas.openxmlformats.org/officeDocument/2006/relationships/image" Target="../media/image61.jpg"/><Relationship Id="rId7" Type="http://schemas.openxmlformats.org/officeDocument/2006/relationships/image" Target="../media/image62.jpg"/><Relationship Id="rId8" Type="http://schemas.openxmlformats.org/officeDocument/2006/relationships/image" Target="../media/image63.jpg"/><Relationship Id="rId9" Type="http://schemas.openxmlformats.org/officeDocument/2006/relationships/image" Target="../media/image64.jpg"/><Relationship Id="rId10" Type="http://schemas.openxmlformats.org/officeDocument/2006/relationships/image" Target="../media/image65.jpg"/><Relationship Id="rId11" Type="http://schemas.openxmlformats.org/officeDocument/2006/relationships/image" Target="../media/image66.jpg"/><Relationship Id="rId12" Type="http://schemas.openxmlformats.org/officeDocument/2006/relationships/image" Target="../media/image67.jpg"/><Relationship Id="rId13" Type="http://schemas.openxmlformats.org/officeDocument/2006/relationships/image" Target="../media/image6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73.png"/><Relationship Id="rId6" Type="http://schemas.openxmlformats.org/officeDocument/2006/relationships/image" Target="../media/image74.png"/><Relationship Id="rId7"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75.png"/><Relationship Id="rId4" Type="http://schemas.openxmlformats.org/officeDocument/2006/relationships/image" Target="../media/image76.png"/><Relationship Id="rId5" Type="http://schemas.openxmlformats.org/officeDocument/2006/relationships/image" Target="../media/image77.png"/><Relationship Id="rId6" Type="http://schemas.openxmlformats.org/officeDocument/2006/relationships/image" Target="../media/image78.jpg"/><Relationship Id="rId7" Type="http://schemas.openxmlformats.org/officeDocument/2006/relationships/image" Target="../media/image7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image" Target="../media/image8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8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 Id="rId3" Type="http://schemas.openxmlformats.org/officeDocument/2006/relationships/image" Target="../media/image8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jpg"/><Relationship Id="rId3" Type="http://schemas.openxmlformats.org/officeDocument/2006/relationships/image" Target="../media/image88.jpg"/><Relationship Id="rId4" Type="http://schemas.openxmlformats.org/officeDocument/2006/relationships/image" Target="../media/image89.png"/><Relationship Id="rId5" Type="http://schemas.openxmlformats.org/officeDocument/2006/relationships/image" Target="../media/image90.png"/><Relationship Id="rId6" Type="http://schemas.openxmlformats.org/officeDocument/2006/relationships/image" Target="../media/image91.png"/><Relationship Id="rId7" Type="http://schemas.openxmlformats.org/officeDocument/2006/relationships/image" Target="../media/image9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png"/><Relationship Id="rId3" Type="http://schemas.openxmlformats.org/officeDocument/2006/relationships/image" Target="../media/image94.png"/><Relationship Id="rId4" Type="http://schemas.openxmlformats.org/officeDocument/2006/relationships/image" Target="../media/image95.png"/><Relationship Id="rId5" Type="http://schemas.openxmlformats.org/officeDocument/2006/relationships/image" Target="../media/image9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7.png"/><Relationship Id="rId3" Type="http://schemas.openxmlformats.org/officeDocument/2006/relationships/image" Target="../media/image98.png"/><Relationship Id="rId4" Type="http://schemas.openxmlformats.org/officeDocument/2006/relationships/image" Target="../media/image99.png"/><Relationship Id="rId5" Type="http://schemas.openxmlformats.org/officeDocument/2006/relationships/image" Target="../media/image10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pic>
        <p:nvPicPr>
          <p:cNvPr id="3" name="Picture 2" descr="logo_blue.png"/>
          <p:cNvPicPr>
            <a:picLocks noChangeAspect="1"/>
          </p:cNvPicPr>
          <p:nvPr/>
        </p:nvPicPr>
        <p:blipFill>
          <a:blip r:embed="rId2"/>
          <a:stretch>
            <a:fillRect/>
          </a:stretch>
        </p:blipFill>
        <p:spPr>
          <a:xfrm>
            <a:off x="566928" y="457200"/>
            <a:ext cx="1691640" cy="233757"/>
          </a:xfrm>
          <a:prstGeom prst="rect">
            <a:avLst/>
          </a:prstGeom>
        </p:spPr>
      </p:pic>
      <p:sp>
        <p:nvSpPr>
          <p:cNvPr id="4" name="TextBox 3"/>
          <p:cNvSpPr txBox="1"/>
          <p:nvPr/>
        </p:nvSpPr>
        <p:spPr>
          <a:xfrm>
            <a:off x="8424367" y="502920"/>
            <a:ext cx="3200400" cy="274320"/>
          </a:xfrm>
          <a:prstGeom prst="rect">
            <a:avLst/>
          </a:prstGeom>
          <a:noFill/>
        </p:spPr>
        <p:txBody>
          <a:bodyPr wrap="square" lIns="0" rIns="0" tIns="0" bIns="0" anchor="t">
            <a:spAutoFit/>
          </a:bodyPr>
          <a:lstStyle/>
          <a:p>
            <a:pPr algn="r">
              <a:lnSpc>
                <a:spcPct val="128000"/>
              </a:lnSpc>
            </a:pPr>
            <a:r>
              <a:rPr sz="900" b="1" i="0" spc="180">
                <a:solidFill>
                  <a:srgbClr val="6E7180"/>
                </a:solidFill>
                <a:latin typeface="Montserrat"/>
              </a:rPr>
              <a:t>AUGUST 2026  ·  NEW DELHI</a:t>
            </a:r>
          </a:p>
        </p:txBody>
      </p:sp>
      <p:sp>
        <p:nvSpPr>
          <p:cNvPr id="5" name="TextBox 4"/>
          <p:cNvSpPr txBox="1"/>
          <p:nvPr/>
        </p:nvSpPr>
        <p:spPr>
          <a:xfrm>
            <a:off x="566928" y="1298448"/>
            <a:ext cx="10058400" cy="274320"/>
          </a:xfrm>
          <a:prstGeom prst="rect">
            <a:avLst/>
          </a:prstGeom>
          <a:noFill/>
        </p:spPr>
        <p:txBody>
          <a:bodyPr wrap="square" lIns="0" rIns="0" tIns="0" bIns="0" anchor="t">
            <a:spAutoFit/>
          </a:bodyPr>
          <a:lstStyle/>
          <a:p>
            <a:pPr algn="l">
              <a:lnSpc>
                <a:spcPct val="128000"/>
              </a:lnSpc>
            </a:pPr>
            <a:r>
              <a:rPr sz="1050" b="1" i="0" spc="240">
                <a:solidFill>
                  <a:srgbClr val="4A35FF"/>
                </a:solidFill>
                <a:latin typeface="Montserrat"/>
              </a:rPr>
              <a:t>EXPRESSION OF INTEREST  ·  NATIONAL ROAD SAFETY BOARD</a:t>
            </a:r>
          </a:p>
        </p:txBody>
      </p:sp>
      <p:sp>
        <p:nvSpPr>
          <p:cNvPr id="6" name="TextBox 5"/>
          <p:cNvSpPr txBox="1"/>
          <p:nvPr/>
        </p:nvSpPr>
        <p:spPr>
          <a:xfrm>
            <a:off x="566928" y="1691640"/>
            <a:ext cx="11064240" cy="594360"/>
          </a:xfrm>
          <a:prstGeom prst="rect">
            <a:avLst/>
          </a:prstGeom>
          <a:noFill/>
        </p:spPr>
        <p:txBody>
          <a:bodyPr wrap="square" lIns="0" rIns="0" tIns="0" bIns="0" anchor="t">
            <a:spAutoFit/>
          </a:bodyPr>
          <a:lstStyle/>
          <a:p>
            <a:pPr algn="l">
              <a:lnSpc>
                <a:spcPct val="105000"/>
              </a:lnSpc>
            </a:pPr>
            <a:r>
              <a:rPr sz="3000" b="1" i="0">
                <a:solidFill>
                  <a:srgbClr val="16181D"/>
                </a:solidFill>
                <a:latin typeface="Montserrat"/>
              </a:rPr>
              <a:t>Working Group 5: Post-Crash Care, Policy Standards</a:t>
            </a:r>
          </a:p>
        </p:txBody>
      </p:sp>
      <p:sp>
        <p:nvSpPr>
          <p:cNvPr id="7" name="TextBox 6"/>
          <p:cNvSpPr txBox="1"/>
          <p:nvPr/>
        </p:nvSpPr>
        <p:spPr>
          <a:xfrm>
            <a:off x="566928" y="2231136"/>
            <a:ext cx="11064240" cy="566928"/>
          </a:xfrm>
          <a:prstGeom prst="rect">
            <a:avLst/>
          </a:prstGeom>
          <a:noFill/>
        </p:spPr>
        <p:txBody>
          <a:bodyPr wrap="square" lIns="0" rIns="0" tIns="0" bIns="0" anchor="t">
            <a:spAutoFit/>
          </a:bodyPr>
          <a:lstStyle/>
          <a:p>
            <a:pPr algn="l">
              <a:lnSpc>
                <a:spcPct val="105000"/>
              </a:lnSpc>
            </a:pPr>
            <a:r>
              <a:rPr sz="3000" b="1" i="0">
                <a:solidFill>
                  <a:srgbClr val="4A35FF"/>
                </a:solidFill>
                <a:latin typeface="Montserrat"/>
              </a:rPr>
              <a:t>&amp; State Implementation</a:t>
            </a:r>
          </a:p>
        </p:txBody>
      </p:sp>
      <p:sp>
        <p:nvSpPr>
          <p:cNvPr id="8" name="TextBox 7"/>
          <p:cNvSpPr txBox="1"/>
          <p:nvPr/>
        </p:nvSpPr>
        <p:spPr>
          <a:xfrm>
            <a:off x="566928" y="2907792"/>
            <a:ext cx="10607040" cy="566928"/>
          </a:xfrm>
          <a:prstGeom prst="rect">
            <a:avLst/>
          </a:prstGeom>
          <a:noFill/>
        </p:spPr>
        <p:txBody>
          <a:bodyPr wrap="square" lIns="0" rIns="0" tIns="0" bIns="0" anchor="t">
            <a:spAutoFit/>
          </a:bodyPr>
          <a:lstStyle/>
          <a:p>
            <a:pPr algn="l">
              <a:lnSpc>
                <a:spcPct val="135000"/>
              </a:lnSpc>
            </a:pPr>
            <a:r>
              <a:rPr sz="1200" b="0" i="0">
                <a:solidFill>
                  <a:srgbClr val="6E7180"/>
                </a:solidFill>
                <a:latin typeface="Geist"/>
              </a:rPr>
              <a:t>Submitted by Crashfree India (Vision Zero Trust) — a technology-led road safety nonprofit backed by Cars24,</a:t>
            </a:r>
          </a:p>
          <a:p>
            <a:pPr algn="l">
              <a:lnSpc>
                <a:spcPct val="135000"/>
              </a:lnSpc>
            </a:pPr>
            <a:r>
              <a:rPr sz="1200" b="0" i="0">
                <a:solidFill>
                  <a:srgbClr val="6E7180"/>
                </a:solidFill>
                <a:latin typeface="Geist"/>
              </a:rPr>
              <a:t>working with public authorities across 18 cities.</a:t>
            </a:r>
          </a:p>
        </p:txBody>
      </p:sp>
      <p:sp>
        <p:nvSpPr>
          <p:cNvPr id="9" name="Rounded Rectangle 8"/>
          <p:cNvSpPr/>
          <p:nvPr/>
        </p:nvSpPr>
        <p:spPr>
          <a:xfrm>
            <a:off x="566928" y="3703320"/>
            <a:ext cx="2670048" cy="713232"/>
          </a:xfrm>
          <a:prstGeom prst="roundRect">
            <a:avLst>
              <a:gd name="adj" fmla="val 16000"/>
            </a:avLst>
          </a:prstGeom>
          <a:solidFill>
            <a:srgbClr val="F7F7FA"/>
          </a:solidFill>
          <a:ln>
            <a:noFill/>
          </a:ln>
          <a:effectLst/>
        </p:spPr>
        <p:txBody>
          <a:bodyPr rtlCol="0" anchor="ctr"/>
          <a:lstStyle/>
          <a:p>
            <a:pPr algn="ctr"/>
          </a:p>
        </p:txBody>
      </p:sp>
      <p:sp>
        <p:nvSpPr>
          <p:cNvPr id="10" name="TextBox 9"/>
          <p:cNvSpPr txBox="1"/>
          <p:nvPr/>
        </p:nvSpPr>
        <p:spPr>
          <a:xfrm>
            <a:off x="713232" y="3785616"/>
            <a:ext cx="2395728" cy="365760"/>
          </a:xfrm>
          <a:prstGeom prst="rect">
            <a:avLst/>
          </a:prstGeom>
          <a:noFill/>
        </p:spPr>
        <p:txBody>
          <a:bodyPr wrap="square" lIns="0" rIns="0" tIns="0" bIns="0" anchor="t">
            <a:spAutoFit/>
          </a:bodyPr>
          <a:lstStyle/>
          <a:p>
            <a:pPr algn="l">
              <a:lnSpc>
                <a:spcPct val="100000"/>
              </a:lnSpc>
            </a:pPr>
            <a:r>
              <a:rPr sz="1600" b="1" i="0">
                <a:solidFill>
                  <a:srgbClr val="4A35FF"/>
                </a:solidFill>
                <a:latin typeface="Montserrat"/>
              </a:rPr>
              <a:t>4</a:t>
            </a:r>
          </a:p>
        </p:txBody>
      </p:sp>
      <p:sp>
        <p:nvSpPr>
          <p:cNvPr id="11" name="TextBox 10"/>
          <p:cNvSpPr txBox="1"/>
          <p:nvPr/>
        </p:nvSpPr>
        <p:spPr>
          <a:xfrm>
            <a:off x="713232" y="4096512"/>
            <a:ext cx="2395728" cy="274320"/>
          </a:xfrm>
          <a:prstGeom prst="rect">
            <a:avLst/>
          </a:prstGeom>
          <a:noFill/>
        </p:spPr>
        <p:txBody>
          <a:bodyPr wrap="square" lIns="0" rIns="0" tIns="0" bIns="0" anchor="t">
            <a:spAutoFit/>
          </a:bodyPr>
          <a:lstStyle/>
          <a:p>
            <a:pPr algn="l">
              <a:lnSpc>
                <a:spcPct val="100000"/>
              </a:lnSpc>
            </a:pPr>
            <a:r>
              <a:rPr sz="900" b="0" i="0">
                <a:solidFill>
                  <a:srgbClr val="6E7180"/>
                </a:solidFill>
                <a:latin typeface="Geist"/>
              </a:rPr>
              <a:t>District Road Safety Committees joined</a:t>
            </a:r>
          </a:p>
        </p:txBody>
      </p:sp>
      <p:sp>
        <p:nvSpPr>
          <p:cNvPr id="12" name="Rounded Rectangle 11"/>
          <p:cNvSpPr/>
          <p:nvPr/>
        </p:nvSpPr>
        <p:spPr>
          <a:xfrm>
            <a:off x="3360420" y="3703320"/>
            <a:ext cx="2670048" cy="713232"/>
          </a:xfrm>
          <a:prstGeom prst="roundRect">
            <a:avLst>
              <a:gd name="adj" fmla="val 16000"/>
            </a:avLst>
          </a:prstGeom>
          <a:solidFill>
            <a:srgbClr val="F7F7FA"/>
          </a:solidFill>
          <a:ln>
            <a:noFill/>
          </a:ln>
          <a:effectLst/>
        </p:spPr>
        <p:txBody>
          <a:bodyPr rtlCol="0" anchor="ctr"/>
          <a:lstStyle/>
          <a:p>
            <a:pPr algn="ctr"/>
          </a:p>
        </p:txBody>
      </p:sp>
      <p:sp>
        <p:nvSpPr>
          <p:cNvPr id="13" name="TextBox 12"/>
          <p:cNvSpPr txBox="1"/>
          <p:nvPr/>
        </p:nvSpPr>
        <p:spPr>
          <a:xfrm>
            <a:off x="3506724" y="3785616"/>
            <a:ext cx="2395728" cy="365760"/>
          </a:xfrm>
          <a:prstGeom prst="rect">
            <a:avLst/>
          </a:prstGeom>
          <a:noFill/>
        </p:spPr>
        <p:txBody>
          <a:bodyPr wrap="square" lIns="0" rIns="0" tIns="0" bIns="0" anchor="t">
            <a:spAutoFit/>
          </a:bodyPr>
          <a:lstStyle/>
          <a:p>
            <a:pPr algn="l">
              <a:lnSpc>
                <a:spcPct val="100000"/>
              </a:lnSpc>
            </a:pPr>
            <a:r>
              <a:rPr sz="1600" b="1" i="0">
                <a:solidFill>
                  <a:srgbClr val="4A35FF"/>
                </a:solidFill>
                <a:latin typeface="Montserrat"/>
              </a:rPr>
              <a:t>102</a:t>
            </a:r>
          </a:p>
        </p:txBody>
      </p:sp>
      <p:sp>
        <p:nvSpPr>
          <p:cNvPr id="14" name="TextBox 13"/>
          <p:cNvSpPr txBox="1"/>
          <p:nvPr/>
        </p:nvSpPr>
        <p:spPr>
          <a:xfrm>
            <a:off x="3506724" y="4096512"/>
            <a:ext cx="2395728" cy="274320"/>
          </a:xfrm>
          <a:prstGeom prst="rect">
            <a:avLst/>
          </a:prstGeom>
          <a:noFill/>
        </p:spPr>
        <p:txBody>
          <a:bodyPr wrap="square" lIns="0" rIns="0" tIns="0" bIns="0" anchor="t">
            <a:spAutoFit/>
          </a:bodyPr>
          <a:lstStyle/>
          <a:p>
            <a:pPr algn="l">
              <a:lnSpc>
                <a:spcPct val="100000"/>
              </a:lnSpc>
            </a:pPr>
            <a:r>
              <a:rPr sz="900" b="0" i="0">
                <a:solidFill>
                  <a:srgbClr val="6E7180"/>
                </a:solidFill>
                <a:latin typeface="Geist"/>
              </a:rPr>
              <a:t>hit-and-run files reviewed with districts</a:t>
            </a:r>
          </a:p>
        </p:txBody>
      </p:sp>
      <p:sp>
        <p:nvSpPr>
          <p:cNvPr id="15" name="Rounded Rectangle 14"/>
          <p:cNvSpPr/>
          <p:nvPr/>
        </p:nvSpPr>
        <p:spPr>
          <a:xfrm>
            <a:off x="6153912" y="3703320"/>
            <a:ext cx="2670048" cy="713232"/>
          </a:xfrm>
          <a:prstGeom prst="roundRect">
            <a:avLst>
              <a:gd name="adj" fmla="val 16000"/>
            </a:avLst>
          </a:prstGeom>
          <a:solidFill>
            <a:srgbClr val="F7F7FA"/>
          </a:solidFill>
          <a:ln>
            <a:noFill/>
          </a:ln>
          <a:effectLst/>
        </p:spPr>
        <p:txBody>
          <a:bodyPr rtlCol="0" anchor="ctr"/>
          <a:lstStyle/>
          <a:p>
            <a:pPr algn="ctr"/>
          </a:p>
        </p:txBody>
      </p:sp>
      <p:sp>
        <p:nvSpPr>
          <p:cNvPr id="16" name="TextBox 15"/>
          <p:cNvSpPr txBox="1"/>
          <p:nvPr/>
        </p:nvSpPr>
        <p:spPr>
          <a:xfrm>
            <a:off x="6300216" y="3785616"/>
            <a:ext cx="2395728" cy="365760"/>
          </a:xfrm>
          <a:prstGeom prst="rect">
            <a:avLst/>
          </a:prstGeom>
          <a:noFill/>
        </p:spPr>
        <p:txBody>
          <a:bodyPr wrap="square" lIns="0" rIns="0" tIns="0" bIns="0" anchor="t">
            <a:spAutoFit/>
          </a:bodyPr>
          <a:lstStyle/>
          <a:p>
            <a:pPr algn="l">
              <a:lnSpc>
                <a:spcPct val="100000"/>
              </a:lnSpc>
            </a:pPr>
            <a:r>
              <a:rPr sz="1600" b="1" i="0">
                <a:solidFill>
                  <a:srgbClr val="4A35FF"/>
                </a:solidFill>
                <a:latin typeface="Montserrat"/>
              </a:rPr>
              <a:t>100+</a:t>
            </a:r>
          </a:p>
        </p:txBody>
      </p:sp>
      <p:sp>
        <p:nvSpPr>
          <p:cNvPr id="17" name="TextBox 16"/>
          <p:cNvSpPr txBox="1"/>
          <p:nvPr/>
        </p:nvSpPr>
        <p:spPr>
          <a:xfrm>
            <a:off x="6300216" y="4096512"/>
            <a:ext cx="2395728" cy="274320"/>
          </a:xfrm>
          <a:prstGeom prst="rect">
            <a:avLst/>
          </a:prstGeom>
          <a:noFill/>
        </p:spPr>
        <p:txBody>
          <a:bodyPr wrap="square" lIns="0" rIns="0" tIns="0" bIns="0" anchor="t">
            <a:spAutoFit/>
          </a:bodyPr>
          <a:lstStyle/>
          <a:p>
            <a:pPr algn="l">
              <a:lnSpc>
                <a:spcPct val="100000"/>
              </a:lnSpc>
            </a:pPr>
            <a:r>
              <a:rPr sz="900" b="0" i="0">
                <a:solidFill>
                  <a:srgbClr val="6E7180"/>
                </a:solidFill>
                <a:latin typeface="Geist"/>
              </a:rPr>
              <a:t>victims helped in helpdesks' first 4 days</a:t>
            </a:r>
          </a:p>
        </p:txBody>
      </p:sp>
      <p:sp>
        <p:nvSpPr>
          <p:cNvPr id="18" name="Rounded Rectangle 17"/>
          <p:cNvSpPr/>
          <p:nvPr/>
        </p:nvSpPr>
        <p:spPr>
          <a:xfrm>
            <a:off x="8947404" y="3703320"/>
            <a:ext cx="2670048" cy="713232"/>
          </a:xfrm>
          <a:prstGeom prst="roundRect">
            <a:avLst>
              <a:gd name="adj" fmla="val 16000"/>
            </a:avLst>
          </a:prstGeom>
          <a:solidFill>
            <a:srgbClr val="F7F7FA"/>
          </a:solidFill>
          <a:ln>
            <a:noFill/>
          </a:ln>
          <a:effectLst/>
        </p:spPr>
        <p:txBody>
          <a:bodyPr rtlCol="0" anchor="ctr"/>
          <a:lstStyle/>
          <a:p>
            <a:pPr algn="ctr"/>
          </a:p>
        </p:txBody>
      </p:sp>
      <p:sp>
        <p:nvSpPr>
          <p:cNvPr id="19" name="TextBox 18"/>
          <p:cNvSpPr txBox="1"/>
          <p:nvPr/>
        </p:nvSpPr>
        <p:spPr>
          <a:xfrm>
            <a:off x="9093708" y="3785616"/>
            <a:ext cx="2395728" cy="365760"/>
          </a:xfrm>
          <a:prstGeom prst="rect">
            <a:avLst/>
          </a:prstGeom>
          <a:noFill/>
        </p:spPr>
        <p:txBody>
          <a:bodyPr wrap="square" lIns="0" rIns="0" tIns="0" bIns="0" anchor="t">
            <a:spAutoFit/>
          </a:bodyPr>
          <a:lstStyle/>
          <a:p>
            <a:pPr algn="l">
              <a:lnSpc>
                <a:spcPct val="100000"/>
              </a:lnSpc>
            </a:pPr>
            <a:r>
              <a:rPr sz="1600" b="1" i="0">
                <a:solidFill>
                  <a:srgbClr val="4A35FF"/>
                </a:solidFill>
                <a:latin typeface="Montserrat"/>
              </a:rPr>
              <a:t>~46%</a:t>
            </a:r>
          </a:p>
        </p:txBody>
      </p:sp>
      <p:sp>
        <p:nvSpPr>
          <p:cNvPr id="20" name="TextBox 19"/>
          <p:cNvSpPr txBox="1"/>
          <p:nvPr/>
        </p:nvSpPr>
        <p:spPr>
          <a:xfrm>
            <a:off x="9093708" y="4096512"/>
            <a:ext cx="2395728" cy="274320"/>
          </a:xfrm>
          <a:prstGeom prst="rect">
            <a:avLst/>
          </a:prstGeom>
          <a:noFill/>
        </p:spPr>
        <p:txBody>
          <a:bodyPr wrap="square" lIns="0" rIns="0" tIns="0" bIns="0" anchor="t">
            <a:spAutoFit/>
          </a:bodyPr>
          <a:lstStyle/>
          <a:p>
            <a:pPr algn="l">
              <a:lnSpc>
                <a:spcPct val="100000"/>
              </a:lnSpc>
            </a:pPr>
            <a:r>
              <a:rPr sz="900" b="0" i="0">
                <a:solidFill>
                  <a:srgbClr val="6E7180"/>
                </a:solidFill>
                <a:latin typeface="Geist"/>
              </a:rPr>
              <a:t>of Rajasthan's monthly claims mapped in Jaipur</a:t>
            </a:r>
          </a:p>
        </p:txBody>
      </p:sp>
      <p:pic>
        <p:nvPicPr>
          <p:cNvPr id="21" name="Picture 20" descr="ph_helpdesk_desk.jpg_2.92x1.72.jpg"/>
          <p:cNvPicPr>
            <a:picLocks noChangeAspect="1"/>
          </p:cNvPicPr>
          <p:nvPr/>
        </p:nvPicPr>
        <p:blipFill>
          <a:blip r:embed="rId3"/>
          <a:stretch>
            <a:fillRect/>
          </a:stretch>
        </p:blipFill>
        <p:spPr>
          <a:xfrm>
            <a:off x="566928" y="4617720"/>
            <a:ext cx="2670048" cy="1572768"/>
          </a:xfrm>
          <a:prstGeom prst="rect">
            <a:avLst/>
          </a:prstGeom>
        </p:spPr>
      </p:pic>
      <p:sp>
        <p:nvSpPr>
          <p:cNvPr id="22" name="Rectangle 21"/>
          <p:cNvSpPr/>
          <p:nvPr/>
        </p:nvSpPr>
        <p:spPr>
          <a:xfrm>
            <a:off x="566928" y="4617720"/>
            <a:ext cx="2670048" cy="1572768"/>
          </a:xfrm>
          <a:prstGeom prst="rect">
            <a:avLst/>
          </a:prstGeom>
          <a:noFill/>
          <a:ln w="12700">
            <a:solidFill>
              <a:srgbClr val="E8E9EE"/>
            </a:solidFill>
          </a:ln>
          <a:effectLst/>
        </p:spPr>
        <p:txBody>
          <a:bodyPr rtlCol="0" anchor="ctr"/>
          <a:lstStyle/>
          <a:p>
            <a:pPr algn="ctr"/>
          </a:p>
        </p:txBody>
      </p:sp>
      <p:pic>
        <p:nvPicPr>
          <p:cNvPr id="23" name="Picture 22" descr="ph_law_students.jpg_2.92x1.72.jpg"/>
          <p:cNvPicPr>
            <a:picLocks noChangeAspect="1"/>
          </p:cNvPicPr>
          <p:nvPr/>
        </p:nvPicPr>
        <p:blipFill>
          <a:blip r:embed="rId4"/>
          <a:stretch>
            <a:fillRect/>
          </a:stretch>
        </p:blipFill>
        <p:spPr>
          <a:xfrm>
            <a:off x="3360420" y="4617720"/>
            <a:ext cx="2670048" cy="1572768"/>
          </a:xfrm>
          <a:prstGeom prst="rect">
            <a:avLst/>
          </a:prstGeom>
        </p:spPr>
      </p:pic>
      <p:sp>
        <p:nvSpPr>
          <p:cNvPr id="24" name="Rectangle 23"/>
          <p:cNvSpPr/>
          <p:nvPr/>
        </p:nvSpPr>
        <p:spPr>
          <a:xfrm>
            <a:off x="3360420" y="4617720"/>
            <a:ext cx="2670048" cy="1572768"/>
          </a:xfrm>
          <a:prstGeom prst="rect">
            <a:avLst/>
          </a:prstGeom>
          <a:noFill/>
          <a:ln w="12700">
            <a:solidFill>
              <a:srgbClr val="E8E9EE"/>
            </a:solidFill>
          </a:ln>
          <a:effectLst/>
        </p:spPr>
        <p:txBody>
          <a:bodyPr rtlCol="0" anchor="ctr"/>
          <a:lstStyle/>
          <a:p>
            <a:pPr algn="ctr"/>
          </a:p>
        </p:txBody>
      </p:sp>
      <p:pic>
        <p:nvPicPr>
          <p:cNvPr id="25" name="Picture 24" descr="ph_helpdesk_camp.jpg_2.92x1.72.jpg"/>
          <p:cNvPicPr>
            <a:picLocks noChangeAspect="1"/>
          </p:cNvPicPr>
          <p:nvPr/>
        </p:nvPicPr>
        <p:blipFill>
          <a:blip r:embed="rId5"/>
          <a:stretch>
            <a:fillRect/>
          </a:stretch>
        </p:blipFill>
        <p:spPr>
          <a:xfrm>
            <a:off x="6153912" y="4617720"/>
            <a:ext cx="2670048" cy="1572768"/>
          </a:xfrm>
          <a:prstGeom prst="rect">
            <a:avLst/>
          </a:prstGeom>
        </p:spPr>
      </p:pic>
      <p:sp>
        <p:nvSpPr>
          <p:cNvPr id="26" name="Rectangle 25"/>
          <p:cNvSpPr/>
          <p:nvPr/>
        </p:nvSpPr>
        <p:spPr>
          <a:xfrm>
            <a:off x="6153912" y="4617720"/>
            <a:ext cx="2670048" cy="1572768"/>
          </a:xfrm>
          <a:prstGeom prst="rect">
            <a:avLst/>
          </a:prstGeom>
          <a:noFill/>
          <a:ln w="12700">
            <a:solidFill>
              <a:srgbClr val="E8E9EE"/>
            </a:solidFill>
          </a:ln>
          <a:effectLst/>
        </p:spPr>
        <p:txBody>
          <a:bodyPr rtlCol="0" anchor="ctr"/>
          <a:lstStyle/>
          <a:p>
            <a:pPr algn="ctr"/>
          </a:p>
        </p:txBody>
      </p:sp>
      <p:pic>
        <p:nvPicPr>
          <p:cNvPr id="27" name="Picture 26" descr="ph_stall.jpg_2.92x1.72.jpg"/>
          <p:cNvPicPr>
            <a:picLocks noChangeAspect="1"/>
          </p:cNvPicPr>
          <p:nvPr/>
        </p:nvPicPr>
        <p:blipFill>
          <a:blip r:embed="rId6"/>
          <a:stretch>
            <a:fillRect/>
          </a:stretch>
        </p:blipFill>
        <p:spPr>
          <a:xfrm>
            <a:off x="8947404" y="4617720"/>
            <a:ext cx="2670048" cy="1572768"/>
          </a:xfrm>
          <a:prstGeom prst="rect">
            <a:avLst/>
          </a:prstGeom>
        </p:spPr>
      </p:pic>
      <p:sp>
        <p:nvSpPr>
          <p:cNvPr id="28" name="Rectangle 27"/>
          <p:cNvSpPr/>
          <p:nvPr/>
        </p:nvSpPr>
        <p:spPr>
          <a:xfrm>
            <a:off x="8947404" y="4617720"/>
            <a:ext cx="2670048" cy="1572768"/>
          </a:xfrm>
          <a:prstGeom prst="rect">
            <a:avLst/>
          </a:prstGeom>
          <a:noFill/>
          <a:ln w="12700">
            <a:solidFill>
              <a:srgbClr val="E8E9EE"/>
            </a:solidFill>
          </a:ln>
          <a:effectLst/>
        </p:spPr>
        <p:txBody>
          <a:bodyPr rtlCol="0" anchor="ctr"/>
          <a:lstStyle/>
          <a:p>
            <a:pPr algn="ctr"/>
          </a:p>
        </p:txBody>
      </p:sp>
      <p:sp>
        <p:nvSpPr>
          <p:cNvPr id="29" name="TextBox 28"/>
          <p:cNvSpPr txBox="1"/>
          <p:nvPr/>
        </p:nvSpPr>
        <p:spPr>
          <a:xfrm>
            <a:off x="566928" y="6355080"/>
            <a:ext cx="8686800" cy="2743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Submitted to the Chairperson and Members, Working Group 5, National Road Safety Board</a:t>
            </a:r>
          </a:p>
        </p:txBody>
      </p:sp>
      <p:sp>
        <p:nvSpPr>
          <p:cNvPr id="30" name="TextBox 29"/>
          <p:cNvSpPr txBox="1"/>
          <p:nvPr/>
        </p:nvSpPr>
        <p:spPr>
          <a:xfrm>
            <a:off x="9247327" y="6355080"/>
            <a:ext cx="2377440" cy="274320"/>
          </a:xfrm>
          <a:prstGeom prst="rect">
            <a:avLst/>
          </a:prstGeom>
          <a:noFill/>
        </p:spPr>
        <p:txBody>
          <a:bodyPr wrap="square" lIns="0" rIns="0" tIns="0" bIns="0" anchor="t">
            <a:spAutoFit/>
          </a:bodyPr>
          <a:lstStyle/>
          <a:p>
            <a:pPr algn="r">
              <a:lnSpc>
                <a:spcPct val="128000"/>
              </a:lnSpc>
            </a:pPr>
            <a:r>
              <a:rPr sz="950" b="1" i="0">
                <a:solidFill>
                  <a:srgbClr val="4A35FF"/>
                </a:solidFill>
                <a:latin typeface="Montserrat"/>
              </a:rPr>
              <a:t>crashfreeindia.org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BEFORE THE SLIDES</a:t>
            </a:r>
          </a:p>
        </p:txBody>
      </p:sp>
      <p:cxnSp>
        <p:nvCxnSpPr>
          <p:cNvPr id="4" name="Connector 3"/>
          <p:cNvCxnSpPr/>
          <p:nvPr/>
        </p:nvCxnSpPr>
        <p:spPr>
          <a:xfrm>
            <a:off x="566928" y="566928"/>
            <a:ext cx="502920" cy="0"/>
          </a:xfrm>
          <a:prstGeom prst="line">
            <a:avLst/>
          </a:prstGeom>
          <a:ln w="25400">
            <a:solidFill>
              <a:srgbClr val="4A35FF"/>
            </a:solidFill>
          </a:ln>
          <a:effectLst/>
        </p:spPr>
      </p:cxnSp>
      <p:sp>
        <p:nvSpPr>
          <p:cNvPr id="5" name="TextBox 4"/>
          <p:cNvSpPr txBox="1"/>
          <p:nvPr/>
        </p:nvSpPr>
        <p:spPr>
          <a:xfrm>
            <a:off x="566928" y="694944"/>
            <a:ext cx="10972800" cy="457200"/>
          </a:xfrm>
          <a:prstGeom prst="rect">
            <a:avLst/>
          </a:prstGeom>
          <a:noFill/>
        </p:spPr>
        <p:txBody>
          <a:bodyPr wrap="square" lIns="0" rIns="0" tIns="0" bIns="0" anchor="t">
            <a:spAutoFit/>
          </a:bodyPr>
          <a:lstStyle/>
          <a:p>
            <a:pPr algn="l">
              <a:lnSpc>
                <a:spcPct val="110000"/>
              </a:lnSpc>
            </a:pPr>
            <a:r>
              <a:rPr sz="2250" b="1" i="0">
                <a:solidFill>
                  <a:srgbClr val="16181D"/>
                </a:solidFill>
                <a:latin typeface="Montserrat"/>
              </a:rPr>
              <a:t>A letter to the </a:t>
            </a:r>
            <a:r>
              <a:rPr sz="2250" b="1" i="0">
                <a:solidFill>
                  <a:srgbClr val="4A35FF"/>
                </a:solidFill>
                <a:latin typeface="Montserrat"/>
              </a:rPr>
              <a:t>Working Group</a:t>
            </a:r>
          </a:p>
        </p:txBody>
      </p:sp>
      <p:sp>
        <p:nvSpPr>
          <p:cNvPr id="6" name="Rectangle 5"/>
          <p:cNvSpPr/>
          <p:nvPr/>
        </p:nvSpPr>
        <p:spPr>
          <a:xfrm>
            <a:off x="1435608" y="1371600"/>
            <a:ext cx="9326880" cy="4956048"/>
          </a:xfrm>
          <a:prstGeom prst="rect">
            <a:avLst/>
          </a:prstGeom>
          <a:solidFill>
            <a:srgbClr val="FFFFFF"/>
          </a:solidFill>
          <a:ln w="15240">
            <a:solidFill>
              <a:srgbClr val="E8E9EE"/>
            </a:solidFill>
          </a:ln>
          <a:effectLst/>
        </p:spPr>
        <p:txBody>
          <a:bodyPr rtlCol="0" anchor="ctr"/>
          <a:lstStyle/>
          <a:p>
            <a:pPr algn="ctr"/>
          </a:p>
        </p:txBody>
      </p:sp>
      <p:sp>
        <p:nvSpPr>
          <p:cNvPr id="7" name="Rectangle 6"/>
          <p:cNvSpPr/>
          <p:nvPr/>
        </p:nvSpPr>
        <p:spPr>
          <a:xfrm>
            <a:off x="1435608" y="1371600"/>
            <a:ext cx="9326880" cy="54864"/>
          </a:xfrm>
          <a:prstGeom prst="rect">
            <a:avLst/>
          </a:prstGeom>
          <a:solidFill>
            <a:srgbClr val="4A35FF"/>
          </a:solidFill>
          <a:ln>
            <a:noFill/>
          </a:ln>
          <a:effectLst/>
        </p:spPr>
        <p:txBody>
          <a:bodyPr rtlCol="0" anchor="ctr"/>
          <a:lstStyle/>
          <a:p>
            <a:pPr algn="ctr"/>
          </a:p>
        </p:txBody>
      </p:sp>
      <p:pic>
        <p:nvPicPr>
          <p:cNvPr id="8" name="Picture 7" descr="logo_blue.png"/>
          <p:cNvPicPr>
            <a:picLocks noChangeAspect="1"/>
          </p:cNvPicPr>
          <p:nvPr/>
        </p:nvPicPr>
        <p:blipFill>
          <a:blip r:embed="rId2"/>
          <a:stretch>
            <a:fillRect/>
          </a:stretch>
        </p:blipFill>
        <p:spPr>
          <a:xfrm>
            <a:off x="1892808" y="1664208"/>
            <a:ext cx="1234440" cy="170579"/>
          </a:xfrm>
          <a:prstGeom prst="rect">
            <a:avLst/>
          </a:prstGeom>
        </p:spPr>
      </p:pic>
      <p:sp>
        <p:nvSpPr>
          <p:cNvPr id="9" name="TextBox 8"/>
          <p:cNvSpPr txBox="1"/>
          <p:nvPr/>
        </p:nvSpPr>
        <p:spPr>
          <a:xfrm>
            <a:off x="7836408" y="1700784"/>
            <a:ext cx="2468880" cy="274320"/>
          </a:xfrm>
          <a:prstGeom prst="rect">
            <a:avLst/>
          </a:prstGeom>
          <a:noFill/>
        </p:spPr>
        <p:txBody>
          <a:bodyPr wrap="square" lIns="0" rIns="0" tIns="0" bIns="0" anchor="t">
            <a:spAutoFit/>
          </a:bodyPr>
          <a:lstStyle/>
          <a:p>
            <a:pPr algn="r">
              <a:lnSpc>
                <a:spcPct val="128000"/>
              </a:lnSpc>
            </a:pPr>
            <a:r>
              <a:rPr sz="950" b="0" i="0">
                <a:solidFill>
                  <a:srgbClr val="6E7180"/>
                </a:solidFill>
                <a:latin typeface="Geist"/>
              </a:rPr>
              <a:t>New Delhi · August 2026</a:t>
            </a:r>
          </a:p>
        </p:txBody>
      </p:sp>
      <p:sp>
        <p:nvSpPr>
          <p:cNvPr id="10" name="TextBox 9"/>
          <p:cNvSpPr txBox="1"/>
          <p:nvPr/>
        </p:nvSpPr>
        <p:spPr>
          <a:xfrm>
            <a:off x="1892808" y="2240280"/>
            <a:ext cx="8412480" cy="3291840"/>
          </a:xfrm>
          <a:prstGeom prst="rect">
            <a:avLst/>
          </a:prstGeom>
          <a:noFill/>
        </p:spPr>
        <p:txBody>
          <a:bodyPr wrap="square" lIns="0" rIns="0" tIns="0" bIns="0" anchor="t">
            <a:spAutoFit/>
          </a:bodyPr>
          <a:lstStyle/>
          <a:p>
            <a:pPr algn="l">
              <a:lnSpc>
                <a:spcPct val="132000"/>
              </a:lnSpc>
              <a:spcAft>
                <a:spcPts val="700"/>
              </a:spcAft>
            </a:pPr>
            <a:r>
              <a:rPr sz="1080" b="0" i="0">
                <a:solidFill>
                  <a:srgbClr val="16181D"/>
                </a:solidFill>
                <a:latin typeface="Geist"/>
              </a:rPr>
              <a:t>Respected Chairperson and Members of Working Group 5,</a:t>
            </a:r>
          </a:p>
          <a:p>
            <a:pPr algn="l">
              <a:lnSpc>
                <a:spcPct val="132000"/>
              </a:lnSpc>
              <a:spcAft>
                <a:spcPts val="700"/>
              </a:spcAft>
            </a:pPr>
            <a:r>
              <a:rPr sz="1080" b="0" i="0">
                <a:solidFill>
                  <a:srgbClr val="16181D"/>
                </a:solidFill>
                <a:latin typeface="Geist"/>
              </a:rPr>
              <a:t>Crashfree India is a young road safety nonprofit — registered as the Vision Zero Trust, co-founded with the Indian Road Safety Council, and backed by a three-year, US$3 million commitment from Cars24. We work alongside public authorities: our student teams audit dangerous locations under senior experts, our technology helps police and administrators see their own pipelines, and our support tools stand with families after a crash.</a:t>
            </a:r>
          </a:p>
          <a:p>
            <a:pPr algn="l">
              <a:lnSpc>
                <a:spcPct val="132000"/>
              </a:lnSpc>
              <a:spcAft>
                <a:spcPts val="700"/>
              </a:spcAft>
            </a:pPr>
            <a:r>
              <a:rPr sz="1080" b="0" i="0">
                <a:solidFill>
                  <a:srgbClr val="16181D"/>
                </a:solidFill>
                <a:latin typeface="Geist"/>
              </a:rPr>
              <a:t>Our post-crash work began with evidence. 'Justice Unserved', our study of the hit-and-run compensation pipeline, found only 205 claims filed in FY22-23 against roughly 25,000 eligible crashes. Since then we have joined four District Road Safety Committees, reviewed 102 case files with the Gurugram administration, mapped Rajasthan's scheme office-by-office with the Transport Department, and built the tools families actually use — the Aasha chatbot, a compensation calculator, hospital helpdesks that supported 100+ victims in their first four days, and plain-language guides in Hindi.</a:t>
            </a:r>
          </a:p>
          <a:p>
            <a:pPr algn="l">
              <a:lnSpc>
                <a:spcPct val="132000"/>
              </a:lnSpc>
              <a:spcAft>
                <a:spcPts val="700"/>
              </a:spcAft>
            </a:pPr>
            <a:r>
              <a:rPr sz="1080" b="0" i="0">
                <a:solidFill>
                  <a:srgbClr val="16181D"/>
                </a:solidFill>
                <a:latin typeface="Geist"/>
              </a:rPr>
              <a:t>The pages that follow introduce the organisation briefly, then set out the work most relevant to this Working Group in the detail its mandate deserves. Everything shown is running today, is public, and is offered to the Board without cost. We would be honoured to contribute.</a:t>
            </a:r>
          </a:p>
        </p:txBody>
      </p:sp>
      <p:sp>
        <p:nvSpPr>
          <p:cNvPr id="11" name="TextBox 10"/>
          <p:cNvSpPr txBox="1"/>
          <p:nvPr/>
        </p:nvSpPr>
        <p:spPr>
          <a:xfrm>
            <a:off x="1892808" y="5596128"/>
            <a:ext cx="8412480" cy="274320"/>
          </a:xfrm>
          <a:prstGeom prst="rect">
            <a:avLst/>
          </a:prstGeom>
          <a:noFill/>
        </p:spPr>
        <p:txBody>
          <a:bodyPr wrap="square" lIns="0" rIns="0" tIns="0" bIns="0" anchor="t">
            <a:spAutoFit/>
          </a:bodyPr>
          <a:lstStyle/>
          <a:p>
            <a:pPr algn="l">
              <a:lnSpc>
                <a:spcPct val="128000"/>
              </a:lnSpc>
            </a:pPr>
            <a:r>
              <a:rPr sz="1080" b="0" i="0">
                <a:solidFill>
                  <a:srgbClr val="16181D"/>
                </a:solidFill>
                <a:latin typeface="Geist"/>
              </a:rPr>
              <a:t>Respectfully,</a:t>
            </a:r>
          </a:p>
        </p:txBody>
      </p:sp>
      <p:sp>
        <p:nvSpPr>
          <p:cNvPr id="12" name="TextBox 11"/>
          <p:cNvSpPr txBox="1"/>
          <p:nvPr/>
        </p:nvSpPr>
        <p:spPr>
          <a:xfrm>
            <a:off x="1892808" y="5870448"/>
            <a:ext cx="8412480" cy="274320"/>
          </a:xfrm>
          <a:prstGeom prst="rect">
            <a:avLst/>
          </a:prstGeom>
          <a:noFill/>
        </p:spPr>
        <p:txBody>
          <a:bodyPr wrap="square" lIns="0" rIns="0" tIns="0" bIns="0" anchor="t">
            <a:spAutoFit/>
          </a:bodyPr>
          <a:lstStyle/>
          <a:p>
            <a:pPr algn="l">
              <a:lnSpc>
                <a:spcPct val="128000"/>
              </a:lnSpc>
            </a:pPr>
            <a:r>
              <a:rPr sz="1150" b="1" i="0">
                <a:solidFill>
                  <a:srgbClr val="16181D"/>
                </a:solidFill>
                <a:latin typeface="Montserrat"/>
              </a:rPr>
              <a:t>Akhtar Hussain</a:t>
            </a:r>
          </a:p>
        </p:txBody>
      </p:sp>
      <p:sp>
        <p:nvSpPr>
          <p:cNvPr id="13" name="TextBox 12"/>
          <p:cNvSpPr txBox="1"/>
          <p:nvPr/>
        </p:nvSpPr>
        <p:spPr>
          <a:xfrm>
            <a:off x="1892808" y="6089904"/>
            <a:ext cx="8412480" cy="237744"/>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Mission Lead, Crashfree India  ·  akhtar@crashfreeindia.org  ·  crashfreeindia.org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HOW THIS DECK IS ORGANISED</a:t>
            </a:r>
          </a:p>
        </p:txBody>
      </p:sp>
      <p:cxnSp>
        <p:nvCxnSpPr>
          <p:cNvPr id="4" name="Connector 3"/>
          <p:cNvCxnSpPr/>
          <p:nvPr/>
        </p:nvCxnSpPr>
        <p:spPr>
          <a:xfrm>
            <a:off x="566928" y="566928"/>
            <a:ext cx="502920" cy="0"/>
          </a:xfrm>
          <a:prstGeom prst="line">
            <a:avLst/>
          </a:prstGeom>
          <a:ln w="25400">
            <a:solidFill>
              <a:srgbClr val="4A35FF"/>
            </a:solidFill>
          </a:ln>
          <a:effectLst/>
        </p:spPr>
      </p:cxnSp>
      <p:sp>
        <p:nvSpPr>
          <p:cNvPr id="5" name="TextBox 4"/>
          <p:cNvSpPr txBox="1"/>
          <p:nvPr/>
        </p:nvSpPr>
        <p:spPr>
          <a:xfrm>
            <a:off x="566928" y="694944"/>
            <a:ext cx="10972800" cy="457200"/>
          </a:xfrm>
          <a:prstGeom prst="rect">
            <a:avLst/>
          </a:prstGeom>
          <a:noFill/>
        </p:spPr>
        <p:txBody>
          <a:bodyPr wrap="square" lIns="0" rIns="0" tIns="0" bIns="0" anchor="t">
            <a:spAutoFit/>
          </a:bodyPr>
          <a:lstStyle/>
          <a:p>
            <a:pPr algn="l">
              <a:lnSpc>
                <a:spcPct val="110000"/>
              </a:lnSpc>
            </a:pPr>
            <a:r>
              <a:rPr sz="2250" b="1" i="0">
                <a:solidFill>
                  <a:srgbClr val="16181D"/>
                </a:solidFill>
                <a:latin typeface="Montserrat"/>
              </a:rPr>
              <a:t>Five sections, </a:t>
            </a:r>
            <a:r>
              <a:rPr sz="2250" b="1" i="0">
                <a:solidFill>
                  <a:srgbClr val="4A35FF"/>
                </a:solidFill>
                <a:latin typeface="Montserrat"/>
              </a:rPr>
              <a:t>three minutes</a:t>
            </a:r>
            <a:r>
              <a:rPr sz="2250" b="1" i="0">
                <a:solidFill>
                  <a:srgbClr val="16181D"/>
                </a:solidFill>
                <a:latin typeface="Montserrat"/>
              </a:rPr>
              <a:t> to skim</a:t>
            </a:r>
          </a:p>
        </p:txBody>
      </p:sp>
      <p:sp>
        <p:nvSpPr>
          <p:cNvPr id="6" name="Rounded Rectangle 5"/>
          <p:cNvSpPr/>
          <p:nvPr/>
        </p:nvSpPr>
        <p:spPr>
          <a:xfrm>
            <a:off x="566928" y="1572768"/>
            <a:ext cx="11057839" cy="804672"/>
          </a:xfrm>
          <a:prstGeom prst="roundRect">
            <a:avLst>
              <a:gd name="adj" fmla="val 10000"/>
            </a:avLst>
          </a:prstGeom>
          <a:solidFill>
            <a:srgbClr val="F7F7FA"/>
          </a:solidFill>
          <a:ln>
            <a:noFill/>
          </a:ln>
          <a:effectLst/>
        </p:spPr>
        <p:txBody>
          <a:bodyPr rtlCol="0" anchor="ctr"/>
          <a:lstStyle/>
          <a:p>
            <a:pPr algn="ctr"/>
          </a:p>
        </p:txBody>
      </p:sp>
      <p:sp>
        <p:nvSpPr>
          <p:cNvPr id="7" name="Oval 6"/>
          <p:cNvSpPr/>
          <p:nvPr/>
        </p:nvSpPr>
        <p:spPr>
          <a:xfrm>
            <a:off x="768096" y="1755648"/>
            <a:ext cx="438912" cy="438912"/>
          </a:xfrm>
          <a:prstGeom prst="ellipse">
            <a:avLst/>
          </a:prstGeom>
          <a:solidFill>
            <a:srgbClr val="EFEDFF"/>
          </a:solidFill>
          <a:ln>
            <a:noFill/>
          </a:ln>
          <a:effectLst/>
        </p:spPr>
        <p:txBody>
          <a:bodyPr rtlCol="0" anchor="ctr"/>
          <a:lstStyle/>
          <a:p>
            <a:pPr algn="ctr"/>
          </a:p>
        </p:txBody>
      </p:sp>
      <p:sp>
        <p:nvSpPr>
          <p:cNvPr id="8" name="TextBox 7"/>
          <p:cNvSpPr txBox="1"/>
          <p:nvPr/>
        </p:nvSpPr>
        <p:spPr>
          <a:xfrm>
            <a:off x="768096" y="1744676"/>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1</a:t>
            </a:r>
          </a:p>
        </p:txBody>
      </p:sp>
      <p:sp>
        <p:nvSpPr>
          <p:cNvPr id="9" name="Oval 8"/>
          <p:cNvSpPr/>
          <p:nvPr/>
        </p:nvSpPr>
        <p:spPr>
          <a:xfrm>
            <a:off x="1435608" y="1755648"/>
            <a:ext cx="438912" cy="438912"/>
          </a:xfrm>
          <a:prstGeom prst="ellipse">
            <a:avLst/>
          </a:prstGeom>
          <a:solidFill>
            <a:srgbClr val="EFEDFF"/>
          </a:solidFill>
          <a:ln>
            <a:noFill/>
          </a:ln>
          <a:effectLst/>
        </p:spPr>
        <p:txBody>
          <a:bodyPr rtlCol="0" anchor="ctr"/>
          <a:lstStyle/>
          <a:p>
            <a:pPr algn="ctr"/>
          </a:p>
        </p:txBody>
      </p:sp>
      <p:pic>
        <p:nvPicPr>
          <p:cNvPr id="10" name="Picture 9" descr="building-2_4A35FF_256_2.0.png"/>
          <p:cNvPicPr>
            <a:picLocks noChangeAspect="1"/>
          </p:cNvPicPr>
          <p:nvPr/>
        </p:nvPicPr>
        <p:blipFill>
          <a:blip r:embed="rId2"/>
          <a:stretch>
            <a:fillRect/>
          </a:stretch>
        </p:blipFill>
        <p:spPr>
          <a:xfrm>
            <a:off x="1540946" y="1860986"/>
            <a:ext cx="228234" cy="228234"/>
          </a:xfrm>
          <a:prstGeom prst="rect">
            <a:avLst/>
          </a:prstGeom>
        </p:spPr>
      </p:pic>
      <p:sp>
        <p:nvSpPr>
          <p:cNvPr id="11" name="TextBox 10"/>
          <p:cNvSpPr txBox="1"/>
          <p:nvPr/>
        </p:nvSpPr>
        <p:spPr>
          <a:xfrm>
            <a:off x="2103120" y="1691640"/>
            <a:ext cx="3291840" cy="365760"/>
          </a:xfrm>
          <a:prstGeom prst="rect">
            <a:avLst/>
          </a:prstGeom>
          <a:noFill/>
        </p:spPr>
        <p:txBody>
          <a:bodyPr wrap="square" lIns="0" rIns="0" tIns="0" bIns="0" anchor="t">
            <a:spAutoFit/>
          </a:bodyPr>
          <a:lstStyle/>
          <a:p>
            <a:pPr algn="l">
              <a:lnSpc>
                <a:spcPct val="100000"/>
              </a:lnSpc>
            </a:pPr>
            <a:r>
              <a:rPr sz="1350" b="1" i="0">
                <a:solidFill>
                  <a:srgbClr val="16181D"/>
                </a:solidFill>
                <a:latin typeface="Montserrat"/>
              </a:rPr>
              <a:t>About Crashfree India</a:t>
            </a:r>
          </a:p>
        </p:txBody>
      </p:sp>
      <p:sp>
        <p:nvSpPr>
          <p:cNvPr id="12" name="TextBox 11"/>
          <p:cNvSpPr txBox="1"/>
          <p:nvPr/>
        </p:nvSpPr>
        <p:spPr>
          <a:xfrm>
            <a:off x="2103120" y="1993392"/>
            <a:ext cx="6949440"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Who we are, how we are set up, and the principles we work by.</a:t>
            </a:r>
          </a:p>
        </p:txBody>
      </p:sp>
      <p:sp>
        <p:nvSpPr>
          <p:cNvPr id="13" name="TextBox 12"/>
          <p:cNvSpPr txBox="1"/>
          <p:nvPr/>
        </p:nvSpPr>
        <p:spPr>
          <a:xfrm>
            <a:off x="10070287" y="1792224"/>
            <a:ext cx="132588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04</a:t>
            </a:r>
          </a:p>
        </p:txBody>
      </p:sp>
      <p:sp>
        <p:nvSpPr>
          <p:cNvPr id="14" name="Rounded Rectangle 13"/>
          <p:cNvSpPr/>
          <p:nvPr/>
        </p:nvSpPr>
        <p:spPr>
          <a:xfrm>
            <a:off x="566928" y="2505456"/>
            <a:ext cx="11057839" cy="804672"/>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15" name="Oval 14"/>
          <p:cNvSpPr/>
          <p:nvPr/>
        </p:nvSpPr>
        <p:spPr>
          <a:xfrm>
            <a:off x="768096" y="2688336"/>
            <a:ext cx="438912" cy="438912"/>
          </a:xfrm>
          <a:prstGeom prst="ellipse">
            <a:avLst/>
          </a:prstGeom>
          <a:solidFill>
            <a:srgbClr val="EFEDFF"/>
          </a:solidFill>
          <a:ln>
            <a:noFill/>
          </a:ln>
          <a:effectLst/>
        </p:spPr>
        <p:txBody>
          <a:bodyPr rtlCol="0" anchor="ctr"/>
          <a:lstStyle/>
          <a:p>
            <a:pPr algn="ctr"/>
          </a:p>
        </p:txBody>
      </p:sp>
      <p:sp>
        <p:nvSpPr>
          <p:cNvPr id="16" name="TextBox 15"/>
          <p:cNvSpPr txBox="1"/>
          <p:nvPr/>
        </p:nvSpPr>
        <p:spPr>
          <a:xfrm>
            <a:off x="768096" y="2677364"/>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2</a:t>
            </a:r>
          </a:p>
        </p:txBody>
      </p:sp>
      <p:sp>
        <p:nvSpPr>
          <p:cNvPr id="17" name="Oval 16"/>
          <p:cNvSpPr/>
          <p:nvPr/>
        </p:nvSpPr>
        <p:spPr>
          <a:xfrm>
            <a:off x="1435608" y="2688336"/>
            <a:ext cx="438912" cy="438912"/>
          </a:xfrm>
          <a:prstGeom prst="ellipse">
            <a:avLst/>
          </a:prstGeom>
          <a:solidFill>
            <a:srgbClr val="EFEDFF"/>
          </a:solidFill>
          <a:ln>
            <a:noFill/>
          </a:ln>
          <a:effectLst/>
        </p:spPr>
        <p:txBody>
          <a:bodyPr rtlCol="0" anchor="ctr"/>
          <a:lstStyle/>
          <a:p>
            <a:pPr algn="ctr"/>
          </a:p>
        </p:txBody>
      </p:sp>
      <p:pic>
        <p:nvPicPr>
          <p:cNvPr id="18" name="Picture 17" descr="layers_4A35FF_256_2.0.png"/>
          <p:cNvPicPr>
            <a:picLocks noChangeAspect="1"/>
          </p:cNvPicPr>
          <p:nvPr/>
        </p:nvPicPr>
        <p:blipFill>
          <a:blip r:embed="rId3"/>
          <a:stretch>
            <a:fillRect/>
          </a:stretch>
        </p:blipFill>
        <p:spPr>
          <a:xfrm>
            <a:off x="1540946" y="2793674"/>
            <a:ext cx="228234" cy="228234"/>
          </a:xfrm>
          <a:prstGeom prst="rect">
            <a:avLst/>
          </a:prstGeom>
        </p:spPr>
      </p:pic>
      <p:sp>
        <p:nvSpPr>
          <p:cNvPr id="19" name="TextBox 18"/>
          <p:cNvSpPr txBox="1"/>
          <p:nvPr/>
        </p:nvSpPr>
        <p:spPr>
          <a:xfrm>
            <a:off x="2103120" y="2624328"/>
            <a:ext cx="3291840" cy="365760"/>
          </a:xfrm>
          <a:prstGeom prst="rect">
            <a:avLst/>
          </a:prstGeom>
          <a:noFill/>
        </p:spPr>
        <p:txBody>
          <a:bodyPr wrap="square" lIns="0" rIns="0" tIns="0" bIns="0" anchor="t">
            <a:spAutoFit/>
          </a:bodyPr>
          <a:lstStyle/>
          <a:p>
            <a:pPr algn="l">
              <a:lnSpc>
                <a:spcPct val="100000"/>
              </a:lnSpc>
            </a:pPr>
            <a:r>
              <a:rPr sz="1350" b="1" i="0">
                <a:solidFill>
                  <a:srgbClr val="16181D"/>
                </a:solidFill>
                <a:latin typeface="Montserrat"/>
              </a:rPr>
              <a:t>What we have built</a:t>
            </a:r>
          </a:p>
        </p:txBody>
      </p:sp>
      <p:sp>
        <p:nvSpPr>
          <p:cNvPr id="20" name="TextBox 19"/>
          <p:cNvSpPr txBox="1"/>
          <p:nvPr/>
        </p:nvSpPr>
        <p:spPr>
          <a:xfrm>
            <a:off x="2103120" y="2926080"/>
            <a:ext cx="6949440"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Every public-facing programme — audits, enforcement tech, victim support, open data, youth, campaigns.</a:t>
            </a:r>
          </a:p>
        </p:txBody>
      </p:sp>
      <p:sp>
        <p:nvSpPr>
          <p:cNvPr id="21" name="TextBox 20"/>
          <p:cNvSpPr txBox="1"/>
          <p:nvPr/>
        </p:nvSpPr>
        <p:spPr>
          <a:xfrm>
            <a:off x="10070287" y="2724912"/>
            <a:ext cx="132588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05 – 11</a:t>
            </a:r>
          </a:p>
        </p:txBody>
      </p:sp>
      <p:sp>
        <p:nvSpPr>
          <p:cNvPr id="22" name="Rounded Rectangle 21"/>
          <p:cNvSpPr/>
          <p:nvPr/>
        </p:nvSpPr>
        <p:spPr>
          <a:xfrm>
            <a:off x="566928" y="3438144"/>
            <a:ext cx="11057839" cy="804672"/>
          </a:xfrm>
          <a:prstGeom prst="roundRect">
            <a:avLst>
              <a:gd name="adj" fmla="val 10000"/>
            </a:avLst>
          </a:prstGeom>
          <a:solidFill>
            <a:srgbClr val="F7F7FA"/>
          </a:solidFill>
          <a:ln>
            <a:noFill/>
          </a:ln>
          <a:effectLst/>
        </p:spPr>
        <p:txBody>
          <a:bodyPr rtlCol="0" anchor="ctr"/>
          <a:lstStyle/>
          <a:p>
            <a:pPr algn="ctr"/>
          </a:p>
        </p:txBody>
      </p:sp>
      <p:sp>
        <p:nvSpPr>
          <p:cNvPr id="23" name="Oval 22"/>
          <p:cNvSpPr/>
          <p:nvPr/>
        </p:nvSpPr>
        <p:spPr>
          <a:xfrm>
            <a:off x="768096" y="3621024"/>
            <a:ext cx="438912" cy="438912"/>
          </a:xfrm>
          <a:prstGeom prst="ellipse">
            <a:avLst/>
          </a:prstGeom>
          <a:solidFill>
            <a:srgbClr val="EFEDFF"/>
          </a:solidFill>
          <a:ln>
            <a:noFill/>
          </a:ln>
          <a:effectLst/>
        </p:spPr>
        <p:txBody>
          <a:bodyPr rtlCol="0" anchor="ctr"/>
          <a:lstStyle/>
          <a:p>
            <a:pPr algn="ctr"/>
          </a:p>
        </p:txBody>
      </p:sp>
      <p:sp>
        <p:nvSpPr>
          <p:cNvPr id="24" name="TextBox 23"/>
          <p:cNvSpPr txBox="1"/>
          <p:nvPr/>
        </p:nvSpPr>
        <p:spPr>
          <a:xfrm>
            <a:off x="768096" y="3610052"/>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3</a:t>
            </a:r>
          </a:p>
        </p:txBody>
      </p:sp>
      <p:sp>
        <p:nvSpPr>
          <p:cNvPr id="25" name="Oval 24"/>
          <p:cNvSpPr/>
          <p:nvPr/>
        </p:nvSpPr>
        <p:spPr>
          <a:xfrm>
            <a:off x="1435608" y="3621024"/>
            <a:ext cx="438912" cy="438912"/>
          </a:xfrm>
          <a:prstGeom prst="ellipse">
            <a:avLst/>
          </a:prstGeom>
          <a:solidFill>
            <a:srgbClr val="EFEDFF"/>
          </a:solidFill>
          <a:ln>
            <a:noFill/>
          </a:ln>
          <a:effectLst/>
        </p:spPr>
        <p:txBody>
          <a:bodyPr rtlCol="0" anchor="ctr"/>
          <a:lstStyle/>
          <a:p>
            <a:pPr algn="ctr"/>
          </a:p>
        </p:txBody>
      </p:sp>
      <p:pic>
        <p:nvPicPr>
          <p:cNvPr id="26" name="Picture 25" descr="users_4A35FF_256_2.0.png"/>
          <p:cNvPicPr>
            <a:picLocks noChangeAspect="1"/>
          </p:cNvPicPr>
          <p:nvPr/>
        </p:nvPicPr>
        <p:blipFill>
          <a:blip r:embed="rId4"/>
          <a:stretch>
            <a:fillRect/>
          </a:stretch>
        </p:blipFill>
        <p:spPr>
          <a:xfrm>
            <a:off x="1540946" y="3726362"/>
            <a:ext cx="228234" cy="228234"/>
          </a:xfrm>
          <a:prstGeom prst="rect">
            <a:avLst/>
          </a:prstGeom>
        </p:spPr>
      </p:pic>
      <p:sp>
        <p:nvSpPr>
          <p:cNvPr id="27" name="TextBox 26"/>
          <p:cNvSpPr txBox="1"/>
          <p:nvPr/>
        </p:nvSpPr>
        <p:spPr>
          <a:xfrm>
            <a:off x="2103120" y="3557016"/>
            <a:ext cx="3291840" cy="365760"/>
          </a:xfrm>
          <a:prstGeom prst="rect">
            <a:avLst/>
          </a:prstGeom>
          <a:noFill/>
        </p:spPr>
        <p:txBody>
          <a:bodyPr wrap="square" lIns="0" rIns="0" tIns="0" bIns="0" anchor="t">
            <a:spAutoFit/>
          </a:bodyPr>
          <a:lstStyle/>
          <a:p>
            <a:pPr algn="l">
              <a:lnSpc>
                <a:spcPct val="100000"/>
              </a:lnSpc>
            </a:pPr>
            <a:r>
              <a:rPr sz="1350" b="1" i="0">
                <a:solidFill>
                  <a:srgbClr val="16181D"/>
                </a:solidFill>
                <a:latin typeface="Montserrat"/>
              </a:rPr>
              <a:t>Our people</a:t>
            </a:r>
          </a:p>
        </p:txBody>
      </p:sp>
      <p:sp>
        <p:nvSpPr>
          <p:cNvPr id="28" name="TextBox 27"/>
          <p:cNvSpPr txBox="1"/>
          <p:nvPr/>
        </p:nvSpPr>
        <p:spPr>
          <a:xfrm>
            <a:off x="2103120" y="3858768"/>
            <a:ext cx="6949440"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Trustees, Board of Advisors, and the expert bench behind the work.</a:t>
            </a:r>
          </a:p>
        </p:txBody>
      </p:sp>
      <p:sp>
        <p:nvSpPr>
          <p:cNvPr id="29" name="TextBox 28"/>
          <p:cNvSpPr txBox="1"/>
          <p:nvPr/>
        </p:nvSpPr>
        <p:spPr>
          <a:xfrm>
            <a:off x="10070287" y="3657600"/>
            <a:ext cx="132588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12</a:t>
            </a:r>
          </a:p>
        </p:txBody>
      </p:sp>
      <p:sp>
        <p:nvSpPr>
          <p:cNvPr id="30" name="Rounded Rectangle 29"/>
          <p:cNvSpPr/>
          <p:nvPr/>
        </p:nvSpPr>
        <p:spPr>
          <a:xfrm>
            <a:off x="566928" y="4370832"/>
            <a:ext cx="11057839" cy="804672"/>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31" name="Oval 30"/>
          <p:cNvSpPr/>
          <p:nvPr/>
        </p:nvSpPr>
        <p:spPr>
          <a:xfrm>
            <a:off x="768096" y="4553712"/>
            <a:ext cx="438912" cy="438912"/>
          </a:xfrm>
          <a:prstGeom prst="ellipse">
            <a:avLst/>
          </a:prstGeom>
          <a:solidFill>
            <a:srgbClr val="EFEDFF"/>
          </a:solidFill>
          <a:ln>
            <a:noFill/>
          </a:ln>
          <a:effectLst/>
        </p:spPr>
        <p:txBody>
          <a:bodyPr rtlCol="0" anchor="ctr"/>
          <a:lstStyle/>
          <a:p>
            <a:pPr algn="ctr"/>
          </a:p>
        </p:txBody>
      </p:sp>
      <p:sp>
        <p:nvSpPr>
          <p:cNvPr id="32" name="TextBox 31"/>
          <p:cNvSpPr txBox="1"/>
          <p:nvPr/>
        </p:nvSpPr>
        <p:spPr>
          <a:xfrm>
            <a:off x="768096" y="4542740"/>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4</a:t>
            </a:r>
          </a:p>
        </p:txBody>
      </p:sp>
      <p:sp>
        <p:nvSpPr>
          <p:cNvPr id="33" name="Oval 32"/>
          <p:cNvSpPr/>
          <p:nvPr/>
        </p:nvSpPr>
        <p:spPr>
          <a:xfrm>
            <a:off x="1435608" y="4553712"/>
            <a:ext cx="438912" cy="438912"/>
          </a:xfrm>
          <a:prstGeom prst="ellipse">
            <a:avLst/>
          </a:prstGeom>
          <a:solidFill>
            <a:srgbClr val="EFEDFF"/>
          </a:solidFill>
          <a:ln>
            <a:noFill/>
          </a:ln>
          <a:effectLst/>
        </p:spPr>
        <p:txBody>
          <a:bodyPr rtlCol="0" anchor="ctr"/>
          <a:lstStyle/>
          <a:p>
            <a:pPr algn="ctr"/>
          </a:p>
        </p:txBody>
      </p:sp>
      <p:pic>
        <p:nvPicPr>
          <p:cNvPr id="34" name="Picture 33" descr="target_4A35FF_256_2.0.png"/>
          <p:cNvPicPr>
            <a:picLocks noChangeAspect="1"/>
          </p:cNvPicPr>
          <p:nvPr/>
        </p:nvPicPr>
        <p:blipFill>
          <a:blip r:embed="rId5"/>
          <a:stretch>
            <a:fillRect/>
          </a:stretch>
        </p:blipFill>
        <p:spPr>
          <a:xfrm>
            <a:off x="1540946" y="4659050"/>
            <a:ext cx="228234" cy="228234"/>
          </a:xfrm>
          <a:prstGeom prst="rect">
            <a:avLst/>
          </a:prstGeom>
        </p:spPr>
      </p:pic>
      <p:sp>
        <p:nvSpPr>
          <p:cNvPr id="35" name="TextBox 34"/>
          <p:cNvSpPr txBox="1"/>
          <p:nvPr/>
        </p:nvSpPr>
        <p:spPr>
          <a:xfrm>
            <a:off x="2103120" y="4489704"/>
            <a:ext cx="3291840" cy="365760"/>
          </a:xfrm>
          <a:prstGeom prst="rect">
            <a:avLst/>
          </a:prstGeom>
          <a:noFill/>
        </p:spPr>
        <p:txBody>
          <a:bodyPr wrap="square" lIns="0" rIns="0" tIns="0" bIns="0" anchor="t">
            <a:spAutoFit/>
          </a:bodyPr>
          <a:lstStyle/>
          <a:p>
            <a:pPr algn="l">
              <a:lnSpc>
                <a:spcPct val="100000"/>
              </a:lnSpc>
            </a:pPr>
            <a:r>
              <a:rPr sz="1350" b="1" i="0">
                <a:solidFill>
                  <a:srgbClr val="16181D"/>
                </a:solidFill>
                <a:latin typeface="Montserrat"/>
              </a:rPr>
              <a:t>Post-crash care in depth</a:t>
            </a:r>
          </a:p>
        </p:txBody>
      </p:sp>
      <p:sp>
        <p:nvSpPr>
          <p:cNvPr id="36" name="TextBox 35"/>
          <p:cNvSpPr txBox="1"/>
          <p:nvPr/>
        </p:nvSpPr>
        <p:spPr>
          <a:xfrm>
            <a:off x="2103120" y="4791456"/>
            <a:ext cx="6949440"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The deep dive matched to this Working Group's mandate — evidence, method, and results.</a:t>
            </a:r>
          </a:p>
        </p:txBody>
      </p:sp>
      <p:sp>
        <p:nvSpPr>
          <p:cNvPr id="37" name="TextBox 36"/>
          <p:cNvSpPr txBox="1"/>
          <p:nvPr/>
        </p:nvSpPr>
        <p:spPr>
          <a:xfrm>
            <a:off x="10070287" y="4590288"/>
            <a:ext cx="132588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13 – 21</a:t>
            </a:r>
          </a:p>
        </p:txBody>
      </p:sp>
      <p:sp>
        <p:nvSpPr>
          <p:cNvPr id="38" name="Rounded Rectangle 37"/>
          <p:cNvSpPr/>
          <p:nvPr/>
        </p:nvSpPr>
        <p:spPr>
          <a:xfrm>
            <a:off x="566928" y="5303520"/>
            <a:ext cx="11057839" cy="804672"/>
          </a:xfrm>
          <a:prstGeom prst="roundRect">
            <a:avLst>
              <a:gd name="adj" fmla="val 10000"/>
            </a:avLst>
          </a:prstGeom>
          <a:solidFill>
            <a:srgbClr val="F7F7FA"/>
          </a:solidFill>
          <a:ln>
            <a:noFill/>
          </a:ln>
          <a:effectLst/>
        </p:spPr>
        <p:txBody>
          <a:bodyPr rtlCol="0" anchor="ctr"/>
          <a:lstStyle/>
          <a:p>
            <a:pPr algn="ctr"/>
          </a:p>
        </p:txBody>
      </p:sp>
      <p:sp>
        <p:nvSpPr>
          <p:cNvPr id="39" name="Oval 38"/>
          <p:cNvSpPr/>
          <p:nvPr/>
        </p:nvSpPr>
        <p:spPr>
          <a:xfrm>
            <a:off x="768096" y="5486400"/>
            <a:ext cx="438912" cy="438912"/>
          </a:xfrm>
          <a:prstGeom prst="ellipse">
            <a:avLst/>
          </a:prstGeom>
          <a:solidFill>
            <a:srgbClr val="EFEDFF"/>
          </a:solidFill>
          <a:ln>
            <a:noFill/>
          </a:ln>
          <a:effectLst/>
        </p:spPr>
        <p:txBody>
          <a:bodyPr rtlCol="0" anchor="ctr"/>
          <a:lstStyle/>
          <a:p>
            <a:pPr algn="ctr"/>
          </a:p>
        </p:txBody>
      </p:sp>
      <p:sp>
        <p:nvSpPr>
          <p:cNvPr id="40" name="TextBox 39"/>
          <p:cNvSpPr txBox="1"/>
          <p:nvPr/>
        </p:nvSpPr>
        <p:spPr>
          <a:xfrm>
            <a:off x="768096" y="5475428"/>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5</a:t>
            </a:r>
          </a:p>
        </p:txBody>
      </p:sp>
      <p:sp>
        <p:nvSpPr>
          <p:cNvPr id="41" name="Oval 40"/>
          <p:cNvSpPr/>
          <p:nvPr/>
        </p:nvSpPr>
        <p:spPr>
          <a:xfrm>
            <a:off x="1435608" y="5486400"/>
            <a:ext cx="438912" cy="438912"/>
          </a:xfrm>
          <a:prstGeom prst="ellipse">
            <a:avLst/>
          </a:prstGeom>
          <a:solidFill>
            <a:srgbClr val="EFEDFF"/>
          </a:solidFill>
          <a:ln>
            <a:noFill/>
          </a:ln>
          <a:effectLst/>
        </p:spPr>
        <p:txBody>
          <a:bodyPr rtlCol="0" anchor="ctr"/>
          <a:lstStyle/>
          <a:p>
            <a:pPr algn="ctr"/>
          </a:p>
        </p:txBody>
      </p:sp>
      <p:pic>
        <p:nvPicPr>
          <p:cNvPr id="42" name="Picture 41" descr="handshake_4A35FF_256_2.0.png"/>
          <p:cNvPicPr>
            <a:picLocks noChangeAspect="1"/>
          </p:cNvPicPr>
          <p:nvPr/>
        </p:nvPicPr>
        <p:blipFill>
          <a:blip r:embed="rId6"/>
          <a:stretch>
            <a:fillRect/>
          </a:stretch>
        </p:blipFill>
        <p:spPr>
          <a:xfrm>
            <a:off x="1540946" y="5591738"/>
            <a:ext cx="228234" cy="228234"/>
          </a:xfrm>
          <a:prstGeom prst="rect">
            <a:avLst/>
          </a:prstGeom>
        </p:spPr>
      </p:pic>
      <p:sp>
        <p:nvSpPr>
          <p:cNvPr id="43" name="TextBox 42"/>
          <p:cNvSpPr txBox="1"/>
          <p:nvPr/>
        </p:nvSpPr>
        <p:spPr>
          <a:xfrm>
            <a:off x="2103120" y="5422392"/>
            <a:ext cx="3291840" cy="365760"/>
          </a:xfrm>
          <a:prstGeom prst="rect">
            <a:avLst/>
          </a:prstGeom>
          <a:noFill/>
        </p:spPr>
        <p:txBody>
          <a:bodyPr wrap="square" lIns="0" rIns="0" tIns="0" bIns="0" anchor="t">
            <a:spAutoFit/>
          </a:bodyPr>
          <a:lstStyle/>
          <a:p>
            <a:pPr algn="l">
              <a:lnSpc>
                <a:spcPct val="100000"/>
              </a:lnSpc>
            </a:pPr>
            <a:r>
              <a:rPr sz="1350" b="1" i="0">
                <a:solidFill>
                  <a:srgbClr val="16181D"/>
                </a:solidFill>
                <a:latin typeface="Montserrat"/>
              </a:rPr>
              <a:t>How we can contribute</a:t>
            </a:r>
          </a:p>
        </p:txBody>
      </p:sp>
      <p:sp>
        <p:nvSpPr>
          <p:cNvPr id="44" name="TextBox 43"/>
          <p:cNvSpPr txBox="1"/>
          <p:nvPr/>
        </p:nvSpPr>
        <p:spPr>
          <a:xfrm>
            <a:off x="2103120" y="5724144"/>
            <a:ext cx="6949440"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Four concrete, no-cost offers to the Working Group.</a:t>
            </a:r>
          </a:p>
        </p:txBody>
      </p:sp>
      <p:sp>
        <p:nvSpPr>
          <p:cNvPr id="45" name="TextBox 44"/>
          <p:cNvSpPr txBox="1"/>
          <p:nvPr/>
        </p:nvSpPr>
        <p:spPr>
          <a:xfrm>
            <a:off x="10070287" y="5522976"/>
            <a:ext cx="132588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22 – 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ABOUT US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Crashfree India: a nonprofit that adds </a:t>
            </a:r>
            <a:r>
              <a:rPr sz="2250" b="1" i="0">
                <a:solidFill>
                  <a:srgbClr val="4A35FF"/>
                </a:solidFill>
                <a:latin typeface="Montserrat"/>
              </a:rPr>
              <a:t>capacity</a:t>
            </a:r>
            <a:r>
              <a:rPr sz="2250" b="1" i="0">
                <a:solidFill>
                  <a:srgbClr val="16181D"/>
                </a:solidFill>
                <a:latin typeface="Montserrat"/>
              </a:rPr>
              <a:t> to road safety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Registered as the Vision Zero Trust · Co-founded by Cars24 and the Indian Road Safety Council · Working since June 2025 · New Delhi</a:t>
            </a:r>
          </a:p>
        </p:txBody>
      </p:sp>
      <p:sp>
        <p:nvSpPr>
          <p:cNvPr id="8" name="Oval 7"/>
          <p:cNvSpPr/>
          <p:nvPr/>
        </p:nvSpPr>
        <p:spPr>
          <a:xfrm>
            <a:off x="566928" y="2011680"/>
            <a:ext cx="365760" cy="365760"/>
          </a:xfrm>
          <a:prstGeom prst="ellipse">
            <a:avLst/>
          </a:prstGeom>
          <a:solidFill>
            <a:srgbClr val="E9F7F0"/>
          </a:solidFill>
          <a:ln>
            <a:noFill/>
          </a:ln>
          <a:effectLst/>
        </p:spPr>
        <p:txBody>
          <a:bodyPr rtlCol="0" anchor="ctr"/>
          <a:lstStyle/>
          <a:p>
            <a:pPr algn="ctr"/>
          </a:p>
        </p:txBody>
      </p:sp>
      <p:pic>
        <p:nvPicPr>
          <p:cNvPr id="9" name="Picture 8" descr="search-check_0A9955_256_2.0.png"/>
          <p:cNvPicPr>
            <a:picLocks noChangeAspect="1"/>
          </p:cNvPicPr>
          <p:nvPr/>
        </p:nvPicPr>
        <p:blipFill>
          <a:blip r:embed="rId2"/>
          <a:stretch>
            <a:fillRect/>
          </a:stretch>
        </p:blipFill>
        <p:spPr>
          <a:xfrm>
            <a:off x="654710" y="2099462"/>
            <a:ext cx="190195" cy="190195"/>
          </a:xfrm>
          <a:prstGeom prst="rect">
            <a:avLst/>
          </a:prstGeom>
        </p:spPr>
      </p:pic>
      <p:sp>
        <p:nvSpPr>
          <p:cNvPr id="10" name="TextBox 9"/>
          <p:cNvSpPr txBox="1"/>
          <p:nvPr/>
        </p:nvSpPr>
        <p:spPr>
          <a:xfrm>
            <a:off x="1097280" y="19933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Evidence first</a:t>
            </a:r>
          </a:p>
        </p:txBody>
      </p:sp>
      <p:sp>
        <p:nvSpPr>
          <p:cNvPr id="11" name="TextBox 10"/>
          <p:cNvSpPr txBox="1"/>
          <p:nvPr/>
        </p:nvSpPr>
        <p:spPr>
          <a:xfrm>
            <a:off x="3566160" y="1993392"/>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Structured field audits, file reviews and research to official standards — not opinion.</a:t>
            </a:r>
          </a:p>
        </p:txBody>
      </p:sp>
      <p:sp>
        <p:nvSpPr>
          <p:cNvPr id="12" name="Oval 11"/>
          <p:cNvSpPr/>
          <p:nvPr/>
        </p:nvSpPr>
        <p:spPr>
          <a:xfrm>
            <a:off x="566928" y="2761488"/>
            <a:ext cx="365760" cy="365760"/>
          </a:xfrm>
          <a:prstGeom prst="ellipse">
            <a:avLst/>
          </a:prstGeom>
          <a:solidFill>
            <a:srgbClr val="EFEDFF"/>
          </a:solidFill>
          <a:ln>
            <a:noFill/>
          </a:ln>
          <a:effectLst/>
        </p:spPr>
        <p:txBody>
          <a:bodyPr rtlCol="0" anchor="ctr"/>
          <a:lstStyle/>
          <a:p>
            <a:pPr algn="ctr"/>
          </a:p>
        </p:txBody>
      </p:sp>
      <p:pic>
        <p:nvPicPr>
          <p:cNvPr id="13" name="Picture 12" descr="landmark_4A35FF_256_2.0.png"/>
          <p:cNvPicPr>
            <a:picLocks noChangeAspect="1"/>
          </p:cNvPicPr>
          <p:nvPr/>
        </p:nvPicPr>
        <p:blipFill>
          <a:blip r:embed="rId3"/>
          <a:stretch>
            <a:fillRect/>
          </a:stretch>
        </p:blipFill>
        <p:spPr>
          <a:xfrm>
            <a:off x="654710" y="2849270"/>
            <a:ext cx="190195" cy="190195"/>
          </a:xfrm>
          <a:prstGeom prst="rect">
            <a:avLst/>
          </a:prstGeom>
        </p:spPr>
      </p:pic>
      <p:sp>
        <p:nvSpPr>
          <p:cNvPr id="14" name="TextBox 13"/>
          <p:cNvSpPr txBox="1"/>
          <p:nvPr/>
        </p:nvSpPr>
        <p:spPr>
          <a:xfrm>
            <a:off x="1097280" y="2743200"/>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Institutional collaboration</a:t>
            </a:r>
          </a:p>
        </p:txBody>
      </p:sp>
      <p:sp>
        <p:nvSpPr>
          <p:cNvPr id="15" name="TextBox 14"/>
          <p:cNvSpPr txBox="1"/>
          <p:nvPr/>
        </p:nvSpPr>
        <p:spPr>
          <a:xfrm>
            <a:off x="3566160" y="2743200"/>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We work through PWDs, NHAI, transport departments, police and District Road Safety Committees.</a:t>
            </a:r>
          </a:p>
        </p:txBody>
      </p:sp>
      <p:sp>
        <p:nvSpPr>
          <p:cNvPr id="16" name="Oval 15"/>
          <p:cNvSpPr/>
          <p:nvPr/>
        </p:nvSpPr>
        <p:spPr>
          <a:xfrm>
            <a:off x="566928" y="3511296"/>
            <a:ext cx="365760" cy="365760"/>
          </a:xfrm>
          <a:prstGeom prst="ellipse">
            <a:avLst/>
          </a:prstGeom>
          <a:solidFill>
            <a:srgbClr val="FDF3E3"/>
          </a:solidFill>
          <a:ln>
            <a:noFill/>
          </a:ln>
          <a:effectLst/>
        </p:spPr>
        <p:txBody>
          <a:bodyPr rtlCol="0" anchor="ctr"/>
          <a:lstStyle/>
          <a:p>
            <a:pPr algn="ctr"/>
          </a:p>
        </p:txBody>
      </p:sp>
      <p:pic>
        <p:nvPicPr>
          <p:cNvPr id="17" name="Picture 16" descr="users_E58900_256_2.0.png"/>
          <p:cNvPicPr>
            <a:picLocks noChangeAspect="1"/>
          </p:cNvPicPr>
          <p:nvPr/>
        </p:nvPicPr>
        <p:blipFill>
          <a:blip r:embed="rId4"/>
          <a:stretch>
            <a:fillRect/>
          </a:stretch>
        </p:blipFill>
        <p:spPr>
          <a:xfrm>
            <a:off x="654710" y="3599078"/>
            <a:ext cx="190195" cy="190195"/>
          </a:xfrm>
          <a:prstGeom prst="rect">
            <a:avLst/>
          </a:prstGeom>
        </p:spPr>
      </p:pic>
      <p:sp>
        <p:nvSpPr>
          <p:cNvPr id="18" name="TextBox 17"/>
          <p:cNvSpPr txBox="1"/>
          <p:nvPr/>
        </p:nvSpPr>
        <p:spPr>
          <a:xfrm>
            <a:off x="1097280" y="3493008"/>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Youth-led capacity</a:t>
            </a:r>
          </a:p>
        </p:txBody>
      </p:sp>
      <p:sp>
        <p:nvSpPr>
          <p:cNvPr id="19" name="TextBox 18"/>
          <p:cNvSpPr txBox="1"/>
          <p:nvPr/>
        </p:nvSpPr>
        <p:spPr>
          <a:xfrm>
            <a:off x="3566160" y="3493008"/>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Trained student teams from IITs, NITs and SPAs add the auditing hands the system needs.</a:t>
            </a:r>
          </a:p>
        </p:txBody>
      </p:sp>
      <p:sp>
        <p:nvSpPr>
          <p:cNvPr id="20" name="Oval 19"/>
          <p:cNvSpPr/>
          <p:nvPr/>
        </p:nvSpPr>
        <p:spPr>
          <a:xfrm>
            <a:off x="566928" y="4261104"/>
            <a:ext cx="365760" cy="365760"/>
          </a:xfrm>
          <a:prstGeom prst="ellipse">
            <a:avLst/>
          </a:prstGeom>
          <a:solidFill>
            <a:srgbClr val="E7F4F4"/>
          </a:solidFill>
          <a:ln>
            <a:noFill/>
          </a:ln>
          <a:effectLst/>
        </p:spPr>
        <p:txBody>
          <a:bodyPr rtlCol="0" anchor="ctr"/>
          <a:lstStyle/>
          <a:p>
            <a:pPr algn="ctr"/>
          </a:p>
        </p:txBody>
      </p:sp>
      <p:pic>
        <p:nvPicPr>
          <p:cNvPr id="21" name="Picture 20" descr="monitor-check_0E8A8A_256_2.0.png"/>
          <p:cNvPicPr>
            <a:picLocks noChangeAspect="1"/>
          </p:cNvPicPr>
          <p:nvPr/>
        </p:nvPicPr>
        <p:blipFill>
          <a:blip r:embed="rId5"/>
          <a:stretch>
            <a:fillRect/>
          </a:stretch>
        </p:blipFill>
        <p:spPr>
          <a:xfrm>
            <a:off x="654710" y="4348886"/>
            <a:ext cx="190195" cy="190195"/>
          </a:xfrm>
          <a:prstGeom prst="rect">
            <a:avLst/>
          </a:prstGeom>
        </p:spPr>
      </p:pic>
      <p:sp>
        <p:nvSpPr>
          <p:cNvPr id="22" name="TextBox 21"/>
          <p:cNvSpPr txBox="1"/>
          <p:nvPr/>
        </p:nvSpPr>
        <p:spPr>
          <a:xfrm>
            <a:off x="1097280" y="424281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Technology for follow-through</a:t>
            </a:r>
          </a:p>
        </p:txBody>
      </p:sp>
      <p:sp>
        <p:nvSpPr>
          <p:cNvPr id="23" name="TextBox 22"/>
          <p:cNvSpPr txBox="1"/>
          <p:nvPr/>
        </p:nvSpPr>
        <p:spPr>
          <a:xfrm>
            <a:off x="3566160" y="4242816"/>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Public dashboards track every recommendation from submission to completion.</a:t>
            </a:r>
          </a:p>
        </p:txBody>
      </p:sp>
      <p:sp>
        <p:nvSpPr>
          <p:cNvPr id="24" name="Rounded Rectangle 23"/>
          <p:cNvSpPr/>
          <p:nvPr/>
        </p:nvSpPr>
        <p:spPr>
          <a:xfrm>
            <a:off x="566928" y="5166360"/>
            <a:ext cx="6903720" cy="841248"/>
          </a:xfrm>
          <a:prstGeom prst="roundRect">
            <a:avLst>
              <a:gd name="adj" fmla="val 16000"/>
            </a:avLst>
          </a:prstGeom>
          <a:solidFill>
            <a:srgbClr val="EFEDFF"/>
          </a:solidFill>
          <a:ln>
            <a:noFill/>
          </a:ln>
          <a:effectLst/>
        </p:spPr>
        <p:txBody>
          <a:bodyPr rtlCol="0" anchor="ctr"/>
          <a:lstStyle/>
          <a:p>
            <a:pPr algn="ctr"/>
          </a:p>
        </p:txBody>
      </p:sp>
      <p:sp>
        <p:nvSpPr>
          <p:cNvPr id="25" name="TextBox 24"/>
          <p:cNvSpPr txBox="1"/>
          <p:nvPr/>
        </p:nvSpPr>
        <p:spPr>
          <a:xfrm>
            <a:off x="795528" y="5230368"/>
            <a:ext cx="6492240" cy="731520"/>
          </a:xfrm>
          <a:prstGeom prst="rect">
            <a:avLst/>
          </a:prstGeom>
          <a:noFill/>
        </p:spPr>
        <p:txBody>
          <a:bodyPr wrap="square" lIns="0" rIns="0" tIns="0" bIns="0" anchor="t">
            <a:spAutoFit/>
          </a:bodyPr>
          <a:lstStyle/>
          <a:p>
            <a:pPr algn="l">
              <a:lnSpc>
                <a:spcPct val="130000"/>
              </a:lnSpc>
            </a:pPr>
            <a:r>
              <a:rPr sz="1150" b="1" i="0">
                <a:solidFill>
                  <a:srgbClr val="4A35FF"/>
                </a:solidFill>
                <a:latin typeface="Geist"/>
              </a:rPr>
              <a:t>Backed by a US$3 million, three-year commitment from Cars24 </a:t>
            </a:r>
            <a:r>
              <a:rPr sz="1150" b="0" i="0">
                <a:solidFill>
                  <a:srgbClr val="4A35FF"/>
                </a:solidFill>
                <a:latin typeface="Geist"/>
              </a:rPr>
              <a:t>— programmes, not overheads, receive 71% of the budget.</a:t>
            </a:r>
          </a:p>
        </p:txBody>
      </p:sp>
      <p:pic>
        <p:nvPicPr>
          <p:cNvPr id="26" name="Picture 25" descr="cfi_map_dots.png"/>
          <p:cNvPicPr>
            <a:picLocks noChangeAspect="1"/>
          </p:cNvPicPr>
          <p:nvPr/>
        </p:nvPicPr>
        <p:blipFill>
          <a:blip r:embed="rId6"/>
          <a:stretch>
            <a:fillRect/>
          </a:stretch>
        </p:blipFill>
        <p:spPr>
          <a:xfrm>
            <a:off x="7863840" y="1965960"/>
            <a:ext cx="3703320" cy="4400277"/>
          </a:xfrm>
          <a:prstGeom prst="rect">
            <a:avLst/>
          </a:prstGeom>
        </p:spPr>
      </p:pic>
      <p:sp>
        <p:nvSpPr>
          <p:cNvPr id="27" name="Rectangle 26"/>
          <p:cNvSpPr/>
          <p:nvPr/>
        </p:nvSpPr>
        <p:spPr>
          <a:xfrm>
            <a:off x="7863840" y="1965960"/>
            <a:ext cx="3703320" cy="4400277"/>
          </a:xfrm>
          <a:prstGeom prst="rect">
            <a:avLst/>
          </a:prstGeom>
          <a:noFill/>
          <a:ln w="12700">
            <a:solidFill>
              <a:srgbClr val="E8E9EE"/>
            </a:solidFill>
          </a:ln>
          <a:effectLst/>
        </p:spPr>
        <p:txBody>
          <a:bodyPr rtlCol="0" anchor="ctr"/>
          <a:lstStyle/>
          <a:p>
            <a:pPr algn="ctr"/>
          </a:p>
        </p:txBody>
      </p:sp>
      <p:sp>
        <p:nvSpPr>
          <p:cNvPr id="28" name="TextBox 27"/>
          <p:cNvSpPr txBox="1"/>
          <p:nvPr/>
        </p:nvSpPr>
        <p:spPr>
          <a:xfrm>
            <a:off x="7863840" y="6411957"/>
            <a:ext cx="37033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Where we work today — 18 cities, north to south.</a:t>
            </a: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04 / 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Six lines of work, </a:t>
            </a:r>
            <a:r>
              <a:rPr sz="2250" b="1" i="0">
                <a:solidFill>
                  <a:srgbClr val="4A35FF"/>
                </a:solidFill>
                <a:latin typeface="Montserrat"/>
              </a:rPr>
              <a:t>one connected system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Audits create data · data supports policy · policy guides the field. Everything below is live today.</a:t>
            </a:r>
          </a:p>
        </p:txBody>
      </p:sp>
      <p:sp>
        <p:nvSpPr>
          <p:cNvPr id="8" name="Rounded Rectangle 7"/>
          <p:cNvSpPr/>
          <p:nvPr/>
        </p:nvSpPr>
        <p:spPr>
          <a:xfrm>
            <a:off x="566928"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implementation_work.jpg_3.95x1.28.jpg"/>
          <p:cNvPicPr>
            <a:picLocks noChangeAspect="1"/>
          </p:cNvPicPr>
          <p:nvPr/>
        </p:nvPicPr>
        <p:blipFill>
          <a:blip r:embed="rId2"/>
          <a:stretch>
            <a:fillRect/>
          </a:stretch>
        </p:blipFill>
        <p:spPr>
          <a:xfrm>
            <a:off x="566928" y="1938528"/>
            <a:ext cx="3611880" cy="1170432"/>
          </a:xfrm>
          <a:prstGeom prst="rect">
            <a:avLst/>
          </a:prstGeom>
        </p:spPr>
      </p:pic>
      <p:sp>
        <p:nvSpPr>
          <p:cNvPr id="10" name="Rectangle 9"/>
          <p:cNvSpPr/>
          <p:nvPr/>
        </p:nvSpPr>
        <p:spPr>
          <a:xfrm>
            <a:off x="566928" y="1938528"/>
            <a:ext cx="3611880" cy="1170432"/>
          </a:xfrm>
          <a:prstGeom prst="rect">
            <a:avLst/>
          </a:prstGeom>
          <a:noFill/>
          <a:ln w="12700">
            <a:solidFill>
              <a:srgbClr val="E8E9EE"/>
            </a:solidFill>
          </a:ln>
          <a:effectLst/>
        </p:spPr>
        <p:txBody>
          <a:bodyPr rtlCol="0" anchor="ctr"/>
          <a:lstStyle/>
          <a:p>
            <a:pPr algn="ctr"/>
          </a:p>
        </p:txBody>
      </p:sp>
      <p:sp>
        <p:nvSpPr>
          <p:cNvPr id="11" name="TextBox 10"/>
          <p:cNvSpPr txBox="1"/>
          <p:nvPr/>
        </p:nvSpPr>
        <p:spPr>
          <a:xfrm>
            <a:off x="694944"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Project Rakshak</a:t>
            </a:r>
          </a:p>
        </p:txBody>
      </p:sp>
      <p:sp>
        <p:nvSpPr>
          <p:cNvPr id="12" name="TextBox 11"/>
          <p:cNvSpPr txBox="1"/>
          <p:nvPr/>
        </p:nvSpPr>
        <p:spPr>
          <a:xfrm>
            <a:off x="694944"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Student-led road audits, fixed with authorities</a:t>
            </a:r>
          </a:p>
        </p:txBody>
      </p:sp>
      <p:sp>
        <p:nvSpPr>
          <p:cNvPr id="13" name="TextBox 12"/>
          <p:cNvSpPr txBox="1"/>
          <p:nvPr/>
        </p:nvSpPr>
        <p:spPr>
          <a:xfrm>
            <a:off x="694944"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31 sites · 15 under implementation</a:t>
            </a:r>
          </a:p>
        </p:txBody>
      </p:sp>
      <p:sp>
        <p:nvSpPr>
          <p:cNvPr id="14" name="Rounded Rectangle 13"/>
          <p:cNvSpPr/>
          <p:nvPr/>
        </p:nvSpPr>
        <p:spPr>
          <a:xfrm>
            <a:off x="4288536"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5" name="Picture 14" descr="satark_billboard.jpg_3.95x1.28.jpg"/>
          <p:cNvPicPr>
            <a:picLocks noChangeAspect="1"/>
          </p:cNvPicPr>
          <p:nvPr/>
        </p:nvPicPr>
        <p:blipFill>
          <a:blip r:embed="rId3"/>
          <a:stretch>
            <a:fillRect/>
          </a:stretch>
        </p:blipFill>
        <p:spPr>
          <a:xfrm>
            <a:off x="4288536" y="1938528"/>
            <a:ext cx="3611880" cy="1170432"/>
          </a:xfrm>
          <a:prstGeom prst="rect">
            <a:avLst/>
          </a:prstGeom>
        </p:spPr>
      </p:pic>
      <p:sp>
        <p:nvSpPr>
          <p:cNvPr id="16" name="Rectangle 15"/>
          <p:cNvSpPr/>
          <p:nvPr/>
        </p:nvSpPr>
        <p:spPr>
          <a:xfrm>
            <a:off x="4288536" y="1938528"/>
            <a:ext cx="3611880" cy="1170432"/>
          </a:xfrm>
          <a:prstGeom prst="rect">
            <a:avLst/>
          </a:prstGeom>
          <a:noFill/>
          <a:ln w="12700">
            <a:solidFill>
              <a:srgbClr val="E8E9EE"/>
            </a:solidFill>
          </a:ln>
          <a:effectLst/>
        </p:spPr>
        <p:txBody>
          <a:bodyPr rtlCol="0" anchor="ctr"/>
          <a:lstStyle/>
          <a:p>
            <a:pPr algn="ctr"/>
          </a:p>
        </p:txBody>
      </p:sp>
      <p:sp>
        <p:nvSpPr>
          <p:cNvPr id="17" name="TextBox 16"/>
          <p:cNvSpPr txBox="1"/>
          <p:nvPr/>
        </p:nvSpPr>
        <p:spPr>
          <a:xfrm>
            <a:off x="4416552"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SATARK enforcement</a:t>
            </a:r>
          </a:p>
        </p:txBody>
      </p:sp>
      <p:sp>
        <p:nvSpPr>
          <p:cNvPr id="18" name="TextBox 17"/>
          <p:cNvSpPr txBox="1"/>
          <p:nvPr/>
        </p:nvSpPr>
        <p:spPr>
          <a:xfrm>
            <a:off x="4416552"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AI support that helps police find high-risk vehicles</a:t>
            </a:r>
          </a:p>
        </p:txBody>
      </p:sp>
      <p:sp>
        <p:nvSpPr>
          <p:cNvPr id="19" name="TextBox 18"/>
          <p:cNvSpPr txBox="1"/>
          <p:nvPr/>
        </p:nvSpPr>
        <p:spPr>
          <a:xfrm>
            <a:off x="4416552"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3,00,000+ vehicles screened</a:t>
            </a:r>
          </a:p>
        </p:txBody>
      </p:sp>
      <p:sp>
        <p:nvSpPr>
          <p:cNvPr id="20" name="Rounded Rectangle 19"/>
          <p:cNvSpPr/>
          <p:nvPr/>
        </p:nvSpPr>
        <p:spPr>
          <a:xfrm>
            <a:off x="8010144"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1" name="Picture 20" descr="ph_helpdesk_desk.jpg_3.95x1.28.jpg"/>
          <p:cNvPicPr>
            <a:picLocks noChangeAspect="1"/>
          </p:cNvPicPr>
          <p:nvPr/>
        </p:nvPicPr>
        <p:blipFill>
          <a:blip r:embed="rId4"/>
          <a:stretch>
            <a:fillRect/>
          </a:stretch>
        </p:blipFill>
        <p:spPr>
          <a:xfrm>
            <a:off x="8010144" y="1938528"/>
            <a:ext cx="3611880" cy="1170432"/>
          </a:xfrm>
          <a:prstGeom prst="rect">
            <a:avLst/>
          </a:prstGeom>
        </p:spPr>
      </p:pic>
      <p:sp>
        <p:nvSpPr>
          <p:cNvPr id="22" name="Rectangle 21"/>
          <p:cNvSpPr/>
          <p:nvPr/>
        </p:nvSpPr>
        <p:spPr>
          <a:xfrm>
            <a:off x="8010144" y="1938528"/>
            <a:ext cx="3611880" cy="1170432"/>
          </a:xfrm>
          <a:prstGeom prst="rect">
            <a:avLst/>
          </a:prstGeom>
          <a:noFill/>
          <a:ln w="12700">
            <a:solidFill>
              <a:srgbClr val="E8E9EE"/>
            </a:solidFill>
          </a:ln>
          <a:effectLst/>
        </p:spPr>
        <p:txBody>
          <a:bodyPr rtlCol="0" anchor="ctr"/>
          <a:lstStyle/>
          <a:p>
            <a:pPr algn="ctr"/>
          </a:p>
        </p:txBody>
      </p:sp>
      <p:sp>
        <p:nvSpPr>
          <p:cNvPr id="23" name="TextBox 22"/>
          <p:cNvSpPr txBox="1"/>
          <p:nvPr/>
        </p:nvSpPr>
        <p:spPr>
          <a:xfrm>
            <a:off x="8138160"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Victim support</a:t>
            </a:r>
          </a:p>
        </p:txBody>
      </p:sp>
      <p:sp>
        <p:nvSpPr>
          <p:cNvPr id="24" name="TextBox 23"/>
          <p:cNvSpPr txBox="1"/>
          <p:nvPr/>
        </p:nvSpPr>
        <p:spPr>
          <a:xfrm>
            <a:off x="8138160"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Aasha chatbot, calculator, hospital helpdesks</a:t>
            </a:r>
          </a:p>
        </p:txBody>
      </p:sp>
      <p:sp>
        <p:nvSpPr>
          <p:cNvPr id="25" name="TextBox 24"/>
          <p:cNvSpPr txBox="1"/>
          <p:nvPr/>
        </p:nvSpPr>
        <p:spPr>
          <a:xfrm>
            <a:off x="8138160"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100+ victims helped in first 4 days</a:t>
            </a:r>
          </a:p>
        </p:txBody>
      </p:sp>
      <p:sp>
        <p:nvSpPr>
          <p:cNvPr id="26" name="Rounded Rectangle 25"/>
          <p:cNvSpPr/>
          <p:nvPr/>
        </p:nvSpPr>
        <p:spPr>
          <a:xfrm>
            <a:off x="566928"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7" name="Picture 26" descr="sctracker.png_3.95x1.28.jpg"/>
          <p:cNvPicPr>
            <a:picLocks noChangeAspect="1"/>
          </p:cNvPicPr>
          <p:nvPr/>
        </p:nvPicPr>
        <p:blipFill>
          <a:blip r:embed="rId5"/>
          <a:stretch>
            <a:fillRect/>
          </a:stretch>
        </p:blipFill>
        <p:spPr>
          <a:xfrm>
            <a:off x="566928" y="4206240"/>
            <a:ext cx="3611880" cy="1170432"/>
          </a:xfrm>
          <a:prstGeom prst="rect">
            <a:avLst/>
          </a:prstGeom>
        </p:spPr>
      </p:pic>
      <p:sp>
        <p:nvSpPr>
          <p:cNvPr id="28" name="Rectangle 27"/>
          <p:cNvSpPr/>
          <p:nvPr/>
        </p:nvSpPr>
        <p:spPr>
          <a:xfrm>
            <a:off x="566928" y="4206240"/>
            <a:ext cx="3611880" cy="1170432"/>
          </a:xfrm>
          <a:prstGeom prst="rect">
            <a:avLst/>
          </a:prstGeom>
          <a:noFill/>
          <a:ln w="12700">
            <a:solidFill>
              <a:srgbClr val="E8E9EE"/>
            </a:solidFill>
          </a:ln>
          <a:effectLst/>
        </p:spPr>
        <p:txBody>
          <a:bodyPr rtlCol="0" anchor="ctr"/>
          <a:lstStyle/>
          <a:p>
            <a:pPr algn="ctr"/>
          </a:p>
        </p:txBody>
      </p:sp>
      <p:sp>
        <p:nvSpPr>
          <p:cNvPr id="29" name="TextBox 28"/>
          <p:cNvSpPr txBox="1"/>
          <p:nvPr/>
        </p:nvSpPr>
        <p:spPr>
          <a:xfrm>
            <a:off x="694944"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Open public data</a:t>
            </a:r>
          </a:p>
        </p:txBody>
      </p:sp>
      <p:sp>
        <p:nvSpPr>
          <p:cNvPr id="30" name="TextBox 29"/>
          <p:cNvSpPr txBox="1"/>
          <p:nvPr/>
        </p:nvSpPr>
        <p:spPr>
          <a:xfrm>
            <a:off x="694944"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Four self-updating data platforms, free to use</a:t>
            </a:r>
          </a:p>
        </p:txBody>
      </p:sp>
      <p:sp>
        <p:nvSpPr>
          <p:cNvPr id="31" name="TextBox 30"/>
          <p:cNvSpPr txBox="1"/>
          <p:nvPr/>
        </p:nvSpPr>
        <p:spPr>
          <a:xfrm>
            <a:off x="694944"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36 states &amp; 50 cities covered</a:t>
            </a:r>
          </a:p>
        </p:txBody>
      </p:sp>
      <p:sp>
        <p:nvSpPr>
          <p:cNvPr id="32" name="Rounded Rectangle 31"/>
          <p:cNvSpPr/>
          <p:nvPr/>
        </p:nvSpPr>
        <p:spPr>
          <a:xfrm>
            <a:off x="4288536"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3" name="Picture 32" descr="ph_ideathon_winners.jpg_3.95x1.28.jpg"/>
          <p:cNvPicPr>
            <a:picLocks noChangeAspect="1"/>
          </p:cNvPicPr>
          <p:nvPr/>
        </p:nvPicPr>
        <p:blipFill>
          <a:blip r:embed="rId6"/>
          <a:stretch>
            <a:fillRect/>
          </a:stretch>
        </p:blipFill>
        <p:spPr>
          <a:xfrm>
            <a:off x="4288536" y="4206240"/>
            <a:ext cx="3611880" cy="1170432"/>
          </a:xfrm>
          <a:prstGeom prst="rect">
            <a:avLst/>
          </a:prstGeom>
        </p:spPr>
      </p:pic>
      <p:sp>
        <p:nvSpPr>
          <p:cNvPr id="34" name="Rectangle 33"/>
          <p:cNvSpPr/>
          <p:nvPr/>
        </p:nvSpPr>
        <p:spPr>
          <a:xfrm>
            <a:off x="4288536" y="4206240"/>
            <a:ext cx="3611880" cy="1170432"/>
          </a:xfrm>
          <a:prstGeom prst="rect">
            <a:avLst/>
          </a:prstGeom>
          <a:noFill/>
          <a:ln w="12700">
            <a:solidFill>
              <a:srgbClr val="E8E9EE"/>
            </a:solidFill>
          </a:ln>
          <a:effectLst/>
        </p:spPr>
        <p:txBody>
          <a:bodyPr rtlCol="0" anchor="ctr"/>
          <a:lstStyle/>
          <a:p>
            <a:pPr algn="ctr"/>
          </a:p>
        </p:txBody>
      </p:sp>
      <p:sp>
        <p:nvSpPr>
          <p:cNvPr id="35" name="TextBox 34"/>
          <p:cNvSpPr txBox="1"/>
          <p:nvPr/>
        </p:nvSpPr>
        <p:spPr>
          <a:xfrm>
            <a:off x="4416552"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Youth &amp; policy</a:t>
            </a:r>
          </a:p>
        </p:txBody>
      </p:sp>
      <p:sp>
        <p:nvSpPr>
          <p:cNvPr id="36" name="TextBox 35"/>
          <p:cNvSpPr txBox="1"/>
          <p:nvPr/>
        </p:nvSpPr>
        <p:spPr>
          <a:xfrm>
            <a:off x="4416552"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NextMile ideathon and national dialogue series</a:t>
            </a:r>
          </a:p>
        </p:txBody>
      </p:sp>
      <p:sp>
        <p:nvSpPr>
          <p:cNvPr id="37" name="TextBox 36"/>
          <p:cNvSpPr txBox="1"/>
          <p:nvPr/>
        </p:nvSpPr>
        <p:spPr>
          <a:xfrm>
            <a:off x="4416552"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2,000+ participants engaged</a:t>
            </a:r>
          </a:p>
        </p:txBody>
      </p:sp>
      <p:sp>
        <p:nvSpPr>
          <p:cNvPr id="38" name="Rounded Rectangle 37"/>
          <p:cNvSpPr/>
          <p:nvPr/>
        </p:nvSpPr>
        <p:spPr>
          <a:xfrm>
            <a:off x="8010144"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9" name="Picture 38" descr="ph_police_rally.jpg_3.95x1.28.jpg"/>
          <p:cNvPicPr>
            <a:picLocks noChangeAspect="1"/>
          </p:cNvPicPr>
          <p:nvPr/>
        </p:nvPicPr>
        <p:blipFill>
          <a:blip r:embed="rId7"/>
          <a:stretch>
            <a:fillRect/>
          </a:stretch>
        </p:blipFill>
        <p:spPr>
          <a:xfrm>
            <a:off x="8010144" y="4206240"/>
            <a:ext cx="3611880" cy="1170432"/>
          </a:xfrm>
          <a:prstGeom prst="rect">
            <a:avLst/>
          </a:prstGeom>
        </p:spPr>
      </p:pic>
      <p:sp>
        <p:nvSpPr>
          <p:cNvPr id="40" name="Rectangle 39"/>
          <p:cNvSpPr/>
          <p:nvPr/>
        </p:nvSpPr>
        <p:spPr>
          <a:xfrm>
            <a:off x="8010144" y="4206240"/>
            <a:ext cx="3611880" cy="1170432"/>
          </a:xfrm>
          <a:prstGeom prst="rect">
            <a:avLst/>
          </a:prstGeom>
          <a:noFill/>
          <a:ln w="12700">
            <a:solidFill>
              <a:srgbClr val="E8E9EE"/>
            </a:solidFill>
          </a:ln>
          <a:effectLst/>
        </p:spPr>
        <p:txBody>
          <a:bodyPr rtlCol="0" anchor="ctr"/>
          <a:lstStyle/>
          <a:p>
            <a:pPr algn="ctr"/>
          </a:p>
        </p:txBody>
      </p:sp>
      <p:sp>
        <p:nvSpPr>
          <p:cNvPr id="41" name="TextBox 40"/>
          <p:cNvSpPr txBox="1"/>
          <p:nvPr/>
        </p:nvSpPr>
        <p:spPr>
          <a:xfrm>
            <a:off x="8138160"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Public campaigns</a:t>
            </a:r>
          </a:p>
        </p:txBody>
      </p:sp>
      <p:sp>
        <p:nvSpPr>
          <p:cNvPr id="42" name="TextBox 41"/>
          <p:cNvSpPr txBox="1"/>
          <p:nvPr/>
        </p:nvSpPr>
        <p:spPr>
          <a:xfrm>
            <a:off x="8138160"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Road Safety Month with police &amp; schools; MS Dhoni</a:t>
            </a:r>
          </a:p>
        </p:txBody>
      </p:sp>
      <p:sp>
        <p:nvSpPr>
          <p:cNvPr id="43" name="TextBox 42"/>
          <p:cNvSpPr txBox="1"/>
          <p:nvPr/>
        </p:nvSpPr>
        <p:spPr>
          <a:xfrm>
            <a:off x="8138160"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1M+ citizens reached</a:t>
            </a:r>
          </a:p>
        </p:txBody>
      </p:sp>
      <p:cxnSp>
        <p:nvCxnSpPr>
          <p:cNvPr id="44" name="Connector 43"/>
          <p:cNvCxnSpPr/>
          <p:nvPr/>
        </p:nvCxnSpPr>
        <p:spPr>
          <a:xfrm>
            <a:off x="566928" y="6455664"/>
            <a:ext cx="11057839" cy="0"/>
          </a:xfrm>
          <a:prstGeom prst="line">
            <a:avLst/>
          </a:prstGeom>
          <a:ln w="9525">
            <a:solidFill>
              <a:srgbClr val="E8E9EE"/>
            </a:solidFill>
          </a:ln>
          <a:effectLst/>
        </p:spPr>
      </p:cxnSp>
      <p:sp>
        <p:nvSpPr>
          <p:cNvPr id="45" name="TextBox 44"/>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46" name="TextBox 4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05 / 23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 ENFORCEMENT TECHNOLOGY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SATARK: AI that helps police stop </a:t>
            </a:r>
            <a:r>
              <a:rPr sz="2250" b="1" i="0">
                <a:solidFill>
                  <a:srgbClr val="4A35FF"/>
                </a:solidFill>
                <a:latin typeface="Montserrat"/>
              </a:rPr>
              <a:t>the right vehicle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Built with Cars24 engineers. Reads number plates, checks government records, and alerts officers to repeat offenders — in real time.</a:t>
            </a:r>
          </a:p>
        </p:txBody>
      </p:sp>
      <p:pic>
        <p:nvPicPr>
          <p:cNvPr id="8" name="Picture 7" descr="satark_billboard.jpg_4.35x2.65.jpg"/>
          <p:cNvPicPr>
            <a:picLocks noChangeAspect="1"/>
          </p:cNvPicPr>
          <p:nvPr/>
        </p:nvPicPr>
        <p:blipFill>
          <a:blip r:embed="rId2"/>
          <a:stretch>
            <a:fillRect/>
          </a:stretch>
        </p:blipFill>
        <p:spPr>
          <a:xfrm>
            <a:off x="566928" y="1965960"/>
            <a:ext cx="3977639" cy="2423160"/>
          </a:xfrm>
          <a:prstGeom prst="rect">
            <a:avLst/>
          </a:prstGeom>
        </p:spPr>
      </p:pic>
      <p:sp>
        <p:nvSpPr>
          <p:cNvPr id="9" name="Rectangle 8"/>
          <p:cNvSpPr/>
          <p:nvPr/>
        </p:nvSpPr>
        <p:spPr>
          <a:xfrm>
            <a:off x="566928" y="1965960"/>
            <a:ext cx="3977639" cy="242316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434840"/>
            <a:ext cx="3977639"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Rambagh Circle, Jaipur — live plate, pending challans and dues on a public billboard.</a:t>
            </a:r>
          </a:p>
        </p:txBody>
      </p:sp>
      <p:pic>
        <p:nvPicPr>
          <p:cNvPr id="11" name="Picture 10" descr="satark_officer_app.jpg_2.00x2.65.jpg"/>
          <p:cNvPicPr>
            <a:picLocks noChangeAspect="1"/>
          </p:cNvPicPr>
          <p:nvPr/>
        </p:nvPicPr>
        <p:blipFill>
          <a:blip r:embed="rId3"/>
          <a:stretch>
            <a:fillRect/>
          </a:stretch>
        </p:blipFill>
        <p:spPr>
          <a:xfrm>
            <a:off x="4709160" y="1965960"/>
            <a:ext cx="1828800" cy="2423160"/>
          </a:xfrm>
          <a:prstGeom prst="rect">
            <a:avLst/>
          </a:prstGeom>
        </p:spPr>
      </p:pic>
      <p:sp>
        <p:nvSpPr>
          <p:cNvPr id="12" name="Rectangle 11"/>
          <p:cNvSpPr/>
          <p:nvPr/>
        </p:nvSpPr>
        <p:spPr>
          <a:xfrm>
            <a:off x="4709160" y="1965960"/>
            <a:ext cx="1828800" cy="2423160"/>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4709160" y="4434840"/>
            <a:ext cx="182880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Officer view — pending challans,</a:t>
            </a:r>
          </a:p>
          <a:p>
            <a:pPr algn="l">
              <a:lnSpc>
                <a:spcPct val="110000"/>
              </a:lnSpc>
            </a:pPr>
            <a:r>
              <a:rPr sz="850" b="0" i="0">
                <a:solidFill>
                  <a:srgbClr val="6E7180"/>
                </a:solidFill>
                <a:latin typeface="Geist"/>
              </a:rPr>
              <a:t>RC &amp; compliance status.</a:t>
            </a:r>
          </a:p>
        </p:txBody>
      </p:sp>
      <p:sp>
        <p:nvSpPr>
          <p:cNvPr id="14" name="TextBox 13"/>
          <p:cNvSpPr txBox="1"/>
          <p:nvPr/>
        </p:nvSpPr>
        <p:spPr>
          <a:xfrm>
            <a:off x="6784848" y="1920240"/>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3,00,000+</a:t>
            </a:r>
          </a:p>
        </p:txBody>
      </p:sp>
      <p:sp>
        <p:nvSpPr>
          <p:cNvPr id="15" name="TextBox 14"/>
          <p:cNvSpPr txBox="1"/>
          <p:nvPr/>
        </p:nvSpPr>
        <p:spPr>
          <a:xfrm>
            <a:off x="6784848" y="2377440"/>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vehicles screened</a:t>
            </a:r>
          </a:p>
        </p:txBody>
      </p:sp>
      <p:sp>
        <p:nvSpPr>
          <p:cNvPr id="16" name="TextBox 15"/>
          <p:cNvSpPr txBox="1"/>
          <p:nvPr/>
        </p:nvSpPr>
        <p:spPr>
          <a:xfrm>
            <a:off x="9235440" y="1920240"/>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₹30 Cr+</a:t>
            </a:r>
          </a:p>
        </p:txBody>
      </p:sp>
      <p:sp>
        <p:nvSpPr>
          <p:cNvPr id="17" name="TextBox 16"/>
          <p:cNvSpPr txBox="1"/>
          <p:nvPr/>
        </p:nvSpPr>
        <p:spPr>
          <a:xfrm>
            <a:off x="9235440" y="2377440"/>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pending challan value identified</a:t>
            </a:r>
          </a:p>
        </p:txBody>
      </p:sp>
      <p:sp>
        <p:nvSpPr>
          <p:cNvPr id="18" name="TextBox 17"/>
          <p:cNvSpPr txBox="1"/>
          <p:nvPr/>
        </p:nvSpPr>
        <p:spPr>
          <a:xfrm>
            <a:off x="6784848" y="2816352"/>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350+</a:t>
            </a:r>
          </a:p>
        </p:txBody>
      </p:sp>
      <p:sp>
        <p:nvSpPr>
          <p:cNvPr id="19" name="TextBox 18"/>
          <p:cNvSpPr txBox="1"/>
          <p:nvPr/>
        </p:nvSpPr>
        <p:spPr>
          <a:xfrm>
            <a:off x="6784848" y="3273552"/>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high-risk vehicles intercepted</a:t>
            </a:r>
          </a:p>
        </p:txBody>
      </p:sp>
      <p:sp>
        <p:nvSpPr>
          <p:cNvPr id="20" name="TextBox 19"/>
          <p:cNvSpPr txBox="1"/>
          <p:nvPr/>
        </p:nvSpPr>
        <p:spPr>
          <a:xfrm>
            <a:off x="9235440" y="2816352"/>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70,019</a:t>
            </a:r>
          </a:p>
        </p:txBody>
      </p:sp>
      <p:sp>
        <p:nvSpPr>
          <p:cNvPr id="21" name="TextBox 20"/>
          <p:cNvSpPr txBox="1"/>
          <p:nvPr/>
        </p:nvSpPr>
        <p:spPr>
          <a:xfrm>
            <a:off x="9235440" y="3273552"/>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vehicles found with pending challans</a:t>
            </a:r>
          </a:p>
        </p:txBody>
      </p:sp>
      <p:sp>
        <p:nvSpPr>
          <p:cNvPr id="22" name="Rounded Rectangle 21"/>
          <p:cNvSpPr/>
          <p:nvPr/>
        </p:nvSpPr>
        <p:spPr>
          <a:xfrm>
            <a:off x="6784848" y="3767328"/>
            <a:ext cx="2240280" cy="384048"/>
          </a:xfrm>
          <a:prstGeom prst="roundRect">
            <a:avLst>
              <a:gd name="adj" fmla="val 50000"/>
            </a:avLst>
          </a:prstGeom>
          <a:solidFill>
            <a:srgbClr val="E9F7F0"/>
          </a:solidFill>
          <a:ln>
            <a:noFill/>
          </a:ln>
          <a:effectLst/>
        </p:spPr>
        <p:txBody>
          <a:bodyPr rtlCol="0" anchor="ctr"/>
          <a:lstStyle/>
          <a:p>
            <a:pPr algn="ctr"/>
          </a:p>
        </p:txBody>
      </p:sp>
      <p:sp>
        <p:nvSpPr>
          <p:cNvPr id="23" name="TextBox 22"/>
          <p:cNvSpPr txBox="1"/>
          <p:nvPr/>
        </p:nvSpPr>
        <p:spPr>
          <a:xfrm>
            <a:off x="6803136" y="3767328"/>
            <a:ext cx="2203704" cy="384048"/>
          </a:xfrm>
          <a:prstGeom prst="rect">
            <a:avLst/>
          </a:prstGeom>
          <a:noFill/>
        </p:spPr>
        <p:txBody>
          <a:bodyPr wrap="square" lIns="0" rIns="0" tIns="0" bIns="0" anchor="ctr">
            <a:spAutoFit/>
          </a:bodyPr>
          <a:lstStyle/>
          <a:p>
            <a:pPr algn="ctr">
              <a:lnSpc>
                <a:spcPct val="100000"/>
              </a:lnSpc>
            </a:pPr>
            <a:r>
              <a:rPr sz="950" b="1" i="0">
                <a:solidFill>
                  <a:srgbClr val="0A9955"/>
                </a:solidFill>
                <a:latin typeface="Montserrat"/>
              </a:rPr>
              <a:t>LIVE · Jaipur &amp; Bengaluru</a:t>
            </a:r>
          </a:p>
        </p:txBody>
      </p:sp>
      <p:sp>
        <p:nvSpPr>
          <p:cNvPr id="24" name="Rounded Rectangle 23"/>
          <p:cNvSpPr/>
          <p:nvPr/>
        </p:nvSpPr>
        <p:spPr>
          <a:xfrm>
            <a:off x="9144000" y="3767328"/>
            <a:ext cx="1600200" cy="384048"/>
          </a:xfrm>
          <a:prstGeom prst="roundRect">
            <a:avLst>
              <a:gd name="adj" fmla="val 50000"/>
            </a:avLst>
          </a:prstGeom>
          <a:solidFill>
            <a:srgbClr val="EFEDFF"/>
          </a:solidFill>
          <a:ln>
            <a:noFill/>
          </a:ln>
          <a:effectLst/>
        </p:spPr>
        <p:txBody>
          <a:bodyPr rtlCol="0" anchor="ctr"/>
          <a:lstStyle/>
          <a:p>
            <a:pPr algn="ctr"/>
          </a:p>
        </p:txBody>
      </p:sp>
      <p:sp>
        <p:nvSpPr>
          <p:cNvPr id="25" name="TextBox 24"/>
          <p:cNvSpPr txBox="1"/>
          <p:nvPr/>
        </p:nvSpPr>
        <p:spPr>
          <a:xfrm>
            <a:off x="9162288" y="3767328"/>
            <a:ext cx="1563624" cy="384048"/>
          </a:xfrm>
          <a:prstGeom prst="rect">
            <a:avLst/>
          </a:prstGeom>
          <a:noFill/>
        </p:spPr>
        <p:txBody>
          <a:bodyPr wrap="square" lIns="0" rIns="0" tIns="0" bIns="0" anchor="ctr">
            <a:spAutoFit/>
          </a:bodyPr>
          <a:lstStyle/>
          <a:p>
            <a:pPr algn="ctr">
              <a:lnSpc>
                <a:spcPct val="100000"/>
              </a:lnSpc>
            </a:pPr>
            <a:r>
              <a:rPr sz="950" b="1" i="0">
                <a:solidFill>
                  <a:srgbClr val="4A35FF"/>
                </a:solidFill>
                <a:latin typeface="Montserrat"/>
              </a:rPr>
              <a:t>NEW · Gurugram</a:t>
            </a:r>
          </a:p>
        </p:txBody>
      </p:sp>
      <p:sp>
        <p:nvSpPr>
          <p:cNvPr id="26" name="TextBox 25"/>
          <p:cNvSpPr txBox="1"/>
          <p:nvPr/>
        </p:nvSpPr>
        <p:spPr>
          <a:xfrm>
            <a:off x="6784848" y="4261104"/>
            <a:ext cx="4754880" cy="2743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Bengaluru's Trinity Circle billboard was India's first — covered by Deccan Herald and national press. Pune and Ahmedabad are next.</a:t>
            </a:r>
          </a:p>
        </p:txBody>
      </p:sp>
      <p:cxnSp>
        <p:nvCxnSpPr>
          <p:cNvPr id="27" name="Connector 26"/>
          <p:cNvCxnSpPr/>
          <p:nvPr/>
        </p:nvCxnSpPr>
        <p:spPr>
          <a:xfrm>
            <a:off x="932688" y="5358384"/>
            <a:ext cx="10326319" cy="0"/>
          </a:xfrm>
          <a:prstGeom prst="line">
            <a:avLst/>
          </a:prstGeom>
          <a:ln w="12700">
            <a:solidFill>
              <a:srgbClr val="E8E9EE"/>
            </a:solidFill>
          </a:ln>
          <a:effectLst/>
        </p:spPr>
      </p:cxnSp>
      <p:sp>
        <p:nvSpPr>
          <p:cNvPr id="28" name="Oval 27"/>
          <p:cNvSpPr/>
          <p:nvPr/>
        </p:nvSpPr>
        <p:spPr>
          <a:xfrm>
            <a:off x="1038586" y="5138928"/>
            <a:ext cx="438912" cy="438912"/>
          </a:xfrm>
          <a:prstGeom prst="ellipse">
            <a:avLst/>
          </a:prstGeom>
          <a:solidFill>
            <a:srgbClr val="F7F7FA"/>
          </a:solidFill>
          <a:ln>
            <a:noFill/>
          </a:ln>
          <a:effectLst/>
        </p:spPr>
        <p:txBody>
          <a:bodyPr rtlCol="0" anchor="ctr"/>
          <a:lstStyle/>
          <a:p>
            <a:pPr algn="ctr"/>
          </a:p>
        </p:txBody>
      </p:sp>
      <p:pic>
        <p:nvPicPr>
          <p:cNvPr id="29" name="Picture 28" descr="camera_4A35FF_256_2.0.png"/>
          <p:cNvPicPr>
            <a:picLocks noChangeAspect="1"/>
          </p:cNvPicPr>
          <p:nvPr/>
        </p:nvPicPr>
        <p:blipFill>
          <a:blip r:embed="rId4"/>
          <a:stretch>
            <a:fillRect/>
          </a:stretch>
        </p:blipFill>
        <p:spPr>
          <a:xfrm>
            <a:off x="1143924" y="5244266"/>
            <a:ext cx="228234" cy="228234"/>
          </a:xfrm>
          <a:prstGeom prst="rect">
            <a:avLst/>
          </a:prstGeom>
        </p:spPr>
      </p:pic>
      <p:sp>
        <p:nvSpPr>
          <p:cNvPr id="30" name="TextBox 29"/>
          <p:cNvSpPr txBox="1"/>
          <p:nvPr/>
        </p:nvSpPr>
        <p:spPr>
          <a:xfrm>
            <a:off x="566928"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ANPR camera</a:t>
            </a:r>
          </a:p>
        </p:txBody>
      </p:sp>
      <p:sp>
        <p:nvSpPr>
          <p:cNvPr id="31" name="Oval 30"/>
          <p:cNvSpPr/>
          <p:nvPr/>
        </p:nvSpPr>
        <p:spPr>
          <a:xfrm>
            <a:off x="2420815" y="5138928"/>
            <a:ext cx="438912" cy="438912"/>
          </a:xfrm>
          <a:prstGeom prst="ellipse">
            <a:avLst/>
          </a:prstGeom>
          <a:solidFill>
            <a:srgbClr val="F7F7FA"/>
          </a:solidFill>
          <a:ln>
            <a:noFill/>
          </a:ln>
          <a:effectLst/>
        </p:spPr>
        <p:txBody>
          <a:bodyPr rtlCol="0" anchor="ctr"/>
          <a:lstStyle/>
          <a:p>
            <a:pPr algn="ctr"/>
          </a:p>
        </p:txBody>
      </p:sp>
      <p:pic>
        <p:nvPicPr>
          <p:cNvPr id="32" name="Picture 31" descr="scan-line_4A35FF_256_2.0.png"/>
          <p:cNvPicPr>
            <a:picLocks noChangeAspect="1"/>
          </p:cNvPicPr>
          <p:nvPr/>
        </p:nvPicPr>
        <p:blipFill>
          <a:blip r:embed="rId5"/>
          <a:stretch>
            <a:fillRect/>
          </a:stretch>
        </p:blipFill>
        <p:spPr>
          <a:xfrm>
            <a:off x="2526153" y="5244266"/>
            <a:ext cx="228234" cy="228234"/>
          </a:xfrm>
          <a:prstGeom prst="rect">
            <a:avLst/>
          </a:prstGeom>
        </p:spPr>
      </p:pic>
      <p:sp>
        <p:nvSpPr>
          <p:cNvPr id="33" name="TextBox 32"/>
          <p:cNvSpPr txBox="1"/>
          <p:nvPr/>
        </p:nvSpPr>
        <p:spPr>
          <a:xfrm>
            <a:off x="194915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Plate read</a:t>
            </a:r>
          </a:p>
        </p:txBody>
      </p:sp>
      <p:sp>
        <p:nvSpPr>
          <p:cNvPr id="34" name="Oval 33"/>
          <p:cNvSpPr/>
          <p:nvPr/>
        </p:nvSpPr>
        <p:spPr>
          <a:xfrm>
            <a:off x="3803045" y="5138928"/>
            <a:ext cx="438912" cy="438912"/>
          </a:xfrm>
          <a:prstGeom prst="ellipse">
            <a:avLst/>
          </a:prstGeom>
          <a:solidFill>
            <a:srgbClr val="F7F7FA"/>
          </a:solidFill>
          <a:ln>
            <a:noFill/>
          </a:ln>
          <a:effectLst/>
        </p:spPr>
        <p:txBody>
          <a:bodyPr rtlCol="0" anchor="ctr"/>
          <a:lstStyle/>
          <a:p>
            <a:pPr algn="ctr"/>
          </a:p>
        </p:txBody>
      </p:sp>
      <p:pic>
        <p:nvPicPr>
          <p:cNvPr id="35" name="Picture 34" descr="database_4A35FF_256_2.0.png"/>
          <p:cNvPicPr>
            <a:picLocks noChangeAspect="1"/>
          </p:cNvPicPr>
          <p:nvPr/>
        </p:nvPicPr>
        <p:blipFill>
          <a:blip r:embed="rId6"/>
          <a:stretch>
            <a:fillRect/>
          </a:stretch>
        </p:blipFill>
        <p:spPr>
          <a:xfrm>
            <a:off x="3908383" y="5244266"/>
            <a:ext cx="228234" cy="228234"/>
          </a:xfrm>
          <a:prstGeom prst="rect">
            <a:avLst/>
          </a:prstGeom>
        </p:spPr>
      </p:pic>
      <p:sp>
        <p:nvSpPr>
          <p:cNvPr id="36" name="TextBox 35"/>
          <p:cNvSpPr txBox="1"/>
          <p:nvPr/>
        </p:nvSpPr>
        <p:spPr>
          <a:xfrm>
            <a:off x="333138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Records check</a:t>
            </a:r>
          </a:p>
        </p:txBody>
      </p:sp>
      <p:sp>
        <p:nvSpPr>
          <p:cNvPr id="37" name="Oval 36"/>
          <p:cNvSpPr/>
          <p:nvPr/>
        </p:nvSpPr>
        <p:spPr>
          <a:xfrm>
            <a:off x="5185275" y="5138928"/>
            <a:ext cx="438912" cy="438912"/>
          </a:xfrm>
          <a:prstGeom prst="ellipse">
            <a:avLst/>
          </a:prstGeom>
          <a:solidFill>
            <a:srgbClr val="F7F7FA"/>
          </a:solidFill>
          <a:ln>
            <a:noFill/>
          </a:ln>
          <a:effectLst/>
        </p:spPr>
        <p:txBody>
          <a:bodyPr rtlCol="0" anchor="ctr"/>
          <a:lstStyle/>
          <a:p>
            <a:pPr algn="ctr"/>
          </a:p>
        </p:txBody>
      </p:sp>
      <p:pic>
        <p:nvPicPr>
          <p:cNvPr id="38" name="Picture 37" descr="alert-triangle_4A35FF_256_2.0.png"/>
          <p:cNvPicPr>
            <a:picLocks noChangeAspect="1"/>
          </p:cNvPicPr>
          <p:nvPr/>
        </p:nvPicPr>
        <p:blipFill>
          <a:blip r:embed="rId7"/>
          <a:stretch>
            <a:fillRect/>
          </a:stretch>
        </p:blipFill>
        <p:spPr>
          <a:xfrm>
            <a:off x="5290613" y="5244266"/>
            <a:ext cx="228234" cy="228234"/>
          </a:xfrm>
          <a:prstGeom prst="rect">
            <a:avLst/>
          </a:prstGeom>
        </p:spPr>
      </p:pic>
      <p:sp>
        <p:nvSpPr>
          <p:cNvPr id="39" name="TextBox 38"/>
          <p:cNvSpPr txBox="1"/>
          <p:nvPr/>
        </p:nvSpPr>
        <p:spPr>
          <a:xfrm>
            <a:off x="471361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Risk flag</a:t>
            </a:r>
          </a:p>
        </p:txBody>
      </p:sp>
      <p:sp>
        <p:nvSpPr>
          <p:cNvPr id="40" name="Oval 39"/>
          <p:cNvSpPr/>
          <p:nvPr/>
        </p:nvSpPr>
        <p:spPr>
          <a:xfrm>
            <a:off x="6567505" y="5138928"/>
            <a:ext cx="438912" cy="438912"/>
          </a:xfrm>
          <a:prstGeom prst="ellipse">
            <a:avLst/>
          </a:prstGeom>
          <a:solidFill>
            <a:srgbClr val="F7F7FA"/>
          </a:solidFill>
          <a:ln>
            <a:noFill/>
          </a:ln>
          <a:effectLst/>
        </p:spPr>
        <p:txBody>
          <a:bodyPr rtlCol="0" anchor="ctr"/>
          <a:lstStyle/>
          <a:p>
            <a:pPr algn="ctr"/>
          </a:p>
        </p:txBody>
      </p:sp>
      <p:pic>
        <p:nvPicPr>
          <p:cNvPr id="41" name="Picture 40" descr="bell-ring_4A35FF_256_2.0.png"/>
          <p:cNvPicPr>
            <a:picLocks noChangeAspect="1"/>
          </p:cNvPicPr>
          <p:nvPr/>
        </p:nvPicPr>
        <p:blipFill>
          <a:blip r:embed="rId8"/>
          <a:stretch>
            <a:fillRect/>
          </a:stretch>
        </p:blipFill>
        <p:spPr>
          <a:xfrm>
            <a:off x="6672843" y="5244266"/>
            <a:ext cx="228234" cy="228234"/>
          </a:xfrm>
          <a:prstGeom prst="rect">
            <a:avLst/>
          </a:prstGeom>
        </p:spPr>
      </p:pic>
      <p:sp>
        <p:nvSpPr>
          <p:cNvPr id="42" name="TextBox 41"/>
          <p:cNvSpPr txBox="1"/>
          <p:nvPr/>
        </p:nvSpPr>
        <p:spPr>
          <a:xfrm>
            <a:off x="609584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Officer alert</a:t>
            </a:r>
          </a:p>
        </p:txBody>
      </p:sp>
      <p:sp>
        <p:nvSpPr>
          <p:cNvPr id="43" name="Oval 42"/>
          <p:cNvSpPr/>
          <p:nvPr/>
        </p:nvSpPr>
        <p:spPr>
          <a:xfrm>
            <a:off x="7949735" y="5138928"/>
            <a:ext cx="438912" cy="438912"/>
          </a:xfrm>
          <a:prstGeom prst="ellipse">
            <a:avLst/>
          </a:prstGeom>
          <a:solidFill>
            <a:srgbClr val="F7F7FA"/>
          </a:solidFill>
          <a:ln>
            <a:noFill/>
          </a:ln>
          <a:effectLst/>
        </p:spPr>
        <p:txBody>
          <a:bodyPr rtlCol="0" anchor="ctr"/>
          <a:lstStyle/>
          <a:p>
            <a:pPr algn="ctr"/>
          </a:p>
        </p:txBody>
      </p:sp>
      <p:pic>
        <p:nvPicPr>
          <p:cNvPr id="44" name="Picture 43" descr="monitor_4A35FF_256_2.0.png"/>
          <p:cNvPicPr>
            <a:picLocks noChangeAspect="1"/>
          </p:cNvPicPr>
          <p:nvPr/>
        </p:nvPicPr>
        <p:blipFill>
          <a:blip r:embed="rId9"/>
          <a:stretch>
            <a:fillRect/>
          </a:stretch>
        </p:blipFill>
        <p:spPr>
          <a:xfrm>
            <a:off x="8055073" y="5244266"/>
            <a:ext cx="228234" cy="228234"/>
          </a:xfrm>
          <a:prstGeom prst="rect">
            <a:avLst/>
          </a:prstGeom>
        </p:spPr>
      </p:pic>
      <p:sp>
        <p:nvSpPr>
          <p:cNvPr id="45" name="TextBox 44"/>
          <p:cNvSpPr txBox="1"/>
          <p:nvPr/>
        </p:nvSpPr>
        <p:spPr>
          <a:xfrm>
            <a:off x="747807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Billboard</a:t>
            </a:r>
          </a:p>
        </p:txBody>
      </p:sp>
      <p:sp>
        <p:nvSpPr>
          <p:cNvPr id="46" name="Oval 45"/>
          <p:cNvSpPr/>
          <p:nvPr/>
        </p:nvSpPr>
        <p:spPr>
          <a:xfrm>
            <a:off x="9331965" y="5138928"/>
            <a:ext cx="438912" cy="438912"/>
          </a:xfrm>
          <a:prstGeom prst="ellipse">
            <a:avLst/>
          </a:prstGeom>
          <a:solidFill>
            <a:srgbClr val="F7F7FA"/>
          </a:solidFill>
          <a:ln>
            <a:noFill/>
          </a:ln>
          <a:effectLst/>
        </p:spPr>
        <p:txBody>
          <a:bodyPr rtlCol="0" anchor="ctr"/>
          <a:lstStyle/>
          <a:p>
            <a:pPr algn="ctr"/>
          </a:p>
        </p:txBody>
      </p:sp>
      <p:pic>
        <p:nvPicPr>
          <p:cNvPr id="47" name="Picture 46" descr="hand_4A35FF_256_2.0.png"/>
          <p:cNvPicPr>
            <a:picLocks noChangeAspect="1"/>
          </p:cNvPicPr>
          <p:nvPr/>
        </p:nvPicPr>
        <p:blipFill>
          <a:blip r:embed="rId10"/>
          <a:stretch>
            <a:fillRect/>
          </a:stretch>
        </p:blipFill>
        <p:spPr>
          <a:xfrm>
            <a:off x="9437303" y="5244266"/>
            <a:ext cx="228234" cy="228234"/>
          </a:xfrm>
          <a:prstGeom prst="rect">
            <a:avLst/>
          </a:prstGeom>
        </p:spPr>
      </p:pic>
      <p:sp>
        <p:nvSpPr>
          <p:cNvPr id="48" name="TextBox 47"/>
          <p:cNvSpPr txBox="1"/>
          <p:nvPr/>
        </p:nvSpPr>
        <p:spPr>
          <a:xfrm>
            <a:off x="886030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Interception</a:t>
            </a:r>
          </a:p>
        </p:txBody>
      </p:sp>
      <p:sp>
        <p:nvSpPr>
          <p:cNvPr id="49" name="Oval 48"/>
          <p:cNvSpPr/>
          <p:nvPr/>
        </p:nvSpPr>
        <p:spPr>
          <a:xfrm>
            <a:off x="10714195" y="5138928"/>
            <a:ext cx="438912" cy="438912"/>
          </a:xfrm>
          <a:prstGeom prst="ellipse">
            <a:avLst/>
          </a:prstGeom>
          <a:solidFill>
            <a:srgbClr val="F7F7FA"/>
          </a:solidFill>
          <a:ln>
            <a:noFill/>
          </a:ln>
          <a:effectLst/>
        </p:spPr>
        <p:txBody>
          <a:bodyPr rtlCol="0" anchor="ctr"/>
          <a:lstStyle/>
          <a:p>
            <a:pPr algn="ctr"/>
          </a:p>
        </p:txBody>
      </p:sp>
      <p:pic>
        <p:nvPicPr>
          <p:cNvPr id="50" name="Picture 49" descr="shield-check_4A35FF_256_2.0.png"/>
          <p:cNvPicPr>
            <a:picLocks noChangeAspect="1"/>
          </p:cNvPicPr>
          <p:nvPr/>
        </p:nvPicPr>
        <p:blipFill>
          <a:blip r:embed="rId11"/>
          <a:stretch>
            <a:fillRect/>
          </a:stretch>
        </p:blipFill>
        <p:spPr>
          <a:xfrm>
            <a:off x="10819533" y="5244266"/>
            <a:ext cx="228234" cy="228234"/>
          </a:xfrm>
          <a:prstGeom prst="rect">
            <a:avLst/>
          </a:prstGeom>
        </p:spPr>
      </p:pic>
      <p:sp>
        <p:nvSpPr>
          <p:cNvPr id="51" name="TextBox 50"/>
          <p:cNvSpPr txBox="1"/>
          <p:nvPr/>
        </p:nvSpPr>
        <p:spPr>
          <a:xfrm>
            <a:off x="1024253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Enforcement</a:t>
            </a:r>
          </a:p>
        </p:txBody>
      </p:sp>
      <p:cxnSp>
        <p:nvCxnSpPr>
          <p:cNvPr id="52" name="Connector 51"/>
          <p:cNvCxnSpPr/>
          <p:nvPr/>
        </p:nvCxnSpPr>
        <p:spPr>
          <a:xfrm>
            <a:off x="566928" y="6455664"/>
            <a:ext cx="11057839" cy="0"/>
          </a:xfrm>
          <a:prstGeom prst="line">
            <a:avLst/>
          </a:prstGeom>
          <a:ln w="9525">
            <a:solidFill>
              <a:srgbClr val="E8E9EE"/>
            </a:solidFill>
          </a:ln>
          <a:effectLst/>
        </p:spPr>
      </p:cxnSp>
      <p:sp>
        <p:nvSpPr>
          <p:cNvPr id="53" name="TextBox 5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54" name="TextBox 5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06 / 23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 OPEN PUBLIC DATA</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Public data platforms any authority can use, </a:t>
            </a:r>
            <a:r>
              <a:rPr sz="2250" b="1" i="0">
                <a:solidFill>
                  <a:srgbClr val="4A35FF"/>
                </a:solidFill>
                <a:latin typeface="Montserrat"/>
              </a:rPr>
              <a:t>free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Built and maintained by our team; self-updating; no login, no fee. Shown live below.</a:t>
            </a:r>
          </a:p>
        </p:txBody>
      </p:sp>
      <p:pic>
        <p:nvPicPr>
          <p:cNvPr id="8" name="Picture 7" descr="sctracker.png_6.10x2.90.jpg"/>
          <p:cNvPicPr>
            <a:picLocks noChangeAspect="1"/>
          </p:cNvPicPr>
          <p:nvPr/>
        </p:nvPicPr>
        <p:blipFill>
          <a:blip r:embed="rId2"/>
          <a:stretch>
            <a:fillRect/>
          </a:stretch>
        </p:blipFill>
        <p:spPr>
          <a:xfrm>
            <a:off x="566928" y="1938528"/>
            <a:ext cx="5577840" cy="2651760"/>
          </a:xfrm>
          <a:prstGeom prst="rect">
            <a:avLst/>
          </a:prstGeom>
        </p:spPr>
      </p:pic>
      <p:sp>
        <p:nvSpPr>
          <p:cNvPr id="9" name="Rectangle 8"/>
          <p:cNvSpPr/>
          <p:nvPr/>
        </p:nvSpPr>
        <p:spPr>
          <a:xfrm>
            <a:off x="566928" y="1938528"/>
            <a:ext cx="5577840" cy="265176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636008"/>
            <a:ext cx="55778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Supreme Court Litigation Tracker — live: 20 systemic cases, 191 orders indexed, 30 precedent judgments (1 Aug 2026).</a:t>
            </a:r>
          </a:p>
        </p:txBody>
      </p:sp>
      <p:pic>
        <p:nvPicPr>
          <p:cNvPr id="11" name="Picture 10" descr="suraksha_cards.png_6.10x1.00.jpg"/>
          <p:cNvPicPr>
            <a:picLocks noChangeAspect="1"/>
          </p:cNvPicPr>
          <p:nvPr/>
        </p:nvPicPr>
        <p:blipFill>
          <a:blip r:embed="rId3"/>
          <a:stretch>
            <a:fillRect/>
          </a:stretch>
        </p:blipFill>
        <p:spPr>
          <a:xfrm>
            <a:off x="566928" y="5138928"/>
            <a:ext cx="5577840" cy="914400"/>
          </a:xfrm>
          <a:prstGeom prst="rect">
            <a:avLst/>
          </a:prstGeom>
        </p:spPr>
      </p:pic>
      <p:sp>
        <p:nvSpPr>
          <p:cNvPr id="12" name="Rectangle 11"/>
          <p:cNvSpPr/>
          <p:nvPr/>
        </p:nvSpPr>
        <p:spPr>
          <a:xfrm>
            <a:off x="566928" y="5138928"/>
            <a:ext cx="5577840" cy="914400"/>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566928" y="6108192"/>
            <a:ext cx="5852160" cy="2743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Suraksha Mitra &amp; Sadak Suraksha Suchak — citizen hazard reporting in Hindi (50+ hazards in the first 20 days).</a:t>
            </a:r>
          </a:p>
        </p:txBody>
      </p:sp>
      <p:pic>
        <p:nvPicPr>
          <p:cNvPr id="14" name="Picture 13" descr="resources_hub.jpg_5.65x2.45.jpg"/>
          <p:cNvPicPr>
            <a:picLocks noChangeAspect="1"/>
          </p:cNvPicPr>
          <p:nvPr/>
        </p:nvPicPr>
        <p:blipFill>
          <a:blip r:embed="rId4"/>
          <a:stretch>
            <a:fillRect/>
          </a:stretch>
        </p:blipFill>
        <p:spPr>
          <a:xfrm>
            <a:off x="6446520" y="1938528"/>
            <a:ext cx="5166360" cy="2240280"/>
          </a:xfrm>
          <a:prstGeom prst="rect">
            <a:avLst/>
          </a:prstGeom>
        </p:spPr>
      </p:pic>
      <p:sp>
        <p:nvSpPr>
          <p:cNvPr id="15" name="Rectangle 14"/>
          <p:cNvSpPr/>
          <p:nvPr/>
        </p:nvSpPr>
        <p:spPr>
          <a:xfrm>
            <a:off x="6446520" y="1938528"/>
            <a:ext cx="5166360" cy="2240280"/>
          </a:xfrm>
          <a:prstGeom prst="rect">
            <a:avLst/>
          </a:prstGeom>
          <a:noFill/>
          <a:ln w="12700">
            <a:solidFill>
              <a:srgbClr val="E8E9EE"/>
            </a:solidFill>
          </a:ln>
          <a:effectLst/>
        </p:spPr>
        <p:txBody>
          <a:bodyPr rtlCol="0" anchor="ctr"/>
          <a:lstStyle/>
          <a:p>
            <a:pPr algn="ctr"/>
          </a:p>
        </p:txBody>
      </p:sp>
      <p:sp>
        <p:nvSpPr>
          <p:cNvPr id="16" name="TextBox 15"/>
          <p:cNvSpPr txBox="1"/>
          <p:nvPr/>
        </p:nvSpPr>
        <p:spPr>
          <a:xfrm>
            <a:off x="6446520" y="4224528"/>
            <a:ext cx="516636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Road Safety Resources Hub — primers, data portals and guides in one place.</a:t>
            </a:r>
          </a:p>
        </p:txBody>
      </p:sp>
      <p:sp>
        <p:nvSpPr>
          <p:cNvPr id="17" name="Oval 16"/>
          <p:cNvSpPr/>
          <p:nvPr/>
        </p:nvSpPr>
        <p:spPr>
          <a:xfrm>
            <a:off x="6446520" y="4645152"/>
            <a:ext cx="365760" cy="365760"/>
          </a:xfrm>
          <a:prstGeom prst="ellipse">
            <a:avLst/>
          </a:prstGeom>
          <a:solidFill>
            <a:srgbClr val="E7F4F4"/>
          </a:solidFill>
          <a:ln>
            <a:noFill/>
          </a:ln>
          <a:effectLst/>
        </p:spPr>
        <p:txBody>
          <a:bodyPr rtlCol="0" anchor="ctr"/>
          <a:lstStyle/>
          <a:p>
            <a:pPr algn="ctr"/>
          </a:p>
        </p:txBody>
      </p:sp>
      <p:pic>
        <p:nvPicPr>
          <p:cNvPr id="18" name="Picture 17" descr="database_0E8A8A_256_2.0.png"/>
          <p:cNvPicPr>
            <a:picLocks noChangeAspect="1"/>
          </p:cNvPicPr>
          <p:nvPr/>
        </p:nvPicPr>
        <p:blipFill>
          <a:blip r:embed="rId5"/>
          <a:stretch>
            <a:fillRect/>
          </a:stretch>
        </p:blipFill>
        <p:spPr>
          <a:xfrm>
            <a:off x="6534302" y="4732934"/>
            <a:ext cx="190195" cy="190195"/>
          </a:xfrm>
          <a:prstGeom prst="rect">
            <a:avLst/>
          </a:prstGeom>
        </p:spPr>
      </p:pic>
      <p:sp>
        <p:nvSpPr>
          <p:cNvPr id="19" name="TextBox 18"/>
          <p:cNvSpPr txBox="1"/>
          <p:nvPr/>
        </p:nvSpPr>
        <p:spPr>
          <a:xfrm>
            <a:off x="6967728" y="4626864"/>
            <a:ext cx="2011680" cy="365760"/>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Road Defect Repository</a:t>
            </a:r>
          </a:p>
        </p:txBody>
      </p:sp>
      <p:sp>
        <p:nvSpPr>
          <p:cNvPr id="20" name="TextBox 19"/>
          <p:cNvSpPr txBox="1"/>
          <p:nvPr/>
        </p:nvSpPr>
        <p:spPr>
          <a:xfrm>
            <a:off x="8732520" y="4626864"/>
            <a:ext cx="2926080" cy="502920"/>
          </a:xfrm>
          <a:prstGeom prst="rect">
            <a:avLst/>
          </a:prstGeom>
          <a:noFill/>
        </p:spPr>
        <p:txBody>
          <a:bodyPr wrap="square" lIns="0" rIns="0" tIns="0" bIns="0" anchor="t">
            <a:spAutoFit/>
          </a:bodyPr>
          <a:lstStyle/>
          <a:p>
            <a:pPr algn="l">
              <a:lnSpc>
                <a:spcPct val="115000"/>
              </a:lnSpc>
            </a:pPr>
            <a:r>
              <a:rPr sz="900" b="0" i="0">
                <a:solidFill>
                  <a:srgbClr val="6E7180"/>
                </a:solidFill>
                <a:latin typeface="Geist"/>
              </a:rPr>
              <a:t>146 districts · 13 languages — defect news, mapped publicly.</a:t>
            </a:r>
          </a:p>
        </p:txBody>
      </p:sp>
      <p:sp>
        <p:nvSpPr>
          <p:cNvPr id="21" name="Oval 20"/>
          <p:cNvSpPr/>
          <p:nvPr/>
        </p:nvSpPr>
        <p:spPr>
          <a:xfrm>
            <a:off x="6446520" y="5193792"/>
            <a:ext cx="365760" cy="365760"/>
          </a:xfrm>
          <a:prstGeom prst="ellipse">
            <a:avLst/>
          </a:prstGeom>
          <a:solidFill>
            <a:srgbClr val="EFEDFF"/>
          </a:solidFill>
          <a:ln>
            <a:noFill/>
          </a:ln>
          <a:effectLst/>
        </p:spPr>
        <p:txBody>
          <a:bodyPr rtlCol="0" anchor="ctr"/>
          <a:lstStyle/>
          <a:p>
            <a:pPr algn="ctr"/>
          </a:p>
        </p:txBody>
      </p:sp>
      <p:pic>
        <p:nvPicPr>
          <p:cNvPr id="22" name="Picture 21" descr="landmark_4A35FF_256_2.0.png"/>
          <p:cNvPicPr>
            <a:picLocks noChangeAspect="1"/>
          </p:cNvPicPr>
          <p:nvPr/>
        </p:nvPicPr>
        <p:blipFill>
          <a:blip r:embed="rId6"/>
          <a:stretch>
            <a:fillRect/>
          </a:stretch>
        </p:blipFill>
        <p:spPr>
          <a:xfrm>
            <a:off x="6534302" y="5281574"/>
            <a:ext cx="190195" cy="190195"/>
          </a:xfrm>
          <a:prstGeom prst="rect">
            <a:avLst/>
          </a:prstGeom>
        </p:spPr>
      </p:pic>
      <p:sp>
        <p:nvSpPr>
          <p:cNvPr id="23" name="TextBox 22"/>
          <p:cNvSpPr txBox="1"/>
          <p:nvPr/>
        </p:nvSpPr>
        <p:spPr>
          <a:xfrm>
            <a:off x="6967728" y="5175504"/>
            <a:ext cx="2011680" cy="365760"/>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Parliament tracker</a:t>
            </a:r>
          </a:p>
        </p:txBody>
      </p:sp>
      <p:sp>
        <p:nvSpPr>
          <p:cNvPr id="24" name="TextBox 23"/>
          <p:cNvSpPr txBox="1"/>
          <p:nvPr/>
        </p:nvSpPr>
        <p:spPr>
          <a:xfrm>
            <a:off x="8732520" y="5175504"/>
            <a:ext cx="2926080" cy="502920"/>
          </a:xfrm>
          <a:prstGeom prst="rect">
            <a:avLst/>
          </a:prstGeom>
          <a:noFill/>
        </p:spPr>
        <p:txBody>
          <a:bodyPr wrap="square" lIns="0" rIns="0" tIns="0" bIns="0" anchor="t">
            <a:spAutoFit/>
          </a:bodyPr>
          <a:lstStyle/>
          <a:p>
            <a:pPr algn="l">
              <a:lnSpc>
                <a:spcPct val="115000"/>
              </a:lnSpc>
            </a:pPr>
            <a:r>
              <a:rPr sz="900" b="0" i="0">
                <a:solidFill>
                  <a:srgbClr val="6E7180"/>
                </a:solidFill>
                <a:latin typeface="Geist"/>
              </a:rPr>
              <a:t>1,423 road-safety questions indexed across the Lok Sabha &amp; Rajya Sabha.</a:t>
            </a:r>
          </a:p>
        </p:txBody>
      </p:sp>
      <p:sp>
        <p:nvSpPr>
          <p:cNvPr id="25" name="Oval 24"/>
          <p:cNvSpPr/>
          <p:nvPr/>
        </p:nvSpPr>
        <p:spPr>
          <a:xfrm>
            <a:off x="6446520" y="5742432"/>
            <a:ext cx="365760" cy="365760"/>
          </a:xfrm>
          <a:prstGeom prst="ellipse">
            <a:avLst/>
          </a:prstGeom>
          <a:solidFill>
            <a:srgbClr val="FDF3E3"/>
          </a:solidFill>
          <a:ln>
            <a:noFill/>
          </a:ln>
          <a:effectLst/>
        </p:spPr>
        <p:txBody>
          <a:bodyPr rtlCol="0" anchor="ctr"/>
          <a:lstStyle/>
          <a:p>
            <a:pPr algn="ctr"/>
          </a:p>
        </p:txBody>
      </p:sp>
      <p:pic>
        <p:nvPicPr>
          <p:cNvPr id="26" name="Picture 25" descr="bar-chart-3_E58900_256_2.0.png"/>
          <p:cNvPicPr>
            <a:picLocks noChangeAspect="1"/>
          </p:cNvPicPr>
          <p:nvPr/>
        </p:nvPicPr>
        <p:blipFill>
          <a:blip r:embed="rId7"/>
          <a:stretch>
            <a:fillRect/>
          </a:stretch>
        </p:blipFill>
        <p:spPr>
          <a:xfrm>
            <a:off x="6534302" y="5830214"/>
            <a:ext cx="190195" cy="190195"/>
          </a:xfrm>
          <a:prstGeom prst="rect">
            <a:avLst/>
          </a:prstGeom>
        </p:spPr>
      </p:pic>
      <p:sp>
        <p:nvSpPr>
          <p:cNvPr id="27" name="TextBox 26"/>
          <p:cNvSpPr txBox="1"/>
          <p:nvPr/>
        </p:nvSpPr>
        <p:spPr>
          <a:xfrm>
            <a:off x="6967728" y="5724144"/>
            <a:ext cx="2011680" cy="365760"/>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Crash Data Dashboard</a:t>
            </a:r>
          </a:p>
        </p:txBody>
      </p:sp>
      <p:sp>
        <p:nvSpPr>
          <p:cNvPr id="28" name="TextBox 27"/>
          <p:cNvSpPr txBox="1"/>
          <p:nvPr/>
        </p:nvSpPr>
        <p:spPr>
          <a:xfrm>
            <a:off x="8732520" y="5724144"/>
            <a:ext cx="2926080" cy="502920"/>
          </a:xfrm>
          <a:prstGeom prst="rect">
            <a:avLst/>
          </a:prstGeom>
          <a:noFill/>
        </p:spPr>
        <p:txBody>
          <a:bodyPr wrap="square" lIns="0" rIns="0" tIns="0" bIns="0" anchor="t">
            <a:spAutoFit/>
          </a:bodyPr>
          <a:lstStyle/>
          <a:p>
            <a:pPr algn="l">
              <a:lnSpc>
                <a:spcPct val="115000"/>
              </a:lnSpc>
            </a:pPr>
            <a:r>
              <a:rPr sz="900" b="0" i="0">
                <a:solidFill>
                  <a:srgbClr val="6E7180"/>
                </a:solidFill>
                <a:latin typeface="Geist"/>
              </a:rPr>
              <a:t>MoRTH statistics made usable — 36 states, 50 cities, open licence.</a:t>
            </a: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07 / 23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 VICTIM SUPPORT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Help a family can actually use, </a:t>
            </a:r>
            <a:r>
              <a:rPr sz="2250" b="1" i="0">
                <a:solidFill>
                  <a:srgbClr val="4A35FF"/>
                </a:solidFill>
                <a:latin typeface="Montserrat"/>
              </a:rPr>
              <a:t>in their language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From the first hours after a crash to the final compensation order — on WhatsApp, on paper, and in person.</a:t>
            </a:r>
          </a:p>
        </p:txBody>
      </p:sp>
      <p:pic>
        <p:nvPicPr>
          <p:cNvPr id="8" name="Picture 7" descr="wa_phone1.png"/>
          <p:cNvPicPr>
            <a:picLocks noChangeAspect="1"/>
          </p:cNvPicPr>
          <p:nvPr/>
        </p:nvPicPr>
        <p:blipFill>
          <a:blip r:embed="rId2"/>
          <a:stretch>
            <a:fillRect/>
          </a:stretch>
        </p:blipFill>
        <p:spPr>
          <a:xfrm>
            <a:off x="566928" y="1920240"/>
            <a:ext cx="1444752" cy="2140373"/>
          </a:xfrm>
          <a:prstGeom prst="rect">
            <a:avLst/>
          </a:prstGeom>
        </p:spPr>
      </p:pic>
      <p:sp>
        <p:nvSpPr>
          <p:cNvPr id="9" name="TextBox 8"/>
          <p:cNvSpPr txBox="1"/>
          <p:nvPr/>
        </p:nvSpPr>
        <p:spPr>
          <a:xfrm>
            <a:off x="566928" y="4133087"/>
            <a:ext cx="1463040" cy="274320"/>
          </a:xfrm>
          <a:prstGeom prst="rect">
            <a:avLst/>
          </a:prstGeom>
          <a:noFill/>
        </p:spPr>
        <p:txBody>
          <a:bodyPr wrap="square" lIns="0" rIns="0" tIns="0" bIns="0" anchor="t">
            <a:spAutoFit/>
          </a:bodyPr>
          <a:lstStyle/>
          <a:p>
            <a:pPr algn="ctr">
              <a:lnSpc>
                <a:spcPct val="128000"/>
              </a:lnSpc>
            </a:pPr>
            <a:r>
              <a:rPr sz="850" b="1" i="0">
                <a:solidFill>
                  <a:srgbClr val="16181D"/>
                </a:solidFill>
                <a:latin typeface="Montserrat"/>
              </a:rPr>
              <a:t>Day one after FIR</a:t>
            </a:r>
          </a:p>
        </p:txBody>
      </p:sp>
      <p:pic>
        <p:nvPicPr>
          <p:cNvPr id="10" name="Picture 9" descr="wa_phone2.png"/>
          <p:cNvPicPr>
            <a:picLocks noChangeAspect="1"/>
          </p:cNvPicPr>
          <p:nvPr/>
        </p:nvPicPr>
        <p:blipFill>
          <a:blip r:embed="rId3"/>
          <a:stretch>
            <a:fillRect/>
          </a:stretch>
        </p:blipFill>
        <p:spPr>
          <a:xfrm>
            <a:off x="2139696" y="1920240"/>
            <a:ext cx="1444752" cy="2140373"/>
          </a:xfrm>
          <a:prstGeom prst="rect">
            <a:avLst/>
          </a:prstGeom>
        </p:spPr>
      </p:pic>
      <p:sp>
        <p:nvSpPr>
          <p:cNvPr id="11" name="TextBox 10"/>
          <p:cNvSpPr txBox="1"/>
          <p:nvPr/>
        </p:nvSpPr>
        <p:spPr>
          <a:xfrm>
            <a:off x="2139696" y="4133087"/>
            <a:ext cx="1463040" cy="274320"/>
          </a:xfrm>
          <a:prstGeom prst="rect">
            <a:avLst/>
          </a:prstGeom>
          <a:noFill/>
        </p:spPr>
        <p:txBody>
          <a:bodyPr wrap="square" lIns="0" rIns="0" tIns="0" bIns="0" anchor="t">
            <a:spAutoFit/>
          </a:bodyPr>
          <a:lstStyle/>
          <a:p>
            <a:pPr algn="ctr">
              <a:lnSpc>
                <a:spcPct val="128000"/>
              </a:lnSpc>
            </a:pPr>
            <a:r>
              <a:rPr sz="850" b="1" i="0">
                <a:solidFill>
                  <a:srgbClr val="16181D"/>
                </a:solidFill>
                <a:latin typeface="Montserrat"/>
              </a:rPr>
              <a:t>Document capture</a:t>
            </a:r>
          </a:p>
        </p:txBody>
      </p:sp>
      <p:pic>
        <p:nvPicPr>
          <p:cNvPr id="12" name="Picture 11" descr="wa_phone3.png"/>
          <p:cNvPicPr>
            <a:picLocks noChangeAspect="1"/>
          </p:cNvPicPr>
          <p:nvPr/>
        </p:nvPicPr>
        <p:blipFill>
          <a:blip r:embed="rId4"/>
          <a:stretch>
            <a:fillRect/>
          </a:stretch>
        </p:blipFill>
        <p:spPr>
          <a:xfrm>
            <a:off x="3712464" y="1920240"/>
            <a:ext cx="1444752" cy="2140373"/>
          </a:xfrm>
          <a:prstGeom prst="rect">
            <a:avLst/>
          </a:prstGeom>
        </p:spPr>
      </p:pic>
      <p:sp>
        <p:nvSpPr>
          <p:cNvPr id="13" name="TextBox 12"/>
          <p:cNvSpPr txBox="1"/>
          <p:nvPr/>
        </p:nvSpPr>
        <p:spPr>
          <a:xfrm>
            <a:off x="3712464" y="4133087"/>
            <a:ext cx="1463040" cy="274320"/>
          </a:xfrm>
          <a:prstGeom prst="rect">
            <a:avLst/>
          </a:prstGeom>
          <a:noFill/>
        </p:spPr>
        <p:txBody>
          <a:bodyPr wrap="square" lIns="0" rIns="0" tIns="0" bIns="0" anchor="t">
            <a:spAutoFit/>
          </a:bodyPr>
          <a:lstStyle/>
          <a:p>
            <a:pPr algn="ctr">
              <a:lnSpc>
                <a:spcPct val="128000"/>
              </a:lnSpc>
            </a:pPr>
            <a:r>
              <a:rPr sz="850" b="1" i="0">
                <a:solidFill>
                  <a:srgbClr val="16181D"/>
                </a:solidFill>
                <a:latin typeface="Montserrat"/>
              </a:rPr>
              <a:t>Live case status</a:t>
            </a:r>
          </a:p>
        </p:txBody>
      </p:sp>
      <p:sp>
        <p:nvSpPr>
          <p:cNvPr id="14" name="TextBox 13"/>
          <p:cNvSpPr txBox="1"/>
          <p:nvPr/>
        </p:nvSpPr>
        <p:spPr>
          <a:xfrm>
            <a:off x="566928" y="4462272"/>
            <a:ext cx="4663440" cy="4572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Aasha — our 24/7 multilingual AI companion. The family needs no app and no portal; everything runs on WhatsApp and voice, in Hindi.</a:t>
            </a:r>
          </a:p>
        </p:txBody>
      </p:sp>
      <p:sp>
        <p:nvSpPr>
          <p:cNvPr id="15" name="Oval 14"/>
          <p:cNvSpPr/>
          <p:nvPr/>
        </p:nvSpPr>
        <p:spPr>
          <a:xfrm>
            <a:off x="5257800" y="1920240"/>
            <a:ext cx="365760" cy="365760"/>
          </a:xfrm>
          <a:prstGeom prst="ellipse">
            <a:avLst/>
          </a:prstGeom>
          <a:solidFill>
            <a:srgbClr val="EFEDFF"/>
          </a:solidFill>
          <a:ln>
            <a:noFill/>
          </a:ln>
          <a:effectLst/>
        </p:spPr>
        <p:txBody>
          <a:bodyPr rtlCol="0" anchor="ctr"/>
          <a:lstStyle/>
          <a:p>
            <a:pPr algn="ctr"/>
          </a:p>
        </p:txBody>
      </p:sp>
      <p:pic>
        <p:nvPicPr>
          <p:cNvPr id="16" name="Picture 15" descr="bot_4A35FF_256_2.0.png"/>
          <p:cNvPicPr>
            <a:picLocks noChangeAspect="1"/>
          </p:cNvPicPr>
          <p:nvPr/>
        </p:nvPicPr>
        <p:blipFill>
          <a:blip r:embed="rId5"/>
          <a:stretch>
            <a:fillRect/>
          </a:stretch>
        </p:blipFill>
        <p:spPr>
          <a:xfrm>
            <a:off x="5345582" y="2008022"/>
            <a:ext cx="190195" cy="190195"/>
          </a:xfrm>
          <a:prstGeom prst="rect">
            <a:avLst/>
          </a:prstGeom>
        </p:spPr>
      </p:pic>
      <p:sp>
        <p:nvSpPr>
          <p:cNvPr id="17" name="TextBox 16"/>
          <p:cNvSpPr txBox="1"/>
          <p:nvPr/>
        </p:nvSpPr>
        <p:spPr>
          <a:xfrm>
            <a:off x="5779008" y="1901952"/>
            <a:ext cx="1783080" cy="502920"/>
          </a:xfrm>
          <a:prstGeom prst="rect">
            <a:avLst/>
          </a:prstGeom>
          <a:noFill/>
        </p:spPr>
        <p:txBody>
          <a:bodyPr wrap="square" lIns="0" rIns="0" tIns="0" bIns="0" anchor="t">
            <a:spAutoFit/>
          </a:bodyPr>
          <a:lstStyle/>
          <a:p>
            <a:pPr algn="l">
              <a:lnSpc>
                <a:spcPct val="105000"/>
              </a:lnSpc>
            </a:pPr>
            <a:r>
              <a:rPr sz="1100" b="1" i="0">
                <a:solidFill>
                  <a:srgbClr val="16181D"/>
                </a:solidFill>
                <a:latin typeface="Montserrat"/>
              </a:rPr>
              <a:t>Aasha chatbot</a:t>
            </a:r>
          </a:p>
        </p:txBody>
      </p:sp>
      <p:sp>
        <p:nvSpPr>
          <p:cNvPr id="18" name="TextBox 17"/>
          <p:cNvSpPr txBox="1"/>
          <p:nvPr/>
        </p:nvSpPr>
        <p:spPr>
          <a:xfrm>
            <a:off x="7589520" y="1901952"/>
            <a:ext cx="1965960" cy="685800"/>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Step-by-step guidance on rights, schemes and documents — 24/7, multilingual.</a:t>
            </a:r>
          </a:p>
        </p:txBody>
      </p:sp>
      <p:sp>
        <p:nvSpPr>
          <p:cNvPr id="19" name="Oval 18"/>
          <p:cNvSpPr/>
          <p:nvPr/>
        </p:nvSpPr>
        <p:spPr>
          <a:xfrm>
            <a:off x="5257800" y="2633472"/>
            <a:ext cx="365760" cy="365760"/>
          </a:xfrm>
          <a:prstGeom prst="ellipse">
            <a:avLst/>
          </a:prstGeom>
          <a:solidFill>
            <a:srgbClr val="E7F4F4"/>
          </a:solidFill>
          <a:ln>
            <a:noFill/>
          </a:ln>
          <a:effectLst/>
        </p:spPr>
        <p:txBody>
          <a:bodyPr rtlCol="0" anchor="ctr"/>
          <a:lstStyle/>
          <a:p>
            <a:pPr algn="ctr"/>
          </a:p>
        </p:txBody>
      </p:sp>
      <p:pic>
        <p:nvPicPr>
          <p:cNvPr id="20" name="Picture 19" descr="calculator_0E8A8A_256_2.0.png"/>
          <p:cNvPicPr>
            <a:picLocks noChangeAspect="1"/>
          </p:cNvPicPr>
          <p:nvPr/>
        </p:nvPicPr>
        <p:blipFill>
          <a:blip r:embed="rId6"/>
          <a:stretch>
            <a:fillRect/>
          </a:stretch>
        </p:blipFill>
        <p:spPr>
          <a:xfrm>
            <a:off x="5345582" y="2721254"/>
            <a:ext cx="190195" cy="190195"/>
          </a:xfrm>
          <a:prstGeom prst="rect">
            <a:avLst/>
          </a:prstGeom>
        </p:spPr>
      </p:pic>
      <p:sp>
        <p:nvSpPr>
          <p:cNvPr id="21" name="TextBox 20"/>
          <p:cNvSpPr txBox="1"/>
          <p:nvPr/>
        </p:nvSpPr>
        <p:spPr>
          <a:xfrm>
            <a:off x="5779008" y="2615184"/>
            <a:ext cx="1783080" cy="502920"/>
          </a:xfrm>
          <a:prstGeom prst="rect">
            <a:avLst/>
          </a:prstGeom>
          <a:noFill/>
        </p:spPr>
        <p:txBody>
          <a:bodyPr wrap="square" lIns="0" rIns="0" tIns="0" bIns="0" anchor="t">
            <a:spAutoFit/>
          </a:bodyPr>
          <a:lstStyle/>
          <a:p>
            <a:pPr algn="l">
              <a:lnSpc>
                <a:spcPct val="105000"/>
              </a:lnSpc>
            </a:pPr>
            <a:r>
              <a:rPr sz="1100" b="1" i="0">
                <a:solidFill>
                  <a:srgbClr val="16181D"/>
                </a:solidFill>
                <a:latin typeface="Montserrat"/>
              </a:rPr>
              <a:t>Compensation Calculator</a:t>
            </a:r>
          </a:p>
        </p:txBody>
      </p:sp>
      <p:sp>
        <p:nvSpPr>
          <p:cNvPr id="22" name="TextBox 21"/>
          <p:cNvSpPr txBox="1"/>
          <p:nvPr/>
        </p:nvSpPr>
        <p:spPr>
          <a:xfrm>
            <a:off x="7589520" y="2615184"/>
            <a:ext cx="1965960" cy="685800"/>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Free instant estimates on Supreme Court principles (Sarla Verma, Pranay Sethi).</a:t>
            </a:r>
          </a:p>
        </p:txBody>
      </p:sp>
      <p:sp>
        <p:nvSpPr>
          <p:cNvPr id="23" name="Oval 22"/>
          <p:cNvSpPr/>
          <p:nvPr/>
        </p:nvSpPr>
        <p:spPr>
          <a:xfrm>
            <a:off x="5257800" y="3346704"/>
            <a:ext cx="365760" cy="365760"/>
          </a:xfrm>
          <a:prstGeom prst="ellipse">
            <a:avLst/>
          </a:prstGeom>
          <a:solidFill>
            <a:srgbClr val="E9F7F0"/>
          </a:solidFill>
          <a:ln>
            <a:noFill/>
          </a:ln>
          <a:effectLst/>
        </p:spPr>
        <p:txBody>
          <a:bodyPr rtlCol="0" anchor="ctr"/>
          <a:lstStyle/>
          <a:p>
            <a:pPr algn="ctr"/>
          </a:p>
        </p:txBody>
      </p:sp>
      <p:pic>
        <p:nvPicPr>
          <p:cNvPr id="24" name="Picture 23" descr="life-buoy_0A9955_256_2.0.png"/>
          <p:cNvPicPr>
            <a:picLocks noChangeAspect="1"/>
          </p:cNvPicPr>
          <p:nvPr/>
        </p:nvPicPr>
        <p:blipFill>
          <a:blip r:embed="rId7"/>
          <a:stretch>
            <a:fillRect/>
          </a:stretch>
        </p:blipFill>
        <p:spPr>
          <a:xfrm>
            <a:off x="5345582" y="3434486"/>
            <a:ext cx="190195" cy="190195"/>
          </a:xfrm>
          <a:prstGeom prst="rect">
            <a:avLst/>
          </a:prstGeom>
        </p:spPr>
      </p:pic>
      <p:sp>
        <p:nvSpPr>
          <p:cNvPr id="25" name="TextBox 24"/>
          <p:cNvSpPr txBox="1"/>
          <p:nvPr/>
        </p:nvSpPr>
        <p:spPr>
          <a:xfrm>
            <a:off x="5779008" y="3328416"/>
            <a:ext cx="1783080" cy="502920"/>
          </a:xfrm>
          <a:prstGeom prst="rect">
            <a:avLst/>
          </a:prstGeom>
          <a:noFill/>
        </p:spPr>
        <p:txBody>
          <a:bodyPr wrap="square" lIns="0" rIns="0" tIns="0" bIns="0" anchor="t">
            <a:spAutoFit/>
          </a:bodyPr>
          <a:lstStyle/>
          <a:p>
            <a:pPr algn="l">
              <a:lnSpc>
                <a:spcPct val="105000"/>
              </a:lnSpc>
            </a:pPr>
            <a:r>
              <a:rPr sz="1100" b="1" i="0">
                <a:solidFill>
                  <a:srgbClr val="16181D"/>
                </a:solidFill>
                <a:latin typeface="Montserrat"/>
              </a:rPr>
              <a:t>Hospital helpdesks</a:t>
            </a:r>
          </a:p>
        </p:txBody>
      </p:sp>
      <p:sp>
        <p:nvSpPr>
          <p:cNvPr id="26" name="TextBox 25"/>
          <p:cNvSpPr txBox="1"/>
          <p:nvPr/>
        </p:nvSpPr>
        <p:spPr>
          <a:xfrm>
            <a:off x="7589520" y="3328416"/>
            <a:ext cx="1965960" cy="685800"/>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Legal desks in trauma wards — 100+ victims supported in the first four days.</a:t>
            </a:r>
          </a:p>
        </p:txBody>
      </p:sp>
      <p:sp>
        <p:nvSpPr>
          <p:cNvPr id="27" name="Oval 26"/>
          <p:cNvSpPr/>
          <p:nvPr/>
        </p:nvSpPr>
        <p:spPr>
          <a:xfrm>
            <a:off x="5257800" y="4059936"/>
            <a:ext cx="365760" cy="365760"/>
          </a:xfrm>
          <a:prstGeom prst="ellipse">
            <a:avLst/>
          </a:prstGeom>
          <a:solidFill>
            <a:srgbClr val="FDF3E3"/>
          </a:solidFill>
          <a:ln>
            <a:noFill/>
          </a:ln>
          <a:effectLst/>
        </p:spPr>
        <p:txBody>
          <a:bodyPr rtlCol="0" anchor="ctr"/>
          <a:lstStyle/>
          <a:p>
            <a:pPr algn="ctr"/>
          </a:p>
        </p:txBody>
      </p:sp>
      <p:pic>
        <p:nvPicPr>
          <p:cNvPr id="28" name="Picture 27" descr="book-open_E58900_256_2.0.png"/>
          <p:cNvPicPr>
            <a:picLocks noChangeAspect="1"/>
          </p:cNvPicPr>
          <p:nvPr/>
        </p:nvPicPr>
        <p:blipFill>
          <a:blip r:embed="rId8"/>
          <a:stretch>
            <a:fillRect/>
          </a:stretch>
        </p:blipFill>
        <p:spPr>
          <a:xfrm>
            <a:off x="5345582" y="4147718"/>
            <a:ext cx="190195" cy="190195"/>
          </a:xfrm>
          <a:prstGeom prst="rect">
            <a:avLst/>
          </a:prstGeom>
        </p:spPr>
      </p:pic>
      <p:sp>
        <p:nvSpPr>
          <p:cNvPr id="29" name="TextBox 28"/>
          <p:cNvSpPr txBox="1"/>
          <p:nvPr/>
        </p:nvSpPr>
        <p:spPr>
          <a:xfrm>
            <a:off x="5779008" y="4041648"/>
            <a:ext cx="1783080" cy="502920"/>
          </a:xfrm>
          <a:prstGeom prst="rect">
            <a:avLst/>
          </a:prstGeom>
          <a:noFill/>
        </p:spPr>
        <p:txBody>
          <a:bodyPr wrap="square" lIns="0" rIns="0" tIns="0" bIns="0" anchor="t">
            <a:spAutoFit/>
          </a:bodyPr>
          <a:lstStyle/>
          <a:p>
            <a:pPr algn="l">
              <a:lnSpc>
                <a:spcPct val="105000"/>
              </a:lnSpc>
            </a:pPr>
            <a:r>
              <a:rPr sz="1100" b="1" i="0">
                <a:solidFill>
                  <a:srgbClr val="16181D"/>
                </a:solidFill>
                <a:latin typeface="Montserrat"/>
              </a:rPr>
              <a:t>Plain-language education</a:t>
            </a:r>
          </a:p>
        </p:txBody>
      </p:sp>
      <p:sp>
        <p:nvSpPr>
          <p:cNvPr id="30" name="TextBox 29"/>
          <p:cNvSpPr txBox="1"/>
          <p:nvPr/>
        </p:nvSpPr>
        <p:spPr>
          <a:xfrm>
            <a:off x="7589520" y="4041648"/>
            <a:ext cx="1965960" cy="685800"/>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Comics and Hindi guides on all three compensation routes, NALSA 15100 and the Cashless Treatment Scheme 2025.</a:t>
            </a:r>
          </a:p>
        </p:txBody>
      </p:sp>
      <p:pic>
        <p:nvPicPr>
          <p:cNvPr id="31" name="Picture 30" descr="guide_p1.png"/>
          <p:cNvPicPr>
            <a:picLocks noChangeAspect="1"/>
          </p:cNvPicPr>
          <p:nvPr/>
        </p:nvPicPr>
        <p:blipFill>
          <a:blip r:embed="rId9"/>
          <a:stretch>
            <a:fillRect/>
          </a:stretch>
        </p:blipFill>
        <p:spPr>
          <a:xfrm>
            <a:off x="9784080" y="1920240"/>
            <a:ext cx="1847088" cy="2530515"/>
          </a:xfrm>
          <a:prstGeom prst="rect">
            <a:avLst/>
          </a:prstGeom>
        </p:spPr>
      </p:pic>
      <p:sp>
        <p:nvSpPr>
          <p:cNvPr id="32" name="Rectangle 31"/>
          <p:cNvSpPr/>
          <p:nvPr/>
        </p:nvSpPr>
        <p:spPr>
          <a:xfrm>
            <a:off x="9784080" y="1920240"/>
            <a:ext cx="1847088" cy="2530515"/>
          </a:xfrm>
          <a:prstGeom prst="rect">
            <a:avLst/>
          </a:prstGeom>
          <a:noFill/>
          <a:ln w="12700">
            <a:solidFill>
              <a:srgbClr val="E8E9EE"/>
            </a:solidFill>
          </a:ln>
          <a:effectLst/>
        </p:spPr>
        <p:txBody>
          <a:bodyPr rtlCol="0" anchor="ctr"/>
          <a:lstStyle/>
          <a:p>
            <a:pPr algn="ctr"/>
          </a:p>
        </p:txBody>
      </p:sp>
      <p:sp>
        <p:nvSpPr>
          <p:cNvPr id="33" name="TextBox 32"/>
          <p:cNvSpPr txBox="1"/>
          <p:nvPr/>
        </p:nvSpPr>
        <p:spPr>
          <a:xfrm>
            <a:off x="9784080" y="4496475"/>
            <a:ext cx="1847088"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Hindi legal-rights guide — used in</a:t>
            </a:r>
          </a:p>
          <a:p>
            <a:pPr algn="l">
              <a:lnSpc>
                <a:spcPct val="110000"/>
              </a:lnSpc>
            </a:pPr>
            <a:r>
              <a:rPr sz="850" b="0" i="0">
                <a:solidFill>
                  <a:srgbClr val="6E7180"/>
                </a:solidFill>
                <a:latin typeface="Geist"/>
              </a:rPr>
              <a:t>hospitals &amp; police stations.</a:t>
            </a:r>
          </a:p>
        </p:txBody>
      </p:sp>
      <p:cxnSp>
        <p:nvCxnSpPr>
          <p:cNvPr id="34" name="Connector 33"/>
          <p:cNvCxnSpPr/>
          <p:nvPr/>
        </p:nvCxnSpPr>
        <p:spPr>
          <a:xfrm>
            <a:off x="566928" y="6455664"/>
            <a:ext cx="11057839" cy="0"/>
          </a:xfrm>
          <a:prstGeom prst="line">
            <a:avLst/>
          </a:prstGeom>
          <a:ln w="9525">
            <a:solidFill>
              <a:srgbClr val="E8E9EE"/>
            </a:solidFill>
          </a:ln>
          <a:effectLst/>
        </p:spPr>
      </p:cxnSp>
      <p:sp>
        <p:nvSpPr>
          <p:cNvPr id="35" name="TextBox 34"/>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6" name="TextBox 3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08 / 23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 YOUTH &amp; POLICY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Young talent and senior experts, </a:t>
            </a:r>
            <a:r>
              <a:rPr sz="2250" b="1" i="0">
                <a:solidFill>
                  <a:srgbClr val="4A35FF"/>
                </a:solidFill>
                <a:latin typeface="Montserrat"/>
              </a:rPr>
              <a:t>working the same problem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 steady pipeline of engineers and policy minds — so road safety work never runs out of hands.</a:t>
            </a:r>
          </a:p>
        </p:txBody>
      </p:sp>
      <p:pic>
        <p:nvPicPr>
          <p:cNvPr id="8" name="Picture 7" descr="ph_ideathon_winners.jpg_4.05x2.50.jpg"/>
          <p:cNvPicPr>
            <a:picLocks noChangeAspect="1"/>
          </p:cNvPicPr>
          <p:nvPr/>
        </p:nvPicPr>
        <p:blipFill>
          <a:blip r:embed="rId2"/>
          <a:stretch>
            <a:fillRect/>
          </a:stretch>
        </p:blipFill>
        <p:spPr>
          <a:xfrm>
            <a:off x="566928" y="1938528"/>
            <a:ext cx="3703320" cy="2286000"/>
          </a:xfrm>
          <a:prstGeom prst="rect">
            <a:avLst/>
          </a:prstGeom>
        </p:spPr>
      </p:pic>
      <p:sp>
        <p:nvSpPr>
          <p:cNvPr id="9" name="Rectangle 8"/>
          <p:cNvSpPr/>
          <p:nvPr/>
        </p:nvSpPr>
        <p:spPr>
          <a:xfrm>
            <a:off x="566928" y="1938528"/>
            <a:ext cx="3703320" cy="228600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270248"/>
            <a:ext cx="37033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NextMile: Road Safety Policy Ideathon — grand finale, 28 Sep 2025, New Delhi.</a:t>
            </a:r>
          </a:p>
        </p:txBody>
      </p:sp>
      <p:sp>
        <p:nvSpPr>
          <p:cNvPr id="11" name="TextBox 10"/>
          <p:cNvSpPr txBox="1"/>
          <p:nvPr/>
        </p:nvSpPr>
        <p:spPr>
          <a:xfrm>
            <a:off x="56692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2,000+</a:t>
            </a:r>
          </a:p>
        </p:txBody>
      </p:sp>
      <p:sp>
        <p:nvSpPr>
          <p:cNvPr id="12" name="TextBox 11"/>
          <p:cNvSpPr txBox="1"/>
          <p:nvPr/>
        </p:nvSpPr>
        <p:spPr>
          <a:xfrm>
            <a:off x="56692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participants</a:t>
            </a:r>
          </a:p>
        </p:txBody>
      </p:sp>
      <p:sp>
        <p:nvSpPr>
          <p:cNvPr id="13" name="TextBox 12"/>
          <p:cNvSpPr txBox="1"/>
          <p:nvPr/>
        </p:nvSpPr>
        <p:spPr>
          <a:xfrm>
            <a:off x="152704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250+</a:t>
            </a:r>
          </a:p>
        </p:txBody>
      </p:sp>
      <p:sp>
        <p:nvSpPr>
          <p:cNvPr id="14" name="TextBox 13"/>
          <p:cNvSpPr txBox="1"/>
          <p:nvPr/>
        </p:nvSpPr>
        <p:spPr>
          <a:xfrm>
            <a:off x="152704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concept notes</a:t>
            </a:r>
          </a:p>
        </p:txBody>
      </p:sp>
      <p:sp>
        <p:nvSpPr>
          <p:cNvPr id="15" name="TextBox 14"/>
          <p:cNvSpPr txBox="1"/>
          <p:nvPr/>
        </p:nvSpPr>
        <p:spPr>
          <a:xfrm>
            <a:off x="248716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700+</a:t>
            </a:r>
          </a:p>
        </p:txBody>
      </p:sp>
      <p:sp>
        <p:nvSpPr>
          <p:cNvPr id="16" name="TextBox 15"/>
          <p:cNvSpPr txBox="1"/>
          <p:nvPr/>
        </p:nvSpPr>
        <p:spPr>
          <a:xfrm>
            <a:off x="248716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teams</a:t>
            </a:r>
          </a:p>
        </p:txBody>
      </p:sp>
      <p:sp>
        <p:nvSpPr>
          <p:cNvPr id="17" name="TextBox 16"/>
          <p:cNvSpPr txBox="1"/>
          <p:nvPr/>
        </p:nvSpPr>
        <p:spPr>
          <a:xfrm>
            <a:off x="344728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10</a:t>
            </a:r>
          </a:p>
        </p:txBody>
      </p:sp>
      <p:sp>
        <p:nvSpPr>
          <p:cNvPr id="18" name="TextBox 17"/>
          <p:cNvSpPr txBox="1"/>
          <p:nvPr/>
        </p:nvSpPr>
        <p:spPr>
          <a:xfrm>
            <a:off x="344728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finalist teams</a:t>
            </a:r>
          </a:p>
        </p:txBody>
      </p:sp>
      <p:pic>
        <p:nvPicPr>
          <p:cNvPr id="19" name="Picture 18" descr="ph_vision_wall.jpg_3.70x2.50.jpg"/>
          <p:cNvPicPr>
            <a:picLocks noChangeAspect="1"/>
          </p:cNvPicPr>
          <p:nvPr/>
        </p:nvPicPr>
        <p:blipFill>
          <a:blip r:embed="rId3"/>
          <a:stretch>
            <a:fillRect/>
          </a:stretch>
        </p:blipFill>
        <p:spPr>
          <a:xfrm>
            <a:off x="4434840" y="1938528"/>
            <a:ext cx="3383280" cy="2286000"/>
          </a:xfrm>
          <a:prstGeom prst="rect">
            <a:avLst/>
          </a:prstGeom>
        </p:spPr>
      </p:pic>
      <p:sp>
        <p:nvSpPr>
          <p:cNvPr id="20" name="Rectangle 19"/>
          <p:cNvSpPr/>
          <p:nvPr/>
        </p:nvSpPr>
        <p:spPr>
          <a:xfrm>
            <a:off x="4434840" y="1938528"/>
            <a:ext cx="3383280" cy="2286000"/>
          </a:xfrm>
          <a:prstGeom prst="rect">
            <a:avLst/>
          </a:prstGeom>
          <a:noFill/>
          <a:ln w="12700">
            <a:solidFill>
              <a:srgbClr val="E8E9EE"/>
            </a:solidFill>
          </a:ln>
          <a:effectLst/>
        </p:spPr>
        <p:txBody>
          <a:bodyPr rtlCol="0" anchor="ctr"/>
          <a:lstStyle/>
          <a:p>
            <a:pPr algn="ctr"/>
          </a:p>
        </p:txBody>
      </p:sp>
      <p:sp>
        <p:nvSpPr>
          <p:cNvPr id="21" name="TextBox 20"/>
          <p:cNvSpPr txBox="1"/>
          <p:nvPr/>
        </p:nvSpPr>
        <p:spPr>
          <a:xfrm>
            <a:off x="4434840" y="4270248"/>
            <a:ext cx="33832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Vision Wall 2040 — participants write the road-safety future they want.</a:t>
            </a:r>
          </a:p>
        </p:txBody>
      </p:sp>
      <p:sp>
        <p:nvSpPr>
          <p:cNvPr id="22" name="TextBox 21"/>
          <p:cNvSpPr txBox="1"/>
          <p:nvPr/>
        </p:nvSpPr>
        <p:spPr>
          <a:xfrm>
            <a:off x="4434840" y="4828032"/>
            <a:ext cx="3383280" cy="7315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Mentors and evaluators came from the Government of Rajasthan, NIUA, OMI, NASSCOM and CSEP. Winning tracks now feed our audit and research pipeline.</a:t>
            </a:r>
          </a:p>
        </p:txBody>
      </p:sp>
      <p:sp>
        <p:nvSpPr>
          <p:cNvPr id="23" name="Oval 22"/>
          <p:cNvSpPr/>
          <p:nvPr/>
        </p:nvSpPr>
        <p:spPr>
          <a:xfrm>
            <a:off x="8229600" y="1938528"/>
            <a:ext cx="384048" cy="384048"/>
          </a:xfrm>
          <a:prstGeom prst="ellipse">
            <a:avLst/>
          </a:prstGeom>
          <a:solidFill>
            <a:srgbClr val="EFEDFF"/>
          </a:solidFill>
          <a:ln>
            <a:noFill/>
          </a:ln>
          <a:effectLst/>
        </p:spPr>
        <p:txBody>
          <a:bodyPr rtlCol="0" anchor="ctr"/>
          <a:lstStyle/>
          <a:p>
            <a:pPr algn="ctr"/>
          </a:p>
        </p:txBody>
      </p:sp>
      <p:pic>
        <p:nvPicPr>
          <p:cNvPr id="24" name="Picture 23" descr="mic_4A35FF_256_2.0.png"/>
          <p:cNvPicPr>
            <a:picLocks noChangeAspect="1"/>
          </p:cNvPicPr>
          <p:nvPr/>
        </p:nvPicPr>
        <p:blipFill>
          <a:blip r:embed="rId4"/>
          <a:stretch>
            <a:fillRect/>
          </a:stretch>
        </p:blipFill>
        <p:spPr>
          <a:xfrm>
            <a:off x="8321771" y="2030699"/>
            <a:ext cx="199704" cy="199704"/>
          </a:xfrm>
          <a:prstGeom prst="rect">
            <a:avLst/>
          </a:prstGeom>
        </p:spPr>
      </p:pic>
      <p:sp>
        <p:nvSpPr>
          <p:cNvPr id="25" name="TextBox 24"/>
          <p:cNvSpPr txBox="1"/>
          <p:nvPr/>
        </p:nvSpPr>
        <p:spPr>
          <a:xfrm>
            <a:off x="8759952" y="1911096"/>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National Road Safety Dialogue Series</a:t>
            </a:r>
          </a:p>
        </p:txBody>
      </p:sp>
      <p:sp>
        <p:nvSpPr>
          <p:cNvPr id="26" name="TextBox 25"/>
          <p:cNvSpPr txBox="1"/>
          <p:nvPr/>
        </p:nvSpPr>
        <p:spPr>
          <a:xfrm>
            <a:off x="8759952" y="2267712"/>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200+ live attendees; speakers from MoRTH, CIRT, AIIMS Trauma Centre, CSIR-CRRI and ARAI.</a:t>
            </a:r>
          </a:p>
        </p:txBody>
      </p:sp>
      <p:sp>
        <p:nvSpPr>
          <p:cNvPr id="27" name="Oval 26"/>
          <p:cNvSpPr/>
          <p:nvPr/>
        </p:nvSpPr>
        <p:spPr>
          <a:xfrm>
            <a:off x="8229600" y="3108960"/>
            <a:ext cx="384048" cy="384048"/>
          </a:xfrm>
          <a:prstGeom prst="ellipse">
            <a:avLst/>
          </a:prstGeom>
          <a:solidFill>
            <a:srgbClr val="E7F4F4"/>
          </a:solidFill>
          <a:ln>
            <a:noFill/>
          </a:ln>
          <a:effectLst/>
        </p:spPr>
        <p:txBody>
          <a:bodyPr rtlCol="0" anchor="ctr"/>
          <a:lstStyle/>
          <a:p>
            <a:pPr algn="ctr"/>
          </a:p>
        </p:txBody>
      </p:sp>
      <p:pic>
        <p:nvPicPr>
          <p:cNvPr id="28" name="Picture 27" descr="message-square_0E8A8A_256_2.0.png"/>
          <p:cNvPicPr>
            <a:picLocks noChangeAspect="1"/>
          </p:cNvPicPr>
          <p:nvPr/>
        </p:nvPicPr>
        <p:blipFill>
          <a:blip r:embed="rId5"/>
          <a:stretch>
            <a:fillRect/>
          </a:stretch>
        </p:blipFill>
        <p:spPr>
          <a:xfrm>
            <a:off x="8321771" y="3201131"/>
            <a:ext cx="199704" cy="199704"/>
          </a:xfrm>
          <a:prstGeom prst="rect">
            <a:avLst/>
          </a:prstGeom>
        </p:spPr>
      </p:pic>
      <p:sp>
        <p:nvSpPr>
          <p:cNvPr id="29" name="TextBox 28"/>
          <p:cNvSpPr txBox="1"/>
          <p:nvPr/>
        </p:nvSpPr>
        <p:spPr>
          <a:xfrm>
            <a:off x="8759952" y="3081528"/>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Three sessions so far</a:t>
            </a:r>
          </a:p>
        </p:txBody>
      </p:sp>
      <p:sp>
        <p:nvSpPr>
          <p:cNvPr id="30" name="TextBox 29"/>
          <p:cNvSpPr txBox="1"/>
          <p:nvPr/>
        </p:nvSpPr>
        <p:spPr>
          <a:xfrm>
            <a:off x="8759952" y="3438144"/>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Bus safety · Delivery rider safety · Good Samaritan law &amp; the Cashless Treatment Scheme.</a:t>
            </a:r>
          </a:p>
        </p:txBody>
      </p:sp>
      <p:sp>
        <p:nvSpPr>
          <p:cNvPr id="31" name="Oval 30"/>
          <p:cNvSpPr/>
          <p:nvPr/>
        </p:nvSpPr>
        <p:spPr>
          <a:xfrm>
            <a:off x="8229600" y="4279392"/>
            <a:ext cx="384048" cy="384048"/>
          </a:xfrm>
          <a:prstGeom prst="ellipse">
            <a:avLst/>
          </a:prstGeom>
          <a:solidFill>
            <a:srgbClr val="FDEFEC"/>
          </a:solidFill>
          <a:ln>
            <a:noFill/>
          </a:ln>
          <a:effectLst/>
        </p:spPr>
        <p:txBody>
          <a:bodyPr rtlCol="0" anchor="ctr"/>
          <a:lstStyle/>
          <a:p>
            <a:pPr algn="ctr"/>
          </a:p>
        </p:txBody>
      </p:sp>
      <p:pic>
        <p:nvPicPr>
          <p:cNvPr id="32" name="Picture 31" descr="monitor-play_E11900_256_2.0.png"/>
          <p:cNvPicPr>
            <a:picLocks noChangeAspect="1"/>
          </p:cNvPicPr>
          <p:nvPr/>
        </p:nvPicPr>
        <p:blipFill>
          <a:blip r:embed="rId6"/>
          <a:stretch>
            <a:fillRect/>
          </a:stretch>
        </p:blipFill>
        <p:spPr>
          <a:xfrm>
            <a:off x="8321771" y="4371563"/>
            <a:ext cx="199704" cy="199704"/>
          </a:xfrm>
          <a:prstGeom prst="rect">
            <a:avLst/>
          </a:prstGeom>
        </p:spPr>
      </p:pic>
      <p:sp>
        <p:nvSpPr>
          <p:cNvPr id="33" name="TextBox 32"/>
          <p:cNvSpPr txBox="1"/>
          <p:nvPr/>
        </p:nvSpPr>
        <p:spPr>
          <a:xfrm>
            <a:off x="8759952" y="4251960"/>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Public YouTube channel</a:t>
            </a:r>
          </a:p>
        </p:txBody>
      </p:sp>
      <p:sp>
        <p:nvSpPr>
          <p:cNvPr id="34" name="TextBox 33"/>
          <p:cNvSpPr txBox="1"/>
          <p:nvPr/>
        </p:nvSpPr>
        <p:spPr>
          <a:xfrm>
            <a:off x="8759952" y="4608576"/>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Session recordings, victim-education videos and explainers — free to reuse in trainings.</a:t>
            </a:r>
          </a:p>
        </p:txBody>
      </p:sp>
      <p:sp>
        <p:nvSpPr>
          <p:cNvPr id="35" name="Rounded Rectangle 34"/>
          <p:cNvSpPr/>
          <p:nvPr/>
        </p:nvSpPr>
        <p:spPr>
          <a:xfrm>
            <a:off x="8229600" y="5486400"/>
            <a:ext cx="3383280" cy="658368"/>
          </a:xfrm>
          <a:prstGeom prst="roundRect">
            <a:avLst>
              <a:gd name="adj" fmla="val 14000"/>
            </a:avLst>
          </a:prstGeom>
          <a:solidFill>
            <a:srgbClr val="F7F7FA"/>
          </a:solidFill>
          <a:ln>
            <a:noFill/>
          </a:ln>
          <a:effectLst/>
        </p:spPr>
        <p:txBody>
          <a:bodyPr rtlCol="0" anchor="ctr"/>
          <a:lstStyle/>
          <a:p>
            <a:pPr algn="ctr"/>
          </a:p>
        </p:txBody>
      </p:sp>
      <p:sp>
        <p:nvSpPr>
          <p:cNvPr id="36" name="TextBox 35"/>
          <p:cNvSpPr txBox="1"/>
          <p:nvPr/>
        </p:nvSpPr>
        <p:spPr>
          <a:xfrm>
            <a:off x="8394192" y="5559552"/>
            <a:ext cx="3108960" cy="548640"/>
          </a:xfrm>
          <a:prstGeom prst="rect">
            <a:avLst/>
          </a:prstGeom>
          <a:noFill/>
        </p:spPr>
        <p:txBody>
          <a:bodyPr wrap="square" lIns="0" rIns="0" tIns="0" bIns="0" anchor="t">
            <a:spAutoFit/>
          </a:bodyPr>
          <a:lstStyle/>
          <a:p>
            <a:pPr algn="l">
              <a:lnSpc>
                <a:spcPct val="125000"/>
              </a:lnSpc>
            </a:pPr>
            <a:r>
              <a:rPr sz="950" b="1" i="0">
                <a:solidFill>
                  <a:srgbClr val="16181D"/>
                </a:solidFill>
                <a:latin typeface="Geist"/>
              </a:rPr>
              <a:t>Next: </a:t>
            </a:r>
            <a:r>
              <a:rPr sz="950" b="0" i="0">
                <a:solidFill>
                  <a:srgbClr val="6E7180"/>
                </a:solidFill>
                <a:latin typeface="Geist"/>
              </a:rPr>
              <a:t>'Be a Rakshak' university chapters at IITs, NITs and SPAs.</a:t>
            </a:r>
          </a:p>
        </p:txBody>
      </p:sp>
      <p:cxnSp>
        <p:nvCxnSpPr>
          <p:cNvPr id="37" name="Connector 36"/>
          <p:cNvCxnSpPr/>
          <p:nvPr/>
        </p:nvCxnSpPr>
        <p:spPr>
          <a:xfrm>
            <a:off x="566928" y="6455664"/>
            <a:ext cx="11057839" cy="0"/>
          </a:xfrm>
          <a:prstGeom prst="line">
            <a:avLst/>
          </a:prstGeom>
          <a:ln w="9525">
            <a:solidFill>
              <a:srgbClr val="E8E9EE"/>
            </a:solidFill>
          </a:ln>
          <a:effectLst/>
        </p:spPr>
      </p:cxnSp>
      <p:sp>
        <p:nvSpPr>
          <p:cNvPr id="38" name="TextBox 37"/>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9" name="TextBox 38"/>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09 / 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 ON THE GROUND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Road Safety Month 2026, run </a:t>
            </a:r>
            <a:r>
              <a:rPr sz="2250" b="1" i="0">
                <a:solidFill>
                  <a:srgbClr val="4A35FF"/>
                </a:solidFill>
                <a:latin typeface="Montserrat"/>
              </a:rPr>
              <a:t>with the system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With district police, schools, hospitals and delivery platforms — in Hindi and local languages.</a:t>
            </a:r>
          </a:p>
        </p:txBody>
      </p:sp>
      <p:pic>
        <p:nvPicPr>
          <p:cNvPr id="8" name="Picture 7" descr="ph_police_rally.jpg_4.70x3.55.jpg"/>
          <p:cNvPicPr>
            <a:picLocks noChangeAspect="1"/>
          </p:cNvPicPr>
          <p:nvPr/>
        </p:nvPicPr>
        <p:blipFill>
          <a:blip r:embed="rId2"/>
          <a:stretch>
            <a:fillRect/>
          </a:stretch>
        </p:blipFill>
        <p:spPr>
          <a:xfrm>
            <a:off x="566928" y="1938528"/>
            <a:ext cx="4297680" cy="3246120"/>
          </a:xfrm>
          <a:prstGeom prst="rect">
            <a:avLst/>
          </a:prstGeom>
        </p:spPr>
      </p:pic>
      <p:sp>
        <p:nvSpPr>
          <p:cNvPr id="9" name="Rectangle 8"/>
          <p:cNvSpPr/>
          <p:nvPr/>
        </p:nvSpPr>
        <p:spPr>
          <a:xfrm>
            <a:off x="566928" y="1938528"/>
            <a:ext cx="4297680" cy="324612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5230368"/>
            <a:ext cx="42976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National Road Safety Month rally — on the road with district traffic police, Jan 2026.</a:t>
            </a:r>
          </a:p>
        </p:txBody>
      </p:sp>
      <p:pic>
        <p:nvPicPr>
          <p:cNvPr id="11" name="Picture 10" descr="ph_stall.jpg_3.55x1.72.jpg"/>
          <p:cNvPicPr>
            <a:picLocks noChangeAspect="1"/>
          </p:cNvPicPr>
          <p:nvPr/>
        </p:nvPicPr>
        <p:blipFill>
          <a:blip r:embed="rId3"/>
          <a:stretch>
            <a:fillRect/>
          </a:stretch>
        </p:blipFill>
        <p:spPr>
          <a:xfrm>
            <a:off x="5074920" y="1938528"/>
            <a:ext cx="3246120" cy="1572768"/>
          </a:xfrm>
          <a:prstGeom prst="rect">
            <a:avLst/>
          </a:prstGeom>
        </p:spPr>
      </p:pic>
      <p:sp>
        <p:nvSpPr>
          <p:cNvPr id="12" name="Rectangle 11"/>
          <p:cNvSpPr/>
          <p:nvPr/>
        </p:nvSpPr>
        <p:spPr>
          <a:xfrm>
            <a:off x="5074920" y="1938528"/>
            <a:ext cx="3246120" cy="1572768"/>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5074920" y="355701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CFI stall at a government office</a:t>
            </a:r>
          </a:p>
        </p:txBody>
      </p:sp>
      <p:pic>
        <p:nvPicPr>
          <p:cNvPr id="14" name="Picture 13" descr="ph_police_station.jpg_3.55x1.72.jpg"/>
          <p:cNvPicPr>
            <a:picLocks noChangeAspect="1"/>
          </p:cNvPicPr>
          <p:nvPr/>
        </p:nvPicPr>
        <p:blipFill>
          <a:blip r:embed="rId4"/>
          <a:stretch>
            <a:fillRect/>
          </a:stretch>
        </p:blipFill>
        <p:spPr>
          <a:xfrm>
            <a:off x="8412480" y="1938528"/>
            <a:ext cx="3246120" cy="1572768"/>
          </a:xfrm>
          <a:prstGeom prst="rect">
            <a:avLst/>
          </a:prstGeom>
        </p:spPr>
      </p:pic>
      <p:sp>
        <p:nvSpPr>
          <p:cNvPr id="15" name="Rectangle 14"/>
          <p:cNvSpPr/>
          <p:nvPr/>
        </p:nvSpPr>
        <p:spPr>
          <a:xfrm>
            <a:off x="8412480" y="1938528"/>
            <a:ext cx="3246120" cy="1572768"/>
          </a:xfrm>
          <a:prstGeom prst="rect">
            <a:avLst/>
          </a:prstGeom>
          <a:noFill/>
          <a:ln w="12700">
            <a:solidFill>
              <a:srgbClr val="E8E9EE"/>
            </a:solidFill>
          </a:ln>
          <a:effectLst/>
        </p:spPr>
        <p:txBody>
          <a:bodyPr rtlCol="0" anchor="ctr"/>
          <a:lstStyle/>
          <a:p>
            <a:pPr algn="ctr"/>
          </a:p>
        </p:txBody>
      </p:sp>
      <p:sp>
        <p:nvSpPr>
          <p:cNvPr id="16" name="TextBox 15"/>
          <p:cNvSpPr txBox="1"/>
          <p:nvPr/>
        </p:nvSpPr>
        <p:spPr>
          <a:xfrm>
            <a:off x="8412480" y="355701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Materials briefing with police staff</a:t>
            </a:r>
          </a:p>
        </p:txBody>
      </p:sp>
      <p:pic>
        <p:nvPicPr>
          <p:cNvPr id="17" name="Picture 16" descr="ph_school_kids.jpg_3.55x1.72.jpg"/>
          <p:cNvPicPr>
            <a:picLocks noChangeAspect="1"/>
          </p:cNvPicPr>
          <p:nvPr/>
        </p:nvPicPr>
        <p:blipFill>
          <a:blip r:embed="rId5"/>
          <a:stretch>
            <a:fillRect/>
          </a:stretch>
        </p:blipFill>
        <p:spPr>
          <a:xfrm>
            <a:off x="5074920" y="3904488"/>
            <a:ext cx="3246120" cy="1572768"/>
          </a:xfrm>
          <a:prstGeom prst="rect">
            <a:avLst/>
          </a:prstGeom>
        </p:spPr>
      </p:pic>
      <p:sp>
        <p:nvSpPr>
          <p:cNvPr id="18" name="Rectangle 17"/>
          <p:cNvSpPr/>
          <p:nvPr/>
        </p:nvSpPr>
        <p:spPr>
          <a:xfrm>
            <a:off x="5074920" y="3904488"/>
            <a:ext cx="3246120" cy="1572768"/>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5074920" y="552297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School programme with certificates</a:t>
            </a:r>
          </a:p>
        </p:txBody>
      </p:sp>
      <p:pic>
        <p:nvPicPr>
          <p:cNvPr id="20" name="Picture 19" descr="ph_gig_riders.jpg_3.55x1.72.jpg"/>
          <p:cNvPicPr>
            <a:picLocks noChangeAspect="1"/>
          </p:cNvPicPr>
          <p:nvPr/>
        </p:nvPicPr>
        <p:blipFill>
          <a:blip r:embed="rId6"/>
          <a:stretch>
            <a:fillRect/>
          </a:stretch>
        </p:blipFill>
        <p:spPr>
          <a:xfrm>
            <a:off x="8412480" y="3904488"/>
            <a:ext cx="3246120" cy="1572768"/>
          </a:xfrm>
          <a:prstGeom prst="rect">
            <a:avLst/>
          </a:prstGeom>
        </p:spPr>
      </p:pic>
      <p:sp>
        <p:nvSpPr>
          <p:cNvPr id="21" name="Rectangle 20"/>
          <p:cNvSpPr/>
          <p:nvPr/>
        </p:nvSpPr>
        <p:spPr>
          <a:xfrm>
            <a:off x="8412480" y="3904488"/>
            <a:ext cx="3246120" cy="1572768"/>
          </a:xfrm>
          <a:prstGeom prst="rect">
            <a:avLst/>
          </a:prstGeom>
          <a:noFill/>
          <a:ln w="12700">
            <a:solidFill>
              <a:srgbClr val="E8E9EE"/>
            </a:solidFill>
          </a:ln>
          <a:effectLst/>
        </p:spPr>
        <p:txBody>
          <a:bodyPr rtlCol="0" anchor="ctr"/>
          <a:lstStyle/>
          <a:p>
            <a:pPr algn="ctr"/>
          </a:p>
        </p:txBody>
      </p:sp>
      <p:sp>
        <p:nvSpPr>
          <p:cNvPr id="22" name="TextBox 21"/>
          <p:cNvSpPr txBox="1"/>
          <p:nvPr/>
        </p:nvSpPr>
        <p:spPr>
          <a:xfrm>
            <a:off x="8412480" y="552297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Delivery-rider outreach — Swiggy &amp; Instamart</a:t>
            </a:r>
          </a:p>
        </p:txBody>
      </p:sp>
      <p:sp>
        <p:nvSpPr>
          <p:cNvPr id="23" name="Rounded Rectangle 22"/>
          <p:cNvSpPr/>
          <p:nvPr/>
        </p:nvSpPr>
        <p:spPr>
          <a:xfrm>
            <a:off x="566928" y="5623560"/>
            <a:ext cx="4297680" cy="566928"/>
          </a:xfrm>
          <a:prstGeom prst="roundRect">
            <a:avLst>
              <a:gd name="adj" fmla="val 16000"/>
            </a:avLst>
          </a:prstGeom>
          <a:solidFill>
            <a:srgbClr val="E9F7F0"/>
          </a:solidFill>
          <a:ln>
            <a:noFill/>
          </a:ln>
          <a:effectLst/>
        </p:spPr>
        <p:txBody>
          <a:bodyPr rtlCol="0" anchor="ctr"/>
          <a:lstStyle/>
          <a:p>
            <a:pPr algn="ctr"/>
          </a:p>
        </p:txBody>
      </p:sp>
      <p:sp>
        <p:nvSpPr>
          <p:cNvPr id="24" name="TextBox 23"/>
          <p:cNvSpPr txBox="1"/>
          <p:nvPr/>
        </p:nvSpPr>
        <p:spPr>
          <a:xfrm>
            <a:off x="749808" y="5705856"/>
            <a:ext cx="4023360" cy="457200"/>
          </a:xfrm>
          <a:prstGeom prst="rect">
            <a:avLst/>
          </a:prstGeom>
          <a:noFill/>
        </p:spPr>
        <p:txBody>
          <a:bodyPr wrap="square" lIns="0" rIns="0" tIns="0" bIns="0" anchor="t">
            <a:spAutoFit/>
          </a:bodyPr>
          <a:lstStyle/>
          <a:p>
            <a:pPr algn="l">
              <a:lnSpc>
                <a:spcPct val="120000"/>
              </a:lnSpc>
            </a:pPr>
            <a:r>
              <a:rPr sz="1050" b="1" i="0">
                <a:solidFill>
                  <a:srgbClr val="0A9955"/>
                </a:solidFill>
                <a:latin typeface="Geist"/>
              </a:rPr>
              <a:t>1M+ citizens reached </a:t>
            </a:r>
            <a:r>
              <a:rPr sz="1050" b="0" i="0">
                <a:solidFill>
                  <a:srgbClr val="0A9955"/>
                </a:solidFill>
                <a:latin typeface="Geist"/>
              </a:rPr>
              <a:t>across campaigns in year one.</a:t>
            </a:r>
          </a:p>
        </p:txBody>
      </p:sp>
      <p:cxnSp>
        <p:nvCxnSpPr>
          <p:cNvPr id="25" name="Connector 24"/>
          <p:cNvCxnSpPr/>
          <p:nvPr/>
        </p:nvCxnSpPr>
        <p:spPr>
          <a:xfrm>
            <a:off x="566928" y="6455664"/>
            <a:ext cx="11057839" cy="0"/>
          </a:xfrm>
          <a:prstGeom prst="line">
            <a:avLst/>
          </a:prstGeom>
          <a:ln w="9525">
            <a:solidFill>
              <a:srgbClr val="E8E9EE"/>
            </a:solidFill>
          </a:ln>
          <a:effectLst/>
        </p:spPr>
      </p:cxnSp>
      <p:sp>
        <p:nvSpPr>
          <p:cNvPr id="26" name="TextBox 2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27" name="TextBox 2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10 / 23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 PUBLIC VOICE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MS Dhoni carries the message; </a:t>
            </a:r>
            <a:r>
              <a:rPr sz="2250" b="1" i="0">
                <a:solidFill>
                  <a:srgbClr val="4A35FF"/>
                </a:solidFill>
                <a:latin typeface="Montserrat"/>
              </a:rPr>
              <a:t>the ecosystem engages</a:t>
            </a:r>
          </a:p>
        </p:txBody>
      </p:sp>
      <p:pic>
        <p:nvPicPr>
          <p:cNvPr id="7" name="Picture 6" descr="ph_dhoni_white.jpg_2.90x3.75.jpg"/>
          <p:cNvPicPr>
            <a:picLocks noChangeAspect="1"/>
          </p:cNvPicPr>
          <p:nvPr/>
        </p:nvPicPr>
        <p:blipFill>
          <a:blip r:embed="rId2"/>
          <a:stretch>
            <a:fillRect/>
          </a:stretch>
        </p:blipFill>
        <p:spPr>
          <a:xfrm>
            <a:off x="566928" y="1783080"/>
            <a:ext cx="2651760" cy="3429000"/>
          </a:xfrm>
          <a:prstGeom prst="rect">
            <a:avLst/>
          </a:prstGeom>
        </p:spPr>
      </p:pic>
      <p:sp>
        <p:nvSpPr>
          <p:cNvPr id="8" name="Rectangle 7"/>
          <p:cNvSpPr/>
          <p:nvPr/>
        </p:nvSpPr>
        <p:spPr>
          <a:xfrm>
            <a:off x="566928" y="1783080"/>
            <a:ext cx="2651760" cy="3429000"/>
          </a:xfrm>
          <a:prstGeom prst="rect">
            <a:avLst/>
          </a:prstGeom>
          <a:noFill/>
          <a:ln w="12700">
            <a:solidFill>
              <a:srgbClr val="E8E9EE"/>
            </a:solidFill>
          </a:ln>
          <a:effectLst/>
        </p:spPr>
        <p:txBody>
          <a:bodyPr rtlCol="0" anchor="ctr"/>
          <a:lstStyle/>
          <a:p>
            <a:pPr algn="ctr"/>
          </a:p>
        </p:txBody>
      </p:sp>
      <p:sp>
        <p:nvSpPr>
          <p:cNvPr id="9" name="TextBox 8"/>
          <p:cNvSpPr txBox="1"/>
          <p:nvPr/>
        </p:nvSpPr>
        <p:spPr>
          <a:xfrm>
            <a:off x="566928" y="5257800"/>
            <a:ext cx="265176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MS Dhoni — Goodwill Ambassador, announced April 2026.</a:t>
            </a:r>
          </a:p>
        </p:txBody>
      </p:sp>
      <p:sp>
        <p:nvSpPr>
          <p:cNvPr id="10" name="Rounded Rectangle 9"/>
          <p:cNvSpPr/>
          <p:nvPr/>
        </p:nvSpPr>
        <p:spPr>
          <a:xfrm>
            <a:off x="3520440" y="1783080"/>
            <a:ext cx="3291840" cy="3429000"/>
          </a:xfrm>
          <a:prstGeom prst="roundRect">
            <a:avLst>
              <a:gd name="adj" fmla="val 8000"/>
            </a:avLst>
          </a:prstGeom>
          <a:solidFill>
            <a:srgbClr val="F7F7FA"/>
          </a:solidFill>
          <a:ln>
            <a:noFill/>
          </a:ln>
          <a:effectLst/>
        </p:spPr>
        <p:txBody>
          <a:bodyPr rtlCol="0" anchor="ctr"/>
          <a:lstStyle/>
          <a:p>
            <a:pPr algn="ctr"/>
          </a:p>
        </p:txBody>
      </p:sp>
      <p:sp>
        <p:nvSpPr>
          <p:cNvPr id="11" name="TextBox 10"/>
          <p:cNvSpPr txBox="1"/>
          <p:nvPr/>
        </p:nvSpPr>
        <p:spPr>
          <a:xfrm>
            <a:off x="3749039" y="2057400"/>
            <a:ext cx="2834640" cy="2011680"/>
          </a:xfrm>
          <a:prstGeom prst="rect">
            <a:avLst/>
          </a:prstGeom>
          <a:noFill/>
        </p:spPr>
        <p:txBody>
          <a:bodyPr wrap="square" lIns="0" rIns="0" tIns="0" bIns="0" anchor="t">
            <a:spAutoFit/>
          </a:bodyPr>
          <a:lstStyle/>
          <a:p>
            <a:pPr algn="l">
              <a:lnSpc>
                <a:spcPct val="135000"/>
              </a:lnSpc>
            </a:pPr>
            <a:r>
              <a:rPr sz="1400" b="1" i="1">
                <a:solidFill>
                  <a:srgbClr val="16181D"/>
                </a:solidFill>
                <a:latin typeface="Montserrat"/>
              </a:rPr>
              <a:t>"We already know what is going wrong. What we need now is more responsibility, more discipline, more respect for life."</a:t>
            </a:r>
          </a:p>
        </p:txBody>
      </p:sp>
      <p:sp>
        <p:nvSpPr>
          <p:cNvPr id="12" name="TextBox 11"/>
          <p:cNvSpPr txBox="1"/>
          <p:nvPr/>
        </p:nvSpPr>
        <p:spPr>
          <a:xfrm>
            <a:off x="3749039" y="4434840"/>
            <a:ext cx="2834640" cy="54864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MS Dhoni, at the National Road Safety</a:t>
            </a:r>
          </a:p>
          <a:p>
            <a:pPr algn="l">
              <a:lnSpc>
                <a:spcPct val="125000"/>
              </a:lnSpc>
            </a:pPr>
            <a:r>
              <a:rPr sz="950" b="0" i="0">
                <a:solidFill>
                  <a:srgbClr val="6E7180"/>
                </a:solidFill>
                <a:latin typeface="Geist"/>
              </a:rPr>
              <a:t>Implementation Forum, IIT Delhi</a:t>
            </a:r>
          </a:p>
        </p:txBody>
      </p:sp>
      <p:pic>
        <p:nvPicPr>
          <p:cNvPr id="13" name="Picture 12" descr="comp_image6.jpeg_4.95x2.78.jpg"/>
          <p:cNvPicPr>
            <a:picLocks noChangeAspect="1"/>
          </p:cNvPicPr>
          <p:nvPr/>
        </p:nvPicPr>
        <p:blipFill>
          <a:blip r:embed="rId3"/>
          <a:stretch>
            <a:fillRect/>
          </a:stretch>
        </p:blipFill>
        <p:spPr>
          <a:xfrm>
            <a:off x="7086600" y="1783080"/>
            <a:ext cx="4526280" cy="2542032"/>
          </a:xfrm>
          <a:prstGeom prst="rect">
            <a:avLst/>
          </a:prstGeom>
        </p:spPr>
      </p:pic>
      <p:sp>
        <p:nvSpPr>
          <p:cNvPr id="14" name="Rectangle 13"/>
          <p:cNvSpPr/>
          <p:nvPr/>
        </p:nvSpPr>
        <p:spPr>
          <a:xfrm>
            <a:off x="7086600" y="1783080"/>
            <a:ext cx="4526280" cy="2542032"/>
          </a:xfrm>
          <a:prstGeom prst="rect">
            <a:avLst/>
          </a:prstGeom>
          <a:noFill/>
          <a:ln w="12700">
            <a:solidFill>
              <a:srgbClr val="E8E9EE"/>
            </a:solidFill>
          </a:ln>
          <a:effectLst/>
        </p:spPr>
        <p:txBody>
          <a:bodyPr rtlCol="0" anchor="ctr"/>
          <a:lstStyle/>
          <a:p>
            <a:pPr algn="ctr"/>
          </a:p>
        </p:txBody>
      </p:sp>
      <p:sp>
        <p:nvSpPr>
          <p:cNvPr id="15" name="TextBox 14"/>
          <p:cNvSpPr txBox="1"/>
          <p:nvPr/>
        </p:nvSpPr>
        <p:spPr>
          <a:xfrm>
            <a:off x="7086600" y="4370832"/>
            <a:ext cx="45262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National Road Safety Implementation Forum, IIT Delhi — 60+ experts including MoRTH, WHO, UNICEF, iRAP and CSIR-CRRI.</a:t>
            </a:r>
          </a:p>
        </p:txBody>
      </p:sp>
      <p:sp>
        <p:nvSpPr>
          <p:cNvPr id="16" name="TextBox 15"/>
          <p:cNvSpPr txBox="1"/>
          <p:nvPr/>
        </p:nvSpPr>
        <p:spPr>
          <a:xfrm>
            <a:off x="7086600" y="4800600"/>
            <a:ext cx="4526280" cy="274320"/>
          </a:xfrm>
          <a:prstGeom prst="rect">
            <a:avLst/>
          </a:prstGeom>
          <a:noFill/>
        </p:spPr>
        <p:txBody>
          <a:bodyPr wrap="square" lIns="0" rIns="0" tIns="0" bIns="0" anchor="t">
            <a:spAutoFit/>
          </a:bodyPr>
          <a:lstStyle/>
          <a:p>
            <a:pPr algn="l">
              <a:lnSpc>
                <a:spcPct val="128000"/>
              </a:lnSpc>
            </a:pPr>
            <a:r>
              <a:rPr sz="850" b="1" i="0" spc="180">
                <a:solidFill>
                  <a:srgbClr val="6E7180"/>
                </a:solidFill>
                <a:latin typeface="Montserrat"/>
              </a:rPr>
              <a:t>COVERED IN NATIONAL PRESS</a:t>
            </a:r>
          </a:p>
        </p:txBody>
      </p:sp>
      <p:sp>
        <p:nvSpPr>
          <p:cNvPr id="17" name="Rounded Rectangle 16"/>
          <p:cNvSpPr/>
          <p:nvPr/>
        </p:nvSpPr>
        <p:spPr>
          <a:xfrm>
            <a:off x="7086600" y="5074920"/>
            <a:ext cx="2240280" cy="310896"/>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18" name="TextBox 17"/>
          <p:cNvSpPr txBox="1"/>
          <p:nvPr/>
        </p:nvSpPr>
        <p:spPr>
          <a:xfrm>
            <a:off x="7104888" y="5074920"/>
            <a:ext cx="2203704" cy="310896"/>
          </a:xfrm>
          <a:prstGeom prst="rect">
            <a:avLst/>
          </a:prstGeom>
          <a:noFill/>
        </p:spPr>
        <p:txBody>
          <a:bodyPr wrap="square" lIns="0" rIns="0" tIns="0" bIns="0" anchor="ctr">
            <a:spAutoFit/>
          </a:bodyPr>
          <a:lstStyle/>
          <a:p>
            <a:pPr algn="ctr">
              <a:lnSpc>
                <a:spcPct val="100000"/>
              </a:lnSpc>
            </a:pPr>
            <a:r>
              <a:rPr sz="850" b="0" i="0">
                <a:solidFill>
                  <a:srgbClr val="16181D"/>
                </a:solidFill>
                <a:latin typeface="Montserrat"/>
              </a:rPr>
              <a:t>Deccan Herald</a:t>
            </a:r>
          </a:p>
        </p:txBody>
      </p:sp>
      <p:sp>
        <p:nvSpPr>
          <p:cNvPr id="19" name="Rounded Rectangle 18"/>
          <p:cNvSpPr/>
          <p:nvPr/>
        </p:nvSpPr>
        <p:spPr>
          <a:xfrm>
            <a:off x="9418320" y="5074920"/>
            <a:ext cx="2240280" cy="310896"/>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0" name="TextBox 19"/>
          <p:cNvSpPr txBox="1"/>
          <p:nvPr/>
        </p:nvSpPr>
        <p:spPr>
          <a:xfrm>
            <a:off x="9436608" y="5074920"/>
            <a:ext cx="2203704" cy="310896"/>
          </a:xfrm>
          <a:prstGeom prst="rect">
            <a:avLst/>
          </a:prstGeom>
          <a:noFill/>
        </p:spPr>
        <p:txBody>
          <a:bodyPr wrap="square" lIns="0" rIns="0" tIns="0" bIns="0" anchor="ctr">
            <a:spAutoFit/>
          </a:bodyPr>
          <a:lstStyle/>
          <a:p>
            <a:pPr algn="ctr">
              <a:lnSpc>
                <a:spcPct val="100000"/>
              </a:lnSpc>
            </a:pPr>
            <a:r>
              <a:rPr sz="850" b="0" i="0">
                <a:solidFill>
                  <a:srgbClr val="16181D"/>
                </a:solidFill>
                <a:latin typeface="Montserrat"/>
              </a:rPr>
              <a:t>Economic Times</a:t>
            </a:r>
          </a:p>
        </p:txBody>
      </p:sp>
      <p:sp>
        <p:nvSpPr>
          <p:cNvPr id="21" name="Rounded Rectangle 20"/>
          <p:cNvSpPr/>
          <p:nvPr/>
        </p:nvSpPr>
        <p:spPr>
          <a:xfrm>
            <a:off x="7086600" y="5458968"/>
            <a:ext cx="2240280" cy="310896"/>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2" name="TextBox 21"/>
          <p:cNvSpPr txBox="1"/>
          <p:nvPr/>
        </p:nvSpPr>
        <p:spPr>
          <a:xfrm>
            <a:off x="7104888" y="5458968"/>
            <a:ext cx="2203704" cy="310896"/>
          </a:xfrm>
          <a:prstGeom prst="rect">
            <a:avLst/>
          </a:prstGeom>
          <a:noFill/>
        </p:spPr>
        <p:txBody>
          <a:bodyPr wrap="square" lIns="0" rIns="0" tIns="0" bIns="0" anchor="ctr">
            <a:spAutoFit/>
          </a:bodyPr>
          <a:lstStyle/>
          <a:p>
            <a:pPr algn="ctr">
              <a:lnSpc>
                <a:spcPct val="100000"/>
              </a:lnSpc>
            </a:pPr>
            <a:r>
              <a:rPr sz="850" b="0" i="0">
                <a:solidFill>
                  <a:srgbClr val="16181D"/>
                </a:solidFill>
                <a:latin typeface="Montserrat"/>
              </a:rPr>
              <a:t>Fortune India</a:t>
            </a:r>
          </a:p>
        </p:txBody>
      </p:sp>
      <p:sp>
        <p:nvSpPr>
          <p:cNvPr id="23" name="Rounded Rectangle 22"/>
          <p:cNvSpPr/>
          <p:nvPr/>
        </p:nvSpPr>
        <p:spPr>
          <a:xfrm>
            <a:off x="9418320" y="5458968"/>
            <a:ext cx="2240280" cy="310896"/>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4" name="TextBox 23"/>
          <p:cNvSpPr txBox="1"/>
          <p:nvPr/>
        </p:nvSpPr>
        <p:spPr>
          <a:xfrm>
            <a:off x="9436608" y="5458968"/>
            <a:ext cx="2203704" cy="310896"/>
          </a:xfrm>
          <a:prstGeom prst="rect">
            <a:avLst/>
          </a:prstGeom>
          <a:noFill/>
        </p:spPr>
        <p:txBody>
          <a:bodyPr wrap="square" lIns="0" rIns="0" tIns="0" bIns="0" anchor="ctr">
            <a:spAutoFit/>
          </a:bodyPr>
          <a:lstStyle/>
          <a:p>
            <a:pPr algn="ctr">
              <a:lnSpc>
                <a:spcPct val="100000"/>
              </a:lnSpc>
            </a:pPr>
            <a:r>
              <a:rPr sz="850" b="0" i="0">
                <a:solidFill>
                  <a:srgbClr val="16181D"/>
                </a:solidFill>
                <a:latin typeface="Montserrat"/>
              </a:rPr>
              <a:t>IndiaSpend</a:t>
            </a:r>
          </a:p>
        </p:txBody>
      </p:sp>
      <p:sp>
        <p:nvSpPr>
          <p:cNvPr id="25" name="Rounded Rectangle 24"/>
          <p:cNvSpPr/>
          <p:nvPr/>
        </p:nvSpPr>
        <p:spPr>
          <a:xfrm>
            <a:off x="7086600" y="5843016"/>
            <a:ext cx="2240280" cy="310896"/>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6" name="TextBox 25"/>
          <p:cNvSpPr txBox="1"/>
          <p:nvPr/>
        </p:nvSpPr>
        <p:spPr>
          <a:xfrm>
            <a:off x="7104888" y="5843016"/>
            <a:ext cx="2203704" cy="310896"/>
          </a:xfrm>
          <a:prstGeom prst="rect">
            <a:avLst/>
          </a:prstGeom>
          <a:noFill/>
        </p:spPr>
        <p:txBody>
          <a:bodyPr wrap="square" lIns="0" rIns="0" tIns="0" bIns="0" anchor="ctr">
            <a:spAutoFit/>
          </a:bodyPr>
          <a:lstStyle/>
          <a:p>
            <a:pPr algn="ctr">
              <a:lnSpc>
                <a:spcPct val="100000"/>
              </a:lnSpc>
            </a:pPr>
            <a:r>
              <a:rPr sz="850" b="0" i="0">
                <a:solidFill>
                  <a:srgbClr val="16181D"/>
                </a:solidFill>
                <a:latin typeface="Montserrat"/>
              </a:rPr>
              <a:t>Scroll.in</a:t>
            </a:r>
          </a:p>
        </p:txBody>
      </p:sp>
      <p:sp>
        <p:nvSpPr>
          <p:cNvPr id="27" name="Rounded Rectangle 26"/>
          <p:cNvSpPr/>
          <p:nvPr/>
        </p:nvSpPr>
        <p:spPr>
          <a:xfrm>
            <a:off x="9418320" y="5843016"/>
            <a:ext cx="2240280" cy="310896"/>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8" name="TextBox 27"/>
          <p:cNvSpPr txBox="1"/>
          <p:nvPr/>
        </p:nvSpPr>
        <p:spPr>
          <a:xfrm>
            <a:off x="9436608" y="5843016"/>
            <a:ext cx="2203704" cy="310896"/>
          </a:xfrm>
          <a:prstGeom prst="rect">
            <a:avLst/>
          </a:prstGeom>
          <a:noFill/>
        </p:spPr>
        <p:txBody>
          <a:bodyPr wrap="square" lIns="0" rIns="0" tIns="0" bIns="0" anchor="ctr">
            <a:spAutoFit/>
          </a:bodyPr>
          <a:lstStyle/>
          <a:p>
            <a:pPr algn="ctr">
              <a:lnSpc>
                <a:spcPct val="100000"/>
              </a:lnSpc>
            </a:pPr>
            <a:r>
              <a:rPr sz="850" b="0" i="0">
                <a:solidFill>
                  <a:srgbClr val="16181D"/>
                </a:solidFill>
                <a:latin typeface="Montserrat"/>
              </a:rPr>
              <a:t>The Wire</a:t>
            </a:r>
          </a:p>
        </p:txBody>
      </p:sp>
      <p:sp>
        <p:nvSpPr>
          <p:cNvPr id="29" name="Rounded Rectangle 28"/>
          <p:cNvSpPr/>
          <p:nvPr/>
        </p:nvSpPr>
        <p:spPr>
          <a:xfrm>
            <a:off x="7086600" y="6227064"/>
            <a:ext cx="2240280" cy="310896"/>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0" name="TextBox 29"/>
          <p:cNvSpPr txBox="1"/>
          <p:nvPr/>
        </p:nvSpPr>
        <p:spPr>
          <a:xfrm>
            <a:off x="7104888" y="6227064"/>
            <a:ext cx="2203704" cy="310896"/>
          </a:xfrm>
          <a:prstGeom prst="rect">
            <a:avLst/>
          </a:prstGeom>
          <a:noFill/>
        </p:spPr>
        <p:txBody>
          <a:bodyPr wrap="square" lIns="0" rIns="0" tIns="0" bIns="0" anchor="ctr">
            <a:spAutoFit/>
          </a:bodyPr>
          <a:lstStyle/>
          <a:p>
            <a:pPr algn="ctr">
              <a:lnSpc>
                <a:spcPct val="100000"/>
              </a:lnSpc>
            </a:pPr>
            <a:r>
              <a:rPr sz="850" b="0" i="0">
                <a:solidFill>
                  <a:srgbClr val="16181D"/>
                </a:solidFill>
                <a:latin typeface="Montserrat"/>
              </a:rPr>
              <a:t>Times of India</a:t>
            </a:r>
          </a:p>
        </p:txBody>
      </p:sp>
      <p:sp>
        <p:nvSpPr>
          <p:cNvPr id="31" name="Rounded Rectangle 30"/>
          <p:cNvSpPr/>
          <p:nvPr/>
        </p:nvSpPr>
        <p:spPr>
          <a:xfrm>
            <a:off x="9418320" y="6227064"/>
            <a:ext cx="2240280" cy="310896"/>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2" name="TextBox 31"/>
          <p:cNvSpPr txBox="1"/>
          <p:nvPr/>
        </p:nvSpPr>
        <p:spPr>
          <a:xfrm>
            <a:off x="9436608" y="6227064"/>
            <a:ext cx="2203704" cy="310896"/>
          </a:xfrm>
          <a:prstGeom prst="rect">
            <a:avLst/>
          </a:prstGeom>
          <a:noFill/>
        </p:spPr>
        <p:txBody>
          <a:bodyPr wrap="square" lIns="0" rIns="0" tIns="0" bIns="0" anchor="ctr">
            <a:spAutoFit/>
          </a:bodyPr>
          <a:lstStyle/>
          <a:p>
            <a:pPr algn="ctr">
              <a:lnSpc>
                <a:spcPct val="100000"/>
              </a:lnSpc>
            </a:pPr>
            <a:r>
              <a:rPr sz="850" b="0" i="0">
                <a:solidFill>
                  <a:srgbClr val="16181D"/>
                </a:solidFill>
                <a:latin typeface="Montserrat"/>
              </a:rPr>
              <a:t>Business Standard</a:t>
            </a:r>
          </a:p>
        </p:txBody>
      </p:sp>
      <p:sp>
        <p:nvSpPr>
          <p:cNvPr id="33" name="TextBox 32"/>
          <p:cNvSpPr txBox="1"/>
          <p:nvPr/>
        </p:nvSpPr>
        <p:spPr>
          <a:xfrm>
            <a:off x="566928" y="5532120"/>
            <a:ext cx="6400800" cy="502920"/>
          </a:xfrm>
          <a:prstGeom prst="rect">
            <a:avLst/>
          </a:prstGeom>
          <a:noFill/>
        </p:spPr>
        <p:txBody>
          <a:bodyPr wrap="square" lIns="0" rIns="0" tIns="0" bIns="0" anchor="t">
            <a:spAutoFit/>
          </a:bodyPr>
          <a:lstStyle/>
          <a:p>
            <a:pPr algn="l">
              <a:lnSpc>
                <a:spcPct val="130000"/>
              </a:lnSpc>
            </a:pPr>
            <a:r>
              <a:rPr sz="1000" b="0" i="0">
                <a:solidFill>
                  <a:srgbClr val="6E7180"/>
                </a:solidFill>
                <a:latin typeface="Geist"/>
              </a:rPr>
              <a:t>Dhoni's voice powers 'Be a Rakshak', school-zone safety and compensation-awareness campaigns.</a:t>
            </a:r>
          </a:p>
        </p:txBody>
      </p:sp>
      <p:cxnSp>
        <p:nvCxnSpPr>
          <p:cNvPr id="34" name="Connector 33"/>
          <p:cNvCxnSpPr/>
          <p:nvPr/>
        </p:nvCxnSpPr>
        <p:spPr>
          <a:xfrm>
            <a:off x="566928" y="6455664"/>
            <a:ext cx="11057839" cy="0"/>
          </a:xfrm>
          <a:prstGeom prst="line">
            <a:avLst/>
          </a:prstGeom>
          <a:ln w="9525">
            <a:solidFill>
              <a:srgbClr val="E8E9EE"/>
            </a:solidFill>
          </a:ln>
          <a:effectLst/>
        </p:spPr>
      </p:cxnSp>
      <p:sp>
        <p:nvSpPr>
          <p:cNvPr id="35" name="TextBox 34"/>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6" name="TextBox 3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11 / 23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3 OF 5  ·  OUR PEOPLE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03 · OUR PEOPLE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Advised by the people who </a:t>
            </a:r>
            <a:r>
              <a:rPr sz="2250" b="1" i="0">
                <a:solidFill>
                  <a:srgbClr val="4A35FF"/>
                </a:solidFill>
                <a:latin typeface="Montserrat"/>
              </a:rPr>
              <a:t>built India's road safety practice</a:t>
            </a:r>
          </a:p>
        </p:txBody>
      </p:sp>
      <p:sp>
        <p:nvSpPr>
          <p:cNvPr id="7" name="Rounded Rectangle 6"/>
          <p:cNvSpPr/>
          <p:nvPr/>
        </p:nvSpPr>
        <p:spPr>
          <a:xfrm>
            <a:off x="566928" y="1554480"/>
            <a:ext cx="5486400" cy="969264"/>
          </a:xfrm>
          <a:prstGeom prst="roundRect">
            <a:avLst>
              <a:gd name="adj" fmla="val 12000"/>
            </a:avLst>
          </a:prstGeom>
          <a:solidFill>
            <a:srgbClr val="F7F7FA"/>
          </a:solidFill>
          <a:ln>
            <a:noFill/>
          </a:ln>
          <a:effectLst/>
        </p:spPr>
        <p:txBody>
          <a:bodyPr rtlCol="0" anchor="ctr"/>
          <a:lstStyle/>
          <a:p>
            <a:pPr algn="ctr"/>
          </a:p>
        </p:txBody>
      </p:sp>
      <p:pic>
        <p:nvPicPr>
          <p:cNvPr id="8" name="Picture 7" descr="gtiwari.png_0.78x0.78.jpg"/>
          <p:cNvPicPr>
            <a:picLocks noChangeAspect="1"/>
          </p:cNvPicPr>
          <p:nvPr/>
        </p:nvPicPr>
        <p:blipFill>
          <a:blip r:embed="rId2"/>
          <a:stretch>
            <a:fillRect/>
          </a:stretch>
        </p:blipFill>
        <p:spPr>
          <a:xfrm>
            <a:off x="694944" y="1682496"/>
            <a:ext cx="713232" cy="713232"/>
          </a:xfrm>
          <a:prstGeom prst="rect">
            <a:avLst/>
          </a:prstGeom>
        </p:spPr>
      </p:pic>
      <p:sp>
        <p:nvSpPr>
          <p:cNvPr id="9" name="TextBox 8"/>
          <p:cNvSpPr txBox="1"/>
          <p:nvPr/>
        </p:nvSpPr>
        <p:spPr>
          <a:xfrm>
            <a:off x="1536192" y="1682496"/>
            <a:ext cx="448056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Prof. Geetam Tiwari — Board of Advisors</a:t>
            </a:r>
          </a:p>
        </p:txBody>
      </p:sp>
      <p:sp>
        <p:nvSpPr>
          <p:cNvPr id="10" name="TextBox 9"/>
          <p:cNvSpPr txBox="1"/>
          <p:nvPr/>
        </p:nvSpPr>
        <p:spPr>
          <a:xfrm>
            <a:off x="1536192" y="1975104"/>
            <a:ext cx="4480560" cy="5029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Professor Emerita &amp; Chair, TRIP Centre, IIT Delhi · Member, IRC H-7 Committee on Road Safety Audit</a:t>
            </a:r>
          </a:p>
        </p:txBody>
      </p:sp>
      <p:sp>
        <p:nvSpPr>
          <p:cNvPr id="11" name="Rounded Rectangle 10"/>
          <p:cNvSpPr/>
          <p:nvPr/>
        </p:nvSpPr>
        <p:spPr>
          <a:xfrm>
            <a:off x="6263640" y="1554480"/>
            <a:ext cx="5349240" cy="969264"/>
          </a:xfrm>
          <a:prstGeom prst="roundRect">
            <a:avLst>
              <a:gd name="adj" fmla="val 12000"/>
            </a:avLst>
          </a:prstGeom>
          <a:solidFill>
            <a:srgbClr val="F7F7FA"/>
          </a:solidFill>
          <a:ln>
            <a:noFill/>
          </a:ln>
          <a:effectLst/>
        </p:spPr>
        <p:txBody>
          <a:bodyPr rtlCol="0" anchor="ctr"/>
          <a:lstStyle/>
          <a:p>
            <a:pPr algn="ctr"/>
          </a:p>
        </p:txBody>
      </p:sp>
      <p:sp>
        <p:nvSpPr>
          <p:cNvPr id="12" name="Oval 11"/>
          <p:cNvSpPr/>
          <p:nvPr/>
        </p:nvSpPr>
        <p:spPr>
          <a:xfrm>
            <a:off x="6391656" y="1682496"/>
            <a:ext cx="713232" cy="713232"/>
          </a:xfrm>
          <a:prstGeom prst="ellipse">
            <a:avLst/>
          </a:prstGeom>
          <a:solidFill>
            <a:srgbClr val="EFEDFF"/>
          </a:solidFill>
          <a:ln>
            <a:noFill/>
          </a:ln>
          <a:effectLst/>
        </p:spPr>
        <p:txBody>
          <a:bodyPr rtlCol="0" anchor="ctr"/>
          <a:lstStyle/>
          <a:p>
            <a:pPr algn="ctr"/>
          </a:p>
        </p:txBody>
      </p:sp>
      <p:sp>
        <p:nvSpPr>
          <p:cNvPr id="13" name="TextBox 12"/>
          <p:cNvSpPr txBox="1"/>
          <p:nvPr/>
        </p:nvSpPr>
        <p:spPr>
          <a:xfrm>
            <a:off x="6391656" y="1664208"/>
            <a:ext cx="713232" cy="713232"/>
          </a:xfrm>
          <a:prstGeom prst="rect">
            <a:avLst/>
          </a:prstGeom>
          <a:noFill/>
        </p:spPr>
        <p:txBody>
          <a:bodyPr wrap="square" lIns="0" rIns="0" tIns="0" bIns="0" anchor="ctr">
            <a:spAutoFit/>
          </a:bodyPr>
          <a:lstStyle/>
          <a:p>
            <a:pPr algn="ctr">
              <a:lnSpc>
                <a:spcPct val="128000"/>
              </a:lnSpc>
            </a:pPr>
            <a:r>
              <a:rPr sz="1500" b="1" i="0">
                <a:solidFill>
                  <a:srgbClr val="4A35FF"/>
                </a:solidFill>
                <a:latin typeface="Montserrat"/>
              </a:rPr>
              <a:t>PT</a:t>
            </a:r>
          </a:p>
        </p:txBody>
      </p:sp>
      <p:sp>
        <p:nvSpPr>
          <p:cNvPr id="14" name="TextBox 13"/>
          <p:cNvSpPr txBox="1"/>
          <p:nvPr/>
        </p:nvSpPr>
        <p:spPr>
          <a:xfrm>
            <a:off x="7232904" y="1682496"/>
            <a:ext cx="429768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Piyush Tewari — Board of Advisors</a:t>
            </a:r>
          </a:p>
        </p:txBody>
      </p:sp>
      <p:sp>
        <p:nvSpPr>
          <p:cNvPr id="15" name="TextBox 14"/>
          <p:cNvSpPr txBox="1"/>
          <p:nvPr/>
        </p:nvSpPr>
        <p:spPr>
          <a:xfrm>
            <a:off x="7232904" y="1975104"/>
            <a:ext cx="4297680" cy="5029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Founder &amp; CEO, SaveLIFE Foundation · Architect of the Good Samaritan Law · Zero-Fatality Corridors</a:t>
            </a:r>
          </a:p>
        </p:txBody>
      </p:sp>
      <p:sp>
        <p:nvSpPr>
          <p:cNvPr id="16" name="TextBox 15"/>
          <p:cNvSpPr txBox="1"/>
          <p:nvPr/>
        </p:nvSpPr>
        <p:spPr>
          <a:xfrm>
            <a:off x="566928" y="2743200"/>
            <a:ext cx="10058400" cy="237744"/>
          </a:xfrm>
          <a:prstGeom prst="rect">
            <a:avLst/>
          </a:prstGeom>
          <a:noFill/>
        </p:spPr>
        <p:txBody>
          <a:bodyPr wrap="square" lIns="0" rIns="0" tIns="0" bIns="0" anchor="t">
            <a:spAutoFit/>
          </a:bodyPr>
          <a:lstStyle/>
          <a:p>
            <a:pPr algn="l">
              <a:lnSpc>
                <a:spcPct val="128000"/>
              </a:lnSpc>
            </a:pPr>
            <a:r>
              <a:rPr sz="850" b="1" i="0" spc="160">
                <a:solidFill>
                  <a:srgbClr val="6E7180"/>
                </a:solidFill>
                <a:latin typeface="Montserrat"/>
              </a:rPr>
              <a:t>THE EXPERT BENCH AROUND OUR WORK — JURY, MENTORS &amp; REVIEWERS</a:t>
            </a:r>
          </a:p>
        </p:txBody>
      </p:sp>
      <p:pic>
        <p:nvPicPr>
          <p:cNvPr id="17" name="Picture 16" descr="midha.png_0.72x0.72.jpg"/>
          <p:cNvPicPr>
            <a:picLocks noChangeAspect="1"/>
          </p:cNvPicPr>
          <p:nvPr/>
        </p:nvPicPr>
        <p:blipFill>
          <a:blip r:embed="rId3"/>
          <a:stretch>
            <a:fillRect/>
          </a:stretch>
        </p:blipFill>
        <p:spPr>
          <a:xfrm>
            <a:off x="1133856" y="3035808"/>
            <a:ext cx="658368" cy="658368"/>
          </a:xfrm>
          <a:prstGeom prst="rect">
            <a:avLst/>
          </a:prstGeom>
        </p:spPr>
      </p:pic>
      <p:sp>
        <p:nvSpPr>
          <p:cNvPr id="18" name="TextBox 17"/>
          <p:cNvSpPr txBox="1"/>
          <p:nvPr/>
        </p:nvSpPr>
        <p:spPr>
          <a:xfrm>
            <a:off x="566928" y="3730752"/>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Justice J.R. Midha</a:t>
            </a:r>
          </a:p>
        </p:txBody>
      </p:sp>
      <p:sp>
        <p:nvSpPr>
          <p:cNvPr id="19" name="TextBox 18"/>
          <p:cNvSpPr txBox="1"/>
          <p:nvPr/>
        </p:nvSpPr>
        <p:spPr>
          <a:xfrm>
            <a:off x="566928" y="3922776"/>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Delhi High Court (Retd.)</a:t>
            </a:r>
          </a:p>
        </p:txBody>
      </p:sp>
      <p:pic>
        <p:nvPicPr>
          <p:cNvPr id="20" name="Picture 19" descr="damle.png_0.72x0.72.jpg"/>
          <p:cNvPicPr>
            <a:picLocks noChangeAspect="1"/>
          </p:cNvPicPr>
          <p:nvPr/>
        </p:nvPicPr>
        <p:blipFill>
          <a:blip r:embed="rId4"/>
          <a:stretch>
            <a:fillRect/>
          </a:stretch>
        </p:blipFill>
        <p:spPr>
          <a:xfrm>
            <a:off x="2999232" y="3035808"/>
            <a:ext cx="658368" cy="658368"/>
          </a:xfrm>
          <a:prstGeom prst="rect">
            <a:avLst/>
          </a:prstGeom>
        </p:spPr>
      </p:pic>
      <p:sp>
        <p:nvSpPr>
          <p:cNvPr id="21" name="TextBox 20"/>
          <p:cNvSpPr txBox="1"/>
          <p:nvPr/>
        </p:nvSpPr>
        <p:spPr>
          <a:xfrm>
            <a:off x="2432304" y="3730752"/>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Abhay Damle</a:t>
            </a:r>
          </a:p>
        </p:txBody>
      </p:sp>
      <p:sp>
        <p:nvSpPr>
          <p:cNvPr id="22" name="TextBox 21"/>
          <p:cNvSpPr txBox="1"/>
          <p:nvPr/>
        </p:nvSpPr>
        <p:spPr>
          <a:xfrm>
            <a:off x="2432304" y="3922776"/>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Ex-JS, MoRTH</a:t>
            </a:r>
          </a:p>
        </p:txBody>
      </p:sp>
      <p:pic>
        <p:nvPicPr>
          <p:cNvPr id="23" name="Picture 22" descr="dange.png_0.72x0.72.jpg"/>
          <p:cNvPicPr>
            <a:picLocks noChangeAspect="1"/>
          </p:cNvPicPr>
          <p:nvPr/>
        </p:nvPicPr>
        <p:blipFill>
          <a:blip r:embed="rId5"/>
          <a:stretch>
            <a:fillRect/>
          </a:stretch>
        </p:blipFill>
        <p:spPr>
          <a:xfrm>
            <a:off x="4864608" y="3035808"/>
            <a:ext cx="658368" cy="658368"/>
          </a:xfrm>
          <a:prstGeom prst="rect">
            <a:avLst/>
          </a:prstGeom>
        </p:spPr>
      </p:pic>
      <p:sp>
        <p:nvSpPr>
          <p:cNvPr id="24" name="TextBox 23"/>
          <p:cNvSpPr txBox="1"/>
          <p:nvPr/>
        </p:nvSpPr>
        <p:spPr>
          <a:xfrm>
            <a:off x="4297680" y="3730752"/>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Vaibhav Dange</a:t>
            </a:r>
          </a:p>
        </p:txBody>
      </p:sp>
      <p:sp>
        <p:nvSpPr>
          <p:cNvPr id="25" name="TextBox 24"/>
          <p:cNvSpPr txBox="1"/>
          <p:nvPr/>
        </p:nvSpPr>
        <p:spPr>
          <a:xfrm>
            <a:off x="4297680" y="3922776"/>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Ex-Advisor, MoRTH</a:t>
            </a:r>
          </a:p>
        </p:txBody>
      </p:sp>
      <p:pic>
        <p:nvPicPr>
          <p:cNvPr id="26" name="Picture 25" descr="tandon.png_0.72x0.72.jpg"/>
          <p:cNvPicPr>
            <a:picLocks noChangeAspect="1"/>
          </p:cNvPicPr>
          <p:nvPr/>
        </p:nvPicPr>
        <p:blipFill>
          <a:blip r:embed="rId6"/>
          <a:stretch>
            <a:fillRect/>
          </a:stretch>
        </p:blipFill>
        <p:spPr>
          <a:xfrm>
            <a:off x="6729984" y="3035808"/>
            <a:ext cx="658368" cy="658368"/>
          </a:xfrm>
          <a:prstGeom prst="rect">
            <a:avLst/>
          </a:prstGeom>
        </p:spPr>
      </p:pic>
      <p:sp>
        <p:nvSpPr>
          <p:cNvPr id="27" name="TextBox 26"/>
          <p:cNvSpPr txBox="1"/>
          <p:nvPr/>
        </p:nvSpPr>
        <p:spPr>
          <a:xfrm>
            <a:off x="6163056" y="3730752"/>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Dr. Maya Tandon</a:t>
            </a:r>
          </a:p>
        </p:txBody>
      </p:sp>
      <p:sp>
        <p:nvSpPr>
          <p:cNvPr id="28" name="TextBox 27"/>
          <p:cNvSpPr txBox="1"/>
          <p:nvPr/>
        </p:nvSpPr>
        <p:spPr>
          <a:xfrm>
            <a:off x="6163056" y="3922776"/>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Sahayta Trust</a:t>
            </a:r>
          </a:p>
        </p:txBody>
      </p:sp>
      <p:pic>
        <p:nvPicPr>
          <p:cNvPr id="29" name="Picture 28" descr="ratnam.png_0.72x0.72.jpg"/>
          <p:cNvPicPr>
            <a:picLocks noChangeAspect="1"/>
          </p:cNvPicPr>
          <p:nvPr/>
        </p:nvPicPr>
        <p:blipFill>
          <a:blip r:embed="rId7"/>
          <a:stretch>
            <a:fillRect/>
          </a:stretch>
        </p:blipFill>
        <p:spPr>
          <a:xfrm>
            <a:off x="8595360" y="3035808"/>
            <a:ext cx="658368" cy="658368"/>
          </a:xfrm>
          <a:prstGeom prst="rect">
            <a:avLst/>
          </a:prstGeom>
        </p:spPr>
      </p:pic>
      <p:sp>
        <p:nvSpPr>
          <p:cNvPr id="30" name="TextBox 29"/>
          <p:cNvSpPr txBox="1"/>
          <p:nvPr/>
        </p:nvSpPr>
        <p:spPr>
          <a:xfrm>
            <a:off x="8028432" y="3730752"/>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R. Venkat Ratnam</a:t>
            </a:r>
          </a:p>
        </p:txBody>
      </p:sp>
      <p:sp>
        <p:nvSpPr>
          <p:cNvPr id="31" name="TextBox 30"/>
          <p:cNvSpPr txBox="1"/>
          <p:nvPr/>
        </p:nvSpPr>
        <p:spPr>
          <a:xfrm>
            <a:off x="8028432" y="3922776"/>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Government of Punjab</a:t>
            </a:r>
          </a:p>
        </p:txBody>
      </p:sp>
      <p:pic>
        <p:nvPicPr>
          <p:cNvPr id="32" name="Picture 31" descr="asrivastava.png_0.72x0.72.jpg"/>
          <p:cNvPicPr>
            <a:picLocks noChangeAspect="1"/>
          </p:cNvPicPr>
          <p:nvPr/>
        </p:nvPicPr>
        <p:blipFill>
          <a:blip r:embed="rId8"/>
          <a:stretch>
            <a:fillRect/>
          </a:stretch>
        </p:blipFill>
        <p:spPr>
          <a:xfrm>
            <a:off x="10460736" y="3035808"/>
            <a:ext cx="658368" cy="658368"/>
          </a:xfrm>
          <a:prstGeom prst="rect">
            <a:avLst/>
          </a:prstGeom>
        </p:spPr>
      </p:pic>
      <p:sp>
        <p:nvSpPr>
          <p:cNvPr id="33" name="TextBox 32"/>
          <p:cNvSpPr txBox="1"/>
          <p:nvPr/>
        </p:nvSpPr>
        <p:spPr>
          <a:xfrm>
            <a:off x="9893808" y="3730752"/>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Akhilesh Srivastava</a:t>
            </a:r>
          </a:p>
        </p:txBody>
      </p:sp>
      <p:sp>
        <p:nvSpPr>
          <p:cNvPr id="34" name="TextBox 33"/>
          <p:cNvSpPr txBox="1"/>
          <p:nvPr/>
        </p:nvSpPr>
        <p:spPr>
          <a:xfrm>
            <a:off x="9893808" y="3922776"/>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ITS India · IRF</a:t>
            </a:r>
          </a:p>
        </p:txBody>
      </p:sp>
      <p:pic>
        <p:nvPicPr>
          <p:cNvPr id="35" name="Picture 34" descr="gsingh.png_0.72x0.72.jpg"/>
          <p:cNvPicPr>
            <a:picLocks noChangeAspect="1"/>
          </p:cNvPicPr>
          <p:nvPr/>
        </p:nvPicPr>
        <p:blipFill>
          <a:blip r:embed="rId9"/>
          <a:stretch>
            <a:fillRect/>
          </a:stretch>
        </p:blipFill>
        <p:spPr>
          <a:xfrm>
            <a:off x="1133856" y="4270248"/>
            <a:ext cx="658368" cy="658368"/>
          </a:xfrm>
          <a:prstGeom prst="rect">
            <a:avLst/>
          </a:prstGeom>
        </p:spPr>
      </p:pic>
      <p:sp>
        <p:nvSpPr>
          <p:cNvPr id="36" name="TextBox 35"/>
          <p:cNvSpPr txBox="1"/>
          <p:nvPr/>
        </p:nvSpPr>
        <p:spPr>
          <a:xfrm>
            <a:off x="566928" y="4965192"/>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Gautam Singh</a:t>
            </a:r>
          </a:p>
        </p:txBody>
      </p:sp>
      <p:sp>
        <p:nvSpPr>
          <p:cNvPr id="37" name="TextBox 36"/>
          <p:cNvSpPr txBox="1"/>
          <p:nvPr/>
        </p:nvSpPr>
        <p:spPr>
          <a:xfrm>
            <a:off x="566928" y="5157216"/>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SaveLIFE Foundation</a:t>
            </a:r>
          </a:p>
        </p:txBody>
      </p:sp>
      <p:pic>
        <p:nvPicPr>
          <p:cNvPr id="38" name="Picture 37" descr="raman.png_0.72x0.72.jpg"/>
          <p:cNvPicPr>
            <a:picLocks noChangeAspect="1"/>
          </p:cNvPicPr>
          <p:nvPr/>
        </p:nvPicPr>
        <p:blipFill>
          <a:blip r:embed="rId10"/>
          <a:stretch>
            <a:fillRect/>
          </a:stretch>
        </p:blipFill>
        <p:spPr>
          <a:xfrm>
            <a:off x="2999232" y="4270248"/>
            <a:ext cx="658368" cy="658368"/>
          </a:xfrm>
          <a:prstGeom prst="rect">
            <a:avLst/>
          </a:prstGeom>
        </p:spPr>
      </p:pic>
      <p:sp>
        <p:nvSpPr>
          <p:cNvPr id="39" name="TextBox 38"/>
          <p:cNvSpPr txBox="1"/>
          <p:nvPr/>
        </p:nvSpPr>
        <p:spPr>
          <a:xfrm>
            <a:off x="2432304" y="4965192"/>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Aishwarya Raman</a:t>
            </a:r>
          </a:p>
        </p:txBody>
      </p:sp>
      <p:sp>
        <p:nvSpPr>
          <p:cNvPr id="40" name="TextBox 39"/>
          <p:cNvSpPr txBox="1"/>
          <p:nvPr/>
        </p:nvSpPr>
        <p:spPr>
          <a:xfrm>
            <a:off x="2432304" y="5157216"/>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OMI Foundation</a:t>
            </a:r>
          </a:p>
        </p:txBody>
      </p:sp>
      <p:pic>
        <p:nvPicPr>
          <p:cNvPr id="41" name="Picture 40" descr="nkumar.png_0.72x0.72.jpg"/>
          <p:cNvPicPr>
            <a:picLocks noChangeAspect="1"/>
          </p:cNvPicPr>
          <p:nvPr/>
        </p:nvPicPr>
        <p:blipFill>
          <a:blip r:embed="rId11"/>
          <a:stretch>
            <a:fillRect/>
          </a:stretch>
        </p:blipFill>
        <p:spPr>
          <a:xfrm>
            <a:off x="4864608" y="4270248"/>
            <a:ext cx="658368" cy="658368"/>
          </a:xfrm>
          <a:prstGeom prst="rect">
            <a:avLst/>
          </a:prstGeom>
        </p:spPr>
      </p:pic>
      <p:sp>
        <p:nvSpPr>
          <p:cNvPr id="42" name="TextBox 41"/>
          <p:cNvSpPr txBox="1"/>
          <p:nvPr/>
        </p:nvSpPr>
        <p:spPr>
          <a:xfrm>
            <a:off x="4297680" y="4965192"/>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Neeraj Kumar</a:t>
            </a:r>
          </a:p>
        </p:txBody>
      </p:sp>
      <p:sp>
        <p:nvSpPr>
          <p:cNvPr id="43" name="TextBox 42"/>
          <p:cNvSpPr txBox="1"/>
          <p:nvPr/>
        </p:nvSpPr>
        <p:spPr>
          <a:xfrm>
            <a:off x="4297680" y="5157216"/>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Tata AIG</a:t>
            </a:r>
          </a:p>
        </p:txBody>
      </p:sp>
      <p:pic>
        <p:nvPicPr>
          <p:cNvPr id="44" name="Picture 43" descr="pandey.png_0.72x0.72.jpg"/>
          <p:cNvPicPr>
            <a:picLocks noChangeAspect="1"/>
          </p:cNvPicPr>
          <p:nvPr/>
        </p:nvPicPr>
        <p:blipFill>
          <a:blip r:embed="rId12"/>
          <a:stretch>
            <a:fillRect/>
          </a:stretch>
        </p:blipFill>
        <p:spPr>
          <a:xfrm>
            <a:off x="6729984" y="4270248"/>
            <a:ext cx="658368" cy="658368"/>
          </a:xfrm>
          <a:prstGeom prst="rect">
            <a:avLst/>
          </a:prstGeom>
        </p:spPr>
      </p:pic>
      <p:sp>
        <p:nvSpPr>
          <p:cNvPr id="45" name="TextBox 44"/>
          <p:cNvSpPr txBox="1"/>
          <p:nvPr/>
        </p:nvSpPr>
        <p:spPr>
          <a:xfrm>
            <a:off x="6163056" y="4965192"/>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R.S. Pandey</a:t>
            </a:r>
          </a:p>
        </p:txBody>
      </p:sp>
      <p:sp>
        <p:nvSpPr>
          <p:cNvPr id="46" name="TextBox 45"/>
          <p:cNvSpPr txBox="1"/>
          <p:nvPr/>
        </p:nvSpPr>
        <p:spPr>
          <a:xfrm>
            <a:off x="6163056" y="5157216"/>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FICCI Road Safety</a:t>
            </a:r>
          </a:p>
        </p:txBody>
      </p:sp>
      <p:pic>
        <p:nvPicPr>
          <p:cNvPr id="47" name="Picture 46" descr="dash.png_0.72x0.72.jpg"/>
          <p:cNvPicPr>
            <a:picLocks noChangeAspect="1"/>
          </p:cNvPicPr>
          <p:nvPr/>
        </p:nvPicPr>
        <p:blipFill>
          <a:blip r:embed="rId13"/>
          <a:stretch>
            <a:fillRect/>
          </a:stretch>
        </p:blipFill>
        <p:spPr>
          <a:xfrm>
            <a:off x="8595360" y="4270248"/>
            <a:ext cx="658368" cy="658368"/>
          </a:xfrm>
          <a:prstGeom prst="rect">
            <a:avLst/>
          </a:prstGeom>
        </p:spPr>
      </p:pic>
      <p:sp>
        <p:nvSpPr>
          <p:cNvPr id="48" name="TextBox 47"/>
          <p:cNvSpPr txBox="1"/>
          <p:nvPr/>
        </p:nvSpPr>
        <p:spPr>
          <a:xfrm>
            <a:off x="8028432" y="4965192"/>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Dipak K. Dash</a:t>
            </a:r>
          </a:p>
        </p:txBody>
      </p:sp>
      <p:sp>
        <p:nvSpPr>
          <p:cNvPr id="49" name="TextBox 48"/>
          <p:cNvSpPr txBox="1"/>
          <p:nvPr/>
        </p:nvSpPr>
        <p:spPr>
          <a:xfrm>
            <a:off x="8028432" y="5157216"/>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Times of India</a:t>
            </a:r>
          </a:p>
        </p:txBody>
      </p:sp>
      <p:sp>
        <p:nvSpPr>
          <p:cNvPr id="50" name="Rounded Rectangle 49"/>
          <p:cNvSpPr/>
          <p:nvPr/>
        </p:nvSpPr>
        <p:spPr>
          <a:xfrm>
            <a:off x="566928" y="5623560"/>
            <a:ext cx="11057839" cy="603504"/>
          </a:xfrm>
          <a:prstGeom prst="roundRect">
            <a:avLst>
              <a:gd name="adj" fmla="val 14000"/>
            </a:avLst>
          </a:prstGeom>
          <a:solidFill>
            <a:srgbClr val="F7F7FA"/>
          </a:solidFill>
          <a:ln>
            <a:noFill/>
          </a:ln>
          <a:effectLst/>
        </p:spPr>
        <p:txBody>
          <a:bodyPr rtlCol="0" anchor="ctr"/>
          <a:lstStyle/>
          <a:p>
            <a:pPr algn="ctr"/>
          </a:p>
        </p:txBody>
      </p:sp>
      <p:sp>
        <p:nvSpPr>
          <p:cNvPr id="51" name="TextBox 50"/>
          <p:cNvSpPr txBox="1"/>
          <p:nvPr/>
        </p:nvSpPr>
        <p:spPr>
          <a:xfrm>
            <a:off x="795528" y="5724144"/>
            <a:ext cx="10600639" cy="411480"/>
          </a:xfrm>
          <a:prstGeom prst="rect">
            <a:avLst/>
          </a:prstGeom>
          <a:noFill/>
        </p:spPr>
        <p:txBody>
          <a:bodyPr wrap="square" lIns="0" rIns="0" tIns="0" bIns="0" anchor="t">
            <a:spAutoFit/>
          </a:bodyPr>
          <a:lstStyle/>
          <a:p>
            <a:pPr algn="l">
              <a:lnSpc>
                <a:spcPct val="120000"/>
              </a:lnSpc>
            </a:pPr>
            <a:r>
              <a:rPr sz="950" b="1" i="0">
                <a:solidFill>
                  <a:srgbClr val="16181D"/>
                </a:solidFill>
                <a:latin typeface="Geist"/>
              </a:rPr>
              <a:t>Trustees: </a:t>
            </a:r>
            <a:r>
              <a:rPr sz="950" b="0" i="0">
                <a:solidFill>
                  <a:srgbClr val="6E7180"/>
                </a:solidFill>
                <a:latin typeface="Geist"/>
              </a:rPr>
              <a:t>Amar Srivastava (President · Founder, IRSC) · Deepanshu Gupta (Managing Trustee) · Gajendra Jangid (Co-founder, Cars24)   </a:t>
            </a:r>
            <a:r>
              <a:rPr sz="950" b="1" i="0">
                <a:solidFill>
                  <a:srgbClr val="16181D"/>
                </a:solidFill>
                <a:latin typeface="Geist"/>
              </a:rPr>
              <a:t>Team: </a:t>
            </a:r>
            <a:r>
              <a:rPr sz="950" b="0" i="0">
                <a:solidFill>
                  <a:srgbClr val="6E7180"/>
                </a:solidFill>
                <a:latin typeface="Geist"/>
              </a:rPr>
              <a:t>IIT Delhi, NALSAR, TISS &amp; HKUST alumni · 75+ engineering interns · 31 student audit teams</a:t>
            </a:r>
          </a:p>
        </p:txBody>
      </p:sp>
      <p:cxnSp>
        <p:nvCxnSpPr>
          <p:cNvPr id="52" name="Connector 51"/>
          <p:cNvCxnSpPr/>
          <p:nvPr/>
        </p:nvCxnSpPr>
        <p:spPr>
          <a:xfrm>
            <a:off x="566928" y="6455664"/>
            <a:ext cx="11057839" cy="0"/>
          </a:xfrm>
          <a:prstGeom prst="line">
            <a:avLst/>
          </a:prstGeom>
          <a:ln w="9525">
            <a:solidFill>
              <a:srgbClr val="E8E9EE"/>
            </a:solidFill>
          </a:ln>
          <a:effectLst/>
        </p:spPr>
      </p:cxnSp>
      <p:sp>
        <p:nvSpPr>
          <p:cNvPr id="53" name="TextBox 5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54" name="TextBox 5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12 / 23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 THE STARTING POINT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 family meets </a:t>
            </a:r>
            <a:r>
              <a:rPr sz="2250" b="1" i="0">
                <a:solidFill>
                  <a:srgbClr val="4A35FF"/>
                </a:solidFill>
                <a:latin typeface="Montserrat"/>
              </a:rPr>
              <a:t>many institutions</a:t>
            </a:r>
            <a:r>
              <a:rPr sz="2250" b="1" i="0">
                <a:solidFill>
                  <a:srgbClr val="16181D"/>
                </a:solidFill>
                <a:latin typeface="Montserrat"/>
              </a:rPr>
              <a:t> — not one programme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We mapped the hit-and-run claim journey with officials in Jaipur — seven stages, six hand-offs, every one manual today.</a:t>
            </a:r>
          </a:p>
        </p:txBody>
      </p:sp>
      <p:pic>
        <p:nvPicPr>
          <p:cNvPr id="8" name="Picture 7" descr="journey_strip.png"/>
          <p:cNvPicPr>
            <a:picLocks noChangeAspect="1"/>
          </p:cNvPicPr>
          <p:nvPr/>
        </p:nvPicPr>
        <p:blipFill>
          <a:blip r:embed="rId2"/>
          <a:stretch>
            <a:fillRect/>
          </a:stretch>
        </p:blipFill>
        <p:spPr>
          <a:xfrm>
            <a:off x="566928" y="2103120"/>
            <a:ext cx="11018520" cy="2676816"/>
          </a:xfrm>
          <a:prstGeom prst="rect">
            <a:avLst/>
          </a:prstGeom>
        </p:spPr>
      </p:pic>
      <p:sp>
        <p:nvSpPr>
          <p:cNvPr id="9" name="Rectangle 8"/>
          <p:cNvSpPr/>
          <p:nvPr/>
        </p:nvSpPr>
        <p:spPr>
          <a:xfrm>
            <a:off x="566928" y="2103120"/>
            <a:ext cx="11018520" cy="2676816"/>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825656"/>
            <a:ext cx="110185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The claim journey as it actually runs — FIR to payment. Source: CFI mapping with district officials, Jaipur.</a:t>
            </a:r>
          </a:p>
        </p:txBody>
      </p:sp>
      <p:sp>
        <p:nvSpPr>
          <p:cNvPr id="11" name="Rounded Rectangle 10"/>
          <p:cNvSpPr/>
          <p:nvPr/>
        </p:nvSpPr>
        <p:spPr>
          <a:xfrm>
            <a:off x="566928" y="5349240"/>
            <a:ext cx="11057839" cy="731520"/>
          </a:xfrm>
          <a:prstGeom prst="roundRect">
            <a:avLst>
              <a:gd name="adj" fmla="val 12000"/>
            </a:avLst>
          </a:prstGeom>
          <a:solidFill>
            <a:srgbClr val="EFEDFF"/>
          </a:solidFill>
          <a:ln>
            <a:noFill/>
          </a:ln>
          <a:effectLst/>
        </p:spPr>
        <p:txBody>
          <a:bodyPr rtlCol="0" anchor="ctr"/>
          <a:lstStyle/>
          <a:p>
            <a:pPr algn="ctr"/>
          </a:p>
        </p:txBody>
      </p:sp>
      <p:sp>
        <p:nvSpPr>
          <p:cNvPr id="12" name="TextBox 11"/>
          <p:cNvSpPr txBox="1"/>
          <p:nvPr/>
        </p:nvSpPr>
        <p:spPr>
          <a:xfrm>
            <a:off x="795528" y="5458968"/>
            <a:ext cx="10600639" cy="548640"/>
          </a:xfrm>
          <a:prstGeom prst="rect">
            <a:avLst/>
          </a:prstGeom>
          <a:noFill/>
        </p:spPr>
        <p:txBody>
          <a:bodyPr wrap="square" lIns="0" rIns="0" tIns="0" bIns="0" anchor="t">
            <a:spAutoFit/>
          </a:bodyPr>
          <a:lstStyle/>
          <a:p>
            <a:pPr algn="l">
              <a:lnSpc>
                <a:spcPct val="130000"/>
              </a:lnSpc>
            </a:pPr>
            <a:r>
              <a:rPr sz="1150" b="1" i="0">
                <a:solidFill>
                  <a:srgbClr val="4A35FF"/>
                </a:solidFill>
                <a:latin typeface="Geist"/>
              </a:rPr>
              <a:t>Our work: </a:t>
            </a:r>
            <a:r>
              <a:rPr sz="1150" b="0" i="0">
                <a:solidFill>
                  <a:srgbClr val="4A35FF"/>
                </a:solidFill>
                <a:latin typeface="Geist"/>
              </a:rPr>
              <a:t>make each hand-off visible, guide the family at every stage, and give administrators the dashboards to see where files wait.</a:t>
            </a:r>
          </a:p>
        </p:txBody>
      </p:sp>
      <p:cxnSp>
        <p:nvCxnSpPr>
          <p:cNvPr id="13" name="Connector 12"/>
          <p:cNvCxnSpPr/>
          <p:nvPr/>
        </p:nvCxnSpPr>
        <p:spPr>
          <a:xfrm>
            <a:off x="566928" y="6455664"/>
            <a:ext cx="11057839" cy="0"/>
          </a:xfrm>
          <a:prstGeom prst="line">
            <a:avLst/>
          </a:prstGeom>
          <a:ln w="9525">
            <a:solidFill>
              <a:srgbClr val="E8E9EE"/>
            </a:solidFill>
          </a:ln>
          <a:effectLst/>
        </p:spPr>
      </p:cxnSp>
      <p:sp>
        <p:nvSpPr>
          <p:cNvPr id="14" name="TextBox 13"/>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15" name="TextBox 14"/>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13 / 23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 OUR RESEARCH FOUNDATION</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'Justice Unserved' — </a:t>
            </a:r>
            <a:r>
              <a:rPr sz="2250" b="1" i="0">
                <a:solidFill>
                  <a:srgbClr val="4A35FF"/>
                </a:solidFill>
                <a:latin typeface="Montserrat"/>
              </a:rPr>
              <a:t>the evidence base</a:t>
            </a:r>
            <a:r>
              <a:rPr sz="2250" b="1" i="0">
                <a:solidFill>
                  <a:srgbClr val="16181D"/>
                </a:solidFill>
                <a:latin typeface="Montserrat"/>
              </a:rPr>
              <a:t> we built first</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Published January 2026 · launched at IIT Delhi · findings presented to MoRTH · covered by national press.</a:t>
            </a:r>
          </a:p>
        </p:txBody>
      </p:sp>
      <p:pic>
        <p:nvPicPr>
          <p:cNvPr id="8" name="Picture 7" descr="comp_image1.png"/>
          <p:cNvPicPr>
            <a:picLocks noChangeAspect="1"/>
          </p:cNvPicPr>
          <p:nvPr/>
        </p:nvPicPr>
        <p:blipFill>
          <a:blip r:embed="rId2"/>
          <a:stretch>
            <a:fillRect/>
          </a:stretch>
        </p:blipFill>
        <p:spPr>
          <a:xfrm>
            <a:off x="566928" y="1965960"/>
            <a:ext cx="2514600" cy="3244842"/>
          </a:xfrm>
          <a:prstGeom prst="rect">
            <a:avLst/>
          </a:prstGeom>
        </p:spPr>
      </p:pic>
      <p:sp>
        <p:nvSpPr>
          <p:cNvPr id="9" name="Rectangle 8"/>
          <p:cNvSpPr/>
          <p:nvPr/>
        </p:nvSpPr>
        <p:spPr>
          <a:xfrm>
            <a:off x="566928" y="1965960"/>
            <a:ext cx="2514600" cy="3244842"/>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5256522"/>
            <a:ext cx="251460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The report — file reviews, RTIs and</a:t>
            </a:r>
          </a:p>
          <a:p>
            <a:pPr algn="l">
              <a:lnSpc>
                <a:spcPct val="110000"/>
              </a:lnSpc>
            </a:pPr>
            <a:r>
              <a:rPr sz="850" b="0" i="0">
                <a:solidFill>
                  <a:srgbClr val="6E7180"/>
                </a:solidFill>
                <a:latin typeface="Geist"/>
              </a:rPr>
              <a:t>consultations across the pipeline.</a:t>
            </a:r>
          </a:p>
        </p:txBody>
      </p:sp>
      <p:sp>
        <p:nvSpPr>
          <p:cNvPr id="11" name="Oval 10"/>
          <p:cNvSpPr/>
          <p:nvPr/>
        </p:nvSpPr>
        <p:spPr>
          <a:xfrm>
            <a:off x="3611880" y="1965960"/>
            <a:ext cx="365760" cy="365760"/>
          </a:xfrm>
          <a:prstGeom prst="ellipse">
            <a:avLst/>
          </a:prstGeom>
          <a:solidFill>
            <a:srgbClr val="FDF3E3"/>
          </a:solidFill>
          <a:ln>
            <a:noFill/>
          </a:ln>
          <a:effectLst/>
        </p:spPr>
        <p:txBody>
          <a:bodyPr rtlCol="0" anchor="ctr"/>
          <a:lstStyle/>
          <a:p>
            <a:pPr algn="ctr"/>
          </a:p>
        </p:txBody>
      </p:sp>
      <p:pic>
        <p:nvPicPr>
          <p:cNvPr id="12" name="Picture 11" descr="megaphone_E58900_256_2.0.png"/>
          <p:cNvPicPr>
            <a:picLocks noChangeAspect="1"/>
          </p:cNvPicPr>
          <p:nvPr/>
        </p:nvPicPr>
        <p:blipFill>
          <a:blip r:embed="rId3"/>
          <a:stretch>
            <a:fillRect/>
          </a:stretch>
        </p:blipFill>
        <p:spPr>
          <a:xfrm>
            <a:off x="3699662" y="2053742"/>
            <a:ext cx="190195" cy="190195"/>
          </a:xfrm>
          <a:prstGeom prst="rect">
            <a:avLst/>
          </a:prstGeom>
        </p:spPr>
      </p:pic>
      <p:sp>
        <p:nvSpPr>
          <p:cNvPr id="13" name="TextBox 12"/>
          <p:cNvSpPr txBox="1"/>
          <p:nvPr/>
        </p:nvSpPr>
        <p:spPr>
          <a:xfrm>
            <a:off x="4114800" y="1947672"/>
            <a:ext cx="1554480" cy="320040"/>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Awareness</a:t>
            </a:r>
          </a:p>
        </p:txBody>
      </p:sp>
      <p:sp>
        <p:nvSpPr>
          <p:cNvPr id="14" name="TextBox 13"/>
          <p:cNvSpPr txBox="1"/>
          <p:nvPr/>
        </p:nvSpPr>
        <p:spPr>
          <a:xfrm>
            <a:off x="5696711" y="1947672"/>
            <a:ext cx="2395728" cy="621792"/>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70% of low-income families are unaware compensation exists.</a:t>
            </a:r>
          </a:p>
        </p:txBody>
      </p:sp>
      <p:sp>
        <p:nvSpPr>
          <p:cNvPr id="15" name="Oval 14"/>
          <p:cNvSpPr/>
          <p:nvPr/>
        </p:nvSpPr>
        <p:spPr>
          <a:xfrm>
            <a:off x="3611880" y="2624328"/>
            <a:ext cx="365760" cy="365760"/>
          </a:xfrm>
          <a:prstGeom prst="ellipse">
            <a:avLst/>
          </a:prstGeom>
          <a:solidFill>
            <a:srgbClr val="FDF3E3"/>
          </a:solidFill>
          <a:ln>
            <a:noFill/>
          </a:ln>
          <a:effectLst/>
        </p:spPr>
        <p:txBody>
          <a:bodyPr rtlCol="0" anchor="ctr"/>
          <a:lstStyle/>
          <a:p>
            <a:pPr algn="ctr"/>
          </a:p>
        </p:txBody>
      </p:sp>
      <p:pic>
        <p:nvPicPr>
          <p:cNvPr id="16" name="Picture 15" descr="clock_E58900_256_2.0.png"/>
          <p:cNvPicPr>
            <a:picLocks noChangeAspect="1"/>
          </p:cNvPicPr>
          <p:nvPr/>
        </p:nvPicPr>
        <p:blipFill>
          <a:blip r:embed="rId4"/>
          <a:stretch>
            <a:fillRect/>
          </a:stretch>
        </p:blipFill>
        <p:spPr>
          <a:xfrm>
            <a:off x="3699662" y="2712110"/>
            <a:ext cx="190195" cy="190195"/>
          </a:xfrm>
          <a:prstGeom prst="rect">
            <a:avLst/>
          </a:prstGeom>
        </p:spPr>
      </p:pic>
      <p:sp>
        <p:nvSpPr>
          <p:cNvPr id="17" name="TextBox 16"/>
          <p:cNvSpPr txBox="1"/>
          <p:nvPr/>
        </p:nvSpPr>
        <p:spPr>
          <a:xfrm>
            <a:off x="4114800" y="2606040"/>
            <a:ext cx="1554480" cy="320040"/>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Timeliness</a:t>
            </a:r>
          </a:p>
        </p:txBody>
      </p:sp>
      <p:sp>
        <p:nvSpPr>
          <p:cNvPr id="18" name="TextBox 17"/>
          <p:cNvSpPr txBox="1"/>
          <p:nvPr/>
        </p:nvSpPr>
        <p:spPr>
          <a:xfrm>
            <a:off x="5696711" y="2606040"/>
            <a:ext cx="2395728" cy="621792"/>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3.6-year average claim; MACT cases often run 8–10 years.</a:t>
            </a:r>
          </a:p>
        </p:txBody>
      </p:sp>
      <p:sp>
        <p:nvSpPr>
          <p:cNvPr id="19" name="Oval 18"/>
          <p:cNvSpPr/>
          <p:nvPr/>
        </p:nvSpPr>
        <p:spPr>
          <a:xfrm>
            <a:off x="3611880" y="3282696"/>
            <a:ext cx="365760" cy="365760"/>
          </a:xfrm>
          <a:prstGeom prst="ellipse">
            <a:avLst/>
          </a:prstGeom>
          <a:solidFill>
            <a:srgbClr val="FDF3E3"/>
          </a:solidFill>
          <a:ln>
            <a:noFill/>
          </a:ln>
          <a:effectLst/>
        </p:spPr>
        <p:txBody>
          <a:bodyPr rtlCol="0" anchor="ctr"/>
          <a:lstStyle/>
          <a:p>
            <a:pPr algn="ctr"/>
          </a:p>
        </p:txBody>
      </p:sp>
      <p:pic>
        <p:nvPicPr>
          <p:cNvPr id="20" name="Picture 19" descr="file-x_E58900_256_2.0.png"/>
          <p:cNvPicPr>
            <a:picLocks noChangeAspect="1"/>
          </p:cNvPicPr>
          <p:nvPr/>
        </p:nvPicPr>
        <p:blipFill>
          <a:blip r:embed="rId5"/>
          <a:stretch>
            <a:fillRect/>
          </a:stretch>
        </p:blipFill>
        <p:spPr>
          <a:xfrm>
            <a:off x="3699662" y="3370478"/>
            <a:ext cx="190195" cy="190195"/>
          </a:xfrm>
          <a:prstGeom prst="rect">
            <a:avLst/>
          </a:prstGeom>
        </p:spPr>
      </p:pic>
      <p:sp>
        <p:nvSpPr>
          <p:cNvPr id="21" name="TextBox 20"/>
          <p:cNvSpPr txBox="1"/>
          <p:nvPr/>
        </p:nvSpPr>
        <p:spPr>
          <a:xfrm>
            <a:off x="4114800" y="3264408"/>
            <a:ext cx="1554480" cy="320040"/>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Documentation</a:t>
            </a:r>
          </a:p>
        </p:txBody>
      </p:sp>
      <p:sp>
        <p:nvSpPr>
          <p:cNvPr id="22" name="TextBox 21"/>
          <p:cNvSpPr txBox="1"/>
          <p:nvPr/>
        </p:nvSpPr>
        <p:spPr>
          <a:xfrm>
            <a:off x="5696711" y="3264408"/>
            <a:ext cx="2395728" cy="621792"/>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90% of pending hit-and-run claims stall on documents alone.</a:t>
            </a:r>
          </a:p>
        </p:txBody>
      </p:sp>
      <p:sp>
        <p:nvSpPr>
          <p:cNvPr id="23" name="Oval 22"/>
          <p:cNvSpPr/>
          <p:nvPr/>
        </p:nvSpPr>
        <p:spPr>
          <a:xfrm>
            <a:off x="3611880" y="3941064"/>
            <a:ext cx="365760" cy="365760"/>
          </a:xfrm>
          <a:prstGeom prst="ellipse">
            <a:avLst/>
          </a:prstGeom>
          <a:solidFill>
            <a:srgbClr val="FDF3E3"/>
          </a:solidFill>
          <a:ln>
            <a:noFill/>
          </a:ln>
          <a:effectLst/>
        </p:spPr>
        <p:txBody>
          <a:bodyPr rtlCol="0" anchor="ctr"/>
          <a:lstStyle/>
          <a:p>
            <a:pPr algn="ctr"/>
          </a:p>
        </p:txBody>
      </p:sp>
      <p:pic>
        <p:nvPicPr>
          <p:cNvPr id="24" name="Picture 23" descr="scale_E58900_256_2.0.png"/>
          <p:cNvPicPr>
            <a:picLocks noChangeAspect="1"/>
          </p:cNvPicPr>
          <p:nvPr/>
        </p:nvPicPr>
        <p:blipFill>
          <a:blip r:embed="rId6"/>
          <a:stretch>
            <a:fillRect/>
          </a:stretch>
        </p:blipFill>
        <p:spPr>
          <a:xfrm>
            <a:off x="3699662" y="4028846"/>
            <a:ext cx="190195" cy="190195"/>
          </a:xfrm>
          <a:prstGeom prst="rect">
            <a:avLst/>
          </a:prstGeom>
        </p:spPr>
      </p:pic>
      <p:sp>
        <p:nvSpPr>
          <p:cNvPr id="25" name="TextBox 24"/>
          <p:cNvSpPr txBox="1"/>
          <p:nvPr/>
        </p:nvSpPr>
        <p:spPr>
          <a:xfrm>
            <a:off x="4114800" y="3922776"/>
            <a:ext cx="1554480" cy="320040"/>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Adequacy</a:t>
            </a:r>
          </a:p>
        </p:txBody>
      </p:sp>
      <p:sp>
        <p:nvSpPr>
          <p:cNvPr id="26" name="TextBox 25"/>
          <p:cNvSpPr txBox="1"/>
          <p:nvPr/>
        </p:nvSpPr>
        <p:spPr>
          <a:xfrm>
            <a:off x="5696711" y="3922776"/>
            <a:ext cx="2395728" cy="621792"/>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Informal workers are often valued at minimum wage in courts.</a:t>
            </a:r>
          </a:p>
        </p:txBody>
      </p:sp>
      <p:sp>
        <p:nvSpPr>
          <p:cNvPr id="27" name="Oval 26"/>
          <p:cNvSpPr/>
          <p:nvPr/>
        </p:nvSpPr>
        <p:spPr>
          <a:xfrm>
            <a:off x="3611880" y="4599432"/>
            <a:ext cx="365760" cy="365760"/>
          </a:xfrm>
          <a:prstGeom prst="ellipse">
            <a:avLst/>
          </a:prstGeom>
          <a:solidFill>
            <a:srgbClr val="FDF3E3"/>
          </a:solidFill>
          <a:ln>
            <a:noFill/>
          </a:ln>
          <a:effectLst/>
        </p:spPr>
        <p:txBody>
          <a:bodyPr rtlCol="0" anchor="ctr"/>
          <a:lstStyle/>
          <a:p>
            <a:pPr algn="ctr"/>
          </a:p>
        </p:txBody>
      </p:sp>
      <p:pic>
        <p:nvPicPr>
          <p:cNvPr id="28" name="Picture 27" descr="users_E58900_256_2.0.png"/>
          <p:cNvPicPr>
            <a:picLocks noChangeAspect="1"/>
          </p:cNvPicPr>
          <p:nvPr/>
        </p:nvPicPr>
        <p:blipFill>
          <a:blip r:embed="rId7"/>
          <a:stretch>
            <a:fillRect/>
          </a:stretch>
        </p:blipFill>
        <p:spPr>
          <a:xfrm>
            <a:off x="3699662" y="4687214"/>
            <a:ext cx="190195" cy="190195"/>
          </a:xfrm>
          <a:prstGeom prst="rect">
            <a:avLst/>
          </a:prstGeom>
        </p:spPr>
      </p:pic>
      <p:sp>
        <p:nvSpPr>
          <p:cNvPr id="29" name="TextBox 28"/>
          <p:cNvSpPr txBox="1"/>
          <p:nvPr/>
        </p:nvSpPr>
        <p:spPr>
          <a:xfrm>
            <a:off x="4114800" y="4581144"/>
            <a:ext cx="1554480" cy="320040"/>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Equity</a:t>
            </a:r>
          </a:p>
        </p:txBody>
      </p:sp>
      <p:sp>
        <p:nvSpPr>
          <p:cNvPr id="30" name="TextBox 29"/>
          <p:cNvSpPr txBox="1"/>
          <p:nvPr/>
        </p:nvSpPr>
        <p:spPr>
          <a:xfrm>
            <a:off x="5696711" y="4581144"/>
            <a:ext cx="2395728" cy="621792"/>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14% of low-income households compensated vs 24% of high-income.</a:t>
            </a:r>
          </a:p>
        </p:txBody>
      </p:sp>
      <p:sp>
        <p:nvSpPr>
          <p:cNvPr id="31" name="Rounded Rectangle 30"/>
          <p:cNvSpPr/>
          <p:nvPr/>
        </p:nvSpPr>
        <p:spPr>
          <a:xfrm>
            <a:off x="8275320" y="1965960"/>
            <a:ext cx="3337560" cy="3108960"/>
          </a:xfrm>
          <a:prstGeom prst="roundRect">
            <a:avLst>
              <a:gd name="adj" fmla="val 8000"/>
            </a:avLst>
          </a:prstGeom>
          <a:solidFill>
            <a:srgbClr val="F7F7FA"/>
          </a:solidFill>
          <a:ln>
            <a:noFill/>
          </a:ln>
          <a:effectLst/>
        </p:spPr>
        <p:txBody>
          <a:bodyPr rtlCol="0" anchor="ctr"/>
          <a:lstStyle/>
          <a:p>
            <a:pPr algn="ctr"/>
          </a:p>
        </p:txBody>
      </p:sp>
      <p:sp>
        <p:nvSpPr>
          <p:cNvPr id="32" name="TextBox 31"/>
          <p:cNvSpPr txBox="1"/>
          <p:nvPr/>
        </p:nvSpPr>
        <p:spPr>
          <a:xfrm>
            <a:off x="8503920" y="2240280"/>
            <a:ext cx="2880360" cy="822960"/>
          </a:xfrm>
          <a:prstGeom prst="rect">
            <a:avLst/>
          </a:prstGeom>
          <a:noFill/>
        </p:spPr>
        <p:txBody>
          <a:bodyPr wrap="square" lIns="0" rIns="0" tIns="0" bIns="0" anchor="t">
            <a:spAutoFit/>
          </a:bodyPr>
          <a:lstStyle/>
          <a:p>
            <a:pPr algn="l">
              <a:lnSpc>
                <a:spcPct val="128000"/>
              </a:lnSpc>
            </a:pPr>
            <a:r>
              <a:rPr sz="4400" b="1" i="0">
                <a:solidFill>
                  <a:srgbClr val="4A35FF"/>
                </a:solidFill>
                <a:latin typeface="Montserrat"/>
              </a:rPr>
              <a:t>205</a:t>
            </a:r>
          </a:p>
        </p:txBody>
      </p:sp>
      <p:sp>
        <p:nvSpPr>
          <p:cNvPr id="33" name="TextBox 32"/>
          <p:cNvSpPr txBox="1"/>
          <p:nvPr/>
        </p:nvSpPr>
        <p:spPr>
          <a:xfrm>
            <a:off x="8503920" y="3063240"/>
            <a:ext cx="2880360" cy="548640"/>
          </a:xfrm>
          <a:prstGeom prst="rect">
            <a:avLst/>
          </a:prstGeom>
          <a:noFill/>
        </p:spPr>
        <p:txBody>
          <a:bodyPr wrap="square" lIns="0" rIns="0" tIns="0" bIns="0" anchor="t">
            <a:spAutoFit/>
          </a:bodyPr>
          <a:lstStyle/>
          <a:p>
            <a:pPr algn="l">
              <a:lnSpc>
                <a:spcPct val="130000"/>
              </a:lnSpc>
            </a:pPr>
            <a:r>
              <a:rPr sz="1100" b="0" i="0">
                <a:solidFill>
                  <a:srgbClr val="16181D"/>
                </a:solidFill>
                <a:latin typeface="Geist"/>
              </a:rPr>
              <a:t>hit-and-run claims filed in FY22-23…</a:t>
            </a:r>
          </a:p>
        </p:txBody>
      </p:sp>
      <p:sp>
        <p:nvSpPr>
          <p:cNvPr id="34" name="TextBox 33"/>
          <p:cNvSpPr txBox="1"/>
          <p:nvPr/>
        </p:nvSpPr>
        <p:spPr>
          <a:xfrm>
            <a:off x="8503920" y="3657600"/>
            <a:ext cx="2880360" cy="548640"/>
          </a:xfrm>
          <a:prstGeom prst="rect">
            <a:avLst/>
          </a:prstGeom>
          <a:noFill/>
        </p:spPr>
        <p:txBody>
          <a:bodyPr wrap="square" lIns="0" rIns="0" tIns="0" bIns="0" anchor="t">
            <a:spAutoFit/>
          </a:bodyPr>
          <a:lstStyle/>
          <a:p>
            <a:pPr algn="l">
              <a:lnSpc>
                <a:spcPct val="130000"/>
              </a:lnSpc>
            </a:pPr>
            <a:r>
              <a:rPr sz="1100" b="0" i="0">
                <a:solidFill>
                  <a:srgbClr val="6E7180"/>
                </a:solidFill>
                <a:latin typeface="Geist"/>
              </a:rPr>
              <a:t>against ~</a:t>
            </a:r>
            <a:r>
              <a:rPr sz="1100" b="1" i="0">
                <a:solidFill>
                  <a:srgbClr val="16181D"/>
                </a:solidFill>
                <a:latin typeface="Geist"/>
              </a:rPr>
              <a:t>25,000</a:t>
            </a:r>
            <a:r>
              <a:rPr sz="1100" b="0" i="0">
                <a:solidFill>
                  <a:srgbClr val="6E7180"/>
                </a:solidFill>
                <a:latin typeface="Geist"/>
              </a:rPr>
              <a:t> eligible crashes.</a:t>
            </a:r>
          </a:p>
        </p:txBody>
      </p:sp>
      <p:sp>
        <p:nvSpPr>
          <p:cNvPr id="35" name="TextBox 34"/>
          <p:cNvSpPr txBox="1"/>
          <p:nvPr/>
        </p:nvSpPr>
        <p:spPr>
          <a:xfrm>
            <a:off x="8503920" y="4343400"/>
            <a:ext cx="2880360" cy="640080"/>
          </a:xfrm>
          <a:prstGeom prst="rect">
            <a:avLst/>
          </a:prstGeom>
          <a:noFill/>
        </p:spPr>
        <p:txBody>
          <a:bodyPr wrap="square" lIns="0" rIns="0" tIns="0" bIns="0" anchor="t">
            <a:spAutoFit/>
          </a:bodyPr>
          <a:lstStyle/>
          <a:p>
            <a:pPr algn="l">
              <a:lnSpc>
                <a:spcPct val="130000"/>
              </a:lnSpc>
            </a:pPr>
            <a:r>
              <a:rPr sz="1050" b="0" i="1">
                <a:solidFill>
                  <a:srgbClr val="6E7180"/>
                </a:solidFill>
                <a:latin typeface="Geist"/>
              </a:rPr>
              <a:t>The scheme is sound — the pipeline to it needs support.</a:t>
            </a:r>
          </a:p>
        </p:txBody>
      </p:sp>
      <p:sp>
        <p:nvSpPr>
          <p:cNvPr id="36" name="TextBox 35"/>
          <p:cNvSpPr txBox="1"/>
          <p:nvPr/>
        </p:nvSpPr>
        <p:spPr>
          <a:xfrm>
            <a:off x="566928" y="5577840"/>
            <a:ext cx="10972800" cy="457200"/>
          </a:xfrm>
          <a:prstGeom prst="rect">
            <a:avLst/>
          </a:prstGeom>
          <a:noFill/>
        </p:spPr>
        <p:txBody>
          <a:bodyPr wrap="square" lIns="0" rIns="0" tIns="0" bIns="0" anchor="t">
            <a:spAutoFit/>
          </a:bodyPr>
          <a:lstStyle/>
          <a:p>
            <a:pPr algn="l">
              <a:lnSpc>
                <a:spcPct val="120000"/>
              </a:lnSpc>
            </a:pPr>
            <a:r>
              <a:rPr sz="950" b="1" i="0">
                <a:solidFill>
                  <a:srgbClr val="16181D"/>
                </a:solidFill>
                <a:latin typeface="Geist"/>
              </a:rPr>
              <a:t>Press: </a:t>
            </a:r>
            <a:r>
              <a:rPr sz="950" b="0" i="0">
                <a:solidFill>
                  <a:srgbClr val="6E7180"/>
                </a:solidFill>
                <a:latin typeface="Geist"/>
              </a:rPr>
              <a:t>Deccan Herald · Economic Times · Fortune India · IndiaSpend · Scroll.in · The Wire — and cited in Parliament-facing briefings.</a:t>
            </a:r>
          </a:p>
        </p:txBody>
      </p:sp>
      <p:cxnSp>
        <p:nvCxnSpPr>
          <p:cNvPr id="37" name="Connector 36"/>
          <p:cNvCxnSpPr/>
          <p:nvPr/>
        </p:nvCxnSpPr>
        <p:spPr>
          <a:xfrm>
            <a:off x="566928" y="6455664"/>
            <a:ext cx="11057839" cy="0"/>
          </a:xfrm>
          <a:prstGeom prst="line">
            <a:avLst/>
          </a:prstGeom>
          <a:ln w="9525">
            <a:solidFill>
              <a:srgbClr val="E8E9EE"/>
            </a:solidFill>
          </a:ln>
          <a:effectLst/>
        </p:spPr>
      </p:cxnSp>
      <p:sp>
        <p:nvSpPr>
          <p:cNvPr id="38" name="TextBox 37"/>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9" name="TextBox 38"/>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14 / 23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 FROM RESEARCH TO DISTRICTS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Working </a:t>
            </a:r>
            <a:r>
              <a:rPr sz="2250" b="1" i="0">
                <a:solidFill>
                  <a:srgbClr val="4A35FF"/>
                </a:solidFill>
                <a:latin typeface="Montserrat"/>
              </a:rPr>
              <a:t>inside the district machinery</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Not commentary from outside — formal seats, formal tasking, files on the table.</a:t>
            </a:r>
          </a:p>
        </p:txBody>
      </p:sp>
      <p:sp>
        <p:nvSpPr>
          <p:cNvPr id="8" name="Oval 7"/>
          <p:cNvSpPr/>
          <p:nvPr/>
        </p:nvSpPr>
        <p:spPr>
          <a:xfrm>
            <a:off x="566928" y="2057400"/>
            <a:ext cx="365760" cy="365760"/>
          </a:xfrm>
          <a:prstGeom prst="ellipse">
            <a:avLst/>
          </a:prstGeom>
          <a:solidFill>
            <a:srgbClr val="EFEDFF"/>
          </a:solidFill>
          <a:ln>
            <a:noFill/>
          </a:ln>
          <a:effectLst/>
        </p:spPr>
        <p:txBody>
          <a:bodyPr rtlCol="0" anchor="ctr"/>
          <a:lstStyle/>
          <a:p>
            <a:pPr algn="ctr"/>
          </a:p>
        </p:txBody>
      </p:sp>
      <p:pic>
        <p:nvPicPr>
          <p:cNvPr id="9" name="Picture 8" descr="landmark_4A35FF_256_2.0.png"/>
          <p:cNvPicPr>
            <a:picLocks noChangeAspect="1"/>
          </p:cNvPicPr>
          <p:nvPr/>
        </p:nvPicPr>
        <p:blipFill>
          <a:blip r:embed="rId2"/>
          <a:stretch>
            <a:fillRect/>
          </a:stretch>
        </p:blipFill>
        <p:spPr>
          <a:xfrm>
            <a:off x="654710" y="2145182"/>
            <a:ext cx="190195" cy="190195"/>
          </a:xfrm>
          <a:prstGeom prst="rect">
            <a:avLst/>
          </a:prstGeom>
        </p:spPr>
      </p:pic>
      <p:sp>
        <p:nvSpPr>
          <p:cNvPr id="10" name="TextBox 9"/>
          <p:cNvSpPr txBox="1"/>
          <p:nvPr/>
        </p:nvSpPr>
        <p:spPr>
          <a:xfrm>
            <a:off x="1097280" y="20391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Four DRSCs joined</a:t>
            </a:r>
          </a:p>
        </p:txBody>
      </p:sp>
      <p:sp>
        <p:nvSpPr>
          <p:cNvPr id="11" name="TextBox 10"/>
          <p:cNvSpPr txBox="1"/>
          <p:nvPr/>
        </p:nvSpPr>
        <p:spPr>
          <a:xfrm>
            <a:off x="3566160" y="203911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Gurugram, South-West Delhi, North-West Delhi and Jaipur — with MoUs with Jaipur Traffic Police and Gurugram Police.</a:t>
            </a:r>
          </a:p>
        </p:txBody>
      </p:sp>
      <p:sp>
        <p:nvSpPr>
          <p:cNvPr id="12" name="Oval 11"/>
          <p:cNvSpPr/>
          <p:nvPr/>
        </p:nvSpPr>
        <p:spPr>
          <a:xfrm>
            <a:off x="566928" y="2971800"/>
            <a:ext cx="365760" cy="365760"/>
          </a:xfrm>
          <a:prstGeom prst="ellipse">
            <a:avLst/>
          </a:prstGeom>
          <a:solidFill>
            <a:srgbClr val="E7F4F4"/>
          </a:solidFill>
          <a:ln>
            <a:noFill/>
          </a:ln>
          <a:effectLst/>
        </p:spPr>
        <p:txBody>
          <a:bodyPr rtlCol="0" anchor="ctr"/>
          <a:lstStyle/>
          <a:p>
            <a:pPr algn="ctr"/>
          </a:p>
        </p:txBody>
      </p:sp>
      <p:pic>
        <p:nvPicPr>
          <p:cNvPr id="13" name="Picture 12" descr="folder-open_0E8A8A_256_2.0.png"/>
          <p:cNvPicPr>
            <a:picLocks noChangeAspect="1"/>
          </p:cNvPicPr>
          <p:nvPr/>
        </p:nvPicPr>
        <p:blipFill>
          <a:blip r:embed="rId3"/>
          <a:stretch>
            <a:fillRect/>
          </a:stretch>
        </p:blipFill>
        <p:spPr>
          <a:xfrm>
            <a:off x="654710" y="3059582"/>
            <a:ext cx="190195" cy="190195"/>
          </a:xfrm>
          <a:prstGeom prst="rect">
            <a:avLst/>
          </a:prstGeom>
        </p:spPr>
      </p:pic>
      <p:sp>
        <p:nvSpPr>
          <p:cNvPr id="14" name="TextBox 13"/>
          <p:cNvSpPr txBox="1"/>
          <p:nvPr/>
        </p:nvSpPr>
        <p:spPr>
          <a:xfrm>
            <a:off x="1097280" y="29535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102 files, read page by page</a:t>
            </a:r>
          </a:p>
        </p:txBody>
      </p:sp>
      <p:sp>
        <p:nvSpPr>
          <p:cNvPr id="15" name="TextBox 14"/>
          <p:cNvSpPr txBox="1"/>
          <p:nvPr/>
        </p:nvSpPr>
        <p:spPr>
          <a:xfrm>
            <a:off x="3566160" y="295351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With Gurugram's administration we reviewed every hit-and-run file since 2022 — mapping exactly where eligible families drop out.</a:t>
            </a:r>
          </a:p>
        </p:txBody>
      </p:sp>
      <p:sp>
        <p:nvSpPr>
          <p:cNvPr id="16" name="Oval 15"/>
          <p:cNvSpPr/>
          <p:nvPr/>
        </p:nvSpPr>
        <p:spPr>
          <a:xfrm>
            <a:off x="566928" y="3886200"/>
            <a:ext cx="365760" cy="365760"/>
          </a:xfrm>
          <a:prstGeom prst="ellipse">
            <a:avLst/>
          </a:prstGeom>
          <a:solidFill>
            <a:srgbClr val="E9F7F0"/>
          </a:solidFill>
          <a:ln>
            <a:noFill/>
          </a:ln>
          <a:effectLst/>
        </p:spPr>
        <p:txBody>
          <a:bodyPr rtlCol="0" anchor="ctr"/>
          <a:lstStyle/>
          <a:p>
            <a:pPr algn="ctr"/>
          </a:p>
        </p:txBody>
      </p:sp>
      <p:pic>
        <p:nvPicPr>
          <p:cNvPr id="17" name="Picture 16" descr="clipboard-check_0A9955_256_2.0.png"/>
          <p:cNvPicPr>
            <a:picLocks noChangeAspect="1"/>
          </p:cNvPicPr>
          <p:nvPr/>
        </p:nvPicPr>
        <p:blipFill>
          <a:blip r:embed="rId4"/>
          <a:stretch>
            <a:fillRect/>
          </a:stretch>
        </p:blipFill>
        <p:spPr>
          <a:xfrm>
            <a:off x="654710" y="3973982"/>
            <a:ext cx="190195" cy="190195"/>
          </a:xfrm>
          <a:prstGeom prst="rect">
            <a:avLst/>
          </a:prstGeom>
        </p:spPr>
      </p:pic>
      <p:sp>
        <p:nvSpPr>
          <p:cNvPr id="18" name="TextBox 17"/>
          <p:cNvSpPr txBox="1"/>
          <p:nvPr/>
        </p:nvSpPr>
        <p:spPr>
          <a:xfrm>
            <a:off x="1097280" y="38679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Formally tasked</a:t>
            </a:r>
          </a:p>
        </p:txBody>
      </p:sp>
      <p:sp>
        <p:nvSpPr>
          <p:cNvPr id="19" name="TextBox 18"/>
          <p:cNvSpPr txBox="1"/>
          <p:nvPr/>
        </p:nvSpPr>
        <p:spPr>
          <a:xfrm>
            <a:off x="3566160" y="386791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The South-West Delhi DRSC's signed minutes task Crashfree India with digitisation and analytics support for scheme files.</a:t>
            </a:r>
          </a:p>
        </p:txBody>
      </p:sp>
      <p:sp>
        <p:nvSpPr>
          <p:cNvPr id="20" name="Oval 19"/>
          <p:cNvSpPr/>
          <p:nvPr/>
        </p:nvSpPr>
        <p:spPr>
          <a:xfrm>
            <a:off x="566928" y="4800600"/>
            <a:ext cx="365760" cy="365760"/>
          </a:xfrm>
          <a:prstGeom prst="ellipse">
            <a:avLst/>
          </a:prstGeom>
          <a:solidFill>
            <a:srgbClr val="FDF3E3"/>
          </a:solidFill>
          <a:ln>
            <a:noFill/>
          </a:ln>
          <a:effectLst/>
        </p:spPr>
        <p:txBody>
          <a:bodyPr rtlCol="0" anchor="ctr"/>
          <a:lstStyle/>
          <a:p>
            <a:pPr algn="ctr"/>
          </a:p>
        </p:txBody>
      </p:sp>
      <p:pic>
        <p:nvPicPr>
          <p:cNvPr id="21" name="Picture 20" descr="user-check_E58900_256_2.0.png"/>
          <p:cNvPicPr>
            <a:picLocks noChangeAspect="1"/>
          </p:cNvPicPr>
          <p:nvPr/>
        </p:nvPicPr>
        <p:blipFill>
          <a:blip r:embed="rId5"/>
          <a:stretch>
            <a:fillRect/>
          </a:stretch>
        </p:blipFill>
        <p:spPr>
          <a:xfrm>
            <a:off x="654710" y="4888382"/>
            <a:ext cx="190195" cy="190195"/>
          </a:xfrm>
          <a:prstGeom prst="rect">
            <a:avLst/>
          </a:prstGeom>
        </p:spPr>
      </p:pic>
      <p:sp>
        <p:nvSpPr>
          <p:cNvPr id="22" name="TextBox 21"/>
          <p:cNvSpPr txBox="1"/>
          <p:nvPr/>
        </p:nvSpPr>
        <p:spPr>
          <a:xfrm>
            <a:off x="1097280" y="47823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Embedded presence</a:t>
            </a:r>
          </a:p>
        </p:txBody>
      </p:sp>
      <p:sp>
        <p:nvSpPr>
          <p:cNvPr id="23" name="TextBox 22"/>
          <p:cNvSpPr txBox="1"/>
          <p:nvPr/>
        </p:nvSpPr>
        <p:spPr>
          <a:xfrm>
            <a:off x="3566160" y="478231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A research fellow sits with Gurugram district offices — implementation support, not external commentary.</a:t>
            </a:r>
          </a:p>
        </p:txBody>
      </p:sp>
      <p:pic>
        <p:nvPicPr>
          <p:cNvPr id="24" name="Picture 23" descr="ph_helpdesk_camp.jpg_4.20x2.20.jpg"/>
          <p:cNvPicPr>
            <a:picLocks noChangeAspect="1"/>
          </p:cNvPicPr>
          <p:nvPr/>
        </p:nvPicPr>
        <p:blipFill>
          <a:blip r:embed="rId6"/>
          <a:stretch>
            <a:fillRect/>
          </a:stretch>
        </p:blipFill>
        <p:spPr>
          <a:xfrm>
            <a:off x="7772400" y="2011680"/>
            <a:ext cx="3840480" cy="2011680"/>
          </a:xfrm>
          <a:prstGeom prst="rect">
            <a:avLst/>
          </a:prstGeom>
        </p:spPr>
      </p:pic>
      <p:sp>
        <p:nvSpPr>
          <p:cNvPr id="25" name="Rectangle 24"/>
          <p:cNvSpPr/>
          <p:nvPr/>
        </p:nvSpPr>
        <p:spPr>
          <a:xfrm>
            <a:off x="7772400" y="2011680"/>
            <a:ext cx="3840480" cy="2011680"/>
          </a:xfrm>
          <a:prstGeom prst="rect">
            <a:avLst/>
          </a:prstGeom>
          <a:noFill/>
          <a:ln w="12700">
            <a:solidFill>
              <a:srgbClr val="E8E9EE"/>
            </a:solidFill>
          </a:ln>
          <a:effectLst/>
        </p:spPr>
        <p:txBody>
          <a:bodyPr rtlCol="0" anchor="ctr"/>
          <a:lstStyle/>
          <a:p>
            <a:pPr algn="ctr"/>
          </a:p>
        </p:txBody>
      </p:sp>
      <p:sp>
        <p:nvSpPr>
          <p:cNvPr id="26" name="TextBox 25"/>
          <p:cNvSpPr txBox="1"/>
          <p:nvPr/>
        </p:nvSpPr>
        <p:spPr>
          <a:xfrm>
            <a:off x="7772400" y="4069080"/>
            <a:ext cx="38404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Legal-rights helpdesk with district administration, Jan 2026.</a:t>
            </a:r>
          </a:p>
        </p:txBody>
      </p:sp>
      <p:pic>
        <p:nvPicPr>
          <p:cNvPr id="27" name="Picture 26" descr="ph_law_students.jpg_4.20x1.60.jpg"/>
          <p:cNvPicPr>
            <a:picLocks noChangeAspect="1"/>
          </p:cNvPicPr>
          <p:nvPr/>
        </p:nvPicPr>
        <p:blipFill>
          <a:blip r:embed="rId7"/>
          <a:stretch>
            <a:fillRect/>
          </a:stretch>
        </p:blipFill>
        <p:spPr>
          <a:xfrm>
            <a:off x="7772400" y="4526280"/>
            <a:ext cx="3840480" cy="1463040"/>
          </a:xfrm>
          <a:prstGeom prst="rect">
            <a:avLst/>
          </a:prstGeom>
        </p:spPr>
      </p:pic>
      <p:sp>
        <p:nvSpPr>
          <p:cNvPr id="28" name="Rectangle 27"/>
          <p:cNvSpPr/>
          <p:nvPr/>
        </p:nvSpPr>
        <p:spPr>
          <a:xfrm>
            <a:off x="7772400" y="4526280"/>
            <a:ext cx="3840480" cy="1463040"/>
          </a:xfrm>
          <a:prstGeom prst="rect">
            <a:avLst/>
          </a:prstGeom>
          <a:noFill/>
          <a:ln w="12700">
            <a:solidFill>
              <a:srgbClr val="E8E9EE"/>
            </a:solidFill>
          </a:ln>
          <a:effectLst/>
        </p:spPr>
        <p:txBody>
          <a:bodyPr rtlCol="0" anchor="ctr"/>
          <a:lstStyle/>
          <a:p>
            <a:pPr algn="ctr"/>
          </a:p>
        </p:txBody>
      </p:sp>
      <p:sp>
        <p:nvSpPr>
          <p:cNvPr id="29" name="TextBox 28"/>
          <p:cNvSpPr txBox="1"/>
          <p:nvPr/>
        </p:nvSpPr>
        <p:spPr>
          <a:xfrm>
            <a:off x="7772400" y="6035040"/>
            <a:ext cx="38404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Law-student volunteers after a hospital helpdesk drive.</a:t>
            </a:r>
          </a:p>
        </p:txBody>
      </p:sp>
      <p:cxnSp>
        <p:nvCxnSpPr>
          <p:cNvPr id="30" name="Connector 29"/>
          <p:cNvCxnSpPr/>
          <p:nvPr/>
        </p:nvCxnSpPr>
        <p:spPr>
          <a:xfrm>
            <a:off x="566928" y="6455664"/>
            <a:ext cx="11057839" cy="0"/>
          </a:xfrm>
          <a:prstGeom prst="line">
            <a:avLst/>
          </a:prstGeom>
          <a:ln w="9525">
            <a:solidFill>
              <a:srgbClr val="E8E9EE"/>
            </a:solidFill>
          </a:ln>
          <a:effectLst/>
        </p:spPr>
      </p:cxnSp>
      <p:sp>
        <p:nvSpPr>
          <p:cNvPr id="31" name="TextBox 30"/>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2" name="TextBox 31"/>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15 / 23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 STATE ENGAGEMENT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With Rajasthan: from ground mapping to </a:t>
            </a:r>
            <a:r>
              <a:rPr sz="2250" b="1" i="0">
                <a:solidFill>
                  <a:srgbClr val="4A35FF"/>
                </a:solidFill>
                <a:latin typeface="Montserrat"/>
              </a:rPr>
              <a:t>a working template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Supporting the State Road Safety Lead Agency and Transport Department on the Hit-and-Run Compensation Scheme.</a:t>
            </a:r>
          </a:p>
        </p:txBody>
      </p:sp>
      <p:sp>
        <p:nvSpPr>
          <p:cNvPr id="8" name="Rounded Rectangle 7"/>
          <p:cNvSpPr/>
          <p:nvPr/>
        </p:nvSpPr>
        <p:spPr>
          <a:xfrm>
            <a:off x="566928" y="2057400"/>
            <a:ext cx="3291840" cy="1737360"/>
          </a:xfrm>
          <a:prstGeom prst="roundRect">
            <a:avLst>
              <a:gd name="adj" fmla="val 8000"/>
            </a:avLst>
          </a:prstGeom>
          <a:solidFill>
            <a:srgbClr val="F7F7FA"/>
          </a:solidFill>
          <a:ln>
            <a:noFill/>
          </a:ln>
          <a:effectLst/>
        </p:spPr>
        <p:txBody>
          <a:bodyPr rtlCol="0" anchor="ctr"/>
          <a:lstStyle/>
          <a:p>
            <a:pPr algn="ctr"/>
          </a:p>
        </p:txBody>
      </p:sp>
      <p:sp>
        <p:nvSpPr>
          <p:cNvPr id="9" name="TextBox 8"/>
          <p:cNvSpPr txBox="1"/>
          <p:nvPr/>
        </p:nvSpPr>
        <p:spPr>
          <a:xfrm>
            <a:off x="749808" y="2240280"/>
            <a:ext cx="2926080" cy="640080"/>
          </a:xfrm>
          <a:prstGeom prst="rect">
            <a:avLst/>
          </a:prstGeom>
          <a:noFill/>
        </p:spPr>
        <p:txBody>
          <a:bodyPr wrap="square" lIns="0" rIns="0" tIns="0" bIns="0" anchor="t">
            <a:spAutoFit/>
          </a:bodyPr>
          <a:lstStyle/>
          <a:p>
            <a:pPr algn="l">
              <a:lnSpc>
                <a:spcPct val="128000"/>
              </a:lnSpc>
            </a:pPr>
            <a:r>
              <a:rPr sz="3600" b="1" i="0">
                <a:solidFill>
                  <a:srgbClr val="4A35FF"/>
                </a:solidFill>
                <a:latin typeface="Montserrat"/>
              </a:rPr>
              <a:t>~180</a:t>
            </a:r>
          </a:p>
        </p:txBody>
      </p:sp>
      <p:sp>
        <p:nvSpPr>
          <p:cNvPr id="10" name="TextBox 9"/>
          <p:cNvSpPr txBox="1"/>
          <p:nvPr/>
        </p:nvSpPr>
        <p:spPr>
          <a:xfrm>
            <a:off x="749808" y="2926080"/>
            <a:ext cx="2926080" cy="36576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of ~</a:t>
            </a:r>
            <a:r>
              <a:rPr sz="1000" b="1" i="0">
                <a:solidFill>
                  <a:srgbClr val="16181D"/>
                </a:solidFill>
                <a:latin typeface="Geist"/>
              </a:rPr>
              <a:t>395</a:t>
            </a:r>
            <a:r>
              <a:rPr sz="1000" b="0" i="0">
                <a:solidFill>
                  <a:srgbClr val="6E7180"/>
                </a:solidFill>
                <a:latin typeface="Geist"/>
              </a:rPr>
              <a:t> monthly hit-and-run claims in Rajasthan come from Jaipur alone (~46%)</a:t>
            </a:r>
          </a:p>
        </p:txBody>
      </p:sp>
      <p:sp>
        <p:nvSpPr>
          <p:cNvPr id="11" name="TextBox 10"/>
          <p:cNvSpPr txBox="1"/>
          <p:nvPr/>
        </p:nvSpPr>
        <p:spPr>
          <a:xfrm>
            <a:off x="749808" y="3246120"/>
            <a:ext cx="2926080" cy="457200"/>
          </a:xfrm>
          <a:prstGeom prst="rect">
            <a:avLst/>
          </a:prstGeom>
          <a:noFill/>
        </p:spPr>
        <p:txBody>
          <a:bodyPr wrap="square" lIns="0" rIns="0" tIns="0" bIns="0" anchor="t">
            <a:spAutoFit/>
          </a:bodyPr>
          <a:lstStyle/>
          <a:p>
            <a:pPr algn="l">
              <a:lnSpc>
                <a:spcPct val="128000"/>
              </a:lnSpc>
            </a:pPr>
            <a:r>
              <a:rPr sz="900" b="0" i="0">
                <a:solidFill>
                  <a:srgbClr val="16181D"/>
                </a:solidFill>
                <a:latin typeface="Geist"/>
              </a:rPr>
              <a:t/>
            </a:r>
          </a:p>
        </p:txBody>
      </p:sp>
      <p:sp>
        <p:nvSpPr>
          <p:cNvPr id="12" name="TextBox 11"/>
          <p:cNvSpPr txBox="1"/>
          <p:nvPr/>
        </p:nvSpPr>
        <p:spPr>
          <a:xfrm>
            <a:off x="566928" y="4023360"/>
            <a:ext cx="3291840" cy="914400"/>
          </a:xfrm>
          <a:prstGeom prst="rect">
            <a:avLst/>
          </a:prstGeom>
          <a:noFill/>
        </p:spPr>
        <p:txBody>
          <a:bodyPr wrap="square" lIns="0" rIns="0" tIns="0" bIns="0" anchor="t">
            <a:spAutoFit/>
          </a:bodyPr>
          <a:lstStyle/>
          <a:p>
            <a:pPr algn="l">
              <a:lnSpc>
                <a:spcPct val="130000"/>
              </a:lnSpc>
            </a:pPr>
            <a:r>
              <a:rPr sz="950" b="0" i="0">
                <a:solidFill>
                  <a:srgbClr val="6E7180"/>
                </a:solidFill>
                <a:latin typeface="Geist"/>
              </a:rPr>
              <a:t>Not because crashes happen only there — because Jaipur runs active outreach and a single coordination cell. The template is replicable.</a:t>
            </a:r>
          </a:p>
        </p:txBody>
      </p:sp>
      <p:sp>
        <p:nvSpPr>
          <p:cNvPr id="13" name="Oval 12"/>
          <p:cNvSpPr/>
          <p:nvPr/>
        </p:nvSpPr>
        <p:spPr>
          <a:xfrm>
            <a:off x="4114800" y="2057400"/>
            <a:ext cx="384048" cy="384048"/>
          </a:xfrm>
          <a:prstGeom prst="ellipse">
            <a:avLst/>
          </a:prstGeom>
          <a:solidFill>
            <a:srgbClr val="FDF3E3"/>
          </a:solidFill>
          <a:ln>
            <a:noFill/>
          </a:ln>
          <a:effectLst/>
        </p:spPr>
        <p:txBody>
          <a:bodyPr rtlCol="0" anchor="ctr"/>
          <a:lstStyle/>
          <a:p>
            <a:pPr algn="ctr"/>
          </a:p>
        </p:txBody>
      </p:sp>
      <p:pic>
        <p:nvPicPr>
          <p:cNvPr id="14" name="Picture 13" descr="file-warning_E58900_256_2.0.png"/>
          <p:cNvPicPr>
            <a:picLocks noChangeAspect="1"/>
          </p:cNvPicPr>
          <p:nvPr/>
        </p:nvPicPr>
        <p:blipFill>
          <a:blip r:embed="rId2"/>
          <a:stretch>
            <a:fillRect/>
          </a:stretch>
        </p:blipFill>
        <p:spPr>
          <a:xfrm>
            <a:off x="4206971" y="2149571"/>
            <a:ext cx="199704" cy="199704"/>
          </a:xfrm>
          <a:prstGeom prst="rect">
            <a:avLst/>
          </a:prstGeom>
        </p:spPr>
      </p:pic>
      <p:sp>
        <p:nvSpPr>
          <p:cNvPr id="15" name="TextBox 14"/>
          <p:cNvSpPr txBox="1"/>
          <p:nvPr/>
        </p:nvSpPr>
        <p:spPr>
          <a:xfrm>
            <a:off x="4645152" y="2029968"/>
            <a:ext cx="2286000" cy="548640"/>
          </a:xfrm>
          <a:prstGeom prst="rect">
            <a:avLst/>
          </a:prstGeom>
          <a:noFill/>
        </p:spPr>
        <p:txBody>
          <a:bodyPr wrap="square" lIns="0" rIns="0" tIns="0" bIns="0" anchor="t">
            <a:spAutoFit/>
          </a:bodyPr>
          <a:lstStyle/>
          <a:p>
            <a:pPr algn="l">
              <a:lnSpc>
                <a:spcPct val="110000"/>
              </a:lnSpc>
            </a:pPr>
            <a:r>
              <a:rPr sz="1100" b="1" i="0">
                <a:solidFill>
                  <a:srgbClr val="16181D"/>
                </a:solidFill>
                <a:latin typeface="Montserrat"/>
              </a:rPr>
              <a:t>What holds claims back</a:t>
            </a:r>
          </a:p>
        </p:txBody>
      </p:sp>
      <p:sp>
        <p:nvSpPr>
          <p:cNvPr id="16" name="TextBox 15"/>
          <p:cNvSpPr txBox="1"/>
          <p:nvPr/>
        </p:nvSpPr>
        <p:spPr>
          <a:xfrm>
            <a:off x="6995160" y="2029968"/>
            <a:ext cx="4617720" cy="868680"/>
          </a:xfrm>
          <a:prstGeom prst="rect">
            <a:avLst/>
          </a:prstGeom>
          <a:noFill/>
        </p:spPr>
        <p:txBody>
          <a:bodyPr wrap="square" lIns="0" rIns="0" tIns="0" bIns="0" anchor="t">
            <a:spAutoFit/>
          </a:bodyPr>
          <a:lstStyle/>
          <a:p>
            <a:pPr algn="l">
              <a:lnSpc>
                <a:spcPct val="122000"/>
              </a:lnSpc>
            </a:pPr>
            <a:r>
              <a:rPr sz="950" b="0" i="0">
                <a:solidFill>
                  <a:srgbClr val="6E7180"/>
                </a:solidFill>
                <a:latin typeface="Geist"/>
              </a:rPr>
              <a:t>11–13 documents demanded vs the 7 court-agreed standard · ~50% of files lack a usable family phone number · manual hand-offs between six offices.</a:t>
            </a:r>
          </a:p>
        </p:txBody>
      </p:sp>
      <p:sp>
        <p:nvSpPr>
          <p:cNvPr id="17" name="Oval 16"/>
          <p:cNvSpPr/>
          <p:nvPr/>
        </p:nvSpPr>
        <p:spPr>
          <a:xfrm>
            <a:off x="4114800" y="3026664"/>
            <a:ext cx="384048" cy="384048"/>
          </a:xfrm>
          <a:prstGeom prst="ellipse">
            <a:avLst/>
          </a:prstGeom>
          <a:solidFill>
            <a:srgbClr val="FDEFEC"/>
          </a:solidFill>
          <a:ln>
            <a:noFill/>
          </a:ln>
          <a:effectLst/>
        </p:spPr>
        <p:txBody>
          <a:bodyPr rtlCol="0" anchor="ctr"/>
          <a:lstStyle/>
          <a:p>
            <a:pPr algn="ctr"/>
          </a:p>
        </p:txBody>
      </p:sp>
      <p:pic>
        <p:nvPicPr>
          <p:cNvPr id="18" name="Picture 17" descr="alert-octagon_E11900_256_2.0.png"/>
          <p:cNvPicPr>
            <a:picLocks noChangeAspect="1"/>
          </p:cNvPicPr>
          <p:nvPr/>
        </p:nvPicPr>
        <p:blipFill>
          <a:blip r:embed="rId3"/>
          <a:stretch>
            <a:fillRect/>
          </a:stretch>
        </p:blipFill>
        <p:spPr>
          <a:xfrm>
            <a:off x="4206971" y="3118835"/>
            <a:ext cx="199704" cy="199704"/>
          </a:xfrm>
          <a:prstGeom prst="rect">
            <a:avLst/>
          </a:prstGeom>
        </p:spPr>
      </p:pic>
      <p:sp>
        <p:nvSpPr>
          <p:cNvPr id="19" name="TextBox 18"/>
          <p:cNvSpPr txBox="1"/>
          <p:nvPr/>
        </p:nvSpPr>
        <p:spPr>
          <a:xfrm>
            <a:off x="4645152" y="2999232"/>
            <a:ext cx="2286000" cy="548640"/>
          </a:xfrm>
          <a:prstGeom prst="rect">
            <a:avLst/>
          </a:prstGeom>
          <a:noFill/>
        </p:spPr>
        <p:txBody>
          <a:bodyPr wrap="square" lIns="0" rIns="0" tIns="0" bIns="0" anchor="t">
            <a:spAutoFit/>
          </a:bodyPr>
          <a:lstStyle/>
          <a:p>
            <a:pPr algn="l">
              <a:lnSpc>
                <a:spcPct val="110000"/>
              </a:lnSpc>
            </a:pPr>
            <a:r>
              <a:rPr sz="1100" b="1" i="0">
                <a:solidFill>
                  <a:srgbClr val="16181D"/>
                </a:solidFill>
                <a:latin typeface="Montserrat"/>
              </a:rPr>
              <a:t>The cautionary example</a:t>
            </a:r>
          </a:p>
        </p:txBody>
      </p:sp>
      <p:sp>
        <p:nvSpPr>
          <p:cNvPr id="20" name="TextBox 19"/>
          <p:cNvSpPr txBox="1"/>
          <p:nvPr/>
        </p:nvSpPr>
        <p:spPr>
          <a:xfrm>
            <a:off x="6995160" y="2999232"/>
            <a:ext cx="4617720" cy="868680"/>
          </a:xfrm>
          <a:prstGeom prst="rect">
            <a:avLst/>
          </a:prstGeom>
          <a:noFill/>
        </p:spPr>
        <p:txBody>
          <a:bodyPr wrap="square" lIns="0" rIns="0" tIns="0" bIns="0" anchor="t">
            <a:spAutoFit/>
          </a:bodyPr>
          <a:lstStyle/>
          <a:p>
            <a:pPr algn="l">
              <a:lnSpc>
                <a:spcPct val="122000"/>
              </a:lnSpc>
            </a:pPr>
            <a:r>
              <a:rPr sz="950" b="0" i="0">
                <a:solidFill>
                  <a:srgbClr val="6E7180"/>
                </a:solidFill>
                <a:latin typeface="Geist"/>
              </a:rPr>
              <a:t>A state portal that changed how offices work saw monthly requests fall 350 → 25. Our design rule: no stakeholder changes their medium.</a:t>
            </a:r>
          </a:p>
        </p:txBody>
      </p:sp>
      <p:sp>
        <p:nvSpPr>
          <p:cNvPr id="21" name="Oval 20"/>
          <p:cNvSpPr/>
          <p:nvPr/>
        </p:nvSpPr>
        <p:spPr>
          <a:xfrm>
            <a:off x="4114800" y="3995928"/>
            <a:ext cx="384048" cy="384048"/>
          </a:xfrm>
          <a:prstGeom prst="ellipse">
            <a:avLst/>
          </a:prstGeom>
          <a:solidFill>
            <a:srgbClr val="EFEDFF"/>
          </a:solidFill>
          <a:ln>
            <a:noFill/>
          </a:ln>
          <a:effectLst/>
        </p:spPr>
        <p:txBody>
          <a:bodyPr rtlCol="0" anchor="ctr"/>
          <a:lstStyle/>
          <a:p>
            <a:pPr algn="ctr"/>
          </a:p>
        </p:txBody>
      </p:sp>
      <p:pic>
        <p:nvPicPr>
          <p:cNvPr id="22" name="Picture 21" descr="list-checks_4A35FF_256_2.0.png"/>
          <p:cNvPicPr>
            <a:picLocks noChangeAspect="1"/>
          </p:cNvPicPr>
          <p:nvPr/>
        </p:nvPicPr>
        <p:blipFill>
          <a:blip r:embed="rId4"/>
          <a:stretch>
            <a:fillRect/>
          </a:stretch>
        </p:blipFill>
        <p:spPr>
          <a:xfrm>
            <a:off x="4206971" y="4088099"/>
            <a:ext cx="199704" cy="199704"/>
          </a:xfrm>
          <a:prstGeom prst="rect">
            <a:avLst/>
          </a:prstGeom>
        </p:spPr>
      </p:pic>
      <p:sp>
        <p:nvSpPr>
          <p:cNvPr id="23" name="TextBox 22"/>
          <p:cNvSpPr txBox="1"/>
          <p:nvPr/>
        </p:nvSpPr>
        <p:spPr>
          <a:xfrm>
            <a:off x="4645152" y="3968496"/>
            <a:ext cx="2286000" cy="548640"/>
          </a:xfrm>
          <a:prstGeom prst="rect">
            <a:avLst/>
          </a:prstGeom>
          <a:noFill/>
        </p:spPr>
        <p:txBody>
          <a:bodyPr wrap="square" lIns="0" rIns="0" tIns="0" bIns="0" anchor="t">
            <a:spAutoFit/>
          </a:bodyPr>
          <a:lstStyle/>
          <a:p>
            <a:pPr algn="l">
              <a:lnSpc>
                <a:spcPct val="110000"/>
              </a:lnSpc>
            </a:pPr>
            <a:r>
              <a:rPr sz="1100" b="1" i="0">
                <a:solidFill>
                  <a:srgbClr val="16181D"/>
                </a:solidFill>
                <a:latin typeface="Montserrat"/>
              </a:rPr>
              <a:t>Five GIC queries drafted</a:t>
            </a:r>
          </a:p>
        </p:txBody>
      </p:sp>
      <p:sp>
        <p:nvSpPr>
          <p:cNvPr id="24" name="TextBox 23"/>
          <p:cNvSpPr txBox="1"/>
          <p:nvPr/>
        </p:nvSpPr>
        <p:spPr>
          <a:xfrm>
            <a:off x="6995160" y="3968496"/>
            <a:ext cx="4617720" cy="868680"/>
          </a:xfrm>
          <a:prstGeom prst="rect">
            <a:avLst/>
          </a:prstGeom>
          <a:noFill/>
        </p:spPr>
        <p:txBody>
          <a:bodyPr wrap="square" lIns="0" rIns="0" tIns="0" bIns="0" anchor="t">
            <a:spAutoFit/>
          </a:bodyPr>
          <a:lstStyle/>
          <a:p>
            <a:pPr algn="l">
              <a:lnSpc>
                <a:spcPct val="122000"/>
              </a:lnSpc>
            </a:pPr>
            <a:r>
              <a:rPr sz="950" b="0" i="0">
                <a:solidFill>
                  <a:srgbClr val="6E7180"/>
                </a:solidFill>
                <a:latin typeface="Geist"/>
              </a:rPr>
              <a:t>Clarification questions ready for the insurer consortium — a joint ask from the Department lands harder.</a:t>
            </a:r>
          </a:p>
        </p:txBody>
      </p:sp>
      <p:sp>
        <p:nvSpPr>
          <p:cNvPr id="25" name="Oval 24"/>
          <p:cNvSpPr/>
          <p:nvPr/>
        </p:nvSpPr>
        <p:spPr>
          <a:xfrm>
            <a:off x="4114800" y="4965192"/>
            <a:ext cx="384048" cy="384048"/>
          </a:xfrm>
          <a:prstGeom prst="ellipse">
            <a:avLst/>
          </a:prstGeom>
          <a:solidFill>
            <a:srgbClr val="E9F7F0"/>
          </a:solidFill>
          <a:ln>
            <a:noFill/>
          </a:ln>
          <a:effectLst/>
        </p:spPr>
        <p:txBody>
          <a:bodyPr rtlCol="0" anchor="ctr"/>
          <a:lstStyle/>
          <a:p>
            <a:pPr algn="ctr"/>
          </a:p>
        </p:txBody>
      </p:sp>
      <p:pic>
        <p:nvPicPr>
          <p:cNvPr id="26" name="Picture 25" descr="rocket_0A9955_256_2.0.png"/>
          <p:cNvPicPr>
            <a:picLocks noChangeAspect="1"/>
          </p:cNvPicPr>
          <p:nvPr/>
        </p:nvPicPr>
        <p:blipFill>
          <a:blip r:embed="rId5"/>
          <a:stretch>
            <a:fillRect/>
          </a:stretch>
        </p:blipFill>
        <p:spPr>
          <a:xfrm>
            <a:off x="4206971" y="5057363"/>
            <a:ext cx="199704" cy="199704"/>
          </a:xfrm>
          <a:prstGeom prst="rect">
            <a:avLst/>
          </a:prstGeom>
        </p:spPr>
      </p:pic>
      <p:sp>
        <p:nvSpPr>
          <p:cNvPr id="27" name="TextBox 26"/>
          <p:cNvSpPr txBox="1"/>
          <p:nvPr/>
        </p:nvSpPr>
        <p:spPr>
          <a:xfrm>
            <a:off x="4645152" y="4937760"/>
            <a:ext cx="2286000" cy="548640"/>
          </a:xfrm>
          <a:prstGeom prst="rect">
            <a:avLst/>
          </a:prstGeom>
          <a:noFill/>
        </p:spPr>
        <p:txBody>
          <a:bodyPr wrap="square" lIns="0" rIns="0" tIns="0" bIns="0" anchor="t">
            <a:spAutoFit/>
          </a:bodyPr>
          <a:lstStyle/>
          <a:p>
            <a:pPr algn="l">
              <a:lnSpc>
                <a:spcPct val="110000"/>
              </a:lnSpc>
            </a:pPr>
            <a:r>
              <a:rPr sz="1100" b="1" i="0">
                <a:solidFill>
                  <a:srgbClr val="16181D"/>
                </a:solidFill>
                <a:latin typeface="Montserrat"/>
              </a:rPr>
              <a:t>Six asks → 60 days</a:t>
            </a:r>
          </a:p>
        </p:txBody>
      </p:sp>
      <p:sp>
        <p:nvSpPr>
          <p:cNvPr id="28" name="TextBox 27"/>
          <p:cNvSpPr txBox="1"/>
          <p:nvPr/>
        </p:nvSpPr>
        <p:spPr>
          <a:xfrm>
            <a:off x="6995160" y="4937760"/>
            <a:ext cx="4617720" cy="868680"/>
          </a:xfrm>
          <a:prstGeom prst="rect">
            <a:avLst/>
          </a:prstGeom>
          <a:noFill/>
        </p:spPr>
        <p:txBody>
          <a:bodyPr wrap="square" lIns="0" rIns="0" tIns="0" bIns="0" anchor="t">
            <a:spAutoFit/>
          </a:bodyPr>
          <a:lstStyle/>
          <a:p>
            <a:pPr algn="l">
              <a:lnSpc>
                <a:spcPct val="122000"/>
              </a:lnSpc>
            </a:pPr>
            <a:r>
              <a:rPr sz="950" b="0" i="0">
                <a:solidFill>
                  <a:srgbClr val="6E7180"/>
                </a:solidFill>
                <a:latin typeface="Geist"/>
              </a:rPr>
              <a:t>Decisions identified with the Department that put Phase 1 (family traceability) in motion within 60 days.</a:t>
            </a: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16 / 23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 THE PORTAL CONCEPT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Designed so </a:t>
            </a:r>
            <a:r>
              <a:rPr sz="2250" b="1" i="0">
                <a:solidFill>
                  <a:srgbClr val="4A35FF"/>
                </a:solidFill>
                <a:latin typeface="Montserrat"/>
              </a:rPr>
              <a:t>no stakeholder changes how they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Families stay on WhatsApp; officers keep their queues and sign-offs; the system connects them behind the scenes.</a:t>
            </a:r>
          </a:p>
        </p:txBody>
      </p:sp>
      <p:pic>
        <p:nvPicPr>
          <p:cNvPr id="8" name="Picture 7" descr="wa_phone1.png"/>
          <p:cNvPicPr>
            <a:picLocks noChangeAspect="1"/>
          </p:cNvPicPr>
          <p:nvPr/>
        </p:nvPicPr>
        <p:blipFill>
          <a:blip r:embed="rId2"/>
          <a:stretch>
            <a:fillRect/>
          </a:stretch>
        </p:blipFill>
        <p:spPr>
          <a:xfrm>
            <a:off x="566928" y="2011680"/>
            <a:ext cx="1325880" cy="1964267"/>
          </a:xfrm>
          <a:prstGeom prst="rect">
            <a:avLst/>
          </a:prstGeom>
        </p:spPr>
      </p:pic>
      <p:pic>
        <p:nvPicPr>
          <p:cNvPr id="9" name="Picture 8" descr="wa_phone2.png"/>
          <p:cNvPicPr>
            <a:picLocks noChangeAspect="1"/>
          </p:cNvPicPr>
          <p:nvPr/>
        </p:nvPicPr>
        <p:blipFill>
          <a:blip r:embed="rId3"/>
          <a:stretch>
            <a:fillRect/>
          </a:stretch>
        </p:blipFill>
        <p:spPr>
          <a:xfrm>
            <a:off x="1984248" y="2011680"/>
            <a:ext cx="1325880" cy="1964267"/>
          </a:xfrm>
          <a:prstGeom prst="rect">
            <a:avLst/>
          </a:prstGeom>
        </p:spPr>
      </p:pic>
      <p:pic>
        <p:nvPicPr>
          <p:cNvPr id="10" name="Picture 9" descr="wa_phone3.png"/>
          <p:cNvPicPr>
            <a:picLocks noChangeAspect="1"/>
          </p:cNvPicPr>
          <p:nvPr/>
        </p:nvPicPr>
        <p:blipFill>
          <a:blip r:embed="rId4"/>
          <a:stretch>
            <a:fillRect/>
          </a:stretch>
        </p:blipFill>
        <p:spPr>
          <a:xfrm>
            <a:off x="3401568" y="2011680"/>
            <a:ext cx="1325880" cy="1964267"/>
          </a:xfrm>
          <a:prstGeom prst="rect">
            <a:avLst/>
          </a:prstGeom>
        </p:spPr>
      </p:pic>
      <p:sp>
        <p:nvSpPr>
          <p:cNvPr id="11" name="TextBox 10"/>
          <p:cNvSpPr txBox="1"/>
          <p:nvPr/>
        </p:nvSpPr>
        <p:spPr>
          <a:xfrm>
            <a:off x="566928" y="4069080"/>
            <a:ext cx="4206240" cy="457200"/>
          </a:xfrm>
          <a:prstGeom prst="rect">
            <a:avLst/>
          </a:prstGeom>
          <a:noFill/>
        </p:spPr>
        <p:txBody>
          <a:bodyPr wrap="square" lIns="0" rIns="0" tIns="0" bIns="0" anchor="t">
            <a:spAutoFit/>
          </a:bodyPr>
          <a:lstStyle/>
          <a:p>
            <a:pPr algn="l">
              <a:lnSpc>
                <a:spcPct val="125000"/>
              </a:lnSpc>
            </a:pPr>
            <a:r>
              <a:rPr sz="900" b="0" i="0">
                <a:solidFill>
                  <a:srgbClr val="6E7180"/>
                </a:solidFill>
                <a:latin typeface="Geist"/>
              </a:rPr>
              <a:t>The family flow — day-one intake, document capture, live status. All inside WhatsApp, in Hindi.</a:t>
            </a:r>
          </a:p>
        </p:txBody>
      </p:sp>
      <p:pic>
        <p:nvPicPr>
          <p:cNvPr id="12" name="Picture 11" descr="queue_ui.png"/>
          <p:cNvPicPr>
            <a:picLocks noChangeAspect="1"/>
          </p:cNvPicPr>
          <p:nvPr/>
        </p:nvPicPr>
        <p:blipFill>
          <a:blip r:embed="rId5"/>
          <a:stretch>
            <a:fillRect/>
          </a:stretch>
        </p:blipFill>
        <p:spPr>
          <a:xfrm>
            <a:off x="5074920" y="2011680"/>
            <a:ext cx="6537960" cy="2406611"/>
          </a:xfrm>
          <a:prstGeom prst="rect">
            <a:avLst/>
          </a:prstGeom>
        </p:spPr>
      </p:pic>
      <p:sp>
        <p:nvSpPr>
          <p:cNvPr id="13" name="Rectangle 12"/>
          <p:cNvSpPr/>
          <p:nvPr/>
        </p:nvSpPr>
        <p:spPr>
          <a:xfrm>
            <a:off x="5074920" y="2011680"/>
            <a:ext cx="6537960" cy="2406611"/>
          </a:xfrm>
          <a:prstGeom prst="rect">
            <a:avLst/>
          </a:prstGeom>
          <a:noFill/>
          <a:ln w="12700">
            <a:solidFill>
              <a:srgbClr val="E8E9EE"/>
            </a:solidFill>
          </a:ln>
          <a:effectLst/>
        </p:spPr>
        <p:txBody>
          <a:bodyPr rtlCol="0" anchor="ctr"/>
          <a:lstStyle/>
          <a:p>
            <a:pPr algn="ctr"/>
          </a:p>
        </p:txBody>
      </p:sp>
      <p:sp>
        <p:nvSpPr>
          <p:cNvPr id="14" name="TextBox 13"/>
          <p:cNvSpPr txBox="1"/>
          <p:nvPr/>
        </p:nvSpPr>
        <p:spPr>
          <a:xfrm>
            <a:off x="5074920" y="4464011"/>
            <a:ext cx="653796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Officer view — same cases, filtered to what each desk owns; AI pre-checks flag issues, the decision stays human.</a:t>
            </a:r>
          </a:p>
        </p:txBody>
      </p:sp>
      <p:sp>
        <p:nvSpPr>
          <p:cNvPr id="15" name="Rounded Rectangle 14"/>
          <p:cNvSpPr/>
          <p:nvPr/>
        </p:nvSpPr>
        <p:spPr>
          <a:xfrm>
            <a:off x="566928" y="5349240"/>
            <a:ext cx="2157984" cy="420624"/>
          </a:xfrm>
          <a:prstGeom prst="roundRect">
            <a:avLst>
              <a:gd name="adj" fmla="val 50000"/>
            </a:avLst>
          </a:prstGeom>
          <a:solidFill>
            <a:srgbClr val="EFEDFF"/>
          </a:solidFill>
          <a:ln>
            <a:noFill/>
          </a:ln>
          <a:effectLst/>
        </p:spPr>
        <p:txBody>
          <a:bodyPr rtlCol="0" anchor="ctr"/>
          <a:lstStyle/>
          <a:p>
            <a:pPr algn="ctr"/>
          </a:p>
        </p:txBody>
      </p:sp>
      <p:sp>
        <p:nvSpPr>
          <p:cNvPr id="16" name="TextBox 15"/>
          <p:cNvSpPr txBox="1"/>
          <p:nvPr/>
        </p:nvSpPr>
        <p:spPr>
          <a:xfrm>
            <a:off x="585216" y="5349240"/>
            <a:ext cx="2121408" cy="420624"/>
          </a:xfrm>
          <a:prstGeom prst="rect">
            <a:avLst/>
          </a:prstGeom>
          <a:noFill/>
        </p:spPr>
        <p:txBody>
          <a:bodyPr wrap="square" lIns="0" rIns="0" tIns="0" bIns="0" anchor="ctr">
            <a:spAutoFit/>
          </a:bodyPr>
          <a:lstStyle/>
          <a:p>
            <a:pPr algn="ctr">
              <a:lnSpc>
                <a:spcPct val="100000"/>
              </a:lnSpc>
            </a:pPr>
            <a:r>
              <a:rPr sz="900" b="1" i="0">
                <a:solidFill>
                  <a:srgbClr val="4A35FF"/>
                </a:solidFill>
                <a:latin typeface="Montserrat"/>
              </a:rPr>
              <a:t>Family keeps WhatsApp</a:t>
            </a:r>
          </a:p>
        </p:txBody>
      </p:sp>
      <p:sp>
        <p:nvSpPr>
          <p:cNvPr id="17" name="Rounded Rectangle 16"/>
          <p:cNvSpPr/>
          <p:nvPr/>
        </p:nvSpPr>
        <p:spPr>
          <a:xfrm>
            <a:off x="2816352" y="5349240"/>
            <a:ext cx="2157984" cy="420624"/>
          </a:xfrm>
          <a:prstGeom prst="roundRect">
            <a:avLst>
              <a:gd name="adj" fmla="val 50000"/>
            </a:avLst>
          </a:prstGeom>
          <a:solidFill>
            <a:srgbClr val="EFEDFF"/>
          </a:solidFill>
          <a:ln>
            <a:noFill/>
          </a:ln>
          <a:effectLst/>
        </p:spPr>
        <p:txBody>
          <a:bodyPr rtlCol="0" anchor="ctr"/>
          <a:lstStyle/>
          <a:p>
            <a:pPr algn="ctr"/>
          </a:p>
        </p:txBody>
      </p:sp>
      <p:sp>
        <p:nvSpPr>
          <p:cNvPr id="18" name="TextBox 17"/>
          <p:cNvSpPr txBox="1"/>
          <p:nvPr/>
        </p:nvSpPr>
        <p:spPr>
          <a:xfrm>
            <a:off x="2834640" y="5349240"/>
            <a:ext cx="2121408" cy="420624"/>
          </a:xfrm>
          <a:prstGeom prst="rect">
            <a:avLst/>
          </a:prstGeom>
          <a:noFill/>
        </p:spPr>
        <p:txBody>
          <a:bodyPr wrap="square" lIns="0" rIns="0" tIns="0" bIns="0" anchor="ctr">
            <a:spAutoFit/>
          </a:bodyPr>
          <a:lstStyle/>
          <a:p>
            <a:pPr algn="ctr">
              <a:lnSpc>
                <a:spcPct val="100000"/>
              </a:lnSpc>
            </a:pPr>
            <a:r>
              <a:rPr sz="900" b="1" i="0">
                <a:solidFill>
                  <a:srgbClr val="4A35FF"/>
                </a:solidFill>
                <a:latin typeface="Montserrat"/>
              </a:rPr>
              <a:t>Officer keeps every decision</a:t>
            </a:r>
          </a:p>
        </p:txBody>
      </p:sp>
      <p:sp>
        <p:nvSpPr>
          <p:cNvPr id="19" name="Rounded Rectangle 18"/>
          <p:cNvSpPr/>
          <p:nvPr/>
        </p:nvSpPr>
        <p:spPr>
          <a:xfrm>
            <a:off x="5065776" y="5349240"/>
            <a:ext cx="2157984" cy="420624"/>
          </a:xfrm>
          <a:prstGeom prst="roundRect">
            <a:avLst>
              <a:gd name="adj" fmla="val 50000"/>
            </a:avLst>
          </a:prstGeom>
          <a:solidFill>
            <a:srgbClr val="EFEDFF"/>
          </a:solidFill>
          <a:ln>
            <a:noFill/>
          </a:ln>
          <a:effectLst/>
        </p:spPr>
        <p:txBody>
          <a:bodyPr rtlCol="0" anchor="ctr"/>
          <a:lstStyle/>
          <a:p>
            <a:pPr algn="ctr"/>
          </a:p>
        </p:txBody>
      </p:sp>
      <p:sp>
        <p:nvSpPr>
          <p:cNvPr id="20" name="TextBox 19"/>
          <p:cNvSpPr txBox="1"/>
          <p:nvPr/>
        </p:nvSpPr>
        <p:spPr>
          <a:xfrm>
            <a:off x="5084064" y="5349240"/>
            <a:ext cx="2121408" cy="420624"/>
          </a:xfrm>
          <a:prstGeom prst="rect">
            <a:avLst/>
          </a:prstGeom>
          <a:noFill/>
        </p:spPr>
        <p:txBody>
          <a:bodyPr wrap="square" lIns="0" rIns="0" tIns="0" bIns="0" anchor="ctr">
            <a:spAutoFit/>
          </a:bodyPr>
          <a:lstStyle/>
          <a:p>
            <a:pPr algn="ctr">
              <a:lnSpc>
                <a:spcPct val="100000"/>
              </a:lnSpc>
            </a:pPr>
            <a:r>
              <a:rPr sz="900" b="1" i="0">
                <a:solidFill>
                  <a:srgbClr val="4A35FF"/>
                </a:solidFill>
                <a:latin typeface="Montserrat"/>
              </a:rPr>
              <a:t>Traceability before automation</a:t>
            </a:r>
          </a:p>
        </p:txBody>
      </p:sp>
      <p:sp>
        <p:nvSpPr>
          <p:cNvPr id="21" name="Rounded Rectangle 20"/>
          <p:cNvSpPr/>
          <p:nvPr/>
        </p:nvSpPr>
        <p:spPr>
          <a:xfrm>
            <a:off x="7315200" y="5349240"/>
            <a:ext cx="2157984" cy="420624"/>
          </a:xfrm>
          <a:prstGeom prst="roundRect">
            <a:avLst>
              <a:gd name="adj" fmla="val 50000"/>
            </a:avLst>
          </a:prstGeom>
          <a:solidFill>
            <a:srgbClr val="EFEDFF"/>
          </a:solidFill>
          <a:ln>
            <a:noFill/>
          </a:ln>
          <a:effectLst/>
        </p:spPr>
        <p:txBody>
          <a:bodyPr rtlCol="0" anchor="ctr"/>
          <a:lstStyle/>
          <a:p>
            <a:pPr algn="ctr"/>
          </a:p>
        </p:txBody>
      </p:sp>
      <p:sp>
        <p:nvSpPr>
          <p:cNvPr id="22" name="TextBox 21"/>
          <p:cNvSpPr txBox="1"/>
          <p:nvPr/>
        </p:nvSpPr>
        <p:spPr>
          <a:xfrm>
            <a:off x="7333488" y="5349240"/>
            <a:ext cx="2121408" cy="420624"/>
          </a:xfrm>
          <a:prstGeom prst="rect">
            <a:avLst/>
          </a:prstGeom>
          <a:noFill/>
        </p:spPr>
        <p:txBody>
          <a:bodyPr wrap="square" lIns="0" rIns="0" tIns="0" bIns="0" anchor="ctr">
            <a:spAutoFit/>
          </a:bodyPr>
          <a:lstStyle/>
          <a:p>
            <a:pPr algn="ctr">
              <a:lnSpc>
                <a:spcPct val="100000"/>
              </a:lnSpc>
            </a:pPr>
            <a:r>
              <a:rPr sz="900" b="1" i="0">
                <a:solidFill>
                  <a:srgbClr val="4A35FF"/>
                </a:solidFill>
                <a:latin typeface="Montserrat"/>
              </a:rPr>
              <a:t>Single-pass clarification</a:t>
            </a:r>
          </a:p>
        </p:txBody>
      </p:sp>
      <p:sp>
        <p:nvSpPr>
          <p:cNvPr id="23" name="Rounded Rectangle 22"/>
          <p:cNvSpPr/>
          <p:nvPr/>
        </p:nvSpPr>
        <p:spPr>
          <a:xfrm>
            <a:off x="9564624" y="5349240"/>
            <a:ext cx="2157984" cy="420624"/>
          </a:xfrm>
          <a:prstGeom prst="roundRect">
            <a:avLst>
              <a:gd name="adj" fmla="val 50000"/>
            </a:avLst>
          </a:prstGeom>
          <a:solidFill>
            <a:srgbClr val="EFEDFF"/>
          </a:solidFill>
          <a:ln>
            <a:noFill/>
          </a:ln>
          <a:effectLst/>
        </p:spPr>
        <p:txBody>
          <a:bodyPr rtlCol="0" anchor="ctr"/>
          <a:lstStyle/>
          <a:p>
            <a:pPr algn="ctr"/>
          </a:p>
        </p:txBody>
      </p:sp>
      <p:sp>
        <p:nvSpPr>
          <p:cNvPr id="24" name="TextBox 23"/>
          <p:cNvSpPr txBox="1"/>
          <p:nvPr/>
        </p:nvSpPr>
        <p:spPr>
          <a:xfrm>
            <a:off x="9582912" y="5349240"/>
            <a:ext cx="2121408" cy="420624"/>
          </a:xfrm>
          <a:prstGeom prst="rect">
            <a:avLst/>
          </a:prstGeom>
          <a:noFill/>
        </p:spPr>
        <p:txBody>
          <a:bodyPr wrap="square" lIns="0" rIns="0" tIns="0" bIns="0" anchor="ctr">
            <a:spAutoFit/>
          </a:bodyPr>
          <a:lstStyle/>
          <a:p>
            <a:pPr algn="ctr">
              <a:lnSpc>
                <a:spcPct val="100000"/>
              </a:lnSpc>
            </a:pPr>
            <a:r>
              <a:rPr sz="900" b="1" i="0">
                <a:solidFill>
                  <a:srgbClr val="4A35FF"/>
                </a:solidFill>
                <a:latin typeface="Montserrat"/>
              </a:rPr>
              <a:t>Dashboards for administrators</a:t>
            </a:r>
          </a:p>
        </p:txBody>
      </p:sp>
      <p:cxnSp>
        <p:nvCxnSpPr>
          <p:cNvPr id="25" name="Connector 24"/>
          <p:cNvCxnSpPr/>
          <p:nvPr/>
        </p:nvCxnSpPr>
        <p:spPr>
          <a:xfrm>
            <a:off x="566928" y="6455664"/>
            <a:ext cx="11057839" cy="0"/>
          </a:xfrm>
          <a:prstGeom prst="line">
            <a:avLst/>
          </a:prstGeom>
          <a:ln w="9525">
            <a:solidFill>
              <a:srgbClr val="E8E9EE"/>
            </a:solidFill>
          </a:ln>
          <a:effectLst/>
        </p:spPr>
      </p:cxnSp>
      <p:sp>
        <p:nvSpPr>
          <p:cNvPr id="26" name="TextBox 2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27" name="TextBox 2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17 / 23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 STANDARDS, READY TO ADOPT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The claimant-side standards </a:t>
            </a:r>
            <a:r>
              <a:rPr sz="2250" b="1" i="0">
                <a:solidFill>
                  <a:srgbClr val="4A35FF"/>
                </a:solidFill>
                <a:latin typeface="Montserrat"/>
              </a:rPr>
              <a:t>WG-5 could set</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Small, procedural standards — none needing new legislation — each drawn from files we have read and offices we work with.</a:t>
            </a:r>
          </a:p>
        </p:txBody>
      </p:sp>
      <p:sp>
        <p:nvSpPr>
          <p:cNvPr id="8" name="Rounded Rectangle 7"/>
          <p:cNvSpPr/>
          <p:nvPr/>
        </p:nvSpPr>
        <p:spPr>
          <a:xfrm>
            <a:off x="566928" y="2103120"/>
            <a:ext cx="5394960" cy="3566160"/>
          </a:xfrm>
          <a:prstGeom prst="roundRect">
            <a:avLst>
              <a:gd name="adj" fmla="val 8000"/>
            </a:avLst>
          </a:prstGeom>
          <a:solidFill>
            <a:srgbClr val="E9F7F0"/>
          </a:solidFill>
          <a:ln>
            <a:noFill/>
          </a:ln>
          <a:effectLst/>
        </p:spPr>
        <p:txBody>
          <a:bodyPr rtlCol="0" anchor="ctr"/>
          <a:lstStyle/>
          <a:p>
            <a:pPr algn="ctr"/>
          </a:p>
        </p:txBody>
      </p:sp>
      <p:sp>
        <p:nvSpPr>
          <p:cNvPr id="9" name="TextBox 8"/>
          <p:cNvSpPr txBox="1"/>
          <p:nvPr/>
        </p:nvSpPr>
        <p:spPr>
          <a:xfrm>
            <a:off x="795528" y="2240280"/>
            <a:ext cx="4937760" cy="274320"/>
          </a:xfrm>
          <a:prstGeom prst="rect">
            <a:avLst/>
          </a:prstGeom>
          <a:noFill/>
        </p:spPr>
        <p:txBody>
          <a:bodyPr wrap="square" lIns="0" rIns="0" tIns="0" bIns="0" anchor="t">
            <a:spAutoFit/>
          </a:bodyPr>
          <a:lstStyle/>
          <a:p>
            <a:pPr algn="l">
              <a:lnSpc>
                <a:spcPct val="128000"/>
              </a:lnSpc>
            </a:pPr>
            <a:r>
              <a:rPr sz="900" b="1" i="0" spc="120">
                <a:solidFill>
                  <a:srgbClr val="0A9955"/>
                </a:solidFill>
                <a:latin typeface="Montserrat"/>
              </a:rPr>
              <a:t>THE 7-DOCUMENT STANDARD — AS AGREED BEFORE THE SUPREME COURT</a:t>
            </a:r>
          </a:p>
        </p:txBody>
      </p:sp>
      <p:pic>
        <p:nvPicPr>
          <p:cNvPr id="10" name="Picture 9" descr="check_0A9955_256_2.0.png"/>
          <p:cNvPicPr>
            <a:picLocks noChangeAspect="1"/>
          </p:cNvPicPr>
          <p:nvPr/>
        </p:nvPicPr>
        <p:blipFill>
          <a:blip r:embed="rId2"/>
          <a:stretch>
            <a:fillRect/>
          </a:stretch>
        </p:blipFill>
        <p:spPr>
          <a:xfrm>
            <a:off x="822960" y="2697480"/>
            <a:ext cx="219456" cy="219456"/>
          </a:xfrm>
          <a:prstGeom prst="rect">
            <a:avLst/>
          </a:prstGeom>
        </p:spPr>
      </p:pic>
      <p:sp>
        <p:nvSpPr>
          <p:cNvPr id="11" name="TextBox 10"/>
          <p:cNvSpPr txBox="1"/>
          <p:nvPr/>
        </p:nvSpPr>
        <p:spPr>
          <a:xfrm>
            <a:off x="1161288" y="2679192"/>
            <a:ext cx="4663440" cy="320040"/>
          </a:xfrm>
          <a:prstGeom prst="rect">
            <a:avLst/>
          </a:prstGeom>
          <a:noFill/>
        </p:spPr>
        <p:txBody>
          <a:bodyPr wrap="square" lIns="0" rIns="0" tIns="0" bIns="0" anchor="t">
            <a:spAutoFit/>
          </a:bodyPr>
          <a:lstStyle/>
          <a:p>
            <a:pPr algn="l">
              <a:lnSpc>
                <a:spcPct val="110000"/>
              </a:lnSpc>
            </a:pPr>
            <a:r>
              <a:rPr sz="1000" b="0" i="0">
                <a:solidFill>
                  <a:srgbClr val="16181D"/>
                </a:solidFill>
                <a:latin typeface="Geist"/>
              </a:rPr>
              <a:t>Application (Form I &amp; IV)</a:t>
            </a:r>
          </a:p>
        </p:txBody>
      </p:sp>
      <p:pic>
        <p:nvPicPr>
          <p:cNvPr id="12" name="Picture 11" descr="check_0A9955_256_2.0.png"/>
          <p:cNvPicPr>
            <a:picLocks noChangeAspect="1"/>
          </p:cNvPicPr>
          <p:nvPr/>
        </p:nvPicPr>
        <p:blipFill>
          <a:blip r:embed="rId2"/>
          <a:stretch>
            <a:fillRect/>
          </a:stretch>
        </p:blipFill>
        <p:spPr>
          <a:xfrm>
            <a:off x="822960" y="3081528"/>
            <a:ext cx="219456" cy="219456"/>
          </a:xfrm>
          <a:prstGeom prst="rect">
            <a:avLst/>
          </a:prstGeom>
        </p:spPr>
      </p:pic>
      <p:sp>
        <p:nvSpPr>
          <p:cNvPr id="13" name="TextBox 12"/>
          <p:cNvSpPr txBox="1"/>
          <p:nvPr/>
        </p:nvSpPr>
        <p:spPr>
          <a:xfrm>
            <a:off x="1161288" y="3063240"/>
            <a:ext cx="4663440" cy="320040"/>
          </a:xfrm>
          <a:prstGeom prst="rect">
            <a:avLst/>
          </a:prstGeom>
          <a:noFill/>
        </p:spPr>
        <p:txBody>
          <a:bodyPr wrap="square" lIns="0" rIns="0" tIns="0" bIns="0" anchor="t">
            <a:spAutoFit/>
          </a:bodyPr>
          <a:lstStyle/>
          <a:p>
            <a:pPr algn="l">
              <a:lnSpc>
                <a:spcPct val="110000"/>
              </a:lnSpc>
            </a:pPr>
            <a:r>
              <a:rPr sz="1000" b="0" i="0">
                <a:solidFill>
                  <a:srgbClr val="16181D"/>
                </a:solidFill>
                <a:latin typeface="Geist"/>
              </a:rPr>
              <a:t>Copy of FIR / FAR</a:t>
            </a:r>
          </a:p>
        </p:txBody>
      </p:sp>
      <p:pic>
        <p:nvPicPr>
          <p:cNvPr id="14" name="Picture 13" descr="check_0A9955_256_2.0.png"/>
          <p:cNvPicPr>
            <a:picLocks noChangeAspect="1"/>
          </p:cNvPicPr>
          <p:nvPr/>
        </p:nvPicPr>
        <p:blipFill>
          <a:blip r:embed="rId2"/>
          <a:stretch>
            <a:fillRect/>
          </a:stretch>
        </p:blipFill>
        <p:spPr>
          <a:xfrm>
            <a:off x="822960" y="3465576"/>
            <a:ext cx="219456" cy="219456"/>
          </a:xfrm>
          <a:prstGeom prst="rect">
            <a:avLst/>
          </a:prstGeom>
        </p:spPr>
      </p:pic>
      <p:sp>
        <p:nvSpPr>
          <p:cNvPr id="15" name="TextBox 14"/>
          <p:cNvSpPr txBox="1"/>
          <p:nvPr/>
        </p:nvSpPr>
        <p:spPr>
          <a:xfrm>
            <a:off x="1161288" y="3447288"/>
            <a:ext cx="4663440" cy="320040"/>
          </a:xfrm>
          <a:prstGeom prst="rect">
            <a:avLst/>
          </a:prstGeom>
          <a:noFill/>
        </p:spPr>
        <p:txBody>
          <a:bodyPr wrap="square" lIns="0" rIns="0" tIns="0" bIns="0" anchor="t">
            <a:spAutoFit/>
          </a:bodyPr>
          <a:lstStyle/>
          <a:p>
            <a:pPr algn="l">
              <a:lnSpc>
                <a:spcPct val="110000"/>
              </a:lnSpc>
            </a:pPr>
            <a:r>
              <a:rPr sz="1000" b="0" i="0">
                <a:solidFill>
                  <a:srgbClr val="16181D"/>
                </a:solidFill>
                <a:latin typeface="Geist"/>
              </a:rPr>
              <a:t>Post-mortem or injury report</a:t>
            </a:r>
          </a:p>
        </p:txBody>
      </p:sp>
      <p:pic>
        <p:nvPicPr>
          <p:cNvPr id="16" name="Picture 15" descr="check_0A9955_256_2.0.png"/>
          <p:cNvPicPr>
            <a:picLocks noChangeAspect="1"/>
          </p:cNvPicPr>
          <p:nvPr/>
        </p:nvPicPr>
        <p:blipFill>
          <a:blip r:embed="rId2"/>
          <a:stretch>
            <a:fillRect/>
          </a:stretch>
        </p:blipFill>
        <p:spPr>
          <a:xfrm>
            <a:off x="822960" y="3849624"/>
            <a:ext cx="219456" cy="219456"/>
          </a:xfrm>
          <a:prstGeom prst="rect">
            <a:avLst/>
          </a:prstGeom>
        </p:spPr>
      </p:pic>
      <p:sp>
        <p:nvSpPr>
          <p:cNvPr id="17" name="TextBox 16"/>
          <p:cNvSpPr txBox="1"/>
          <p:nvPr/>
        </p:nvSpPr>
        <p:spPr>
          <a:xfrm>
            <a:off x="1161288" y="3831336"/>
            <a:ext cx="4663440" cy="320040"/>
          </a:xfrm>
          <a:prstGeom prst="rect">
            <a:avLst/>
          </a:prstGeom>
          <a:noFill/>
        </p:spPr>
        <p:txBody>
          <a:bodyPr wrap="square" lIns="0" rIns="0" tIns="0" bIns="0" anchor="t">
            <a:spAutoFit/>
          </a:bodyPr>
          <a:lstStyle/>
          <a:p>
            <a:pPr algn="l">
              <a:lnSpc>
                <a:spcPct val="110000"/>
              </a:lnSpc>
            </a:pPr>
            <a:r>
              <a:rPr sz="1000" b="0" i="0">
                <a:solidFill>
                  <a:srgbClr val="16181D"/>
                </a:solidFill>
                <a:latin typeface="Geist"/>
              </a:rPr>
              <a:t>Death certificate (in death cases)</a:t>
            </a:r>
          </a:p>
        </p:txBody>
      </p:sp>
      <p:pic>
        <p:nvPicPr>
          <p:cNvPr id="18" name="Picture 17" descr="check_0A9955_256_2.0.png"/>
          <p:cNvPicPr>
            <a:picLocks noChangeAspect="1"/>
          </p:cNvPicPr>
          <p:nvPr/>
        </p:nvPicPr>
        <p:blipFill>
          <a:blip r:embed="rId2"/>
          <a:stretch>
            <a:fillRect/>
          </a:stretch>
        </p:blipFill>
        <p:spPr>
          <a:xfrm>
            <a:off x="822960" y="4233672"/>
            <a:ext cx="219456" cy="219456"/>
          </a:xfrm>
          <a:prstGeom prst="rect">
            <a:avLst/>
          </a:prstGeom>
        </p:spPr>
      </p:pic>
      <p:sp>
        <p:nvSpPr>
          <p:cNvPr id="19" name="TextBox 18"/>
          <p:cNvSpPr txBox="1"/>
          <p:nvPr/>
        </p:nvSpPr>
        <p:spPr>
          <a:xfrm>
            <a:off x="1161288" y="4215384"/>
            <a:ext cx="4663440" cy="320040"/>
          </a:xfrm>
          <a:prstGeom prst="rect">
            <a:avLst/>
          </a:prstGeom>
          <a:noFill/>
        </p:spPr>
        <p:txBody>
          <a:bodyPr wrap="square" lIns="0" rIns="0" tIns="0" bIns="0" anchor="t">
            <a:spAutoFit/>
          </a:bodyPr>
          <a:lstStyle/>
          <a:p>
            <a:pPr algn="l">
              <a:lnSpc>
                <a:spcPct val="110000"/>
              </a:lnSpc>
            </a:pPr>
            <a:r>
              <a:rPr sz="1000" b="0" i="0">
                <a:solidFill>
                  <a:srgbClr val="16181D"/>
                </a:solidFill>
                <a:latin typeface="Geist"/>
              </a:rPr>
              <a:t>Claimant / victim ID proof</a:t>
            </a:r>
          </a:p>
        </p:txBody>
      </p:sp>
      <p:pic>
        <p:nvPicPr>
          <p:cNvPr id="20" name="Picture 19" descr="check_0A9955_256_2.0.png"/>
          <p:cNvPicPr>
            <a:picLocks noChangeAspect="1"/>
          </p:cNvPicPr>
          <p:nvPr/>
        </p:nvPicPr>
        <p:blipFill>
          <a:blip r:embed="rId2"/>
          <a:stretch>
            <a:fillRect/>
          </a:stretch>
        </p:blipFill>
        <p:spPr>
          <a:xfrm>
            <a:off x="822960" y="4617720"/>
            <a:ext cx="219456" cy="219456"/>
          </a:xfrm>
          <a:prstGeom prst="rect">
            <a:avLst/>
          </a:prstGeom>
        </p:spPr>
      </p:pic>
      <p:sp>
        <p:nvSpPr>
          <p:cNvPr id="21" name="TextBox 20"/>
          <p:cNvSpPr txBox="1"/>
          <p:nvPr/>
        </p:nvSpPr>
        <p:spPr>
          <a:xfrm>
            <a:off x="1161288" y="4599432"/>
            <a:ext cx="4663440" cy="320040"/>
          </a:xfrm>
          <a:prstGeom prst="rect">
            <a:avLst/>
          </a:prstGeom>
          <a:noFill/>
        </p:spPr>
        <p:txBody>
          <a:bodyPr wrap="square" lIns="0" rIns="0" tIns="0" bIns="0" anchor="t">
            <a:spAutoFit/>
          </a:bodyPr>
          <a:lstStyle/>
          <a:p>
            <a:pPr algn="l">
              <a:lnSpc>
                <a:spcPct val="110000"/>
              </a:lnSpc>
            </a:pPr>
            <a:r>
              <a:rPr sz="1000" b="0" i="0">
                <a:solidFill>
                  <a:srgbClr val="16181D"/>
                </a:solidFill>
                <a:latin typeface="Geist"/>
              </a:rPr>
              <a:t>Bank passbook (IFSC visible)</a:t>
            </a:r>
          </a:p>
        </p:txBody>
      </p:sp>
      <p:pic>
        <p:nvPicPr>
          <p:cNvPr id="22" name="Picture 21" descr="check_0A9955_256_2.0.png"/>
          <p:cNvPicPr>
            <a:picLocks noChangeAspect="1"/>
          </p:cNvPicPr>
          <p:nvPr/>
        </p:nvPicPr>
        <p:blipFill>
          <a:blip r:embed="rId2"/>
          <a:stretch>
            <a:fillRect/>
          </a:stretch>
        </p:blipFill>
        <p:spPr>
          <a:xfrm>
            <a:off x="822960" y="5001768"/>
            <a:ext cx="219456" cy="219456"/>
          </a:xfrm>
          <a:prstGeom prst="rect">
            <a:avLst/>
          </a:prstGeom>
        </p:spPr>
      </p:pic>
      <p:sp>
        <p:nvSpPr>
          <p:cNvPr id="23" name="TextBox 22"/>
          <p:cNvSpPr txBox="1"/>
          <p:nvPr/>
        </p:nvSpPr>
        <p:spPr>
          <a:xfrm>
            <a:off x="1161288" y="4983480"/>
            <a:ext cx="4663440" cy="320040"/>
          </a:xfrm>
          <a:prstGeom prst="rect">
            <a:avLst/>
          </a:prstGeom>
          <a:noFill/>
        </p:spPr>
        <p:txBody>
          <a:bodyPr wrap="square" lIns="0" rIns="0" tIns="0" bIns="0" anchor="t">
            <a:spAutoFit/>
          </a:bodyPr>
          <a:lstStyle/>
          <a:p>
            <a:pPr algn="l">
              <a:lnSpc>
                <a:spcPct val="110000"/>
              </a:lnSpc>
            </a:pPr>
            <a:r>
              <a:rPr sz="1000" b="0" i="0">
                <a:solidFill>
                  <a:srgbClr val="16181D"/>
                </a:solidFill>
                <a:latin typeface="Geist"/>
              </a:rPr>
              <a:t>Cashless-treatment amount received</a:t>
            </a:r>
          </a:p>
        </p:txBody>
      </p:sp>
      <p:sp>
        <p:nvSpPr>
          <p:cNvPr id="24" name="Rounded Rectangle 23"/>
          <p:cNvSpPr/>
          <p:nvPr/>
        </p:nvSpPr>
        <p:spPr>
          <a:xfrm>
            <a:off x="6263640" y="2103120"/>
            <a:ext cx="5349240" cy="3566160"/>
          </a:xfrm>
          <a:prstGeom prst="roundRect">
            <a:avLst>
              <a:gd name="adj" fmla="val 8000"/>
            </a:avLst>
          </a:prstGeom>
          <a:solidFill>
            <a:srgbClr val="FDF3E3"/>
          </a:solidFill>
          <a:ln>
            <a:noFill/>
          </a:ln>
          <a:effectLst/>
        </p:spPr>
        <p:txBody>
          <a:bodyPr rtlCol="0" anchor="ctr"/>
          <a:lstStyle/>
          <a:p>
            <a:pPr algn="ctr"/>
          </a:p>
        </p:txBody>
      </p:sp>
      <p:sp>
        <p:nvSpPr>
          <p:cNvPr id="25" name="TextBox 24"/>
          <p:cNvSpPr txBox="1"/>
          <p:nvPr/>
        </p:nvSpPr>
        <p:spPr>
          <a:xfrm>
            <a:off x="6492240" y="2240280"/>
            <a:ext cx="4937760" cy="274320"/>
          </a:xfrm>
          <a:prstGeom prst="rect">
            <a:avLst/>
          </a:prstGeom>
          <a:noFill/>
        </p:spPr>
        <p:txBody>
          <a:bodyPr wrap="square" lIns="0" rIns="0" tIns="0" bIns="0" anchor="t">
            <a:spAutoFit/>
          </a:bodyPr>
          <a:lstStyle/>
          <a:p>
            <a:pPr algn="l">
              <a:lnSpc>
                <a:spcPct val="128000"/>
              </a:lnSpc>
            </a:pPr>
            <a:r>
              <a:rPr sz="900" b="1" i="0" spc="120">
                <a:solidFill>
                  <a:srgbClr val="E58900"/>
                </a:solidFill>
                <a:latin typeface="Montserrat"/>
              </a:rPr>
              <a:t>ASKED ON TOP TODAY — EACH ONE A TRIP, A FEE, OR A DROP-OUT</a:t>
            </a:r>
          </a:p>
        </p:txBody>
      </p:sp>
      <p:pic>
        <p:nvPicPr>
          <p:cNvPr id="26" name="Picture 25" descr="plus_E58900_256_2.0.png"/>
          <p:cNvPicPr>
            <a:picLocks noChangeAspect="1"/>
          </p:cNvPicPr>
          <p:nvPr/>
        </p:nvPicPr>
        <p:blipFill>
          <a:blip r:embed="rId3"/>
          <a:stretch>
            <a:fillRect/>
          </a:stretch>
        </p:blipFill>
        <p:spPr>
          <a:xfrm>
            <a:off x="6519672" y="2697480"/>
            <a:ext cx="219456" cy="219456"/>
          </a:xfrm>
          <a:prstGeom prst="rect">
            <a:avLst/>
          </a:prstGeom>
        </p:spPr>
      </p:pic>
      <p:sp>
        <p:nvSpPr>
          <p:cNvPr id="27" name="TextBox 26"/>
          <p:cNvSpPr txBox="1"/>
          <p:nvPr/>
        </p:nvSpPr>
        <p:spPr>
          <a:xfrm>
            <a:off x="6858000" y="2679192"/>
            <a:ext cx="4572000" cy="365760"/>
          </a:xfrm>
          <a:prstGeom prst="rect">
            <a:avLst/>
          </a:prstGeom>
          <a:noFill/>
        </p:spPr>
        <p:txBody>
          <a:bodyPr wrap="square" lIns="0" rIns="0" tIns="0" bIns="0" anchor="t">
            <a:spAutoFit/>
          </a:bodyPr>
          <a:lstStyle/>
          <a:p>
            <a:pPr algn="l">
              <a:lnSpc>
                <a:spcPct val="110000"/>
              </a:lnSpc>
            </a:pPr>
            <a:r>
              <a:rPr sz="1000" b="0" i="0">
                <a:solidFill>
                  <a:srgbClr val="16181D"/>
                </a:solidFill>
                <a:latin typeface="Geist"/>
              </a:rPr>
              <a:t>Court-certified copies of FIR &amp; FR</a:t>
            </a:r>
          </a:p>
        </p:txBody>
      </p:sp>
      <p:pic>
        <p:nvPicPr>
          <p:cNvPr id="28" name="Picture 27" descr="plus_E58900_256_2.0.png"/>
          <p:cNvPicPr>
            <a:picLocks noChangeAspect="1"/>
          </p:cNvPicPr>
          <p:nvPr/>
        </p:nvPicPr>
        <p:blipFill>
          <a:blip r:embed="rId3"/>
          <a:stretch>
            <a:fillRect/>
          </a:stretch>
        </p:blipFill>
        <p:spPr>
          <a:xfrm>
            <a:off x="6519672" y="3118104"/>
            <a:ext cx="219456" cy="219456"/>
          </a:xfrm>
          <a:prstGeom prst="rect">
            <a:avLst/>
          </a:prstGeom>
        </p:spPr>
      </p:pic>
      <p:sp>
        <p:nvSpPr>
          <p:cNvPr id="29" name="TextBox 28"/>
          <p:cNvSpPr txBox="1"/>
          <p:nvPr/>
        </p:nvSpPr>
        <p:spPr>
          <a:xfrm>
            <a:off x="6858000" y="3099816"/>
            <a:ext cx="4572000" cy="365760"/>
          </a:xfrm>
          <a:prstGeom prst="rect">
            <a:avLst/>
          </a:prstGeom>
          <a:noFill/>
        </p:spPr>
        <p:txBody>
          <a:bodyPr wrap="square" lIns="0" rIns="0" tIns="0" bIns="0" anchor="t">
            <a:spAutoFit/>
          </a:bodyPr>
          <a:lstStyle/>
          <a:p>
            <a:pPr algn="l">
              <a:lnSpc>
                <a:spcPct val="110000"/>
              </a:lnSpc>
            </a:pPr>
            <a:r>
              <a:rPr sz="1000" b="0" i="0">
                <a:solidFill>
                  <a:srgbClr val="16181D"/>
                </a:solidFill>
                <a:latin typeface="Geist"/>
              </a:rPr>
              <a:t>Full challan file / e-DAR / iRAD</a:t>
            </a:r>
          </a:p>
        </p:txBody>
      </p:sp>
      <p:pic>
        <p:nvPicPr>
          <p:cNvPr id="30" name="Picture 29" descr="plus_E58900_256_2.0.png"/>
          <p:cNvPicPr>
            <a:picLocks noChangeAspect="1"/>
          </p:cNvPicPr>
          <p:nvPr/>
        </p:nvPicPr>
        <p:blipFill>
          <a:blip r:embed="rId3"/>
          <a:stretch>
            <a:fillRect/>
          </a:stretch>
        </p:blipFill>
        <p:spPr>
          <a:xfrm>
            <a:off x="6519672" y="3538728"/>
            <a:ext cx="219456" cy="219456"/>
          </a:xfrm>
          <a:prstGeom prst="rect">
            <a:avLst/>
          </a:prstGeom>
        </p:spPr>
      </p:pic>
      <p:sp>
        <p:nvSpPr>
          <p:cNvPr id="31" name="TextBox 30"/>
          <p:cNvSpPr txBox="1"/>
          <p:nvPr/>
        </p:nvSpPr>
        <p:spPr>
          <a:xfrm>
            <a:off x="6858000" y="3520440"/>
            <a:ext cx="4572000" cy="365760"/>
          </a:xfrm>
          <a:prstGeom prst="rect">
            <a:avLst/>
          </a:prstGeom>
          <a:noFill/>
        </p:spPr>
        <p:txBody>
          <a:bodyPr wrap="square" lIns="0" rIns="0" tIns="0" bIns="0" anchor="t">
            <a:spAutoFit/>
          </a:bodyPr>
          <a:lstStyle/>
          <a:p>
            <a:pPr algn="l">
              <a:lnSpc>
                <a:spcPct val="110000"/>
              </a:lnSpc>
            </a:pPr>
            <a:r>
              <a:rPr sz="1000" b="0" i="0">
                <a:solidFill>
                  <a:srgbClr val="16181D"/>
                </a:solidFill>
                <a:latin typeface="Geist"/>
              </a:rPr>
              <a:t>Site map / naksha mauka</a:t>
            </a:r>
          </a:p>
        </p:txBody>
      </p:sp>
      <p:pic>
        <p:nvPicPr>
          <p:cNvPr id="32" name="Picture 31" descr="plus_E58900_256_2.0.png"/>
          <p:cNvPicPr>
            <a:picLocks noChangeAspect="1"/>
          </p:cNvPicPr>
          <p:nvPr/>
        </p:nvPicPr>
        <p:blipFill>
          <a:blip r:embed="rId3"/>
          <a:stretch>
            <a:fillRect/>
          </a:stretch>
        </p:blipFill>
        <p:spPr>
          <a:xfrm>
            <a:off x="6519672" y="3959352"/>
            <a:ext cx="219456" cy="219456"/>
          </a:xfrm>
          <a:prstGeom prst="rect">
            <a:avLst/>
          </a:prstGeom>
        </p:spPr>
      </p:pic>
      <p:sp>
        <p:nvSpPr>
          <p:cNvPr id="33" name="TextBox 32"/>
          <p:cNvSpPr txBox="1"/>
          <p:nvPr/>
        </p:nvSpPr>
        <p:spPr>
          <a:xfrm>
            <a:off x="6858000" y="3941064"/>
            <a:ext cx="4572000" cy="365760"/>
          </a:xfrm>
          <a:prstGeom prst="rect">
            <a:avLst/>
          </a:prstGeom>
          <a:noFill/>
        </p:spPr>
        <p:txBody>
          <a:bodyPr wrap="square" lIns="0" rIns="0" tIns="0" bIns="0" anchor="t">
            <a:spAutoFit/>
          </a:bodyPr>
          <a:lstStyle/>
          <a:p>
            <a:pPr algn="l">
              <a:lnSpc>
                <a:spcPct val="110000"/>
              </a:lnSpc>
            </a:pPr>
            <a:r>
              <a:rPr sz="1000" b="0" i="0">
                <a:solidFill>
                  <a:srgbClr val="16181D"/>
                </a:solidFill>
                <a:latin typeface="Geist"/>
              </a:rPr>
              <a:t>Notarised affidavit — name mismatch</a:t>
            </a:r>
          </a:p>
        </p:txBody>
      </p:sp>
      <p:pic>
        <p:nvPicPr>
          <p:cNvPr id="34" name="Picture 33" descr="plus_E58900_256_2.0.png"/>
          <p:cNvPicPr>
            <a:picLocks noChangeAspect="1"/>
          </p:cNvPicPr>
          <p:nvPr/>
        </p:nvPicPr>
        <p:blipFill>
          <a:blip r:embed="rId3"/>
          <a:stretch>
            <a:fillRect/>
          </a:stretch>
        </p:blipFill>
        <p:spPr>
          <a:xfrm>
            <a:off x="6519672" y="4379976"/>
            <a:ext cx="219456" cy="219456"/>
          </a:xfrm>
          <a:prstGeom prst="rect">
            <a:avLst/>
          </a:prstGeom>
        </p:spPr>
      </p:pic>
      <p:sp>
        <p:nvSpPr>
          <p:cNvPr id="35" name="TextBox 34"/>
          <p:cNvSpPr txBox="1"/>
          <p:nvPr/>
        </p:nvSpPr>
        <p:spPr>
          <a:xfrm>
            <a:off x="6858000" y="4361688"/>
            <a:ext cx="4572000" cy="365760"/>
          </a:xfrm>
          <a:prstGeom prst="rect">
            <a:avLst/>
          </a:prstGeom>
          <a:noFill/>
        </p:spPr>
        <p:txBody>
          <a:bodyPr wrap="square" lIns="0" rIns="0" tIns="0" bIns="0" anchor="t">
            <a:spAutoFit/>
          </a:bodyPr>
          <a:lstStyle/>
          <a:p>
            <a:pPr algn="l">
              <a:lnSpc>
                <a:spcPct val="110000"/>
              </a:lnSpc>
            </a:pPr>
            <a:r>
              <a:rPr sz="1000" b="0" i="0">
                <a:solidFill>
                  <a:srgbClr val="16181D"/>
                </a:solidFill>
                <a:latin typeface="Geist"/>
              </a:rPr>
              <a:t>Notarised affidavit — non-filing of MACT claim</a:t>
            </a:r>
          </a:p>
        </p:txBody>
      </p:sp>
      <p:pic>
        <p:nvPicPr>
          <p:cNvPr id="36" name="Picture 35" descr="plus_E58900_256_2.0.png"/>
          <p:cNvPicPr>
            <a:picLocks noChangeAspect="1"/>
          </p:cNvPicPr>
          <p:nvPr/>
        </p:nvPicPr>
        <p:blipFill>
          <a:blip r:embed="rId3"/>
          <a:stretch>
            <a:fillRect/>
          </a:stretch>
        </p:blipFill>
        <p:spPr>
          <a:xfrm>
            <a:off x="6519672" y="4800600"/>
            <a:ext cx="219456" cy="219456"/>
          </a:xfrm>
          <a:prstGeom prst="rect">
            <a:avLst/>
          </a:prstGeom>
        </p:spPr>
      </p:pic>
      <p:sp>
        <p:nvSpPr>
          <p:cNvPr id="37" name="TextBox 36"/>
          <p:cNvSpPr txBox="1"/>
          <p:nvPr/>
        </p:nvSpPr>
        <p:spPr>
          <a:xfrm>
            <a:off x="6858000" y="4782312"/>
            <a:ext cx="4572000" cy="365760"/>
          </a:xfrm>
          <a:prstGeom prst="rect">
            <a:avLst/>
          </a:prstGeom>
          <a:noFill/>
        </p:spPr>
        <p:txBody>
          <a:bodyPr wrap="square" lIns="0" rIns="0" tIns="0" bIns="0" anchor="t">
            <a:spAutoFit/>
          </a:bodyPr>
          <a:lstStyle/>
          <a:p>
            <a:pPr algn="l">
              <a:lnSpc>
                <a:spcPct val="110000"/>
              </a:lnSpc>
            </a:pPr>
            <a:r>
              <a:rPr sz="1000" b="0" i="0">
                <a:solidFill>
                  <a:srgbClr val="16181D"/>
                </a:solidFill>
                <a:latin typeface="Geist"/>
              </a:rPr>
              <a:t>Legal-heir / succession certificate</a:t>
            </a:r>
          </a:p>
        </p:txBody>
      </p:sp>
      <p:sp>
        <p:nvSpPr>
          <p:cNvPr id="38" name="TextBox 37"/>
          <p:cNvSpPr txBox="1"/>
          <p:nvPr/>
        </p:nvSpPr>
        <p:spPr>
          <a:xfrm>
            <a:off x="566928" y="5852160"/>
            <a:ext cx="11057839" cy="457200"/>
          </a:xfrm>
          <a:prstGeom prst="rect">
            <a:avLst/>
          </a:prstGeom>
          <a:noFill/>
        </p:spPr>
        <p:txBody>
          <a:bodyPr wrap="square" lIns="0" rIns="0" tIns="0" bIns="0" anchor="t">
            <a:spAutoFit/>
          </a:bodyPr>
          <a:lstStyle/>
          <a:p>
            <a:pPr algn="l">
              <a:lnSpc>
                <a:spcPct val="125000"/>
              </a:lnSpc>
            </a:pPr>
            <a:r>
              <a:rPr sz="1000" b="1" i="0">
                <a:solidFill>
                  <a:srgbClr val="16181D"/>
                </a:solidFill>
                <a:latin typeface="Geist"/>
              </a:rPr>
              <a:t>Also ready: </a:t>
            </a:r>
            <a:r>
              <a:rPr sz="1000" b="0" i="0">
                <a:solidFill>
                  <a:srgbClr val="6E7180"/>
                </a:solidFill>
                <a:latin typeface="Geist"/>
              </a:rPr>
              <a:t>stage-wise SLA benchmarks · family-communication norms at every state change · a document-quality checklist for AI-assisted pre-verification.</a:t>
            </a:r>
          </a:p>
        </p:txBody>
      </p:sp>
      <p:cxnSp>
        <p:nvCxnSpPr>
          <p:cNvPr id="39" name="Connector 38"/>
          <p:cNvCxnSpPr/>
          <p:nvPr/>
        </p:nvCxnSpPr>
        <p:spPr>
          <a:xfrm>
            <a:off x="566928" y="6455664"/>
            <a:ext cx="11057839" cy="0"/>
          </a:xfrm>
          <a:prstGeom prst="line">
            <a:avLst/>
          </a:prstGeom>
          <a:ln w="9525">
            <a:solidFill>
              <a:srgbClr val="E8E9EE"/>
            </a:solidFill>
          </a:ln>
          <a:effectLst/>
        </p:spPr>
      </p:cxnSp>
      <p:sp>
        <p:nvSpPr>
          <p:cNvPr id="40" name="TextBox 3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41" name="TextBox 4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18 / 23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 THE FIRST HOURS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Helpdesks in trauma wards, and </a:t>
            </a:r>
            <a:r>
              <a:rPr sz="2250" b="1" i="0">
                <a:solidFill>
                  <a:srgbClr val="4A35FF"/>
                </a:solidFill>
                <a:latin typeface="Montserrat"/>
              </a:rPr>
              <a:t>an EMS evidence line</a:t>
            </a:r>
          </a:p>
        </p:txBody>
      </p:sp>
      <p:pic>
        <p:nvPicPr>
          <p:cNvPr id="7" name="Picture 6" descr="ph_helpdesk_desk.jpg_4.30x2.55.jpg"/>
          <p:cNvPicPr>
            <a:picLocks noChangeAspect="1"/>
          </p:cNvPicPr>
          <p:nvPr/>
        </p:nvPicPr>
        <p:blipFill>
          <a:blip r:embed="rId2"/>
          <a:stretch>
            <a:fillRect/>
          </a:stretch>
        </p:blipFill>
        <p:spPr>
          <a:xfrm>
            <a:off x="566928" y="1874519"/>
            <a:ext cx="3931920" cy="2331720"/>
          </a:xfrm>
          <a:prstGeom prst="rect">
            <a:avLst/>
          </a:prstGeom>
        </p:spPr>
      </p:pic>
      <p:sp>
        <p:nvSpPr>
          <p:cNvPr id="8" name="Rectangle 7"/>
          <p:cNvSpPr/>
          <p:nvPr/>
        </p:nvSpPr>
        <p:spPr>
          <a:xfrm>
            <a:off x="566928" y="1874519"/>
            <a:ext cx="3931920" cy="2331720"/>
          </a:xfrm>
          <a:prstGeom prst="rect">
            <a:avLst/>
          </a:prstGeom>
          <a:noFill/>
          <a:ln w="12700">
            <a:solidFill>
              <a:srgbClr val="E8E9EE"/>
            </a:solidFill>
          </a:ln>
          <a:effectLst/>
        </p:spPr>
        <p:txBody>
          <a:bodyPr rtlCol="0" anchor="ctr"/>
          <a:lstStyle/>
          <a:p>
            <a:pPr algn="ctr"/>
          </a:p>
        </p:txBody>
      </p:sp>
      <p:sp>
        <p:nvSpPr>
          <p:cNvPr id="9" name="TextBox 8"/>
          <p:cNvSpPr txBox="1"/>
          <p:nvPr/>
        </p:nvSpPr>
        <p:spPr>
          <a:xfrm>
            <a:off x="566928" y="4251959"/>
            <a:ext cx="39319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Hospital legal helpdesk — 100+ victims supported in the first four days of operation.</a:t>
            </a:r>
          </a:p>
        </p:txBody>
      </p:sp>
      <p:pic>
        <p:nvPicPr>
          <p:cNvPr id="10" name="Picture 9" descr="ph_stall.jpg_4.30x1.50.jpg"/>
          <p:cNvPicPr>
            <a:picLocks noChangeAspect="1"/>
          </p:cNvPicPr>
          <p:nvPr/>
        </p:nvPicPr>
        <p:blipFill>
          <a:blip r:embed="rId3"/>
          <a:stretch>
            <a:fillRect/>
          </a:stretch>
        </p:blipFill>
        <p:spPr>
          <a:xfrm>
            <a:off x="566928" y="4663440"/>
            <a:ext cx="3931920" cy="1371600"/>
          </a:xfrm>
          <a:prstGeom prst="rect">
            <a:avLst/>
          </a:prstGeom>
        </p:spPr>
      </p:pic>
      <p:sp>
        <p:nvSpPr>
          <p:cNvPr id="11" name="Rectangle 10"/>
          <p:cNvSpPr/>
          <p:nvPr/>
        </p:nvSpPr>
        <p:spPr>
          <a:xfrm>
            <a:off x="566928" y="4663440"/>
            <a:ext cx="3931920" cy="1371600"/>
          </a:xfrm>
          <a:prstGeom prst="rect">
            <a:avLst/>
          </a:prstGeom>
          <a:noFill/>
          <a:ln w="12700">
            <a:solidFill>
              <a:srgbClr val="E8E9EE"/>
            </a:solidFill>
          </a:ln>
          <a:effectLst/>
        </p:spPr>
        <p:txBody>
          <a:bodyPr rtlCol="0" anchor="ctr"/>
          <a:lstStyle/>
          <a:p>
            <a:pPr algn="ctr"/>
          </a:p>
        </p:txBody>
      </p:sp>
      <p:sp>
        <p:nvSpPr>
          <p:cNvPr id="12" name="Oval 11"/>
          <p:cNvSpPr/>
          <p:nvPr/>
        </p:nvSpPr>
        <p:spPr>
          <a:xfrm>
            <a:off x="4892040" y="1874519"/>
            <a:ext cx="384048" cy="384048"/>
          </a:xfrm>
          <a:prstGeom prst="ellipse">
            <a:avLst/>
          </a:prstGeom>
          <a:solidFill>
            <a:srgbClr val="E7F4F4"/>
          </a:solidFill>
          <a:ln>
            <a:noFill/>
          </a:ln>
          <a:effectLst/>
        </p:spPr>
        <p:txBody>
          <a:bodyPr rtlCol="0" anchor="ctr"/>
          <a:lstStyle/>
          <a:p>
            <a:pPr algn="ctr"/>
          </a:p>
        </p:txBody>
      </p:sp>
      <p:pic>
        <p:nvPicPr>
          <p:cNvPr id="13" name="Picture 12" descr="timer_0E8A8A_256_2.0.png"/>
          <p:cNvPicPr>
            <a:picLocks noChangeAspect="1"/>
          </p:cNvPicPr>
          <p:nvPr/>
        </p:nvPicPr>
        <p:blipFill>
          <a:blip r:embed="rId4"/>
          <a:stretch>
            <a:fillRect/>
          </a:stretch>
        </p:blipFill>
        <p:spPr>
          <a:xfrm>
            <a:off x="4984211" y="1966690"/>
            <a:ext cx="199704" cy="199704"/>
          </a:xfrm>
          <a:prstGeom prst="rect">
            <a:avLst/>
          </a:prstGeom>
        </p:spPr>
      </p:pic>
      <p:sp>
        <p:nvSpPr>
          <p:cNvPr id="14" name="TextBox 13"/>
          <p:cNvSpPr txBox="1"/>
          <p:nvPr/>
        </p:nvSpPr>
        <p:spPr>
          <a:xfrm>
            <a:off x="5422392" y="1847087"/>
            <a:ext cx="214884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The response gap, measured</a:t>
            </a:r>
          </a:p>
        </p:txBody>
      </p:sp>
      <p:sp>
        <p:nvSpPr>
          <p:cNvPr id="15" name="TextBox 14"/>
          <p:cNvSpPr txBox="1"/>
          <p:nvPr/>
        </p:nvSpPr>
        <p:spPr>
          <a:xfrm>
            <a:off x="7635240" y="1847087"/>
            <a:ext cx="3977639"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Our Pre-Hospital Care Primer (Sept 2025): ERSS-112 is live across 36 states &amp; UTs, yet ambulance arrival averages 25–35 minutes and the full care episode runs 55–75 minutes — against a 60-minute golden hour.</a:t>
            </a:r>
          </a:p>
        </p:txBody>
      </p:sp>
      <p:sp>
        <p:nvSpPr>
          <p:cNvPr id="16" name="Oval 15"/>
          <p:cNvSpPr/>
          <p:nvPr/>
        </p:nvSpPr>
        <p:spPr>
          <a:xfrm>
            <a:off x="4892040" y="2907790"/>
            <a:ext cx="384048" cy="384048"/>
          </a:xfrm>
          <a:prstGeom prst="ellipse">
            <a:avLst/>
          </a:prstGeom>
          <a:solidFill>
            <a:srgbClr val="EFEDFF"/>
          </a:solidFill>
          <a:ln>
            <a:noFill/>
          </a:ln>
          <a:effectLst/>
        </p:spPr>
        <p:txBody>
          <a:bodyPr rtlCol="0" anchor="ctr"/>
          <a:lstStyle/>
          <a:p>
            <a:pPr algn="ctr"/>
          </a:p>
        </p:txBody>
      </p:sp>
      <p:pic>
        <p:nvPicPr>
          <p:cNvPr id="17" name="Picture 16" descr="map_4A35FF_256_2.0.png"/>
          <p:cNvPicPr>
            <a:picLocks noChangeAspect="1"/>
          </p:cNvPicPr>
          <p:nvPr/>
        </p:nvPicPr>
        <p:blipFill>
          <a:blip r:embed="rId5"/>
          <a:stretch>
            <a:fillRect/>
          </a:stretch>
        </p:blipFill>
        <p:spPr>
          <a:xfrm>
            <a:off x="4984211" y="2999961"/>
            <a:ext cx="199704" cy="199704"/>
          </a:xfrm>
          <a:prstGeom prst="rect">
            <a:avLst/>
          </a:prstGeom>
        </p:spPr>
      </p:pic>
      <p:sp>
        <p:nvSpPr>
          <p:cNvPr id="18" name="TextBox 17"/>
          <p:cNvSpPr txBox="1"/>
          <p:nvPr/>
        </p:nvSpPr>
        <p:spPr>
          <a:xfrm>
            <a:off x="5422392" y="2880358"/>
            <a:ext cx="214884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State innovations documented</a:t>
            </a:r>
          </a:p>
        </p:txBody>
      </p:sp>
      <p:sp>
        <p:nvSpPr>
          <p:cNvPr id="19" name="TextBox 18"/>
          <p:cNvSpPr txBox="1"/>
          <p:nvPr/>
        </p:nvSpPr>
        <p:spPr>
          <a:xfrm>
            <a:off x="7635240" y="2880358"/>
            <a:ext cx="3977639"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Maharashtra's MEMS — 937 ambulances under centralised dispatch; Tamil Nadu's TAEI trauma corridors — pre-arrival alerts and treatment protocols.</a:t>
            </a:r>
          </a:p>
        </p:txBody>
      </p:sp>
      <p:sp>
        <p:nvSpPr>
          <p:cNvPr id="20" name="Oval 19"/>
          <p:cNvSpPr/>
          <p:nvPr/>
        </p:nvSpPr>
        <p:spPr>
          <a:xfrm>
            <a:off x="4892040" y="3941061"/>
            <a:ext cx="384048" cy="384048"/>
          </a:xfrm>
          <a:prstGeom prst="ellipse">
            <a:avLst/>
          </a:prstGeom>
          <a:solidFill>
            <a:srgbClr val="E9F7F0"/>
          </a:solidFill>
          <a:ln>
            <a:noFill/>
          </a:ln>
          <a:effectLst/>
        </p:spPr>
        <p:txBody>
          <a:bodyPr rtlCol="0" anchor="ctr"/>
          <a:lstStyle/>
          <a:p>
            <a:pPr algn="ctr"/>
          </a:p>
        </p:txBody>
      </p:sp>
      <p:pic>
        <p:nvPicPr>
          <p:cNvPr id="21" name="Picture 20" descr="heart-handshake_0A9955_256_2.0.png"/>
          <p:cNvPicPr>
            <a:picLocks noChangeAspect="1"/>
          </p:cNvPicPr>
          <p:nvPr/>
        </p:nvPicPr>
        <p:blipFill>
          <a:blip r:embed="rId6"/>
          <a:stretch>
            <a:fillRect/>
          </a:stretch>
        </p:blipFill>
        <p:spPr>
          <a:xfrm>
            <a:off x="4984211" y="4033232"/>
            <a:ext cx="199704" cy="199704"/>
          </a:xfrm>
          <a:prstGeom prst="rect">
            <a:avLst/>
          </a:prstGeom>
        </p:spPr>
      </p:pic>
      <p:sp>
        <p:nvSpPr>
          <p:cNvPr id="22" name="TextBox 21"/>
          <p:cNvSpPr txBox="1"/>
          <p:nvPr/>
        </p:nvSpPr>
        <p:spPr>
          <a:xfrm>
            <a:off x="5422392" y="3913629"/>
            <a:ext cx="214884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Good Samaritan &amp; Cashless 2025</a:t>
            </a:r>
          </a:p>
        </p:txBody>
      </p:sp>
      <p:sp>
        <p:nvSpPr>
          <p:cNvPr id="23" name="TextBox 22"/>
          <p:cNvSpPr txBox="1"/>
          <p:nvPr/>
        </p:nvSpPr>
        <p:spPr>
          <a:xfrm>
            <a:off x="7635240" y="3913629"/>
            <a:ext cx="3977639"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Bystander protections and the ₹1.5 lakh / 7-day Cashless Treatment Scheme, explained in our public guides — the demand side of trauma care.</a:t>
            </a:r>
          </a:p>
        </p:txBody>
      </p:sp>
      <p:sp>
        <p:nvSpPr>
          <p:cNvPr id="24" name="Oval 23"/>
          <p:cNvSpPr/>
          <p:nvPr/>
        </p:nvSpPr>
        <p:spPr>
          <a:xfrm>
            <a:off x="4892040" y="4974332"/>
            <a:ext cx="384048" cy="384048"/>
          </a:xfrm>
          <a:prstGeom prst="ellipse">
            <a:avLst/>
          </a:prstGeom>
          <a:solidFill>
            <a:srgbClr val="FDF3E3"/>
          </a:solidFill>
          <a:ln>
            <a:noFill/>
          </a:ln>
          <a:effectLst/>
        </p:spPr>
        <p:txBody>
          <a:bodyPr rtlCol="0" anchor="ctr"/>
          <a:lstStyle/>
          <a:p>
            <a:pPr algn="ctr"/>
          </a:p>
        </p:txBody>
      </p:sp>
      <p:pic>
        <p:nvPicPr>
          <p:cNvPr id="25" name="Picture 24" descr="stethoscope_E58900_256_2.0.png"/>
          <p:cNvPicPr>
            <a:picLocks noChangeAspect="1"/>
          </p:cNvPicPr>
          <p:nvPr/>
        </p:nvPicPr>
        <p:blipFill>
          <a:blip r:embed="rId7"/>
          <a:stretch>
            <a:fillRect/>
          </a:stretch>
        </p:blipFill>
        <p:spPr>
          <a:xfrm>
            <a:off x="4984211" y="5066503"/>
            <a:ext cx="199704" cy="199704"/>
          </a:xfrm>
          <a:prstGeom prst="rect">
            <a:avLst/>
          </a:prstGeom>
        </p:spPr>
      </p:pic>
      <p:sp>
        <p:nvSpPr>
          <p:cNvPr id="26" name="TextBox 25"/>
          <p:cNvSpPr txBox="1"/>
          <p:nvPr/>
        </p:nvSpPr>
        <p:spPr>
          <a:xfrm>
            <a:off x="5422392" y="4946900"/>
            <a:ext cx="214884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Where this serves WG-5</a:t>
            </a:r>
          </a:p>
        </p:txBody>
      </p:sp>
      <p:sp>
        <p:nvSpPr>
          <p:cNvPr id="27" name="TextBox 26"/>
          <p:cNvSpPr txBox="1"/>
          <p:nvPr/>
        </p:nvSpPr>
        <p:spPr>
          <a:xfrm>
            <a:off x="7635240" y="4946900"/>
            <a:ext cx="3977639"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A ready, referenced baseline for the Group's EMS and trauma-care standards discussions — with state models already compared.</a:t>
            </a: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19 / 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 THE PIPELINE, MEASURED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Numbers a standard </a:t>
            </a:r>
            <a:r>
              <a:rPr sz="2250" b="1" i="0">
                <a:solidFill>
                  <a:srgbClr val="4A35FF"/>
                </a:solidFill>
                <a:latin typeface="Montserrat"/>
              </a:rPr>
              <a:t>can act on</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Each one is a lever for a WG-5 standard, toolkit entry or communication norm — none requires new legislation.</a:t>
            </a:r>
          </a:p>
        </p:txBody>
      </p:sp>
      <p:sp>
        <p:nvSpPr>
          <p:cNvPr id="8" name="Rounded Rectangle 7"/>
          <p:cNvSpPr/>
          <p:nvPr/>
        </p:nvSpPr>
        <p:spPr>
          <a:xfrm>
            <a:off x="566928" y="2148840"/>
            <a:ext cx="3611880" cy="1280160"/>
          </a:xfrm>
          <a:prstGeom prst="roundRect">
            <a:avLst>
              <a:gd name="adj" fmla="val 8000"/>
            </a:avLst>
          </a:prstGeom>
          <a:solidFill>
            <a:srgbClr val="F7F7FA"/>
          </a:solidFill>
          <a:ln>
            <a:noFill/>
          </a:ln>
          <a:effectLst/>
        </p:spPr>
        <p:txBody>
          <a:bodyPr rtlCol="0" anchor="ctr"/>
          <a:lstStyle/>
          <a:p>
            <a:pPr algn="ctr"/>
          </a:p>
        </p:txBody>
      </p:sp>
      <p:sp>
        <p:nvSpPr>
          <p:cNvPr id="9" name="TextBox 8"/>
          <p:cNvSpPr txBox="1"/>
          <p:nvPr/>
        </p:nvSpPr>
        <p:spPr>
          <a:xfrm>
            <a:off x="731520" y="2258568"/>
            <a:ext cx="3282696" cy="45720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921 of 1,026</a:t>
            </a:r>
          </a:p>
        </p:txBody>
      </p:sp>
      <p:sp>
        <p:nvSpPr>
          <p:cNvPr id="10" name="TextBox 9"/>
          <p:cNvSpPr txBox="1"/>
          <p:nvPr/>
        </p:nvSpPr>
        <p:spPr>
          <a:xfrm>
            <a:off x="731520" y="2715768"/>
            <a:ext cx="3282696" cy="64008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claims pending nationally were stalled at documentation alone (July 2024)</a:t>
            </a:r>
          </a:p>
        </p:txBody>
      </p:sp>
      <p:sp>
        <p:nvSpPr>
          <p:cNvPr id="11" name="Rounded Rectangle 10"/>
          <p:cNvSpPr/>
          <p:nvPr/>
        </p:nvSpPr>
        <p:spPr>
          <a:xfrm>
            <a:off x="4288536" y="2148840"/>
            <a:ext cx="3611880" cy="1280160"/>
          </a:xfrm>
          <a:prstGeom prst="roundRect">
            <a:avLst>
              <a:gd name="adj" fmla="val 8000"/>
            </a:avLst>
          </a:prstGeom>
          <a:solidFill>
            <a:srgbClr val="F7F7FA"/>
          </a:solidFill>
          <a:ln>
            <a:noFill/>
          </a:ln>
          <a:effectLst/>
        </p:spPr>
        <p:txBody>
          <a:bodyPr rtlCol="0" anchor="ctr"/>
          <a:lstStyle/>
          <a:p>
            <a:pPr algn="ctr"/>
          </a:p>
        </p:txBody>
      </p:sp>
      <p:sp>
        <p:nvSpPr>
          <p:cNvPr id="12" name="TextBox 11"/>
          <p:cNvSpPr txBox="1"/>
          <p:nvPr/>
        </p:nvSpPr>
        <p:spPr>
          <a:xfrm>
            <a:off x="4453128" y="2258568"/>
            <a:ext cx="3282696" cy="45720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~60 days</a:t>
            </a:r>
          </a:p>
        </p:txBody>
      </p:sp>
      <p:sp>
        <p:nvSpPr>
          <p:cNvPr id="13" name="TextBox 12"/>
          <p:cNvSpPr txBox="1"/>
          <p:nvPr/>
        </p:nvSpPr>
        <p:spPr>
          <a:xfrm>
            <a:off x="4453128" y="2715768"/>
            <a:ext cx="3282696" cy="64008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typical intake latency where claims surface only via bi-monthly meetings</a:t>
            </a:r>
          </a:p>
        </p:txBody>
      </p:sp>
      <p:sp>
        <p:nvSpPr>
          <p:cNvPr id="14" name="Rounded Rectangle 13"/>
          <p:cNvSpPr/>
          <p:nvPr/>
        </p:nvSpPr>
        <p:spPr>
          <a:xfrm>
            <a:off x="8010144" y="2148840"/>
            <a:ext cx="3611880" cy="1280160"/>
          </a:xfrm>
          <a:prstGeom prst="roundRect">
            <a:avLst>
              <a:gd name="adj" fmla="val 8000"/>
            </a:avLst>
          </a:prstGeom>
          <a:solidFill>
            <a:srgbClr val="F7F7FA"/>
          </a:solidFill>
          <a:ln>
            <a:noFill/>
          </a:ln>
          <a:effectLst/>
        </p:spPr>
        <p:txBody>
          <a:bodyPr rtlCol="0" anchor="ctr"/>
          <a:lstStyle/>
          <a:p>
            <a:pPr algn="ctr"/>
          </a:p>
        </p:txBody>
      </p:sp>
      <p:sp>
        <p:nvSpPr>
          <p:cNvPr id="15" name="TextBox 14"/>
          <p:cNvSpPr txBox="1"/>
          <p:nvPr/>
        </p:nvSpPr>
        <p:spPr>
          <a:xfrm>
            <a:off x="8174736" y="2258568"/>
            <a:ext cx="3282696" cy="45720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~50%</a:t>
            </a:r>
          </a:p>
        </p:txBody>
      </p:sp>
      <p:sp>
        <p:nvSpPr>
          <p:cNvPr id="16" name="TextBox 15"/>
          <p:cNvSpPr txBox="1"/>
          <p:nvPr/>
        </p:nvSpPr>
        <p:spPr>
          <a:xfrm>
            <a:off x="8174736" y="2715768"/>
            <a:ext cx="3282696" cy="64008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of case files lack a usable family phone number — traceability is the first lever</a:t>
            </a:r>
          </a:p>
        </p:txBody>
      </p:sp>
      <p:sp>
        <p:nvSpPr>
          <p:cNvPr id="17" name="Rounded Rectangle 16"/>
          <p:cNvSpPr/>
          <p:nvPr/>
        </p:nvSpPr>
        <p:spPr>
          <a:xfrm>
            <a:off x="566928" y="3566160"/>
            <a:ext cx="3611880" cy="1280160"/>
          </a:xfrm>
          <a:prstGeom prst="roundRect">
            <a:avLst>
              <a:gd name="adj" fmla="val 8000"/>
            </a:avLst>
          </a:prstGeom>
          <a:solidFill>
            <a:srgbClr val="F7F7FA"/>
          </a:solidFill>
          <a:ln>
            <a:noFill/>
          </a:ln>
          <a:effectLst/>
        </p:spPr>
        <p:txBody>
          <a:bodyPr rtlCol="0" anchor="ctr"/>
          <a:lstStyle/>
          <a:p>
            <a:pPr algn="ctr"/>
          </a:p>
        </p:txBody>
      </p:sp>
      <p:sp>
        <p:nvSpPr>
          <p:cNvPr id="18" name="TextBox 17"/>
          <p:cNvSpPr txBox="1"/>
          <p:nvPr/>
        </p:nvSpPr>
        <p:spPr>
          <a:xfrm>
            <a:off x="731520" y="3675888"/>
            <a:ext cx="3282696" cy="45720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7 vs 11–13</a:t>
            </a:r>
          </a:p>
        </p:txBody>
      </p:sp>
      <p:sp>
        <p:nvSpPr>
          <p:cNvPr id="19" name="TextBox 18"/>
          <p:cNvSpPr txBox="1"/>
          <p:nvPr/>
        </p:nvSpPr>
        <p:spPr>
          <a:xfrm>
            <a:off x="731520" y="4133088"/>
            <a:ext cx="3282696" cy="64008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court-agreed documents vs what claimants are asked for in practice</a:t>
            </a:r>
          </a:p>
        </p:txBody>
      </p:sp>
      <p:sp>
        <p:nvSpPr>
          <p:cNvPr id="20" name="Rounded Rectangle 19"/>
          <p:cNvSpPr/>
          <p:nvPr/>
        </p:nvSpPr>
        <p:spPr>
          <a:xfrm>
            <a:off x="4288536" y="3566160"/>
            <a:ext cx="3611880" cy="1280160"/>
          </a:xfrm>
          <a:prstGeom prst="roundRect">
            <a:avLst>
              <a:gd name="adj" fmla="val 8000"/>
            </a:avLst>
          </a:prstGeom>
          <a:solidFill>
            <a:srgbClr val="F7F7FA"/>
          </a:solidFill>
          <a:ln>
            <a:noFill/>
          </a:ln>
          <a:effectLst/>
        </p:spPr>
        <p:txBody>
          <a:bodyPr rtlCol="0" anchor="ctr"/>
          <a:lstStyle/>
          <a:p>
            <a:pPr algn="ctr"/>
          </a:p>
        </p:txBody>
      </p:sp>
      <p:sp>
        <p:nvSpPr>
          <p:cNvPr id="21" name="TextBox 20"/>
          <p:cNvSpPr txBox="1"/>
          <p:nvPr/>
        </p:nvSpPr>
        <p:spPr>
          <a:xfrm>
            <a:off x="4453128" y="3675888"/>
            <a:ext cx="3282696" cy="45720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FY23-24: 12%</a:t>
            </a:r>
          </a:p>
        </p:txBody>
      </p:sp>
      <p:sp>
        <p:nvSpPr>
          <p:cNvPr id="22" name="TextBox 21"/>
          <p:cNvSpPr txBox="1"/>
          <p:nvPr/>
        </p:nvSpPr>
        <p:spPr>
          <a:xfrm>
            <a:off x="4453128" y="4133088"/>
            <a:ext cx="3282696" cy="64008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of eligible crashes converted to filed claims — improving, from a 2% base</a:t>
            </a:r>
          </a:p>
        </p:txBody>
      </p:sp>
      <p:sp>
        <p:nvSpPr>
          <p:cNvPr id="23" name="Rounded Rectangle 22"/>
          <p:cNvSpPr/>
          <p:nvPr/>
        </p:nvSpPr>
        <p:spPr>
          <a:xfrm>
            <a:off x="8010144" y="3566160"/>
            <a:ext cx="3611880" cy="1280160"/>
          </a:xfrm>
          <a:prstGeom prst="roundRect">
            <a:avLst>
              <a:gd name="adj" fmla="val 8000"/>
            </a:avLst>
          </a:prstGeom>
          <a:solidFill>
            <a:srgbClr val="F7F7FA"/>
          </a:solidFill>
          <a:ln>
            <a:noFill/>
          </a:ln>
          <a:effectLst/>
        </p:spPr>
        <p:txBody>
          <a:bodyPr rtlCol="0" anchor="ctr"/>
          <a:lstStyle/>
          <a:p>
            <a:pPr algn="ctr"/>
          </a:p>
        </p:txBody>
      </p:sp>
      <p:sp>
        <p:nvSpPr>
          <p:cNvPr id="24" name="TextBox 23"/>
          <p:cNvSpPr txBox="1"/>
          <p:nvPr/>
        </p:nvSpPr>
        <p:spPr>
          <a:xfrm>
            <a:off x="8174736" y="3675888"/>
            <a:ext cx="3282696" cy="45720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5 + 22</a:t>
            </a:r>
          </a:p>
        </p:txBody>
      </p:sp>
      <p:sp>
        <p:nvSpPr>
          <p:cNvPr id="25" name="TextBox 24"/>
          <p:cNvSpPr txBox="1"/>
          <p:nvPr/>
        </p:nvSpPr>
        <p:spPr>
          <a:xfrm>
            <a:off x="8174736" y="4133088"/>
            <a:ext cx="3282696" cy="64008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GIC clarification queries drafted · RTIs building the public record</a:t>
            </a:r>
          </a:p>
        </p:txBody>
      </p:sp>
      <p:sp>
        <p:nvSpPr>
          <p:cNvPr id="26" name="TextBox 25"/>
          <p:cNvSpPr txBox="1"/>
          <p:nvPr/>
        </p:nvSpPr>
        <p:spPr>
          <a:xfrm>
            <a:off x="566928" y="5257800"/>
            <a:ext cx="11057839" cy="731520"/>
          </a:xfrm>
          <a:prstGeom prst="rect">
            <a:avLst/>
          </a:prstGeom>
          <a:noFill/>
        </p:spPr>
        <p:txBody>
          <a:bodyPr wrap="square" lIns="0" rIns="0" tIns="0" bIns="0" anchor="t">
            <a:spAutoFit/>
          </a:bodyPr>
          <a:lstStyle/>
          <a:p>
            <a:pPr algn="l">
              <a:lnSpc>
                <a:spcPct val="135000"/>
              </a:lnSpc>
            </a:pPr>
            <a:r>
              <a:rPr sz="1050" b="1" i="0">
                <a:solidFill>
                  <a:srgbClr val="16181D"/>
                </a:solidFill>
                <a:latin typeface="Geist"/>
              </a:rPr>
              <a:t>The claim's other side: </a:t>
            </a:r>
            <a:r>
              <a:rPr sz="1050" b="0" i="0">
                <a:solidFill>
                  <a:srgbClr val="6E7180"/>
                </a:solidFill>
                <a:latin typeface="Geist"/>
              </a:rPr>
              <a:t>consultations with GIC and insurers on settlement practice · guidance from Justice J.R. Midha (Retd.), architect of the FaSTDAR process · working partners across MACT courts, DLSAs and legal-services clinics.</a:t>
            </a:r>
          </a:p>
        </p:txBody>
      </p:sp>
      <p:cxnSp>
        <p:nvCxnSpPr>
          <p:cNvPr id="27" name="Connector 26"/>
          <p:cNvCxnSpPr/>
          <p:nvPr/>
        </p:nvCxnSpPr>
        <p:spPr>
          <a:xfrm>
            <a:off x="566928" y="6455664"/>
            <a:ext cx="11057839" cy="0"/>
          </a:xfrm>
          <a:prstGeom prst="line">
            <a:avLst/>
          </a:prstGeom>
          <a:ln w="9525">
            <a:solidFill>
              <a:srgbClr val="E8E9EE"/>
            </a:solidFill>
          </a:ln>
          <a:effectLst/>
        </p:spPr>
      </p:cxnSp>
      <p:sp>
        <p:nvSpPr>
          <p:cNvPr id="28" name="TextBox 27"/>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29" name="TextBox 28"/>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20 / 23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WHY OUR TEAM FITS THIS MANDATE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Post-crash care needs </a:t>
            </a:r>
            <a:r>
              <a:rPr sz="2250" b="1" i="0">
                <a:solidFill>
                  <a:srgbClr val="4A35FF"/>
                </a:solidFill>
                <a:latin typeface="Montserrat"/>
              </a:rPr>
              <a:t>more than one discipline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 legally sound framework can still be hard to use; a good portal can still miss district workflows. Our team is built across the whole chain.</a:t>
            </a:r>
          </a:p>
        </p:txBody>
      </p:sp>
      <p:sp>
        <p:nvSpPr>
          <p:cNvPr id="8" name="Rounded Rectangle 7"/>
          <p:cNvSpPr/>
          <p:nvPr/>
        </p:nvSpPr>
        <p:spPr>
          <a:xfrm>
            <a:off x="566928" y="2286000"/>
            <a:ext cx="2715768" cy="237744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9" name="Oval 8"/>
          <p:cNvSpPr/>
          <p:nvPr/>
        </p:nvSpPr>
        <p:spPr>
          <a:xfrm>
            <a:off x="749808" y="2468880"/>
            <a:ext cx="457200" cy="457200"/>
          </a:xfrm>
          <a:prstGeom prst="ellipse">
            <a:avLst/>
          </a:prstGeom>
          <a:solidFill>
            <a:srgbClr val="EFEDFF"/>
          </a:solidFill>
          <a:ln>
            <a:noFill/>
          </a:ln>
          <a:effectLst/>
        </p:spPr>
        <p:txBody>
          <a:bodyPr rtlCol="0" anchor="ctr"/>
          <a:lstStyle/>
          <a:p>
            <a:pPr algn="ctr"/>
          </a:p>
        </p:txBody>
      </p:sp>
      <p:pic>
        <p:nvPicPr>
          <p:cNvPr id="10" name="Picture 9" descr="scale_4A35FF_256_2.0.png"/>
          <p:cNvPicPr>
            <a:picLocks noChangeAspect="1"/>
          </p:cNvPicPr>
          <p:nvPr/>
        </p:nvPicPr>
        <p:blipFill>
          <a:blip r:embed="rId2"/>
          <a:stretch>
            <a:fillRect/>
          </a:stretch>
        </p:blipFill>
        <p:spPr>
          <a:xfrm>
            <a:off x="859536" y="2578608"/>
            <a:ext cx="237744" cy="237744"/>
          </a:xfrm>
          <a:prstGeom prst="rect">
            <a:avLst/>
          </a:prstGeom>
        </p:spPr>
      </p:pic>
      <p:sp>
        <p:nvSpPr>
          <p:cNvPr id="11" name="TextBox 10"/>
          <p:cNvSpPr txBox="1"/>
          <p:nvPr/>
        </p:nvSpPr>
        <p:spPr>
          <a:xfrm>
            <a:off x="749808" y="3063240"/>
            <a:ext cx="2350008" cy="320040"/>
          </a:xfrm>
          <a:prstGeom prst="rect">
            <a:avLst/>
          </a:prstGeom>
          <a:noFill/>
        </p:spPr>
        <p:txBody>
          <a:bodyPr wrap="square" lIns="0" rIns="0" tIns="0" bIns="0" anchor="t">
            <a:spAutoFit/>
          </a:bodyPr>
          <a:lstStyle/>
          <a:p>
            <a:pPr algn="l">
              <a:lnSpc>
                <a:spcPct val="128000"/>
              </a:lnSpc>
            </a:pPr>
            <a:r>
              <a:rPr sz="1200" b="1" i="0">
                <a:solidFill>
                  <a:srgbClr val="16181D"/>
                </a:solidFill>
                <a:latin typeface="Montserrat"/>
              </a:rPr>
              <a:t>Law &amp; policy</a:t>
            </a:r>
          </a:p>
        </p:txBody>
      </p:sp>
      <p:sp>
        <p:nvSpPr>
          <p:cNvPr id="12" name="TextBox 11"/>
          <p:cNvSpPr txBox="1"/>
          <p:nvPr/>
        </p:nvSpPr>
        <p:spPr>
          <a:xfrm>
            <a:off x="749808" y="3401568"/>
            <a:ext cx="2350008" cy="11887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NALSAR and Delhi University-trained; scheme analysis, RTIs, MoRTH and Parliament-facing engagement.</a:t>
            </a:r>
          </a:p>
        </p:txBody>
      </p:sp>
      <p:sp>
        <p:nvSpPr>
          <p:cNvPr id="13" name="Rounded Rectangle 12"/>
          <p:cNvSpPr/>
          <p:nvPr/>
        </p:nvSpPr>
        <p:spPr>
          <a:xfrm>
            <a:off x="3355848" y="2286000"/>
            <a:ext cx="2715768" cy="237744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14" name="Oval 13"/>
          <p:cNvSpPr/>
          <p:nvPr/>
        </p:nvSpPr>
        <p:spPr>
          <a:xfrm>
            <a:off x="3538728" y="2468880"/>
            <a:ext cx="457200" cy="457200"/>
          </a:xfrm>
          <a:prstGeom prst="ellipse">
            <a:avLst/>
          </a:prstGeom>
          <a:solidFill>
            <a:srgbClr val="E7F4F4"/>
          </a:solidFill>
          <a:ln>
            <a:noFill/>
          </a:ln>
          <a:effectLst/>
        </p:spPr>
        <p:txBody>
          <a:bodyPr rtlCol="0" anchor="ctr"/>
          <a:lstStyle/>
          <a:p>
            <a:pPr algn="ctr"/>
          </a:p>
        </p:txBody>
      </p:sp>
      <p:pic>
        <p:nvPicPr>
          <p:cNvPr id="15" name="Picture 14" descr="cpu_0E8A8A_256_2.0.png"/>
          <p:cNvPicPr>
            <a:picLocks noChangeAspect="1"/>
          </p:cNvPicPr>
          <p:nvPr/>
        </p:nvPicPr>
        <p:blipFill>
          <a:blip r:embed="rId3"/>
          <a:stretch>
            <a:fillRect/>
          </a:stretch>
        </p:blipFill>
        <p:spPr>
          <a:xfrm>
            <a:off x="3648456" y="2578608"/>
            <a:ext cx="237744" cy="237744"/>
          </a:xfrm>
          <a:prstGeom prst="rect">
            <a:avLst/>
          </a:prstGeom>
        </p:spPr>
      </p:pic>
      <p:sp>
        <p:nvSpPr>
          <p:cNvPr id="16" name="TextBox 15"/>
          <p:cNvSpPr txBox="1"/>
          <p:nvPr/>
        </p:nvSpPr>
        <p:spPr>
          <a:xfrm>
            <a:off x="3538728" y="3063240"/>
            <a:ext cx="2350008" cy="320040"/>
          </a:xfrm>
          <a:prstGeom prst="rect">
            <a:avLst/>
          </a:prstGeom>
          <a:noFill/>
        </p:spPr>
        <p:txBody>
          <a:bodyPr wrap="square" lIns="0" rIns="0" tIns="0" bIns="0" anchor="t">
            <a:spAutoFit/>
          </a:bodyPr>
          <a:lstStyle/>
          <a:p>
            <a:pPr algn="l">
              <a:lnSpc>
                <a:spcPct val="128000"/>
              </a:lnSpc>
            </a:pPr>
            <a:r>
              <a:rPr sz="1200" b="1" i="0">
                <a:solidFill>
                  <a:srgbClr val="16181D"/>
                </a:solidFill>
                <a:latin typeface="Montserrat"/>
              </a:rPr>
              <a:t>Technology &amp; product</a:t>
            </a:r>
          </a:p>
        </p:txBody>
      </p:sp>
      <p:sp>
        <p:nvSpPr>
          <p:cNvPr id="17" name="TextBox 16"/>
          <p:cNvSpPr txBox="1"/>
          <p:nvPr/>
        </p:nvSpPr>
        <p:spPr>
          <a:xfrm>
            <a:off x="3538728" y="3401568"/>
            <a:ext cx="2350008" cy="11887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IIT-trained; Aasha, the calculator, dashboards and the portal architecture shown earlier.</a:t>
            </a:r>
          </a:p>
        </p:txBody>
      </p:sp>
      <p:sp>
        <p:nvSpPr>
          <p:cNvPr id="18" name="Rounded Rectangle 17"/>
          <p:cNvSpPr/>
          <p:nvPr/>
        </p:nvSpPr>
        <p:spPr>
          <a:xfrm>
            <a:off x="6144768" y="2286000"/>
            <a:ext cx="2715768" cy="237744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19" name="Oval 18"/>
          <p:cNvSpPr/>
          <p:nvPr/>
        </p:nvSpPr>
        <p:spPr>
          <a:xfrm>
            <a:off x="6327648" y="2468880"/>
            <a:ext cx="457200" cy="457200"/>
          </a:xfrm>
          <a:prstGeom prst="ellipse">
            <a:avLst/>
          </a:prstGeom>
          <a:solidFill>
            <a:srgbClr val="E9F7F0"/>
          </a:solidFill>
          <a:ln>
            <a:noFill/>
          </a:ln>
          <a:effectLst/>
        </p:spPr>
        <p:txBody>
          <a:bodyPr rtlCol="0" anchor="ctr"/>
          <a:lstStyle/>
          <a:p>
            <a:pPr algn="ctr"/>
          </a:p>
        </p:txBody>
      </p:sp>
      <p:pic>
        <p:nvPicPr>
          <p:cNvPr id="20" name="Picture 19" descr="map-pin_0A9955_256_2.0.png"/>
          <p:cNvPicPr>
            <a:picLocks noChangeAspect="1"/>
          </p:cNvPicPr>
          <p:nvPr/>
        </p:nvPicPr>
        <p:blipFill>
          <a:blip r:embed="rId4"/>
          <a:stretch>
            <a:fillRect/>
          </a:stretch>
        </p:blipFill>
        <p:spPr>
          <a:xfrm>
            <a:off x="6437376" y="2578608"/>
            <a:ext cx="237744" cy="237744"/>
          </a:xfrm>
          <a:prstGeom prst="rect">
            <a:avLst/>
          </a:prstGeom>
        </p:spPr>
      </p:pic>
      <p:sp>
        <p:nvSpPr>
          <p:cNvPr id="21" name="TextBox 20"/>
          <p:cNvSpPr txBox="1"/>
          <p:nvPr/>
        </p:nvSpPr>
        <p:spPr>
          <a:xfrm>
            <a:off x="6327648" y="3063240"/>
            <a:ext cx="2350008" cy="320040"/>
          </a:xfrm>
          <a:prstGeom prst="rect">
            <a:avLst/>
          </a:prstGeom>
          <a:noFill/>
        </p:spPr>
        <p:txBody>
          <a:bodyPr wrap="square" lIns="0" rIns="0" tIns="0" bIns="0" anchor="t">
            <a:spAutoFit/>
          </a:bodyPr>
          <a:lstStyle/>
          <a:p>
            <a:pPr algn="l">
              <a:lnSpc>
                <a:spcPct val="128000"/>
              </a:lnSpc>
            </a:pPr>
            <a:r>
              <a:rPr sz="1200" b="1" i="0">
                <a:solidFill>
                  <a:srgbClr val="16181D"/>
                </a:solidFill>
                <a:latin typeface="Montserrat"/>
              </a:rPr>
              <a:t>Field &amp; district practice</a:t>
            </a:r>
          </a:p>
        </p:txBody>
      </p:sp>
      <p:sp>
        <p:nvSpPr>
          <p:cNvPr id="22" name="TextBox 21"/>
          <p:cNvSpPr txBox="1"/>
          <p:nvPr/>
        </p:nvSpPr>
        <p:spPr>
          <a:xfrm>
            <a:off x="6327648" y="3401568"/>
            <a:ext cx="2350008" cy="11887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TISS-trained; district embedding, DRSC work, helpdesk operations, victim interviews.</a:t>
            </a:r>
          </a:p>
        </p:txBody>
      </p:sp>
      <p:sp>
        <p:nvSpPr>
          <p:cNvPr id="23" name="Rounded Rectangle 22"/>
          <p:cNvSpPr/>
          <p:nvPr/>
        </p:nvSpPr>
        <p:spPr>
          <a:xfrm>
            <a:off x="8933688" y="2286000"/>
            <a:ext cx="2715768" cy="237744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24" name="Oval 23"/>
          <p:cNvSpPr/>
          <p:nvPr/>
        </p:nvSpPr>
        <p:spPr>
          <a:xfrm>
            <a:off x="9116568" y="2468880"/>
            <a:ext cx="457200" cy="457200"/>
          </a:xfrm>
          <a:prstGeom prst="ellipse">
            <a:avLst/>
          </a:prstGeom>
          <a:solidFill>
            <a:srgbClr val="FDF3E3"/>
          </a:solidFill>
          <a:ln>
            <a:noFill/>
          </a:ln>
          <a:effectLst/>
        </p:spPr>
        <p:txBody>
          <a:bodyPr rtlCol="0" anchor="ctr"/>
          <a:lstStyle/>
          <a:p>
            <a:pPr algn="ctr"/>
          </a:p>
        </p:txBody>
      </p:sp>
      <p:pic>
        <p:nvPicPr>
          <p:cNvPr id="25" name="Picture 24" descr="message-square_E58900_256_2.0.png"/>
          <p:cNvPicPr>
            <a:picLocks noChangeAspect="1"/>
          </p:cNvPicPr>
          <p:nvPr/>
        </p:nvPicPr>
        <p:blipFill>
          <a:blip r:embed="rId5"/>
          <a:stretch>
            <a:fillRect/>
          </a:stretch>
        </p:blipFill>
        <p:spPr>
          <a:xfrm>
            <a:off x="9226296" y="2578608"/>
            <a:ext cx="237744" cy="237744"/>
          </a:xfrm>
          <a:prstGeom prst="rect">
            <a:avLst/>
          </a:prstGeom>
        </p:spPr>
      </p:pic>
      <p:sp>
        <p:nvSpPr>
          <p:cNvPr id="26" name="TextBox 25"/>
          <p:cNvSpPr txBox="1"/>
          <p:nvPr/>
        </p:nvSpPr>
        <p:spPr>
          <a:xfrm>
            <a:off x="9116568" y="3063240"/>
            <a:ext cx="2350008" cy="320040"/>
          </a:xfrm>
          <a:prstGeom prst="rect">
            <a:avLst/>
          </a:prstGeom>
          <a:noFill/>
        </p:spPr>
        <p:txBody>
          <a:bodyPr wrap="square" lIns="0" rIns="0" tIns="0" bIns="0" anchor="t">
            <a:spAutoFit/>
          </a:bodyPr>
          <a:lstStyle/>
          <a:p>
            <a:pPr algn="l">
              <a:lnSpc>
                <a:spcPct val="128000"/>
              </a:lnSpc>
            </a:pPr>
            <a:r>
              <a:rPr sz="1200" b="1" i="0">
                <a:solidFill>
                  <a:srgbClr val="16181D"/>
                </a:solidFill>
                <a:latin typeface="Montserrat"/>
              </a:rPr>
              <a:t>Behaviour &amp; communication</a:t>
            </a:r>
          </a:p>
        </p:txBody>
      </p:sp>
      <p:sp>
        <p:nvSpPr>
          <p:cNvPr id="27" name="TextBox 26"/>
          <p:cNvSpPr txBox="1"/>
          <p:nvPr/>
        </p:nvSpPr>
        <p:spPr>
          <a:xfrm>
            <a:off x="9116568" y="3401568"/>
            <a:ext cx="2350008" cy="11887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Psychology and design; guides, comics and multilingual communication families actually read.</a:t>
            </a:r>
          </a:p>
        </p:txBody>
      </p:sp>
      <p:sp>
        <p:nvSpPr>
          <p:cNvPr id="28" name="TextBox 27"/>
          <p:cNvSpPr txBox="1"/>
          <p:nvPr/>
        </p:nvSpPr>
        <p:spPr>
          <a:xfrm>
            <a:off x="566928" y="5029200"/>
            <a:ext cx="11057839" cy="640080"/>
          </a:xfrm>
          <a:prstGeom prst="rect">
            <a:avLst/>
          </a:prstGeom>
          <a:noFill/>
        </p:spPr>
        <p:txBody>
          <a:bodyPr wrap="square" lIns="0" rIns="0" tIns="0" bIns="0" anchor="t">
            <a:spAutoFit/>
          </a:bodyPr>
          <a:lstStyle/>
          <a:p>
            <a:pPr algn="l">
              <a:lnSpc>
                <a:spcPct val="135000"/>
              </a:lnSpc>
            </a:pPr>
            <a:r>
              <a:rPr sz="1050" b="1" i="0">
                <a:solidFill>
                  <a:srgbClr val="16181D"/>
                </a:solidFill>
                <a:latin typeface="Geist"/>
              </a:rPr>
              <a:t>Advised by </a:t>
            </a:r>
            <a:r>
              <a:rPr sz="1050" b="0" i="0">
                <a:solidFill>
                  <a:srgbClr val="6E7180"/>
                </a:solidFill>
                <a:latin typeface="Geist"/>
              </a:rPr>
              <a:t>Piyush Tewari (SaveLIFE Foundation), Prof. Geetam Tiwari (IIT Delhi) and Justice J.R. Midha (Retd., Delhi High Court) — with practitioner partners across MACT courts, DLSAs and insurers.</a:t>
            </a: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21 / 23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5 OF 5  ·  OUR CONTRIBUTION</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05 · HOW WE CAN CONTRIBUTE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Four concrete offers to </a:t>
            </a:r>
            <a:r>
              <a:rPr sz="2250" b="1" i="0">
                <a:solidFill>
                  <a:srgbClr val="4A35FF"/>
                </a:solidFill>
                <a:latin typeface="Montserrat"/>
              </a:rPr>
              <a:t>Working Group 5</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All four are ready today, need no funding from the Board, and can begin within weeks.</a:t>
            </a:r>
          </a:p>
        </p:txBody>
      </p:sp>
      <p:sp>
        <p:nvSpPr>
          <p:cNvPr id="8" name="Rounded Rectangle 7"/>
          <p:cNvSpPr/>
          <p:nvPr/>
        </p:nvSpPr>
        <p:spPr>
          <a:xfrm>
            <a:off x="566928" y="2057400"/>
            <a:ext cx="11055096" cy="841248"/>
          </a:xfrm>
          <a:prstGeom prst="roundRect">
            <a:avLst>
              <a:gd name="adj" fmla="val 10000"/>
            </a:avLst>
          </a:prstGeom>
          <a:solidFill>
            <a:srgbClr val="F7F7FA"/>
          </a:solidFill>
          <a:ln>
            <a:noFill/>
          </a:ln>
          <a:effectLst/>
        </p:spPr>
        <p:txBody>
          <a:bodyPr rtlCol="0" anchor="ctr"/>
          <a:lstStyle/>
          <a:p>
            <a:pPr algn="ctr"/>
          </a:p>
        </p:txBody>
      </p:sp>
      <p:sp>
        <p:nvSpPr>
          <p:cNvPr id="9" name="Oval 8"/>
          <p:cNvSpPr/>
          <p:nvPr/>
        </p:nvSpPr>
        <p:spPr>
          <a:xfrm>
            <a:off x="749808" y="2258568"/>
            <a:ext cx="438912" cy="438912"/>
          </a:xfrm>
          <a:prstGeom prst="ellipse">
            <a:avLst/>
          </a:prstGeom>
          <a:solidFill>
            <a:srgbClr val="EFEDFF"/>
          </a:solidFill>
          <a:ln>
            <a:noFill/>
          </a:ln>
          <a:effectLst/>
        </p:spPr>
        <p:txBody>
          <a:bodyPr rtlCol="0" anchor="ctr"/>
          <a:lstStyle/>
          <a:p>
            <a:pPr algn="ctr"/>
          </a:p>
        </p:txBody>
      </p:sp>
      <p:sp>
        <p:nvSpPr>
          <p:cNvPr id="10" name="TextBox 9"/>
          <p:cNvSpPr txBox="1"/>
          <p:nvPr/>
        </p:nvSpPr>
        <p:spPr>
          <a:xfrm>
            <a:off x="749808" y="2247596"/>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1</a:t>
            </a:r>
          </a:p>
        </p:txBody>
      </p:sp>
      <p:sp>
        <p:nvSpPr>
          <p:cNvPr id="11" name="TextBox 10"/>
          <p:cNvSpPr txBox="1"/>
          <p:nvPr/>
        </p:nvSpPr>
        <p:spPr>
          <a:xfrm>
            <a:off x="1408176" y="2176272"/>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A victim-side evidence base</a:t>
            </a:r>
          </a:p>
        </p:txBody>
      </p:sp>
      <p:sp>
        <p:nvSpPr>
          <p:cNvPr id="12" name="TextBox 11"/>
          <p:cNvSpPr txBox="1"/>
          <p:nvPr/>
        </p:nvSpPr>
        <p:spPr>
          <a:xfrm>
            <a:off x="5138928" y="2176272"/>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'Justice Unserved', 120+ victim and family interactions, and file-level audit data showing precisely where eligible families drop out of the process.</a:t>
            </a:r>
          </a:p>
        </p:txBody>
      </p:sp>
      <p:sp>
        <p:nvSpPr>
          <p:cNvPr id="13" name="Rounded Rectangle 12"/>
          <p:cNvSpPr/>
          <p:nvPr/>
        </p:nvSpPr>
        <p:spPr>
          <a:xfrm>
            <a:off x="566928" y="3026664"/>
            <a:ext cx="11055096" cy="841248"/>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14" name="Oval 13"/>
          <p:cNvSpPr/>
          <p:nvPr/>
        </p:nvSpPr>
        <p:spPr>
          <a:xfrm>
            <a:off x="749808" y="3227832"/>
            <a:ext cx="438912" cy="438912"/>
          </a:xfrm>
          <a:prstGeom prst="ellipse">
            <a:avLst/>
          </a:prstGeom>
          <a:solidFill>
            <a:srgbClr val="EFEDFF"/>
          </a:solidFill>
          <a:ln>
            <a:noFill/>
          </a:ln>
          <a:effectLst/>
        </p:spPr>
        <p:txBody>
          <a:bodyPr rtlCol="0" anchor="ctr"/>
          <a:lstStyle/>
          <a:p>
            <a:pPr algn="ctr"/>
          </a:p>
        </p:txBody>
      </p:sp>
      <p:sp>
        <p:nvSpPr>
          <p:cNvPr id="15" name="TextBox 14"/>
          <p:cNvSpPr txBox="1"/>
          <p:nvPr/>
        </p:nvSpPr>
        <p:spPr>
          <a:xfrm>
            <a:off x="749808" y="3216860"/>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2</a:t>
            </a:r>
          </a:p>
        </p:txBody>
      </p:sp>
      <p:sp>
        <p:nvSpPr>
          <p:cNvPr id="16" name="TextBox 15"/>
          <p:cNvSpPr txBox="1"/>
          <p:nvPr/>
        </p:nvSpPr>
        <p:spPr>
          <a:xfrm>
            <a:off x="1408176" y="3145536"/>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A district toolkit, drawn from practice</a:t>
            </a:r>
          </a:p>
        </p:txBody>
      </p:sp>
      <p:sp>
        <p:nvSpPr>
          <p:cNvPr id="17" name="TextBox 16"/>
          <p:cNvSpPr txBox="1"/>
          <p:nvPr/>
        </p:nvSpPr>
        <p:spPr>
          <a:xfrm>
            <a:off x="5138928" y="3145536"/>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Working DRSC integration experience — agendas, file digitisation, fellow placement — ready to be codified into the Group's district toolkit.</a:t>
            </a:r>
          </a:p>
        </p:txBody>
      </p:sp>
      <p:sp>
        <p:nvSpPr>
          <p:cNvPr id="18" name="Rounded Rectangle 17"/>
          <p:cNvSpPr/>
          <p:nvPr/>
        </p:nvSpPr>
        <p:spPr>
          <a:xfrm>
            <a:off x="566928" y="3995928"/>
            <a:ext cx="11055096" cy="841248"/>
          </a:xfrm>
          <a:prstGeom prst="roundRect">
            <a:avLst>
              <a:gd name="adj" fmla="val 10000"/>
            </a:avLst>
          </a:prstGeom>
          <a:solidFill>
            <a:srgbClr val="F7F7FA"/>
          </a:solidFill>
          <a:ln>
            <a:noFill/>
          </a:ln>
          <a:effectLst/>
        </p:spPr>
        <p:txBody>
          <a:bodyPr rtlCol="0" anchor="ctr"/>
          <a:lstStyle/>
          <a:p>
            <a:pPr algn="ctr"/>
          </a:p>
        </p:txBody>
      </p:sp>
      <p:sp>
        <p:nvSpPr>
          <p:cNvPr id="19" name="Oval 18"/>
          <p:cNvSpPr/>
          <p:nvPr/>
        </p:nvSpPr>
        <p:spPr>
          <a:xfrm>
            <a:off x="749808" y="4197096"/>
            <a:ext cx="438912" cy="438912"/>
          </a:xfrm>
          <a:prstGeom prst="ellipse">
            <a:avLst/>
          </a:prstGeom>
          <a:solidFill>
            <a:srgbClr val="EFEDFF"/>
          </a:solidFill>
          <a:ln>
            <a:noFill/>
          </a:ln>
          <a:effectLst/>
        </p:spPr>
        <p:txBody>
          <a:bodyPr rtlCol="0" anchor="ctr"/>
          <a:lstStyle/>
          <a:p>
            <a:pPr algn="ctr"/>
          </a:p>
        </p:txBody>
      </p:sp>
      <p:sp>
        <p:nvSpPr>
          <p:cNvPr id="20" name="TextBox 19"/>
          <p:cNvSpPr txBox="1"/>
          <p:nvPr/>
        </p:nvSpPr>
        <p:spPr>
          <a:xfrm>
            <a:off x="749808" y="4186124"/>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3</a:t>
            </a:r>
          </a:p>
        </p:txBody>
      </p:sp>
      <p:sp>
        <p:nvSpPr>
          <p:cNvPr id="21" name="TextBox 20"/>
          <p:cNvSpPr txBox="1"/>
          <p:nvPr/>
        </p:nvSpPr>
        <p:spPr>
          <a:xfrm>
            <a:off x="1408176" y="4114800"/>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A reusable state portal blueprint</a:t>
            </a:r>
          </a:p>
        </p:txBody>
      </p:sp>
      <p:sp>
        <p:nvSpPr>
          <p:cNvPr id="22" name="TextBox 21"/>
          <p:cNvSpPr txBox="1"/>
          <p:nvPr/>
        </p:nvSpPr>
        <p:spPr>
          <a:xfrm>
            <a:off x="5138928" y="4114800"/>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The Rajasthan case-management design — guided filing, stage-wise visibility, single-pass clarification — offered as a template any state can adapt.</a:t>
            </a:r>
          </a:p>
        </p:txBody>
      </p:sp>
      <p:sp>
        <p:nvSpPr>
          <p:cNvPr id="23" name="Rounded Rectangle 22"/>
          <p:cNvSpPr/>
          <p:nvPr/>
        </p:nvSpPr>
        <p:spPr>
          <a:xfrm>
            <a:off x="566928" y="4965192"/>
            <a:ext cx="11055096" cy="841248"/>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24" name="Oval 23"/>
          <p:cNvSpPr/>
          <p:nvPr/>
        </p:nvSpPr>
        <p:spPr>
          <a:xfrm>
            <a:off x="749808" y="5166360"/>
            <a:ext cx="438912" cy="438912"/>
          </a:xfrm>
          <a:prstGeom prst="ellipse">
            <a:avLst/>
          </a:prstGeom>
          <a:solidFill>
            <a:srgbClr val="EFEDFF"/>
          </a:solidFill>
          <a:ln>
            <a:noFill/>
          </a:ln>
          <a:effectLst/>
        </p:spPr>
        <p:txBody>
          <a:bodyPr rtlCol="0" anchor="ctr"/>
          <a:lstStyle/>
          <a:p>
            <a:pPr algn="ctr"/>
          </a:p>
        </p:txBody>
      </p:sp>
      <p:sp>
        <p:nvSpPr>
          <p:cNvPr id="25" name="TextBox 24"/>
          <p:cNvSpPr txBox="1"/>
          <p:nvPr/>
        </p:nvSpPr>
        <p:spPr>
          <a:xfrm>
            <a:off x="749808" y="5155388"/>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4</a:t>
            </a:r>
          </a:p>
        </p:txBody>
      </p:sp>
      <p:sp>
        <p:nvSpPr>
          <p:cNvPr id="26" name="TextBox 25"/>
          <p:cNvSpPr txBox="1"/>
          <p:nvPr/>
        </p:nvSpPr>
        <p:spPr>
          <a:xfrm>
            <a:off x="1408176" y="5084064"/>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Standards input from the claimant's side</a:t>
            </a:r>
          </a:p>
        </p:txBody>
      </p:sp>
      <p:sp>
        <p:nvSpPr>
          <p:cNvPr id="27" name="TextBox 26"/>
          <p:cNvSpPr txBox="1"/>
          <p:nvPr/>
        </p:nvSpPr>
        <p:spPr>
          <a:xfrm>
            <a:off x="5138928" y="5084064"/>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Document standards (the court-agreed 7), communication standards and timeline benchmarks, grounded in what families actually experience.</a:t>
            </a: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22 / 23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A35FF"/>
          </a:solidFill>
          <a:ln>
            <a:noFill/>
          </a:ln>
          <a:effectLst/>
        </p:spPr>
        <p:txBody>
          <a:bodyPr rtlCol="0" anchor="ctr"/>
          <a:lstStyle/>
          <a:p>
            <a:pPr algn="ctr"/>
          </a:p>
        </p:txBody>
      </p:sp>
      <p:pic>
        <p:nvPicPr>
          <p:cNvPr id="3" name="Picture 2" descr="logo_white.png"/>
          <p:cNvPicPr>
            <a:picLocks noChangeAspect="1"/>
          </p:cNvPicPr>
          <p:nvPr/>
        </p:nvPicPr>
        <p:blipFill>
          <a:blip r:embed="rId2"/>
          <a:stretch>
            <a:fillRect/>
          </a:stretch>
        </p:blipFill>
        <p:spPr>
          <a:xfrm>
            <a:off x="566928" y="566928"/>
            <a:ext cx="1828800" cy="252710"/>
          </a:xfrm>
          <a:prstGeom prst="rect">
            <a:avLst/>
          </a:prstGeom>
        </p:spPr>
      </p:pic>
      <p:sp>
        <p:nvSpPr>
          <p:cNvPr id="4" name="TextBox 3"/>
          <p:cNvSpPr txBox="1"/>
          <p:nvPr/>
        </p:nvSpPr>
        <p:spPr>
          <a:xfrm>
            <a:off x="566928" y="2286000"/>
            <a:ext cx="10515600" cy="1280160"/>
          </a:xfrm>
          <a:prstGeom prst="rect">
            <a:avLst/>
          </a:prstGeom>
          <a:noFill/>
        </p:spPr>
        <p:txBody>
          <a:bodyPr wrap="square" lIns="0" rIns="0" tIns="0" bIns="0" anchor="t">
            <a:spAutoFit/>
          </a:bodyPr>
          <a:lstStyle/>
          <a:p>
            <a:pPr algn="l">
              <a:lnSpc>
                <a:spcPct val="120000"/>
              </a:lnSpc>
            </a:pPr>
            <a:r>
              <a:rPr sz="3000" b="1" i="0">
                <a:solidFill>
                  <a:srgbClr val="FFFFFF"/>
                </a:solidFill>
                <a:latin typeface="Montserrat"/>
              </a:rPr>
              <a:t>We would be honoured to contribute</a:t>
            </a:r>
          </a:p>
          <a:p>
            <a:pPr algn="l">
              <a:lnSpc>
                <a:spcPct val="120000"/>
              </a:lnSpc>
            </a:pPr>
            <a:r>
              <a:rPr sz="3000" b="1" i="0">
                <a:solidFill>
                  <a:srgbClr val="FFFFFF"/>
                </a:solidFill>
                <a:latin typeface="Montserrat"/>
              </a:rPr>
              <a:t>to Working Group 5.</a:t>
            </a:r>
          </a:p>
        </p:txBody>
      </p:sp>
      <p:sp>
        <p:nvSpPr>
          <p:cNvPr id="5" name="TextBox 4"/>
          <p:cNvSpPr txBox="1"/>
          <p:nvPr/>
        </p:nvSpPr>
        <p:spPr>
          <a:xfrm>
            <a:off x="566928" y="3794760"/>
            <a:ext cx="9601200" cy="640080"/>
          </a:xfrm>
          <a:prstGeom prst="rect">
            <a:avLst/>
          </a:prstGeom>
          <a:noFill/>
        </p:spPr>
        <p:txBody>
          <a:bodyPr wrap="square" lIns="0" rIns="0" tIns="0" bIns="0" anchor="t">
            <a:spAutoFit/>
          </a:bodyPr>
          <a:lstStyle/>
          <a:p>
            <a:pPr algn="l">
              <a:lnSpc>
                <a:spcPct val="140000"/>
              </a:lnSpc>
            </a:pPr>
            <a:r>
              <a:rPr sz="1250" b="0" i="0">
                <a:solidFill>
                  <a:srgbClr val="C8C0FF"/>
                </a:solidFill>
                <a:latin typeface="Geist"/>
              </a:rPr>
              <a:t>Our evidence, our district relationships, our technology and our expert bench are available to the Board — in whichever form is most useful.</a:t>
            </a:r>
          </a:p>
        </p:txBody>
      </p:sp>
      <p:pic>
        <p:nvPicPr>
          <p:cNvPr id="6" name="Picture 5" descr="globe_C8C0FF_256_2.0.png"/>
          <p:cNvPicPr>
            <a:picLocks noChangeAspect="1"/>
          </p:cNvPicPr>
          <p:nvPr/>
        </p:nvPicPr>
        <p:blipFill>
          <a:blip r:embed="rId3"/>
          <a:stretch>
            <a:fillRect/>
          </a:stretch>
        </p:blipFill>
        <p:spPr>
          <a:xfrm>
            <a:off x="566928" y="4709160"/>
            <a:ext cx="274320" cy="274320"/>
          </a:xfrm>
          <a:prstGeom prst="rect">
            <a:avLst/>
          </a:prstGeom>
        </p:spPr>
      </p:pic>
      <p:sp>
        <p:nvSpPr>
          <p:cNvPr id="7" name="TextBox 6"/>
          <p:cNvSpPr txBox="1"/>
          <p:nvPr/>
        </p:nvSpPr>
        <p:spPr>
          <a:xfrm>
            <a:off x="1024128" y="4690872"/>
            <a:ext cx="10058400" cy="320040"/>
          </a:xfrm>
          <a:prstGeom prst="rect">
            <a:avLst/>
          </a:prstGeom>
          <a:noFill/>
        </p:spPr>
        <p:txBody>
          <a:bodyPr wrap="square" lIns="0" rIns="0" tIns="0" bIns="0" anchor="t">
            <a:spAutoFit/>
          </a:bodyPr>
          <a:lstStyle/>
          <a:p>
            <a:pPr algn="l">
              <a:lnSpc>
                <a:spcPct val="120000"/>
              </a:lnSpc>
            </a:pPr>
            <a:r>
              <a:rPr sz="1150" b="0" i="0">
                <a:solidFill>
                  <a:srgbClr val="FFFFFF"/>
                </a:solidFill>
                <a:latin typeface="Geist"/>
              </a:rPr>
              <a:t>crashfreeindia.org</a:t>
            </a:r>
          </a:p>
        </p:txBody>
      </p:sp>
      <p:pic>
        <p:nvPicPr>
          <p:cNvPr id="8" name="Picture 7" descr="mail_C8C0FF_256_2.0.png"/>
          <p:cNvPicPr>
            <a:picLocks noChangeAspect="1"/>
          </p:cNvPicPr>
          <p:nvPr/>
        </p:nvPicPr>
        <p:blipFill>
          <a:blip r:embed="rId4"/>
          <a:stretch>
            <a:fillRect/>
          </a:stretch>
        </p:blipFill>
        <p:spPr>
          <a:xfrm>
            <a:off x="566928" y="5184648"/>
            <a:ext cx="274320" cy="274320"/>
          </a:xfrm>
          <a:prstGeom prst="rect">
            <a:avLst/>
          </a:prstGeom>
        </p:spPr>
      </p:pic>
      <p:sp>
        <p:nvSpPr>
          <p:cNvPr id="9" name="TextBox 8"/>
          <p:cNvSpPr txBox="1"/>
          <p:nvPr/>
        </p:nvSpPr>
        <p:spPr>
          <a:xfrm>
            <a:off x="1024128" y="5166360"/>
            <a:ext cx="10058400" cy="320040"/>
          </a:xfrm>
          <a:prstGeom prst="rect">
            <a:avLst/>
          </a:prstGeom>
          <a:noFill/>
        </p:spPr>
        <p:txBody>
          <a:bodyPr wrap="square" lIns="0" rIns="0" tIns="0" bIns="0" anchor="t">
            <a:spAutoFit/>
          </a:bodyPr>
          <a:lstStyle/>
          <a:p>
            <a:pPr algn="l">
              <a:lnSpc>
                <a:spcPct val="120000"/>
              </a:lnSpc>
            </a:pPr>
            <a:r>
              <a:rPr sz="1150" b="0" i="0">
                <a:solidFill>
                  <a:srgbClr val="FFFFFF"/>
                </a:solidFill>
                <a:latin typeface="Geist"/>
              </a:rPr>
              <a:t>akhtar@crashfreeindia.org  ·  helpdesk@crashfreeindia.org</a:t>
            </a:r>
          </a:p>
        </p:txBody>
      </p:sp>
      <p:pic>
        <p:nvPicPr>
          <p:cNvPr id="10" name="Picture 9" descr="layout-dashboard_C8C0FF_256_2.0.png"/>
          <p:cNvPicPr>
            <a:picLocks noChangeAspect="1"/>
          </p:cNvPicPr>
          <p:nvPr/>
        </p:nvPicPr>
        <p:blipFill>
          <a:blip r:embed="rId5"/>
          <a:stretch>
            <a:fillRect/>
          </a:stretch>
        </p:blipFill>
        <p:spPr>
          <a:xfrm>
            <a:off x="566928" y="5660136"/>
            <a:ext cx="274320" cy="274320"/>
          </a:xfrm>
          <a:prstGeom prst="rect">
            <a:avLst/>
          </a:prstGeom>
        </p:spPr>
      </p:pic>
      <p:sp>
        <p:nvSpPr>
          <p:cNvPr id="11" name="TextBox 10"/>
          <p:cNvSpPr txBox="1"/>
          <p:nvPr/>
        </p:nvSpPr>
        <p:spPr>
          <a:xfrm>
            <a:off x="1024128" y="5641848"/>
            <a:ext cx="10058400" cy="320040"/>
          </a:xfrm>
          <a:prstGeom prst="rect">
            <a:avLst/>
          </a:prstGeom>
          <a:noFill/>
        </p:spPr>
        <p:txBody>
          <a:bodyPr wrap="square" lIns="0" rIns="0" tIns="0" bIns="0" anchor="t">
            <a:spAutoFit/>
          </a:bodyPr>
          <a:lstStyle/>
          <a:p>
            <a:pPr algn="l">
              <a:lnSpc>
                <a:spcPct val="120000"/>
              </a:lnSpc>
            </a:pPr>
            <a:r>
              <a:rPr sz="1150" b="0" i="0">
                <a:solidFill>
                  <a:srgbClr val="FFFFFF"/>
                </a:solidFill>
                <a:latin typeface="Geist"/>
              </a:rPr>
              <a:t>Live portals: Rakshak dashboard · SC litigation tracker · crash data · defect repository</a:t>
            </a:r>
          </a:p>
        </p:txBody>
      </p:sp>
      <p:sp>
        <p:nvSpPr>
          <p:cNvPr id="12" name="TextBox 11"/>
          <p:cNvSpPr txBox="1"/>
          <p:nvPr/>
        </p:nvSpPr>
        <p:spPr>
          <a:xfrm>
            <a:off x="566928" y="6419088"/>
            <a:ext cx="10972800" cy="274320"/>
          </a:xfrm>
          <a:prstGeom prst="rect">
            <a:avLst/>
          </a:prstGeom>
          <a:noFill/>
        </p:spPr>
        <p:txBody>
          <a:bodyPr wrap="square" lIns="0" rIns="0" tIns="0" bIns="0" anchor="t">
            <a:spAutoFit/>
          </a:bodyPr>
          <a:lstStyle/>
          <a:p>
            <a:pPr algn="l">
              <a:lnSpc>
                <a:spcPct val="128000"/>
              </a:lnSpc>
            </a:pPr>
            <a:r>
              <a:rPr sz="950" b="0" i="0">
                <a:solidFill>
                  <a:srgbClr val="C8C0FF"/>
                </a:solidFill>
                <a:latin typeface="Geist"/>
              </a:rPr>
              <a:t>Crashfree India · A Cars24 commitment · Operated by Vision Zero Trust, New Delhi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