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 Id="rId4" Type="http://schemas.openxmlformats.org/officeDocument/2006/relationships/image" Target="../media/image13.jpg"/><Relationship Id="rId5" Type="http://schemas.openxmlformats.org/officeDocument/2006/relationships/image" Target="../media/image14.jpg"/><Relationship Id="rId6" Type="http://schemas.openxmlformats.org/officeDocument/2006/relationships/image" Target="../media/image15.jpg"/><Relationship Id="rId7" Type="http://schemas.openxmlformats.org/officeDocument/2006/relationships/image" Target="../media/image1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19.jp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26.png"/><Relationship Id="rId11" Type="http://schemas.openxmlformats.org/officeDocument/2006/relationships/image" Target="../media/image2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image" Target="../media/image29.png"/><Relationship Id="rId4" Type="http://schemas.openxmlformats.org/officeDocument/2006/relationships/image" Target="../media/image8.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png"/><Relationship Id="rId8" Type="http://schemas.openxmlformats.org/officeDocument/2006/relationships/image" Target="../media/image39.jpg"/><Relationship Id="rId9" Type="http://schemas.openxmlformats.org/officeDocument/2006/relationships/image" Target="../media/image4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image" Target="../media/image42.png"/><Relationship Id="rId4" Type="http://schemas.openxmlformats.org/officeDocument/2006/relationships/image" Target="../media/image4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48.png"/><Relationship Id="rId4" Type="http://schemas.openxmlformats.org/officeDocument/2006/relationships/image" Target="../media/image49.png"/><Relationship Id="rId5" Type="http://schemas.openxmlformats.org/officeDocument/2006/relationships/image" Target="../media/image5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image" Target="../media/image52.jp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7.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63.png"/><Relationship Id="rId10" Type="http://schemas.openxmlformats.org/officeDocument/2006/relationships/image" Target="../media/image64.png"/><Relationship Id="rId11" Type="http://schemas.openxmlformats.org/officeDocument/2006/relationships/image" Target="../media/image65.png"/><Relationship Id="rId12" Type="http://schemas.openxmlformats.org/officeDocument/2006/relationships/image" Target="../media/image66.png"/><Relationship Id="rId13" Type="http://schemas.openxmlformats.org/officeDocument/2006/relationships/image" Target="../media/image67.png"/><Relationship Id="rId14" Type="http://schemas.openxmlformats.org/officeDocument/2006/relationships/image" Target="../media/image6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70.png"/><Relationship Id="rId6" Type="http://schemas.openxmlformats.org/officeDocument/2006/relationships/image" Target="../media/image4.png"/><Relationship Id="rId7" Type="http://schemas.openxmlformats.org/officeDocument/2006/relationships/image" Target="../media/image71.png"/><Relationship Id="rId8" Type="http://schemas.openxmlformats.org/officeDocument/2006/relationships/image" Target="../media/image72.png"/><Relationship Id="rId9" Type="http://schemas.openxmlformats.org/officeDocument/2006/relationships/image" Target="../media/image73.png"/><Relationship Id="rId10" Type="http://schemas.openxmlformats.org/officeDocument/2006/relationships/image" Target="../media/image74.png"/><Relationship Id="rId11" Type="http://schemas.openxmlformats.org/officeDocument/2006/relationships/image" Target="../media/image7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image" Target="../media/image78.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logo_blue.png"/>
          <p:cNvPicPr>
            <a:picLocks noChangeAspect="1"/>
          </p:cNvPicPr>
          <p:nvPr/>
        </p:nvPicPr>
        <p:blipFill>
          <a:blip r:embed="rId2"/>
          <a:stretch>
            <a:fillRect/>
          </a:stretch>
        </p:blipFill>
        <p:spPr>
          <a:xfrm>
            <a:off x="566928" y="457200"/>
            <a:ext cx="1691640" cy="233757"/>
          </a:xfrm>
          <a:prstGeom prst="rect">
            <a:avLst/>
          </a:prstGeom>
        </p:spPr>
      </p:pic>
      <p:sp>
        <p:nvSpPr>
          <p:cNvPr id="4" name="TextBox 3"/>
          <p:cNvSpPr txBox="1"/>
          <p:nvPr/>
        </p:nvSpPr>
        <p:spPr>
          <a:xfrm>
            <a:off x="8424367" y="502920"/>
            <a:ext cx="3200400" cy="274320"/>
          </a:xfrm>
          <a:prstGeom prst="rect">
            <a:avLst/>
          </a:prstGeom>
          <a:noFill/>
        </p:spPr>
        <p:txBody>
          <a:bodyPr wrap="square" lIns="0" rIns="0" tIns="0" bIns="0" anchor="t">
            <a:spAutoFit/>
          </a:bodyPr>
          <a:lstStyle/>
          <a:p>
            <a:pPr algn="r">
              <a:lnSpc>
                <a:spcPct val="128000"/>
              </a:lnSpc>
            </a:pPr>
            <a:r>
              <a:rPr sz="900" b="1" i="0" spc="180">
                <a:solidFill>
                  <a:srgbClr val="6E7180"/>
                </a:solidFill>
                <a:latin typeface="Montserrat"/>
              </a:rPr>
              <a:t>A BRIEFING FOR MENTORS  ·  2026</a:t>
            </a:r>
          </a:p>
        </p:txBody>
      </p:sp>
      <p:sp>
        <p:nvSpPr>
          <p:cNvPr id="5" name="TextBox 4"/>
          <p:cNvSpPr txBox="1"/>
          <p:nvPr/>
        </p:nvSpPr>
        <p:spPr>
          <a:xfrm>
            <a:off x="566928" y="1517904"/>
            <a:ext cx="7498079" cy="274320"/>
          </a:xfrm>
          <a:prstGeom prst="rect">
            <a:avLst/>
          </a:prstGeom>
          <a:noFill/>
        </p:spPr>
        <p:txBody>
          <a:bodyPr wrap="square" lIns="0" rIns="0" tIns="0" bIns="0" anchor="t">
            <a:spAutoFit/>
          </a:bodyPr>
          <a:lstStyle/>
          <a:p>
            <a:pPr algn="l">
              <a:lnSpc>
                <a:spcPct val="128000"/>
              </a:lnSpc>
            </a:pPr>
            <a:r>
              <a:rPr sz="1050" b="1" i="0" spc="220">
                <a:solidFill>
                  <a:srgbClr val="4A35FF"/>
                </a:solidFill>
                <a:latin typeface="Montserrat"/>
              </a:rPr>
              <a:t>A ROAD SAFETY NONPROFIT  ·  NEW DELHI</a:t>
            </a:r>
          </a:p>
        </p:txBody>
      </p:sp>
      <p:sp>
        <p:nvSpPr>
          <p:cNvPr id="6" name="TextBox 5"/>
          <p:cNvSpPr txBox="1"/>
          <p:nvPr/>
        </p:nvSpPr>
        <p:spPr>
          <a:xfrm>
            <a:off x="566928" y="1901952"/>
            <a:ext cx="7589520" cy="777240"/>
          </a:xfrm>
          <a:prstGeom prst="rect">
            <a:avLst/>
          </a:prstGeom>
          <a:noFill/>
        </p:spPr>
        <p:txBody>
          <a:bodyPr wrap="square" lIns="0" rIns="0" tIns="0" bIns="0" anchor="t">
            <a:spAutoFit/>
          </a:bodyPr>
          <a:lstStyle/>
          <a:p>
            <a:pPr algn="l">
              <a:lnSpc>
                <a:spcPct val="100000"/>
              </a:lnSpc>
            </a:pPr>
            <a:r>
              <a:rPr sz="4600" b="1" i="0">
                <a:solidFill>
                  <a:srgbClr val="16181D"/>
                </a:solidFill>
                <a:latin typeface="Montserrat"/>
              </a:rPr>
              <a:t>Crashfree India</a:t>
            </a:r>
          </a:p>
        </p:txBody>
      </p:sp>
      <p:sp>
        <p:nvSpPr>
          <p:cNvPr id="7" name="TextBox 6"/>
          <p:cNvSpPr txBox="1"/>
          <p:nvPr/>
        </p:nvSpPr>
        <p:spPr>
          <a:xfrm>
            <a:off x="566928" y="2779776"/>
            <a:ext cx="7589520" cy="777240"/>
          </a:xfrm>
          <a:prstGeom prst="rect">
            <a:avLst/>
          </a:prstGeom>
          <a:noFill/>
        </p:spPr>
        <p:txBody>
          <a:bodyPr wrap="square" lIns="0" rIns="0" tIns="0" bIns="0" anchor="t">
            <a:spAutoFit/>
          </a:bodyPr>
          <a:lstStyle/>
          <a:p>
            <a:pPr algn="l">
              <a:lnSpc>
                <a:spcPct val="125000"/>
              </a:lnSpc>
            </a:pPr>
            <a:r>
              <a:rPr sz="1600" b="1" i="0">
                <a:solidFill>
                  <a:srgbClr val="4A35FF"/>
                </a:solidFill>
                <a:latin typeface="Montserrat"/>
              </a:rPr>
              <a:t>Technology and governance for road safety,</a:t>
            </a:r>
          </a:p>
          <a:p>
            <a:pPr algn="l">
              <a:lnSpc>
                <a:spcPct val="125000"/>
              </a:lnSpc>
            </a:pPr>
            <a:r>
              <a:rPr sz="1600" b="1" i="0">
                <a:solidFill>
                  <a:srgbClr val="4A35FF"/>
                </a:solidFill>
                <a:latin typeface="Montserrat"/>
              </a:rPr>
              <a:t>built into an institution designed to make itself redundant</a:t>
            </a:r>
          </a:p>
        </p:txBody>
      </p:sp>
      <p:sp>
        <p:nvSpPr>
          <p:cNvPr id="8" name="Oval 7"/>
          <p:cNvSpPr/>
          <p:nvPr/>
        </p:nvSpPr>
        <p:spPr>
          <a:xfrm>
            <a:off x="566928" y="4133087"/>
            <a:ext cx="365760" cy="365760"/>
          </a:xfrm>
          <a:prstGeom prst="ellipse">
            <a:avLst/>
          </a:prstGeom>
          <a:solidFill>
            <a:srgbClr val="EFEDFF"/>
          </a:solidFill>
          <a:ln>
            <a:noFill/>
          </a:ln>
          <a:effectLst/>
        </p:spPr>
        <p:txBody>
          <a:bodyPr rtlCol="0" anchor="ctr"/>
          <a:lstStyle/>
          <a:p>
            <a:pPr algn="ctr"/>
          </a:p>
        </p:txBody>
      </p:sp>
      <p:pic>
        <p:nvPicPr>
          <p:cNvPr id="9" name="Picture 8" descr="cpu_4A35FF_256_2.0.png"/>
          <p:cNvPicPr>
            <a:picLocks noChangeAspect="1"/>
          </p:cNvPicPr>
          <p:nvPr/>
        </p:nvPicPr>
        <p:blipFill>
          <a:blip r:embed="rId3"/>
          <a:stretch>
            <a:fillRect/>
          </a:stretch>
        </p:blipFill>
        <p:spPr>
          <a:xfrm>
            <a:off x="654710" y="4220869"/>
            <a:ext cx="190195" cy="190195"/>
          </a:xfrm>
          <a:prstGeom prst="rect">
            <a:avLst/>
          </a:prstGeom>
        </p:spPr>
      </p:pic>
      <p:sp>
        <p:nvSpPr>
          <p:cNvPr id="10" name="TextBox 9"/>
          <p:cNvSpPr txBox="1"/>
          <p:nvPr/>
        </p:nvSpPr>
        <p:spPr>
          <a:xfrm>
            <a:off x="1078992" y="4178807"/>
            <a:ext cx="717804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Digital public goods: enforcement AI, open data platforms, victim tools on WhatsApp</a:t>
            </a:r>
          </a:p>
        </p:txBody>
      </p:sp>
      <p:sp>
        <p:nvSpPr>
          <p:cNvPr id="11" name="Oval 10"/>
          <p:cNvSpPr/>
          <p:nvPr/>
        </p:nvSpPr>
        <p:spPr>
          <a:xfrm>
            <a:off x="566928" y="4681727"/>
            <a:ext cx="365760" cy="365760"/>
          </a:xfrm>
          <a:prstGeom prst="ellipse">
            <a:avLst/>
          </a:prstGeom>
          <a:solidFill>
            <a:srgbClr val="EFEDFF"/>
          </a:solidFill>
          <a:ln>
            <a:noFill/>
          </a:ln>
          <a:effectLst/>
        </p:spPr>
        <p:txBody>
          <a:bodyPr rtlCol="0" anchor="ctr"/>
          <a:lstStyle/>
          <a:p>
            <a:pPr algn="ctr"/>
          </a:p>
        </p:txBody>
      </p:sp>
      <p:pic>
        <p:nvPicPr>
          <p:cNvPr id="12" name="Picture 11" descr="landmark_4A35FF_256_2.0.png"/>
          <p:cNvPicPr>
            <a:picLocks noChangeAspect="1"/>
          </p:cNvPicPr>
          <p:nvPr/>
        </p:nvPicPr>
        <p:blipFill>
          <a:blip r:embed="rId4"/>
          <a:stretch>
            <a:fillRect/>
          </a:stretch>
        </p:blipFill>
        <p:spPr>
          <a:xfrm>
            <a:off x="654710" y="4769509"/>
            <a:ext cx="190195" cy="190195"/>
          </a:xfrm>
          <a:prstGeom prst="rect">
            <a:avLst/>
          </a:prstGeom>
        </p:spPr>
      </p:pic>
      <p:sp>
        <p:nvSpPr>
          <p:cNvPr id="13" name="TextBox 12"/>
          <p:cNvSpPr txBox="1"/>
          <p:nvPr/>
        </p:nvSpPr>
        <p:spPr>
          <a:xfrm>
            <a:off x="1078992" y="4727447"/>
            <a:ext cx="717804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Governance from inside: 4 district committee seats, police MoUs, 25+ written approvals</a:t>
            </a:r>
          </a:p>
        </p:txBody>
      </p:sp>
      <p:sp>
        <p:nvSpPr>
          <p:cNvPr id="14" name="Oval 13"/>
          <p:cNvSpPr/>
          <p:nvPr/>
        </p:nvSpPr>
        <p:spPr>
          <a:xfrm>
            <a:off x="566928" y="5230367"/>
            <a:ext cx="365760" cy="365760"/>
          </a:xfrm>
          <a:prstGeom prst="ellipse">
            <a:avLst/>
          </a:prstGeom>
          <a:solidFill>
            <a:srgbClr val="EFEDFF"/>
          </a:solidFill>
          <a:ln>
            <a:noFill/>
          </a:ln>
          <a:effectLst/>
        </p:spPr>
        <p:txBody>
          <a:bodyPr rtlCol="0" anchor="ctr"/>
          <a:lstStyle/>
          <a:p>
            <a:pPr algn="ctr"/>
          </a:p>
        </p:txBody>
      </p:sp>
      <p:pic>
        <p:nvPicPr>
          <p:cNvPr id="15" name="Picture 14" descr="building-2_4A35FF_256_2.0.png"/>
          <p:cNvPicPr>
            <a:picLocks noChangeAspect="1"/>
          </p:cNvPicPr>
          <p:nvPr/>
        </p:nvPicPr>
        <p:blipFill>
          <a:blip r:embed="rId5"/>
          <a:stretch>
            <a:fillRect/>
          </a:stretch>
        </p:blipFill>
        <p:spPr>
          <a:xfrm>
            <a:off x="654710" y="5318149"/>
            <a:ext cx="190195" cy="190195"/>
          </a:xfrm>
          <a:prstGeom prst="rect">
            <a:avLst/>
          </a:prstGeom>
        </p:spPr>
      </p:pic>
      <p:sp>
        <p:nvSpPr>
          <p:cNvPr id="16" name="TextBox 15"/>
          <p:cNvSpPr txBox="1"/>
          <p:nvPr/>
        </p:nvSpPr>
        <p:spPr>
          <a:xfrm>
            <a:off x="1078992" y="5276087"/>
            <a:ext cx="717804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Standards, manuals and dashboards built so the system can run this work without us</a:t>
            </a:r>
          </a:p>
        </p:txBody>
      </p:sp>
      <p:sp>
        <p:nvSpPr>
          <p:cNvPr id="17" name="TextBox 16"/>
          <p:cNvSpPr txBox="1"/>
          <p:nvPr/>
        </p:nvSpPr>
        <p:spPr>
          <a:xfrm>
            <a:off x="566928" y="5870448"/>
            <a:ext cx="7680960" cy="274320"/>
          </a:xfrm>
          <a:prstGeom prst="rect">
            <a:avLst/>
          </a:prstGeom>
          <a:noFill/>
        </p:spPr>
        <p:txBody>
          <a:bodyPr wrap="square" lIns="0" rIns="0" tIns="0" bIns="0" anchor="t">
            <a:spAutoFit/>
          </a:bodyPr>
          <a:lstStyle/>
          <a:p>
            <a:pPr algn="l">
              <a:lnSpc>
                <a:spcPct val="128000"/>
              </a:lnSpc>
            </a:pPr>
            <a:r>
              <a:rPr sz="900" b="1" i="0" spc="160">
                <a:solidFill>
                  <a:srgbClr val="4A35FF"/>
                </a:solidFill>
                <a:latin typeface="Montserrat"/>
              </a:rPr>
              <a:t>FOCUS AREAS   </a:t>
            </a:r>
            <a:r>
              <a:rPr sz="950" b="1" i="0">
                <a:solidFill>
                  <a:srgbClr val="16181D"/>
                </a:solidFill>
                <a:latin typeface="Montserrat"/>
              </a:rPr>
              <a:t>Road infrastructure · Enforcement · Crash compensation · Gig rider safety · School zones · Open data</a:t>
            </a:r>
          </a:p>
        </p:txBody>
      </p:sp>
      <p:sp>
        <p:nvSpPr>
          <p:cNvPr id="18" name="TextBox 17"/>
          <p:cNvSpPr txBox="1"/>
          <p:nvPr/>
        </p:nvSpPr>
        <p:spPr>
          <a:xfrm>
            <a:off x="566928" y="6327648"/>
            <a:ext cx="7863840"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Registered as the Vision Zero Trust · A Cars24 commitment · Co-founded with the Indian Road Safety Council</a:t>
            </a:r>
          </a:p>
        </p:txBody>
      </p:sp>
      <p:sp>
        <p:nvSpPr>
          <p:cNvPr id="19" name="TextBox 18"/>
          <p:cNvSpPr txBox="1"/>
          <p:nvPr/>
        </p:nvSpPr>
        <p:spPr>
          <a:xfrm>
            <a:off x="9247327" y="6327648"/>
            <a:ext cx="2377440" cy="274320"/>
          </a:xfrm>
          <a:prstGeom prst="rect">
            <a:avLst/>
          </a:prstGeom>
          <a:noFill/>
        </p:spPr>
        <p:txBody>
          <a:bodyPr wrap="square" lIns="0" rIns="0" tIns="0" bIns="0" anchor="t">
            <a:spAutoFit/>
          </a:bodyPr>
          <a:lstStyle/>
          <a:p>
            <a:pPr algn="r">
              <a:lnSpc>
                <a:spcPct val="128000"/>
              </a:lnSpc>
            </a:pPr>
            <a:r>
              <a:rPr sz="950" b="1" i="0">
                <a:solidFill>
                  <a:srgbClr val="4A35FF"/>
                </a:solidFill>
                <a:latin typeface="Montserrat"/>
              </a:rPr>
              <a:t>crashfreeindia.org</a:t>
            </a:r>
          </a:p>
        </p:txBody>
      </p:sp>
      <p:pic>
        <p:nvPicPr>
          <p:cNvPr id="20" name="Picture 19" descr="ph_dhoni_white.jpg_3.60x4.90_0.12.jpg"/>
          <p:cNvPicPr>
            <a:picLocks noChangeAspect="1"/>
          </p:cNvPicPr>
          <p:nvPr/>
        </p:nvPicPr>
        <p:blipFill>
          <a:blip r:embed="rId6"/>
          <a:stretch>
            <a:fillRect/>
          </a:stretch>
        </p:blipFill>
        <p:spPr>
          <a:xfrm>
            <a:off x="8321040" y="1051560"/>
            <a:ext cx="3291840" cy="4480560"/>
          </a:xfrm>
          <a:prstGeom prst="rect">
            <a:avLst/>
          </a:prstGeom>
        </p:spPr>
      </p:pic>
      <p:sp>
        <p:nvSpPr>
          <p:cNvPr id="21" name="Rectangle 20"/>
          <p:cNvSpPr/>
          <p:nvPr/>
        </p:nvSpPr>
        <p:spPr>
          <a:xfrm>
            <a:off x="8321040" y="1051560"/>
            <a:ext cx="3291840" cy="4480560"/>
          </a:xfrm>
          <a:prstGeom prst="rect">
            <a:avLst/>
          </a:prstGeom>
          <a:noFill/>
          <a:ln w="12700">
            <a:solidFill>
              <a:srgbClr val="E8E9EE"/>
            </a:solidFill>
          </a:ln>
          <a:effectLst/>
        </p:spPr>
        <p:txBody>
          <a:bodyPr rtlCol="0" anchor="ctr"/>
          <a:lstStyle/>
          <a:p>
            <a:pPr algn="ctr"/>
          </a:p>
        </p:txBody>
      </p:sp>
      <p:sp>
        <p:nvSpPr>
          <p:cNvPr id="22" name="Rectangle 21"/>
          <p:cNvSpPr/>
          <p:nvPr/>
        </p:nvSpPr>
        <p:spPr>
          <a:xfrm>
            <a:off x="8321040" y="5020056"/>
            <a:ext cx="3291840" cy="512064"/>
          </a:xfrm>
          <a:prstGeom prst="rect">
            <a:avLst/>
          </a:prstGeom>
          <a:solidFill>
            <a:srgbClr val="4A35FF"/>
          </a:solidFill>
          <a:ln>
            <a:noFill/>
          </a:ln>
          <a:effectLst/>
        </p:spPr>
        <p:txBody>
          <a:bodyPr rtlCol="0" anchor="ctr"/>
          <a:lstStyle/>
          <a:p>
            <a:pPr algn="ctr"/>
          </a:p>
        </p:txBody>
      </p:sp>
      <p:sp>
        <p:nvSpPr>
          <p:cNvPr id="23" name="TextBox 22"/>
          <p:cNvSpPr txBox="1"/>
          <p:nvPr/>
        </p:nvSpPr>
        <p:spPr>
          <a:xfrm>
            <a:off x="8321040" y="5056632"/>
            <a:ext cx="3291840" cy="457200"/>
          </a:xfrm>
          <a:prstGeom prst="rect">
            <a:avLst/>
          </a:prstGeom>
          <a:noFill/>
        </p:spPr>
        <p:txBody>
          <a:bodyPr wrap="square" lIns="0" rIns="0" tIns="0" bIns="0" anchor="t">
            <a:spAutoFit/>
          </a:bodyPr>
          <a:lstStyle/>
          <a:p>
            <a:pPr algn="ctr">
              <a:lnSpc>
                <a:spcPct val="115000"/>
              </a:lnSpc>
            </a:pPr>
            <a:r>
              <a:rPr sz="850" b="1" i="0" spc="100">
                <a:solidFill>
                  <a:srgbClr val="FFFFFF"/>
                </a:solidFill>
                <a:latin typeface="Montserrat"/>
              </a:rPr>
              <a:t>MS DHONI · GOODWILL AMBASSADOR,</a:t>
            </a:r>
          </a:p>
          <a:p>
            <a:pPr algn="ctr">
              <a:lnSpc>
                <a:spcPct val="115000"/>
              </a:lnSpc>
            </a:pPr>
            <a:r>
              <a:rPr sz="850" b="1" i="0" spc="100">
                <a:solidFill>
                  <a:srgbClr val="FFFFFF"/>
                </a:solidFill>
                <a:latin typeface="Montserrat"/>
              </a:rPr>
              <a:t>CRASHFREE INDIA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BEFORE THE SLIDES</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A personal </a:t>
            </a:r>
            <a:r>
              <a:rPr sz="2250" b="1" i="0">
                <a:solidFill>
                  <a:srgbClr val="4A35FF"/>
                </a:solidFill>
                <a:latin typeface="Montserrat"/>
              </a:rPr>
              <a:t>note</a:t>
            </a:r>
          </a:p>
        </p:txBody>
      </p:sp>
      <p:sp>
        <p:nvSpPr>
          <p:cNvPr id="6" name="Rectangle 5"/>
          <p:cNvSpPr/>
          <p:nvPr/>
        </p:nvSpPr>
        <p:spPr>
          <a:xfrm>
            <a:off x="1435608" y="1371600"/>
            <a:ext cx="9326880" cy="4956048"/>
          </a:xfrm>
          <a:prstGeom prst="rect">
            <a:avLst/>
          </a:prstGeom>
          <a:solidFill>
            <a:srgbClr val="FFFFFF"/>
          </a:solidFill>
          <a:ln w="15240">
            <a:solidFill>
              <a:srgbClr val="E8E9EE"/>
            </a:solidFill>
          </a:ln>
          <a:effectLst/>
        </p:spPr>
        <p:txBody>
          <a:bodyPr rtlCol="0" anchor="ctr"/>
          <a:lstStyle/>
          <a:p>
            <a:pPr algn="ctr"/>
          </a:p>
        </p:txBody>
      </p:sp>
      <p:sp>
        <p:nvSpPr>
          <p:cNvPr id="7" name="Rectangle 6"/>
          <p:cNvSpPr/>
          <p:nvPr/>
        </p:nvSpPr>
        <p:spPr>
          <a:xfrm>
            <a:off x="1435608" y="1371600"/>
            <a:ext cx="9326880" cy="54864"/>
          </a:xfrm>
          <a:prstGeom prst="rect">
            <a:avLst/>
          </a:prstGeom>
          <a:solidFill>
            <a:srgbClr val="4A35FF"/>
          </a:solidFill>
          <a:ln>
            <a:noFill/>
          </a:ln>
          <a:effectLst/>
        </p:spPr>
        <p:txBody>
          <a:bodyPr rtlCol="0" anchor="ctr"/>
          <a:lstStyle/>
          <a:p>
            <a:pPr algn="ctr"/>
          </a:p>
        </p:txBody>
      </p:sp>
      <p:pic>
        <p:nvPicPr>
          <p:cNvPr id="8" name="Picture 7" descr="logo_blue.png"/>
          <p:cNvPicPr>
            <a:picLocks noChangeAspect="1"/>
          </p:cNvPicPr>
          <p:nvPr/>
        </p:nvPicPr>
        <p:blipFill>
          <a:blip r:embed="rId2"/>
          <a:stretch>
            <a:fillRect/>
          </a:stretch>
        </p:blipFill>
        <p:spPr>
          <a:xfrm>
            <a:off x="1892808" y="1664208"/>
            <a:ext cx="1234440" cy="170579"/>
          </a:xfrm>
          <a:prstGeom prst="rect">
            <a:avLst/>
          </a:prstGeom>
        </p:spPr>
      </p:pic>
      <p:sp>
        <p:nvSpPr>
          <p:cNvPr id="9" name="TextBox 8"/>
          <p:cNvSpPr txBox="1"/>
          <p:nvPr/>
        </p:nvSpPr>
        <p:spPr>
          <a:xfrm>
            <a:off x="7836408" y="1700784"/>
            <a:ext cx="2468880" cy="274320"/>
          </a:xfrm>
          <a:prstGeom prst="rect">
            <a:avLst/>
          </a:prstGeom>
          <a:noFill/>
        </p:spPr>
        <p:txBody>
          <a:bodyPr wrap="square" lIns="0" rIns="0" tIns="0" bIns="0" anchor="t">
            <a:spAutoFit/>
          </a:bodyPr>
          <a:lstStyle/>
          <a:p>
            <a:pPr algn="r">
              <a:lnSpc>
                <a:spcPct val="128000"/>
              </a:lnSpc>
            </a:pPr>
            <a:r>
              <a:rPr sz="950" b="0" i="0">
                <a:solidFill>
                  <a:srgbClr val="6E7180"/>
                </a:solidFill>
                <a:latin typeface="Geist"/>
              </a:rPr>
              <a:t>New Delhi · August 2026</a:t>
            </a:r>
          </a:p>
        </p:txBody>
      </p:sp>
      <p:sp>
        <p:nvSpPr>
          <p:cNvPr id="10" name="TextBox 9"/>
          <p:cNvSpPr txBox="1"/>
          <p:nvPr/>
        </p:nvSpPr>
        <p:spPr>
          <a:xfrm>
            <a:off x="1892808" y="2212848"/>
            <a:ext cx="8412480" cy="3383280"/>
          </a:xfrm>
          <a:prstGeom prst="rect">
            <a:avLst/>
          </a:prstGeom>
          <a:noFill/>
        </p:spPr>
        <p:txBody>
          <a:bodyPr wrap="square" lIns="0" rIns="0" tIns="0" bIns="0" anchor="t">
            <a:spAutoFit/>
          </a:bodyPr>
          <a:lstStyle/>
          <a:p>
            <a:pPr algn="l">
              <a:lnSpc>
                <a:spcPct val="128000"/>
              </a:lnSpc>
              <a:spcAft>
                <a:spcPts val="650"/>
              </a:spcAft>
            </a:pPr>
            <a:r>
              <a:rPr sz="1040" b="0" i="0">
                <a:solidFill>
                  <a:srgbClr val="16181D"/>
                </a:solidFill>
                <a:latin typeface="Geist"/>
              </a:rPr>
              <a:t>Dear friend,</a:t>
            </a:r>
          </a:p>
          <a:p>
            <a:pPr algn="l">
              <a:lnSpc>
                <a:spcPct val="128000"/>
              </a:lnSpc>
              <a:spcAft>
                <a:spcPts val="650"/>
              </a:spcAft>
            </a:pPr>
            <a:r>
              <a:rPr sz="1040" b="0" i="0">
                <a:solidFill>
                  <a:srgbClr val="16181D"/>
                </a:solidFill>
                <a:latin typeface="Geist"/>
              </a:rPr>
              <a:t>This deck goes to a small set of people whose judgement I deeply admire. I am writing to ask for something specific: your counsel, from time to time, as Crashfree India grows.</a:t>
            </a:r>
          </a:p>
          <a:p>
            <a:pPr algn="l">
              <a:lnSpc>
                <a:spcPct val="128000"/>
              </a:lnSpc>
              <a:spcAft>
                <a:spcPts val="650"/>
              </a:spcAft>
            </a:pPr>
            <a:r>
              <a:rPr sz="1040" b="0" i="0">
                <a:solidFill>
                  <a:srgbClr val="16181D"/>
                </a:solidFill>
                <a:latin typeface="Geist"/>
              </a:rPr>
              <a:t>Crashfree India is a road safety nonprofit, registered as the Vision Zero Trust, co-founded with the Indian Road Safety Council and backed by Cars24. India loses more than 1.7 lakh lives on its roads every year. In our first year we built an audit-to-implementation engine that has moved 15 dangerous sites into rectification, an AI enforcement platform running with three police forces, a compensation practice that follows crash victims' families from FIR to disbursal, and open data platforms that turn scattered public records into citable evidence. MS Dhoni carries this message to the country as our Goodwill Ambassador.</a:t>
            </a:r>
          </a:p>
          <a:p>
            <a:pPr algn="l">
              <a:lnSpc>
                <a:spcPct val="128000"/>
              </a:lnSpc>
              <a:spcAft>
                <a:spcPts val="650"/>
              </a:spcAft>
            </a:pPr>
            <a:r>
              <a:rPr sz="1040" b="0" i="0">
                <a:solidFill>
                  <a:srgbClr val="16181D"/>
                </a:solidFill>
                <a:latin typeface="Geist"/>
              </a:rPr>
              <a:t>The work has reached the stage where ambition can outrun experience. We are deciding which programmes become institutions, how to work with government at scale, and how to build an organisation that can hold this mission for a decade. On questions like these, we have more energy than experience, and we know it.</a:t>
            </a:r>
          </a:p>
          <a:p>
            <a:pPr algn="l">
              <a:lnSpc>
                <a:spcPct val="128000"/>
              </a:lnSpc>
              <a:spcAft>
                <a:spcPts val="650"/>
              </a:spcAft>
            </a:pPr>
            <a:r>
              <a:rPr sz="1040" b="0" i="0">
                <a:solidFill>
                  <a:srgbClr val="16181D"/>
                </a:solidFill>
                <a:latin typeface="Geist"/>
              </a:rPr>
              <a:t>The pages that follow are a short tour of what we have built. If the work speaks to you, I would be grateful for an hour of your time, and for the licence to write to you when we face a decision where your experience would show us the way.</a:t>
            </a:r>
          </a:p>
        </p:txBody>
      </p:sp>
      <p:sp>
        <p:nvSpPr>
          <p:cNvPr id="11" name="TextBox 10"/>
          <p:cNvSpPr txBox="1"/>
          <p:nvPr/>
        </p:nvSpPr>
        <p:spPr>
          <a:xfrm>
            <a:off x="1892808" y="5541263"/>
            <a:ext cx="8412480" cy="274320"/>
          </a:xfrm>
          <a:prstGeom prst="rect">
            <a:avLst/>
          </a:prstGeom>
          <a:noFill/>
        </p:spPr>
        <p:txBody>
          <a:bodyPr wrap="square" lIns="0" rIns="0" tIns="0" bIns="0" anchor="t">
            <a:spAutoFit/>
          </a:bodyPr>
          <a:lstStyle/>
          <a:p>
            <a:pPr algn="l">
              <a:lnSpc>
                <a:spcPct val="128000"/>
              </a:lnSpc>
            </a:pPr>
            <a:r>
              <a:rPr sz="1040" b="0" i="0">
                <a:solidFill>
                  <a:srgbClr val="16181D"/>
                </a:solidFill>
                <a:latin typeface="Geist"/>
              </a:rPr>
              <a:t>With respect,</a:t>
            </a:r>
          </a:p>
        </p:txBody>
      </p:sp>
      <p:sp>
        <p:nvSpPr>
          <p:cNvPr id="12" name="TextBox 11"/>
          <p:cNvSpPr txBox="1"/>
          <p:nvPr/>
        </p:nvSpPr>
        <p:spPr>
          <a:xfrm>
            <a:off x="1892808" y="5797296"/>
            <a:ext cx="841248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Akhtar Hussain</a:t>
            </a:r>
          </a:p>
        </p:txBody>
      </p:sp>
      <p:sp>
        <p:nvSpPr>
          <p:cNvPr id="13" name="TextBox 12"/>
          <p:cNvSpPr txBox="1"/>
          <p:nvPr/>
        </p:nvSpPr>
        <p:spPr>
          <a:xfrm>
            <a:off x="1892808" y="6016752"/>
            <a:ext cx="8412480" cy="237744"/>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Mission Lead, Crashfree India  ·  akhtar@crashfreeindia.org  ·  crashfreeindia.org</a:t>
            </a:r>
          </a:p>
        </p:txBody>
      </p:sp>
      <p:cxnSp>
        <p:nvCxnSpPr>
          <p:cNvPr id="14" name="Connector 13"/>
          <p:cNvCxnSpPr/>
          <p:nvPr/>
        </p:nvCxnSpPr>
        <p:spPr>
          <a:xfrm>
            <a:off x="566928" y="6455664"/>
            <a:ext cx="11057839" cy="0"/>
          </a:xfrm>
          <a:prstGeom prst="line">
            <a:avLst/>
          </a:prstGeom>
          <a:ln w="9525">
            <a:solidFill>
              <a:srgbClr val="E8E9EE"/>
            </a:solidFill>
          </a:ln>
          <a:effectLst/>
        </p:spPr>
      </p:cxnSp>
      <p:sp>
        <p:nvSpPr>
          <p:cNvPr id="15" name="TextBox 14"/>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16" name="TextBox 1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Crashfree India: technology and policy, </a:t>
            </a:r>
            <a:r>
              <a:rPr sz="2250" b="1" i="0">
                <a:solidFill>
                  <a:srgbClr val="4A35FF"/>
                </a:solidFill>
                <a:latin typeface="Montserrat"/>
              </a:rPr>
              <a:t>built to be handed over</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Registered as the Vision Zero Trust · Co-founded by Cars24 and the Indian Road Safety Council · Working since June 2025 · New Delhi</a:t>
            </a:r>
          </a:p>
        </p:txBody>
      </p:sp>
      <p:sp>
        <p:nvSpPr>
          <p:cNvPr id="8" name="Oval 7"/>
          <p:cNvSpPr/>
          <p:nvPr/>
        </p:nvSpPr>
        <p:spPr>
          <a:xfrm>
            <a:off x="566928" y="2011680"/>
            <a:ext cx="365760" cy="365760"/>
          </a:xfrm>
          <a:prstGeom prst="ellipse">
            <a:avLst/>
          </a:prstGeom>
          <a:solidFill>
            <a:srgbClr val="E9F7F0"/>
          </a:solidFill>
          <a:ln>
            <a:noFill/>
          </a:ln>
          <a:effectLst/>
        </p:spPr>
        <p:txBody>
          <a:bodyPr rtlCol="0" anchor="ctr"/>
          <a:lstStyle/>
          <a:p>
            <a:pPr algn="ctr"/>
          </a:p>
        </p:txBody>
      </p:sp>
      <p:pic>
        <p:nvPicPr>
          <p:cNvPr id="9" name="Picture 8" descr="search-check_0A9955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Evidence first</a:t>
            </a:r>
          </a:p>
        </p:txBody>
      </p:sp>
      <p:sp>
        <p:nvSpPr>
          <p:cNvPr id="11" name="TextBox 10"/>
          <p:cNvSpPr txBox="1"/>
          <p:nvPr/>
        </p:nvSpPr>
        <p:spPr>
          <a:xfrm>
            <a:off x="3566160" y="1993392"/>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Structured field audits, file reviews and research to official standards, not opinion.</a:t>
            </a:r>
          </a:p>
        </p:txBody>
      </p:sp>
      <p:sp>
        <p:nvSpPr>
          <p:cNvPr id="12" name="Oval 11"/>
          <p:cNvSpPr/>
          <p:nvPr/>
        </p:nvSpPr>
        <p:spPr>
          <a:xfrm>
            <a:off x="566928" y="2761488"/>
            <a:ext cx="365760" cy="365760"/>
          </a:xfrm>
          <a:prstGeom prst="ellipse">
            <a:avLst/>
          </a:prstGeom>
          <a:solidFill>
            <a:srgbClr val="E7F4F4"/>
          </a:solidFill>
          <a:ln>
            <a:noFill/>
          </a:ln>
          <a:effectLst/>
        </p:spPr>
        <p:txBody>
          <a:bodyPr rtlCol="0" anchor="ctr"/>
          <a:lstStyle/>
          <a:p>
            <a:pPr algn="ctr"/>
          </a:p>
        </p:txBody>
      </p:sp>
      <p:pic>
        <p:nvPicPr>
          <p:cNvPr id="13" name="Picture 12" descr="cpu_0E8A8A_256_2.0.png"/>
          <p:cNvPicPr>
            <a:picLocks noChangeAspect="1"/>
          </p:cNvPicPr>
          <p:nvPr/>
        </p:nvPicPr>
        <p:blipFill>
          <a:blip r:embed="rId3"/>
          <a:stretch>
            <a:fillRect/>
          </a:stretch>
        </p:blipFill>
        <p:spPr>
          <a:xfrm>
            <a:off x="654710" y="2849270"/>
            <a:ext cx="190195" cy="190195"/>
          </a:xfrm>
          <a:prstGeom prst="rect">
            <a:avLst/>
          </a:prstGeom>
        </p:spPr>
      </p:pic>
      <p:sp>
        <p:nvSpPr>
          <p:cNvPr id="14" name="TextBox 13"/>
          <p:cNvSpPr txBox="1"/>
          <p:nvPr/>
        </p:nvSpPr>
        <p:spPr>
          <a:xfrm>
            <a:off x="1097280" y="274320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Technology as public goods</a:t>
            </a:r>
          </a:p>
        </p:txBody>
      </p:sp>
      <p:sp>
        <p:nvSpPr>
          <p:cNvPr id="15" name="TextBox 14"/>
          <p:cNvSpPr txBox="1"/>
          <p:nvPr/>
        </p:nvSpPr>
        <p:spPr>
          <a:xfrm>
            <a:off x="3566160" y="2743200"/>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Enforcement AI, open data platforms and WhatsApp tools, built with authorities and free for any of them to adopt.</a:t>
            </a:r>
          </a:p>
        </p:txBody>
      </p:sp>
      <p:sp>
        <p:nvSpPr>
          <p:cNvPr id="16" name="Oval 15"/>
          <p:cNvSpPr/>
          <p:nvPr/>
        </p:nvSpPr>
        <p:spPr>
          <a:xfrm>
            <a:off x="566928" y="3511296"/>
            <a:ext cx="365760" cy="365760"/>
          </a:xfrm>
          <a:prstGeom prst="ellipse">
            <a:avLst/>
          </a:prstGeom>
          <a:solidFill>
            <a:srgbClr val="EFEDFF"/>
          </a:solidFill>
          <a:ln>
            <a:noFill/>
          </a:ln>
          <a:effectLst/>
        </p:spPr>
        <p:txBody>
          <a:bodyPr rtlCol="0" anchor="ctr"/>
          <a:lstStyle/>
          <a:p>
            <a:pPr algn="ctr"/>
          </a:p>
        </p:txBody>
      </p:sp>
      <p:pic>
        <p:nvPicPr>
          <p:cNvPr id="17" name="Picture 16" descr="scale_4A35FF_256_2.0.png"/>
          <p:cNvPicPr>
            <a:picLocks noChangeAspect="1"/>
          </p:cNvPicPr>
          <p:nvPr/>
        </p:nvPicPr>
        <p:blipFill>
          <a:blip r:embed="rId4"/>
          <a:stretch>
            <a:fillRect/>
          </a:stretch>
        </p:blipFill>
        <p:spPr>
          <a:xfrm>
            <a:off x="654710" y="3599078"/>
            <a:ext cx="190195" cy="190195"/>
          </a:xfrm>
          <a:prstGeom prst="rect">
            <a:avLst/>
          </a:prstGeom>
        </p:spPr>
      </p:pic>
      <p:sp>
        <p:nvSpPr>
          <p:cNvPr id="18" name="TextBox 17"/>
          <p:cNvSpPr txBox="1"/>
          <p:nvPr/>
        </p:nvSpPr>
        <p:spPr>
          <a:xfrm>
            <a:off x="1097280" y="349300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Policy that lands</a:t>
            </a:r>
          </a:p>
        </p:txBody>
      </p:sp>
      <p:sp>
        <p:nvSpPr>
          <p:cNvPr id="19" name="TextBox 18"/>
          <p:cNvSpPr txBox="1"/>
          <p:nvPr/>
        </p:nvSpPr>
        <p:spPr>
          <a:xfrm>
            <a:off x="3566160" y="3493008"/>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Research written so officials can act on it: briefed to ministries and district committees, cited by national newsrooms.</a:t>
            </a:r>
          </a:p>
        </p:txBody>
      </p:sp>
      <p:sp>
        <p:nvSpPr>
          <p:cNvPr id="20" name="Oval 19"/>
          <p:cNvSpPr/>
          <p:nvPr/>
        </p:nvSpPr>
        <p:spPr>
          <a:xfrm>
            <a:off x="566928" y="4261104"/>
            <a:ext cx="365760" cy="365760"/>
          </a:xfrm>
          <a:prstGeom prst="ellipse">
            <a:avLst/>
          </a:prstGeom>
          <a:solidFill>
            <a:srgbClr val="FDF3E3"/>
          </a:solidFill>
          <a:ln>
            <a:noFill/>
          </a:ln>
          <a:effectLst/>
        </p:spPr>
        <p:txBody>
          <a:bodyPr rtlCol="0" anchor="ctr"/>
          <a:lstStyle/>
          <a:p>
            <a:pPr algn="ctr"/>
          </a:p>
        </p:txBody>
      </p:sp>
      <p:pic>
        <p:nvPicPr>
          <p:cNvPr id="21" name="Picture 20" descr="building-2_E58900_256_2.0.png"/>
          <p:cNvPicPr>
            <a:picLocks noChangeAspect="1"/>
          </p:cNvPicPr>
          <p:nvPr/>
        </p:nvPicPr>
        <p:blipFill>
          <a:blip r:embed="rId5"/>
          <a:stretch>
            <a:fillRect/>
          </a:stretch>
        </p:blipFill>
        <p:spPr>
          <a:xfrm>
            <a:off x="654710" y="4348886"/>
            <a:ext cx="190195" cy="190195"/>
          </a:xfrm>
          <a:prstGeom prst="rect">
            <a:avLst/>
          </a:prstGeom>
        </p:spPr>
      </p:pic>
      <p:sp>
        <p:nvSpPr>
          <p:cNvPr id="22" name="TextBox 21"/>
          <p:cNvSpPr txBox="1"/>
          <p:nvPr/>
        </p:nvSpPr>
        <p:spPr>
          <a:xfrm>
            <a:off x="1097280" y="42428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Built to make ourselves redundant</a:t>
            </a:r>
          </a:p>
        </p:txBody>
      </p:sp>
      <p:sp>
        <p:nvSpPr>
          <p:cNvPr id="23" name="TextBox 22"/>
          <p:cNvSpPr txBox="1"/>
          <p:nvPr/>
        </p:nvSpPr>
        <p:spPr>
          <a:xfrm>
            <a:off x="3566160" y="4242816"/>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Standards, audit manuals and public dashboards designed so institutions can run the work without us.</a:t>
            </a:r>
          </a:p>
        </p:txBody>
      </p:sp>
      <p:sp>
        <p:nvSpPr>
          <p:cNvPr id="24" name="Rounded Rectangle 23"/>
          <p:cNvSpPr/>
          <p:nvPr/>
        </p:nvSpPr>
        <p:spPr>
          <a:xfrm>
            <a:off x="566928" y="5166360"/>
            <a:ext cx="6903720" cy="841248"/>
          </a:xfrm>
          <a:prstGeom prst="roundRect">
            <a:avLst>
              <a:gd name="adj" fmla="val 16000"/>
            </a:avLst>
          </a:prstGeom>
          <a:solidFill>
            <a:srgbClr val="EFEDFF"/>
          </a:solidFill>
          <a:ln>
            <a:noFill/>
          </a:ln>
          <a:effectLst/>
        </p:spPr>
        <p:txBody>
          <a:bodyPr rtlCol="0" anchor="ctr"/>
          <a:lstStyle/>
          <a:p>
            <a:pPr algn="ctr"/>
          </a:p>
        </p:txBody>
      </p:sp>
      <p:sp>
        <p:nvSpPr>
          <p:cNvPr id="25" name="TextBox 24"/>
          <p:cNvSpPr txBox="1"/>
          <p:nvPr/>
        </p:nvSpPr>
        <p:spPr>
          <a:xfrm>
            <a:off x="795528" y="5230368"/>
            <a:ext cx="6492240" cy="731520"/>
          </a:xfrm>
          <a:prstGeom prst="rect">
            <a:avLst/>
          </a:prstGeom>
          <a:noFill/>
        </p:spPr>
        <p:txBody>
          <a:bodyPr wrap="square" lIns="0" rIns="0" tIns="0" bIns="0" anchor="t">
            <a:spAutoFit/>
          </a:bodyPr>
          <a:lstStyle/>
          <a:p>
            <a:pPr algn="l">
              <a:lnSpc>
                <a:spcPct val="130000"/>
              </a:lnSpc>
            </a:pPr>
            <a:r>
              <a:rPr sz="1100" b="1" i="0">
                <a:solidFill>
                  <a:srgbClr val="4A35FF"/>
                </a:solidFill>
                <a:latin typeface="Geist"/>
              </a:rPr>
              <a:t>Proof in year one: </a:t>
            </a:r>
            <a:r>
              <a:rPr sz="1100" b="0" i="0">
                <a:solidFill>
                  <a:srgbClr val="4A35FF"/>
                </a:solidFill>
                <a:latin typeface="Geist"/>
              </a:rPr>
              <a:t>31 sites audited · 25+ written authority approvals · implementation started at 15 sites · 3,00,000+ vehicles screened · seats on 4 district committees</a:t>
            </a:r>
          </a:p>
        </p:txBody>
      </p:sp>
      <p:pic>
        <p:nvPicPr>
          <p:cNvPr id="26" name="Picture 25" descr="cfi_map_dots.png"/>
          <p:cNvPicPr>
            <a:picLocks noChangeAspect="1"/>
          </p:cNvPicPr>
          <p:nvPr/>
        </p:nvPicPr>
        <p:blipFill>
          <a:blip r:embed="rId6"/>
          <a:stretch>
            <a:fillRect/>
          </a:stretch>
        </p:blipFill>
        <p:spPr>
          <a:xfrm>
            <a:off x="8092440" y="1965960"/>
            <a:ext cx="3291840" cy="3911357"/>
          </a:xfrm>
          <a:prstGeom prst="rect">
            <a:avLst/>
          </a:prstGeom>
        </p:spPr>
      </p:pic>
      <p:sp>
        <p:nvSpPr>
          <p:cNvPr id="27" name="Rectangle 26"/>
          <p:cNvSpPr/>
          <p:nvPr/>
        </p:nvSpPr>
        <p:spPr>
          <a:xfrm>
            <a:off x="8092440" y="1965960"/>
            <a:ext cx="3291840" cy="3911357"/>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8092440" y="5923037"/>
            <a:ext cx="32918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Where we work today, 18 cities, north to south.</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Six lines of work, </a:t>
            </a:r>
            <a:r>
              <a:rPr sz="2250" b="1" i="0">
                <a:solidFill>
                  <a:srgbClr val="4A35FF"/>
                </a:solidFill>
                <a:latin typeface="Montserrat"/>
              </a:rPr>
              <a:t>one connected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Audits create data · data supports policy · policy guides the field. Everything below is live today.</a:t>
            </a:r>
          </a:p>
        </p:txBody>
      </p:sp>
      <p:sp>
        <p:nvSpPr>
          <p:cNvPr id="8" name="Rounded Rectangle 7"/>
          <p:cNvSpPr/>
          <p:nvPr/>
        </p:nvSpPr>
        <p:spPr>
          <a:xfrm>
            <a:off x="566928"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implementation_work.jpg_3.95x1.28_0.30.jpg"/>
          <p:cNvPicPr>
            <a:picLocks noChangeAspect="1"/>
          </p:cNvPicPr>
          <p:nvPr/>
        </p:nvPicPr>
        <p:blipFill>
          <a:blip r:embed="rId2"/>
          <a:stretch>
            <a:fillRect/>
          </a:stretch>
        </p:blipFill>
        <p:spPr>
          <a:xfrm>
            <a:off x="566928" y="1938528"/>
            <a:ext cx="3611880" cy="1170432"/>
          </a:xfrm>
          <a:prstGeom prst="rect">
            <a:avLst/>
          </a:prstGeom>
        </p:spPr>
      </p:pic>
      <p:sp>
        <p:nvSpPr>
          <p:cNvPr id="10" name="Rectangle 9"/>
          <p:cNvSpPr/>
          <p:nvPr/>
        </p:nvSpPr>
        <p:spPr>
          <a:xfrm>
            <a:off x="566928" y="1938528"/>
            <a:ext cx="3611880" cy="1170432"/>
          </a:xfrm>
          <a:prstGeom prst="rect">
            <a:avLst/>
          </a:prstGeom>
          <a:noFill/>
          <a:ln w="12700">
            <a:solidFill>
              <a:srgbClr val="E8E9EE"/>
            </a:solidFill>
          </a:ln>
          <a:effectLst/>
        </p:spPr>
        <p:txBody>
          <a:bodyPr rtlCol="0" anchor="ctr"/>
          <a:lstStyle/>
          <a:p>
            <a:pPr algn="ctr"/>
          </a:p>
        </p:txBody>
      </p:sp>
      <p:sp>
        <p:nvSpPr>
          <p:cNvPr id="11" name="TextBox 10"/>
          <p:cNvSpPr txBox="1"/>
          <p:nvPr/>
        </p:nvSpPr>
        <p:spPr>
          <a:xfrm>
            <a:off x="694944"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Project Rakshak</a:t>
            </a:r>
          </a:p>
        </p:txBody>
      </p:sp>
      <p:sp>
        <p:nvSpPr>
          <p:cNvPr id="12" name="TextBox 11"/>
          <p:cNvSpPr txBox="1"/>
          <p:nvPr/>
        </p:nvSpPr>
        <p:spPr>
          <a:xfrm>
            <a:off x="694944"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Student-led road audits, fixed with authorities</a:t>
            </a:r>
          </a:p>
        </p:txBody>
      </p:sp>
      <p:sp>
        <p:nvSpPr>
          <p:cNvPr id="13" name="TextBox 12"/>
          <p:cNvSpPr txBox="1"/>
          <p:nvPr/>
        </p:nvSpPr>
        <p:spPr>
          <a:xfrm>
            <a:off x="694944"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31 sites · 7 fixes fully built</a:t>
            </a:r>
          </a:p>
        </p:txBody>
      </p:sp>
      <p:sp>
        <p:nvSpPr>
          <p:cNvPr id="14" name="Rounded Rectangle 13"/>
          <p:cNvSpPr/>
          <p:nvPr/>
        </p:nvSpPr>
        <p:spPr>
          <a:xfrm>
            <a:off x="4288536"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satark_billboard.jpg_3.95x1.28_0.42.jpg"/>
          <p:cNvPicPr>
            <a:picLocks noChangeAspect="1"/>
          </p:cNvPicPr>
          <p:nvPr/>
        </p:nvPicPr>
        <p:blipFill>
          <a:blip r:embed="rId3"/>
          <a:stretch>
            <a:fillRect/>
          </a:stretch>
        </p:blipFill>
        <p:spPr>
          <a:xfrm>
            <a:off x="4288536" y="1938528"/>
            <a:ext cx="3611880" cy="1170432"/>
          </a:xfrm>
          <a:prstGeom prst="rect">
            <a:avLst/>
          </a:prstGeom>
        </p:spPr>
      </p:pic>
      <p:sp>
        <p:nvSpPr>
          <p:cNvPr id="16" name="Rectangle 15"/>
          <p:cNvSpPr/>
          <p:nvPr/>
        </p:nvSpPr>
        <p:spPr>
          <a:xfrm>
            <a:off x="4288536" y="1938528"/>
            <a:ext cx="3611880" cy="1170432"/>
          </a:xfrm>
          <a:prstGeom prst="rect">
            <a:avLst/>
          </a:prstGeom>
          <a:noFill/>
          <a:ln w="12700">
            <a:solidFill>
              <a:srgbClr val="E8E9EE"/>
            </a:solidFill>
          </a:ln>
          <a:effectLst/>
        </p:spPr>
        <p:txBody>
          <a:bodyPr rtlCol="0" anchor="ctr"/>
          <a:lstStyle/>
          <a:p>
            <a:pPr algn="ctr"/>
          </a:p>
        </p:txBody>
      </p:sp>
      <p:sp>
        <p:nvSpPr>
          <p:cNvPr id="17" name="TextBox 16"/>
          <p:cNvSpPr txBox="1"/>
          <p:nvPr/>
        </p:nvSpPr>
        <p:spPr>
          <a:xfrm>
            <a:off x="4416552"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SATARK enforcement</a:t>
            </a:r>
          </a:p>
        </p:txBody>
      </p:sp>
      <p:sp>
        <p:nvSpPr>
          <p:cNvPr id="18" name="TextBox 17"/>
          <p:cNvSpPr txBox="1"/>
          <p:nvPr/>
        </p:nvSpPr>
        <p:spPr>
          <a:xfrm>
            <a:off x="4416552"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AI support that helps police find high-risk vehicles</a:t>
            </a:r>
          </a:p>
        </p:txBody>
      </p:sp>
      <p:sp>
        <p:nvSpPr>
          <p:cNvPr id="19" name="TextBox 18"/>
          <p:cNvSpPr txBox="1"/>
          <p:nvPr/>
        </p:nvSpPr>
        <p:spPr>
          <a:xfrm>
            <a:off x="4416552"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3,00,000+ vehicles screened</a:t>
            </a:r>
          </a:p>
        </p:txBody>
      </p:sp>
      <p:sp>
        <p:nvSpPr>
          <p:cNvPr id="20" name="Rounded Rectangle 19"/>
          <p:cNvSpPr/>
          <p:nvPr/>
        </p:nvSpPr>
        <p:spPr>
          <a:xfrm>
            <a:off x="8010144"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ph_helpdesk_desk.jpg_3.95x1.28_0.25.jpg"/>
          <p:cNvPicPr>
            <a:picLocks noChangeAspect="1"/>
          </p:cNvPicPr>
          <p:nvPr/>
        </p:nvPicPr>
        <p:blipFill>
          <a:blip r:embed="rId4"/>
          <a:stretch>
            <a:fillRect/>
          </a:stretch>
        </p:blipFill>
        <p:spPr>
          <a:xfrm>
            <a:off x="8010144" y="1938528"/>
            <a:ext cx="3611880" cy="1170432"/>
          </a:xfrm>
          <a:prstGeom prst="rect">
            <a:avLst/>
          </a:prstGeom>
        </p:spPr>
      </p:pic>
      <p:sp>
        <p:nvSpPr>
          <p:cNvPr id="22" name="Rectangle 21"/>
          <p:cNvSpPr/>
          <p:nvPr/>
        </p:nvSpPr>
        <p:spPr>
          <a:xfrm>
            <a:off x="8010144" y="1938528"/>
            <a:ext cx="3611880" cy="1170432"/>
          </a:xfrm>
          <a:prstGeom prst="rect">
            <a:avLst/>
          </a:prstGeom>
          <a:noFill/>
          <a:ln w="12700">
            <a:solidFill>
              <a:srgbClr val="E8E9EE"/>
            </a:solidFill>
          </a:ln>
          <a:effectLst/>
        </p:spPr>
        <p:txBody>
          <a:bodyPr rtlCol="0" anchor="ctr"/>
          <a:lstStyle/>
          <a:p>
            <a:pPr algn="ctr"/>
          </a:p>
        </p:txBody>
      </p:sp>
      <p:sp>
        <p:nvSpPr>
          <p:cNvPr id="23" name="TextBox 22"/>
          <p:cNvSpPr txBox="1"/>
          <p:nvPr/>
        </p:nvSpPr>
        <p:spPr>
          <a:xfrm>
            <a:off x="8138160"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Victim support</a:t>
            </a:r>
          </a:p>
        </p:txBody>
      </p:sp>
      <p:sp>
        <p:nvSpPr>
          <p:cNvPr id="24" name="TextBox 23"/>
          <p:cNvSpPr txBox="1"/>
          <p:nvPr/>
        </p:nvSpPr>
        <p:spPr>
          <a:xfrm>
            <a:off x="8138160"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Aasha chatbot, calculator, hospital helpdesks</a:t>
            </a:r>
          </a:p>
        </p:txBody>
      </p:sp>
      <p:sp>
        <p:nvSpPr>
          <p:cNvPr id="25" name="TextBox 24"/>
          <p:cNvSpPr txBox="1"/>
          <p:nvPr/>
        </p:nvSpPr>
        <p:spPr>
          <a:xfrm>
            <a:off x="8138160"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100+ victims helped in first 4 days</a:t>
            </a:r>
          </a:p>
        </p:txBody>
      </p:sp>
      <p:sp>
        <p:nvSpPr>
          <p:cNvPr id="26" name="Rounded Rectangle 25"/>
          <p:cNvSpPr/>
          <p:nvPr/>
        </p:nvSpPr>
        <p:spPr>
          <a:xfrm>
            <a:off x="566928"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7" name="Picture 26" descr="sctracker.png_3.95x1.28_0.05.jpg"/>
          <p:cNvPicPr>
            <a:picLocks noChangeAspect="1"/>
          </p:cNvPicPr>
          <p:nvPr/>
        </p:nvPicPr>
        <p:blipFill>
          <a:blip r:embed="rId5"/>
          <a:stretch>
            <a:fillRect/>
          </a:stretch>
        </p:blipFill>
        <p:spPr>
          <a:xfrm>
            <a:off x="566928" y="4206240"/>
            <a:ext cx="3611880" cy="1170432"/>
          </a:xfrm>
          <a:prstGeom prst="rect">
            <a:avLst/>
          </a:prstGeom>
        </p:spPr>
      </p:pic>
      <p:sp>
        <p:nvSpPr>
          <p:cNvPr id="28" name="Rectangle 27"/>
          <p:cNvSpPr/>
          <p:nvPr/>
        </p:nvSpPr>
        <p:spPr>
          <a:xfrm>
            <a:off x="566928" y="4206240"/>
            <a:ext cx="3611880" cy="1170432"/>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694944"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Open public data</a:t>
            </a:r>
          </a:p>
        </p:txBody>
      </p:sp>
      <p:sp>
        <p:nvSpPr>
          <p:cNvPr id="30" name="TextBox 29"/>
          <p:cNvSpPr txBox="1"/>
          <p:nvPr/>
        </p:nvSpPr>
        <p:spPr>
          <a:xfrm>
            <a:off x="694944"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Four self-updating data platforms, free to use</a:t>
            </a:r>
          </a:p>
        </p:txBody>
      </p:sp>
      <p:sp>
        <p:nvSpPr>
          <p:cNvPr id="31" name="TextBox 30"/>
          <p:cNvSpPr txBox="1"/>
          <p:nvPr/>
        </p:nvSpPr>
        <p:spPr>
          <a:xfrm>
            <a:off x="694944"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36 states &amp; 50 cities covered</a:t>
            </a:r>
          </a:p>
        </p:txBody>
      </p:sp>
      <p:sp>
        <p:nvSpPr>
          <p:cNvPr id="32" name="Rounded Rectangle 31"/>
          <p:cNvSpPr/>
          <p:nvPr/>
        </p:nvSpPr>
        <p:spPr>
          <a:xfrm>
            <a:off x="4288536"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3" name="Picture 32" descr="ph_ideathon_winners.jpg_3.95x1.28_0.25.jpg"/>
          <p:cNvPicPr>
            <a:picLocks noChangeAspect="1"/>
          </p:cNvPicPr>
          <p:nvPr/>
        </p:nvPicPr>
        <p:blipFill>
          <a:blip r:embed="rId6"/>
          <a:stretch>
            <a:fillRect/>
          </a:stretch>
        </p:blipFill>
        <p:spPr>
          <a:xfrm>
            <a:off x="4288536" y="4206240"/>
            <a:ext cx="3611880" cy="1170432"/>
          </a:xfrm>
          <a:prstGeom prst="rect">
            <a:avLst/>
          </a:prstGeom>
        </p:spPr>
      </p:pic>
      <p:sp>
        <p:nvSpPr>
          <p:cNvPr id="34" name="Rectangle 33"/>
          <p:cNvSpPr/>
          <p:nvPr/>
        </p:nvSpPr>
        <p:spPr>
          <a:xfrm>
            <a:off x="4288536" y="4206240"/>
            <a:ext cx="3611880" cy="1170432"/>
          </a:xfrm>
          <a:prstGeom prst="rect">
            <a:avLst/>
          </a:prstGeom>
          <a:noFill/>
          <a:ln w="12700">
            <a:solidFill>
              <a:srgbClr val="E8E9EE"/>
            </a:solidFill>
          </a:ln>
          <a:effectLst/>
        </p:spPr>
        <p:txBody>
          <a:bodyPr rtlCol="0" anchor="ctr"/>
          <a:lstStyle/>
          <a:p>
            <a:pPr algn="ctr"/>
          </a:p>
        </p:txBody>
      </p:sp>
      <p:sp>
        <p:nvSpPr>
          <p:cNvPr id="35" name="TextBox 34"/>
          <p:cNvSpPr txBox="1"/>
          <p:nvPr/>
        </p:nvSpPr>
        <p:spPr>
          <a:xfrm>
            <a:off x="4416552"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Youth &amp; policy</a:t>
            </a:r>
          </a:p>
        </p:txBody>
      </p:sp>
      <p:sp>
        <p:nvSpPr>
          <p:cNvPr id="36" name="TextBox 35"/>
          <p:cNvSpPr txBox="1"/>
          <p:nvPr/>
        </p:nvSpPr>
        <p:spPr>
          <a:xfrm>
            <a:off x="4416552"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NextMile ideathon and national dialogue series</a:t>
            </a:r>
          </a:p>
        </p:txBody>
      </p:sp>
      <p:sp>
        <p:nvSpPr>
          <p:cNvPr id="37" name="TextBox 36"/>
          <p:cNvSpPr txBox="1"/>
          <p:nvPr/>
        </p:nvSpPr>
        <p:spPr>
          <a:xfrm>
            <a:off x="4416552"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2,000+ participants engaged</a:t>
            </a:r>
          </a:p>
        </p:txBody>
      </p:sp>
      <p:sp>
        <p:nvSpPr>
          <p:cNvPr id="38" name="Rounded Rectangle 37"/>
          <p:cNvSpPr/>
          <p:nvPr/>
        </p:nvSpPr>
        <p:spPr>
          <a:xfrm>
            <a:off x="8010144"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9" name="Picture 38" descr="ph_police_rally.jpg_3.95x1.28_0.35.jpg"/>
          <p:cNvPicPr>
            <a:picLocks noChangeAspect="1"/>
          </p:cNvPicPr>
          <p:nvPr/>
        </p:nvPicPr>
        <p:blipFill>
          <a:blip r:embed="rId7"/>
          <a:stretch>
            <a:fillRect/>
          </a:stretch>
        </p:blipFill>
        <p:spPr>
          <a:xfrm>
            <a:off x="8010144" y="4206240"/>
            <a:ext cx="3611880" cy="1170432"/>
          </a:xfrm>
          <a:prstGeom prst="rect">
            <a:avLst/>
          </a:prstGeom>
        </p:spPr>
      </p:pic>
      <p:sp>
        <p:nvSpPr>
          <p:cNvPr id="40" name="Rectangle 39"/>
          <p:cNvSpPr/>
          <p:nvPr/>
        </p:nvSpPr>
        <p:spPr>
          <a:xfrm>
            <a:off x="8010144" y="4206240"/>
            <a:ext cx="3611880" cy="1170432"/>
          </a:xfrm>
          <a:prstGeom prst="rect">
            <a:avLst/>
          </a:prstGeom>
          <a:noFill/>
          <a:ln w="12700">
            <a:solidFill>
              <a:srgbClr val="E8E9EE"/>
            </a:solidFill>
          </a:ln>
          <a:effectLst/>
        </p:spPr>
        <p:txBody>
          <a:bodyPr rtlCol="0" anchor="ctr"/>
          <a:lstStyle/>
          <a:p>
            <a:pPr algn="ctr"/>
          </a:p>
        </p:txBody>
      </p:sp>
      <p:sp>
        <p:nvSpPr>
          <p:cNvPr id="41" name="TextBox 40"/>
          <p:cNvSpPr txBox="1"/>
          <p:nvPr/>
        </p:nvSpPr>
        <p:spPr>
          <a:xfrm>
            <a:off x="8138160"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Public campaigns</a:t>
            </a:r>
          </a:p>
        </p:txBody>
      </p:sp>
      <p:sp>
        <p:nvSpPr>
          <p:cNvPr id="42" name="TextBox 41"/>
          <p:cNvSpPr txBox="1"/>
          <p:nvPr/>
        </p:nvSpPr>
        <p:spPr>
          <a:xfrm>
            <a:off x="8138160"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Road Safety Month with police &amp; schools; MS Dhoni</a:t>
            </a:r>
          </a:p>
        </p:txBody>
      </p:sp>
      <p:sp>
        <p:nvSpPr>
          <p:cNvPr id="43" name="TextBox 42"/>
          <p:cNvSpPr txBox="1"/>
          <p:nvPr/>
        </p:nvSpPr>
        <p:spPr>
          <a:xfrm>
            <a:off x="8138160"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1M+ citizens reached</a:t>
            </a:r>
          </a:p>
        </p:txBody>
      </p:sp>
      <p:cxnSp>
        <p:nvCxnSpPr>
          <p:cNvPr id="44" name="Connector 43"/>
          <p:cNvCxnSpPr/>
          <p:nvPr/>
        </p:nvCxnSpPr>
        <p:spPr>
          <a:xfrm>
            <a:off x="566928" y="6455664"/>
            <a:ext cx="11057839" cy="0"/>
          </a:xfrm>
          <a:prstGeom prst="line">
            <a:avLst/>
          </a:prstGeom>
          <a:ln w="9525">
            <a:solidFill>
              <a:srgbClr val="E8E9EE"/>
            </a:solidFill>
          </a:ln>
          <a:effectLst/>
        </p:spPr>
      </p:cxnSp>
      <p:sp>
        <p:nvSpPr>
          <p:cNvPr id="45" name="TextBox 44"/>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46" name="TextBox 4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ROAD INFRASTRUCTURE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Project Rakshak: student audits </a:t>
            </a:r>
            <a:r>
              <a:rPr sz="2250" b="1" i="0">
                <a:solidFill>
                  <a:srgbClr val="4A35FF"/>
                </a:solidFill>
                <a:latin typeface="Montserrat"/>
              </a:rPr>
              <a:t>that end in built fixes</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Trained student teams, guided by senior experts, audit dangerous locations to IRC codes, and we walk each fix through the road-owning authority until it is built.</a:t>
            </a:r>
          </a:p>
        </p:txBody>
      </p:sp>
      <p:sp>
        <p:nvSpPr>
          <p:cNvPr id="8" name="Rounded Rectangle 7"/>
          <p:cNvSpPr/>
          <p:nvPr/>
        </p:nvSpPr>
        <p:spPr>
          <a:xfrm>
            <a:off x="566928" y="2011680"/>
            <a:ext cx="1783080" cy="1143000"/>
          </a:xfrm>
          <a:prstGeom prst="roundRect">
            <a:avLst>
              <a:gd name="adj" fmla="val 12000"/>
            </a:avLst>
          </a:prstGeom>
          <a:solidFill>
            <a:srgbClr val="F7F7FA"/>
          </a:solidFill>
          <a:ln>
            <a:noFill/>
          </a:ln>
          <a:effectLst/>
        </p:spPr>
        <p:txBody>
          <a:bodyPr rtlCol="0" anchor="ctr"/>
          <a:lstStyle/>
          <a:p>
            <a:pPr algn="ctr"/>
          </a:p>
        </p:txBody>
      </p:sp>
      <p:sp>
        <p:nvSpPr>
          <p:cNvPr id="9" name="TextBox 8"/>
          <p:cNvSpPr txBox="1"/>
          <p:nvPr/>
        </p:nvSpPr>
        <p:spPr>
          <a:xfrm>
            <a:off x="694944" y="212140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120+</a:t>
            </a:r>
          </a:p>
        </p:txBody>
      </p:sp>
      <p:sp>
        <p:nvSpPr>
          <p:cNvPr id="10" name="TextBox 9"/>
          <p:cNvSpPr txBox="1"/>
          <p:nvPr/>
        </p:nvSpPr>
        <p:spPr>
          <a:xfrm>
            <a:off x="694944" y="257860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locations screened</a:t>
            </a:r>
          </a:p>
        </p:txBody>
      </p:sp>
      <p:sp>
        <p:nvSpPr>
          <p:cNvPr id="11" name="TextBox 10"/>
          <p:cNvSpPr txBox="1"/>
          <p:nvPr/>
        </p:nvSpPr>
        <p:spPr>
          <a:xfrm>
            <a:off x="2331720" y="237744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12" name="Rounded Rectangle 11"/>
          <p:cNvSpPr/>
          <p:nvPr/>
        </p:nvSpPr>
        <p:spPr>
          <a:xfrm>
            <a:off x="2487168" y="2011680"/>
            <a:ext cx="1783080" cy="1143000"/>
          </a:xfrm>
          <a:prstGeom prst="roundRect">
            <a:avLst>
              <a:gd name="adj" fmla="val 12000"/>
            </a:avLst>
          </a:prstGeom>
          <a:solidFill>
            <a:srgbClr val="F7F7FA"/>
          </a:solidFill>
          <a:ln>
            <a:noFill/>
          </a:ln>
          <a:effectLst/>
        </p:spPr>
        <p:txBody>
          <a:bodyPr rtlCol="0" anchor="ctr"/>
          <a:lstStyle/>
          <a:p>
            <a:pPr algn="ctr"/>
          </a:p>
        </p:txBody>
      </p:sp>
      <p:sp>
        <p:nvSpPr>
          <p:cNvPr id="13" name="TextBox 12"/>
          <p:cNvSpPr txBox="1"/>
          <p:nvPr/>
        </p:nvSpPr>
        <p:spPr>
          <a:xfrm>
            <a:off x="2615184" y="212140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31</a:t>
            </a:r>
          </a:p>
        </p:txBody>
      </p:sp>
      <p:sp>
        <p:nvSpPr>
          <p:cNvPr id="14" name="TextBox 13"/>
          <p:cNvSpPr txBox="1"/>
          <p:nvPr/>
        </p:nvSpPr>
        <p:spPr>
          <a:xfrm>
            <a:off x="2615184" y="257860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sites audited, 11 official black spots</a:t>
            </a:r>
          </a:p>
        </p:txBody>
      </p:sp>
      <p:sp>
        <p:nvSpPr>
          <p:cNvPr id="15" name="TextBox 14"/>
          <p:cNvSpPr txBox="1"/>
          <p:nvPr/>
        </p:nvSpPr>
        <p:spPr>
          <a:xfrm>
            <a:off x="4251960" y="237744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16" name="Rounded Rectangle 15"/>
          <p:cNvSpPr/>
          <p:nvPr/>
        </p:nvSpPr>
        <p:spPr>
          <a:xfrm>
            <a:off x="4407408" y="2011680"/>
            <a:ext cx="1783080" cy="1143000"/>
          </a:xfrm>
          <a:prstGeom prst="roundRect">
            <a:avLst>
              <a:gd name="adj" fmla="val 12000"/>
            </a:avLst>
          </a:prstGeom>
          <a:solidFill>
            <a:srgbClr val="F7F7FA"/>
          </a:solidFill>
          <a:ln>
            <a:noFill/>
          </a:ln>
          <a:effectLst/>
        </p:spPr>
        <p:txBody>
          <a:bodyPr rtlCol="0" anchor="ctr"/>
          <a:lstStyle/>
          <a:p>
            <a:pPr algn="ctr"/>
          </a:p>
        </p:txBody>
      </p:sp>
      <p:sp>
        <p:nvSpPr>
          <p:cNvPr id="17" name="TextBox 16"/>
          <p:cNvSpPr txBox="1"/>
          <p:nvPr/>
        </p:nvSpPr>
        <p:spPr>
          <a:xfrm>
            <a:off x="4535424" y="2121408"/>
            <a:ext cx="1554480" cy="50292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25+</a:t>
            </a:r>
          </a:p>
        </p:txBody>
      </p:sp>
      <p:sp>
        <p:nvSpPr>
          <p:cNvPr id="18" name="TextBox 17"/>
          <p:cNvSpPr txBox="1"/>
          <p:nvPr/>
        </p:nvSpPr>
        <p:spPr>
          <a:xfrm>
            <a:off x="4535424" y="2578608"/>
            <a:ext cx="1554480" cy="5029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written authority approvals</a:t>
            </a:r>
          </a:p>
        </p:txBody>
      </p:sp>
      <p:sp>
        <p:nvSpPr>
          <p:cNvPr id="19" name="TextBox 18"/>
          <p:cNvSpPr txBox="1"/>
          <p:nvPr/>
        </p:nvSpPr>
        <p:spPr>
          <a:xfrm>
            <a:off x="6172200" y="2377440"/>
            <a:ext cx="182880" cy="365760"/>
          </a:xfrm>
          <a:prstGeom prst="rect">
            <a:avLst/>
          </a:prstGeom>
          <a:noFill/>
        </p:spPr>
        <p:txBody>
          <a:bodyPr wrap="square" lIns="0" rIns="0" tIns="0" bIns="0" anchor="t">
            <a:spAutoFit/>
          </a:bodyPr>
          <a:lstStyle/>
          <a:p>
            <a:pPr algn="l">
              <a:lnSpc>
                <a:spcPct val="128000"/>
              </a:lnSpc>
            </a:pPr>
            <a:r>
              <a:rPr sz="1400" b="0" i="0">
                <a:solidFill>
                  <a:srgbClr val="6E7180"/>
                </a:solidFill>
                <a:latin typeface="Geist"/>
              </a:rPr>
              <a:t>→</a:t>
            </a:r>
          </a:p>
        </p:txBody>
      </p:sp>
      <p:sp>
        <p:nvSpPr>
          <p:cNvPr id="20" name="Rounded Rectangle 19"/>
          <p:cNvSpPr/>
          <p:nvPr/>
        </p:nvSpPr>
        <p:spPr>
          <a:xfrm>
            <a:off x="6327648" y="2011680"/>
            <a:ext cx="1783080" cy="1143000"/>
          </a:xfrm>
          <a:prstGeom prst="roundRect">
            <a:avLst>
              <a:gd name="adj" fmla="val 12000"/>
            </a:avLst>
          </a:prstGeom>
          <a:solidFill>
            <a:srgbClr val="4A35FF"/>
          </a:solidFill>
          <a:ln>
            <a:noFill/>
          </a:ln>
          <a:effectLst/>
        </p:spPr>
        <p:txBody>
          <a:bodyPr rtlCol="0" anchor="ctr"/>
          <a:lstStyle/>
          <a:p>
            <a:pPr algn="ctr"/>
          </a:p>
        </p:txBody>
      </p:sp>
      <p:sp>
        <p:nvSpPr>
          <p:cNvPr id="21" name="TextBox 20"/>
          <p:cNvSpPr txBox="1"/>
          <p:nvPr/>
        </p:nvSpPr>
        <p:spPr>
          <a:xfrm>
            <a:off x="6455664" y="2121408"/>
            <a:ext cx="1554480" cy="502920"/>
          </a:xfrm>
          <a:prstGeom prst="rect">
            <a:avLst/>
          </a:prstGeom>
          <a:noFill/>
        </p:spPr>
        <p:txBody>
          <a:bodyPr wrap="square" lIns="0" rIns="0" tIns="0" bIns="0" anchor="t">
            <a:spAutoFit/>
          </a:bodyPr>
          <a:lstStyle/>
          <a:p>
            <a:pPr algn="l">
              <a:lnSpc>
                <a:spcPct val="100000"/>
              </a:lnSpc>
            </a:pPr>
            <a:r>
              <a:rPr sz="2400" b="1" i="0">
                <a:solidFill>
                  <a:srgbClr val="FFFFFF"/>
                </a:solidFill>
                <a:latin typeface="Montserrat"/>
              </a:rPr>
              <a:t>15</a:t>
            </a:r>
          </a:p>
        </p:txBody>
      </p:sp>
      <p:sp>
        <p:nvSpPr>
          <p:cNvPr id="22" name="TextBox 21"/>
          <p:cNvSpPr txBox="1"/>
          <p:nvPr/>
        </p:nvSpPr>
        <p:spPr>
          <a:xfrm>
            <a:off x="6455664" y="2578608"/>
            <a:ext cx="1554480" cy="502920"/>
          </a:xfrm>
          <a:prstGeom prst="rect">
            <a:avLst/>
          </a:prstGeom>
          <a:noFill/>
        </p:spPr>
        <p:txBody>
          <a:bodyPr wrap="square" lIns="0" rIns="0" tIns="0" bIns="0" anchor="t">
            <a:spAutoFit/>
          </a:bodyPr>
          <a:lstStyle/>
          <a:p>
            <a:pPr algn="l">
              <a:lnSpc>
                <a:spcPct val="110000"/>
              </a:lnSpc>
            </a:pPr>
            <a:r>
              <a:rPr sz="850" b="0" i="0">
                <a:solidFill>
                  <a:srgbClr val="FFFFFF"/>
                </a:solidFill>
                <a:latin typeface="Geist"/>
              </a:rPr>
              <a:t>sites in implementation, 7 fully built</a:t>
            </a:r>
          </a:p>
        </p:txBody>
      </p:sp>
      <p:sp>
        <p:nvSpPr>
          <p:cNvPr id="23" name="TextBox 22"/>
          <p:cNvSpPr txBox="1"/>
          <p:nvPr/>
        </p:nvSpPr>
        <p:spPr>
          <a:xfrm>
            <a:off x="566928" y="3383280"/>
            <a:ext cx="7498079" cy="274320"/>
          </a:xfrm>
          <a:prstGeom prst="rect">
            <a:avLst/>
          </a:prstGeom>
          <a:noFill/>
        </p:spPr>
        <p:txBody>
          <a:bodyPr wrap="square" lIns="0" rIns="0" tIns="0" bIns="0" anchor="t">
            <a:spAutoFit/>
          </a:bodyPr>
          <a:lstStyle/>
          <a:p>
            <a:pPr algn="l">
              <a:lnSpc>
                <a:spcPct val="130000"/>
              </a:lnSpc>
            </a:pPr>
            <a:r>
              <a:rPr sz="1000" b="0" i="0">
                <a:solidFill>
                  <a:srgbClr val="6E7180"/>
                </a:solidFill>
                <a:latin typeface="Geist"/>
              </a:rPr>
              <a:t>31 student teams · 20 institutions including nine IITs · 900+ stakeholder surveys · 17 subject-matter experts guiding every audit</a:t>
            </a:r>
          </a:p>
        </p:txBody>
      </p:sp>
      <p:sp>
        <p:nvSpPr>
          <p:cNvPr id="24" name="Rounded Rectangle 23"/>
          <p:cNvSpPr/>
          <p:nvPr/>
        </p:nvSpPr>
        <p:spPr>
          <a:xfrm>
            <a:off x="566928" y="3886200"/>
            <a:ext cx="7498079" cy="1234440"/>
          </a:xfrm>
          <a:prstGeom prst="roundRect">
            <a:avLst>
              <a:gd name="adj" fmla="val 10000"/>
            </a:avLst>
          </a:prstGeom>
          <a:solidFill>
            <a:srgbClr val="E9F7F0"/>
          </a:solidFill>
          <a:ln>
            <a:noFill/>
          </a:ln>
          <a:effectLst/>
        </p:spPr>
        <p:txBody>
          <a:bodyPr rtlCol="0" anchor="ctr"/>
          <a:lstStyle/>
          <a:p>
            <a:pPr algn="ctr"/>
          </a:p>
        </p:txBody>
      </p:sp>
      <p:sp>
        <p:nvSpPr>
          <p:cNvPr id="25" name="TextBox 24"/>
          <p:cNvSpPr txBox="1"/>
          <p:nvPr/>
        </p:nvSpPr>
        <p:spPr>
          <a:xfrm>
            <a:off x="768096" y="4005072"/>
            <a:ext cx="7132320" cy="274320"/>
          </a:xfrm>
          <a:prstGeom prst="rect">
            <a:avLst/>
          </a:prstGeom>
          <a:noFill/>
        </p:spPr>
        <p:txBody>
          <a:bodyPr wrap="square" lIns="0" rIns="0" tIns="0" bIns="0" anchor="t">
            <a:spAutoFit/>
          </a:bodyPr>
          <a:lstStyle/>
          <a:p>
            <a:pPr algn="l">
              <a:lnSpc>
                <a:spcPct val="128000"/>
              </a:lnSpc>
            </a:pPr>
            <a:r>
              <a:rPr sz="850" b="1" i="0" spc="120">
                <a:solidFill>
                  <a:srgbClr val="0A9955"/>
                </a:solidFill>
                <a:latin typeface="Montserrat"/>
              </a:rPr>
              <a:t>MARQUEE CASE, OUTER RING ROAD, SOUTH DELHI</a:t>
            </a:r>
          </a:p>
        </p:txBody>
      </p:sp>
      <p:sp>
        <p:nvSpPr>
          <p:cNvPr id="26" name="TextBox 25"/>
          <p:cNvSpPr txBox="1"/>
          <p:nvPr/>
        </p:nvSpPr>
        <p:spPr>
          <a:xfrm>
            <a:off x="768096" y="4297680"/>
            <a:ext cx="7132320" cy="731520"/>
          </a:xfrm>
          <a:prstGeom prst="rect">
            <a:avLst/>
          </a:prstGeom>
          <a:noFill/>
        </p:spPr>
        <p:txBody>
          <a:bodyPr wrap="square" lIns="0" rIns="0" tIns="0" bIns="0" anchor="t">
            <a:spAutoFit/>
          </a:bodyPr>
          <a:lstStyle/>
          <a:p>
            <a:pPr algn="l">
              <a:lnSpc>
                <a:spcPct val="130000"/>
              </a:lnSpc>
            </a:pPr>
            <a:r>
              <a:rPr sz="1000" b="0" i="0">
                <a:solidFill>
                  <a:srgbClr val="16181D"/>
                </a:solidFill>
                <a:latin typeface="Geist"/>
              </a:rPr>
              <a:t>On our audit, PWD built a continuous 1.8 m accessible pedestrian corridor, upgraded drainage at ponding sites, installed bollards against footpath encroachment, and deployed camera-backed speed-feedback boards.</a:t>
            </a:r>
          </a:p>
        </p:txBody>
      </p:sp>
      <p:sp>
        <p:nvSpPr>
          <p:cNvPr id="27" name="TextBox 26"/>
          <p:cNvSpPr txBox="1"/>
          <p:nvPr/>
        </p:nvSpPr>
        <p:spPr>
          <a:xfrm>
            <a:off x="566928" y="5303520"/>
            <a:ext cx="7498079" cy="640080"/>
          </a:xfrm>
          <a:prstGeom prst="rect">
            <a:avLst/>
          </a:prstGeom>
          <a:noFill/>
        </p:spPr>
        <p:txBody>
          <a:bodyPr wrap="square" lIns="0" rIns="0" tIns="0" bIns="0" anchor="t">
            <a:spAutoFit/>
          </a:bodyPr>
          <a:lstStyle/>
          <a:p>
            <a:pPr algn="l">
              <a:lnSpc>
                <a:spcPct val="130000"/>
              </a:lnSpc>
            </a:pPr>
            <a:r>
              <a:rPr sz="1000" b="1" i="0">
                <a:solidFill>
                  <a:srgbClr val="16181D"/>
                </a:solidFill>
                <a:latin typeface="Geist"/>
              </a:rPr>
              <a:t>Every site is tracked on a public dashboard </a:t>
            </a:r>
            <a:r>
              <a:rPr sz="1000" b="0" i="0">
                <a:solidFill>
                  <a:srgbClr val="6E7180"/>
                </a:solidFill>
                <a:latin typeface="Geist"/>
              </a:rPr>
              <a:t>from submission through approval to completed construction, an honest read on how quickly agencies can act.</a:t>
            </a:r>
          </a:p>
        </p:txBody>
      </p:sp>
      <p:pic>
        <p:nvPicPr>
          <p:cNvPr id="28" name="Picture 27" descr="implementation_work.jpg_3.60x4.35_0.30.jpg"/>
          <p:cNvPicPr>
            <a:picLocks noChangeAspect="1"/>
          </p:cNvPicPr>
          <p:nvPr/>
        </p:nvPicPr>
        <p:blipFill>
          <a:blip r:embed="rId2"/>
          <a:stretch>
            <a:fillRect/>
          </a:stretch>
        </p:blipFill>
        <p:spPr>
          <a:xfrm>
            <a:off x="8321040" y="1965960"/>
            <a:ext cx="3291840" cy="3977639"/>
          </a:xfrm>
          <a:prstGeom prst="rect">
            <a:avLst/>
          </a:prstGeom>
        </p:spPr>
      </p:pic>
      <p:sp>
        <p:nvSpPr>
          <p:cNvPr id="29" name="Rectangle 28"/>
          <p:cNvSpPr/>
          <p:nvPr/>
        </p:nvSpPr>
        <p:spPr>
          <a:xfrm>
            <a:off x="8321040" y="1965960"/>
            <a:ext cx="3291840" cy="3977639"/>
          </a:xfrm>
          <a:prstGeom prst="rect">
            <a:avLst/>
          </a:prstGeom>
          <a:noFill/>
          <a:ln w="12700">
            <a:solidFill>
              <a:srgbClr val="E8E9EE"/>
            </a:solidFill>
          </a:ln>
          <a:effectLst/>
        </p:spPr>
        <p:txBody>
          <a:bodyPr rtlCol="0" anchor="ctr"/>
          <a:lstStyle/>
          <a:p>
            <a:pPr algn="ctr"/>
          </a:p>
        </p:txBody>
      </p:sp>
      <p:sp>
        <p:nvSpPr>
          <p:cNvPr id="30" name="TextBox 29"/>
          <p:cNvSpPr txBox="1"/>
          <p:nvPr/>
        </p:nvSpPr>
        <p:spPr>
          <a:xfrm>
            <a:off x="8321040" y="5989319"/>
            <a:ext cx="32918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Construction underway after a student audit, tracked publicly to completion.</a:t>
            </a:r>
          </a:p>
        </p:txBody>
      </p:sp>
      <p:cxnSp>
        <p:nvCxnSpPr>
          <p:cNvPr id="31" name="Connector 30"/>
          <p:cNvCxnSpPr/>
          <p:nvPr/>
        </p:nvCxnSpPr>
        <p:spPr>
          <a:xfrm>
            <a:off x="566928" y="6455664"/>
            <a:ext cx="11057839" cy="0"/>
          </a:xfrm>
          <a:prstGeom prst="line">
            <a:avLst/>
          </a:prstGeom>
          <a:ln w="9525">
            <a:solidFill>
              <a:srgbClr val="E8E9EE"/>
            </a:solidFill>
          </a:ln>
          <a:effectLst/>
        </p:spPr>
      </p:cxnSp>
      <p:sp>
        <p:nvSpPr>
          <p:cNvPr id="32" name="TextBox 31"/>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33" name="TextBox 32"/>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ENFORCEMENT TECHNOLOGY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SATARK: AI that helps police stop </a:t>
            </a:r>
            <a:r>
              <a:rPr sz="2250" b="1" i="0">
                <a:solidFill>
                  <a:srgbClr val="4A35FF"/>
                </a:solidFill>
                <a:latin typeface="Montserrat"/>
              </a:rPr>
              <a:t>the right vehicle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Built with Cars24 engineers. Reads number plates, checks government records, and alerts officers to repeat offenders, in real time.</a:t>
            </a:r>
          </a:p>
        </p:txBody>
      </p:sp>
      <p:pic>
        <p:nvPicPr>
          <p:cNvPr id="8" name="Picture 7" descr="satark_billboard.jpg_4.35x2.65_0.42.jpg"/>
          <p:cNvPicPr>
            <a:picLocks noChangeAspect="1"/>
          </p:cNvPicPr>
          <p:nvPr/>
        </p:nvPicPr>
        <p:blipFill>
          <a:blip r:embed="rId2"/>
          <a:stretch>
            <a:fillRect/>
          </a:stretch>
        </p:blipFill>
        <p:spPr>
          <a:xfrm>
            <a:off x="566928" y="1965960"/>
            <a:ext cx="3977639" cy="2423160"/>
          </a:xfrm>
          <a:prstGeom prst="rect">
            <a:avLst/>
          </a:prstGeom>
        </p:spPr>
      </p:pic>
      <p:sp>
        <p:nvSpPr>
          <p:cNvPr id="9" name="Rectangle 8"/>
          <p:cNvSpPr/>
          <p:nvPr/>
        </p:nvSpPr>
        <p:spPr>
          <a:xfrm>
            <a:off x="566928" y="1965960"/>
            <a:ext cx="3977639" cy="242316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434840"/>
            <a:ext cx="3977639"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Rambagh Circle, Jaipur, live plate, pending challans and dues on a public billboard.</a:t>
            </a:r>
          </a:p>
        </p:txBody>
      </p:sp>
      <p:pic>
        <p:nvPicPr>
          <p:cNvPr id="11" name="Picture 10" descr="satark_officer_app.jpg"/>
          <p:cNvPicPr>
            <a:picLocks noChangeAspect="1"/>
          </p:cNvPicPr>
          <p:nvPr/>
        </p:nvPicPr>
        <p:blipFill>
          <a:blip r:embed="rId3"/>
          <a:stretch>
            <a:fillRect/>
          </a:stretch>
        </p:blipFill>
        <p:spPr>
          <a:xfrm>
            <a:off x="4709160" y="1965960"/>
            <a:ext cx="1828800" cy="2150283"/>
          </a:xfrm>
          <a:prstGeom prst="rect">
            <a:avLst/>
          </a:prstGeom>
        </p:spPr>
      </p:pic>
      <p:sp>
        <p:nvSpPr>
          <p:cNvPr id="12" name="Rectangle 11"/>
          <p:cNvSpPr/>
          <p:nvPr/>
        </p:nvSpPr>
        <p:spPr>
          <a:xfrm>
            <a:off x="4709160" y="1965960"/>
            <a:ext cx="1828800" cy="2150283"/>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4709160" y="4161963"/>
            <a:ext cx="182880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Officer view, challans,</a:t>
            </a:r>
          </a:p>
          <a:p>
            <a:pPr algn="l">
              <a:lnSpc>
                <a:spcPct val="112000"/>
              </a:lnSpc>
            </a:pPr>
            <a:r>
              <a:rPr sz="850" b="0" i="0">
                <a:solidFill>
                  <a:srgbClr val="6E7180"/>
                </a:solidFill>
                <a:latin typeface="Geist"/>
              </a:rPr>
              <a:t>RC &amp; compliance status.</a:t>
            </a:r>
          </a:p>
        </p:txBody>
      </p:sp>
      <p:sp>
        <p:nvSpPr>
          <p:cNvPr id="14" name="TextBox 13"/>
          <p:cNvSpPr txBox="1"/>
          <p:nvPr/>
        </p:nvSpPr>
        <p:spPr>
          <a:xfrm>
            <a:off x="6784848"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3,00,000+</a:t>
            </a:r>
          </a:p>
        </p:txBody>
      </p:sp>
      <p:sp>
        <p:nvSpPr>
          <p:cNvPr id="15" name="TextBox 14"/>
          <p:cNvSpPr txBox="1"/>
          <p:nvPr/>
        </p:nvSpPr>
        <p:spPr>
          <a:xfrm>
            <a:off x="6784848"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screened</a:t>
            </a:r>
          </a:p>
        </p:txBody>
      </p:sp>
      <p:sp>
        <p:nvSpPr>
          <p:cNvPr id="16" name="TextBox 15"/>
          <p:cNvSpPr txBox="1"/>
          <p:nvPr/>
        </p:nvSpPr>
        <p:spPr>
          <a:xfrm>
            <a:off x="9235440"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 Cr+</a:t>
            </a:r>
          </a:p>
        </p:txBody>
      </p:sp>
      <p:sp>
        <p:nvSpPr>
          <p:cNvPr id="17" name="TextBox 16"/>
          <p:cNvSpPr txBox="1"/>
          <p:nvPr/>
        </p:nvSpPr>
        <p:spPr>
          <a:xfrm>
            <a:off x="9235440"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pending challan value identified</a:t>
            </a:r>
          </a:p>
        </p:txBody>
      </p:sp>
      <p:sp>
        <p:nvSpPr>
          <p:cNvPr id="18" name="TextBox 17"/>
          <p:cNvSpPr txBox="1"/>
          <p:nvPr/>
        </p:nvSpPr>
        <p:spPr>
          <a:xfrm>
            <a:off x="6784848"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350+</a:t>
            </a:r>
          </a:p>
        </p:txBody>
      </p:sp>
      <p:sp>
        <p:nvSpPr>
          <p:cNvPr id="19" name="TextBox 18"/>
          <p:cNvSpPr txBox="1"/>
          <p:nvPr/>
        </p:nvSpPr>
        <p:spPr>
          <a:xfrm>
            <a:off x="6784848"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high-risk vehicles intercepted</a:t>
            </a:r>
          </a:p>
        </p:txBody>
      </p:sp>
      <p:sp>
        <p:nvSpPr>
          <p:cNvPr id="20" name="TextBox 19"/>
          <p:cNvSpPr txBox="1"/>
          <p:nvPr/>
        </p:nvSpPr>
        <p:spPr>
          <a:xfrm>
            <a:off x="9235440"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70,019</a:t>
            </a:r>
          </a:p>
        </p:txBody>
      </p:sp>
      <p:sp>
        <p:nvSpPr>
          <p:cNvPr id="21" name="TextBox 20"/>
          <p:cNvSpPr txBox="1"/>
          <p:nvPr/>
        </p:nvSpPr>
        <p:spPr>
          <a:xfrm>
            <a:off x="9235440"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found with pending challans</a:t>
            </a:r>
          </a:p>
        </p:txBody>
      </p:sp>
      <p:sp>
        <p:nvSpPr>
          <p:cNvPr id="22" name="Rounded Rectangle 21"/>
          <p:cNvSpPr/>
          <p:nvPr/>
        </p:nvSpPr>
        <p:spPr>
          <a:xfrm>
            <a:off x="6784848" y="3767328"/>
            <a:ext cx="2240280" cy="384048"/>
          </a:xfrm>
          <a:prstGeom prst="roundRect">
            <a:avLst>
              <a:gd name="adj" fmla="val 50000"/>
            </a:avLst>
          </a:prstGeom>
          <a:solidFill>
            <a:srgbClr val="E9F7F0"/>
          </a:solidFill>
          <a:ln>
            <a:noFill/>
          </a:ln>
          <a:effectLst/>
        </p:spPr>
        <p:txBody>
          <a:bodyPr rtlCol="0" anchor="ctr"/>
          <a:lstStyle/>
          <a:p>
            <a:pPr algn="ctr"/>
          </a:p>
        </p:txBody>
      </p:sp>
      <p:sp>
        <p:nvSpPr>
          <p:cNvPr id="23" name="TextBox 22"/>
          <p:cNvSpPr txBox="1"/>
          <p:nvPr/>
        </p:nvSpPr>
        <p:spPr>
          <a:xfrm>
            <a:off x="6803136" y="3767328"/>
            <a:ext cx="2203704" cy="384048"/>
          </a:xfrm>
          <a:prstGeom prst="rect">
            <a:avLst/>
          </a:prstGeom>
          <a:noFill/>
        </p:spPr>
        <p:txBody>
          <a:bodyPr wrap="square" lIns="0" rIns="0" tIns="0" bIns="0" anchor="ctr">
            <a:spAutoFit/>
          </a:bodyPr>
          <a:lstStyle/>
          <a:p>
            <a:pPr algn="ctr">
              <a:lnSpc>
                <a:spcPct val="100000"/>
              </a:lnSpc>
            </a:pPr>
            <a:r>
              <a:rPr sz="950" b="1" i="0">
                <a:solidFill>
                  <a:srgbClr val="0A9955"/>
                </a:solidFill>
                <a:latin typeface="Montserrat"/>
              </a:rPr>
              <a:t>LIVE · Jaipur &amp; Bengaluru</a:t>
            </a:r>
          </a:p>
        </p:txBody>
      </p:sp>
      <p:sp>
        <p:nvSpPr>
          <p:cNvPr id="24" name="Rounded Rectangle 23"/>
          <p:cNvSpPr/>
          <p:nvPr/>
        </p:nvSpPr>
        <p:spPr>
          <a:xfrm>
            <a:off x="9144000" y="3767328"/>
            <a:ext cx="1600200" cy="384048"/>
          </a:xfrm>
          <a:prstGeom prst="roundRect">
            <a:avLst>
              <a:gd name="adj" fmla="val 50000"/>
            </a:avLst>
          </a:prstGeom>
          <a:solidFill>
            <a:srgbClr val="EFEDFF"/>
          </a:solidFill>
          <a:ln>
            <a:noFill/>
          </a:ln>
          <a:effectLst/>
        </p:spPr>
        <p:txBody>
          <a:bodyPr rtlCol="0" anchor="ctr"/>
          <a:lstStyle/>
          <a:p>
            <a:pPr algn="ctr"/>
          </a:p>
        </p:txBody>
      </p:sp>
      <p:sp>
        <p:nvSpPr>
          <p:cNvPr id="25" name="TextBox 24"/>
          <p:cNvSpPr txBox="1"/>
          <p:nvPr/>
        </p:nvSpPr>
        <p:spPr>
          <a:xfrm>
            <a:off x="9162288" y="3767328"/>
            <a:ext cx="1563624" cy="384048"/>
          </a:xfrm>
          <a:prstGeom prst="rect">
            <a:avLst/>
          </a:prstGeom>
          <a:noFill/>
        </p:spPr>
        <p:txBody>
          <a:bodyPr wrap="square" lIns="0" rIns="0" tIns="0" bIns="0" anchor="ctr">
            <a:spAutoFit/>
          </a:bodyPr>
          <a:lstStyle/>
          <a:p>
            <a:pPr algn="ctr">
              <a:lnSpc>
                <a:spcPct val="100000"/>
              </a:lnSpc>
            </a:pPr>
            <a:r>
              <a:rPr sz="950" b="1" i="0">
                <a:solidFill>
                  <a:srgbClr val="4A35FF"/>
                </a:solidFill>
                <a:latin typeface="Montserrat"/>
              </a:rPr>
              <a:t>NEW · Gurugram</a:t>
            </a:r>
          </a:p>
        </p:txBody>
      </p:sp>
      <p:sp>
        <p:nvSpPr>
          <p:cNvPr id="26" name="TextBox 25"/>
          <p:cNvSpPr txBox="1"/>
          <p:nvPr/>
        </p:nvSpPr>
        <p:spPr>
          <a:xfrm>
            <a:off x="6784848" y="4261104"/>
            <a:ext cx="4754880" cy="2743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Bengaluru's Trinity Circle billboard was India's first, covered by Deccan Herald and national press. Pune and Ahmedabad are next.</a:t>
            </a:r>
          </a:p>
        </p:txBody>
      </p:sp>
      <p:cxnSp>
        <p:nvCxnSpPr>
          <p:cNvPr id="27" name="Connector 26"/>
          <p:cNvCxnSpPr/>
          <p:nvPr/>
        </p:nvCxnSpPr>
        <p:spPr>
          <a:xfrm>
            <a:off x="932688" y="5358384"/>
            <a:ext cx="10326319" cy="0"/>
          </a:xfrm>
          <a:prstGeom prst="line">
            <a:avLst/>
          </a:prstGeom>
          <a:ln w="12700">
            <a:solidFill>
              <a:srgbClr val="E8E9EE"/>
            </a:solidFill>
          </a:ln>
          <a:effectLst/>
        </p:spPr>
      </p:cxnSp>
      <p:sp>
        <p:nvSpPr>
          <p:cNvPr id="28" name="Oval 27"/>
          <p:cNvSpPr/>
          <p:nvPr/>
        </p:nvSpPr>
        <p:spPr>
          <a:xfrm>
            <a:off x="1038586" y="5138928"/>
            <a:ext cx="438912" cy="438912"/>
          </a:xfrm>
          <a:prstGeom prst="ellipse">
            <a:avLst/>
          </a:prstGeom>
          <a:solidFill>
            <a:srgbClr val="F7F7FA"/>
          </a:solidFill>
          <a:ln>
            <a:noFill/>
          </a:ln>
          <a:effectLst/>
        </p:spPr>
        <p:txBody>
          <a:bodyPr rtlCol="0" anchor="ctr"/>
          <a:lstStyle/>
          <a:p>
            <a:pPr algn="ctr"/>
          </a:p>
        </p:txBody>
      </p:sp>
      <p:pic>
        <p:nvPicPr>
          <p:cNvPr id="29" name="Picture 28" descr="camera_4A35FF_256_2.0.png"/>
          <p:cNvPicPr>
            <a:picLocks noChangeAspect="1"/>
          </p:cNvPicPr>
          <p:nvPr/>
        </p:nvPicPr>
        <p:blipFill>
          <a:blip r:embed="rId4"/>
          <a:stretch>
            <a:fillRect/>
          </a:stretch>
        </p:blipFill>
        <p:spPr>
          <a:xfrm>
            <a:off x="1143924" y="5244266"/>
            <a:ext cx="228234" cy="228234"/>
          </a:xfrm>
          <a:prstGeom prst="rect">
            <a:avLst/>
          </a:prstGeom>
        </p:spPr>
      </p:pic>
      <p:sp>
        <p:nvSpPr>
          <p:cNvPr id="30" name="TextBox 29"/>
          <p:cNvSpPr txBox="1"/>
          <p:nvPr/>
        </p:nvSpPr>
        <p:spPr>
          <a:xfrm>
            <a:off x="566928"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ANPR camera</a:t>
            </a:r>
          </a:p>
        </p:txBody>
      </p:sp>
      <p:sp>
        <p:nvSpPr>
          <p:cNvPr id="31" name="Oval 30"/>
          <p:cNvSpPr/>
          <p:nvPr/>
        </p:nvSpPr>
        <p:spPr>
          <a:xfrm>
            <a:off x="2420815" y="5138928"/>
            <a:ext cx="438912" cy="438912"/>
          </a:xfrm>
          <a:prstGeom prst="ellipse">
            <a:avLst/>
          </a:prstGeom>
          <a:solidFill>
            <a:srgbClr val="F7F7FA"/>
          </a:solidFill>
          <a:ln>
            <a:noFill/>
          </a:ln>
          <a:effectLst/>
        </p:spPr>
        <p:txBody>
          <a:bodyPr rtlCol="0" anchor="ctr"/>
          <a:lstStyle/>
          <a:p>
            <a:pPr algn="ctr"/>
          </a:p>
        </p:txBody>
      </p:sp>
      <p:pic>
        <p:nvPicPr>
          <p:cNvPr id="32" name="Picture 31" descr="scan-line_4A35FF_256_2.0.png"/>
          <p:cNvPicPr>
            <a:picLocks noChangeAspect="1"/>
          </p:cNvPicPr>
          <p:nvPr/>
        </p:nvPicPr>
        <p:blipFill>
          <a:blip r:embed="rId5"/>
          <a:stretch>
            <a:fillRect/>
          </a:stretch>
        </p:blipFill>
        <p:spPr>
          <a:xfrm>
            <a:off x="2526153" y="5244266"/>
            <a:ext cx="228234" cy="228234"/>
          </a:xfrm>
          <a:prstGeom prst="rect">
            <a:avLst/>
          </a:prstGeom>
        </p:spPr>
      </p:pic>
      <p:sp>
        <p:nvSpPr>
          <p:cNvPr id="33" name="TextBox 32"/>
          <p:cNvSpPr txBox="1"/>
          <p:nvPr/>
        </p:nvSpPr>
        <p:spPr>
          <a:xfrm>
            <a:off x="194915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Plate read</a:t>
            </a:r>
          </a:p>
        </p:txBody>
      </p:sp>
      <p:sp>
        <p:nvSpPr>
          <p:cNvPr id="34" name="Oval 33"/>
          <p:cNvSpPr/>
          <p:nvPr/>
        </p:nvSpPr>
        <p:spPr>
          <a:xfrm>
            <a:off x="3803045" y="5138928"/>
            <a:ext cx="438912" cy="438912"/>
          </a:xfrm>
          <a:prstGeom prst="ellipse">
            <a:avLst/>
          </a:prstGeom>
          <a:solidFill>
            <a:srgbClr val="F7F7FA"/>
          </a:solidFill>
          <a:ln>
            <a:noFill/>
          </a:ln>
          <a:effectLst/>
        </p:spPr>
        <p:txBody>
          <a:bodyPr rtlCol="0" anchor="ctr"/>
          <a:lstStyle/>
          <a:p>
            <a:pPr algn="ctr"/>
          </a:p>
        </p:txBody>
      </p:sp>
      <p:pic>
        <p:nvPicPr>
          <p:cNvPr id="35" name="Picture 34" descr="database_4A35FF_256_2.0.png"/>
          <p:cNvPicPr>
            <a:picLocks noChangeAspect="1"/>
          </p:cNvPicPr>
          <p:nvPr/>
        </p:nvPicPr>
        <p:blipFill>
          <a:blip r:embed="rId6"/>
          <a:stretch>
            <a:fillRect/>
          </a:stretch>
        </p:blipFill>
        <p:spPr>
          <a:xfrm>
            <a:off x="3908383" y="5244266"/>
            <a:ext cx="228234" cy="228234"/>
          </a:xfrm>
          <a:prstGeom prst="rect">
            <a:avLst/>
          </a:prstGeom>
        </p:spPr>
      </p:pic>
      <p:sp>
        <p:nvSpPr>
          <p:cNvPr id="36" name="TextBox 35"/>
          <p:cNvSpPr txBox="1"/>
          <p:nvPr/>
        </p:nvSpPr>
        <p:spPr>
          <a:xfrm>
            <a:off x="333138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Records check</a:t>
            </a:r>
          </a:p>
        </p:txBody>
      </p:sp>
      <p:sp>
        <p:nvSpPr>
          <p:cNvPr id="37" name="Oval 36"/>
          <p:cNvSpPr/>
          <p:nvPr/>
        </p:nvSpPr>
        <p:spPr>
          <a:xfrm>
            <a:off x="5185275" y="5138928"/>
            <a:ext cx="438912" cy="438912"/>
          </a:xfrm>
          <a:prstGeom prst="ellipse">
            <a:avLst/>
          </a:prstGeom>
          <a:solidFill>
            <a:srgbClr val="F7F7FA"/>
          </a:solidFill>
          <a:ln>
            <a:noFill/>
          </a:ln>
          <a:effectLst/>
        </p:spPr>
        <p:txBody>
          <a:bodyPr rtlCol="0" anchor="ctr"/>
          <a:lstStyle/>
          <a:p>
            <a:pPr algn="ctr"/>
          </a:p>
        </p:txBody>
      </p:sp>
      <p:pic>
        <p:nvPicPr>
          <p:cNvPr id="38" name="Picture 37" descr="alert-triangle_4A35FF_256_2.0.png"/>
          <p:cNvPicPr>
            <a:picLocks noChangeAspect="1"/>
          </p:cNvPicPr>
          <p:nvPr/>
        </p:nvPicPr>
        <p:blipFill>
          <a:blip r:embed="rId7"/>
          <a:stretch>
            <a:fillRect/>
          </a:stretch>
        </p:blipFill>
        <p:spPr>
          <a:xfrm>
            <a:off x="5290613" y="5244266"/>
            <a:ext cx="228234" cy="228234"/>
          </a:xfrm>
          <a:prstGeom prst="rect">
            <a:avLst/>
          </a:prstGeom>
        </p:spPr>
      </p:pic>
      <p:sp>
        <p:nvSpPr>
          <p:cNvPr id="39" name="TextBox 38"/>
          <p:cNvSpPr txBox="1"/>
          <p:nvPr/>
        </p:nvSpPr>
        <p:spPr>
          <a:xfrm>
            <a:off x="471361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Risk flag</a:t>
            </a:r>
          </a:p>
        </p:txBody>
      </p:sp>
      <p:sp>
        <p:nvSpPr>
          <p:cNvPr id="40" name="Oval 39"/>
          <p:cNvSpPr/>
          <p:nvPr/>
        </p:nvSpPr>
        <p:spPr>
          <a:xfrm>
            <a:off x="6567505" y="5138928"/>
            <a:ext cx="438912" cy="438912"/>
          </a:xfrm>
          <a:prstGeom prst="ellipse">
            <a:avLst/>
          </a:prstGeom>
          <a:solidFill>
            <a:srgbClr val="F7F7FA"/>
          </a:solidFill>
          <a:ln>
            <a:noFill/>
          </a:ln>
          <a:effectLst/>
        </p:spPr>
        <p:txBody>
          <a:bodyPr rtlCol="0" anchor="ctr"/>
          <a:lstStyle/>
          <a:p>
            <a:pPr algn="ctr"/>
          </a:p>
        </p:txBody>
      </p:sp>
      <p:pic>
        <p:nvPicPr>
          <p:cNvPr id="41" name="Picture 40" descr="bell-ring_4A35FF_256_2.0.png"/>
          <p:cNvPicPr>
            <a:picLocks noChangeAspect="1"/>
          </p:cNvPicPr>
          <p:nvPr/>
        </p:nvPicPr>
        <p:blipFill>
          <a:blip r:embed="rId8"/>
          <a:stretch>
            <a:fillRect/>
          </a:stretch>
        </p:blipFill>
        <p:spPr>
          <a:xfrm>
            <a:off x="6672843" y="5244266"/>
            <a:ext cx="228234" cy="228234"/>
          </a:xfrm>
          <a:prstGeom prst="rect">
            <a:avLst/>
          </a:prstGeom>
        </p:spPr>
      </p:pic>
      <p:sp>
        <p:nvSpPr>
          <p:cNvPr id="42" name="TextBox 41"/>
          <p:cNvSpPr txBox="1"/>
          <p:nvPr/>
        </p:nvSpPr>
        <p:spPr>
          <a:xfrm>
            <a:off x="609584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Officer alert</a:t>
            </a:r>
          </a:p>
        </p:txBody>
      </p:sp>
      <p:sp>
        <p:nvSpPr>
          <p:cNvPr id="43" name="Oval 42"/>
          <p:cNvSpPr/>
          <p:nvPr/>
        </p:nvSpPr>
        <p:spPr>
          <a:xfrm>
            <a:off x="7949735" y="5138928"/>
            <a:ext cx="438912" cy="438912"/>
          </a:xfrm>
          <a:prstGeom prst="ellipse">
            <a:avLst/>
          </a:prstGeom>
          <a:solidFill>
            <a:srgbClr val="F7F7FA"/>
          </a:solidFill>
          <a:ln>
            <a:noFill/>
          </a:ln>
          <a:effectLst/>
        </p:spPr>
        <p:txBody>
          <a:bodyPr rtlCol="0" anchor="ctr"/>
          <a:lstStyle/>
          <a:p>
            <a:pPr algn="ctr"/>
          </a:p>
        </p:txBody>
      </p:sp>
      <p:pic>
        <p:nvPicPr>
          <p:cNvPr id="44" name="Picture 43" descr="monitor_4A35FF_256_2.0.png"/>
          <p:cNvPicPr>
            <a:picLocks noChangeAspect="1"/>
          </p:cNvPicPr>
          <p:nvPr/>
        </p:nvPicPr>
        <p:blipFill>
          <a:blip r:embed="rId9"/>
          <a:stretch>
            <a:fillRect/>
          </a:stretch>
        </p:blipFill>
        <p:spPr>
          <a:xfrm>
            <a:off x="8055073" y="5244266"/>
            <a:ext cx="228234" cy="228234"/>
          </a:xfrm>
          <a:prstGeom prst="rect">
            <a:avLst/>
          </a:prstGeom>
        </p:spPr>
      </p:pic>
      <p:sp>
        <p:nvSpPr>
          <p:cNvPr id="45" name="TextBox 44"/>
          <p:cNvSpPr txBox="1"/>
          <p:nvPr/>
        </p:nvSpPr>
        <p:spPr>
          <a:xfrm>
            <a:off x="747807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Billboard</a:t>
            </a:r>
          </a:p>
        </p:txBody>
      </p:sp>
      <p:sp>
        <p:nvSpPr>
          <p:cNvPr id="46" name="Oval 45"/>
          <p:cNvSpPr/>
          <p:nvPr/>
        </p:nvSpPr>
        <p:spPr>
          <a:xfrm>
            <a:off x="9331965" y="5138928"/>
            <a:ext cx="438912" cy="438912"/>
          </a:xfrm>
          <a:prstGeom prst="ellipse">
            <a:avLst/>
          </a:prstGeom>
          <a:solidFill>
            <a:srgbClr val="F7F7FA"/>
          </a:solidFill>
          <a:ln>
            <a:noFill/>
          </a:ln>
          <a:effectLst/>
        </p:spPr>
        <p:txBody>
          <a:bodyPr rtlCol="0" anchor="ctr"/>
          <a:lstStyle/>
          <a:p>
            <a:pPr algn="ctr"/>
          </a:p>
        </p:txBody>
      </p:sp>
      <p:pic>
        <p:nvPicPr>
          <p:cNvPr id="47" name="Picture 46" descr="hand_4A35FF_256_2.0.png"/>
          <p:cNvPicPr>
            <a:picLocks noChangeAspect="1"/>
          </p:cNvPicPr>
          <p:nvPr/>
        </p:nvPicPr>
        <p:blipFill>
          <a:blip r:embed="rId10"/>
          <a:stretch>
            <a:fillRect/>
          </a:stretch>
        </p:blipFill>
        <p:spPr>
          <a:xfrm>
            <a:off x="9437303" y="5244266"/>
            <a:ext cx="228234" cy="228234"/>
          </a:xfrm>
          <a:prstGeom prst="rect">
            <a:avLst/>
          </a:prstGeom>
        </p:spPr>
      </p:pic>
      <p:sp>
        <p:nvSpPr>
          <p:cNvPr id="48" name="TextBox 47"/>
          <p:cNvSpPr txBox="1"/>
          <p:nvPr/>
        </p:nvSpPr>
        <p:spPr>
          <a:xfrm>
            <a:off x="886030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Interception</a:t>
            </a:r>
          </a:p>
        </p:txBody>
      </p:sp>
      <p:sp>
        <p:nvSpPr>
          <p:cNvPr id="49" name="Oval 48"/>
          <p:cNvSpPr/>
          <p:nvPr/>
        </p:nvSpPr>
        <p:spPr>
          <a:xfrm>
            <a:off x="10714195" y="5138928"/>
            <a:ext cx="438912" cy="438912"/>
          </a:xfrm>
          <a:prstGeom prst="ellipse">
            <a:avLst/>
          </a:prstGeom>
          <a:solidFill>
            <a:srgbClr val="F7F7FA"/>
          </a:solidFill>
          <a:ln>
            <a:noFill/>
          </a:ln>
          <a:effectLst/>
        </p:spPr>
        <p:txBody>
          <a:bodyPr rtlCol="0" anchor="ctr"/>
          <a:lstStyle/>
          <a:p>
            <a:pPr algn="ctr"/>
          </a:p>
        </p:txBody>
      </p:sp>
      <p:pic>
        <p:nvPicPr>
          <p:cNvPr id="50" name="Picture 49" descr="shield-check_4A35FF_256_2.0.png"/>
          <p:cNvPicPr>
            <a:picLocks noChangeAspect="1"/>
          </p:cNvPicPr>
          <p:nvPr/>
        </p:nvPicPr>
        <p:blipFill>
          <a:blip r:embed="rId11"/>
          <a:stretch>
            <a:fillRect/>
          </a:stretch>
        </p:blipFill>
        <p:spPr>
          <a:xfrm>
            <a:off x="10819533" y="5244266"/>
            <a:ext cx="228234" cy="228234"/>
          </a:xfrm>
          <a:prstGeom prst="rect">
            <a:avLst/>
          </a:prstGeom>
        </p:spPr>
      </p:pic>
      <p:sp>
        <p:nvSpPr>
          <p:cNvPr id="51" name="TextBox 50"/>
          <p:cNvSpPr txBox="1"/>
          <p:nvPr/>
        </p:nvSpPr>
        <p:spPr>
          <a:xfrm>
            <a:off x="1024253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Enforcement</a:t>
            </a:r>
          </a:p>
        </p:txBody>
      </p:sp>
      <p:cxnSp>
        <p:nvCxnSpPr>
          <p:cNvPr id="52" name="Connector 51"/>
          <p:cNvCxnSpPr/>
          <p:nvPr/>
        </p:nvCxnSpPr>
        <p:spPr>
          <a:xfrm>
            <a:off x="566928" y="6455664"/>
            <a:ext cx="11057839" cy="0"/>
          </a:xfrm>
          <a:prstGeom prst="line">
            <a:avLst/>
          </a:prstGeom>
          <a:ln w="9525">
            <a:solidFill>
              <a:srgbClr val="E8E9EE"/>
            </a:solidFill>
          </a:ln>
          <a:effectLst/>
        </p:spPr>
      </p:cxnSp>
      <p:sp>
        <p:nvSpPr>
          <p:cNvPr id="53" name="TextBox 52"/>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54" name="TextBox 5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OPEN PUBLIC DATA</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Live public data platforms, </a:t>
            </a:r>
            <a:r>
              <a:rPr sz="2250" b="1" i="0">
                <a:solidFill>
                  <a:srgbClr val="4A35FF"/>
                </a:solidFill>
                <a:latin typeface="Montserrat"/>
              </a:rPr>
              <a:t>free for any authority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Four platforms, each turning a scattered public record into structured, citable evidence. The Parliament tracker is shown live, as captured this week.</a:t>
            </a:r>
          </a:p>
        </p:txBody>
      </p:sp>
      <p:pic>
        <p:nvPicPr>
          <p:cNvPr id="8" name="Picture 7" descr="parliament_live.png_6.00x2.62_0.00.jpg"/>
          <p:cNvPicPr>
            <a:picLocks noChangeAspect="1"/>
          </p:cNvPicPr>
          <p:nvPr/>
        </p:nvPicPr>
        <p:blipFill>
          <a:blip r:embed="rId2"/>
          <a:stretch>
            <a:fillRect/>
          </a:stretch>
        </p:blipFill>
        <p:spPr>
          <a:xfrm>
            <a:off x="566928" y="1938528"/>
            <a:ext cx="5486400" cy="2395728"/>
          </a:xfrm>
          <a:prstGeom prst="rect">
            <a:avLst/>
          </a:prstGeom>
        </p:spPr>
      </p:pic>
      <p:sp>
        <p:nvSpPr>
          <p:cNvPr id="9" name="Rectangle 8"/>
          <p:cNvSpPr/>
          <p:nvPr/>
        </p:nvSpPr>
        <p:spPr>
          <a:xfrm>
            <a:off x="566928" y="1938528"/>
            <a:ext cx="5486400" cy="2395728"/>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379976"/>
            <a:ext cx="54864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Road Safety in Parliament: all 1,444 questions since 2014 across four ministries; 275 of 540 sitting Lok Sabha MPs have never asked one.</a:t>
            </a:r>
          </a:p>
        </p:txBody>
      </p:sp>
      <p:sp>
        <p:nvSpPr>
          <p:cNvPr id="11" name="Rounded Rectangle 10"/>
          <p:cNvSpPr/>
          <p:nvPr/>
        </p:nvSpPr>
        <p:spPr>
          <a:xfrm>
            <a:off x="6144768" y="1938528"/>
            <a:ext cx="5486400" cy="2395728"/>
          </a:xfrm>
          <a:prstGeom prst="roundRect">
            <a:avLst>
              <a:gd name="adj" fmla="val 6000"/>
            </a:avLst>
          </a:prstGeom>
          <a:solidFill>
            <a:srgbClr val="FFFFFF"/>
          </a:solidFill>
          <a:ln w="9525">
            <a:solidFill>
              <a:srgbClr val="E8E9EE"/>
            </a:solidFill>
          </a:ln>
          <a:effectLst/>
        </p:spPr>
        <p:txBody>
          <a:bodyPr rtlCol="0" anchor="ctr"/>
          <a:lstStyle/>
          <a:p>
            <a:pPr algn="ctr"/>
          </a:p>
        </p:txBody>
      </p:sp>
      <p:sp>
        <p:nvSpPr>
          <p:cNvPr id="12" name="Oval 11"/>
          <p:cNvSpPr/>
          <p:nvPr/>
        </p:nvSpPr>
        <p:spPr>
          <a:xfrm>
            <a:off x="6327648" y="2121408"/>
            <a:ext cx="420624" cy="420624"/>
          </a:xfrm>
          <a:prstGeom prst="ellipse">
            <a:avLst/>
          </a:prstGeom>
          <a:solidFill>
            <a:srgbClr val="E7F4F4"/>
          </a:solidFill>
          <a:ln>
            <a:noFill/>
          </a:ln>
          <a:effectLst/>
        </p:spPr>
        <p:txBody>
          <a:bodyPr rtlCol="0" anchor="ctr"/>
          <a:lstStyle/>
          <a:p>
            <a:pPr algn="ctr"/>
          </a:p>
        </p:txBody>
      </p:sp>
      <p:pic>
        <p:nvPicPr>
          <p:cNvPr id="13" name="Picture 12" descr="database_0E8A8A_256_2.0.png"/>
          <p:cNvPicPr>
            <a:picLocks noChangeAspect="1"/>
          </p:cNvPicPr>
          <p:nvPr/>
        </p:nvPicPr>
        <p:blipFill>
          <a:blip r:embed="rId3"/>
          <a:stretch>
            <a:fillRect/>
          </a:stretch>
        </p:blipFill>
        <p:spPr>
          <a:xfrm>
            <a:off x="6428597" y="2222357"/>
            <a:ext cx="218724" cy="218724"/>
          </a:xfrm>
          <a:prstGeom prst="rect">
            <a:avLst/>
          </a:prstGeom>
        </p:spPr>
      </p:pic>
      <p:sp>
        <p:nvSpPr>
          <p:cNvPr id="14" name="TextBox 13"/>
          <p:cNvSpPr txBox="1"/>
          <p:nvPr/>
        </p:nvSpPr>
        <p:spPr>
          <a:xfrm>
            <a:off x="6876288" y="2103120"/>
            <a:ext cx="3840480" cy="50292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National Road-Infrastructure</a:t>
            </a:r>
          </a:p>
          <a:p>
            <a:pPr algn="l">
              <a:lnSpc>
                <a:spcPct val="110000"/>
              </a:lnSpc>
            </a:pPr>
            <a:r>
              <a:rPr sz="1250" b="1" i="0">
                <a:solidFill>
                  <a:srgbClr val="16181D"/>
                </a:solidFill>
                <a:latin typeface="Montserrat"/>
              </a:rPr>
              <a:t>Defect Repository</a:t>
            </a:r>
          </a:p>
        </p:txBody>
      </p:sp>
      <p:sp>
        <p:nvSpPr>
          <p:cNvPr id="15" name="Rounded Rectangle 14"/>
          <p:cNvSpPr/>
          <p:nvPr/>
        </p:nvSpPr>
        <p:spPr>
          <a:xfrm>
            <a:off x="10213848" y="2139696"/>
            <a:ext cx="1261872" cy="310896"/>
          </a:xfrm>
          <a:prstGeom prst="roundRect">
            <a:avLst>
              <a:gd name="adj" fmla="val 50000"/>
            </a:avLst>
          </a:prstGeom>
          <a:solidFill>
            <a:srgbClr val="E7F4F4"/>
          </a:solidFill>
          <a:ln>
            <a:noFill/>
          </a:ln>
          <a:effectLst/>
        </p:spPr>
        <p:txBody>
          <a:bodyPr rtlCol="0" anchor="ctr"/>
          <a:lstStyle/>
          <a:p>
            <a:pPr algn="ctr"/>
          </a:p>
        </p:txBody>
      </p:sp>
      <p:sp>
        <p:nvSpPr>
          <p:cNvPr id="16" name="TextBox 15"/>
          <p:cNvSpPr txBox="1"/>
          <p:nvPr/>
        </p:nvSpPr>
        <p:spPr>
          <a:xfrm>
            <a:off x="10232136" y="2139696"/>
            <a:ext cx="1225296" cy="310896"/>
          </a:xfrm>
          <a:prstGeom prst="rect">
            <a:avLst/>
          </a:prstGeom>
          <a:noFill/>
        </p:spPr>
        <p:txBody>
          <a:bodyPr wrap="square" lIns="0" rIns="0" tIns="0" bIns="0" anchor="ctr">
            <a:spAutoFit/>
          </a:bodyPr>
          <a:lstStyle/>
          <a:p>
            <a:pPr algn="ctr">
              <a:lnSpc>
                <a:spcPct val="100000"/>
              </a:lnSpc>
            </a:pPr>
            <a:r>
              <a:rPr sz="700" b="1" i="0">
                <a:solidFill>
                  <a:srgbClr val="0E8A8A"/>
                </a:solidFill>
                <a:latin typeface="Montserrat"/>
              </a:rPr>
              <a:t>DAILY · 07:00 IST</a:t>
            </a:r>
          </a:p>
        </p:txBody>
      </p:sp>
      <p:sp>
        <p:nvSpPr>
          <p:cNvPr id="17" name="TextBox 16"/>
          <p:cNvSpPr txBox="1"/>
          <p:nvPr/>
        </p:nvSpPr>
        <p:spPr>
          <a:xfrm>
            <a:off x="6327648" y="2798064"/>
            <a:ext cx="5120640" cy="457200"/>
          </a:xfrm>
          <a:prstGeom prst="rect">
            <a:avLst/>
          </a:prstGeom>
          <a:noFill/>
        </p:spPr>
        <p:txBody>
          <a:bodyPr wrap="square" lIns="0" rIns="0" tIns="0" bIns="0" anchor="t">
            <a:spAutoFit/>
          </a:bodyPr>
          <a:lstStyle/>
          <a:p>
            <a:pPr algn="l">
              <a:lnSpc>
                <a:spcPct val="120000"/>
              </a:lnSpc>
            </a:pPr>
            <a:r>
              <a:rPr sz="850" b="0" i="0">
                <a:solidFill>
                  <a:srgbClr val="6E7180"/>
                </a:solidFill>
                <a:latin typeface="Geist"/>
              </a:rPr>
              <a:t>An AI pipeline reads local-language news every morning and turns road-defect reports into structured, mapped, ranked evidence, each entry carrying its verbatim source.</a:t>
            </a:r>
          </a:p>
        </p:txBody>
      </p:sp>
      <p:sp>
        <p:nvSpPr>
          <p:cNvPr id="18" name="Rounded Rectangle 17"/>
          <p:cNvSpPr/>
          <p:nvPr/>
        </p:nvSpPr>
        <p:spPr>
          <a:xfrm>
            <a:off x="6327648"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19" name="TextBox 18"/>
          <p:cNvSpPr txBox="1"/>
          <p:nvPr/>
        </p:nvSpPr>
        <p:spPr>
          <a:xfrm>
            <a:off x="6345936"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Potholes</a:t>
            </a:r>
          </a:p>
        </p:txBody>
      </p:sp>
      <p:sp>
        <p:nvSpPr>
          <p:cNvPr id="20" name="Rounded Rectangle 19"/>
          <p:cNvSpPr/>
          <p:nvPr/>
        </p:nvSpPr>
        <p:spPr>
          <a:xfrm>
            <a:off x="7370063"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21" name="TextBox 20"/>
          <p:cNvSpPr txBox="1"/>
          <p:nvPr/>
        </p:nvSpPr>
        <p:spPr>
          <a:xfrm>
            <a:off x="7388351"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Missing signage</a:t>
            </a:r>
          </a:p>
        </p:txBody>
      </p:sp>
      <p:sp>
        <p:nvSpPr>
          <p:cNvPr id="22" name="Rounded Rectangle 21"/>
          <p:cNvSpPr/>
          <p:nvPr/>
        </p:nvSpPr>
        <p:spPr>
          <a:xfrm>
            <a:off x="8412478"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23" name="TextBox 22"/>
          <p:cNvSpPr txBox="1"/>
          <p:nvPr/>
        </p:nvSpPr>
        <p:spPr>
          <a:xfrm>
            <a:off x="8430766"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Unlit stretches</a:t>
            </a:r>
          </a:p>
        </p:txBody>
      </p:sp>
      <p:sp>
        <p:nvSpPr>
          <p:cNvPr id="24" name="Rounded Rectangle 23"/>
          <p:cNvSpPr/>
          <p:nvPr/>
        </p:nvSpPr>
        <p:spPr>
          <a:xfrm>
            <a:off x="9454893"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25" name="TextBox 24"/>
          <p:cNvSpPr txBox="1"/>
          <p:nvPr/>
        </p:nvSpPr>
        <p:spPr>
          <a:xfrm>
            <a:off x="9473181"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Blind curves</a:t>
            </a:r>
          </a:p>
        </p:txBody>
      </p:sp>
      <p:sp>
        <p:nvSpPr>
          <p:cNvPr id="26" name="Rounded Rectangle 25"/>
          <p:cNvSpPr/>
          <p:nvPr/>
        </p:nvSpPr>
        <p:spPr>
          <a:xfrm>
            <a:off x="10497308" y="3310128"/>
            <a:ext cx="969264" cy="274320"/>
          </a:xfrm>
          <a:prstGeom prst="roundRect">
            <a:avLst>
              <a:gd name="adj" fmla="val 50000"/>
            </a:avLst>
          </a:prstGeom>
          <a:solidFill>
            <a:srgbClr val="F7F7FA"/>
          </a:solidFill>
          <a:ln>
            <a:noFill/>
          </a:ln>
          <a:effectLst/>
        </p:spPr>
        <p:txBody>
          <a:bodyPr rtlCol="0" anchor="ctr"/>
          <a:lstStyle/>
          <a:p>
            <a:pPr algn="ctr"/>
          </a:p>
        </p:txBody>
      </p:sp>
      <p:sp>
        <p:nvSpPr>
          <p:cNvPr id="27" name="TextBox 26"/>
          <p:cNvSpPr txBox="1"/>
          <p:nvPr/>
        </p:nvSpPr>
        <p:spPr>
          <a:xfrm>
            <a:off x="10515596" y="3310128"/>
            <a:ext cx="932688" cy="274320"/>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Broken dividers</a:t>
            </a:r>
          </a:p>
        </p:txBody>
      </p:sp>
      <p:sp>
        <p:nvSpPr>
          <p:cNvPr id="28" name="Rounded Rectangle 27"/>
          <p:cNvSpPr/>
          <p:nvPr/>
        </p:nvSpPr>
        <p:spPr>
          <a:xfrm>
            <a:off x="6327648" y="3694176"/>
            <a:ext cx="1645920" cy="512064"/>
          </a:xfrm>
          <a:prstGeom prst="roundRect">
            <a:avLst>
              <a:gd name="adj" fmla="val 12000"/>
            </a:avLst>
          </a:prstGeom>
          <a:solidFill>
            <a:srgbClr val="E7F4F4"/>
          </a:solidFill>
          <a:ln>
            <a:noFill/>
          </a:ln>
          <a:effectLst/>
        </p:spPr>
        <p:txBody>
          <a:bodyPr rtlCol="0" anchor="ctr"/>
          <a:lstStyle/>
          <a:p>
            <a:pPr algn="ctr"/>
          </a:p>
        </p:txBody>
      </p:sp>
      <p:sp>
        <p:nvSpPr>
          <p:cNvPr id="29" name="TextBox 28"/>
          <p:cNvSpPr txBox="1"/>
          <p:nvPr/>
        </p:nvSpPr>
        <p:spPr>
          <a:xfrm>
            <a:off x="6419088" y="3749039"/>
            <a:ext cx="475488" cy="274320"/>
          </a:xfrm>
          <a:prstGeom prst="rect">
            <a:avLst/>
          </a:prstGeom>
          <a:noFill/>
        </p:spPr>
        <p:txBody>
          <a:bodyPr wrap="square" lIns="0" rIns="0" tIns="0" bIns="0" anchor="t">
            <a:spAutoFit/>
          </a:bodyPr>
          <a:lstStyle/>
          <a:p>
            <a:pPr algn="l">
              <a:lnSpc>
                <a:spcPct val="100000"/>
              </a:lnSpc>
            </a:pPr>
            <a:r>
              <a:rPr sz="1200" b="1" i="0">
                <a:solidFill>
                  <a:srgbClr val="0E8A8A"/>
                </a:solidFill>
                <a:latin typeface="Montserrat"/>
              </a:rPr>
              <a:t>146</a:t>
            </a:r>
          </a:p>
        </p:txBody>
      </p:sp>
      <p:sp>
        <p:nvSpPr>
          <p:cNvPr id="30" name="TextBox 29"/>
          <p:cNvSpPr txBox="1"/>
          <p:nvPr/>
        </p:nvSpPr>
        <p:spPr>
          <a:xfrm>
            <a:off x="6894576" y="3739896"/>
            <a:ext cx="1051560" cy="402336"/>
          </a:xfrm>
          <a:prstGeom prst="rect">
            <a:avLst/>
          </a:prstGeom>
          <a:noFill/>
        </p:spPr>
        <p:txBody>
          <a:bodyPr wrap="square" lIns="0" rIns="0" tIns="0" bIns="0" anchor="t">
            <a:spAutoFit/>
          </a:bodyPr>
          <a:lstStyle/>
          <a:p>
            <a:pPr algn="l">
              <a:lnSpc>
                <a:spcPct val="108000"/>
              </a:lnSpc>
            </a:pPr>
            <a:r>
              <a:rPr sz="650" b="0" i="0">
                <a:solidFill>
                  <a:srgbClr val="6E7180"/>
                </a:solidFill>
                <a:latin typeface="Geist"/>
              </a:rPr>
              <a:t>districts scanned daily</a:t>
            </a:r>
          </a:p>
        </p:txBody>
      </p:sp>
      <p:sp>
        <p:nvSpPr>
          <p:cNvPr id="31" name="Rounded Rectangle 30"/>
          <p:cNvSpPr/>
          <p:nvPr/>
        </p:nvSpPr>
        <p:spPr>
          <a:xfrm>
            <a:off x="8083296" y="3694176"/>
            <a:ext cx="1645920" cy="512064"/>
          </a:xfrm>
          <a:prstGeom prst="roundRect">
            <a:avLst>
              <a:gd name="adj" fmla="val 12000"/>
            </a:avLst>
          </a:prstGeom>
          <a:solidFill>
            <a:srgbClr val="E7F4F4"/>
          </a:solidFill>
          <a:ln>
            <a:noFill/>
          </a:ln>
          <a:effectLst/>
        </p:spPr>
        <p:txBody>
          <a:bodyPr rtlCol="0" anchor="ctr"/>
          <a:lstStyle/>
          <a:p>
            <a:pPr algn="ctr"/>
          </a:p>
        </p:txBody>
      </p:sp>
      <p:sp>
        <p:nvSpPr>
          <p:cNvPr id="32" name="TextBox 31"/>
          <p:cNvSpPr txBox="1"/>
          <p:nvPr/>
        </p:nvSpPr>
        <p:spPr>
          <a:xfrm>
            <a:off x="8174736" y="3749039"/>
            <a:ext cx="475488" cy="274320"/>
          </a:xfrm>
          <a:prstGeom prst="rect">
            <a:avLst/>
          </a:prstGeom>
          <a:noFill/>
        </p:spPr>
        <p:txBody>
          <a:bodyPr wrap="square" lIns="0" rIns="0" tIns="0" bIns="0" anchor="t">
            <a:spAutoFit/>
          </a:bodyPr>
          <a:lstStyle/>
          <a:p>
            <a:pPr algn="l">
              <a:lnSpc>
                <a:spcPct val="100000"/>
              </a:lnSpc>
            </a:pPr>
            <a:r>
              <a:rPr sz="1200" b="1" i="0">
                <a:solidFill>
                  <a:srgbClr val="0E8A8A"/>
                </a:solidFill>
                <a:latin typeface="Montserrat"/>
              </a:rPr>
              <a:t>13</a:t>
            </a:r>
          </a:p>
        </p:txBody>
      </p:sp>
      <p:sp>
        <p:nvSpPr>
          <p:cNvPr id="33" name="TextBox 32"/>
          <p:cNvSpPr txBox="1"/>
          <p:nvPr/>
        </p:nvSpPr>
        <p:spPr>
          <a:xfrm>
            <a:off x="8650224" y="3739896"/>
            <a:ext cx="1051560" cy="402336"/>
          </a:xfrm>
          <a:prstGeom prst="rect">
            <a:avLst/>
          </a:prstGeom>
          <a:noFill/>
        </p:spPr>
        <p:txBody>
          <a:bodyPr wrap="square" lIns="0" rIns="0" tIns="0" bIns="0" anchor="t">
            <a:spAutoFit/>
          </a:bodyPr>
          <a:lstStyle/>
          <a:p>
            <a:pPr algn="l">
              <a:lnSpc>
                <a:spcPct val="108000"/>
              </a:lnSpc>
            </a:pPr>
            <a:r>
              <a:rPr sz="650" b="0" i="0">
                <a:solidFill>
                  <a:srgbClr val="6E7180"/>
                </a:solidFill>
                <a:latin typeface="Geist"/>
              </a:rPr>
              <a:t>languages read</a:t>
            </a:r>
          </a:p>
        </p:txBody>
      </p:sp>
      <p:sp>
        <p:nvSpPr>
          <p:cNvPr id="34" name="Rounded Rectangle 33"/>
          <p:cNvSpPr/>
          <p:nvPr/>
        </p:nvSpPr>
        <p:spPr>
          <a:xfrm>
            <a:off x="9838944" y="3694176"/>
            <a:ext cx="1645920" cy="512064"/>
          </a:xfrm>
          <a:prstGeom prst="roundRect">
            <a:avLst>
              <a:gd name="adj" fmla="val 12000"/>
            </a:avLst>
          </a:prstGeom>
          <a:solidFill>
            <a:srgbClr val="E7F4F4"/>
          </a:solidFill>
          <a:ln>
            <a:noFill/>
          </a:ln>
          <a:effectLst/>
        </p:spPr>
        <p:txBody>
          <a:bodyPr rtlCol="0" anchor="ctr"/>
          <a:lstStyle/>
          <a:p>
            <a:pPr algn="ctr"/>
          </a:p>
        </p:txBody>
      </p:sp>
      <p:sp>
        <p:nvSpPr>
          <p:cNvPr id="35" name="TextBox 34"/>
          <p:cNvSpPr txBox="1"/>
          <p:nvPr/>
        </p:nvSpPr>
        <p:spPr>
          <a:xfrm>
            <a:off x="9930384" y="3749039"/>
            <a:ext cx="475488" cy="274320"/>
          </a:xfrm>
          <a:prstGeom prst="rect">
            <a:avLst/>
          </a:prstGeom>
          <a:noFill/>
        </p:spPr>
        <p:txBody>
          <a:bodyPr wrap="square" lIns="0" rIns="0" tIns="0" bIns="0" anchor="t">
            <a:spAutoFit/>
          </a:bodyPr>
          <a:lstStyle/>
          <a:p>
            <a:pPr algn="l">
              <a:lnSpc>
                <a:spcPct val="100000"/>
              </a:lnSpc>
            </a:pPr>
            <a:r>
              <a:rPr sz="1200" b="1" i="0">
                <a:solidFill>
                  <a:srgbClr val="0E8A8A"/>
                </a:solidFill>
                <a:latin typeface="Montserrat"/>
              </a:rPr>
              <a:t>21</a:t>
            </a:r>
          </a:p>
        </p:txBody>
      </p:sp>
      <p:sp>
        <p:nvSpPr>
          <p:cNvPr id="36" name="TextBox 35"/>
          <p:cNvSpPr txBox="1"/>
          <p:nvPr/>
        </p:nvSpPr>
        <p:spPr>
          <a:xfrm>
            <a:off x="10405872" y="3739896"/>
            <a:ext cx="1051560" cy="402336"/>
          </a:xfrm>
          <a:prstGeom prst="rect">
            <a:avLst/>
          </a:prstGeom>
          <a:noFill/>
        </p:spPr>
        <p:txBody>
          <a:bodyPr wrap="square" lIns="0" rIns="0" tIns="0" bIns="0" anchor="t">
            <a:spAutoFit/>
          </a:bodyPr>
          <a:lstStyle/>
          <a:p>
            <a:pPr algn="l">
              <a:lnSpc>
                <a:spcPct val="108000"/>
              </a:lnSpc>
            </a:pPr>
            <a:r>
              <a:rPr sz="650" b="0" i="0">
                <a:solidFill>
                  <a:srgbClr val="6E7180"/>
                </a:solidFill>
                <a:latin typeface="Geist"/>
              </a:rPr>
              <a:t>defect codes tracked</a:t>
            </a:r>
          </a:p>
        </p:txBody>
      </p:sp>
      <p:sp>
        <p:nvSpPr>
          <p:cNvPr id="37" name="TextBox 36"/>
          <p:cNvSpPr txBox="1"/>
          <p:nvPr/>
        </p:nvSpPr>
        <p:spPr>
          <a:xfrm>
            <a:off x="6144768" y="4379976"/>
            <a:ext cx="5486400" cy="27432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Local news → AI extraction → confidence gate → human review → public map. Live across Bihar, UP and Rajasthan districts today.</a:t>
            </a:r>
          </a:p>
        </p:txBody>
      </p:sp>
      <p:sp>
        <p:nvSpPr>
          <p:cNvPr id="38" name="Rounded Rectangle 37"/>
          <p:cNvSpPr/>
          <p:nvPr/>
        </p:nvSpPr>
        <p:spPr>
          <a:xfrm>
            <a:off x="566928" y="4956048"/>
            <a:ext cx="5486400" cy="1298448"/>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39" name="Oval 38"/>
          <p:cNvSpPr/>
          <p:nvPr/>
        </p:nvSpPr>
        <p:spPr>
          <a:xfrm>
            <a:off x="713232" y="5102352"/>
            <a:ext cx="365760" cy="365760"/>
          </a:xfrm>
          <a:prstGeom prst="ellipse">
            <a:avLst/>
          </a:prstGeom>
          <a:solidFill>
            <a:srgbClr val="EFEDFF"/>
          </a:solidFill>
          <a:ln>
            <a:noFill/>
          </a:ln>
          <a:effectLst/>
        </p:spPr>
        <p:txBody>
          <a:bodyPr rtlCol="0" anchor="ctr"/>
          <a:lstStyle/>
          <a:p>
            <a:pPr algn="ctr"/>
          </a:p>
        </p:txBody>
      </p:sp>
      <p:pic>
        <p:nvPicPr>
          <p:cNvPr id="40" name="Picture 39" descr="scale_4A35FF_256_2.0.png"/>
          <p:cNvPicPr>
            <a:picLocks noChangeAspect="1"/>
          </p:cNvPicPr>
          <p:nvPr/>
        </p:nvPicPr>
        <p:blipFill>
          <a:blip r:embed="rId4"/>
          <a:stretch>
            <a:fillRect/>
          </a:stretch>
        </p:blipFill>
        <p:spPr>
          <a:xfrm>
            <a:off x="801014" y="5190134"/>
            <a:ext cx="190195" cy="190195"/>
          </a:xfrm>
          <a:prstGeom prst="rect">
            <a:avLst/>
          </a:prstGeom>
        </p:spPr>
      </p:pic>
      <p:sp>
        <p:nvSpPr>
          <p:cNvPr id="41" name="TextBox 40"/>
          <p:cNvSpPr txBox="1"/>
          <p:nvPr/>
        </p:nvSpPr>
        <p:spPr>
          <a:xfrm>
            <a:off x="1188720" y="5074920"/>
            <a:ext cx="3291840" cy="27432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Supreme Court Litigation Tracker</a:t>
            </a:r>
          </a:p>
        </p:txBody>
      </p:sp>
      <p:sp>
        <p:nvSpPr>
          <p:cNvPr id="42" name="Rounded Rectangle 41"/>
          <p:cNvSpPr/>
          <p:nvPr/>
        </p:nvSpPr>
        <p:spPr>
          <a:xfrm>
            <a:off x="4572000" y="5093208"/>
            <a:ext cx="1353312" cy="292608"/>
          </a:xfrm>
          <a:prstGeom prst="roundRect">
            <a:avLst>
              <a:gd name="adj" fmla="val 50000"/>
            </a:avLst>
          </a:prstGeom>
          <a:solidFill>
            <a:srgbClr val="EFEDFF"/>
          </a:solidFill>
          <a:ln>
            <a:noFill/>
          </a:ln>
          <a:effectLst/>
        </p:spPr>
        <p:txBody>
          <a:bodyPr rtlCol="0" anchor="ctr"/>
          <a:lstStyle/>
          <a:p>
            <a:pPr algn="ctr"/>
          </a:p>
        </p:txBody>
      </p:sp>
      <p:sp>
        <p:nvSpPr>
          <p:cNvPr id="43" name="TextBox 42"/>
          <p:cNvSpPr txBox="1"/>
          <p:nvPr/>
        </p:nvSpPr>
        <p:spPr>
          <a:xfrm>
            <a:off x="4590288" y="5093208"/>
            <a:ext cx="1316736" cy="292608"/>
          </a:xfrm>
          <a:prstGeom prst="rect">
            <a:avLst/>
          </a:prstGeom>
          <a:noFill/>
        </p:spPr>
        <p:txBody>
          <a:bodyPr wrap="square" lIns="0" rIns="0" tIns="0" bIns="0" anchor="ctr">
            <a:spAutoFit/>
          </a:bodyPr>
          <a:lstStyle/>
          <a:p>
            <a:pPr algn="ctr">
              <a:lnSpc>
                <a:spcPct val="100000"/>
              </a:lnSpc>
            </a:pPr>
            <a:r>
              <a:rPr sz="700" b="1" i="0">
                <a:solidFill>
                  <a:srgbClr val="4A35FF"/>
                </a:solidFill>
                <a:latin typeface="Montserrat"/>
              </a:rPr>
              <a:t>WEEKLY · LIVE</a:t>
            </a:r>
          </a:p>
        </p:txBody>
      </p:sp>
      <p:sp>
        <p:nvSpPr>
          <p:cNvPr id="44" name="TextBox 43"/>
          <p:cNvSpPr txBox="1"/>
          <p:nvPr/>
        </p:nvSpPr>
        <p:spPr>
          <a:xfrm>
            <a:off x="713232" y="5522976"/>
            <a:ext cx="3246120" cy="658368"/>
          </a:xfrm>
          <a:prstGeom prst="rect">
            <a:avLst/>
          </a:prstGeom>
          <a:noFill/>
        </p:spPr>
        <p:txBody>
          <a:bodyPr wrap="square" lIns="0" rIns="0" tIns="0" bIns="0" anchor="t">
            <a:spAutoFit/>
          </a:bodyPr>
          <a:lstStyle/>
          <a:p>
            <a:pPr algn="l">
              <a:lnSpc>
                <a:spcPct val="116000"/>
              </a:lnSpc>
            </a:pPr>
            <a:r>
              <a:rPr sz="800" b="0" i="0">
                <a:solidFill>
                  <a:srgbClr val="6E7180"/>
                </a:solidFill>
                <a:latin typeface="Geist"/>
              </a:rPr>
              <a:t>Every systemic road-safety matter before the Supreme Court, orders indexed, precedent judgments digested, refreshed every Tuesday.</a:t>
            </a:r>
          </a:p>
        </p:txBody>
      </p:sp>
      <p:pic>
        <p:nvPicPr>
          <p:cNvPr id="45" name="Picture 44" descr="strip_sctracker.png"/>
          <p:cNvPicPr>
            <a:picLocks noChangeAspect="1"/>
          </p:cNvPicPr>
          <p:nvPr/>
        </p:nvPicPr>
        <p:blipFill>
          <a:blip r:embed="rId5"/>
          <a:stretch>
            <a:fillRect/>
          </a:stretch>
        </p:blipFill>
        <p:spPr>
          <a:xfrm>
            <a:off x="4059936" y="5522976"/>
            <a:ext cx="1847088" cy="362006"/>
          </a:xfrm>
          <a:prstGeom prst="rect">
            <a:avLst/>
          </a:prstGeom>
        </p:spPr>
      </p:pic>
      <p:sp>
        <p:nvSpPr>
          <p:cNvPr id="46" name="Rounded Rectangle 45"/>
          <p:cNvSpPr/>
          <p:nvPr/>
        </p:nvSpPr>
        <p:spPr>
          <a:xfrm>
            <a:off x="6144768" y="4956048"/>
            <a:ext cx="5486400" cy="1298448"/>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47" name="Oval 46"/>
          <p:cNvSpPr/>
          <p:nvPr/>
        </p:nvSpPr>
        <p:spPr>
          <a:xfrm>
            <a:off x="6291072" y="5102352"/>
            <a:ext cx="365760" cy="365760"/>
          </a:xfrm>
          <a:prstGeom prst="ellipse">
            <a:avLst/>
          </a:prstGeom>
          <a:solidFill>
            <a:srgbClr val="FDF3E3"/>
          </a:solidFill>
          <a:ln>
            <a:noFill/>
          </a:ln>
          <a:effectLst/>
        </p:spPr>
        <p:txBody>
          <a:bodyPr rtlCol="0" anchor="ctr"/>
          <a:lstStyle/>
          <a:p>
            <a:pPr algn="ctr"/>
          </a:p>
        </p:txBody>
      </p:sp>
      <p:pic>
        <p:nvPicPr>
          <p:cNvPr id="48" name="Picture 47" descr="bar-chart-3_E58900_256_2.0.png"/>
          <p:cNvPicPr>
            <a:picLocks noChangeAspect="1"/>
          </p:cNvPicPr>
          <p:nvPr/>
        </p:nvPicPr>
        <p:blipFill>
          <a:blip r:embed="rId6"/>
          <a:stretch>
            <a:fillRect/>
          </a:stretch>
        </p:blipFill>
        <p:spPr>
          <a:xfrm>
            <a:off x="6378854" y="5190134"/>
            <a:ext cx="190195" cy="190195"/>
          </a:xfrm>
          <a:prstGeom prst="rect">
            <a:avLst/>
          </a:prstGeom>
        </p:spPr>
      </p:pic>
      <p:sp>
        <p:nvSpPr>
          <p:cNvPr id="49" name="TextBox 48"/>
          <p:cNvSpPr txBox="1"/>
          <p:nvPr/>
        </p:nvSpPr>
        <p:spPr>
          <a:xfrm>
            <a:off x="6766560" y="5074920"/>
            <a:ext cx="3291840" cy="27432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Crash Data Dashboard</a:t>
            </a:r>
          </a:p>
        </p:txBody>
      </p:sp>
      <p:sp>
        <p:nvSpPr>
          <p:cNvPr id="50" name="Rounded Rectangle 49"/>
          <p:cNvSpPr/>
          <p:nvPr/>
        </p:nvSpPr>
        <p:spPr>
          <a:xfrm>
            <a:off x="10149840" y="5093208"/>
            <a:ext cx="1353312" cy="292608"/>
          </a:xfrm>
          <a:prstGeom prst="roundRect">
            <a:avLst>
              <a:gd name="adj" fmla="val 50000"/>
            </a:avLst>
          </a:prstGeom>
          <a:solidFill>
            <a:srgbClr val="FDF3E3"/>
          </a:solidFill>
          <a:ln>
            <a:noFill/>
          </a:ln>
          <a:effectLst/>
        </p:spPr>
        <p:txBody>
          <a:bodyPr rtlCol="0" anchor="ctr"/>
          <a:lstStyle/>
          <a:p>
            <a:pPr algn="ctr"/>
          </a:p>
        </p:txBody>
      </p:sp>
      <p:sp>
        <p:nvSpPr>
          <p:cNvPr id="51" name="TextBox 50"/>
          <p:cNvSpPr txBox="1"/>
          <p:nvPr/>
        </p:nvSpPr>
        <p:spPr>
          <a:xfrm>
            <a:off x="10168128" y="5093208"/>
            <a:ext cx="1316736" cy="292608"/>
          </a:xfrm>
          <a:prstGeom prst="rect">
            <a:avLst/>
          </a:prstGeom>
          <a:noFill/>
        </p:spPr>
        <p:txBody>
          <a:bodyPr wrap="square" lIns="0" rIns="0" tIns="0" bIns="0" anchor="ctr">
            <a:spAutoFit/>
          </a:bodyPr>
          <a:lstStyle/>
          <a:p>
            <a:pPr algn="ctr">
              <a:lnSpc>
                <a:spcPct val="100000"/>
              </a:lnSpc>
            </a:pPr>
            <a:r>
              <a:rPr sz="700" b="1" i="0">
                <a:solidFill>
                  <a:srgbClr val="E58900"/>
                </a:solidFill>
                <a:latin typeface="Montserrat"/>
              </a:rPr>
              <a:t>ANNUAL · OPEN DATA</a:t>
            </a:r>
          </a:p>
        </p:txBody>
      </p:sp>
      <p:sp>
        <p:nvSpPr>
          <p:cNvPr id="52" name="TextBox 51"/>
          <p:cNvSpPr txBox="1"/>
          <p:nvPr/>
        </p:nvSpPr>
        <p:spPr>
          <a:xfrm>
            <a:off x="6291072" y="5522976"/>
            <a:ext cx="3246120" cy="658368"/>
          </a:xfrm>
          <a:prstGeom prst="rect">
            <a:avLst/>
          </a:prstGeom>
          <a:noFill/>
        </p:spPr>
        <p:txBody>
          <a:bodyPr wrap="square" lIns="0" rIns="0" tIns="0" bIns="0" anchor="t">
            <a:spAutoFit/>
          </a:bodyPr>
          <a:lstStyle/>
          <a:p>
            <a:pPr algn="l">
              <a:lnSpc>
                <a:spcPct val="116000"/>
              </a:lnSpc>
            </a:pPr>
            <a:r>
              <a:rPr sz="800" b="0" i="0">
                <a:solidFill>
                  <a:srgbClr val="6E7180"/>
                </a:solidFill>
                <a:latin typeface="Geist"/>
              </a:rPr>
              <a:t>MoRTH's annual 'Road Accidents in India' books as a usable product: report cards for 36 states and 50 cities, every number reconciled against the printed books, open licence (CC-BY).</a:t>
            </a:r>
          </a:p>
        </p:txBody>
      </p:sp>
      <p:pic>
        <p:nvPicPr>
          <p:cNvPr id="53" name="Picture 52" descr="strip_crash.png"/>
          <p:cNvPicPr>
            <a:picLocks noChangeAspect="1"/>
          </p:cNvPicPr>
          <p:nvPr/>
        </p:nvPicPr>
        <p:blipFill>
          <a:blip r:embed="rId7"/>
          <a:stretch>
            <a:fillRect/>
          </a:stretch>
        </p:blipFill>
        <p:spPr>
          <a:xfrm>
            <a:off x="9637776" y="5522976"/>
            <a:ext cx="1847088" cy="362006"/>
          </a:xfrm>
          <a:prstGeom prst="rect">
            <a:avLst/>
          </a:prstGeom>
        </p:spPr>
      </p:pic>
      <p:cxnSp>
        <p:nvCxnSpPr>
          <p:cNvPr id="54" name="Connector 53"/>
          <p:cNvCxnSpPr/>
          <p:nvPr/>
        </p:nvCxnSpPr>
        <p:spPr>
          <a:xfrm>
            <a:off x="566928" y="6455664"/>
            <a:ext cx="11057839" cy="0"/>
          </a:xfrm>
          <a:prstGeom prst="line">
            <a:avLst/>
          </a:prstGeom>
          <a:ln w="9525">
            <a:solidFill>
              <a:srgbClr val="E8E9EE"/>
            </a:solidFill>
          </a:ln>
          <a:effectLst/>
        </p:spPr>
      </p:cxnSp>
      <p:sp>
        <p:nvSpPr>
          <p:cNvPr id="55" name="TextBox 54"/>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56" name="TextBox 5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VICTIM SUPPORT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Help a family can actually use, </a:t>
            </a:r>
            <a:r>
              <a:rPr sz="2250" b="1" i="0">
                <a:solidFill>
                  <a:srgbClr val="4A35FF"/>
                </a:solidFill>
                <a:latin typeface="Montserrat"/>
              </a:rPr>
              <a:t>in their language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From the first hours after a crash to the final compensation order, on WhatsApp, on paper, and in person.</a:t>
            </a:r>
          </a:p>
        </p:txBody>
      </p:sp>
      <p:sp>
        <p:nvSpPr>
          <p:cNvPr id="8" name="Rounded Rectangle 7"/>
          <p:cNvSpPr/>
          <p:nvPr/>
        </p:nvSpPr>
        <p:spPr>
          <a:xfrm>
            <a:off x="56692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ui_aasha_chat.png"/>
          <p:cNvPicPr>
            <a:picLocks noChangeAspect="1"/>
          </p:cNvPicPr>
          <p:nvPr/>
        </p:nvPicPr>
        <p:blipFill>
          <a:blip r:embed="rId2"/>
          <a:stretch>
            <a:fillRect/>
          </a:stretch>
        </p:blipFill>
        <p:spPr>
          <a:xfrm>
            <a:off x="676656" y="2048256"/>
            <a:ext cx="2459736" cy="1810774"/>
          </a:xfrm>
          <a:prstGeom prst="rect">
            <a:avLst/>
          </a:prstGeom>
        </p:spPr>
      </p:pic>
      <p:sp>
        <p:nvSpPr>
          <p:cNvPr id="10" name="Oval 9"/>
          <p:cNvSpPr/>
          <p:nvPr/>
        </p:nvSpPr>
        <p:spPr>
          <a:xfrm>
            <a:off x="694944" y="4526280"/>
            <a:ext cx="347472" cy="347472"/>
          </a:xfrm>
          <a:prstGeom prst="ellipse">
            <a:avLst/>
          </a:prstGeom>
          <a:solidFill>
            <a:srgbClr val="EFEDFF"/>
          </a:solidFill>
          <a:ln>
            <a:noFill/>
          </a:ln>
          <a:effectLst/>
        </p:spPr>
        <p:txBody>
          <a:bodyPr rtlCol="0" anchor="ctr"/>
          <a:lstStyle/>
          <a:p>
            <a:pPr algn="ctr"/>
          </a:p>
        </p:txBody>
      </p:sp>
      <p:pic>
        <p:nvPicPr>
          <p:cNvPr id="11" name="Picture 10" descr="bot_4A35FF_256_2.0.png"/>
          <p:cNvPicPr>
            <a:picLocks noChangeAspect="1"/>
          </p:cNvPicPr>
          <p:nvPr/>
        </p:nvPicPr>
        <p:blipFill>
          <a:blip r:embed="rId3"/>
          <a:stretch>
            <a:fillRect/>
          </a:stretch>
        </p:blipFill>
        <p:spPr>
          <a:xfrm>
            <a:off x="778337" y="4609673"/>
            <a:ext cx="180685" cy="180685"/>
          </a:xfrm>
          <a:prstGeom prst="rect">
            <a:avLst/>
          </a:prstGeom>
        </p:spPr>
      </p:pic>
      <p:sp>
        <p:nvSpPr>
          <p:cNvPr id="12" name="TextBox 11"/>
          <p:cNvSpPr txBox="1"/>
          <p:nvPr/>
        </p:nvSpPr>
        <p:spPr>
          <a:xfrm>
            <a:off x="113385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Aasha chatbot</a:t>
            </a:r>
          </a:p>
        </p:txBody>
      </p:sp>
      <p:sp>
        <p:nvSpPr>
          <p:cNvPr id="13" name="TextBox 12"/>
          <p:cNvSpPr txBox="1"/>
          <p:nvPr/>
        </p:nvSpPr>
        <p:spPr>
          <a:xfrm>
            <a:off x="69494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India's first AI legal companion for crash victims, on WhatsApp and voice, no app needed.</a:t>
            </a:r>
          </a:p>
        </p:txBody>
      </p:sp>
      <p:sp>
        <p:nvSpPr>
          <p:cNvPr id="14" name="Rounded Rectangle 13"/>
          <p:cNvSpPr/>
          <p:nvPr/>
        </p:nvSpPr>
        <p:spPr>
          <a:xfrm>
            <a:off x="335584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ui_mact_calc.png"/>
          <p:cNvPicPr>
            <a:picLocks noChangeAspect="1"/>
          </p:cNvPicPr>
          <p:nvPr/>
        </p:nvPicPr>
        <p:blipFill>
          <a:blip r:embed="rId4"/>
          <a:stretch>
            <a:fillRect/>
          </a:stretch>
        </p:blipFill>
        <p:spPr>
          <a:xfrm>
            <a:off x="3537522" y="2048256"/>
            <a:ext cx="2315843" cy="2286000"/>
          </a:xfrm>
          <a:prstGeom prst="rect">
            <a:avLst/>
          </a:prstGeom>
        </p:spPr>
      </p:pic>
      <p:sp>
        <p:nvSpPr>
          <p:cNvPr id="16" name="Oval 15"/>
          <p:cNvSpPr/>
          <p:nvPr/>
        </p:nvSpPr>
        <p:spPr>
          <a:xfrm>
            <a:off x="3483864" y="4526280"/>
            <a:ext cx="347472" cy="347472"/>
          </a:xfrm>
          <a:prstGeom prst="ellipse">
            <a:avLst/>
          </a:prstGeom>
          <a:solidFill>
            <a:srgbClr val="E7F4F4"/>
          </a:solidFill>
          <a:ln>
            <a:noFill/>
          </a:ln>
          <a:effectLst/>
        </p:spPr>
        <p:txBody>
          <a:bodyPr rtlCol="0" anchor="ctr"/>
          <a:lstStyle/>
          <a:p>
            <a:pPr algn="ctr"/>
          </a:p>
        </p:txBody>
      </p:sp>
      <p:pic>
        <p:nvPicPr>
          <p:cNvPr id="17" name="Picture 16" descr="calculator_0E8A8A_256_2.0.png"/>
          <p:cNvPicPr>
            <a:picLocks noChangeAspect="1"/>
          </p:cNvPicPr>
          <p:nvPr/>
        </p:nvPicPr>
        <p:blipFill>
          <a:blip r:embed="rId5"/>
          <a:stretch>
            <a:fillRect/>
          </a:stretch>
        </p:blipFill>
        <p:spPr>
          <a:xfrm>
            <a:off x="3567257" y="4609673"/>
            <a:ext cx="180685" cy="180685"/>
          </a:xfrm>
          <a:prstGeom prst="rect">
            <a:avLst/>
          </a:prstGeom>
        </p:spPr>
      </p:pic>
      <p:sp>
        <p:nvSpPr>
          <p:cNvPr id="18" name="TextBox 17"/>
          <p:cNvSpPr txBox="1"/>
          <p:nvPr/>
        </p:nvSpPr>
        <p:spPr>
          <a:xfrm>
            <a:off x="392277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Compensation Calculator</a:t>
            </a:r>
          </a:p>
        </p:txBody>
      </p:sp>
      <p:sp>
        <p:nvSpPr>
          <p:cNvPr id="19" name="TextBox 18"/>
          <p:cNvSpPr txBox="1"/>
          <p:nvPr/>
        </p:nvSpPr>
        <p:spPr>
          <a:xfrm>
            <a:off x="348386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Free instant estimates computed on Supreme Court principles (Sarla Verma, Pranay Sethi).</a:t>
            </a:r>
          </a:p>
        </p:txBody>
      </p:sp>
      <p:sp>
        <p:nvSpPr>
          <p:cNvPr id="20" name="Rounded Rectangle 19"/>
          <p:cNvSpPr/>
          <p:nvPr/>
        </p:nvSpPr>
        <p:spPr>
          <a:xfrm>
            <a:off x="614476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comic_aasha_page.png"/>
          <p:cNvPicPr>
            <a:picLocks noChangeAspect="1"/>
          </p:cNvPicPr>
          <p:nvPr/>
        </p:nvPicPr>
        <p:blipFill>
          <a:blip r:embed="rId6"/>
          <a:stretch>
            <a:fillRect/>
          </a:stretch>
        </p:blipFill>
        <p:spPr>
          <a:xfrm>
            <a:off x="6620503" y="2048256"/>
            <a:ext cx="1727722" cy="2286000"/>
          </a:xfrm>
          <a:prstGeom prst="rect">
            <a:avLst/>
          </a:prstGeom>
        </p:spPr>
      </p:pic>
      <p:sp>
        <p:nvSpPr>
          <p:cNvPr id="22" name="Oval 21"/>
          <p:cNvSpPr/>
          <p:nvPr/>
        </p:nvSpPr>
        <p:spPr>
          <a:xfrm>
            <a:off x="6272784" y="4526280"/>
            <a:ext cx="347472" cy="347472"/>
          </a:xfrm>
          <a:prstGeom prst="ellipse">
            <a:avLst/>
          </a:prstGeom>
          <a:solidFill>
            <a:srgbClr val="FDF3E3"/>
          </a:solidFill>
          <a:ln>
            <a:noFill/>
          </a:ln>
          <a:effectLst/>
        </p:spPr>
        <p:txBody>
          <a:bodyPr rtlCol="0" anchor="ctr"/>
          <a:lstStyle/>
          <a:p>
            <a:pPr algn="ctr"/>
          </a:p>
        </p:txBody>
      </p:sp>
      <p:pic>
        <p:nvPicPr>
          <p:cNvPr id="23" name="Picture 22" descr="book-open_E58900_256_2.0.png"/>
          <p:cNvPicPr>
            <a:picLocks noChangeAspect="1"/>
          </p:cNvPicPr>
          <p:nvPr/>
        </p:nvPicPr>
        <p:blipFill>
          <a:blip r:embed="rId7"/>
          <a:stretch>
            <a:fillRect/>
          </a:stretch>
        </p:blipFill>
        <p:spPr>
          <a:xfrm>
            <a:off x="6356177" y="4609673"/>
            <a:ext cx="180685" cy="180685"/>
          </a:xfrm>
          <a:prstGeom prst="rect">
            <a:avLst/>
          </a:prstGeom>
        </p:spPr>
      </p:pic>
      <p:sp>
        <p:nvSpPr>
          <p:cNvPr id="24" name="TextBox 23"/>
          <p:cNvSpPr txBox="1"/>
          <p:nvPr/>
        </p:nvSpPr>
        <p:spPr>
          <a:xfrm>
            <a:off x="671169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'Meet Aasha' comics</a:t>
            </a:r>
          </a:p>
        </p:txBody>
      </p:sp>
      <p:sp>
        <p:nvSpPr>
          <p:cNvPr id="25" name="TextBox 24"/>
          <p:cNvSpPr txBox="1"/>
          <p:nvPr/>
        </p:nvSpPr>
        <p:spPr>
          <a:xfrm>
            <a:off x="627278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Plain-language legal education that families actually read, at desks and in schools.</a:t>
            </a:r>
          </a:p>
        </p:txBody>
      </p:sp>
      <p:sp>
        <p:nvSpPr>
          <p:cNvPr id="26" name="Rounded Rectangle 25"/>
          <p:cNvSpPr/>
          <p:nvPr/>
        </p:nvSpPr>
        <p:spPr>
          <a:xfrm>
            <a:off x="893368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7" name="Picture 26" descr="opt_guide_p1_1500.jpg"/>
          <p:cNvPicPr>
            <a:picLocks noChangeAspect="1"/>
          </p:cNvPicPr>
          <p:nvPr/>
        </p:nvPicPr>
        <p:blipFill>
          <a:blip r:embed="rId8"/>
          <a:stretch>
            <a:fillRect/>
          </a:stretch>
        </p:blipFill>
        <p:spPr>
          <a:xfrm>
            <a:off x="9438979" y="2048256"/>
            <a:ext cx="1668610" cy="2286000"/>
          </a:xfrm>
          <a:prstGeom prst="rect">
            <a:avLst/>
          </a:prstGeom>
        </p:spPr>
      </p:pic>
      <p:sp>
        <p:nvSpPr>
          <p:cNvPr id="28" name="Oval 27"/>
          <p:cNvSpPr/>
          <p:nvPr/>
        </p:nvSpPr>
        <p:spPr>
          <a:xfrm>
            <a:off x="9061704" y="4526280"/>
            <a:ext cx="347472" cy="347472"/>
          </a:xfrm>
          <a:prstGeom prst="ellipse">
            <a:avLst/>
          </a:prstGeom>
          <a:solidFill>
            <a:srgbClr val="E9F7F0"/>
          </a:solidFill>
          <a:ln>
            <a:noFill/>
          </a:ln>
          <a:effectLst/>
        </p:spPr>
        <p:txBody>
          <a:bodyPr rtlCol="0" anchor="ctr"/>
          <a:lstStyle/>
          <a:p>
            <a:pPr algn="ctr"/>
          </a:p>
        </p:txBody>
      </p:sp>
      <p:pic>
        <p:nvPicPr>
          <p:cNvPr id="29" name="Picture 28" descr="languages_0A9955_256_2.0.png"/>
          <p:cNvPicPr>
            <a:picLocks noChangeAspect="1"/>
          </p:cNvPicPr>
          <p:nvPr/>
        </p:nvPicPr>
        <p:blipFill>
          <a:blip r:embed="rId9"/>
          <a:stretch>
            <a:fillRect/>
          </a:stretch>
        </p:blipFill>
        <p:spPr>
          <a:xfrm>
            <a:off x="9145097" y="4609673"/>
            <a:ext cx="180685" cy="180685"/>
          </a:xfrm>
          <a:prstGeom prst="rect">
            <a:avLst/>
          </a:prstGeom>
        </p:spPr>
      </p:pic>
      <p:sp>
        <p:nvSpPr>
          <p:cNvPr id="30" name="TextBox 29"/>
          <p:cNvSpPr txBox="1"/>
          <p:nvPr/>
        </p:nvSpPr>
        <p:spPr>
          <a:xfrm>
            <a:off x="950061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Hindi rights guide</a:t>
            </a:r>
          </a:p>
        </p:txBody>
      </p:sp>
      <p:sp>
        <p:nvSpPr>
          <p:cNvPr id="31" name="TextBox 30"/>
          <p:cNvSpPr txBox="1"/>
          <p:nvPr/>
        </p:nvSpPr>
        <p:spPr>
          <a:xfrm>
            <a:off x="906170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All three compensation routes, NALSA 15100 and the Cashless Treatment Scheme 2025.</a:t>
            </a:r>
          </a:p>
        </p:txBody>
      </p:sp>
      <p:sp>
        <p:nvSpPr>
          <p:cNvPr id="32" name="Rounded Rectangle 31"/>
          <p:cNvSpPr/>
          <p:nvPr/>
        </p:nvSpPr>
        <p:spPr>
          <a:xfrm>
            <a:off x="566928" y="5870448"/>
            <a:ext cx="11057839" cy="457200"/>
          </a:xfrm>
          <a:prstGeom prst="roundRect">
            <a:avLst>
              <a:gd name="adj" fmla="val 14000"/>
            </a:avLst>
          </a:prstGeom>
          <a:solidFill>
            <a:srgbClr val="E9F7F0"/>
          </a:solidFill>
          <a:ln>
            <a:noFill/>
          </a:ln>
          <a:effectLst/>
        </p:spPr>
        <p:txBody>
          <a:bodyPr rtlCol="0" anchor="ctr"/>
          <a:lstStyle/>
          <a:p>
            <a:pPr algn="ctr"/>
          </a:p>
        </p:txBody>
      </p:sp>
      <p:sp>
        <p:nvSpPr>
          <p:cNvPr id="33" name="TextBox 32"/>
          <p:cNvSpPr txBox="1"/>
          <p:nvPr/>
        </p:nvSpPr>
        <p:spPr>
          <a:xfrm>
            <a:off x="768096" y="5943600"/>
            <a:ext cx="10646359" cy="329184"/>
          </a:xfrm>
          <a:prstGeom prst="rect">
            <a:avLst/>
          </a:prstGeom>
          <a:noFill/>
        </p:spPr>
        <p:txBody>
          <a:bodyPr wrap="square" lIns="0" rIns="0" tIns="0" bIns="0" anchor="t">
            <a:spAutoFit/>
          </a:bodyPr>
          <a:lstStyle/>
          <a:p>
            <a:pPr algn="l">
              <a:lnSpc>
                <a:spcPct val="120000"/>
              </a:lnSpc>
            </a:pPr>
            <a:r>
              <a:rPr sz="950" b="1" i="0">
                <a:solidFill>
                  <a:srgbClr val="0A9955"/>
                </a:solidFill>
                <a:latin typeface="Geist"/>
              </a:rPr>
              <a:t>Hospital helpdesks bring all of this to the trauma-ward bedside </a:t>
            </a:r>
            <a:r>
              <a:rPr sz="950" b="0" i="0">
                <a:solidFill>
                  <a:srgbClr val="0A9955"/>
                </a:solidFill>
                <a:latin typeface="Geist"/>
              </a:rPr>
              <a:t>, 100+ victims supported in the first four days, run with DLSA and Neev Foundation.</a:t>
            </a:r>
          </a:p>
        </p:txBody>
      </p:sp>
      <p:cxnSp>
        <p:nvCxnSpPr>
          <p:cNvPr id="34" name="Connector 33"/>
          <p:cNvCxnSpPr/>
          <p:nvPr/>
        </p:nvCxnSpPr>
        <p:spPr>
          <a:xfrm>
            <a:off x="566928" y="6455664"/>
            <a:ext cx="11057839" cy="0"/>
          </a:xfrm>
          <a:prstGeom prst="line">
            <a:avLst/>
          </a:prstGeom>
          <a:ln w="9525">
            <a:solidFill>
              <a:srgbClr val="E8E9EE"/>
            </a:solidFill>
          </a:ln>
          <a:effectLst/>
        </p:spPr>
      </p:cxnSp>
      <p:sp>
        <p:nvSpPr>
          <p:cNvPr id="35" name="TextBox 34"/>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36" name="TextBox 3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OUR RESEARCH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Published evidence </a:t>
            </a:r>
            <a:r>
              <a:rPr sz="2250" b="1" i="0">
                <a:solidFill>
                  <a:srgbClr val="4A35FF"/>
                </a:solidFill>
                <a:latin typeface="Montserrat"/>
              </a:rPr>
              <a:t>the sector cites</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Original research, launched publicly and covered by national press. Each report turns a policy gap into something authorities can act on.</a:t>
            </a:r>
          </a:p>
        </p:txBody>
      </p:sp>
      <p:sp>
        <p:nvSpPr>
          <p:cNvPr id="8" name="Rounded Rectangle 7"/>
          <p:cNvSpPr/>
          <p:nvPr/>
        </p:nvSpPr>
        <p:spPr>
          <a:xfrm>
            <a:off x="566928" y="2148840"/>
            <a:ext cx="3611880" cy="3749039"/>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opt_cov_justice_unserved_1500.jpg"/>
          <p:cNvPicPr>
            <a:picLocks noChangeAspect="1"/>
          </p:cNvPicPr>
          <p:nvPr/>
        </p:nvPicPr>
        <p:blipFill>
          <a:blip r:embed="rId2"/>
          <a:stretch>
            <a:fillRect/>
          </a:stretch>
        </p:blipFill>
        <p:spPr>
          <a:xfrm>
            <a:off x="1609636" y="2331720"/>
            <a:ext cx="1526463" cy="2011680"/>
          </a:xfrm>
          <a:prstGeom prst="rect">
            <a:avLst/>
          </a:prstGeom>
        </p:spPr>
      </p:pic>
      <p:sp>
        <p:nvSpPr>
          <p:cNvPr id="10" name="TextBox 9"/>
          <p:cNvSpPr txBox="1"/>
          <p:nvPr/>
        </p:nvSpPr>
        <p:spPr>
          <a:xfrm>
            <a:off x="749808" y="4480560"/>
            <a:ext cx="3246120" cy="274320"/>
          </a:xfrm>
          <a:prstGeom prst="rect">
            <a:avLst/>
          </a:prstGeom>
          <a:noFill/>
        </p:spPr>
        <p:txBody>
          <a:bodyPr wrap="square" lIns="0" rIns="0" tIns="0" bIns="0" anchor="t">
            <a:spAutoFit/>
          </a:bodyPr>
          <a:lstStyle/>
          <a:p>
            <a:pPr algn="l">
              <a:lnSpc>
                <a:spcPct val="100000"/>
              </a:lnSpc>
            </a:pPr>
            <a:r>
              <a:rPr sz="1200" b="1" i="0">
                <a:solidFill>
                  <a:srgbClr val="16181D"/>
                </a:solidFill>
                <a:latin typeface="Montserrat"/>
              </a:rPr>
              <a:t>'Justice Unserved'</a:t>
            </a:r>
          </a:p>
        </p:txBody>
      </p:sp>
      <p:sp>
        <p:nvSpPr>
          <p:cNvPr id="11" name="Rounded Rectangle 10"/>
          <p:cNvSpPr/>
          <p:nvPr/>
        </p:nvSpPr>
        <p:spPr>
          <a:xfrm>
            <a:off x="749808" y="4800600"/>
            <a:ext cx="1188720" cy="292608"/>
          </a:xfrm>
          <a:prstGeom prst="roundRect">
            <a:avLst>
              <a:gd name="adj" fmla="val 50000"/>
            </a:avLst>
          </a:prstGeom>
          <a:solidFill>
            <a:srgbClr val="EFEDFF"/>
          </a:solidFill>
          <a:ln>
            <a:noFill/>
          </a:ln>
          <a:effectLst/>
        </p:spPr>
        <p:txBody>
          <a:bodyPr rtlCol="0" anchor="ctr"/>
          <a:lstStyle/>
          <a:p>
            <a:pPr algn="ctr"/>
          </a:p>
        </p:txBody>
      </p:sp>
      <p:sp>
        <p:nvSpPr>
          <p:cNvPr id="12" name="TextBox 11"/>
          <p:cNvSpPr txBox="1"/>
          <p:nvPr/>
        </p:nvSpPr>
        <p:spPr>
          <a:xfrm>
            <a:off x="768096" y="4800600"/>
            <a:ext cx="1152144" cy="292608"/>
          </a:xfrm>
          <a:prstGeom prst="rect">
            <a:avLst/>
          </a:prstGeom>
          <a:noFill/>
        </p:spPr>
        <p:txBody>
          <a:bodyPr wrap="square" lIns="0" rIns="0" tIns="0" bIns="0" anchor="ctr">
            <a:spAutoFit/>
          </a:bodyPr>
          <a:lstStyle/>
          <a:p>
            <a:pPr algn="ctr">
              <a:lnSpc>
                <a:spcPct val="100000"/>
              </a:lnSpc>
            </a:pPr>
            <a:r>
              <a:rPr sz="800" b="1" i="0">
                <a:solidFill>
                  <a:srgbClr val="4A35FF"/>
                </a:solidFill>
                <a:latin typeface="Montserrat"/>
              </a:rPr>
              <a:t>Jan 2026</a:t>
            </a:r>
          </a:p>
        </p:txBody>
      </p:sp>
      <p:sp>
        <p:nvSpPr>
          <p:cNvPr id="13" name="TextBox 12"/>
          <p:cNvSpPr txBox="1"/>
          <p:nvPr/>
        </p:nvSpPr>
        <p:spPr>
          <a:xfrm>
            <a:off x="749808" y="5184648"/>
            <a:ext cx="3246120" cy="640080"/>
          </a:xfrm>
          <a:prstGeom prst="rect">
            <a:avLst/>
          </a:prstGeom>
          <a:noFill/>
        </p:spPr>
        <p:txBody>
          <a:bodyPr wrap="square" lIns="0" rIns="0" tIns="0" bIns="0" anchor="t">
            <a:spAutoFit/>
          </a:bodyPr>
          <a:lstStyle/>
          <a:p>
            <a:pPr algn="l">
              <a:lnSpc>
                <a:spcPct val="120000"/>
              </a:lnSpc>
            </a:pPr>
            <a:r>
              <a:rPr sz="850" b="0" i="0">
                <a:solidFill>
                  <a:srgbClr val="6E7180"/>
                </a:solidFill>
                <a:latin typeface="Geist"/>
              </a:rPr>
              <a:t>Why so few hit-and-run and third-party claims reach the families entitled to them. Launched at IIT Delhi; findings presented to MoRTH.</a:t>
            </a:r>
          </a:p>
        </p:txBody>
      </p:sp>
      <p:sp>
        <p:nvSpPr>
          <p:cNvPr id="14" name="Rounded Rectangle 13"/>
          <p:cNvSpPr/>
          <p:nvPr/>
        </p:nvSpPr>
        <p:spPr>
          <a:xfrm>
            <a:off x="4288536" y="2148840"/>
            <a:ext cx="3611880" cy="3749039"/>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cov_deposited.png"/>
          <p:cNvPicPr>
            <a:picLocks noChangeAspect="1"/>
          </p:cNvPicPr>
          <p:nvPr/>
        </p:nvPicPr>
        <p:blipFill>
          <a:blip r:embed="rId3"/>
          <a:stretch>
            <a:fillRect/>
          </a:stretch>
        </p:blipFill>
        <p:spPr>
          <a:xfrm>
            <a:off x="5327923" y="2331720"/>
            <a:ext cx="1533106" cy="2011680"/>
          </a:xfrm>
          <a:prstGeom prst="rect">
            <a:avLst/>
          </a:prstGeom>
        </p:spPr>
      </p:pic>
      <p:sp>
        <p:nvSpPr>
          <p:cNvPr id="16" name="TextBox 15"/>
          <p:cNvSpPr txBox="1"/>
          <p:nvPr/>
        </p:nvSpPr>
        <p:spPr>
          <a:xfrm>
            <a:off x="4471416" y="4480560"/>
            <a:ext cx="3246120" cy="274320"/>
          </a:xfrm>
          <a:prstGeom prst="rect">
            <a:avLst/>
          </a:prstGeom>
          <a:noFill/>
        </p:spPr>
        <p:txBody>
          <a:bodyPr wrap="square" lIns="0" rIns="0" tIns="0" bIns="0" anchor="t">
            <a:spAutoFit/>
          </a:bodyPr>
          <a:lstStyle/>
          <a:p>
            <a:pPr algn="l">
              <a:lnSpc>
                <a:spcPct val="100000"/>
              </a:lnSpc>
            </a:pPr>
            <a:r>
              <a:rPr sz="1200" b="1" i="0">
                <a:solidFill>
                  <a:srgbClr val="16181D"/>
                </a:solidFill>
                <a:latin typeface="Montserrat"/>
              </a:rPr>
              <a:t>'Deposited But Not Delivered'</a:t>
            </a:r>
          </a:p>
        </p:txBody>
      </p:sp>
      <p:sp>
        <p:nvSpPr>
          <p:cNvPr id="17" name="Rounded Rectangle 16"/>
          <p:cNvSpPr/>
          <p:nvPr/>
        </p:nvSpPr>
        <p:spPr>
          <a:xfrm>
            <a:off x="4471416" y="4800600"/>
            <a:ext cx="1188720" cy="292608"/>
          </a:xfrm>
          <a:prstGeom prst="roundRect">
            <a:avLst>
              <a:gd name="adj" fmla="val 50000"/>
            </a:avLst>
          </a:prstGeom>
          <a:solidFill>
            <a:srgbClr val="EFEDFF"/>
          </a:solidFill>
          <a:ln>
            <a:noFill/>
          </a:ln>
          <a:effectLst/>
        </p:spPr>
        <p:txBody>
          <a:bodyPr rtlCol="0" anchor="ctr"/>
          <a:lstStyle/>
          <a:p>
            <a:pPr algn="ctr"/>
          </a:p>
        </p:txBody>
      </p:sp>
      <p:sp>
        <p:nvSpPr>
          <p:cNvPr id="18" name="TextBox 17"/>
          <p:cNvSpPr txBox="1"/>
          <p:nvPr/>
        </p:nvSpPr>
        <p:spPr>
          <a:xfrm>
            <a:off x="4489704" y="4800600"/>
            <a:ext cx="1152144" cy="292608"/>
          </a:xfrm>
          <a:prstGeom prst="rect">
            <a:avLst/>
          </a:prstGeom>
          <a:noFill/>
        </p:spPr>
        <p:txBody>
          <a:bodyPr wrap="square" lIns="0" rIns="0" tIns="0" bIns="0" anchor="ctr">
            <a:spAutoFit/>
          </a:bodyPr>
          <a:lstStyle/>
          <a:p>
            <a:pPr algn="ctr">
              <a:lnSpc>
                <a:spcPct val="100000"/>
              </a:lnSpc>
            </a:pPr>
            <a:r>
              <a:rPr sz="800" b="1" i="0">
                <a:solidFill>
                  <a:srgbClr val="4A35FF"/>
                </a:solidFill>
                <a:latin typeface="Montserrat"/>
              </a:rPr>
              <a:t>2026</a:t>
            </a:r>
          </a:p>
        </p:txBody>
      </p:sp>
      <p:sp>
        <p:nvSpPr>
          <p:cNvPr id="19" name="TextBox 18"/>
          <p:cNvSpPr txBox="1"/>
          <p:nvPr/>
        </p:nvSpPr>
        <p:spPr>
          <a:xfrm>
            <a:off x="4471416" y="5184648"/>
            <a:ext cx="3246120" cy="640080"/>
          </a:xfrm>
          <a:prstGeom prst="rect">
            <a:avLst/>
          </a:prstGeom>
          <a:noFill/>
        </p:spPr>
        <p:txBody>
          <a:bodyPr wrap="square" lIns="0" rIns="0" tIns="0" bIns="0" anchor="t">
            <a:spAutoFit/>
          </a:bodyPr>
          <a:lstStyle/>
          <a:p>
            <a:pPr algn="l">
              <a:lnSpc>
                <a:spcPct val="120000"/>
              </a:lnSpc>
            </a:pPr>
            <a:r>
              <a:rPr sz="850" b="0" i="0">
                <a:solidFill>
                  <a:srgbClr val="6E7180"/>
                </a:solidFill>
                <a:latin typeface="Geist"/>
              </a:rPr>
              <a:t>~₹986 crore of court-awarded compensation lies unclaimed across five High Court jurisdictions, a bottleneck the Supreme Court noted in 2025.</a:t>
            </a:r>
          </a:p>
        </p:txBody>
      </p:sp>
      <p:sp>
        <p:nvSpPr>
          <p:cNvPr id="20" name="Rounded Rectangle 19"/>
          <p:cNvSpPr/>
          <p:nvPr/>
        </p:nvSpPr>
        <p:spPr>
          <a:xfrm>
            <a:off x="8010144" y="2148840"/>
            <a:ext cx="3611880" cy="3749039"/>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primer_cover-01.jpg"/>
          <p:cNvPicPr>
            <a:picLocks noChangeAspect="1"/>
          </p:cNvPicPr>
          <p:nvPr/>
        </p:nvPicPr>
        <p:blipFill>
          <a:blip r:embed="rId4"/>
          <a:stretch>
            <a:fillRect/>
          </a:stretch>
        </p:blipFill>
        <p:spPr>
          <a:xfrm>
            <a:off x="9104689" y="2331720"/>
            <a:ext cx="1422790" cy="2011680"/>
          </a:xfrm>
          <a:prstGeom prst="rect">
            <a:avLst/>
          </a:prstGeom>
        </p:spPr>
      </p:pic>
      <p:sp>
        <p:nvSpPr>
          <p:cNvPr id="22" name="TextBox 21"/>
          <p:cNvSpPr txBox="1"/>
          <p:nvPr/>
        </p:nvSpPr>
        <p:spPr>
          <a:xfrm>
            <a:off x="8193024" y="4480560"/>
            <a:ext cx="3246120" cy="274320"/>
          </a:xfrm>
          <a:prstGeom prst="rect">
            <a:avLst/>
          </a:prstGeom>
          <a:noFill/>
        </p:spPr>
        <p:txBody>
          <a:bodyPr wrap="square" lIns="0" rIns="0" tIns="0" bIns="0" anchor="t">
            <a:spAutoFit/>
          </a:bodyPr>
          <a:lstStyle/>
          <a:p>
            <a:pPr algn="l">
              <a:lnSpc>
                <a:spcPct val="100000"/>
              </a:lnSpc>
            </a:pPr>
            <a:r>
              <a:rPr sz="1200" b="1" i="0">
                <a:solidFill>
                  <a:srgbClr val="16181D"/>
                </a:solidFill>
                <a:latin typeface="Montserrat"/>
              </a:rPr>
              <a:t>Pre-Hospital Care Primer</a:t>
            </a:r>
          </a:p>
        </p:txBody>
      </p:sp>
      <p:sp>
        <p:nvSpPr>
          <p:cNvPr id="23" name="Rounded Rectangle 22"/>
          <p:cNvSpPr/>
          <p:nvPr/>
        </p:nvSpPr>
        <p:spPr>
          <a:xfrm>
            <a:off x="8193024" y="4800600"/>
            <a:ext cx="1188720" cy="292608"/>
          </a:xfrm>
          <a:prstGeom prst="roundRect">
            <a:avLst>
              <a:gd name="adj" fmla="val 50000"/>
            </a:avLst>
          </a:prstGeom>
          <a:solidFill>
            <a:srgbClr val="EFEDFF"/>
          </a:solidFill>
          <a:ln>
            <a:noFill/>
          </a:ln>
          <a:effectLst/>
        </p:spPr>
        <p:txBody>
          <a:bodyPr rtlCol="0" anchor="ctr"/>
          <a:lstStyle/>
          <a:p>
            <a:pPr algn="ctr"/>
          </a:p>
        </p:txBody>
      </p:sp>
      <p:sp>
        <p:nvSpPr>
          <p:cNvPr id="24" name="TextBox 23"/>
          <p:cNvSpPr txBox="1"/>
          <p:nvPr/>
        </p:nvSpPr>
        <p:spPr>
          <a:xfrm>
            <a:off x="8211312" y="4800600"/>
            <a:ext cx="1152144" cy="292608"/>
          </a:xfrm>
          <a:prstGeom prst="rect">
            <a:avLst/>
          </a:prstGeom>
          <a:noFill/>
        </p:spPr>
        <p:txBody>
          <a:bodyPr wrap="square" lIns="0" rIns="0" tIns="0" bIns="0" anchor="ctr">
            <a:spAutoFit/>
          </a:bodyPr>
          <a:lstStyle/>
          <a:p>
            <a:pPr algn="ctr">
              <a:lnSpc>
                <a:spcPct val="100000"/>
              </a:lnSpc>
            </a:pPr>
            <a:r>
              <a:rPr sz="800" b="1" i="0">
                <a:solidFill>
                  <a:srgbClr val="4A35FF"/>
                </a:solidFill>
                <a:latin typeface="Montserrat"/>
              </a:rPr>
              <a:t>Sep 2025</a:t>
            </a:r>
          </a:p>
        </p:txBody>
      </p:sp>
      <p:sp>
        <p:nvSpPr>
          <p:cNvPr id="25" name="TextBox 24"/>
          <p:cNvSpPr txBox="1"/>
          <p:nvPr/>
        </p:nvSpPr>
        <p:spPr>
          <a:xfrm>
            <a:off x="8193024" y="5184648"/>
            <a:ext cx="3246120" cy="640080"/>
          </a:xfrm>
          <a:prstGeom prst="rect">
            <a:avLst/>
          </a:prstGeom>
          <a:noFill/>
        </p:spPr>
        <p:txBody>
          <a:bodyPr wrap="square" lIns="0" rIns="0" tIns="0" bIns="0" anchor="t">
            <a:spAutoFit/>
          </a:bodyPr>
          <a:lstStyle/>
          <a:p>
            <a:pPr algn="l">
              <a:lnSpc>
                <a:spcPct val="120000"/>
              </a:lnSpc>
            </a:pPr>
            <a:r>
              <a:rPr sz="850" b="0" i="0">
                <a:solidFill>
                  <a:srgbClr val="6E7180"/>
                </a:solidFill>
                <a:latin typeface="Geist"/>
              </a:rPr>
              <a:t>Benchmarks ERSS-112 response and documents state EMS innovations, with contributions from the AIIMS Trauma Centre.</a:t>
            </a:r>
          </a:p>
        </p:txBody>
      </p:sp>
      <p:sp>
        <p:nvSpPr>
          <p:cNvPr id="26" name="TextBox 25"/>
          <p:cNvSpPr txBox="1"/>
          <p:nvPr/>
        </p:nvSpPr>
        <p:spPr>
          <a:xfrm>
            <a:off x="566928" y="6035040"/>
            <a:ext cx="11057839" cy="274320"/>
          </a:xfrm>
          <a:prstGeom prst="rect">
            <a:avLst/>
          </a:prstGeom>
          <a:noFill/>
        </p:spPr>
        <p:txBody>
          <a:bodyPr wrap="square" lIns="0" rIns="0" tIns="0" bIns="0" anchor="t">
            <a:spAutoFit/>
          </a:bodyPr>
          <a:lstStyle/>
          <a:p>
            <a:pPr algn="l">
              <a:lnSpc>
                <a:spcPct val="120000"/>
              </a:lnSpc>
            </a:pPr>
            <a:r>
              <a:rPr sz="950" b="1" i="0">
                <a:solidFill>
                  <a:srgbClr val="16181D"/>
                </a:solidFill>
                <a:latin typeface="Geist"/>
              </a:rPr>
              <a:t>Plus: </a:t>
            </a:r>
            <a:r>
              <a:rPr sz="950" b="0" i="0">
                <a:solidFill>
                  <a:srgbClr val="6E7180"/>
                </a:solidFill>
                <a:latin typeface="Geist"/>
              </a:rPr>
              <a:t>the gig-rider brief 'When Risks Become Routine', and four open public-data platforms, all free to use and openly licensed.</a:t>
            </a:r>
          </a:p>
        </p:txBody>
      </p:sp>
      <p:cxnSp>
        <p:nvCxnSpPr>
          <p:cNvPr id="27" name="Connector 26"/>
          <p:cNvCxnSpPr/>
          <p:nvPr/>
        </p:nvCxnSpPr>
        <p:spPr>
          <a:xfrm>
            <a:off x="566928" y="6455664"/>
            <a:ext cx="11057839" cy="0"/>
          </a:xfrm>
          <a:prstGeom prst="line">
            <a:avLst/>
          </a:prstGeom>
          <a:ln w="9525">
            <a:solidFill>
              <a:srgbClr val="E8E9EE"/>
            </a:solidFill>
          </a:ln>
          <a:effectLst/>
        </p:spPr>
      </p:cxnSp>
      <p:sp>
        <p:nvSpPr>
          <p:cNvPr id="28" name="TextBox 27"/>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29" name="TextBox 2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VULNERABLE ROAD USERS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fastest-growing risk on Indian roads </a:t>
            </a:r>
            <a:r>
              <a:rPr sz="2250" b="1" i="0">
                <a:solidFill>
                  <a:srgbClr val="4A35FF"/>
                </a:solidFill>
                <a:latin typeface="Montserrat"/>
              </a:rPr>
              <a:t>rides a two-wheeler</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Two-wheeler riders carry the largest share of road deaths, and gig and delivery work concentrates that exposure. We study it, and we work it.</a:t>
            </a:r>
          </a:p>
        </p:txBody>
      </p:sp>
      <p:sp>
        <p:nvSpPr>
          <p:cNvPr id="8" name="Rounded Rectangle 7"/>
          <p:cNvSpPr/>
          <p:nvPr/>
        </p:nvSpPr>
        <p:spPr>
          <a:xfrm>
            <a:off x="566928" y="2148840"/>
            <a:ext cx="2377440" cy="1371600"/>
          </a:xfrm>
          <a:prstGeom prst="roundRect">
            <a:avLst>
              <a:gd name="adj" fmla="val 8000"/>
            </a:avLst>
          </a:prstGeom>
          <a:solidFill>
            <a:srgbClr val="F7F7FA"/>
          </a:solidFill>
          <a:ln>
            <a:noFill/>
          </a:ln>
          <a:effectLst/>
        </p:spPr>
        <p:txBody>
          <a:bodyPr rtlCol="0" anchor="ctr"/>
          <a:lstStyle/>
          <a:p>
            <a:pPr algn="ctr"/>
          </a:p>
        </p:txBody>
      </p:sp>
      <p:sp>
        <p:nvSpPr>
          <p:cNvPr id="9" name="TextBox 8"/>
          <p:cNvSpPr txBox="1"/>
          <p:nvPr/>
        </p:nvSpPr>
        <p:spPr>
          <a:xfrm>
            <a:off x="713232" y="2258568"/>
            <a:ext cx="2084832" cy="41148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~45%</a:t>
            </a:r>
          </a:p>
        </p:txBody>
      </p:sp>
      <p:sp>
        <p:nvSpPr>
          <p:cNvPr id="10" name="TextBox 9"/>
          <p:cNvSpPr txBox="1"/>
          <p:nvPr/>
        </p:nvSpPr>
        <p:spPr>
          <a:xfrm>
            <a:off x="713232" y="2715768"/>
            <a:ext cx="2084832" cy="731520"/>
          </a:xfrm>
          <a:prstGeom prst="rect">
            <a:avLst/>
          </a:prstGeom>
          <a:noFill/>
        </p:spPr>
        <p:txBody>
          <a:bodyPr wrap="square" lIns="0" rIns="0" tIns="0" bIns="0" anchor="t">
            <a:spAutoFit/>
          </a:bodyPr>
          <a:lstStyle/>
          <a:p>
            <a:pPr algn="l">
              <a:lnSpc>
                <a:spcPct val="120000"/>
              </a:lnSpc>
            </a:pPr>
            <a:r>
              <a:rPr sz="850" b="0" i="0">
                <a:solidFill>
                  <a:srgbClr val="6E7180"/>
                </a:solidFill>
                <a:latin typeface="Geist"/>
              </a:rPr>
              <a:t>of India's crash fatalities are two-wheeler users, rising year on year</a:t>
            </a:r>
          </a:p>
        </p:txBody>
      </p:sp>
      <p:sp>
        <p:nvSpPr>
          <p:cNvPr id="11" name="Rounded Rectangle 10"/>
          <p:cNvSpPr/>
          <p:nvPr/>
        </p:nvSpPr>
        <p:spPr>
          <a:xfrm>
            <a:off x="3054096" y="2148840"/>
            <a:ext cx="2377440" cy="1371600"/>
          </a:xfrm>
          <a:prstGeom prst="roundRect">
            <a:avLst>
              <a:gd name="adj" fmla="val 8000"/>
            </a:avLst>
          </a:prstGeom>
          <a:solidFill>
            <a:srgbClr val="F7F7FA"/>
          </a:solidFill>
          <a:ln>
            <a:noFill/>
          </a:ln>
          <a:effectLst/>
        </p:spPr>
        <p:txBody>
          <a:bodyPr rtlCol="0" anchor="ctr"/>
          <a:lstStyle/>
          <a:p>
            <a:pPr algn="ctr"/>
          </a:p>
        </p:txBody>
      </p:sp>
      <p:sp>
        <p:nvSpPr>
          <p:cNvPr id="12" name="TextBox 11"/>
          <p:cNvSpPr txBox="1"/>
          <p:nvPr/>
        </p:nvSpPr>
        <p:spPr>
          <a:xfrm>
            <a:off x="3200400" y="2258568"/>
            <a:ext cx="2084832" cy="41148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23.5 M</a:t>
            </a:r>
          </a:p>
        </p:txBody>
      </p:sp>
      <p:sp>
        <p:nvSpPr>
          <p:cNvPr id="13" name="TextBox 12"/>
          <p:cNvSpPr txBox="1"/>
          <p:nvPr/>
        </p:nvSpPr>
        <p:spPr>
          <a:xfrm>
            <a:off x="3200400" y="2715768"/>
            <a:ext cx="2084832" cy="731520"/>
          </a:xfrm>
          <a:prstGeom prst="rect">
            <a:avLst/>
          </a:prstGeom>
          <a:noFill/>
        </p:spPr>
        <p:txBody>
          <a:bodyPr wrap="square" lIns="0" rIns="0" tIns="0" bIns="0" anchor="t">
            <a:spAutoFit/>
          </a:bodyPr>
          <a:lstStyle/>
          <a:p>
            <a:pPr algn="l">
              <a:lnSpc>
                <a:spcPct val="120000"/>
              </a:lnSpc>
            </a:pPr>
            <a:r>
              <a:rPr sz="850" b="0" i="0">
                <a:solidFill>
                  <a:srgbClr val="6E7180"/>
                </a:solidFill>
                <a:latin typeface="Geist"/>
              </a:rPr>
              <a:t>gig and platform workers projected by 2029-30 (NITI Aayog)</a:t>
            </a:r>
          </a:p>
        </p:txBody>
      </p:sp>
      <p:sp>
        <p:nvSpPr>
          <p:cNvPr id="14" name="Rounded Rectangle 13"/>
          <p:cNvSpPr/>
          <p:nvPr/>
        </p:nvSpPr>
        <p:spPr>
          <a:xfrm>
            <a:off x="5541264" y="2148840"/>
            <a:ext cx="2377440" cy="1371600"/>
          </a:xfrm>
          <a:prstGeom prst="roundRect">
            <a:avLst>
              <a:gd name="adj" fmla="val 8000"/>
            </a:avLst>
          </a:prstGeom>
          <a:solidFill>
            <a:srgbClr val="F7F7FA"/>
          </a:solidFill>
          <a:ln>
            <a:noFill/>
          </a:ln>
          <a:effectLst/>
        </p:spPr>
        <p:txBody>
          <a:bodyPr rtlCol="0" anchor="ctr"/>
          <a:lstStyle/>
          <a:p>
            <a:pPr algn="ctr"/>
          </a:p>
        </p:txBody>
      </p:sp>
      <p:sp>
        <p:nvSpPr>
          <p:cNvPr id="15" name="TextBox 14"/>
          <p:cNvSpPr txBox="1"/>
          <p:nvPr/>
        </p:nvSpPr>
        <p:spPr>
          <a:xfrm>
            <a:off x="5687568" y="2258568"/>
            <a:ext cx="2084832" cy="41148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1 in 2</a:t>
            </a:r>
          </a:p>
        </p:txBody>
      </p:sp>
      <p:sp>
        <p:nvSpPr>
          <p:cNvPr id="16" name="TextBox 15"/>
          <p:cNvSpPr txBox="1"/>
          <p:nvPr/>
        </p:nvSpPr>
        <p:spPr>
          <a:xfrm>
            <a:off x="5687568" y="2715768"/>
            <a:ext cx="2084832" cy="731520"/>
          </a:xfrm>
          <a:prstGeom prst="rect">
            <a:avLst/>
          </a:prstGeom>
          <a:noFill/>
        </p:spPr>
        <p:txBody>
          <a:bodyPr wrap="square" lIns="0" rIns="0" tIns="0" bIns="0" anchor="t">
            <a:spAutoFit/>
          </a:bodyPr>
          <a:lstStyle/>
          <a:p>
            <a:pPr algn="l">
              <a:lnSpc>
                <a:spcPct val="120000"/>
              </a:lnSpc>
            </a:pPr>
            <a:r>
              <a:rPr sz="850" b="0" i="0">
                <a:solidFill>
                  <a:srgbClr val="6E7180"/>
                </a:solidFill>
                <a:latin typeface="Geist"/>
              </a:rPr>
              <a:t>delivery riders in a 431-rider Mumbai crash study had already crashed</a:t>
            </a:r>
          </a:p>
        </p:txBody>
      </p:sp>
      <p:sp>
        <p:nvSpPr>
          <p:cNvPr id="17" name="Oval 16"/>
          <p:cNvSpPr/>
          <p:nvPr/>
        </p:nvSpPr>
        <p:spPr>
          <a:xfrm>
            <a:off x="566928" y="3794760"/>
            <a:ext cx="365760" cy="365760"/>
          </a:xfrm>
          <a:prstGeom prst="ellipse">
            <a:avLst/>
          </a:prstGeom>
          <a:solidFill>
            <a:srgbClr val="FDF3E3"/>
          </a:solidFill>
          <a:ln>
            <a:noFill/>
          </a:ln>
          <a:effectLst/>
        </p:spPr>
        <p:txBody>
          <a:bodyPr rtlCol="0" anchor="ctr"/>
          <a:lstStyle/>
          <a:p>
            <a:pPr algn="ctr"/>
          </a:p>
        </p:txBody>
      </p:sp>
      <p:pic>
        <p:nvPicPr>
          <p:cNvPr id="18" name="Picture 17" descr="file-search_E58900_256_2.0.png"/>
          <p:cNvPicPr>
            <a:picLocks noChangeAspect="1"/>
          </p:cNvPicPr>
          <p:nvPr/>
        </p:nvPicPr>
        <p:blipFill>
          <a:blip r:embed="rId2"/>
          <a:stretch>
            <a:fillRect/>
          </a:stretch>
        </p:blipFill>
        <p:spPr>
          <a:xfrm>
            <a:off x="654710" y="3882542"/>
            <a:ext cx="190195" cy="190195"/>
          </a:xfrm>
          <a:prstGeom prst="rect">
            <a:avLst/>
          </a:prstGeom>
        </p:spPr>
      </p:pic>
      <p:sp>
        <p:nvSpPr>
          <p:cNvPr id="19" name="TextBox 18"/>
          <p:cNvSpPr txBox="1"/>
          <p:nvPr/>
        </p:nvSpPr>
        <p:spPr>
          <a:xfrm>
            <a:off x="1097280" y="3776472"/>
            <a:ext cx="2377440" cy="45720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A published study</a:t>
            </a:r>
          </a:p>
        </p:txBody>
      </p:sp>
      <p:sp>
        <p:nvSpPr>
          <p:cNvPr id="20" name="TextBox 19"/>
          <p:cNvSpPr txBox="1"/>
          <p:nvPr/>
        </p:nvSpPr>
        <p:spPr>
          <a:xfrm>
            <a:off x="3566160" y="3776472"/>
            <a:ext cx="3977640" cy="685800"/>
          </a:xfrm>
          <a:prstGeom prst="rect">
            <a:avLst/>
          </a:prstGeom>
          <a:noFill/>
        </p:spPr>
        <p:txBody>
          <a:bodyPr wrap="square" lIns="0" rIns="0" tIns="0" bIns="0" anchor="t">
            <a:spAutoFit/>
          </a:bodyPr>
          <a:lstStyle/>
          <a:p>
            <a:pPr algn="l">
              <a:lnSpc>
                <a:spcPct val="122000"/>
              </a:lnSpc>
            </a:pPr>
            <a:r>
              <a:rPr sz="900" b="0" i="0">
                <a:solidFill>
                  <a:srgbClr val="6E7180"/>
                </a:solidFill>
                <a:latin typeface="Geist"/>
              </a:rPr>
              <a:t>'When Risks Become Routine' (Feb 2026): 40 pages, 87 references, from incentive design and helmet compliance to the e-bike regulatory blind spot.</a:t>
            </a:r>
          </a:p>
        </p:txBody>
      </p:sp>
      <p:sp>
        <p:nvSpPr>
          <p:cNvPr id="21" name="Oval 20"/>
          <p:cNvSpPr/>
          <p:nvPr/>
        </p:nvSpPr>
        <p:spPr>
          <a:xfrm>
            <a:off x="566928" y="4544568"/>
            <a:ext cx="365760" cy="365760"/>
          </a:xfrm>
          <a:prstGeom prst="ellipse">
            <a:avLst/>
          </a:prstGeom>
          <a:solidFill>
            <a:srgbClr val="E7F4F4"/>
          </a:solidFill>
          <a:ln>
            <a:noFill/>
          </a:ln>
          <a:effectLst/>
        </p:spPr>
        <p:txBody>
          <a:bodyPr rtlCol="0" anchor="ctr"/>
          <a:lstStyle/>
          <a:p>
            <a:pPr algn="ctr"/>
          </a:p>
        </p:txBody>
      </p:sp>
      <p:pic>
        <p:nvPicPr>
          <p:cNvPr id="22" name="Picture 21" descr="gauge_0E8A8A_256_2.0.png"/>
          <p:cNvPicPr>
            <a:picLocks noChangeAspect="1"/>
          </p:cNvPicPr>
          <p:nvPr/>
        </p:nvPicPr>
        <p:blipFill>
          <a:blip r:embed="rId3"/>
          <a:stretch>
            <a:fillRect/>
          </a:stretch>
        </p:blipFill>
        <p:spPr>
          <a:xfrm>
            <a:off x="654710" y="4632350"/>
            <a:ext cx="190195" cy="190195"/>
          </a:xfrm>
          <a:prstGeom prst="rect">
            <a:avLst/>
          </a:prstGeom>
        </p:spPr>
      </p:pic>
      <p:sp>
        <p:nvSpPr>
          <p:cNvPr id="23" name="TextBox 22"/>
          <p:cNvSpPr txBox="1"/>
          <p:nvPr/>
        </p:nvSpPr>
        <p:spPr>
          <a:xfrm>
            <a:off x="1097280" y="4526280"/>
            <a:ext cx="2377440" cy="45720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A 300-rider study, now in the field</a:t>
            </a:r>
          </a:p>
        </p:txBody>
      </p:sp>
      <p:sp>
        <p:nvSpPr>
          <p:cNvPr id="24" name="TextBox 23"/>
          <p:cNvSpPr txBox="1"/>
          <p:nvPr/>
        </p:nvSpPr>
        <p:spPr>
          <a:xfrm>
            <a:off x="3566160" y="4526280"/>
            <a:ext cx="3977640" cy="685800"/>
          </a:xfrm>
          <a:prstGeom prst="rect">
            <a:avLst/>
          </a:prstGeom>
          <a:noFill/>
        </p:spPr>
        <p:txBody>
          <a:bodyPr wrap="square" lIns="0" rIns="0" tIns="0" bIns="0" anchor="t">
            <a:spAutoFit/>
          </a:bodyPr>
          <a:lstStyle/>
          <a:p>
            <a:pPr algn="l">
              <a:lnSpc>
                <a:spcPct val="122000"/>
              </a:lnSpc>
            </a:pPr>
            <a:r>
              <a:rPr sz="900" b="0" i="0">
                <a:solidFill>
                  <a:srgbClr val="6E7180"/>
                </a:solidFill>
                <a:latin typeface="Geist"/>
              </a:rPr>
              <a:t>Quantifying how often riders face near-misses, which risk factors matter most, and what rider profiles exist, so interventions can be targeted.</a:t>
            </a:r>
          </a:p>
        </p:txBody>
      </p:sp>
      <p:sp>
        <p:nvSpPr>
          <p:cNvPr id="25" name="Oval 24"/>
          <p:cNvSpPr/>
          <p:nvPr/>
        </p:nvSpPr>
        <p:spPr>
          <a:xfrm>
            <a:off x="566928" y="5294376"/>
            <a:ext cx="365760" cy="365760"/>
          </a:xfrm>
          <a:prstGeom prst="ellipse">
            <a:avLst/>
          </a:prstGeom>
          <a:solidFill>
            <a:srgbClr val="EFEDFF"/>
          </a:solidFill>
          <a:ln>
            <a:noFill/>
          </a:ln>
          <a:effectLst/>
        </p:spPr>
        <p:txBody>
          <a:bodyPr rtlCol="0" anchor="ctr"/>
          <a:lstStyle/>
          <a:p>
            <a:pPr algn="ctr"/>
          </a:p>
        </p:txBody>
      </p:sp>
      <p:pic>
        <p:nvPicPr>
          <p:cNvPr id="26" name="Picture 25" descr="bike_4A35FF_256_2.0.png"/>
          <p:cNvPicPr>
            <a:picLocks noChangeAspect="1"/>
          </p:cNvPicPr>
          <p:nvPr/>
        </p:nvPicPr>
        <p:blipFill>
          <a:blip r:embed="rId4"/>
          <a:stretch>
            <a:fillRect/>
          </a:stretch>
        </p:blipFill>
        <p:spPr>
          <a:xfrm>
            <a:off x="654710" y="5382158"/>
            <a:ext cx="190195" cy="190195"/>
          </a:xfrm>
          <a:prstGeom prst="rect">
            <a:avLst/>
          </a:prstGeom>
        </p:spPr>
      </p:pic>
      <p:sp>
        <p:nvSpPr>
          <p:cNvPr id="27" name="TextBox 26"/>
          <p:cNvSpPr txBox="1"/>
          <p:nvPr/>
        </p:nvSpPr>
        <p:spPr>
          <a:xfrm>
            <a:off x="1097280" y="5276088"/>
            <a:ext cx="2377440" cy="45720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Field, not only desk</a:t>
            </a:r>
          </a:p>
        </p:txBody>
      </p:sp>
      <p:sp>
        <p:nvSpPr>
          <p:cNvPr id="28" name="TextBox 27"/>
          <p:cNvSpPr txBox="1"/>
          <p:nvPr/>
        </p:nvSpPr>
        <p:spPr>
          <a:xfrm>
            <a:off x="3566160" y="5276088"/>
            <a:ext cx="3977640" cy="685800"/>
          </a:xfrm>
          <a:prstGeom prst="rect">
            <a:avLst/>
          </a:prstGeom>
          <a:noFill/>
        </p:spPr>
        <p:txBody>
          <a:bodyPr wrap="square" lIns="0" rIns="0" tIns="0" bIns="0" anchor="t">
            <a:spAutoFit/>
          </a:bodyPr>
          <a:lstStyle/>
          <a:p>
            <a:pPr algn="l">
              <a:lnSpc>
                <a:spcPct val="122000"/>
              </a:lnSpc>
            </a:pPr>
            <a:r>
              <a:rPr sz="900" b="0" i="0">
                <a:solidFill>
                  <a:srgbClr val="6E7180"/>
                </a:solidFill>
                <a:latin typeface="Geist"/>
              </a:rPr>
              <a:t>Fieldwork included shadowing a delivery rider through a full nine-hour shift, documented on video.</a:t>
            </a:r>
          </a:p>
        </p:txBody>
      </p:sp>
      <p:pic>
        <p:nvPicPr>
          <p:cNvPr id="29" name="Picture 28" descr="ph_gig_riders.jpg_3.75x2.00_0.35.jpg"/>
          <p:cNvPicPr>
            <a:picLocks noChangeAspect="1"/>
          </p:cNvPicPr>
          <p:nvPr/>
        </p:nvPicPr>
        <p:blipFill>
          <a:blip r:embed="rId5"/>
          <a:stretch>
            <a:fillRect/>
          </a:stretch>
        </p:blipFill>
        <p:spPr>
          <a:xfrm>
            <a:off x="8183879" y="3703320"/>
            <a:ext cx="3429000" cy="1828800"/>
          </a:xfrm>
          <a:prstGeom prst="rect">
            <a:avLst/>
          </a:prstGeom>
        </p:spPr>
      </p:pic>
      <p:sp>
        <p:nvSpPr>
          <p:cNvPr id="30" name="Rectangle 29"/>
          <p:cNvSpPr/>
          <p:nvPr/>
        </p:nvSpPr>
        <p:spPr>
          <a:xfrm>
            <a:off x="8183879" y="3703320"/>
            <a:ext cx="3429000" cy="1828800"/>
          </a:xfrm>
          <a:prstGeom prst="rect">
            <a:avLst/>
          </a:prstGeom>
          <a:noFill/>
          <a:ln w="12700">
            <a:solidFill>
              <a:srgbClr val="E8E9EE"/>
            </a:solidFill>
          </a:ln>
          <a:effectLst/>
        </p:spPr>
        <p:txBody>
          <a:bodyPr rtlCol="0" anchor="ctr"/>
          <a:lstStyle/>
          <a:p>
            <a:pPr algn="ctr"/>
          </a:p>
        </p:txBody>
      </p:sp>
      <p:sp>
        <p:nvSpPr>
          <p:cNvPr id="31" name="TextBox 30"/>
          <p:cNvSpPr txBox="1"/>
          <p:nvPr/>
        </p:nvSpPr>
        <p:spPr>
          <a:xfrm>
            <a:off x="8183879" y="5577840"/>
            <a:ext cx="34290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Delivery-rider outreach, Road Safety Month 2026.</a:t>
            </a:r>
          </a:p>
        </p:txBody>
      </p:sp>
      <p:cxnSp>
        <p:nvCxnSpPr>
          <p:cNvPr id="32" name="Connector 31"/>
          <p:cNvCxnSpPr/>
          <p:nvPr/>
        </p:nvCxnSpPr>
        <p:spPr>
          <a:xfrm>
            <a:off x="566928" y="6455664"/>
            <a:ext cx="11057839" cy="0"/>
          </a:xfrm>
          <a:prstGeom prst="line">
            <a:avLst/>
          </a:prstGeom>
          <a:ln w="9525">
            <a:solidFill>
              <a:srgbClr val="E8E9EE"/>
            </a:solidFill>
          </a:ln>
          <a:effectLst/>
        </p:spPr>
      </p:cxnSp>
      <p:sp>
        <p:nvSpPr>
          <p:cNvPr id="33" name="TextBox 32"/>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34" name="TextBox 3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SCHOOL ZONES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School Safety Index: a public score </a:t>
            </a:r>
            <a:r>
              <a:rPr sz="2250" b="1" i="0">
                <a:solidFill>
                  <a:srgbClr val="4A35FF"/>
                </a:solidFill>
                <a:latin typeface="Montserrat"/>
              </a:rPr>
              <a:t>for every school's road</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 child's walk to school can be graded. We grade it against India's own standard, publish the evidence, and hand the worst zones to field teams and the road-owning authority.</a:t>
            </a:r>
          </a:p>
        </p:txBody>
      </p:sp>
      <p:sp>
        <p:nvSpPr>
          <p:cNvPr id="8" name="Oval 7"/>
          <p:cNvSpPr/>
          <p:nvPr/>
        </p:nvSpPr>
        <p:spPr>
          <a:xfrm>
            <a:off x="566928" y="2212848"/>
            <a:ext cx="365760" cy="365760"/>
          </a:xfrm>
          <a:prstGeom prst="ellipse">
            <a:avLst/>
          </a:prstGeom>
          <a:solidFill>
            <a:srgbClr val="EFEDFF"/>
          </a:solidFill>
          <a:ln>
            <a:noFill/>
          </a:ln>
          <a:effectLst/>
        </p:spPr>
        <p:txBody>
          <a:bodyPr rtlCol="0" anchor="ctr"/>
          <a:lstStyle/>
          <a:p>
            <a:pPr algn="ctr"/>
          </a:p>
        </p:txBody>
      </p:sp>
      <p:pic>
        <p:nvPicPr>
          <p:cNvPr id="9" name="Picture 8" descr="scan-line_4A35FF_256_2.0.png"/>
          <p:cNvPicPr>
            <a:picLocks noChangeAspect="1"/>
          </p:cNvPicPr>
          <p:nvPr/>
        </p:nvPicPr>
        <p:blipFill>
          <a:blip r:embed="rId2"/>
          <a:stretch>
            <a:fillRect/>
          </a:stretch>
        </p:blipFill>
        <p:spPr>
          <a:xfrm>
            <a:off x="654710" y="2300630"/>
            <a:ext cx="190195" cy="190195"/>
          </a:xfrm>
          <a:prstGeom prst="rect">
            <a:avLst/>
          </a:prstGeom>
        </p:spPr>
      </p:pic>
      <p:sp>
        <p:nvSpPr>
          <p:cNvPr id="10" name="TextBox 9"/>
          <p:cNvSpPr txBox="1"/>
          <p:nvPr/>
        </p:nvSpPr>
        <p:spPr>
          <a:xfrm>
            <a:off x="1097280" y="2194560"/>
            <a:ext cx="2377440" cy="45720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Screening at city scale</a:t>
            </a:r>
          </a:p>
        </p:txBody>
      </p:sp>
      <p:sp>
        <p:nvSpPr>
          <p:cNvPr id="11" name="TextBox 10"/>
          <p:cNvSpPr txBox="1"/>
          <p:nvPr/>
        </p:nvSpPr>
        <p:spPr>
          <a:xfrm>
            <a:off x="3566160" y="2194560"/>
            <a:ext cx="3840480" cy="685800"/>
          </a:xfrm>
          <a:prstGeom prst="rect">
            <a:avLst/>
          </a:prstGeom>
          <a:noFill/>
        </p:spPr>
        <p:txBody>
          <a:bodyPr wrap="square" lIns="0" rIns="0" tIns="0" bIns="0" anchor="t">
            <a:spAutoFit/>
          </a:bodyPr>
          <a:lstStyle/>
          <a:p>
            <a:pPr algn="l">
              <a:lnSpc>
                <a:spcPct val="122000"/>
              </a:lnSpc>
            </a:pPr>
            <a:r>
              <a:rPr sz="900" b="0" i="0">
                <a:solidFill>
                  <a:srgbClr val="6E7180"/>
                </a:solidFill>
                <a:latin typeface="Geist"/>
              </a:rPr>
              <a:t>Dated Street View imagery, scored 0–100 by an AI auditor against IRC:SP:32-2023, India's school-zone standard, and independently verified before publication.</a:t>
            </a:r>
          </a:p>
        </p:txBody>
      </p:sp>
      <p:sp>
        <p:nvSpPr>
          <p:cNvPr id="12" name="Oval 11"/>
          <p:cNvSpPr/>
          <p:nvPr/>
        </p:nvSpPr>
        <p:spPr>
          <a:xfrm>
            <a:off x="566928" y="3108960"/>
            <a:ext cx="365760" cy="365760"/>
          </a:xfrm>
          <a:prstGeom prst="ellipse">
            <a:avLst/>
          </a:prstGeom>
          <a:solidFill>
            <a:srgbClr val="E7F4F4"/>
          </a:solidFill>
          <a:ln>
            <a:noFill/>
          </a:ln>
          <a:effectLst/>
        </p:spPr>
        <p:txBody>
          <a:bodyPr rtlCol="0" anchor="ctr"/>
          <a:lstStyle/>
          <a:p>
            <a:pPr algn="ctr"/>
          </a:p>
        </p:txBody>
      </p:sp>
      <p:pic>
        <p:nvPicPr>
          <p:cNvPr id="13" name="Picture 12" descr="school_0E8A8A_256_2.0.png"/>
          <p:cNvPicPr>
            <a:picLocks noChangeAspect="1"/>
          </p:cNvPicPr>
          <p:nvPr/>
        </p:nvPicPr>
        <p:blipFill>
          <a:blip r:embed="rId3"/>
          <a:stretch>
            <a:fillRect/>
          </a:stretch>
        </p:blipFill>
        <p:spPr>
          <a:xfrm>
            <a:off x="654710" y="3196742"/>
            <a:ext cx="190195" cy="190195"/>
          </a:xfrm>
          <a:prstGeom prst="rect">
            <a:avLst/>
          </a:prstGeom>
        </p:spPr>
      </p:pic>
      <p:sp>
        <p:nvSpPr>
          <p:cNvPr id="14" name="TextBox 13"/>
          <p:cNvSpPr txBox="1"/>
          <p:nvPr/>
        </p:nvSpPr>
        <p:spPr>
          <a:xfrm>
            <a:off x="1097280" y="3090672"/>
            <a:ext cx="2377440" cy="45720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Delhi and Jaipur first</a:t>
            </a:r>
          </a:p>
        </p:txBody>
      </p:sp>
      <p:sp>
        <p:nvSpPr>
          <p:cNvPr id="15" name="TextBox 14"/>
          <p:cNvSpPr txBox="1"/>
          <p:nvPr/>
        </p:nvSpPr>
        <p:spPr>
          <a:xfrm>
            <a:off x="3566160" y="3090672"/>
            <a:ext cx="3840480" cy="685800"/>
          </a:xfrm>
          <a:prstGeom prst="rect">
            <a:avLst/>
          </a:prstGeom>
          <a:noFill/>
        </p:spPr>
        <p:txBody>
          <a:bodyPr wrap="square" lIns="0" rIns="0" tIns="0" bIns="0" anchor="t">
            <a:spAutoFit/>
          </a:bodyPr>
          <a:lstStyle/>
          <a:p>
            <a:pPr algn="l">
              <a:lnSpc>
                <a:spcPct val="122000"/>
              </a:lnSpc>
            </a:pPr>
            <a:r>
              <a:rPr sz="900" b="0" i="0">
                <a:solidFill>
                  <a:srgbClr val="6E7180"/>
                </a:solidFill>
                <a:latin typeface="Geist"/>
              </a:rPr>
              <a:t>5,386 schools mapped across the two cities. Named schools and per-school photo evidence published from the first batch, re-audited every six months.</a:t>
            </a:r>
          </a:p>
        </p:txBody>
      </p:sp>
      <p:sp>
        <p:nvSpPr>
          <p:cNvPr id="16" name="Oval 15"/>
          <p:cNvSpPr/>
          <p:nvPr/>
        </p:nvSpPr>
        <p:spPr>
          <a:xfrm>
            <a:off x="566928" y="4005072"/>
            <a:ext cx="365760" cy="365760"/>
          </a:xfrm>
          <a:prstGeom prst="ellipse">
            <a:avLst/>
          </a:prstGeom>
          <a:solidFill>
            <a:srgbClr val="E9F7F0"/>
          </a:solidFill>
          <a:ln>
            <a:noFill/>
          </a:ln>
          <a:effectLst/>
        </p:spPr>
        <p:txBody>
          <a:bodyPr rtlCol="0" anchor="ctr"/>
          <a:lstStyle/>
          <a:p>
            <a:pPr algn="ctr"/>
          </a:p>
        </p:txBody>
      </p:sp>
      <p:pic>
        <p:nvPicPr>
          <p:cNvPr id="17" name="Picture 16" descr="footprints_0A9955_256_2.0.png"/>
          <p:cNvPicPr>
            <a:picLocks noChangeAspect="1"/>
          </p:cNvPicPr>
          <p:nvPr/>
        </p:nvPicPr>
        <p:blipFill>
          <a:blip r:embed="rId4"/>
          <a:stretch>
            <a:fillRect/>
          </a:stretch>
        </p:blipFill>
        <p:spPr>
          <a:xfrm>
            <a:off x="654710" y="4092854"/>
            <a:ext cx="190195" cy="190195"/>
          </a:xfrm>
          <a:prstGeom prst="rect">
            <a:avLst/>
          </a:prstGeom>
        </p:spPr>
      </p:pic>
      <p:sp>
        <p:nvSpPr>
          <p:cNvPr id="18" name="TextBox 17"/>
          <p:cNvSpPr txBox="1"/>
          <p:nvPr/>
        </p:nvSpPr>
        <p:spPr>
          <a:xfrm>
            <a:off x="1097280" y="3986784"/>
            <a:ext cx="2377440" cy="457200"/>
          </a:xfrm>
          <a:prstGeom prst="rect">
            <a:avLst/>
          </a:prstGeom>
          <a:noFill/>
        </p:spPr>
        <p:txBody>
          <a:bodyPr wrap="square" lIns="0" rIns="0" tIns="0" bIns="0" anchor="t">
            <a:spAutoFit/>
          </a:bodyPr>
          <a:lstStyle/>
          <a:p>
            <a:pPr algn="l">
              <a:lnSpc>
                <a:spcPct val="105000"/>
              </a:lnSpc>
            </a:pPr>
            <a:r>
              <a:rPr sz="1100" b="1" i="0">
                <a:solidFill>
                  <a:srgbClr val="16181D"/>
                </a:solidFill>
                <a:latin typeface="Montserrat"/>
              </a:rPr>
              <a:t>It measures the road, never the school</a:t>
            </a:r>
          </a:p>
        </p:txBody>
      </p:sp>
      <p:sp>
        <p:nvSpPr>
          <p:cNvPr id="19" name="TextBox 18"/>
          <p:cNvSpPr txBox="1"/>
          <p:nvPr/>
        </p:nvSpPr>
        <p:spPr>
          <a:xfrm>
            <a:off x="3566160" y="3986784"/>
            <a:ext cx="3840480" cy="685800"/>
          </a:xfrm>
          <a:prstGeom prst="rect">
            <a:avLst/>
          </a:prstGeom>
          <a:noFill/>
        </p:spPr>
        <p:txBody>
          <a:bodyPr wrap="square" lIns="0" rIns="0" tIns="0" bIns="0" anchor="t">
            <a:spAutoFit/>
          </a:bodyPr>
          <a:lstStyle/>
          <a:p>
            <a:pPr algn="l">
              <a:lnSpc>
                <a:spcPct val="122000"/>
              </a:lnSpc>
            </a:pPr>
            <a:r>
              <a:rPr sz="900" b="0" i="0">
                <a:solidFill>
                  <a:srgbClr val="6E7180"/>
                </a:solidFill>
                <a:latin typeface="Geist"/>
              </a:rPr>
              <a:t>A low score is a demand on the road-owning authority, not a criticism of the school. The worst zones feed our student field audits, the 41-check ground tier.</a:t>
            </a:r>
          </a:p>
        </p:txBody>
      </p:sp>
      <p:sp>
        <p:nvSpPr>
          <p:cNvPr id="20" name="Rounded Rectangle 19"/>
          <p:cNvSpPr/>
          <p:nvPr/>
        </p:nvSpPr>
        <p:spPr>
          <a:xfrm>
            <a:off x="566928" y="5047488"/>
            <a:ext cx="2212848" cy="1133856"/>
          </a:xfrm>
          <a:prstGeom prst="roundRect">
            <a:avLst>
              <a:gd name="adj" fmla="val 10000"/>
            </a:avLst>
          </a:prstGeom>
          <a:solidFill>
            <a:srgbClr val="F7F7FA"/>
          </a:solidFill>
          <a:ln>
            <a:noFill/>
          </a:ln>
          <a:effectLst/>
        </p:spPr>
        <p:txBody>
          <a:bodyPr rtlCol="0" anchor="ctr"/>
          <a:lstStyle/>
          <a:p>
            <a:pPr algn="ctr"/>
          </a:p>
        </p:txBody>
      </p:sp>
      <p:sp>
        <p:nvSpPr>
          <p:cNvPr id="21" name="TextBox 20"/>
          <p:cNvSpPr txBox="1"/>
          <p:nvPr/>
        </p:nvSpPr>
        <p:spPr>
          <a:xfrm>
            <a:off x="704088" y="5138928"/>
            <a:ext cx="1938528" cy="365760"/>
          </a:xfrm>
          <a:prstGeom prst="rect">
            <a:avLst/>
          </a:prstGeom>
          <a:noFill/>
        </p:spPr>
        <p:txBody>
          <a:bodyPr wrap="square" lIns="0" rIns="0" tIns="0" bIns="0" anchor="t">
            <a:spAutoFit/>
          </a:bodyPr>
          <a:lstStyle/>
          <a:p>
            <a:pPr algn="l">
              <a:lnSpc>
                <a:spcPct val="128000"/>
              </a:lnSpc>
            </a:pPr>
            <a:r>
              <a:rPr sz="1700" b="1" i="0">
                <a:solidFill>
                  <a:srgbClr val="4A35FF"/>
                </a:solidFill>
                <a:latin typeface="Montserrat"/>
              </a:rPr>
              <a:t>~10,000</a:t>
            </a:r>
          </a:p>
        </p:txBody>
      </p:sp>
      <p:sp>
        <p:nvSpPr>
          <p:cNvPr id="22" name="TextBox 21"/>
          <p:cNvSpPr txBox="1"/>
          <p:nvPr/>
        </p:nvSpPr>
        <p:spPr>
          <a:xfrm>
            <a:off x="704088" y="5522976"/>
            <a:ext cx="1938528" cy="621792"/>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minors died on Indian roads in 2023 (MoRTH)</a:t>
            </a:r>
          </a:p>
        </p:txBody>
      </p:sp>
      <p:sp>
        <p:nvSpPr>
          <p:cNvPr id="23" name="Rounded Rectangle 22"/>
          <p:cNvSpPr/>
          <p:nvPr/>
        </p:nvSpPr>
        <p:spPr>
          <a:xfrm>
            <a:off x="2907792" y="5047488"/>
            <a:ext cx="2212848" cy="1133856"/>
          </a:xfrm>
          <a:prstGeom prst="roundRect">
            <a:avLst>
              <a:gd name="adj" fmla="val 10000"/>
            </a:avLst>
          </a:prstGeom>
          <a:solidFill>
            <a:srgbClr val="F7F7FA"/>
          </a:solidFill>
          <a:ln>
            <a:noFill/>
          </a:ln>
          <a:effectLst/>
        </p:spPr>
        <p:txBody>
          <a:bodyPr rtlCol="0" anchor="ctr"/>
          <a:lstStyle/>
          <a:p>
            <a:pPr algn="ctr"/>
          </a:p>
        </p:txBody>
      </p:sp>
      <p:sp>
        <p:nvSpPr>
          <p:cNvPr id="24" name="TextBox 23"/>
          <p:cNvSpPr txBox="1"/>
          <p:nvPr/>
        </p:nvSpPr>
        <p:spPr>
          <a:xfrm>
            <a:off x="3044952" y="5138928"/>
            <a:ext cx="1938528" cy="365760"/>
          </a:xfrm>
          <a:prstGeom prst="rect">
            <a:avLst/>
          </a:prstGeom>
          <a:noFill/>
        </p:spPr>
        <p:txBody>
          <a:bodyPr wrap="square" lIns="0" rIns="0" tIns="0" bIns="0" anchor="t">
            <a:spAutoFit/>
          </a:bodyPr>
          <a:lstStyle/>
          <a:p>
            <a:pPr algn="l">
              <a:lnSpc>
                <a:spcPct val="128000"/>
              </a:lnSpc>
            </a:pPr>
            <a:r>
              <a:rPr sz="1700" b="1" i="0">
                <a:solidFill>
                  <a:srgbClr val="4A35FF"/>
                </a:solidFill>
                <a:latin typeface="Montserrat"/>
              </a:rPr>
              <a:t>4.6%</a:t>
            </a:r>
          </a:p>
        </p:txBody>
      </p:sp>
      <p:sp>
        <p:nvSpPr>
          <p:cNvPr id="25" name="TextBox 24"/>
          <p:cNvSpPr txBox="1"/>
          <p:nvPr/>
        </p:nvSpPr>
        <p:spPr>
          <a:xfrm>
            <a:off x="3044952" y="5522976"/>
            <a:ext cx="1938528" cy="621792"/>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of crashes occur in school and college zones (e-DAR 2024)</a:t>
            </a:r>
          </a:p>
        </p:txBody>
      </p:sp>
      <p:sp>
        <p:nvSpPr>
          <p:cNvPr id="26" name="Rounded Rectangle 25"/>
          <p:cNvSpPr/>
          <p:nvPr/>
        </p:nvSpPr>
        <p:spPr>
          <a:xfrm>
            <a:off x="5248656" y="5047488"/>
            <a:ext cx="2212848" cy="1133856"/>
          </a:xfrm>
          <a:prstGeom prst="roundRect">
            <a:avLst>
              <a:gd name="adj" fmla="val 10000"/>
            </a:avLst>
          </a:prstGeom>
          <a:solidFill>
            <a:srgbClr val="F7F7FA"/>
          </a:solidFill>
          <a:ln>
            <a:noFill/>
          </a:ln>
          <a:effectLst/>
        </p:spPr>
        <p:txBody>
          <a:bodyPr rtlCol="0" anchor="ctr"/>
          <a:lstStyle/>
          <a:p>
            <a:pPr algn="ctr"/>
          </a:p>
        </p:txBody>
      </p:sp>
      <p:sp>
        <p:nvSpPr>
          <p:cNvPr id="27" name="TextBox 26"/>
          <p:cNvSpPr txBox="1"/>
          <p:nvPr/>
        </p:nvSpPr>
        <p:spPr>
          <a:xfrm>
            <a:off x="5385816" y="5138928"/>
            <a:ext cx="1938528" cy="365760"/>
          </a:xfrm>
          <a:prstGeom prst="rect">
            <a:avLst/>
          </a:prstGeom>
          <a:noFill/>
        </p:spPr>
        <p:txBody>
          <a:bodyPr wrap="square" lIns="0" rIns="0" tIns="0" bIns="0" anchor="t">
            <a:spAutoFit/>
          </a:bodyPr>
          <a:lstStyle/>
          <a:p>
            <a:pPr algn="l">
              <a:lnSpc>
                <a:spcPct val="128000"/>
              </a:lnSpc>
            </a:pPr>
            <a:r>
              <a:rPr sz="1700" b="1" i="0">
                <a:solidFill>
                  <a:srgbClr val="4A35FF"/>
                </a:solidFill>
                <a:latin typeface="Montserrat"/>
              </a:rPr>
              <a:t>730+</a:t>
            </a:r>
          </a:p>
        </p:txBody>
      </p:sp>
      <p:sp>
        <p:nvSpPr>
          <p:cNvPr id="28" name="TextBox 27"/>
          <p:cNvSpPr txBox="1"/>
          <p:nvPr/>
        </p:nvSpPr>
        <p:spPr>
          <a:xfrm>
            <a:off x="5385816" y="5522976"/>
            <a:ext cx="1938528" cy="621792"/>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schools graded from imagery worldwide, validating the method (iRAP)</a:t>
            </a:r>
          </a:p>
        </p:txBody>
      </p:sp>
      <p:pic>
        <p:nvPicPr>
          <p:cNvPr id="29" name="Picture 28" descr="slide_ssi_index.png_4.15x3.62_0.00.jpg"/>
          <p:cNvPicPr>
            <a:picLocks noChangeAspect="1"/>
          </p:cNvPicPr>
          <p:nvPr/>
        </p:nvPicPr>
        <p:blipFill>
          <a:blip r:embed="rId5"/>
          <a:stretch>
            <a:fillRect/>
          </a:stretch>
        </p:blipFill>
        <p:spPr>
          <a:xfrm>
            <a:off x="7818120" y="2212848"/>
            <a:ext cx="3794760" cy="3310128"/>
          </a:xfrm>
          <a:prstGeom prst="rect">
            <a:avLst/>
          </a:prstGeom>
        </p:spPr>
      </p:pic>
      <p:sp>
        <p:nvSpPr>
          <p:cNvPr id="30" name="Rectangle 29"/>
          <p:cNvSpPr/>
          <p:nvPr/>
        </p:nvSpPr>
        <p:spPr>
          <a:xfrm>
            <a:off x="7818120" y="2212848"/>
            <a:ext cx="3794760" cy="3310128"/>
          </a:xfrm>
          <a:prstGeom prst="rect">
            <a:avLst/>
          </a:prstGeom>
          <a:noFill/>
          <a:ln w="12700">
            <a:solidFill>
              <a:srgbClr val="E8E9EE"/>
            </a:solidFill>
          </a:ln>
          <a:effectLst/>
        </p:spPr>
        <p:txBody>
          <a:bodyPr rtlCol="0" anchor="ctr"/>
          <a:lstStyle/>
          <a:p>
            <a:pPr algn="ctr"/>
          </a:p>
        </p:txBody>
      </p:sp>
      <p:sp>
        <p:nvSpPr>
          <p:cNvPr id="31" name="TextBox 30"/>
          <p:cNvSpPr txBox="1"/>
          <p:nvPr/>
        </p:nvSpPr>
        <p:spPr>
          <a:xfrm>
            <a:off x="7818120" y="5568696"/>
            <a:ext cx="379476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The pilot dashboard: score-first, evidence-pinned. Delhi and Jaipur batches are in build now.</a:t>
            </a:r>
          </a:p>
        </p:txBody>
      </p:sp>
      <p:cxnSp>
        <p:nvCxnSpPr>
          <p:cNvPr id="32" name="Connector 31"/>
          <p:cNvCxnSpPr/>
          <p:nvPr/>
        </p:nvCxnSpPr>
        <p:spPr>
          <a:xfrm>
            <a:off x="566928" y="6455664"/>
            <a:ext cx="11057839" cy="0"/>
          </a:xfrm>
          <a:prstGeom prst="line">
            <a:avLst/>
          </a:prstGeom>
          <a:ln w="9525">
            <a:solidFill>
              <a:srgbClr val="E8E9EE"/>
            </a:solidFill>
          </a:ln>
          <a:effectLst/>
        </p:spPr>
      </p:cxnSp>
      <p:sp>
        <p:nvSpPr>
          <p:cNvPr id="33" name="TextBox 32"/>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34" name="TextBox 3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IN THE NEWS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work, </a:t>
            </a:r>
            <a:r>
              <a:rPr sz="2250" b="1" i="0">
                <a:solidFill>
                  <a:srgbClr val="4A35FF"/>
                </a:solidFill>
                <a:latin typeface="Montserrat"/>
              </a:rPr>
              <a:t>as the press tells it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National newsrooms cite our research, cover our deployments, and quote our researchers by name.</a:t>
            </a:r>
          </a:p>
        </p:txBody>
      </p:sp>
      <p:sp>
        <p:nvSpPr>
          <p:cNvPr id="8" name="Rounded Rectangle 7"/>
          <p:cNvSpPr/>
          <p:nvPr/>
        </p:nvSpPr>
        <p:spPr>
          <a:xfrm>
            <a:off x="566928" y="2103120"/>
            <a:ext cx="3611880" cy="1810512"/>
          </a:xfrm>
          <a:prstGeom prst="roundRect">
            <a:avLst>
              <a:gd name="adj" fmla="val 7000"/>
            </a:avLst>
          </a:prstGeom>
          <a:solidFill>
            <a:srgbClr val="FFFFFF"/>
          </a:solidFill>
          <a:ln w="12700">
            <a:solidFill>
              <a:srgbClr val="E8E9EE"/>
            </a:solidFill>
          </a:ln>
          <a:effectLst/>
        </p:spPr>
        <p:txBody>
          <a:bodyPr rtlCol="0" anchor="ctr"/>
          <a:lstStyle/>
          <a:p>
            <a:pPr algn="ctr"/>
          </a:p>
        </p:txBody>
      </p:sp>
      <p:sp>
        <p:nvSpPr>
          <p:cNvPr id="9" name="TextBox 8"/>
          <p:cNvSpPr txBox="1"/>
          <p:nvPr/>
        </p:nvSpPr>
        <p:spPr>
          <a:xfrm>
            <a:off x="749808" y="2231136"/>
            <a:ext cx="3246120" cy="219456"/>
          </a:xfrm>
          <a:prstGeom prst="rect">
            <a:avLst/>
          </a:prstGeom>
          <a:noFill/>
        </p:spPr>
        <p:txBody>
          <a:bodyPr wrap="square" lIns="0" rIns="0" tIns="0" bIns="0" anchor="t">
            <a:spAutoFit/>
          </a:bodyPr>
          <a:lstStyle/>
          <a:p>
            <a:pPr algn="l">
              <a:lnSpc>
                <a:spcPct val="128000"/>
              </a:lnSpc>
            </a:pPr>
            <a:r>
              <a:rPr sz="750" b="1" i="0" spc="120">
                <a:solidFill>
                  <a:srgbClr val="4A35FF"/>
                </a:solidFill>
                <a:latin typeface="Montserrat"/>
              </a:rPr>
              <a:t>DECCAN HERALD  ·  MARCH 2026</a:t>
            </a:r>
          </a:p>
        </p:txBody>
      </p:sp>
      <p:sp>
        <p:nvSpPr>
          <p:cNvPr id="10" name="TextBox 9"/>
          <p:cNvSpPr txBox="1"/>
          <p:nvPr/>
        </p:nvSpPr>
        <p:spPr>
          <a:xfrm>
            <a:off x="749808" y="2487168"/>
            <a:ext cx="3246120" cy="777240"/>
          </a:xfrm>
          <a:prstGeom prst="rect">
            <a:avLst/>
          </a:prstGeom>
          <a:noFill/>
        </p:spPr>
        <p:txBody>
          <a:bodyPr wrap="square" lIns="0" rIns="0" tIns="0" bIns="0" anchor="t">
            <a:spAutoFit/>
          </a:bodyPr>
          <a:lstStyle/>
          <a:p>
            <a:pPr algn="l">
              <a:lnSpc>
                <a:spcPct val="115000"/>
              </a:lnSpc>
            </a:pPr>
            <a:r>
              <a:rPr sz="1000" b="1" i="0">
                <a:solidFill>
                  <a:srgbClr val="16181D"/>
                </a:solidFill>
                <a:latin typeface="Montserrat"/>
              </a:rPr>
              <a:t>'Road crash victims struggle as ₹80,000 crore compensation lies unpaid'</a:t>
            </a:r>
          </a:p>
        </p:txBody>
      </p:sp>
      <p:sp>
        <p:nvSpPr>
          <p:cNvPr id="11" name="TextBox 10"/>
          <p:cNvSpPr txBox="1"/>
          <p:nvPr/>
        </p:nvSpPr>
        <p:spPr>
          <a:xfrm>
            <a:off x="749808" y="3310128"/>
            <a:ext cx="3246120" cy="530352"/>
          </a:xfrm>
          <a:prstGeom prst="rect">
            <a:avLst/>
          </a:prstGeom>
          <a:noFill/>
        </p:spPr>
        <p:txBody>
          <a:bodyPr wrap="square" lIns="0" rIns="0" tIns="0" bIns="0" anchor="t">
            <a:spAutoFit/>
          </a:bodyPr>
          <a:lstStyle/>
          <a:p>
            <a:pPr algn="l">
              <a:lnSpc>
                <a:spcPct val="120000"/>
              </a:lnSpc>
            </a:pPr>
            <a:r>
              <a:rPr sz="800" b="0" i="0">
                <a:solidFill>
                  <a:srgbClr val="6E7180"/>
                </a:solidFill>
                <a:latin typeface="Geist"/>
              </a:rPr>
              <a:t>National coverage of our 'Justice Unserved' brief; the paper hosts the full report for its readers.</a:t>
            </a:r>
          </a:p>
        </p:txBody>
      </p:sp>
      <p:sp>
        <p:nvSpPr>
          <p:cNvPr id="12" name="Rounded Rectangle 11"/>
          <p:cNvSpPr/>
          <p:nvPr/>
        </p:nvSpPr>
        <p:spPr>
          <a:xfrm>
            <a:off x="4302252" y="2103120"/>
            <a:ext cx="3611880" cy="1810512"/>
          </a:xfrm>
          <a:prstGeom prst="roundRect">
            <a:avLst>
              <a:gd name="adj" fmla="val 7000"/>
            </a:avLst>
          </a:prstGeom>
          <a:solidFill>
            <a:srgbClr val="FFFFFF"/>
          </a:solidFill>
          <a:ln w="12700">
            <a:solidFill>
              <a:srgbClr val="E8E9EE"/>
            </a:solidFill>
          </a:ln>
          <a:effectLst/>
        </p:spPr>
        <p:txBody>
          <a:bodyPr rtlCol="0" anchor="ctr"/>
          <a:lstStyle/>
          <a:p>
            <a:pPr algn="ctr"/>
          </a:p>
        </p:txBody>
      </p:sp>
      <p:sp>
        <p:nvSpPr>
          <p:cNvPr id="13" name="TextBox 12"/>
          <p:cNvSpPr txBox="1"/>
          <p:nvPr/>
        </p:nvSpPr>
        <p:spPr>
          <a:xfrm>
            <a:off x="4485132" y="2231136"/>
            <a:ext cx="3246120" cy="219456"/>
          </a:xfrm>
          <a:prstGeom prst="rect">
            <a:avLst/>
          </a:prstGeom>
          <a:noFill/>
        </p:spPr>
        <p:txBody>
          <a:bodyPr wrap="square" lIns="0" rIns="0" tIns="0" bIns="0" anchor="t">
            <a:spAutoFit/>
          </a:bodyPr>
          <a:lstStyle/>
          <a:p>
            <a:pPr algn="l">
              <a:lnSpc>
                <a:spcPct val="128000"/>
              </a:lnSpc>
            </a:pPr>
            <a:r>
              <a:rPr sz="750" b="1" i="0" spc="120">
                <a:solidFill>
                  <a:srgbClr val="4A35FF"/>
                </a:solidFill>
                <a:latin typeface="Montserrat"/>
              </a:rPr>
              <a:t>INDIASPEND  ·  THE WIRE  ·  MAY 2026</a:t>
            </a:r>
          </a:p>
        </p:txBody>
      </p:sp>
      <p:sp>
        <p:nvSpPr>
          <p:cNvPr id="14" name="TextBox 13"/>
          <p:cNvSpPr txBox="1"/>
          <p:nvPr/>
        </p:nvSpPr>
        <p:spPr>
          <a:xfrm>
            <a:off x="4485132" y="2487168"/>
            <a:ext cx="3246120" cy="777240"/>
          </a:xfrm>
          <a:prstGeom prst="rect">
            <a:avLst/>
          </a:prstGeom>
          <a:noFill/>
        </p:spPr>
        <p:txBody>
          <a:bodyPr wrap="square" lIns="0" rIns="0" tIns="0" bIns="0" anchor="t">
            <a:spAutoFit/>
          </a:bodyPr>
          <a:lstStyle/>
          <a:p>
            <a:pPr algn="l">
              <a:lnSpc>
                <a:spcPct val="115000"/>
              </a:lnSpc>
            </a:pPr>
            <a:r>
              <a:rPr sz="1000" b="1" i="0">
                <a:solidFill>
                  <a:srgbClr val="16181D"/>
                </a:solidFill>
                <a:latin typeface="Montserrat"/>
              </a:rPr>
              <a:t>'For India's road accident survivors, legal compensation is elusive'</a:t>
            </a:r>
          </a:p>
        </p:txBody>
      </p:sp>
      <p:sp>
        <p:nvSpPr>
          <p:cNvPr id="15" name="TextBox 14"/>
          <p:cNvSpPr txBox="1"/>
          <p:nvPr/>
        </p:nvSpPr>
        <p:spPr>
          <a:xfrm>
            <a:off x="4485132" y="3310128"/>
            <a:ext cx="3246120" cy="530352"/>
          </a:xfrm>
          <a:prstGeom prst="rect">
            <a:avLst/>
          </a:prstGeom>
          <a:noFill/>
        </p:spPr>
        <p:txBody>
          <a:bodyPr wrap="square" lIns="0" rIns="0" tIns="0" bIns="0" anchor="t">
            <a:spAutoFit/>
          </a:bodyPr>
          <a:lstStyle/>
          <a:p>
            <a:pPr algn="l">
              <a:lnSpc>
                <a:spcPct val="120000"/>
              </a:lnSpc>
            </a:pPr>
            <a:r>
              <a:rPr sz="800" b="0" i="0">
                <a:solidFill>
                  <a:srgbClr val="6E7180"/>
                </a:solidFill>
                <a:latin typeface="Geist"/>
              </a:rPr>
              <a:t>Quotes our research lead Kesar Kanjhlia on where claims stall; republished by The Wire.</a:t>
            </a:r>
          </a:p>
        </p:txBody>
      </p:sp>
      <p:sp>
        <p:nvSpPr>
          <p:cNvPr id="16" name="Rounded Rectangle 15"/>
          <p:cNvSpPr/>
          <p:nvPr/>
        </p:nvSpPr>
        <p:spPr>
          <a:xfrm>
            <a:off x="8037576" y="2103120"/>
            <a:ext cx="3611880" cy="1810512"/>
          </a:xfrm>
          <a:prstGeom prst="roundRect">
            <a:avLst>
              <a:gd name="adj" fmla="val 7000"/>
            </a:avLst>
          </a:prstGeom>
          <a:solidFill>
            <a:srgbClr val="FFFFFF"/>
          </a:solidFill>
          <a:ln w="12700">
            <a:solidFill>
              <a:srgbClr val="E8E9EE"/>
            </a:solidFill>
          </a:ln>
          <a:effectLst/>
        </p:spPr>
        <p:txBody>
          <a:bodyPr rtlCol="0" anchor="ctr"/>
          <a:lstStyle/>
          <a:p>
            <a:pPr algn="ctr"/>
          </a:p>
        </p:txBody>
      </p:sp>
      <p:sp>
        <p:nvSpPr>
          <p:cNvPr id="17" name="TextBox 16"/>
          <p:cNvSpPr txBox="1"/>
          <p:nvPr/>
        </p:nvSpPr>
        <p:spPr>
          <a:xfrm>
            <a:off x="8220456" y="2231136"/>
            <a:ext cx="3246120" cy="219456"/>
          </a:xfrm>
          <a:prstGeom prst="rect">
            <a:avLst/>
          </a:prstGeom>
          <a:noFill/>
        </p:spPr>
        <p:txBody>
          <a:bodyPr wrap="square" lIns="0" rIns="0" tIns="0" bIns="0" anchor="t">
            <a:spAutoFit/>
          </a:bodyPr>
          <a:lstStyle/>
          <a:p>
            <a:pPr algn="l">
              <a:lnSpc>
                <a:spcPct val="128000"/>
              </a:lnSpc>
            </a:pPr>
            <a:r>
              <a:rPr sz="750" b="1" i="0" spc="120">
                <a:solidFill>
                  <a:srgbClr val="4A35FF"/>
                </a:solidFill>
                <a:latin typeface="Montserrat"/>
              </a:rPr>
              <a:t>INDIASPEND  ·  MARCH 2026</a:t>
            </a:r>
          </a:p>
        </p:txBody>
      </p:sp>
      <p:sp>
        <p:nvSpPr>
          <p:cNvPr id="18" name="TextBox 17"/>
          <p:cNvSpPr txBox="1"/>
          <p:nvPr/>
        </p:nvSpPr>
        <p:spPr>
          <a:xfrm>
            <a:off x="8220456" y="2487168"/>
            <a:ext cx="3246120" cy="777240"/>
          </a:xfrm>
          <a:prstGeom prst="rect">
            <a:avLst/>
          </a:prstGeom>
          <a:noFill/>
        </p:spPr>
        <p:txBody>
          <a:bodyPr wrap="square" lIns="0" rIns="0" tIns="0" bIns="0" anchor="t">
            <a:spAutoFit/>
          </a:bodyPr>
          <a:lstStyle/>
          <a:p>
            <a:pPr algn="l">
              <a:lnSpc>
                <a:spcPct val="115000"/>
              </a:lnSpc>
            </a:pPr>
            <a:r>
              <a:rPr sz="1000" b="1" i="0">
                <a:solidFill>
                  <a:srgbClr val="16181D"/>
                </a:solidFill>
                <a:latin typeface="Montserrat"/>
              </a:rPr>
              <a:t>'One crash, years of crisis: the hidden scale of serious road injuries'</a:t>
            </a:r>
          </a:p>
        </p:txBody>
      </p:sp>
      <p:sp>
        <p:nvSpPr>
          <p:cNvPr id="19" name="TextBox 18"/>
          <p:cNvSpPr txBox="1"/>
          <p:nvPr/>
        </p:nvSpPr>
        <p:spPr>
          <a:xfrm>
            <a:off x="8220456" y="3310128"/>
            <a:ext cx="3246120" cy="530352"/>
          </a:xfrm>
          <a:prstGeom prst="rect">
            <a:avLst/>
          </a:prstGeom>
          <a:noFill/>
        </p:spPr>
        <p:txBody>
          <a:bodyPr wrap="square" lIns="0" rIns="0" tIns="0" bIns="0" anchor="t">
            <a:spAutoFit/>
          </a:bodyPr>
          <a:lstStyle/>
          <a:p>
            <a:pPr algn="l">
              <a:lnSpc>
                <a:spcPct val="120000"/>
              </a:lnSpc>
            </a:pPr>
            <a:r>
              <a:rPr sz="800" b="0" i="0">
                <a:solidFill>
                  <a:srgbClr val="6E7180"/>
                </a:solidFill>
                <a:latin typeface="Geist"/>
              </a:rPr>
              <a:t>Cites our gig-rider research; quotes Aastha Shreeharsh on the risk data India does not yet collect.</a:t>
            </a:r>
          </a:p>
        </p:txBody>
      </p:sp>
      <p:sp>
        <p:nvSpPr>
          <p:cNvPr id="20" name="Rounded Rectangle 19"/>
          <p:cNvSpPr/>
          <p:nvPr/>
        </p:nvSpPr>
        <p:spPr>
          <a:xfrm>
            <a:off x="566928" y="4059936"/>
            <a:ext cx="3611880" cy="1810512"/>
          </a:xfrm>
          <a:prstGeom prst="roundRect">
            <a:avLst>
              <a:gd name="adj" fmla="val 7000"/>
            </a:avLst>
          </a:prstGeom>
          <a:solidFill>
            <a:srgbClr val="FFFFFF"/>
          </a:solidFill>
          <a:ln w="12700">
            <a:solidFill>
              <a:srgbClr val="E8E9EE"/>
            </a:solidFill>
          </a:ln>
          <a:effectLst/>
        </p:spPr>
        <p:txBody>
          <a:bodyPr rtlCol="0" anchor="ctr"/>
          <a:lstStyle/>
          <a:p>
            <a:pPr algn="ctr"/>
          </a:p>
        </p:txBody>
      </p:sp>
      <p:sp>
        <p:nvSpPr>
          <p:cNvPr id="21" name="TextBox 20"/>
          <p:cNvSpPr txBox="1"/>
          <p:nvPr/>
        </p:nvSpPr>
        <p:spPr>
          <a:xfrm>
            <a:off x="749808" y="4187952"/>
            <a:ext cx="3246120" cy="219456"/>
          </a:xfrm>
          <a:prstGeom prst="rect">
            <a:avLst/>
          </a:prstGeom>
          <a:noFill/>
        </p:spPr>
        <p:txBody>
          <a:bodyPr wrap="square" lIns="0" rIns="0" tIns="0" bIns="0" anchor="t">
            <a:spAutoFit/>
          </a:bodyPr>
          <a:lstStyle/>
          <a:p>
            <a:pPr algn="l">
              <a:lnSpc>
                <a:spcPct val="128000"/>
              </a:lnSpc>
            </a:pPr>
            <a:r>
              <a:rPr sz="750" b="1" i="0" spc="120">
                <a:solidFill>
                  <a:srgbClr val="4A35FF"/>
                </a:solidFill>
                <a:latin typeface="Montserrat"/>
              </a:rPr>
              <a:t>DECCAN HERALD  ·  BENGALURU</a:t>
            </a:r>
          </a:p>
        </p:txBody>
      </p:sp>
      <p:sp>
        <p:nvSpPr>
          <p:cNvPr id="22" name="TextBox 21"/>
          <p:cNvSpPr txBox="1"/>
          <p:nvPr/>
        </p:nvSpPr>
        <p:spPr>
          <a:xfrm>
            <a:off x="749808" y="4443984"/>
            <a:ext cx="3246120" cy="777240"/>
          </a:xfrm>
          <a:prstGeom prst="rect">
            <a:avLst/>
          </a:prstGeom>
          <a:noFill/>
        </p:spPr>
        <p:txBody>
          <a:bodyPr wrap="square" lIns="0" rIns="0" tIns="0" bIns="0" anchor="t">
            <a:spAutoFit/>
          </a:bodyPr>
          <a:lstStyle/>
          <a:p>
            <a:pPr algn="l">
              <a:lnSpc>
                <a:spcPct val="115000"/>
              </a:lnSpc>
            </a:pPr>
            <a:r>
              <a:rPr sz="1000" b="1" i="0">
                <a:solidFill>
                  <a:srgbClr val="16181D"/>
                </a:solidFill>
                <a:latin typeface="Montserrat"/>
              </a:rPr>
              <a:t>'Big Boss' watching: billboard at Trinity Circle shows violations in real time</a:t>
            </a:r>
          </a:p>
        </p:txBody>
      </p:sp>
      <p:sp>
        <p:nvSpPr>
          <p:cNvPr id="23" name="TextBox 22"/>
          <p:cNvSpPr txBox="1"/>
          <p:nvPr/>
        </p:nvSpPr>
        <p:spPr>
          <a:xfrm>
            <a:off x="749808" y="5266944"/>
            <a:ext cx="3246120" cy="530352"/>
          </a:xfrm>
          <a:prstGeom prst="rect">
            <a:avLst/>
          </a:prstGeom>
          <a:noFill/>
        </p:spPr>
        <p:txBody>
          <a:bodyPr wrap="square" lIns="0" rIns="0" tIns="0" bIns="0" anchor="t">
            <a:spAutoFit/>
          </a:bodyPr>
          <a:lstStyle/>
          <a:p>
            <a:pPr algn="l">
              <a:lnSpc>
                <a:spcPct val="120000"/>
              </a:lnSpc>
            </a:pPr>
            <a:r>
              <a:rPr sz="800" b="0" i="0">
                <a:solidFill>
                  <a:srgbClr val="6E7180"/>
                </a:solidFill>
                <a:latin typeface="Geist"/>
              </a:rPr>
              <a:t>Our live challan billboard with Bengaluru Traffic Police, built with Cars24.</a:t>
            </a:r>
          </a:p>
        </p:txBody>
      </p:sp>
      <p:sp>
        <p:nvSpPr>
          <p:cNvPr id="24" name="Rounded Rectangle 23"/>
          <p:cNvSpPr/>
          <p:nvPr/>
        </p:nvSpPr>
        <p:spPr>
          <a:xfrm>
            <a:off x="4302252" y="4059936"/>
            <a:ext cx="3611880" cy="1810512"/>
          </a:xfrm>
          <a:prstGeom prst="roundRect">
            <a:avLst>
              <a:gd name="adj" fmla="val 7000"/>
            </a:avLst>
          </a:prstGeom>
          <a:solidFill>
            <a:srgbClr val="FFFFFF"/>
          </a:solidFill>
          <a:ln w="12700">
            <a:solidFill>
              <a:srgbClr val="E8E9EE"/>
            </a:solidFill>
          </a:ln>
          <a:effectLst/>
        </p:spPr>
        <p:txBody>
          <a:bodyPr rtlCol="0" anchor="ctr"/>
          <a:lstStyle/>
          <a:p>
            <a:pPr algn="ctr"/>
          </a:p>
        </p:txBody>
      </p:sp>
      <p:sp>
        <p:nvSpPr>
          <p:cNvPr id="25" name="TextBox 24"/>
          <p:cNvSpPr txBox="1"/>
          <p:nvPr/>
        </p:nvSpPr>
        <p:spPr>
          <a:xfrm>
            <a:off x="4485132" y="4187952"/>
            <a:ext cx="3246120" cy="219456"/>
          </a:xfrm>
          <a:prstGeom prst="rect">
            <a:avLst/>
          </a:prstGeom>
          <a:noFill/>
        </p:spPr>
        <p:txBody>
          <a:bodyPr wrap="square" lIns="0" rIns="0" tIns="0" bIns="0" anchor="t">
            <a:spAutoFit/>
          </a:bodyPr>
          <a:lstStyle/>
          <a:p>
            <a:pPr algn="l">
              <a:lnSpc>
                <a:spcPct val="128000"/>
              </a:lnSpc>
            </a:pPr>
            <a:r>
              <a:rPr sz="750" b="1" i="0" spc="120">
                <a:solidFill>
                  <a:srgbClr val="4A35FF"/>
                </a:solidFill>
                <a:latin typeface="Montserrat"/>
              </a:rPr>
              <a:t>THE LOGICAL INDIAN  &amp;  OTHERS</a:t>
            </a:r>
          </a:p>
        </p:txBody>
      </p:sp>
      <p:sp>
        <p:nvSpPr>
          <p:cNvPr id="26" name="TextBox 25"/>
          <p:cNvSpPr txBox="1"/>
          <p:nvPr/>
        </p:nvSpPr>
        <p:spPr>
          <a:xfrm>
            <a:off x="4485132" y="4443984"/>
            <a:ext cx="3246120" cy="777240"/>
          </a:xfrm>
          <a:prstGeom prst="rect">
            <a:avLst/>
          </a:prstGeom>
          <a:noFill/>
        </p:spPr>
        <p:txBody>
          <a:bodyPr wrap="square" lIns="0" rIns="0" tIns="0" bIns="0" anchor="t">
            <a:spAutoFit/>
          </a:bodyPr>
          <a:lstStyle/>
          <a:p>
            <a:pPr algn="l">
              <a:lnSpc>
                <a:spcPct val="115000"/>
              </a:lnSpc>
            </a:pPr>
            <a:r>
              <a:rPr sz="1000" b="1" i="0">
                <a:solidFill>
                  <a:srgbClr val="16181D"/>
                </a:solidFill>
                <a:latin typeface="Montserrat"/>
              </a:rPr>
              <a:t>'India's first AI-powered billboard to display pending challans in real time'</a:t>
            </a:r>
          </a:p>
        </p:txBody>
      </p:sp>
      <p:sp>
        <p:nvSpPr>
          <p:cNvPr id="27" name="TextBox 26"/>
          <p:cNvSpPr txBox="1"/>
          <p:nvPr/>
        </p:nvSpPr>
        <p:spPr>
          <a:xfrm>
            <a:off x="4485132" y="5266944"/>
            <a:ext cx="3246120" cy="530352"/>
          </a:xfrm>
          <a:prstGeom prst="rect">
            <a:avLst/>
          </a:prstGeom>
          <a:noFill/>
        </p:spPr>
        <p:txBody>
          <a:bodyPr wrap="square" lIns="0" rIns="0" tIns="0" bIns="0" anchor="t">
            <a:spAutoFit/>
          </a:bodyPr>
          <a:lstStyle/>
          <a:p>
            <a:pPr algn="l">
              <a:lnSpc>
                <a:spcPct val="120000"/>
              </a:lnSpc>
            </a:pPr>
            <a:r>
              <a:rPr sz="800" b="0" i="0">
                <a:solidFill>
                  <a:srgbClr val="6E7180"/>
                </a:solidFill>
                <a:latin typeface="Geist"/>
              </a:rPr>
              <a:t>The same deployment, also covered by Siasat, CarToq, Media Infoline and Daily Jagran.</a:t>
            </a:r>
          </a:p>
        </p:txBody>
      </p:sp>
      <p:sp>
        <p:nvSpPr>
          <p:cNvPr id="28" name="Rounded Rectangle 27"/>
          <p:cNvSpPr/>
          <p:nvPr/>
        </p:nvSpPr>
        <p:spPr>
          <a:xfrm>
            <a:off x="8037576" y="4059936"/>
            <a:ext cx="3611880" cy="1810512"/>
          </a:xfrm>
          <a:prstGeom prst="roundRect">
            <a:avLst>
              <a:gd name="adj" fmla="val 7000"/>
            </a:avLst>
          </a:prstGeom>
          <a:solidFill>
            <a:srgbClr val="FFFFFF"/>
          </a:solidFill>
          <a:ln w="12700">
            <a:solidFill>
              <a:srgbClr val="E8E9EE"/>
            </a:solidFill>
          </a:ln>
          <a:effectLst/>
        </p:spPr>
        <p:txBody>
          <a:bodyPr rtlCol="0" anchor="ctr"/>
          <a:lstStyle/>
          <a:p>
            <a:pPr algn="ctr"/>
          </a:p>
        </p:txBody>
      </p:sp>
      <p:sp>
        <p:nvSpPr>
          <p:cNvPr id="29" name="TextBox 28"/>
          <p:cNvSpPr txBox="1"/>
          <p:nvPr/>
        </p:nvSpPr>
        <p:spPr>
          <a:xfrm>
            <a:off x="8220456" y="4187952"/>
            <a:ext cx="3246120" cy="219456"/>
          </a:xfrm>
          <a:prstGeom prst="rect">
            <a:avLst/>
          </a:prstGeom>
          <a:noFill/>
        </p:spPr>
        <p:txBody>
          <a:bodyPr wrap="square" lIns="0" rIns="0" tIns="0" bIns="0" anchor="t">
            <a:spAutoFit/>
          </a:bodyPr>
          <a:lstStyle/>
          <a:p>
            <a:pPr algn="l">
              <a:lnSpc>
                <a:spcPct val="128000"/>
              </a:lnSpc>
            </a:pPr>
            <a:r>
              <a:rPr sz="750" b="1" i="0" spc="120">
                <a:solidFill>
                  <a:srgbClr val="4A35FF"/>
                </a:solidFill>
                <a:latin typeface="Montserrat"/>
              </a:rPr>
              <a:t>FROM OUR POLICY DESK</a:t>
            </a:r>
          </a:p>
        </p:txBody>
      </p:sp>
      <p:sp>
        <p:nvSpPr>
          <p:cNvPr id="30" name="TextBox 29"/>
          <p:cNvSpPr txBox="1"/>
          <p:nvPr/>
        </p:nvSpPr>
        <p:spPr>
          <a:xfrm>
            <a:off x="8220456" y="4443984"/>
            <a:ext cx="3246120" cy="777240"/>
          </a:xfrm>
          <a:prstGeom prst="rect">
            <a:avLst/>
          </a:prstGeom>
          <a:noFill/>
        </p:spPr>
        <p:txBody>
          <a:bodyPr wrap="square" lIns="0" rIns="0" tIns="0" bIns="0" anchor="t">
            <a:spAutoFit/>
          </a:bodyPr>
          <a:lstStyle/>
          <a:p>
            <a:pPr algn="l">
              <a:lnSpc>
                <a:spcPct val="115000"/>
              </a:lnSpc>
            </a:pPr>
            <a:r>
              <a:rPr sz="1000" b="1" i="0">
                <a:solidFill>
                  <a:srgbClr val="16181D"/>
                </a:solidFill>
                <a:latin typeface="Montserrat"/>
              </a:rPr>
              <a:t>A steady line of published argument</a:t>
            </a:r>
          </a:p>
        </p:txBody>
      </p:sp>
      <p:sp>
        <p:nvSpPr>
          <p:cNvPr id="31" name="TextBox 30"/>
          <p:cNvSpPr txBox="1"/>
          <p:nvPr/>
        </p:nvSpPr>
        <p:spPr>
          <a:xfrm>
            <a:off x="8220456" y="5266944"/>
            <a:ext cx="3246120" cy="530352"/>
          </a:xfrm>
          <a:prstGeom prst="rect">
            <a:avLst/>
          </a:prstGeom>
          <a:noFill/>
        </p:spPr>
        <p:txBody>
          <a:bodyPr wrap="square" lIns="0" rIns="0" tIns="0" bIns="0" anchor="t">
            <a:spAutoFit/>
          </a:bodyPr>
          <a:lstStyle/>
          <a:p>
            <a:pPr algn="l">
              <a:lnSpc>
                <a:spcPct val="120000"/>
              </a:lnSpc>
            </a:pPr>
            <a:r>
              <a:rPr sz="800" b="0" i="0">
                <a:solidFill>
                  <a:srgbClr val="6E7180"/>
                </a:solidFill>
                <a:latin typeface="Geist"/>
              </a:rPr>
              <a:t>Articles and explainers by Shubham Kumar and our policy team, from claim pipelines to enforcement design, published through Crashfree India.</a:t>
            </a:r>
          </a:p>
        </p:txBody>
      </p:sp>
      <p:sp>
        <p:nvSpPr>
          <p:cNvPr id="32" name="TextBox 31"/>
          <p:cNvSpPr txBox="1"/>
          <p:nvPr/>
        </p:nvSpPr>
        <p:spPr>
          <a:xfrm>
            <a:off x="566928" y="6053328"/>
            <a:ext cx="11057839" cy="274320"/>
          </a:xfrm>
          <a:prstGeom prst="rect">
            <a:avLst/>
          </a:prstGeom>
          <a:noFill/>
        </p:spPr>
        <p:txBody>
          <a:bodyPr wrap="square" lIns="0" rIns="0" tIns="0" bIns="0" anchor="t">
            <a:spAutoFit/>
          </a:bodyPr>
          <a:lstStyle/>
          <a:p>
            <a:pPr algn="l">
              <a:lnSpc>
                <a:spcPct val="120000"/>
              </a:lnSpc>
            </a:pPr>
            <a:r>
              <a:rPr sz="900" b="1" i="0">
                <a:solidFill>
                  <a:srgbClr val="16181D"/>
                </a:solidFill>
                <a:latin typeface="Geist"/>
              </a:rPr>
              <a:t>Also in the record:  </a:t>
            </a:r>
            <a:r>
              <a:rPr sz="900" b="0" i="0">
                <a:solidFill>
                  <a:srgbClr val="6E7180"/>
                </a:solidFill>
                <a:latin typeface="Geist"/>
              </a:rPr>
              <a:t>'Justice Unserved' launched at IIT Delhi and presented to MoRTH · launch coverage in Team-BHP, Adgully and The CSR Universe.</a:t>
            </a:r>
          </a:p>
        </p:txBody>
      </p:sp>
      <p:cxnSp>
        <p:nvCxnSpPr>
          <p:cNvPr id="33" name="Connector 32"/>
          <p:cNvCxnSpPr/>
          <p:nvPr/>
        </p:nvCxnSpPr>
        <p:spPr>
          <a:xfrm>
            <a:off x="566928" y="6455664"/>
            <a:ext cx="11057839" cy="0"/>
          </a:xfrm>
          <a:prstGeom prst="line">
            <a:avLst/>
          </a:prstGeom>
          <a:ln w="9525">
            <a:solidFill>
              <a:srgbClr val="E8E9EE"/>
            </a:solidFill>
          </a:ln>
          <a:effectLst/>
        </p:spPr>
      </p:cxnSp>
      <p:sp>
        <p:nvSpPr>
          <p:cNvPr id="34" name="TextBox 33"/>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35" name="TextBox 34"/>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YOUTH &amp; POLICY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Young talent and senior experts, </a:t>
            </a:r>
            <a:r>
              <a:rPr sz="2250" b="1" i="0">
                <a:solidFill>
                  <a:srgbClr val="4A35FF"/>
                </a:solidFill>
                <a:latin typeface="Montserrat"/>
              </a:rPr>
              <a:t>working the same problem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 steady pipeline of engineers and policy minds, so road safety work never runs out of hands.</a:t>
            </a:r>
          </a:p>
        </p:txBody>
      </p:sp>
      <p:pic>
        <p:nvPicPr>
          <p:cNvPr id="8" name="Picture 7" descr="ph_ideathon_winners.jpg_4.05x2.50_0.20.jpg"/>
          <p:cNvPicPr>
            <a:picLocks noChangeAspect="1"/>
          </p:cNvPicPr>
          <p:nvPr/>
        </p:nvPicPr>
        <p:blipFill>
          <a:blip r:embed="rId2"/>
          <a:stretch>
            <a:fillRect/>
          </a:stretch>
        </p:blipFill>
        <p:spPr>
          <a:xfrm>
            <a:off x="566928" y="1938528"/>
            <a:ext cx="3703320" cy="2286000"/>
          </a:xfrm>
          <a:prstGeom prst="rect">
            <a:avLst/>
          </a:prstGeom>
        </p:spPr>
      </p:pic>
      <p:sp>
        <p:nvSpPr>
          <p:cNvPr id="9" name="Rectangle 8"/>
          <p:cNvSpPr/>
          <p:nvPr/>
        </p:nvSpPr>
        <p:spPr>
          <a:xfrm>
            <a:off x="566928" y="1938528"/>
            <a:ext cx="3703320" cy="22860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270248"/>
            <a:ext cx="37033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NextMile: Road Safety Policy Ideathon, grand finale, 28 Sep 2025, New Delhi.</a:t>
            </a:r>
          </a:p>
        </p:txBody>
      </p:sp>
      <p:sp>
        <p:nvSpPr>
          <p:cNvPr id="11" name="TextBox 10"/>
          <p:cNvSpPr txBox="1"/>
          <p:nvPr/>
        </p:nvSpPr>
        <p:spPr>
          <a:xfrm>
            <a:off x="56692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2,000+</a:t>
            </a:r>
          </a:p>
        </p:txBody>
      </p:sp>
      <p:sp>
        <p:nvSpPr>
          <p:cNvPr id="12" name="TextBox 11"/>
          <p:cNvSpPr txBox="1"/>
          <p:nvPr/>
        </p:nvSpPr>
        <p:spPr>
          <a:xfrm>
            <a:off x="56692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participants</a:t>
            </a:r>
          </a:p>
        </p:txBody>
      </p:sp>
      <p:sp>
        <p:nvSpPr>
          <p:cNvPr id="13" name="TextBox 12"/>
          <p:cNvSpPr txBox="1"/>
          <p:nvPr/>
        </p:nvSpPr>
        <p:spPr>
          <a:xfrm>
            <a:off x="152704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250+</a:t>
            </a:r>
          </a:p>
        </p:txBody>
      </p:sp>
      <p:sp>
        <p:nvSpPr>
          <p:cNvPr id="14" name="TextBox 13"/>
          <p:cNvSpPr txBox="1"/>
          <p:nvPr/>
        </p:nvSpPr>
        <p:spPr>
          <a:xfrm>
            <a:off x="152704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concept notes</a:t>
            </a:r>
          </a:p>
        </p:txBody>
      </p:sp>
      <p:sp>
        <p:nvSpPr>
          <p:cNvPr id="15" name="TextBox 14"/>
          <p:cNvSpPr txBox="1"/>
          <p:nvPr/>
        </p:nvSpPr>
        <p:spPr>
          <a:xfrm>
            <a:off x="248716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700+</a:t>
            </a:r>
          </a:p>
        </p:txBody>
      </p:sp>
      <p:sp>
        <p:nvSpPr>
          <p:cNvPr id="16" name="TextBox 15"/>
          <p:cNvSpPr txBox="1"/>
          <p:nvPr/>
        </p:nvSpPr>
        <p:spPr>
          <a:xfrm>
            <a:off x="248716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teams</a:t>
            </a:r>
          </a:p>
        </p:txBody>
      </p:sp>
      <p:sp>
        <p:nvSpPr>
          <p:cNvPr id="17" name="TextBox 16"/>
          <p:cNvSpPr txBox="1"/>
          <p:nvPr/>
        </p:nvSpPr>
        <p:spPr>
          <a:xfrm>
            <a:off x="344728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10</a:t>
            </a:r>
          </a:p>
        </p:txBody>
      </p:sp>
      <p:sp>
        <p:nvSpPr>
          <p:cNvPr id="18" name="TextBox 17"/>
          <p:cNvSpPr txBox="1"/>
          <p:nvPr/>
        </p:nvSpPr>
        <p:spPr>
          <a:xfrm>
            <a:off x="344728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finalist teams</a:t>
            </a:r>
          </a:p>
        </p:txBody>
      </p:sp>
      <p:pic>
        <p:nvPicPr>
          <p:cNvPr id="19" name="Picture 18" descr="ph_forum_stage2.jpg_3.70x2.50_0.30.jpg"/>
          <p:cNvPicPr>
            <a:picLocks noChangeAspect="1"/>
          </p:cNvPicPr>
          <p:nvPr/>
        </p:nvPicPr>
        <p:blipFill>
          <a:blip r:embed="rId3"/>
          <a:stretch>
            <a:fillRect/>
          </a:stretch>
        </p:blipFill>
        <p:spPr>
          <a:xfrm>
            <a:off x="4434840" y="1938528"/>
            <a:ext cx="3383280" cy="2286000"/>
          </a:xfrm>
          <a:prstGeom prst="rect">
            <a:avLst/>
          </a:prstGeom>
        </p:spPr>
      </p:pic>
      <p:sp>
        <p:nvSpPr>
          <p:cNvPr id="20" name="Rectangle 19"/>
          <p:cNvSpPr/>
          <p:nvPr/>
        </p:nvSpPr>
        <p:spPr>
          <a:xfrm>
            <a:off x="4434840" y="1938528"/>
            <a:ext cx="3383280" cy="2286000"/>
          </a:xfrm>
          <a:prstGeom prst="rect">
            <a:avLst/>
          </a:prstGeom>
          <a:noFill/>
          <a:ln w="12700">
            <a:solidFill>
              <a:srgbClr val="E8E9EE"/>
            </a:solidFill>
          </a:ln>
          <a:effectLst/>
        </p:spPr>
        <p:txBody>
          <a:bodyPr rtlCol="0" anchor="ctr"/>
          <a:lstStyle/>
          <a:p>
            <a:pPr algn="ctr"/>
          </a:p>
        </p:txBody>
      </p:sp>
      <p:sp>
        <p:nvSpPr>
          <p:cNvPr id="21" name="TextBox 20"/>
          <p:cNvSpPr txBox="1"/>
          <p:nvPr/>
        </p:nvSpPr>
        <p:spPr>
          <a:xfrm>
            <a:off x="4434840" y="4270248"/>
            <a:ext cx="33832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Implementation Forum, IIT Delhi: 60+ experts from MoRTH, WHO, UNICEF, iRAP and CSIR-CRRI reviewed the work.</a:t>
            </a:r>
          </a:p>
        </p:txBody>
      </p:sp>
      <p:sp>
        <p:nvSpPr>
          <p:cNvPr id="22" name="TextBox 21"/>
          <p:cNvSpPr txBox="1"/>
          <p:nvPr/>
        </p:nvSpPr>
        <p:spPr>
          <a:xfrm>
            <a:off x="4434840" y="4828032"/>
            <a:ext cx="3383280" cy="7315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Mentors and jury from the Government of Rajasthan, NIUA, OMI, NASSCOM and CSEP judged the student teams; winning tracks now feed our audit and research pipeline.</a:t>
            </a:r>
          </a:p>
        </p:txBody>
      </p:sp>
      <p:sp>
        <p:nvSpPr>
          <p:cNvPr id="23" name="Oval 22"/>
          <p:cNvSpPr/>
          <p:nvPr/>
        </p:nvSpPr>
        <p:spPr>
          <a:xfrm>
            <a:off x="8229600" y="1938528"/>
            <a:ext cx="384048" cy="384048"/>
          </a:xfrm>
          <a:prstGeom prst="ellipse">
            <a:avLst/>
          </a:prstGeom>
          <a:solidFill>
            <a:srgbClr val="EFEDFF"/>
          </a:solidFill>
          <a:ln>
            <a:noFill/>
          </a:ln>
          <a:effectLst/>
        </p:spPr>
        <p:txBody>
          <a:bodyPr rtlCol="0" anchor="ctr"/>
          <a:lstStyle/>
          <a:p>
            <a:pPr algn="ctr"/>
          </a:p>
        </p:txBody>
      </p:sp>
      <p:pic>
        <p:nvPicPr>
          <p:cNvPr id="24" name="Picture 23" descr="mic_4A35FF_256_2.0.png"/>
          <p:cNvPicPr>
            <a:picLocks noChangeAspect="1"/>
          </p:cNvPicPr>
          <p:nvPr/>
        </p:nvPicPr>
        <p:blipFill>
          <a:blip r:embed="rId4"/>
          <a:stretch>
            <a:fillRect/>
          </a:stretch>
        </p:blipFill>
        <p:spPr>
          <a:xfrm>
            <a:off x="8321771" y="2030699"/>
            <a:ext cx="199704" cy="199704"/>
          </a:xfrm>
          <a:prstGeom prst="rect">
            <a:avLst/>
          </a:prstGeom>
        </p:spPr>
      </p:pic>
      <p:sp>
        <p:nvSpPr>
          <p:cNvPr id="25" name="TextBox 24"/>
          <p:cNvSpPr txBox="1"/>
          <p:nvPr/>
        </p:nvSpPr>
        <p:spPr>
          <a:xfrm>
            <a:off x="8759952" y="1911096"/>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National Road Safety Dialogue Series</a:t>
            </a:r>
          </a:p>
        </p:txBody>
      </p:sp>
      <p:sp>
        <p:nvSpPr>
          <p:cNvPr id="26" name="TextBox 25"/>
          <p:cNvSpPr txBox="1"/>
          <p:nvPr/>
        </p:nvSpPr>
        <p:spPr>
          <a:xfrm>
            <a:off x="8759952" y="2267712"/>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200+ live attendees; speakers from MoRTH, CIRT, AIIMS Trauma Centre, CSIR-CRRI and ARAI.</a:t>
            </a:r>
          </a:p>
        </p:txBody>
      </p:sp>
      <p:sp>
        <p:nvSpPr>
          <p:cNvPr id="27" name="Oval 26"/>
          <p:cNvSpPr/>
          <p:nvPr/>
        </p:nvSpPr>
        <p:spPr>
          <a:xfrm>
            <a:off x="8229600" y="3108960"/>
            <a:ext cx="384048" cy="384048"/>
          </a:xfrm>
          <a:prstGeom prst="ellipse">
            <a:avLst/>
          </a:prstGeom>
          <a:solidFill>
            <a:srgbClr val="E7F4F4"/>
          </a:solidFill>
          <a:ln>
            <a:noFill/>
          </a:ln>
          <a:effectLst/>
        </p:spPr>
        <p:txBody>
          <a:bodyPr rtlCol="0" anchor="ctr"/>
          <a:lstStyle/>
          <a:p>
            <a:pPr algn="ctr"/>
          </a:p>
        </p:txBody>
      </p:sp>
      <p:pic>
        <p:nvPicPr>
          <p:cNvPr id="28" name="Picture 27" descr="message-square_0E8A8A_256_2.0.png"/>
          <p:cNvPicPr>
            <a:picLocks noChangeAspect="1"/>
          </p:cNvPicPr>
          <p:nvPr/>
        </p:nvPicPr>
        <p:blipFill>
          <a:blip r:embed="rId5"/>
          <a:stretch>
            <a:fillRect/>
          </a:stretch>
        </p:blipFill>
        <p:spPr>
          <a:xfrm>
            <a:off x="8321771" y="3201131"/>
            <a:ext cx="199704" cy="199704"/>
          </a:xfrm>
          <a:prstGeom prst="rect">
            <a:avLst/>
          </a:prstGeom>
        </p:spPr>
      </p:pic>
      <p:sp>
        <p:nvSpPr>
          <p:cNvPr id="29" name="TextBox 28"/>
          <p:cNvSpPr txBox="1"/>
          <p:nvPr/>
        </p:nvSpPr>
        <p:spPr>
          <a:xfrm>
            <a:off x="8759952" y="3081528"/>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Three sessions so far</a:t>
            </a:r>
          </a:p>
        </p:txBody>
      </p:sp>
      <p:sp>
        <p:nvSpPr>
          <p:cNvPr id="30" name="TextBox 29"/>
          <p:cNvSpPr txBox="1"/>
          <p:nvPr/>
        </p:nvSpPr>
        <p:spPr>
          <a:xfrm>
            <a:off x="8759952" y="3438144"/>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Bus safety · Delivery rider safety · Good Samaritan law &amp; the Cashless Treatment Scheme.</a:t>
            </a:r>
          </a:p>
        </p:txBody>
      </p:sp>
      <p:sp>
        <p:nvSpPr>
          <p:cNvPr id="31" name="Oval 30"/>
          <p:cNvSpPr/>
          <p:nvPr/>
        </p:nvSpPr>
        <p:spPr>
          <a:xfrm>
            <a:off x="8229600" y="4279392"/>
            <a:ext cx="384048" cy="384048"/>
          </a:xfrm>
          <a:prstGeom prst="ellipse">
            <a:avLst/>
          </a:prstGeom>
          <a:solidFill>
            <a:srgbClr val="FDEFEC"/>
          </a:solidFill>
          <a:ln>
            <a:noFill/>
          </a:ln>
          <a:effectLst/>
        </p:spPr>
        <p:txBody>
          <a:bodyPr rtlCol="0" anchor="ctr"/>
          <a:lstStyle/>
          <a:p>
            <a:pPr algn="ctr"/>
          </a:p>
        </p:txBody>
      </p:sp>
      <p:pic>
        <p:nvPicPr>
          <p:cNvPr id="32" name="Picture 31" descr="monitor-play_E11900_256_2.0.png"/>
          <p:cNvPicPr>
            <a:picLocks noChangeAspect="1"/>
          </p:cNvPicPr>
          <p:nvPr/>
        </p:nvPicPr>
        <p:blipFill>
          <a:blip r:embed="rId6"/>
          <a:stretch>
            <a:fillRect/>
          </a:stretch>
        </p:blipFill>
        <p:spPr>
          <a:xfrm>
            <a:off x="8321771" y="4371563"/>
            <a:ext cx="199704" cy="199704"/>
          </a:xfrm>
          <a:prstGeom prst="rect">
            <a:avLst/>
          </a:prstGeom>
        </p:spPr>
      </p:pic>
      <p:sp>
        <p:nvSpPr>
          <p:cNvPr id="33" name="TextBox 32"/>
          <p:cNvSpPr txBox="1"/>
          <p:nvPr/>
        </p:nvSpPr>
        <p:spPr>
          <a:xfrm>
            <a:off x="8759952" y="4251960"/>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Advocacy on video</a:t>
            </a:r>
          </a:p>
        </p:txBody>
      </p:sp>
      <p:sp>
        <p:nvSpPr>
          <p:cNvPr id="34" name="TextBox 33"/>
          <p:cNvSpPr txBox="1"/>
          <p:nvPr/>
        </p:nvSpPr>
        <p:spPr>
          <a:xfrm>
            <a:off x="8759952" y="4608576"/>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Our YouTube channel documents hazards and fixes on camera: ground-audit walkthroughs, Dialogue Series recordings and victim-education explainers. A public record any authority can cite.</a:t>
            </a:r>
          </a:p>
        </p:txBody>
      </p:sp>
      <p:sp>
        <p:nvSpPr>
          <p:cNvPr id="35" name="Rounded Rectangle 34"/>
          <p:cNvSpPr/>
          <p:nvPr/>
        </p:nvSpPr>
        <p:spPr>
          <a:xfrm>
            <a:off x="8229600" y="5486400"/>
            <a:ext cx="3383280" cy="658368"/>
          </a:xfrm>
          <a:prstGeom prst="roundRect">
            <a:avLst>
              <a:gd name="adj" fmla="val 14000"/>
            </a:avLst>
          </a:prstGeom>
          <a:solidFill>
            <a:srgbClr val="F7F7FA"/>
          </a:solidFill>
          <a:ln>
            <a:noFill/>
          </a:ln>
          <a:effectLst/>
        </p:spPr>
        <p:txBody>
          <a:bodyPr rtlCol="0" anchor="ctr"/>
          <a:lstStyle/>
          <a:p>
            <a:pPr algn="ctr"/>
          </a:p>
        </p:txBody>
      </p:sp>
      <p:sp>
        <p:nvSpPr>
          <p:cNvPr id="36" name="TextBox 35"/>
          <p:cNvSpPr txBox="1"/>
          <p:nvPr/>
        </p:nvSpPr>
        <p:spPr>
          <a:xfrm>
            <a:off x="8394192" y="5559552"/>
            <a:ext cx="3108960" cy="548640"/>
          </a:xfrm>
          <a:prstGeom prst="rect">
            <a:avLst/>
          </a:prstGeom>
          <a:noFill/>
        </p:spPr>
        <p:txBody>
          <a:bodyPr wrap="square" lIns="0" rIns="0" tIns="0" bIns="0" anchor="t">
            <a:spAutoFit/>
          </a:bodyPr>
          <a:lstStyle/>
          <a:p>
            <a:pPr algn="l">
              <a:lnSpc>
                <a:spcPct val="125000"/>
              </a:lnSpc>
            </a:pPr>
            <a:r>
              <a:rPr sz="950" b="1" i="0">
                <a:solidFill>
                  <a:srgbClr val="16181D"/>
                </a:solidFill>
                <a:latin typeface="Geist"/>
              </a:rPr>
              <a:t>Next: </a:t>
            </a:r>
            <a:r>
              <a:rPr sz="950" b="0" i="0">
                <a:solidFill>
                  <a:srgbClr val="6E7180"/>
                </a:solidFill>
                <a:latin typeface="Geist"/>
              </a:rPr>
              <a:t>'Be a Rakshak' university chapters at IITs, NITs and SPAs.</a:t>
            </a:r>
          </a:p>
        </p:txBody>
      </p:sp>
      <p:cxnSp>
        <p:nvCxnSpPr>
          <p:cNvPr id="37" name="Connector 36"/>
          <p:cNvCxnSpPr/>
          <p:nvPr/>
        </p:nvCxnSpPr>
        <p:spPr>
          <a:xfrm>
            <a:off x="566928" y="6455664"/>
            <a:ext cx="11057839" cy="0"/>
          </a:xfrm>
          <a:prstGeom prst="line">
            <a:avLst/>
          </a:prstGeom>
          <a:ln w="9525">
            <a:solidFill>
              <a:srgbClr val="E8E9EE"/>
            </a:solidFill>
          </a:ln>
          <a:effectLst/>
        </p:spPr>
      </p:cxnSp>
      <p:sp>
        <p:nvSpPr>
          <p:cNvPr id="38" name="TextBox 37"/>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39" name="TextBox 3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full-time team </a:t>
            </a:r>
            <a:r>
              <a:rPr sz="2250" b="1" i="0">
                <a:solidFill>
                  <a:srgbClr val="4A35FF"/>
                </a:solidFill>
                <a:latin typeface="Montserrat"/>
              </a:rPr>
              <a:t>built for this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Engineering, law, policy, product and field operations, under trustees who have led Indian road safety for a decade.</a:t>
            </a:r>
          </a:p>
        </p:txBody>
      </p:sp>
      <p:sp>
        <p:nvSpPr>
          <p:cNvPr id="8" name="Rounded Rectangle 7"/>
          <p:cNvSpPr/>
          <p:nvPr/>
        </p:nvSpPr>
        <p:spPr>
          <a:xfrm>
            <a:off x="566928" y="1883664"/>
            <a:ext cx="3630168" cy="859536"/>
          </a:xfrm>
          <a:prstGeom prst="roundRect">
            <a:avLst>
              <a:gd name="adj" fmla="val 10000"/>
            </a:avLst>
          </a:prstGeom>
          <a:solidFill>
            <a:srgbClr val="F7F7FA"/>
          </a:solidFill>
          <a:ln>
            <a:noFill/>
          </a:ln>
          <a:effectLst/>
        </p:spPr>
        <p:txBody>
          <a:bodyPr rtlCol="0" anchor="ctr"/>
          <a:lstStyle/>
          <a:p>
            <a:pPr algn="ctr"/>
          </a:p>
        </p:txBody>
      </p:sp>
      <p:pic>
        <p:nvPicPr>
          <p:cNvPr id="9" name="Picture 8" descr="t_amar.png"/>
          <p:cNvPicPr>
            <a:picLocks noChangeAspect="1"/>
          </p:cNvPicPr>
          <p:nvPr/>
        </p:nvPicPr>
        <p:blipFill>
          <a:blip r:embed="rId2"/>
          <a:stretch>
            <a:fillRect/>
          </a:stretch>
        </p:blipFill>
        <p:spPr>
          <a:xfrm>
            <a:off x="685800" y="1993392"/>
            <a:ext cx="640080" cy="640080"/>
          </a:xfrm>
          <a:prstGeom prst="rect">
            <a:avLst/>
          </a:prstGeom>
        </p:spPr>
      </p:pic>
      <p:sp>
        <p:nvSpPr>
          <p:cNvPr id="10" name="TextBox 9"/>
          <p:cNvSpPr txBox="1"/>
          <p:nvPr/>
        </p:nvSpPr>
        <p:spPr>
          <a:xfrm>
            <a:off x="1463040" y="196596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Amar Srivastava</a:t>
            </a:r>
          </a:p>
        </p:txBody>
      </p:sp>
      <p:sp>
        <p:nvSpPr>
          <p:cNvPr id="11" name="TextBox 10"/>
          <p:cNvSpPr txBox="1"/>
          <p:nvPr/>
        </p:nvSpPr>
        <p:spPr>
          <a:xfrm>
            <a:off x="1463040" y="224028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President · Founder, Indian Road Safety Campaign · Member, National Road Safety Council</a:t>
            </a:r>
          </a:p>
        </p:txBody>
      </p:sp>
      <p:sp>
        <p:nvSpPr>
          <p:cNvPr id="12" name="Rounded Rectangle 11"/>
          <p:cNvSpPr/>
          <p:nvPr/>
        </p:nvSpPr>
        <p:spPr>
          <a:xfrm>
            <a:off x="4279391" y="1883664"/>
            <a:ext cx="3630168" cy="859536"/>
          </a:xfrm>
          <a:prstGeom prst="roundRect">
            <a:avLst>
              <a:gd name="adj" fmla="val 10000"/>
            </a:avLst>
          </a:prstGeom>
          <a:solidFill>
            <a:srgbClr val="F7F7FA"/>
          </a:solidFill>
          <a:ln>
            <a:noFill/>
          </a:ln>
          <a:effectLst/>
        </p:spPr>
        <p:txBody>
          <a:bodyPr rtlCol="0" anchor="ctr"/>
          <a:lstStyle/>
          <a:p>
            <a:pPr algn="ctr"/>
          </a:p>
        </p:txBody>
      </p:sp>
      <p:pic>
        <p:nvPicPr>
          <p:cNvPr id="13" name="Picture 12" descr="t_deepanshu.png"/>
          <p:cNvPicPr>
            <a:picLocks noChangeAspect="1"/>
          </p:cNvPicPr>
          <p:nvPr/>
        </p:nvPicPr>
        <p:blipFill>
          <a:blip r:embed="rId3"/>
          <a:stretch>
            <a:fillRect/>
          </a:stretch>
        </p:blipFill>
        <p:spPr>
          <a:xfrm>
            <a:off x="4398263" y="1993392"/>
            <a:ext cx="640080" cy="640080"/>
          </a:xfrm>
          <a:prstGeom prst="rect">
            <a:avLst/>
          </a:prstGeom>
        </p:spPr>
      </p:pic>
      <p:sp>
        <p:nvSpPr>
          <p:cNvPr id="14" name="TextBox 13"/>
          <p:cNvSpPr txBox="1"/>
          <p:nvPr/>
        </p:nvSpPr>
        <p:spPr>
          <a:xfrm>
            <a:off x="5175503" y="196596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Deepanshu Gupta</a:t>
            </a:r>
          </a:p>
        </p:txBody>
      </p:sp>
      <p:sp>
        <p:nvSpPr>
          <p:cNvPr id="15" name="TextBox 14"/>
          <p:cNvSpPr txBox="1"/>
          <p:nvPr/>
        </p:nvSpPr>
        <p:spPr>
          <a:xfrm>
            <a:off x="5175503" y="224028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Managing Trustee · Founder, IRSC · Global Youth Coalition for Road Safety</a:t>
            </a:r>
          </a:p>
        </p:txBody>
      </p:sp>
      <p:sp>
        <p:nvSpPr>
          <p:cNvPr id="16" name="Rounded Rectangle 15"/>
          <p:cNvSpPr/>
          <p:nvPr/>
        </p:nvSpPr>
        <p:spPr>
          <a:xfrm>
            <a:off x="7991854" y="1883664"/>
            <a:ext cx="3630168" cy="859536"/>
          </a:xfrm>
          <a:prstGeom prst="roundRect">
            <a:avLst>
              <a:gd name="adj" fmla="val 10000"/>
            </a:avLst>
          </a:prstGeom>
          <a:solidFill>
            <a:srgbClr val="F7F7FA"/>
          </a:solidFill>
          <a:ln>
            <a:noFill/>
          </a:ln>
          <a:effectLst/>
        </p:spPr>
        <p:txBody>
          <a:bodyPr rtlCol="0" anchor="ctr"/>
          <a:lstStyle/>
          <a:p>
            <a:pPr algn="ctr"/>
          </a:p>
        </p:txBody>
      </p:sp>
      <p:pic>
        <p:nvPicPr>
          <p:cNvPr id="17" name="Picture 16" descr="t_gajendra.png"/>
          <p:cNvPicPr>
            <a:picLocks noChangeAspect="1"/>
          </p:cNvPicPr>
          <p:nvPr/>
        </p:nvPicPr>
        <p:blipFill>
          <a:blip r:embed="rId4"/>
          <a:stretch>
            <a:fillRect/>
          </a:stretch>
        </p:blipFill>
        <p:spPr>
          <a:xfrm>
            <a:off x="8110726" y="1993392"/>
            <a:ext cx="640080" cy="640080"/>
          </a:xfrm>
          <a:prstGeom prst="rect">
            <a:avLst/>
          </a:prstGeom>
        </p:spPr>
      </p:pic>
      <p:sp>
        <p:nvSpPr>
          <p:cNvPr id="18" name="TextBox 17"/>
          <p:cNvSpPr txBox="1"/>
          <p:nvPr/>
        </p:nvSpPr>
        <p:spPr>
          <a:xfrm>
            <a:off x="8887966" y="196596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Gajendra Jangid</a:t>
            </a:r>
          </a:p>
        </p:txBody>
      </p:sp>
      <p:sp>
        <p:nvSpPr>
          <p:cNvPr id="19" name="TextBox 18"/>
          <p:cNvSpPr txBox="1"/>
          <p:nvPr/>
        </p:nvSpPr>
        <p:spPr>
          <a:xfrm>
            <a:off x="8887966" y="224028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General Secretary · Co-founder, Cars24</a:t>
            </a:r>
          </a:p>
        </p:txBody>
      </p:sp>
      <p:sp>
        <p:nvSpPr>
          <p:cNvPr id="20" name="TextBox 19"/>
          <p:cNvSpPr txBox="1"/>
          <p:nvPr/>
        </p:nvSpPr>
        <p:spPr>
          <a:xfrm>
            <a:off x="566928" y="2944368"/>
            <a:ext cx="10972800" cy="237744"/>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THE FULL-TIME TEAM</a:t>
            </a:r>
          </a:p>
        </p:txBody>
      </p:sp>
      <p:pic>
        <p:nvPicPr>
          <p:cNvPr id="21" name="Picture 20" descr="t_akhtar.png"/>
          <p:cNvPicPr>
            <a:picLocks noChangeAspect="1"/>
          </p:cNvPicPr>
          <p:nvPr/>
        </p:nvPicPr>
        <p:blipFill>
          <a:blip r:embed="rId5"/>
          <a:stretch>
            <a:fillRect/>
          </a:stretch>
        </p:blipFill>
        <p:spPr>
          <a:xfrm>
            <a:off x="566928" y="3273552"/>
            <a:ext cx="530352" cy="530352"/>
          </a:xfrm>
          <a:prstGeom prst="rect">
            <a:avLst/>
          </a:prstGeom>
        </p:spPr>
      </p:pic>
      <p:sp>
        <p:nvSpPr>
          <p:cNvPr id="22" name="TextBox 21"/>
          <p:cNvSpPr txBox="1"/>
          <p:nvPr/>
        </p:nvSpPr>
        <p:spPr>
          <a:xfrm>
            <a:off x="1225296" y="3236976"/>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Akhtar Hussain  </a:t>
            </a:r>
            <a:r>
              <a:rPr sz="800" b="1" i="0">
                <a:solidFill>
                  <a:srgbClr val="4A35FF"/>
                </a:solidFill>
                <a:latin typeface="Geist"/>
              </a:rPr>
              <a:t>Mission Lead</a:t>
            </a:r>
          </a:p>
        </p:txBody>
      </p:sp>
      <p:sp>
        <p:nvSpPr>
          <p:cNvPr id="23" name="TextBox 22"/>
          <p:cNvSpPr txBox="1"/>
          <p:nvPr/>
        </p:nvSpPr>
        <p:spPr>
          <a:xfrm>
            <a:off x="1225296" y="3456432"/>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IIT Delhi · ex-Bain · strategy, programmes, new initiatives, partnerships and product</a:t>
            </a:r>
          </a:p>
        </p:txBody>
      </p:sp>
      <p:pic>
        <p:nvPicPr>
          <p:cNvPr id="24" name="Picture 23" descr="t_shubham.png"/>
          <p:cNvPicPr>
            <a:picLocks noChangeAspect="1"/>
          </p:cNvPicPr>
          <p:nvPr/>
        </p:nvPicPr>
        <p:blipFill>
          <a:blip r:embed="rId6"/>
          <a:stretch>
            <a:fillRect/>
          </a:stretch>
        </p:blipFill>
        <p:spPr>
          <a:xfrm>
            <a:off x="4279391" y="3273552"/>
            <a:ext cx="530352" cy="530352"/>
          </a:xfrm>
          <a:prstGeom prst="rect">
            <a:avLst/>
          </a:prstGeom>
        </p:spPr>
      </p:pic>
      <p:sp>
        <p:nvSpPr>
          <p:cNvPr id="25" name="TextBox 24"/>
          <p:cNvSpPr txBox="1"/>
          <p:nvPr/>
        </p:nvSpPr>
        <p:spPr>
          <a:xfrm>
            <a:off x="4937759" y="3236976"/>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Shubham Kumar  </a:t>
            </a:r>
            <a:r>
              <a:rPr sz="800" b="1" i="0">
                <a:solidFill>
                  <a:srgbClr val="4A35FF"/>
                </a:solidFill>
                <a:latin typeface="Geist"/>
              </a:rPr>
              <a:t>Policy &amp; Advocacy</a:t>
            </a:r>
          </a:p>
        </p:txBody>
      </p:sp>
      <p:sp>
        <p:nvSpPr>
          <p:cNvPr id="26" name="TextBox 25"/>
          <p:cNvSpPr txBox="1"/>
          <p:nvPr/>
        </p:nvSpPr>
        <p:spPr>
          <a:xfrm>
            <a:off x="4937759" y="3456432"/>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NALSAR Hyderabad · programmes, policy advocacy, legal research, government relations</a:t>
            </a:r>
          </a:p>
        </p:txBody>
      </p:sp>
      <p:pic>
        <p:nvPicPr>
          <p:cNvPr id="27" name="Picture 26" descr="t_muskan.png"/>
          <p:cNvPicPr>
            <a:picLocks noChangeAspect="1"/>
          </p:cNvPicPr>
          <p:nvPr/>
        </p:nvPicPr>
        <p:blipFill>
          <a:blip r:embed="rId7"/>
          <a:stretch>
            <a:fillRect/>
          </a:stretch>
        </p:blipFill>
        <p:spPr>
          <a:xfrm>
            <a:off x="7991854" y="3273552"/>
            <a:ext cx="530352" cy="530352"/>
          </a:xfrm>
          <a:prstGeom prst="rect">
            <a:avLst/>
          </a:prstGeom>
        </p:spPr>
      </p:pic>
      <p:sp>
        <p:nvSpPr>
          <p:cNvPr id="28" name="TextBox 27"/>
          <p:cNvSpPr txBox="1"/>
          <p:nvPr/>
        </p:nvSpPr>
        <p:spPr>
          <a:xfrm>
            <a:off x="8650222" y="3236976"/>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Muskan Yadav  </a:t>
            </a:r>
            <a:r>
              <a:rPr sz="800" b="1" i="0">
                <a:solidFill>
                  <a:srgbClr val="4A35FF"/>
                </a:solidFill>
                <a:latin typeface="Geist"/>
              </a:rPr>
              <a:t>Programmes</a:t>
            </a:r>
          </a:p>
        </p:txBody>
      </p:sp>
      <p:sp>
        <p:nvSpPr>
          <p:cNvPr id="29" name="TextBox 28"/>
          <p:cNvSpPr txBox="1"/>
          <p:nvPr/>
        </p:nvSpPr>
        <p:spPr>
          <a:xfrm>
            <a:off x="8650222" y="3456432"/>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TISS · district programmes, Project Rakshak, infrastructure interventions, DRSC work</a:t>
            </a:r>
          </a:p>
        </p:txBody>
      </p:sp>
      <p:pic>
        <p:nvPicPr>
          <p:cNvPr id="30" name="Picture 29" descr="t_krishna.png"/>
          <p:cNvPicPr>
            <a:picLocks noChangeAspect="1"/>
          </p:cNvPicPr>
          <p:nvPr/>
        </p:nvPicPr>
        <p:blipFill>
          <a:blip r:embed="rId8"/>
          <a:stretch>
            <a:fillRect/>
          </a:stretch>
        </p:blipFill>
        <p:spPr>
          <a:xfrm>
            <a:off x="566928" y="3968496"/>
            <a:ext cx="530352" cy="530352"/>
          </a:xfrm>
          <a:prstGeom prst="rect">
            <a:avLst/>
          </a:prstGeom>
        </p:spPr>
      </p:pic>
      <p:sp>
        <p:nvSpPr>
          <p:cNvPr id="31" name="TextBox 30"/>
          <p:cNvSpPr txBox="1"/>
          <p:nvPr/>
        </p:nvSpPr>
        <p:spPr>
          <a:xfrm>
            <a:off x="1225296" y="3931920"/>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Krishna Jain  </a:t>
            </a:r>
            <a:r>
              <a:rPr sz="800" b="1" i="0">
                <a:solidFill>
                  <a:srgbClr val="4A35FF"/>
                </a:solidFill>
                <a:latin typeface="Geist"/>
              </a:rPr>
              <a:t>Tech &amp; Product</a:t>
            </a:r>
          </a:p>
        </p:txBody>
      </p:sp>
      <p:sp>
        <p:nvSpPr>
          <p:cNvPr id="32" name="TextBox 31"/>
          <p:cNvSpPr txBox="1"/>
          <p:nvPr/>
        </p:nvSpPr>
        <p:spPr>
          <a:xfrm>
            <a:off x="1225296" y="4151376"/>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Builds and runs Aasha, SATARK and the open public data platforms</a:t>
            </a:r>
          </a:p>
        </p:txBody>
      </p:sp>
      <p:pic>
        <p:nvPicPr>
          <p:cNvPr id="33" name="Picture 32" descr="t_aastha.png"/>
          <p:cNvPicPr>
            <a:picLocks noChangeAspect="1"/>
          </p:cNvPicPr>
          <p:nvPr/>
        </p:nvPicPr>
        <p:blipFill>
          <a:blip r:embed="rId9"/>
          <a:stretch>
            <a:fillRect/>
          </a:stretch>
        </p:blipFill>
        <p:spPr>
          <a:xfrm>
            <a:off x="4279391" y="3968496"/>
            <a:ext cx="530352" cy="530352"/>
          </a:xfrm>
          <a:prstGeom prst="rect">
            <a:avLst/>
          </a:prstGeom>
        </p:spPr>
      </p:pic>
      <p:sp>
        <p:nvSpPr>
          <p:cNvPr id="34" name="TextBox 33"/>
          <p:cNvSpPr txBox="1"/>
          <p:nvPr/>
        </p:nvSpPr>
        <p:spPr>
          <a:xfrm>
            <a:off x="4937759" y="3931920"/>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Aastha Shreeharsh  </a:t>
            </a:r>
            <a:r>
              <a:rPr sz="800" b="1" i="0">
                <a:solidFill>
                  <a:srgbClr val="4A35FF"/>
                </a:solidFill>
                <a:latin typeface="Geist"/>
              </a:rPr>
              <a:t>Development Communications</a:t>
            </a:r>
          </a:p>
        </p:txBody>
      </p:sp>
      <p:sp>
        <p:nvSpPr>
          <p:cNvPr id="35" name="TextBox 34"/>
          <p:cNvSpPr txBox="1"/>
          <p:nvPr/>
        </p:nvSpPr>
        <p:spPr>
          <a:xfrm>
            <a:off x="4937759" y="4151376"/>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HKUST · institutional communications, government relations</a:t>
            </a:r>
          </a:p>
        </p:txBody>
      </p:sp>
      <p:pic>
        <p:nvPicPr>
          <p:cNvPr id="36" name="Picture 35" descr="t_rohan.png"/>
          <p:cNvPicPr>
            <a:picLocks noChangeAspect="1"/>
          </p:cNvPicPr>
          <p:nvPr/>
        </p:nvPicPr>
        <p:blipFill>
          <a:blip r:embed="rId10"/>
          <a:stretch>
            <a:fillRect/>
          </a:stretch>
        </p:blipFill>
        <p:spPr>
          <a:xfrm>
            <a:off x="7991854" y="3968496"/>
            <a:ext cx="530352" cy="530352"/>
          </a:xfrm>
          <a:prstGeom prst="rect">
            <a:avLst/>
          </a:prstGeom>
        </p:spPr>
      </p:pic>
      <p:sp>
        <p:nvSpPr>
          <p:cNvPr id="37" name="TextBox 36"/>
          <p:cNvSpPr txBox="1"/>
          <p:nvPr/>
        </p:nvSpPr>
        <p:spPr>
          <a:xfrm>
            <a:off x="8650222" y="3931920"/>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Rohan Sharma  </a:t>
            </a:r>
            <a:r>
              <a:rPr sz="800" b="1" i="0">
                <a:solidFill>
                  <a:srgbClr val="4A35FF"/>
                </a:solidFill>
                <a:latin typeface="Geist"/>
              </a:rPr>
              <a:t>Cause Marketing</a:t>
            </a:r>
          </a:p>
        </p:txBody>
      </p:sp>
      <p:sp>
        <p:nvSpPr>
          <p:cNvPr id="38" name="TextBox 37"/>
          <p:cNvSpPr txBox="1"/>
          <p:nvPr/>
        </p:nvSpPr>
        <p:spPr>
          <a:xfrm>
            <a:off x="8650222" y="4151376"/>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Awareness campaigns, digital advocacy, community mobilisation</a:t>
            </a:r>
          </a:p>
        </p:txBody>
      </p:sp>
      <p:pic>
        <p:nvPicPr>
          <p:cNvPr id="39" name="Picture 38" descr="t_ishita.png"/>
          <p:cNvPicPr>
            <a:picLocks noChangeAspect="1"/>
          </p:cNvPicPr>
          <p:nvPr/>
        </p:nvPicPr>
        <p:blipFill>
          <a:blip r:embed="rId11"/>
          <a:stretch>
            <a:fillRect/>
          </a:stretch>
        </p:blipFill>
        <p:spPr>
          <a:xfrm>
            <a:off x="566928" y="4663440"/>
            <a:ext cx="530352" cy="530352"/>
          </a:xfrm>
          <a:prstGeom prst="rect">
            <a:avLst/>
          </a:prstGeom>
        </p:spPr>
      </p:pic>
      <p:sp>
        <p:nvSpPr>
          <p:cNvPr id="40" name="TextBox 39"/>
          <p:cNvSpPr txBox="1"/>
          <p:nvPr/>
        </p:nvSpPr>
        <p:spPr>
          <a:xfrm>
            <a:off x="1225296" y="4626864"/>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Ishita Rathore  </a:t>
            </a:r>
            <a:r>
              <a:rPr sz="800" b="1" i="0">
                <a:solidFill>
                  <a:srgbClr val="4A35FF"/>
                </a:solidFill>
                <a:latin typeface="Geist"/>
              </a:rPr>
              <a:t>People &amp; Culture</a:t>
            </a:r>
          </a:p>
        </p:txBody>
      </p:sp>
      <p:sp>
        <p:nvSpPr>
          <p:cNvPr id="41" name="TextBox 40"/>
          <p:cNvSpPr txBox="1"/>
          <p:nvPr/>
        </p:nvSpPr>
        <p:spPr>
          <a:xfrm>
            <a:off x="1225296" y="4846320"/>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Talent and hiring, volunteers, the 75+ intern engineering corps</a:t>
            </a:r>
          </a:p>
        </p:txBody>
      </p:sp>
      <p:pic>
        <p:nvPicPr>
          <p:cNvPr id="42" name="Picture 41" descr="t_yuvraj.png"/>
          <p:cNvPicPr>
            <a:picLocks noChangeAspect="1"/>
          </p:cNvPicPr>
          <p:nvPr/>
        </p:nvPicPr>
        <p:blipFill>
          <a:blip r:embed="rId12"/>
          <a:stretch>
            <a:fillRect/>
          </a:stretch>
        </p:blipFill>
        <p:spPr>
          <a:xfrm>
            <a:off x="4279391" y="4663440"/>
            <a:ext cx="530352" cy="530352"/>
          </a:xfrm>
          <a:prstGeom prst="rect">
            <a:avLst/>
          </a:prstGeom>
        </p:spPr>
      </p:pic>
      <p:sp>
        <p:nvSpPr>
          <p:cNvPr id="43" name="TextBox 42"/>
          <p:cNvSpPr txBox="1"/>
          <p:nvPr/>
        </p:nvSpPr>
        <p:spPr>
          <a:xfrm>
            <a:off x="4937759" y="4626864"/>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Yuvraj Yadav  </a:t>
            </a:r>
            <a:r>
              <a:rPr sz="800" b="1" i="0">
                <a:solidFill>
                  <a:srgbClr val="4A35FF"/>
                </a:solidFill>
                <a:latin typeface="Geist"/>
              </a:rPr>
              <a:t>Operations</a:t>
            </a:r>
          </a:p>
        </p:txBody>
      </p:sp>
      <p:sp>
        <p:nvSpPr>
          <p:cNvPr id="44" name="TextBox 43"/>
          <p:cNvSpPr txBox="1"/>
          <p:nvPr/>
        </p:nvSpPr>
        <p:spPr>
          <a:xfrm>
            <a:off x="4937759" y="4846320"/>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Field operations across 18 cities · works with police on SATARK and enforcement rollouts</a:t>
            </a:r>
          </a:p>
        </p:txBody>
      </p:sp>
      <p:pic>
        <p:nvPicPr>
          <p:cNvPr id="45" name="Picture 44" descr="t_lovish.png"/>
          <p:cNvPicPr>
            <a:picLocks noChangeAspect="1"/>
          </p:cNvPicPr>
          <p:nvPr/>
        </p:nvPicPr>
        <p:blipFill>
          <a:blip r:embed="rId13"/>
          <a:stretch>
            <a:fillRect/>
          </a:stretch>
        </p:blipFill>
        <p:spPr>
          <a:xfrm>
            <a:off x="7991854" y="4663440"/>
            <a:ext cx="530352" cy="530352"/>
          </a:xfrm>
          <a:prstGeom prst="rect">
            <a:avLst/>
          </a:prstGeom>
        </p:spPr>
      </p:pic>
      <p:sp>
        <p:nvSpPr>
          <p:cNvPr id="46" name="TextBox 45"/>
          <p:cNvSpPr txBox="1"/>
          <p:nvPr/>
        </p:nvSpPr>
        <p:spPr>
          <a:xfrm>
            <a:off x="8650222" y="4626864"/>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Lovish  </a:t>
            </a:r>
            <a:r>
              <a:rPr sz="800" b="1" i="0">
                <a:solidFill>
                  <a:srgbClr val="4A35FF"/>
                </a:solidFill>
                <a:latin typeface="Geist"/>
              </a:rPr>
              <a:t>Creative (Video)</a:t>
            </a:r>
          </a:p>
        </p:txBody>
      </p:sp>
      <p:sp>
        <p:nvSpPr>
          <p:cNvPr id="47" name="TextBox 46"/>
          <p:cNvSpPr txBox="1"/>
          <p:nvPr/>
        </p:nvSpPr>
        <p:spPr>
          <a:xfrm>
            <a:off x="8650222" y="4846320"/>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Video explainers, ground-audit films and the YouTube channel</a:t>
            </a:r>
          </a:p>
        </p:txBody>
      </p:sp>
      <p:pic>
        <p:nvPicPr>
          <p:cNvPr id="48" name="Picture 47" descr="t_shipra.png"/>
          <p:cNvPicPr>
            <a:picLocks noChangeAspect="1"/>
          </p:cNvPicPr>
          <p:nvPr/>
        </p:nvPicPr>
        <p:blipFill>
          <a:blip r:embed="rId14"/>
          <a:stretch>
            <a:fillRect/>
          </a:stretch>
        </p:blipFill>
        <p:spPr>
          <a:xfrm>
            <a:off x="566928" y="5358384"/>
            <a:ext cx="530352" cy="530352"/>
          </a:xfrm>
          <a:prstGeom prst="rect">
            <a:avLst/>
          </a:prstGeom>
        </p:spPr>
      </p:pic>
      <p:sp>
        <p:nvSpPr>
          <p:cNvPr id="49" name="TextBox 48"/>
          <p:cNvSpPr txBox="1"/>
          <p:nvPr/>
        </p:nvSpPr>
        <p:spPr>
          <a:xfrm>
            <a:off x="1225296" y="5321808"/>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Shipra Kushwaha  </a:t>
            </a:r>
            <a:r>
              <a:rPr sz="800" b="1" i="0">
                <a:solidFill>
                  <a:srgbClr val="4A35FF"/>
                </a:solidFill>
                <a:latin typeface="Geist"/>
              </a:rPr>
              <a:t>Creative (Graphic)</a:t>
            </a:r>
          </a:p>
        </p:txBody>
      </p:sp>
      <p:sp>
        <p:nvSpPr>
          <p:cNvPr id="50" name="TextBox 49"/>
          <p:cNvSpPr txBox="1"/>
          <p:nvPr/>
        </p:nvSpPr>
        <p:spPr>
          <a:xfrm>
            <a:off x="1225296" y="5541264"/>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Guides, comics and bilingual campaign material families actually read</a:t>
            </a:r>
          </a:p>
        </p:txBody>
      </p:sp>
      <p:sp>
        <p:nvSpPr>
          <p:cNvPr id="51" name="Rounded Rectangle 50"/>
          <p:cNvSpPr/>
          <p:nvPr/>
        </p:nvSpPr>
        <p:spPr>
          <a:xfrm>
            <a:off x="4553712" y="5340096"/>
            <a:ext cx="5120640" cy="548640"/>
          </a:xfrm>
          <a:prstGeom prst="roundRect">
            <a:avLst>
              <a:gd name="adj" fmla="val 12000"/>
            </a:avLst>
          </a:prstGeom>
          <a:solidFill>
            <a:srgbClr val="EFEDFF"/>
          </a:solidFill>
          <a:ln>
            <a:noFill/>
          </a:ln>
          <a:effectLst/>
        </p:spPr>
        <p:txBody>
          <a:bodyPr rtlCol="0" anchor="ctr"/>
          <a:lstStyle/>
          <a:p>
            <a:pPr algn="ctr"/>
          </a:p>
        </p:txBody>
      </p:sp>
      <p:sp>
        <p:nvSpPr>
          <p:cNvPr id="52" name="TextBox 51"/>
          <p:cNvSpPr txBox="1"/>
          <p:nvPr/>
        </p:nvSpPr>
        <p:spPr>
          <a:xfrm>
            <a:off x="4754880" y="5340096"/>
            <a:ext cx="4754880" cy="548640"/>
          </a:xfrm>
          <a:prstGeom prst="rect">
            <a:avLst/>
          </a:prstGeom>
          <a:noFill/>
        </p:spPr>
        <p:txBody>
          <a:bodyPr wrap="square" lIns="0" rIns="0" tIns="0" bIns="0" anchor="ctr">
            <a:spAutoFit/>
          </a:bodyPr>
          <a:lstStyle/>
          <a:p>
            <a:pPr algn="l">
              <a:lnSpc>
                <a:spcPct val="115000"/>
              </a:lnSpc>
            </a:pPr>
            <a:r>
              <a:rPr sz="900" b="1" i="0">
                <a:solidFill>
                  <a:srgbClr val="4A35FF"/>
                </a:solidFill>
                <a:latin typeface="Geist"/>
              </a:rPr>
              <a:t>Plus 75+ engineering interns and 31 student audit teams.</a:t>
            </a:r>
          </a:p>
        </p:txBody>
      </p:sp>
      <p:sp>
        <p:nvSpPr>
          <p:cNvPr id="53" name="Rounded Rectangle 52"/>
          <p:cNvSpPr/>
          <p:nvPr/>
        </p:nvSpPr>
        <p:spPr>
          <a:xfrm>
            <a:off x="566928" y="5989320"/>
            <a:ext cx="11057839" cy="384048"/>
          </a:xfrm>
          <a:prstGeom prst="roundRect">
            <a:avLst>
              <a:gd name="adj" fmla="val 14000"/>
            </a:avLst>
          </a:prstGeom>
          <a:solidFill>
            <a:srgbClr val="F7F7FA"/>
          </a:solidFill>
          <a:ln>
            <a:noFill/>
          </a:ln>
          <a:effectLst/>
        </p:spPr>
        <p:txBody>
          <a:bodyPr rtlCol="0" anchor="ctr"/>
          <a:lstStyle/>
          <a:p>
            <a:pPr algn="ctr"/>
          </a:p>
        </p:txBody>
      </p:sp>
      <p:sp>
        <p:nvSpPr>
          <p:cNvPr id="54" name="TextBox 53"/>
          <p:cNvSpPr txBox="1"/>
          <p:nvPr/>
        </p:nvSpPr>
        <p:spPr>
          <a:xfrm>
            <a:off x="768096" y="6053328"/>
            <a:ext cx="10646359" cy="292608"/>
          </a:xfrm>
          <a:prstGeom prst="rect">
            <a:avLst/>
          </a:prstGeom>
          <a:noFill/>
        </p:spPr>
        <p:txBody>
          <a:bodyPr wrap="square" lIns="0" rIns="0" tIns="0" bIns="0" anchor="t">
            <a:spAutoFit/>
          </a:bodyPr>
          <a:lstStyle/>
          <a:p>
            <a:pPr algn="l">
              <a:lnSpc>
                <a:spcPct val="115000"/>
              </a:lnSpc>
            </a:pPr>
            <a:r>
              <a:rPr sz="900" b="1" i="0">
                <a:solidFill>
                  <a:srgbClr val="16181D"/>
                </a:solidFill>
                <a:latin typeface="Geist"/>
              </a:rPr>
              <a:t>In-house capabilities: </a:t>
            </a:r>
            <a:r>
              <a:rPr sz="900" b="0" i="0">
                <a:solidFill>
                  <a:srgbClr val="6E7180"/>
                </a:solidFill>
                <a:latin typeface="Geist"/>
              </a:rPr>
              <a:t>road-engineering audits · legal &amp; policy research · AI product development · district operations · behaviour-change communication</a:t>
            </a:r>
          </a:p>
        </p:txBody>
      </p:sp>
      <p:cxnSp>
        <p:nvCxnSpPr>
          <p:cNvPr id="55" name="Connector 54"/>
          <p:cNvCxnSpPr/>
          <p:nvPr/>
        </p:nvCxnSpPr>
        <p:spPr>
          <a:xfrm>
            <a:off x="566928" y="6455664"/>
            <a:ext cx="11057839" cy="0"/>
          </a:xfrm>
          <a:prstGeom prst="line">
            <a:avLst/>
          </a:prstGeom>
          <a:ln w="9525">
            <a:solidFill>
              <a:srgbClr val="E8E9EE"/>
            </a:solidFill>
          </a:ln>
          <a:effectLst/>
        </p:spPr>
      </p:cxnSp>
      <p:sp>
        <p:nvSpPr>
          <p:cNvPr id="56" name="TextBox 55"/>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57" name="TextBox 5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332927" y="274320"/>
            <a:ext cx="3291840" cy="219456"/>
          </a:xfrm>
          <a:prstGeom prst="rect">
            <a:avLst/>
          </a:prstGeom>
          <a:noFill/>
        </p:spPr>
        <p:txBody>
          <a:bodyPr wrap="square" lIns="0" rIns="0" tIns="0" bIns="0" anchor="t">
            <a:spAutoFit/>
          </a:bodyPr>
          <a:lstStyle/>
          <a:p>
            <a:pPr algn="r">
              <a:lnSpc>
                <a:spcPct val="128000"/>
              </a:lnSpc>
            </a:pPr>
            <a:r>
              <a:rPr sz="850" b="1" i="0" spc="160">
                <a:solidFill>
                  <a:srgbClr val="6E7180"/>
                </a:solidFill>
                <a:latin typeface="Montserrat"/>
              </a:rPr>
              <a:t>THE YEAR AHEAD</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THE YEAR AHEAD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Where we are going, and </a:t>
            </a:r>
            <a:r>
              <a:rPr sz="2250" b="1" i="0">
                <a:solidFill>
                  <a:srgbClr val="4A35FF"/>
                </a:solidFill>
                <a:latin typeface="Montserrat"/>
              </a:rPr>
              <a:t>where your counsel would help</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Year 2 moves from programmes to institutions. These are the goals, and the questions we would bring to a mentor.</a:t>
            </a:r>
          </a:p>
        </p:txBody>
      </p:sp>
      <p:sp>
        <p:nvSpPr>
          <p:cNvPr id="8" name="TextBox 7"/>
          <p:cNvSpPr txBox="1"/>
          <p:nvPr/>
        </p:nvSpPr>
        <p:spPr>
          <a:xfrm>
            <a:off x="566928" y="1847088"/>
            <a:ext cx="5349240" cy="237744"/>
          </a:xfrm>
          <a:prstGeom prst="rect">
            <a:avLst/>
          </a:prstGeom>
          <a:noFill/>
        </p:spPr>
        <p:txBody>
          <a:bodyPr wrap="square" lIns="0" rIns="0" tIns="0" bIns="0" anchor="t">
            <a:spAutoFit/>
          </a:bodyPr>
          <a:lstStyle/>
          <a:p>
            <a:pPr algn="l">
              <a:lnSpc>
                <a:spcPct val="128000"/>
              </a:lnSpc>
            </a:pPr>
            <a:r>
              <a:rPr sz="900" b="1" i="0" spc="180">
                <a:solidFill>
                  <a:srgbClr val="6E7180"/>
                </a:solidFill>
                <a:latin typeface="Montserrat"/>
              </a:rPr>
              <a:t>THE YEAR AHEAD</a:t>
            </a:r>
          </a:p>
        </p:txBody>
      </p:sp>
      <p:sp>
        <p:nvSpPr>
          <p:cNvPr id="9" name="Oval 8"/>
          <p:cNvSpPr/>
          <p:nvPr/>
        </p:nvSpPr>
        <p:spPr>
          <a:xfrm>
            <a:off x="566928" y="2176272"/>
            <a:ext cx="365760" cy="365760"/>
          </a:xfrm>
          <a:prstGeom prst="ellipse">
            <a:avLst/>
          </a:prstGeom>
          <a:solidFill>
            <a:srgbClr val="EFEDFF"/>
          </a:solidFill>
          <a:ln>
            <a:noFill/>
          </a:ln>
          <a:effectLst/>
        </p:spPr>
        <p:txBody>
          <a:bodyPr rtlCol="0" anchor="ctr"/>
          <a:lstStyle/>
          <a:p>
            <a:pPr algn="ctr"/>
          </a:p>
        </p:txBody>
      </p:sp>
      <p:pic>
        <p:nvPicPr>
          <p:cNvPr id="10" name="Picture 9" descr="hard-hat_4A35FF_256_2.0.png"/>
          <p:cNvPicPr>
            <a:picLocks noChangeAspect="1"/>
          </p:cNvPicPr>
          <p:nvPr/>
        </p:nvPicPr>
        <p:blipFill>
          <a:blip r:embed="rId2"/>
          <a:stretch>
            <a:fillRect/>
          </a:stretch>
        </p:blipFill>
        <p:spPr>
          <a:xfrm>
            <a:off x="654710" y="2264054"/>
            <a:ext cx="190195" cy="190195"/>
          </a:xfrm>
          <a:prstGeom prst="rect">
            <a:avLst/>
          </a:prstGeom>
        </p:spPr>
      </p:pic>
      <p:sp>
        <p:nvSpPr>
          <p:cNvPr id="11" name="TextBox 10"/>
          <p:cNvSpPr txBox="1"/>
          <p:nvPr/>
        </p:nvSpPr>
        <p:spPr>
          <a:xfrm>
            <a:off x="1097280" y="2157984"/>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Project Rakshak</a:t>
            </a:r>
          </a:p>
        </p:txBody>
      </p:sp>
      <p:sp>
        <p:nvSpPr>
          <p:cNvPr id="12" name="TextBox 11"/>
          <p:cNvSpPr txBox="1"/>
          <p:nvPr/>
        </p:nvSpPr>
        <p:spPr>
          <a:xfrm>
            <a:off x="3566160" y="2157984"/>
            <a:ext cx="22860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Audits running inside institutions, with 75+ implementations initiated and every one tracked publicly.</a:t>
            </a:r>
          </a:p>
        </p:txBody>
      </p:sp>
      <p:sp>
        <p:nvSpPr>
          <p:cNvPr id="13" name="Oval 12"/>
          <p:cNvSpPr/>
          <p:nvPr/>
        </p:nvSpPr>
        <p:spPr>
          <a:xfrm>
            <a:off x="566928" y="2962656"/>
            <a:ext cx="365760" cy="365760"/>
          </a:xfrm>
          <a:prstGeom prst="ellipse">
            <a:avLst/>
          </a:prstGeom>
          <a:solidFill>
            <a:srgbClr val="EFEDFF"/>
          </a:solidFill>
          <a:ln>
            <a:noFill/>
          </a:ln>
          <a:effectLst/>
        </p:spPr>
        <p:txBody>
          <a:bodyPr rtlCol="0" anchor="ctr"/>
          <a:lstStyle/>
          <a:p>
            <a:pPr algn="ctr"/>
          </a:p>
        </p:txBody>
      </p:sp>
      <p:pic>
        <p:nvPicPr>
          <p:cNvPr id="14" name="Picture 13" descr="scale_4A35FF_256_2.0.png"/>
          <p:cNvPicPr>
            <a:picLocks noChangeAspect="1"/>
          </p:cNvPicPr>
          <p:nvPr/>
        </p:nvPicPr>
        <p:blipFill>
          <a:blip r:embed="rId3"/>
          <a:stretch>
            <a:fillRect/>
          </a:stretch>
        </p:blipFill>
        <p:spPr>
          <a:xfrm>
            <a:off x="654710" y="3050438"/>
            <a:ext cx="190195" cy="190195"/>
          </a:xfrm>
          <a:prstGeom prst="rect">
            <a:avLst/>
          </a:prstGeom>
        </p:spPr>
      </p:pic>
      <p:sp>
        <p:nvSpPr>
          <p:cNvPr id="15" name="TextBox 14"/>
          <p:cNvSpPr txBox="1"/>
          <p:nvPr/>
        </p:nvSpPr>
        <p:spPr>
          <a:xfrm>
            <a:off x="1097280" y="294436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Crash compensation</a:t>
            </a:r>
          </a:p>
        </p:txBody>
      </p:sp>
      <p:sp>
        <p:nvSpPr>
          <p:cNvPr id="16" name="TextBox 15"/>
          <p:cNvSpPr txBox="1"/>
          <p:nvPr/>
        </p:nvSpPr>
        <p:spPr>
          <a:xfrm>
            <a:off x="3566160" y="2944368"/>
            <a:ext cx="22860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Claim pipeline fixed in two districts, mapped in eight, with a playbook states can adopt.</a:t>
            </a:r>
          </a:p>
        </p:txBody>
      </p:sp>
      <p:sp>
        <p:nvSpPr>
          <p:cNvPr id="17" name="Oval 16"/>
          <p:cNvSpPr/>
          <p:nvPr/>
        </p:nvSpPr>
        <p:spPr>
          <a:xfrm>
            <a:off x="566928" y="3749040"/>
            <a:ext cx="365760" cy="365760"/>
          </a:xfrm>
          <a:prstGeom prst="ellipse">
            <a:avLst/>
          </a:prstGeom>
          <a:solidFill>
            <a:srgbClr val="EFEDFF"/>
          </a:solidFill>
          <a:ln>
            <a:noFill/>
          </a:ln>
          <a:effectLst/>
        </p:spPr>
        <p:txBody>
          <a:bodyPr rtlCol="0" anchor="ctr"/>
          <a:lstStyle/>
          <a:p>
            <a:pPr algn="ctr"/>
          </a:p>
        </p:txBody>
      </p:sp>
      <p:pic>
        <p:nvPicPr>
          <p:cNvPr id="18" name="Picture 17" descr="cpu_4A35FF_256_2.0.png"/>
          <p:cNvPicPr>
            <a:picLocks noChangeAspect="1"/>
          </p:cNvPicPr>
          <p:nvPr/>
        </p:nvPicPr>
        <p:blipFill>
          <a:blip r:embed="rId4"/>
          <a:stretch>
            <a:fillRect/>
          </a:stretch>
        </p:blipFill>
        <p:spPr>
          <a:xfrm>
            <a:off x="654710" y="3836822"/>
            <a:ext cx="190195" cy="190195"/>
          </a:xfrm>
          <a:prstGeom prst="rect">
            <a:avLst/>
          </a:prstGeom>
        </p:spPr>
      </p:pic>
      <p:sp>
        <p:nvSpPr>
          <p:cNvPr id="19" name="TextBox 18"/>
          <p:cNvSpPr txBox="1"/>
          <p:nvPr/>
        </p:nvSpPr>
        <p:spPr>
          <a:xfrm>
            <a:off x="1097280" y="373075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SATARK</a:t>
            </a:r>
          </a:p>
        </p:txBody>
      </p:sp>
      <p:sp>
        <p:nvSpPr>
          <p:cNvPr id="20" name="TextBox 19"/>
          <p:cNvSpPr txBox="1"/>
          <p:nvPr/>
        </p:nvSpPr>
        <p:spPr>
          <a:xfrm>
            <a:off x="3566160" y="3730752"/>
            <a:ext cx="22860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From 3 cities toward 30, as shared public infrastructure for traffic police.</a:t>
            </a:r>
          </a:p>
        </p:txBody>
      </p:sp>
      <p:sp>
        <p:nvSpPr>
          <p:cNvPr id="21" name="Oval 20"/>
          <p:cNvSpPr/>
          <p:nvPr/>
        </p:nvSpPr>
        <p:spPr>
          <a:xfrm>
            <a:off x="566928" y="4535424"/>
            <a:ext cx="365760" cy="365760"/>
          </a:xfrm>
          <a:prstGeom prst="ellipse">
            <a:avLst/>
          </a:prstGeom>
          <a:solidFill>
            <a:srgbClr val="EFEDFF"/>
          </a:solidFill>
          <a:ln>
            <a:noFill/>
          </a:ln>
          <a:effectLst/>
        </p:spPr>
        <p:txBody>
          <a:bodyPr rtlCol="0" anchor="ctr"/>
          <a:lstStyle/>
          <a:p>
            <a:pPr algn="ctr"/>
          </a:p>
        </p:txBody>
      </p:sp>
      <p:pic>
        <p:nvPicPr>
          <p:cNvPr id="22" name="Picture 21" descr="rocket_4A35FF_256_2.0.png"/>
          <p:cNvPicPr>
            <a:picLocks noChangeAspect="1"/>
          </p:cNvPicPr>
          <p:nvPr/>
        </p:nvPicPr>
        <p:blipFill>
          <a:blip r:embed="rId5"/>
          <a:stretch>
            <a:fillRect/>
          </a:stretch>
        </p:blipFill>
        <p:spPr>
          <a:xfrm>
            <a:off x="654710" y="4623206"/>
            <a:ext cx="190195" cy="190195"/>
          </a:xfrm>
          <a:prstGeom prst="rect">
            <a:avLst/>
          </a:prstGeom>
        </p:spPr>
      </p:pic>
      <p:sp>
        <p:nvSpPr>
          <p:cNvPr id="23" name="TextBox 22"/>
          <p:cNvSpPr txBox="1"/>
          <p:nvPr/>
        </p:nvSpPr>
        <p:spPr>
          <a:xfrm>
            <a:off x="1097280" y="451713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Two exploratory bets</a:t>
            </a:r>
          </a:p>
        </p:txBody>
      </p:sp>
      <p:sp>
        <p:nvSpPr>
          <p:cNvPr id="24" name="TextBox 23"/>
          <p:cNvSpPr txBox="1"/>
          <p:nvPr/>
        </p:nvSpPr>
        <p:spPr>
          <a:xfrm>
            <a:off x="3566160" y="4517136"/>
            <a:ext cx="22860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School Safety Index and gig rider safety, each scaled only if a small, honest pilot earns it.</a:t>
            </a:r>
          </a:p>
        </p:txBody>
      </p:sp>
      <p:sp>
        <p:nvSpPr>
          <p:cNvPr id="25" name="Oval 24"/>
          <p:cNvSpPr/>
          <p:nvPr/>
        </p:nvSpPr>
        <p:spPr>
          <a:xfrm>
            <a:off x="566928" y="5321808"/>
            <a:ext cx="365760" cy="365760"/>
          </a:xfrm>
          <a:prstGeom prst="ellipse">
            <a:avLst/>
          </a:prstGeom>
          <a:solidFill>
            <a:srgbClr val="EFEDFF"/>
          </a:solidFill>
          <a:ln>
            <a:noFill/>
          </a:ln>
          <a:effectLst/>
        </p:spPr>
        <p:txBody>
          <a:bodyPr rtlCol="0" anchor="ctr"/>
          <a:lstStyle/>
          <a:p>
            <a:pPr algn="ctr"/>
          </a:p>
        </p:txBody>
      </p:sp>
      <p:pic>
        <p:nvPicPr>
          <p:cNvPr id="26" name="Picture 25" descr="building-2_4A35FF_256_2.0.png"/>
          <p:cNvPicPr>
            <a:picLocks noChangeAspect="1"/>
          </p:cNvPicPr>
          <p:nvPr/>
        </p:nvPicPr>
        <p:blipFill>
          <a:blip r:embed="rId6"/>
          <a:stretch>
            <a:fillRect/>
          </a:stretch>
        </p:blipFill>
        <p:spPr>
          <a:xfrm>
            <a:off x="654710" y="5409590"/>
            <a:ext cx="190195" cy="190195"/>
          </a:xfrm>
          <a:prstGeom prst="rect">
            <a:avLst/>
          </a:prstGeom>
        </p:spPr>
      </p:pic>
      <p:sp>
        <p:nvSpPr>
          <p:cNvPr id="27" name="TextBox 26"/>
          <p:cNvSpPr txBox="1"/>
          <p:nvPr/>
        </p:nvSpPr>
        <p:spPr>
          <a:xfrm>
            <a:off x="1097280" y="530352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Institutions that outlive us</a:t>
            </a:r>
          </a:p>
        </p:txBody>
      </p:sp>
      <p:sp>
        <p:nvSpPr>
          <p:cNvPr id="28" name="TextBox 27"/>
          <p:cNvSpPr txBox="1"/>
          <p:nvPr/>
        </p:nvSpPr>
        <p:spPr>
          <a:xfrm>
            <a:off x="3566160" y="5303520"/>
            <a:ext cx="22860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An expert consortium, an audit manual and a publishing cadence that outlive any single cohort.</a:t>
            </a:r>
          </a:p>
        </p:txBody>
      </p:sp>
      <p:sp>
        <p:nvSpPr>
          <p:cNvPr id="29" name="TextBox 28"/>
          <p:cNvSpPr txBox="1"/>
          <p:nvPr/>
        </p:nvSpPr>
        <p:spPr>
          <a:xfrm>
            <a:off x="6300216" y="1847088"/>
            <a:ext cx="5324551" cy="237744"/>
          </a:xfrm>
          <a:prstGeom prst="rect">
            <a:avLst/>
          </a:prstGeom>
          <a:noFill/>
        </p:spPr>
        <p:txBody>
          <a:bodyPr wrap="square" lIns="0" rIns="0" tIns="0" bIns="0" anchor="t">
            <a:spAutoFit/>
          </a:bodyPr>
          <a:lstStyle/>
          <a:p>
            <a:pPr algn="l">
              <a:lnSpc>
                <a:spcPct val="128000"/>
              </a:lnSpc>
            </a:pPr>
            <a:r>
              <a:rPr sz="900" b="1" i="0" spc="180">
                <a:solidFill>
                  <a:srgbClr val="6E7180"/>
                </a:solidFill>
                <a:latin typeface="Montserrat"/>
              </a:rPr>
              <a:t>WHERE GUIDANCE WOULD HELP</a:t>
            </a:r>
          </a:p>
        </p:txBody>
      </p:sp>
      <p:sp>
        <p:nvSpPr>
          <p:cNvPr id="30" name="Oval 29"/>
          <p:cNvSpPr/>
          <p:nvPr/>
        </p:nvSpPr>
        <p:spPr>
          <a:xfrm>
            <a:off x="6300216" y="2176272"/>
            <a:ext cx="365760" cy="365760"/>
          </a:xfrm>
          <a:prstGeom prst="ellipse">
            <a:avLst/>
          </a:prstGeom>
          <a:solidFill>
            <a:srgbClr val="E9F7F0"/>
          </a:solidFill>
          <a:ln>
            <a:noFill/>
          </a:ln>
          <a:effectLst/>
        </p:spPr>
        <p:txBody>
          <a:bodyPr rtlCol="0" anchor="ctr"/>
          <a:lstStyle/>
          <a:p>
            <a:pPr algn="ctr"/>
          </a:p>
        </p:txBody>
      </p:sp>
      <p:pic>
        <p:nvPicPr>
          <p:cNvPr id="31" name="Picture 30" descr="building-2_0A9955_256_2.0.png"/>
          <p:cNvPicPr>
            <a:picLocks noChangeAspect="1"/>
          </p:cNvPicPr>
          <p:nvPr/>
        </p:nvPicPr>
        <p:blipFill>
          <a:blip r:embed="rId7"/>
          <a:stretch>
            <a:fillRect/>
          </a:stretch>
        </p:blipFill>
        <p:spPr>
          <a:xfrm>
            <a:off x="6387998" y="2264054"/>
            <a:ext cx="190195" cy="190195"/>
          </a:xfrm>
          <a:prstGeom prst="rect">
            <a:avLst/>
          </a:prstGeom>
        </p:spPr>
      </p:pic>
      <p:sp>
        <p:nvSpPr>
          <p:cNvPr id="32" name="TextBox 31"/>
          <p:cNvSpPr txBox="1"/>
          <p:nvPr/>
        </p:nvSpPr>
        <p:spPr>
          <a:xfrm>
            <a:off x="6830568" y="2157984"/>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Institution building</a:t>
            </a:r>
          </a:p>
        </p:txBody>
      </p:sp>
      <p:sp>
        <p:nvSpPr>
          <p:cNvPr id="33" name="TextBox 32"/>
          <p:cNvSpPr txBox="1"/>
          <p:nvPr/>
        </p:nvSpPr>
        <p:spPr>
          <a:xfrm>
            <a:off x="9299448" y="2157984"/>
            <a:ext cx="2261311"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Turning young programmes into bodies with standards, governance and a life beyond the founding team.</a:t>
            </a:r>
          </a:p>
        </p:txBody>
      </p:sp>
      <p:sp>
        <p:nvSpPr>
          <p:cNvPr id="34" name="Oval 33"/>
          <p:cNvSpPr/>
          <p:nvPr/>
        </p:nvSpPr>
        <p:spPr>
          <a:xfrm>
            <a:off x="6300216" y="2962656"/>
            <a:ext cx="365760" cy="365760"/>
          </a:xfrm>
          <a:prstGeom prst="ellipse">
            <a:avLst/>
          </a:prstGeom>
          <a:solidFill>
            <a:srgbClr val="E9F7F0"/>
          </a:solidFill>
          <a:ln>
            <a:noFill/>
          </a:ln>
          <a:effectLst/>
        </p:spPr>
        <p:txBody>
          <a:bodyPr rtlCol="0" anchor="ctr"/>
          <a:lstStyle/>
          <a:p>
            <a:pPr algn="ctr"/>
          </a:p>
        </p:txBody>
      </p:sp>
      <p:pic>
        <p:nvPicPr>
          <p:cNvPr id="35" name="Picture 34" descr="landmark_0A9955_256_2.0.png"/>
          <p:cNvPicPr>
            <a:picLocks noChangeAspect="1"/>
          </p:cNvPicPr>
          <p:nvPr/>
        </p:nvPicPr>
        <p:blipFill>
          <a:blip r:embed="rId8"/>
          <a:stretch>
            <a:fillRect/>
          </a:stretch>
        </p:blipFill>
        <p:spPr>
          <a:xfrm>
            <a:off x="6387998" y="3050438"/>
            <a:ext cx="190195" cy="190195"/>
          </a:xfrm>
          <a:prstGeom prst="rect">
            <a:avLst/>
          </a:prstGeom>
        </p:spPr>
      </p:pic>
      <p:sp>
        <p:nvSpPr>
          <p:cNvPr id="36" name="TextBox 35"/>
          <p:cNvSpPr txBox="1"/>
          <p:nvPr/>
        </p:nvSpPr>
        <p:spPr>
          <a:xfrm>
            <a:off x="6830568" y="294436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Government at scale</a:t>
            </a:r>
          </a:p>
        </p:txBody>
      </p:sp>
      <p:sp>
        <p:nvSpPr>
          <p:cNvPr id="37" name="TextBox 36"/>
          <p:cNvSpPr txBox="1"/>
          <p:nvPr/>
        </p:nvSpPr>
        <p:spPr>
          <a:xfrm>
            <a:off x="9299448" y="2944368"/>
            <a:ext cx="2261311"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Deepening state partnerships while keeping our independence and our habit of publishing everything.</a:t>
            </a:r>
          </a:p>
        </p:txBody>
      </p:sp>
      <p:sp>
        <p:nvSpPr>
          <p:cNvPr id="38" name="Oval 37"/>
          <p:cNvSpPr/>
          <p:nvPr/>
        </p:nvSpPr>
        <p:spPr>
          <a:xfrm>
            <a:off x="6300216" y="3749040"/>
            <a:ext cx="365760" cy="365760"/>
          </a:xfrm>
          <a:prstGeom prst="ellipse">
            <a:avLst/>
          </a:prstGeom>
          <a:solidFill>
            <a:srgbClr val="E9F7F0"/>
          </a:solidFill>
          <a:ln>
            <a:noFill/>
          </a:ln>
          <a:effectLst/>
        </p:spPr>
        <p:txBody>
          <a:bodyPr rtlCol="0" anchor="ctr"/>
          <a:lstStyle/>
          <a:p>
            <a:pPr algn="ctr"/>
          </a:p>
        </p:txBody>
      </p:sp>
      <p:pic>
        <p:nvPicPr>
          <p:cNvPr id="39" name="Picture 38" descr="users_0A9955_256_2.0.png"/>
          <p:cNvPicPr>
            <a:picLocks noChangeAspect="1"/>
          </p:cNvPicPr>
          <p:nvPr/>
        </p:nvPicPr>
        <p:blipFill>
          <a:blip r:embed="rId9"/>
          <a:stretch>
            <a:fillRect/>
          </a:stretch>
        </p:blipFill>
        <p:spPr>
          <a:xfrm>
            <a:off x="6387998" y="3836822"/>
            <a:ext cx="190195" cy="190195"/>
          </a:xfrm>
          <a:prstGeom prst="rect">
            <a:avLst/>
          </a:prstGeom>
        </p:spPr>
      </p:pic>
      <p:sp>
        <p:nvSpPr>
          <p:cNvPr id="40" name="TextBox 39"/>
          <p:cNvSpPr txBox="1"/>
          <p:nvPr/>
        </p:nvSpPr>
        <p:spPr>
          <a:xfrm>
            <a:off x="6830568" y="373075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People and leadership</a:t>
            </a:r>
          </a:p>
        </p:txBody>
      </p:sp>
      <p:sp>
        <p:nvSpPr>
          <p:cNvPr id="41" name="TextBox 40"/>
          <p:cNvSpPr txBox="1"/>
          <p:nvPr/>
        </p:nvSpPr>
        <p:spPr>
          <a:xfrm>
            <a:off x="9299448" y="3730752"/>
            <a:ext cx="2261311"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Growing a young team into leaders, and drawing senior operators to a nonprofit mission.</a:t>
            </a:r>
          </a:p>
        </p:txBody>
      </p:sp>
      <p:sp>
        <p:nvSpPr>
          <p:cNvPr id="42" name="Oval 41"/>
          <p:cNvSpPr/>
          <p:nvPr/>
        </p:nvSpPr>
        <p:spPr>
          <a:xfrm>
            <a:off x="6300216" y="4535424"/>
            <a:ext cx="365760" cy="365760"/>
          </a:xfrm>
          <a:prstGeom prst="ellipse">
            <a:avLst/>
          </a:prstGeom>
          <a:solidFill>
            <a:srgbClr val="E9F7F0"/>
          </a:solidFill>
          <a:ln>
            <a:noFill/>
          </a:ln>
          <a:effectLst/>
        </p:spPr>
        <p:txBody>
          <a:bodyPr rtlCol="0" anchor="ctr"/>
          <a:lstStyle/>
          <a:p>
            <a:pPr algn="ctr"/>
          </a:p>
        </p:txBody>
      </p:sp>
      <p:pic>
        <p:nvPicPr>
          <p:cNvPr id="43" name="Picture 42" descr="banknote_0A9955_256_2.0.png"/>
          <p:cNvPicPr>
            <a:picLocks noChangeAspect="1"/>
          </p:cNvPicPr>
          <p:nvPr/>
        </p:nvPicPr>
        <p:blipFill>
          <a:blip r:embed="rId10"/>
          <a:stretch>
            <a:fillRect/>
          </a:stretch>
        </p:blipFill>
        <p:spPr>
          <a:xfrm>
            <a:off x="6387998" y="4623206"/>
            <a:ext cx="190195" cy="190195"/>
          </a:xfrm>
          <a:prstGeom prst="rect">
            <a:avLst/>
          </a:prstGeom>
        </p:spPr>
      </p:pic>
      <p:sp>
        <p:nvSpPr>
          <p:cNvPr id="44" name="TextBox 43"/>
          <p:cNvSpPr txBox="1"/>
          <p:nvPr/>
        </p:nvSpPr>
        <p:spPr>
          <a:xfrm>
            <a:off x="6830568" y="451713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Sustainability</a:t>
            </a:r>
          </a:p>
        </p:txBody>
      </p:sp>
      <p:sp>
        <p:nvSpPr>
          <p:cNvPr id="45" name="TextBox 44"/>
          <p:cNvSpPr txBox="1"/>
          <p:nvPr/>
        </p:nvSpPr>
        <p:spPr>
          <a:xfrm>
            <a:off x="9299448" y="4517136"/>
            <a:ext cx="2261311"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Building funding lines beyond the founding commitment, without distorting what we work on.</a:t>
            </a:r>
          </a:p>
        </p:txBody>
      </p:sp>
      <p:sp>
        <p:nvSpPr>
          <p:cNvPr id="46" name="Oval 45"/>
          <p:cNvSpPr/>
          <p:nvPr/>
        </p:nvSpPr>
        <p:spPr>
          <a:xfrm>
            <a:off x="6300216" y="5321808"/>
            <a:ext cx="365760" cy="365760"/>
          </a:xfrm>
          <a:prstGeom prst="ellipse">
            <a:avLst/>
          </a:prstGeom>
          <a:solidFill>
            <a:srgbClr val="E9F7F0"/>
          </a:solidFill>
          <a:ln>
            <a:noFill/>
          </a:ln>
          <a:effectLst/>
        </p:spPr>
        <p:txBody>
          <a:bodyPr rtlCol="0" anchor="ctr"/>
          <a:lstStyle/>
          <a:p>
            <a:pPr algn="ctr"/>
          </a:p>
        </p:txBody>
      </p:sp>
      <p:pic>
        <p:nvPicPr>
          <p:cNvPr id="47" name="Picture 46" descr="target_0A9955_256_2.0.png"/>
          <p:cNvPicPr>
            <a:picLocks noChangeAspect="1"/>
          </p:cNvPicPr>
          <p:nvPr/>
        </p:nvPicPr>
        <p:blipFill>
          <a:blip r:embed="rId11"/>
          <a:stretch>
            <a:fillRect/>
          </a:stretch>
        </p:blipFill>
        <p:spPr>
          <a:xfrm>
            <a:off x="6387998" y="5409590"/>
            <a:ext cx="190195" cy="190195"/>
          </a:xfrm>
          <a:prstGeom prst="rect">
            <a:avLst/>
          </a:prstGeom>
        </p:spPr>
      </p:pic>
      <p:sp>
        <p:nvSpPr>
          <p:cNvPr id="48" name="TextBox 47"/>
          <p:cNvSpPr txBox="1"/>
          <p:nvPr/>
        </p:nvSpPr>
        <p:spPr>
          <a:xfrm>
            <a:off x="6830568" y="530352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Focus</a:t>
            </a:r>
          </a:p>
        </p:txBody>
      </p:sp>
      <p:sp>
        <p:nvSpPr>
          <p:cNvPr id="49" name="TextBox 48"/>
          <p:cNvSpPr txBox="1"/>
          <p:nvPr/>
        </p:nvSpPr>
        <p:spPr>
          <a:xfrm>
            <a:off x="9299448" y="5303520"/>
            <a:ext cx="2261311"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What to stop, what to scale, and when. The discipline of a small organisation with a national mission.</a:t>
            </a:r>
          </a:p>
        </p:txBody>
      </p:sp>
      <p:cxnSp>
        <p:nvCxnSpPr>
          <p:cNvPr id="50" name="Connector 49"/>
          <p:cNvCxnSpPr/>
          <p:nvPr/>
        </p:nvCxnSpPr>
        <p:spPr>
          <a:xfrm>
            <a:off x="566928" y="6455664"/>
            <a:ext cx="11057839" cy="0"/>
          </a:xfrm>
          <a:prstGeom prst="line">
            <a:avLst/>
          </a:prstGeom>
          <a:ln w="9525">
            <a:solidFill>
              <a:srgbClr val="E8E9EE"/>
            </a:solidFill>
          </a:ln>
          <a:effectLst/>
        </p:spPr>
      </p:cxnSp>
      <p:sp>
        <p:nvSpPr>
          <p:cNvPr id="51" name="TextBox 50"/>
          <p:cNvSpPr txBox="1"/>
          <p:nvPr/>
        </p:nvSpPr>
        <p:spPr>
          <a:xfrm>
            <a:off x="566928" y="6528816"/>
            <a:ext cx="82296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A briefing for mentors  ·  2026</a:t>
            </a:r>
          </a:p>
        </p:txBody>
      </p:sp>
      <p:sp>
        <p:nvSpPr>
          <p:cNvPr id="52" name="TextBox 5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A35FF"/>
          </a:solidFill>
          <a:ln>
            <a:noFill/>
          </a:ln>
          <a:effectLst/>
        </p:spPr>
        <p:txBody>
          <a:bodyPr rtlCol="0" anchor="ctr"/>
          <a:lstStyle/>
          <a:p>
            <a:pPr algn="ctr"/>
          </a:p>
        </p:txBody>
      </p:sp>
      <p:pic>
        <p:nvPicPr>
          <p:cNvPr id="3" name="Picture 2" descr="logo_white.png"/>
          <p:cNvPicPr>
            <a:picLocks noChangeAspect="1"/>
          </p:cNvPicPr>
          <p:nvPr/>
        </p:nvPicPr>
        <p:blipFill>
          <a:blip r:embed="rId2"/>
          <a:stretch>
            <a:fillRect/>
          </a:stretch>
        </p:blipFill>
        <p:spPr>
          <a:xfrm>
            <a:off x="566928" y="566928"/>
            <a:ext cx="1828800" cy="252710"/>
          </a:xfrm>
          <a:prstGeom prst="rect">
            <a:avLst/>
          </a:prstGeom>
        </p:spPr>
      </p:pic>
      <p:sp>
        <p:nvSpPr>
          <p:cNvPr id="4" name="TextBox 3"/>
          <p:cNvSpPr txBox="1"/>
          <p:nvPr/>
        </p:nvSpPr>
        <p:spPr>
          <a:xfrm>
            <a:off x="566928" y="1920240"/>
            <a:ext cx="11064240" cy="1280160"/>
          </a:xfrm>
          <a:prstGeom prst="rect">
            <a:avLst/>
          </a:prstGeom>
          <a:noFill/>
        </p:spPr>
        <p:txBody>
          <a:bodyPr wrap="square" lIns="0" rIns="0" tIns="0" bIns="0" anchor="t">
            <a:spAutoFit/>
          </a:bodyPr>
          <a:lstStyle/>
          <a:p>
            <a:pPr algn="l">
              <a:lnSpc>
                <a:spcPct val="120000"/>
              </a:lnSpc>
            </a:pPr>
            <a:r>
              <a:rPr sz="3200" b="1" i="0">
                <a:solidFill>
                  <a:srgbClr val="FFFFFF"/>
                </a:solidFill>
                <a:latin typeface="Montserrat"/>
              </a:rPr>
              <a:t>No life lost on an Indian road</a:t>
            </a:r>
          </a:p>
          <a:p>
            <a:pPr algn="l">
              <a:lnSpc>
                <a:spcPct val="120000"/>
              </a:lnSpc>
            </a:pPr>
            <a:r>
              <a:rPr sz="3200" b="1" i="0">
                <a:solidFill>
                  <a:srgbClr val="FFFFFF"/>
                </a:solidFill>
                <a:latin typeface="Montserrat"/>
              </a:rPr>
              <a:t>is acceptable.</a:t>
            </a:r>
          </a:p>
        </p:txBody>
      </p:sp>
      <p:sp>
        <p:nvSpPr>
          <p:cNvPr id="5" name="TextBox 4"/>
          <p:cNvSpPr txBox="1"/>
          <p:nvPr/>
        </p:nvSpPr>
        <p:spPr>
          <a:xfrm>
            <a:off x="566928" y="3520440"/>
            <a:ext cx="10515600" cy="548640"/>
          </a:xfrm>
          <a:prstGeom prst="rect">
            <a:avLst/>
          </a:prstGeom>
          <a:noFill/>
        </p:spPr>
        <p:txBody>
          <a:bodyPr wrap="square" lIns="0" rIns="0" tIns="0" bIns="0" anchor="t">
            <a:spAutoFit/>
          </a:bodyPr>
          <a:lstStyle/>
          <a:p>
            <a:pPr algn="l">
              <a:lnSpc>
                <a:spcPct val="140000"/>
              </a:lnSpc>
            </a:pPr>
            <a:r>
              <a:rPr sz="1250" b="0" i="0">
                <a:solidFill>
                  <a:srgbClr val="C8C0FF"/>
                </a:solidFill>
                <a:latin typeface="Geist"/>
              </a:rPr>
              <a:t>We add the hands, the evidence and the tools that turn that goal into work the system can carry, and we track it in public.</a:t>
            </a:r>
          </a:p>
        </p:txBody>
      </p:sp>
      <p:cxnSp>
        <p:nvCxnSpPr>
          <p:cNvPr id="6" name="Connector 5"/>
          <p:cNvCxnSpPr/>
          <p:nvPr/>
        </p:nvCxnSpPr>
        <p:spPr>
          <a:xfrm>
            <a:off x="566928" y="4315968"/>
            <a:ext cx="4754880" cy="0"/>
          </a:xfrm>
          <a:prstGeom prst="line">
            <a:avLst/>
          </a:prstGeom>
          <a:ln w="12700">
            <a:solidFill>
              <a:srgbClr val="6A55FF"/>
            </a:solidFill>
          </a:ln>
          <a:effectLst/>
        </p:spPr>
      </p:cxnSp>
      <p:sp>
        <p:nvSpPr>
          <p:cNvPr id="7" name="TextBox 6"/>
          <p:cNvSpPr txBox="1"/>
          <p:nvPr/>
        </p:nvSpPr>
        <p:spPr>
          <a:xfrm>
            <a:off x="566928" y="4517136"/>
            <a:ext cx="9875520" cy="777240"/>
          </a:xfrm>
          <a:prstGeom prst="rect">
            <a:avLst/>
          </a:prstGeom>
          <a:noFill/>
        </p:spPr>
        <p:txBody>
          <a:bodyPr wrap="square" lIns="0" rIns="0" tIns="0" bIns="0" anchor="t">
            <a:spAutoFit/>
          </a:bodyPr>
          <a:lstStyle/>
          <a:p>
            <a:pPr algn="l">
              <a:lnSpc>
                <a:spcPct val="135000"/>
              </a:lnSpc>
            </a:pPr>
            <a:r>
              <a:rPr sz="1400" b="1" i="1">
                <a:solidFill>
                  <a:srgbClr val="FFFFFF"/>
                </a:solidFill>
                <a:latin typeface="Montserrat"/>
              </a:rPr>
              <a:t>"We already know what is going wrong. What we need now is more responsibility, more discipline, more respect for life."</a:t>
            </a:r>
          </a:p>
        </p:txBody>
      </p:sp>
      <p:sp>
        <p:nvSpPr>
          <p:cNvPr id="8" name="TextBox 7"/>
          <p:cNvSpPr txBox="1"/>
          <p:nvPr/>
        </p:nvSpPr>
        <p:spPr>
          <a:xfrm>
            <a:off x="566928" y="5175504"/>
            <a:ext cx="7315200" cy="274320"/>
          </a:xfrm>
          <a:prstGeom prst="rect">
            <a:avLst/>
          </a:prstGeom>
          <a:noFill/>
        </p:spPr>
        <p:txBody>
          <a:bodyPr wrap="square" lIns="0" rIns="0" tIns="0" bIns="0" anchor="t">
            <a:spAutoFit/>
          </a:bodyPr>
          <a:lstStyle/>
          <a:p>
            <a:pPr algn="l">
              <a:lnSpc>
                <a:spcPct val="128000"/>
              </a:lnSpc>
            </a:pPr>
            <a:r>
              <a:rPr sz="1000" b="0" i="0">
                <a:solidFill>
                  <a:srgbClr val="C8C0FF"/>
                </a:solidFill>
                <a:latin typeface="Geist"/>
              </a:rPr>
              <a:t>MS Dhoni · Goodwill Ambassador, Crashfree India</a:t>
            </a:r>
          </a:p>
        </p:txBody>
      </p:sp>
      <p:pic>
        <p:nvPicPr>
          <p:cNvPr id="9" name="Picture 8" descr="globe_C8C0FF_256_2.0.png"/>
          <p:cNvPicPr>
            <a:picLocks noChangeAspect="1"/>
          </p:cNvPicPr>
          <p:nvPr/>
        </p:nvPicPr>
        <p:blipFill>
          <a:blip r:embed="rId3"/>
          <a:stretch>
            <a:fillRect/>
          </a:stretch>
        </p:blipFill>
        <p:spPr>
          <a:xfrm>
            <a:off x="566928" y="5614416"/>
            <a:ext cx="256032" cy="256032"/>
          </a:xfrm>
          <a:prstGeom prst="rect">
            <a:avLst/>
          </a:prstGeom>
        </p:spPr>
      </p:pic>
      <p:sp>
        <p:nvSpPr>
          <p:cNvPr id="10" name="TextBox 9"/>
          <p:cNvSpPr txBox="1"/>
          <p:nvPr/>
        </p:nvSpPr>
        <p:spPr>
          <a:xfrm>
            <a:off x="978408" y="5596128"/>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crashfreeindia.org</a:t>
            </a:r>
          </a:p>
        </p:txBody>
      </p:sp>
      <p:pic>
        <p:nvPicPr>
          <p:cNvPr id="11" name="Picture 10" descr="mail_C8C0FF_256_2.0.png"/>
          <p:cNvPicPr>
            <a:picLocks noChangeAspect="1"/>
          </p:cNvPicPr>
          <p:nvPr/>
        </p:nvPicPr>
        <p:blipFill>
          <a:blip r:embed="rId4"/>
          <a:stretch>
            <a:fillRect/>
          </a:stretch>
        </p:blipFill>
        <p:spPr>
          <a:xfrm>
            <a:off x="566928" y="6035040"/>
            <a:ext cx="256032" cy="256032"/>
          </a:xfrm>
          <a:prstGeom prst="rect">
            <a:avLst/>
          </a:prstGeom>
        </p:spPr>
      </p:pic>
      <p:sp>
        <p:nvSpPr>
          <p:cNvPr id="12" name="TextBox 11"/>
          <p:cNvSpPr txBox="1"/>
          <p:nvPr/>
        </p:nvSpPr>
        <p:spPr>
          <a:xfrm>
            <a:off x="978408" y="6016752"/>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akhtar@crashfreeindia.org  ·  helpdesk@crashfreeindia.org</a:t>
            </a:r>
          </a:p>
        </p:txBody>
      </p:sp>
      <p:sp>
        <p:nvSpPr>
          <p:cNvPr id="13" name="TextBox 12"/>
          <p:cNvSpPr txBox="1"/>
          <p:nvPr/>
        </p:nvSpPr>
        <p:spPr>
          <a:xfrm>
            <a:off x="566928" y="6446520"/>
            <a:ext cx="10972800" cy="274320"/>
          </a:xfrm>
          <a:prstGeom prst="rect">
            <a:avLst/>
          </a:prstGeom>
          <a:noFill/>
        </p:spPr>
        <p:txBody>
          <a:bodyPr wrap="square" lIns="0" rIns="0" tIns="0" bIns="0" anchor="t">
            <a:spAutoFit/>
          </a:bodyPr>
          <a:lstStyle/>
          <a:p>
            <a:pPr algn="l">
              <a:lnSpc>
                <a:spcPct val="128000"/>
              </a:lnSpc>
            </a:pPr>
            <a:r>
              <a:rPr sz="950" b="0" i="0">
                <a:solidFill>
                  <a:srgbClr val="C8C0FF"/>
                </a:solidFill>
                <a:latin typeface="Geist"/>
              </a:rPr>
              <a:t>Crashfree India · A Cars24 commitment · Operated by Vision Zero Trust, New Delhi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