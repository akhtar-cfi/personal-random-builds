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 Id="rId7"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png"/><Relationship Id="rId4" Type="http://schemas.openxmlformats.org/officeDocument/2006/relationships/image" Target="../media/image8.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jpg"/><Relationship Id="rId9"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42.png"/><Relationship Id="rId4" Type="http://schemas.openxmlformats.org/officeDocument/2006/relationships/image" Target="../media/image4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52.jpg"/><Relationship Id="rId4" Type="http://schemas.openxmlformats.org/officeDocument/2006/relationships/image" Target="../media/image53.jpg"/><Relationship Id="rId5" Type="http://schemas.openxmlformats.org/officeDocument/2006/relationships/image" Target="../media/image54.jpg"/><Relationship Id="rId6" Type="http://schemas.openxmlformats.org/officeDocument/2006/relationships/image" Target="../media/image5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57.jp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68.png"/><Relationship Id="rId10" Type="http://schemas.openxmlformats.org/officeDocument/2006/relationships/image" Target="../media/image69.png"/><Relationship Id="rId11" Type="http://schemas.openxmlformats.org/officeDocument/2006/relationships/image" Target="../media/image70.png"/><Relationship Id="rId12" Type="http://schemas.openxmlformats.org/officeDocument/2006/relationships/image" Target="../media/image71.png"/><Relationship Id="rId13" Type="http://schemas.openxmlformats.org/officeDocument/2006/relationships/image" Target="../media/image72.png"/><Relationship Id="rId14" Type="http://schemas.openxmlformats.org/officeDocument/2006/relationships/image" Target="../media/image7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75.png"/><Relationship Id="rId6" Type="http://schemas.openxmlformats.org/officeDocument/2006/relationships/image" Target="../media/image4.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image" Target="../media/image79.png"/><Relationship Id="rId11" Type="http://schemas.openxmlformats.org/officeDocument/2006/relationships/image" Target="../media/image8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 BRIEFING FOR MENTORS  ·  2026</a:t>
            </a:r>
          </a:p>
        </p:txBody>
      </p:sp>
      <p:sp>
        <p:nvSpPr>
          <p:cNvPr id="5" name="TextBox 4"/>
          <p:cNvSpPr txBox="1"/>
          <p:nvPr/>
        </p:nvSpPr>
        <p:spPr>
          <a:xfrm>
            <a:off x="566928" y="1517904"/>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A ROAD SAFETY NONPROFIT  ·  NEW DELHI</a:t>
            </a:r>
          </a:p>
        </p:txBody>
      </p:sp>
      <p:sp>
        <p:nvSpPr>
          <p:cNvPr id="6" name="TextBox 5"/>
          <p:cNvSpPr txBox="1"/>
          <p:nvPr/>
        </p:nvSpPr>
        <p:spPr>
          <a:xfrm>
            <a:off x="566928" y="1901952"/>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779776"/>
            <a:ext cx="7589520" cy="777240"/>
          </a:xfrm>
          <a:prstGeom prst="rect">
            <a:avLst/>
          </a:prstGeom>
          <a:noFill/>
        </p:spPr>
        <p:txBody>
          <a:bodyPr wrap="square" lIns="0" rIns="0" tIns="0" bIns="0" anchor="t">
            <a:spAutoFit/>
          </a:bodyPr>
          <a:lstStyle/>
          <a:p>
            <a:pPr algn="l">
              <a:lnSpc>
                <a:spcPct val="125000"/>
              </a:lnSpc>
            </a:pPr>
            <a:r>
              <a:rPr sz="1600" b="1" i="0">
                <a:solidFill>
                  <a:srgbClr val="4A35FF"/>
                </a:solidFill>
                <a:latin typeface="Montserrat"/>
              </a:rPr>
              <a:t>Technology and governance for road safety,</a:t>
            </a:r>
          </a:p>
          <a:p>
            <a:pPr algn="l">
              <a:lnSpc>
                <a:spcPct val="125000"/>
              </a:lnSpc>
            </a:pPr>
            <a:r>
              <a:rPr sz="1600" b="1" i="0">
                <a:solidFill>
                  <a:srgbClr val="4A35FF"/>
                </a:solidFill>
                <a:latin typeface="Montserrat"/>
              </a:rPr>
              <a:t>built into an institution designed to make itself redundant</a:t>
            </a:r>
          </a:p>
        </p:txBody>
      </p:sp>
      <p:sp>
        <p:nvSpPr>
          <p:cNvPr id="8" name="Oval 7"/>
          <p:cNvSpPr/>
          <p:nvPr/>
        </p:nvSpPr>
        <p:spPr>
          <a:xfrm>
            <a:off x="566928" y="4133087"/>
            <a:ext cx="365760" cy="365760"/>
          </a:xfrm>
          <a:prstGeom prst="ellipse">
            <a:avLst/>
          </a:prstGeom>
          <a:solidFill>
            <a:srgbClr val="EFEDFF"/>
          </a:solidFill>
          <a:ln>
            <a:noFill/>
          </a:ln>
          <a:effectLst/>
        </p:spPr>
        <p:txBody>
          <a:bodyPr rtlCol="0" anchor="ctr"/>
          <a:lstStyle/>
          <a:p>
            <a:pPr algn="ctr"/>
          </a:p>
        </p:txBody>
      </p:sp>
      <p:pic>
        <p:nvPicPr>
          <p:cNvPr id="9" name="Picture 8" descr="cpu_4A35FF_256_2.0.png"/>
          <p:cNvPicPr>
            <a:picLocks noChangeAspect="1"/>
          </p:cNvPicPr>
          <p:nvPr/>
        </p:nvPicPr>
        <p:blipFill>
          <a:blip r:embed="rId3"/>
          <a:stretch>
            <a:fillRect/>
          </a:stretch>
        </p:blipFill>
        <p:spPr>
          <a:xfrm>
            <a:off x="654710" y="4220869"/>
            <a:ext cx="190195" cy="190195"/>
          </a:xfrm>
          <a:prstGeom prst="rect">
            <a:avLst/>
          </a:prstGeom>
        </p:spPr>
      </p:pic>
      <p:sp>
        <p:nvSpPr>
          <p:cNvPr id="10" name="TextBox 9"/>
          <p:cNvSpPr txBox="1"/>
          <p:nvPr/>
        </p:nvSpPr>
        <p:spPr>
          <a:xfrm>
            <a:off x="1078992" y="4178807"/>
            <a:ext cx="717804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Digital public goods: enforcement AI, open data platforms, victim tools on WhatsApp</a:t>
            </a:r>
          </a:p>
        </p:txBody>
      </p:sp>
      <p:sp>
        <p:nvSpPr>
          <p:cNvPr id="11" name="Oval 10"/>
          <p:cNvSpPr/>
          <p:nvPr/>
        </p:nvSpPr>
        <p:spPr>
          <a:xfrm>
            <a:off x="566928" y="4681727"/>
            <a:ext cx="365760" cy="365760"/>
          </a:xfrm>
          <a:prstGeom prst="ellipse">
            <a:avLst/>
          </a:prstGeom>
          <a:solidFill>
            <a:srgbClr val="EFEDFF"/>
          </a:solidFill>
          <a:ln>
            <a:noFill/>
          </a:ln>
          <a:effectLst/>
        </p:spPr>
        <p:txBody>
          <a:bodyPr rtlCol="0" anchor="ctr"/>
          <a:lstStyle/>
          <a:p>
            <a:pPr algn="ctr"/>
          </a:p>
        </p:txBody>
      </p:sp>
      <p:pic>
        <p:nvPicPr>
          <p:cNvPr id="12" name="Picture 11" descr="landmark_4A35FF_256_2.0.png"/>
          <p:cNvPicPr>
            <a:picLocks noChangeAspect="1"/>
          </p:cNvPicPr>
          <p:nvPr/>
        </p:nvPicPr>
        <p:blipFill>
          <a:blip r:embed="rId4"/>
          <a:stretch>
            <a:fillRect/>
          </a:stretch>
        </p:blipFill>
        <p:spPr>
          <a:xfrm>
            <a:off x="654710" y="4769509"/>
            <a:ext cx="190195" cy="190195"/>
          </a:xfrm>
          <a:prstGeom prst="rect">
            <a:avLst/>
          </a:prstGeom>
        </p:spPr>
      </p:pic>
      <p:sp>
        <p:nvSpPr>
          <p:cNvPr id="13" name="TextBox 12"/>
          <p:cNvSpPr txBox="1"/>
          <p:nvPr/>
        </p:nvSpPr>
        <p:spPr>
          <a:xfrm>
            <a:off x="1078992" y="4727447"/>
            <a:ext cx="717804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Governance from inside: 4 district committee seats, police MoUs, 25+ written approvals</a:t>
            </a:r>
          </a:p>
        </p:txBody>
      </p:sp>
      <p:sp>
        <p:nvSpPr>
          <p:cNvPr id="14" name="Oval 13"/>
          <p:cNvSpPr/>
          <p:nvPr/>
        </p:nvSpPr>
        <p:spPr>
          <a:xfrm>
            <a:off x="566928" y="5230367"/>
            <a:ext cx="365760" cy="365760"/>
          </a:xfrm>
          <a:prstGeom prst="ellipse">
            <a:avLst/>
          </a:prstGeom>
          <a:solidFill>
            <a:srgbClr val="EFEDFF"/>
          </a:solidFill>
          <a:ln>
            <a:noFill/>
          </a:ln>
          <a:effectLst/>
        </p:spPr>
        <p:txBody>
          <a:bodyPr rtlCol="0" anchor="ctr"/>
          <a:lstStyle/>
          <a:p>
            <a:pPr algn="ctr"/>
          </a:p>
        </p:txBody>
      </p:sp>
      <p:pic>
        <p:nvPicPr>
          <p:cNvPr id="15" name="Picture 14" descr="building-2_4A35FF_256_2.0.png"/>
          <p:cNvPicPr>
            <a:picLocks noChangeAspect="1"/>
          </p:cNvPicPr>
          <p:nvPr/>
        </p:nvPicPr>
        <p:blipFill>
          <a:blip r:embed="rId5"/>
          <a:stretch>
            <a:fillRect/>
          </a:stretch>
        </p:blipFill>
        <p:spPr>
          <a:xfrm>
            <a:off x="654710" y="5318149"/>
            <a:ext cx="190195" cy="190195"/>
          </a:xfrm>
          <a:prstGeom prst="rect">
            <a:avLst/>
          </a:prstGeom>
        </p:spPr>
      </p:pic>
      <p:sp>
        <p:nvSpPr>
          <p:cNvPr id="16" name="TextBox 15"/>
          <p:cNvSpPr txBox="1"/>
          <p:nvPr/>
        </p:nvSpPr>
        <p:spPr>
          <a:xfrm>
            <a:off x="1078992" y="5276087"/>
            <a:ext cx="717804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Standards, manuals and dashboards built so the system can run this work without us</a:t>
            </a:r>
          </a:p>
        </p:txBody>
      </p:sp>
      <p:sp>
        <p:nvSpPr>
          <p:cNvPr id="17" name="TextBox 16"/>
          <p:cNvSpPr txBox="1"/>
          <p:nvPr/>
        </p:nvSpPr>
        <p:spPr>
          <a:xfrm>
            <a:off x="566928" y="5870448"/>
            <a:ext cx="7680960" cy="274320"/>
          </a:xfrm>
          <a:prstGeom prst="rect">
            <a:avLst/>
          </a:prstGeom>
          <a:noFill/>
        </p:spPr>
        <p:txBody>
          <a:bodyPr wrap="square" lIns="0" rIns="0" tIns="0" bIns="0" anchor="t">
            <a:spAutoFit/>
          </a:bodyPr>
          <a:lstStyle/>
          <a:p>
            <a:pPr algn="l">
              <a:lnSpc>
                <a:spcPct val="128000"/>
              </a:lnSpc>
            </a:pPr>
            <a:r>
              <a:rPr sz="900" b="1" i="0" spc="160">
                <a:solidFill>
                  <a:srgbClr val="4A35FF"/>
                </a:solidFill>
                <a:latin typeface="Montserrat"/>
              </a:rPr>
              <a:t>FOCUS AREAS   </a:t>
            </a:r>
            <a:r>
              <a:rPr sz="950" b="1" i="0">
                <a:solidFill>
                  <a:srgbClr val="16181D"/>
                </a:solidFill>
                <a:latin typeface="Montserrat"/>
              </a:rPr>
              <a:t>Road infrastructure · Enforcement · Crash compensation · Gig rider safety · School zones · Open data</a:t>
            </a:r>
          </a:p>
        </p:txBody>
      </p:sp>
      <p:sp>
        <p:nvSpPr>
          <p:cNvPr id="18" name="TextBox 17"/>
          <p:cNvSpPr txBox="1"/>
          <p:nvPr/>
        </p:nvSpPr>
        <p:spPr>
          <a:xfrm>
            <a:off x="566928" y="6327648"/>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Registered as the Vision Zero Trust · A Cars24 commitment · Co-founded with the Indian Road Safety Council</a:t>
            </a:r>
          </a:p>
        </p:txBody>
      </p:sp>
      <p:sp>
        <p:nvSpPr>
          <p:cNvPr id="19" name="TextBox 18"/>
          <p:cNvSpPr txBox="1"/>
          <p:nvPr/>
        </p:nvSpPr>
        <p:spPr>
          <a:xfrm>
            <a:off x="9247327" y="6327648"/>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20" name="Picture 19" descr="ph_dhoni_white.jpg_3.60x4.90_0.12.jpg"/>
          <p:cNvPicPr>
            <a:picLocks noChangeAspect="1"/>
          </p:cNvPicPr>
          <p:nvPr/>
        </p:nvPicPr>
        <p:blipFill>
          <a:blip r:embed="rId6"/>
          <a:stretch>
            <a:fillRect/>
          </a:stretch>
        </p:blipFill>
        <p:spPr>
          <a:xfrm>
            <a:off x="8321040" y="1051560"/>
            <a:ext cx="3291840" cy="4480560"/>
          </a:xfrm>
          <a:prstGeom prst="rect">
            <a:avLst/>
          </a:prstGeom>
        </p:spPr>
      </p:pic>
      <p:sp>
        <p:nvSpPr>
          <p:cNvPr id="21" name="Rectangle 20"/>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2" name="Rectangle 21"/>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3" name="TextBox 22"/>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personal </a:t>
            </a:r>
            <a:r>
              <a:rPr sz="2250" b="1" i="0">
                <a:solidFill>
                  <a:srgbClr val="4A35FF"/>
                </a:solidFill>
                <a:latin typeface="Montserrat"/>
              </a:rPr>
              <a:t>note</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12848"/>
            <a:ext cx="8412480" cy="3383280"/>
          </a:xfrm>
          <a:prstGeom prst="rect">
            <a:avLst/>
          </a:prstGeom>
          <a:noFill/>
        </p:spPr>
        <p:txBody>
          <a:bodyPr wrap="square" lIns="0" rIns="0" tIns="0" bIns="0" anchor="t">
            <a:spAutoFit/>
          </a:bodyPr>
          <a:lstStyle/>
          <a:p>
            <a:pPr algn="l">
              <a:lnSpc>
                <a:spcPct val="128000"/>
              </a:lnSpc>
              <a:spcAft>
                <a:spcPts val="650"/>
              </a:spcAft>
            </a:pPr>
            <a:r>
              <a:rPr sz="1040" b="0" i="0">
                <a:solidFill>
                  <a:srgbClr val="16181D"/>
                </a:solidFill>
                <a:latin typeface="Geist"/>
              </a:rPr>
              <a:t>Dear friend,</a:t>
            </a:r>
          </a:p>
          <a:p>
            <a:pPr algn="l">
              <a:lnSpc>
                <a:spcPct val="128000"/>
              </a:lnSpc>
              <a:spcAft>
                <a:spcPts val="650"/>
              </a:spcAft>
            </a:pPr>
            <a:r>
              <a:rPr sz="1040" b="0" i="0">
                <a:solidFill>
                  <a:srgbClr val="16181D"/>
                </a:solidFill>
                <a:latin typeface="Geist"/>
              </a:rPr>
              <a:t>This deck goes to a small set of people whose judgement I deeply admire. I am writing to ask for something specific: your counsel, from time to time, as Crashfree India grows.</a:t>
            </a:r>
          </a:p>
          <a:p>
            <a:pPr algn="l">
              <a:lnSpc>
                <a:spcPct val="128000"/>
              </a:lnSpc>
              <a:spcAft>
                <a:spcPts val="650"/>
              </a:spcAft>
            </a:pPr>
            <a:r>
              <a:rPr sz="1040" b="0" i="0">
                <a:solidFill>
                  <a:srgbClr val="16181D"/>
                </a:solidFill>
                <a:latin typeface="Geist"/>
              </a:rPr>
              <a:t>Crashfree India is a road safety nonprofit, registered as the Vision Zero Trust, co-founded with the Indian Road Safety Council and backed by Cars24. India loses more than 1.7 lakh lives on its roads every year. In our first year we built an audit-to-implementation engine that has moved 15 dangerous sites into rectification, an AI enforcement platform running with three police forces, a compensation practice that follows crash victims' families from FIR to disbursal, and open data platforms that turn scattered public records into citable evidence. MS Dhoni carries this message to the country as our Goodwill Ambassador.</a:t>
            </a:r>
          </a:p>
          <a:p>
            <a:pPr algn="l">
              <a:lnSpc>
                <a:spcPct val="128000"/>
              </a:lnSpc>
              <a:spcAft>
                <a:spcPts val="650"/>
              </a:spcAft>
            </a:pPr>
            <a:r>
              <a:rPr sz="1040" b="0" i="0">
                <a:solidFill>
                  <a:srgbClr val="16181D"/>
                </a:solidFill>
                <a:latin typeface="Geist"/>
              </a:rPr>
              <a:t>The work has reached the stage where ambition can outrun experience. We are deciding which programmes become institutions, how to work with government at scale, and how to build an organisation that can hold this mission for a decade. On questions like these, we have more energy than experience, and we know it.</a:t>
            </a:r>
          </a:p>
          <a:p>
            <a:pPr algn="l">
              <a:lnSpc>
                <a:spcPct val="128000"/>
              </a:lnSpc>
              <a:spcAft>
                <a:spcPts val="650"/>
              </a:spcAft>
            </a:pPr>
            <a:r>
              <a:rPr sz="1040" b="0" i="0">
                <a:solidFill>
                  <a:srgbClr val="16181D"/>
                </a:solidFill>
                <a:latin typeface="Geist"/>
              </a:rPr>
              <a:t>The pages that follow are a short tour of what we have built. If the work speaks to you, I would be grateful for an hour of your time, and for the licence to write to you when we face a decision where your experience would show us the way.</a:t>
            </a:r>
          </a:p>
        </p:txBody>
      </p:sp>
      <p:sp>
        <p:nvSpPr>
          <p:cNvPr id="11" name="TextBox 10"/>
          <p:cNvSpPr txBox="1"/>
          <p:nvPr/>
        </p:nvSpPr>
        <p:spPr>
          <a:xfrm>
            <a:off x="1892808" y="5541263"/>
            <a:ext cx="8412480" cy="274320"/>
          </a:xfrm>
          <a:prstGeom prst="rect">
            <a:avLst/>
          </a:prstGeom>
          <a:noFill/>
        </p:spPr>
        <p:txBody>
          <a:bodyPr wrap="square" lIns="0" rIns="0" tIns="0" bIns="0" anchor="t">
            <a:spAutoFit/>
          </a:bodyPr>
          <a:lstStyle/>
          <a:p>
            <a:pPr algn="l">
              <a:lnSpc>
                <a:spcPct val="128000"/>
              </a:lnSpc>
            </a:pPr>
            <a:r>
              <a:rPr sz="1040" b="0" i="0">
                <a:solidFill>
                  <a:srgbClr val="16181D"/>
                </a:solidFill>
                <a:latin typeface="Geist"/>
              </a:rPr>
              <a:t>With respect,</a:t>
            </a:r>
          </a:p>
        </p:txBody>
      </p:sp>
      <p:sp>
        <p:nvSpPr>
          <p:cNvPr id="12" name="TextBox 11"/>
          <p:cNvSpPr txBox="1"/>
          <p:nvPr/>
        </p:nvSpPr>
        <p:spPr>
          <a:xfrm>
            <a:off x="1892808" y="5797296"/>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16752"/>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cxnSp>
        <p:nvCxnSpPr>
          <p:cNvPr id="14" name="Connector 13"/>
          <p:cNvCxnSpPr/>
          <p:nvPr/>
        </p:nvCxnSpPr>
        <p:spPr>
          <a:xfrm>
            <a:off x="566928" y="6455664"/>
            <a:ext cx="11057839" cy="0"/>
          </a:xfrm>
          <a:prstGeom prst="line">
            <a:avLst/>
          </a:prstGeom>
          <a:ln w="9525">
            <a:solidFill>
              <a:srgbClr val="E8E9EE"/>
            </a:solidFill>
          </a:ln>
          <a:effectLst/>
        </p:spPr>
      </p:cxnSp>
      <p:sp>
        <p:nvSpPr>
          <p:cNvPr id="15" name="TextBox 1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16" name="TextBox 1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technology and policy, </a:t>
            </a:r>
            <a:r>
              <a:rPr sz="2250" b="1" i="0">
                <a:solidFill>
                  <a:srgbClr val="4A35FF"/>
                </a:solidFill>
                <a:latin typeface="Montserrat"/>
              </a:rPr>
              <a:t>built to be handed over</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7F4F4"/>
          </a:solidFill>
          <a:ln>
            <a:noFill/>
          </a:ln>
          <a:effectLst/>
        </p:spPr>
        <p:txBody>
          <a:bodyPr rtlCol="0" anchor="ctr"/>
          <a:lstStyle/>
          <a:p>
            <a:pPr algn="ctr"/>
          </a:p>
        </p:txBody>
      </p:sp>
      <p:pic>
        <p:nvPicPr>
          <p:cNvPr id="13" name="Picture 12" descr="cpu_0E8A8A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as public goods</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Enforcement AI, open data platforms and WhatsApp tools, built with authorities and free for any of them to adopt.</a:t>
            </a:r>
          </a:p>
        </p:txBody>
      </p:sp>
      <p:sp>
        <p:nvSpPr>
          <p:cNvPr id="16" name="Oval 15"/>
          <p:cNvSpPr/>
          <p:nvPr/>
        </p:nvSpPr>
        <p:spPr>
          <a:xfrm>
            <a:off x="566928" y="3511296"/>
            <a:ext cx="365760" cy="365760"/>
          </a:xfrm>
          <a:prstGeom prst="ellipse">
            <a:avLst/>
          </a:prstGeom>
          <a:solidFill>
            <a:srgbClr val="EFEDFF"/>
          </a:solidFill>
          <a:ln>
            <a:noFill/>
          </a:ln>
          <a:effectLst/>
        </p:spPr>
        <p:txBody>
          <a:bodyPr rtlCol="0" anchor="ctr"/>
          <a:lstStyle/>
          <a:p>
            <a:pPr algn="ctr"/>
          </a:p>
        </p:txBody>
      </p:sp>
      <p:pic>
        <p:nvPicPr>
          <p:cNvPr id="17" name="Picture 16" descr="scale_4A35FF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Policy that lands</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Research written so officials can act on it: briefed to ministries and district committees, cited by national newsrooms.</a:t>
            </a:r>
          </a:p>
        </p:txBody>
      </p:sp>
      <p:sp>
        <p:nvSpPr>
          <p:cNvPr id="20" name="Oval 19"/>
          <p:cNvSpPr/>
          <p:nvPr/>
        </p:nvSpPr>
        <p:spPr>
          <a:xfrm>
            <a:off x="566928" y="4261104"/>
            <a:ext cx="365760" cy="365760"/>
          </a:xfrm>
          <a:prstGeom prst="ellipse">
            <a:avLst/>
          </a:prstGeom>
          <a:solidFill>
            <a:srgbClr val="FDF3E3"/>
          </a:solidFill>
          <a:ln>
            <a:noFill/>
          </a:ln>
          <a:effectLst/>
        </p:spPr>
        <p:txBody>
          <a:bodyPr rtlCol="0" anchor="ctr"/>
          <a:lstStyle/>
          <a:p>
            <a:pPr algn="ctr"/>
          </a:p>
        </p:txBody>
      </p:sp>
      <p:pic>
        <p:nvPicPr>
          <p:cNvPr id="21" name="Picture 20" descr="building-2_E58900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Built to make ourselves redundant</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Standards, audit manuals and public dashboards designed so institutions can run the work without us.</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00" b="1" i="0">
                <a:solidFill>
                  <a:srgbClr val="4A35FF"/>
                </a:solidFill>
                <a:latin typeface="Geist"/>
              </a:rPr>
              <a:t>Proof in year one: </a:t>
            </a:r>
            <a:r>
              <a:rPr sz="1100" b="0" i="0">
                <a:solidFill>
                  <a:srgbClr val="4A35FF"/>
                </a:solidFill>
                <a:latin typeface="Geist"/>
              </a:rPr>
              <a:t>31 sites audited · 25+ written authority approvals · implementation started at 15 sites · 3,00,000+ vehicles screened · seats on 4 district committees</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Six focus areas, one system.</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25.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Crash compensation</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 policy implementation gap we close with tech, embedded in districts and DRSCs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Rajasthan portal · 4 DRSC seats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gig_riders.jpg_3.95x1.28_0.3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Gig rider safety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Research-led: published brief, 300-rider study, platform engagement</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 in 2 of 431 riders had crashed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slide_ssi_index.png_3.95x1.28_0.00.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School Safety Index</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 public 0–100 score for the road outside every school gate</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Delhi &amp; Jaipur · 5,386 schools mapped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ROAD INFRASTRUCTURE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Project Rakshak: student audits </a:t>
            </a:r>
            <a:r>
              <a:rPr sz="2250" b="1" i="0">
                <a:solidFill>
                  <a:srgbClr val="4A35FF"/>
                </a:solidFill>
                <a:latin typeface="Montserrat"/>
              </a:rPr>
              <a:t>that end in built fixes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Trained student teams, guided by senior experts, audit dangerous locations to IRC codes, and we walk each fix through the road-owning authority until it is built.</a:t>
            </a:r>
          </a:p>
        </p:txBody>
      </p:sp>
      <p:sp>
        <p:nvSpPr>
          <p:cNvPr id="8" name="Rounded Rectangle 7"/>
          <p:cNvSpPr/>
          <p:nvPr/>
        </p:nvSpPr>
        <p:spPr>
          <a:xfrm>
            <a:off x="566928" y="2011680"/>
            <a:ext cx="1783080" cy="1143000"/>
          </a:xfrm>
          <a:prstGeom prst="roundRect">
            <a:avLst>
              <a:gd name="adj" fmla="val 12000"/>
            </a:avLst>
          </a:prstGeom>
          <a:solidFill>
            <a:srgbClr val="F7F7FA"/>
          </a:solidFill>
          <a:ln>
            <a:noFill/>
          </a:ln>
          <a:effectLst/>
        </p:spPr>
        <p:txBody>
          <a:bodyPr rtlCol="0" anchor="ctr"/>
          <a:lstStyle/>
          <a:p>
            <a:pPr algn="ctr"/>
          </a:p>
        </p:txBody>
      </p:sp>
      <p:sp>
        <p:nvSpPr>
          <p:cNvPr id="9" name="TextBox 8"/>
          <p:cNvSpPr txBox="1"/>
          <p:nvPr/>
        </p:nvSpPr>
        <p:spPr>
          <a:xfrm>
            <a:off x="694944" y="212140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120+</a:t>
            </a:r>
          </a:p>
        </p:txBody>
      </p:sp>
      <p:sp>
        <p:nvSpPr>
          <p:cNvPr id="10" name="TextBox 9"/>
          <p:cNvSpPr txBox="1"/>
          <p:nvPr/>
        </p:nvSpPr>
        <p:spPr>
          <a:xfrm>
            <a:off x="694944" y="257860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locations screened</a:t>
            </a:r>
          </a:p>
        </p:txBody>
      </p:sp>
      <p:sp>
        <p:nvSpPr>
          <p:cNvPr id="11" name="TextBox 10"/>
          <p:cNvSpPr txBox="1"/>
          <p:nvPr/>
        </p:nvSpPr>
        <p:spPr>
          <a:xfrm>
            <a:off x="2331720" y="237744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2" name="Rounded Rectangle 11"/>
          <p:cNvSpPr/>
          <p:nvPr/>
        </p:nvSpPr>
        <p:spPr>
          <a:xfrm>
            <a:off x="2487168" y="2011680"/>
            <a:ext cx="1783080" cy="1143000"/>
          </a:xfrm>
          <a:prstGeom prst="roundRect">
            <a:avLst>
              <a:gd name="adj" fmla="val 12000"/>
            </a:avLst>
          </a:prstGeom>
          <a:solidFill>
            <a:srgbClr val="F7F7FA"/>
          </a:solidFill>
          <a:ln>
            <a:noFill/>
          </a:ln>
          <a:effectLst/>
        </p:spPr>
        <p:txBody>
          <a:bodyPr rtlCol="0" anchor="ctr"/>
          <a:lstStyle/>
          <a:p>
            <a:pPr algn="ctr"/>
          </a:p>
        </p:txBody>
      </p:sp>
      <p:sp>
        <p:nvSpPr>
          <p:cNvPr id="13" name="TextBox 12"/>
          <p:cNvSpPr txBox="1"/>
          <p:nvPr/>
        </p:nvSpPr>
        <p:spPr>
          <a:xfrm>
            <a:off x="2615184" y="212140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31</a:t>
            </a:r>
          </a:p>
        </p:txBody>
      </p:sp>
      <p:sp>
        <p:nvSpPr>
          <p:cNvPr id="14" name="TextBox 13"/>
          <p:cNvSpPr txBox="1"/>
          <p:nvPr/>
        </p:nvSpPr>
        <p:spPr>
          <a:xfrm>
            <a:off x="2615184" y="257860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sites audited, 11 official black spots</a:t>
            </a:r>
          </a:p>
        </p:txBody>
      </p:sp>
      <p:sp>
        <p:nvSpPr>
          <p:cNvPr id="15" name="TextBox 14"/>
          <p:cNvSpPr txBox="1"/>
          <p:nvPr/>
        </p:nvSpPr>
        <p:spPr>
          <a:xfrm>
            <a:off x="4251960" y="237744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6" name="Rounded Rectangle 15"/>
          <p:cNvSpPr/>
          <p:nvPr/>
        </p:nvSpPr>
        <p:spPr>
          <a:xfrm>
            <a:off x="4407408" y="2011680"/>
            <a:ext cx="1783080" cy="1143000"/>
          </a:xfrm>
          <a:prstGeom prst="roundRect">
            <a:avLst>
              <a:gd name="adj" fmla="val 12000"/>
            </a:avLst>
          </a:prstGeom>
          <a:solidFill>
            <a:srgbClr val="F7F7FA"/>
          </a:solidFill>
          <a:ln>
            <a:noFill/>
          </a:ln>
          <a:effectLst/>
        </p:spPr>
        <p:txBody>
          <a:bodyPr rtlCol="0" anchor="ctr"/>
          <a:lstStyle/>
          <a:p>
            <a:pPr algn="ctr"/>
          </a:p>
        </p:txBody>
      </p:sp>
      <p:sp>
        <p:nvSpPr>
          <p:cNvPr id="17" name="TextBox 16"/>
          <p:cNvSpPr txBox="1"/>
          <p:nvPr/>
        </p:nvSpPr>
        <p:spPr>
          <a:xfrm>
            <a:off x="4535424" y="212140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25+</a:t>
            </a:r>
          </a:p>
        </p:txBody>
      </p:sp>
      <p:sp>
        <p:nvSpPr>
          <p:cNvPr id="18" name="TextBox 17"/>
          <p:cNvSpPr txBox="1"/>
          <p:nvPr/>
        </p:nvSpPr>
        <p:spPr>
          <a:xfrm>
            <a:off x="4535424" y="257860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written authority approvals</a:t>
            </a:r>
          </a:p>
        </p:txBody>
      </p:sp>
      <p:sp>
        <p:nvSpPr>
          <p:cNvPr id="19" name="TextBox 18"/>
          <p:cNvSpPr txBox="1"/>
          <p:nvPr/>
        </p:nvSpPr>
        <p:spPr>
          <a:xfrm>
            <a:off x="6172200" y="237744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20" name="Rounded Rectangle 19"/>
          <p:cNvSpPr/>
          <p:nvPr/>
        </p:nvSpPr>
        <p:spPr>
          <a:xfrm>
            <a:off x="6327648" y="2011680"/>
            <a:ext cx="1783080" cy="1143000"/>
          </a:xfrm>
          <a:prstGeom prst="roundRect">
            <a:avLst>
              <a:gd name="adj" fmla="val 12000"/>
            </a:avLst>
          </a:prstGeom>
          <a:solidFill>
            <a:srgbClr val="4A35FF"/>
          </a:solidFill>
          <a:ln>
            <a:noFill/>
          </a:ln>
          <a:effectLst/>
        </p:spPr>
        <p:txBody>
          <a:bodyPr rtlCol="0" anchor="ctr"/>
          <a:lstStyle/>
          <a:p>
            <a:pPr algn="ctr"/>
          </a:p>
        </p:txBody>
      </p:sp>
      <p:sp>
        <p:nvSpPr>
          <p:cNvPr id="21" name="TextBox 20"/>
          <p:cNvSpPr txBox="1"/>
          <p:nvPr/>
        </p:nvSpPr>
        <p:spPr>
          <a:xfrm>
            <a:off x="6455664" y="2121408"/>
            <a:ext cx="1554480" cy="502920"/>
          </a:xfrm>
          <a:prstGeom prst="rect">
            <a:avLst/>
          </a:prstGeom>
          <a:noFill/>
        </p:spPr>
        <p:txBody>
          <a:bodyPr wrap="square" lIns="0" rIns="0" tIns="0" bIns="0" anchor="t">
            <a:spAutoFit/>
          </a:bodyPr>
          <a:lstStyle/>
          <a:p>
            <a:pPr algn="l">
              <a:lnSpc>
                <a:spcPct val="100000"/>
              </a:lnSpc>
            </a:pPr>
            <a:r>
              <a:rPr sz="2400" b="1" i="0">
                <a:solidFill>
                  <a:srgbClr val="FFFFFF"/>
                </a:solidFill>
                <a:latin typeface="Montserrat"/>
              </a:rPr>
              <a:t>15</a:t>
            </a:r>
          </a:p>
        </p:txBody>
      </p:sp>
      <p:sp>
        <p:nvSpPr>
          <p:cNvPr id="22" name="TextBox 21"/>
          <p:cNvSpPr txBox="1"/>
          <p:nvPr/>
        </p:nvSpPr>
        <p:spPr>
          <a:xfrm>
            <a:off x="6455664" y="2578608"/>
            <a:ext cx="1554480" cy="502920"/>
          </a:xfrm>
          <a:prstGeom prst="rect">
            <a:avLst/>
          </a:prstGeom>
          <a:noFill/>
        </p:spPr>
        <p:txBody>
          <a:bodyPr wrap="square" lIns="0" rIns="0" tIns="0" bIns="0" anchor="t">
            <a:spAutoFit/>
          </a:bodyPr>
          <a:lstStyle/>
          <a:p>
            <a:pPr algn="l">
              <a:lnSpc>
                <a:spcPct val="110000"/>
              </a:lnSpc>
            </a:pPr>
            <a:r>
              <a:rPr sz="850" b="0" i="0">
                <a:solidFill>
                  <a:srgbClr val="FFFFFF"/>
                </a:solidFill>
                <a:latin typeface="Geist"/>
              </a:rPr>
              <a:t>sites in implementation, 7 fully built</a:t>
            </a:r>
          </a:p>
        </p:txBody>
      </p:sp>
      <p:sp>
        <p:nvSpPr>
          <p:cNvPr id="23" name="TextBox 22"/>
          <p:cNvSpPr txBox="1"/>
          <p:nvPr/>
        </p:nvSpPr>
        <p:spPr>
          <a:xfrm>
            <a:off x="566928" y="3383280"/>
            <a:ext cx="7498079" cy="2743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31 student teams · 20 institutions including nine IITs · 900+ stakeholder surveys · 17 subject-matter experts guiding every audit</a:t>
            </a:r>
          </a:p>
        </p:txBody>
      </p:sp>
      <p:sp>
        <p:nvSpPr>
          <p:cNvPr id="24" name="Rounded Rectangle 23"/>
          <p:cNvSpPr/>
          <p:nvPr/>
        </p:nvSpPr>
        <p:spPr>
          <a:xfrm>
            <a:off x="566928" y="3886200"/>
            <a:ext cx="7498079" cy="1234440"/>
          </a:xfrm>
          <a:prstGeom prst="roundRect">
            <a:avLst>
              <a:gd name="adj" fmla="val 10000"/>
            </a:avLst>
          </a:prstGeom>
          <a:solidFill>
            <a:srgbClr val="E9F7F0"/>
          </a:solidFill>
          <a:ln>
            <a:noFill/>
          </a:ln>
          <a:effectLst/>
        </p:spPr>
        <p:txBody>
          <a:bodyPr rtlCol="0" anchor="ctr"/>
          <a:lstStyle/>
          <a:p>
            <a:pPr algn="ctr"/>
          </a:p>
        </p:txBody>
      </p:sp>
      <p:sp>
        <p:nvSpPr>
          <p:cNvPr id="25" name="TextBox 24"/>
          <p:cNvSpPr txBox="1"/>
          <p:nvPr/>
        </p:nvSpPr>
        <p:spPr>
          <a:xfrm>
            <a:off x="768096" y="4005072"/>
            <a:ext cx="7132320" cy="274320"/>
          </a:xfrm>
          <a:prstGeom prst="rect">
            <a:avLst/>
          </a:prstGeom>
          <a:noFill/>
        </p:spPr>
        <p:txBody>
          <a:bodyPr wrap="square" lIns="0" rIns="0" tIns="0" bIns="0" anchor="t">
            <a:spAutoFit/>
          </a:bodyPr>
          <a:lstStyle/>
          <a:p>
            <a:pPr algn="l">
              <a:lnSpc>
                <a:spcPct val="128000"/>
              </a:lnSpc>
            </a:pPr>
            <a:r>
              <a:rPr sz="850" b="1" i="0" spc="120">
                <a:solidFill>
                  <a:srgbClr val="0A9955"/>
                </a:solidFill>
                <a:latin typeface="Montserrat"/>
              </a:rPr>
              <a:t>MARQUEE CASE, OUTER RING ROAD, SOUTH DELHI</a:t>
            </a:r>
          </a:p>
        </p:txBody>
      </p:sp>
      <p:sp>
        <p:nvSpPr>
          <p:cNvPr id="26" name="TextBox 25"/>
          <p:cNvSpPr txBox="1"/>
          <p:nvPr/>
        </p:nvSpPr>
        <p:spPr>
          <a:xfrm>
            <a:off x="768096" y="4297680"/>
            <a:ext cx="7132320" cy="731520"/>
          </a:xfrm>
          <a:prstGeom prst="rect">
            <a:avLst/>
          </a:prstGeom>
          <a:noFill/>
        </p:spPr>
        <p:txBody>
          <a:bodyPr wrap="square" lIns="0" rIns="0" tIns="0" bIns="0" anchor="t">
            <a:spAutoFit/>
          </a:bodyPr>
          <a:lstStyle/>
          <a:p>
            <a:pPr algn="l">
              <a:lnSpc>
                <a:spcPct val="130000"/>
              </a:lnSpc>
            </a:pPr>
            <a:r>
              <a:rPr sz="1000" b="0" i="0">
                <a:solidFill>
                  <a:srgbClr val="16181D"/>
                </a:solidFill>
                <a:latin typeface="Geist"/>
              </a:rPr>
              <a:t>On our audit, PWD built a continuous 1.8 m accessible pedestrian corridor, upgraded drainage at ponding sites, installed bollards against footpath encroachment, and deployed camera-backed speed-feedback boards.</a:t>
            </a:r>
          </a:p>
        </p:txBody>
      </p:sp>
      <p:sp>
        <p:nvSpPr>
          <p:cNvPr id="27" name="TextBox 26"/>
          <p:cNvSpPr txBox="1"/>
          <p:nvPr/>
        </p:nvSpPr>
        <p:spPr>
          <a:xfrm>
            <a:off x="566928" y="5303520"/>
            <a:ext cx="7498079" cy="640080"/>
          </a:xfrm>
          <a:prstGeom prst="rect">
            <a:avLst/>
          </a:prstGeom>
          <a:noFill/>
        </p:spPr>
        <p:txBody>
          <a:bodyPr wrap="square" lIns="0" rIns="0" tIns="0" bIns="0" anchor="t">
            <a:spAutoFit/>
          </a:bodyPr>
          <a:lstStyle/>
          <a:p>
            <a:pPr algn="l">
              <a:lnSpc>
                <a:spcPct val="130000"/>
              </a:lnSpc>
            </a:pPr>
            <a:r>
              <a:rPr sz="1000" b="1" i="0">
                <a:solidFill>
                  <a:srgbClr val="16181D"/>
                </a:solidFill>
                <a:latin typeface="Geist"/>
              </a:rPr>
              <a:t>Every site is tracked on a public dashboard </a:t>
            </a:r>
            <a:r>
              <a:rPr sz="1000" b="0" i="0">
                <a:solidFill>
                  <a:srgbClr val="6E7180"/>
                </a:solidFill>
                <a:latin typeface="Geist"/>
              </a:rPr>
              <a:t>from submission through approval to completed construction, an honest read on how quickly agencies can act.</a:t>
            </a:r>
          </a:p>
        </p:txBody>
      </p:sp>
      <p:pic>
        <p:nvPicPr>
          <p:cNvPr id="28" name="Picture 27" descr="implementation_work.jpg_3.60x4.35_0.30.jpg"/>
          <p:cNvPicPr>
            <a:picLocks noChangeAspect="1"/>
          </p:cNvPicPr>
          <p:nvPr/>
        </p:nvPicPr>
        <p:blipFill>
          <a:blip r:embed="rId2"/>
          <a:stretch>
            <a:fillRect/>
          </a:stretch>
        </p:blipFill>
        <p:spPr>
          <a:xfrm>
            <a:off x="8321040" y="1965960"/>
            <a:ext cx="3291840" cy="3977639"/>
          </a:xfrm>
          <a:prstGeom prst="rect">
            <a:avLst/>
          </a:prstGeom>
        </p:spPr>
      </p:pic>
      <p:sp>
        <p:nvSpPr>
          <p:cNvPr id="29" name="Rectangle 28"/>
          <p:cNvSpPr/>
          <p:nvPr/>
        </p:nvSpPr>
        <p:spPr>
          <a:xfrm>
            <a:off x="8321040" y="1965960"/>
            <a:ext cx="3291840" cy="3977639"/>
          </a:xfrm>
          <a:prstGeom prst="rect">
            <a:avLst/>
          </a:prstGeom>
          <a:noFill/>
          <a:ln w="12700">
            <a:solidFill>
              <a:srgbClr val="E8E9EE"/>
            </a:solidFill>
          </a:ln>
          <a:effectLst/>
        </p:spPr>
        <p:txBody>
          <a:bodyPr rtlCol="0" anchor="ctr"/>
          <a:lstStyle/>
          <a:p>
            <a:pPr algn="ctr"/>
          </a:p>
        </p:txBody>
      </p:sp>
      <p:sp>
        <p:nvSpPr>
          <p:cNvPr id="30" name="TextBox 29"/>
          <p:cNvSpPr txBox="1"/>
          <p:nvPr/>
        </p:nvSpPr>
        <p:spPr>
          <a:xfrm>
            <a:off x="8321040" y="5989319"/>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Construction underway after a student audit, tracked publicly to completion.</a:t>
            </a:r>
          </a:p>
        </p:txBody>
      </p:sp>
      <p:cxnSp>
        <p:nvCxnSpPr>
          <p:cNvPr id="31" name="Connector 30"/>
          <p:cNvCxnSpPr/>
          <p:nvPr/>
        </p:nvCxnSpPr>
        <p:spPr>
          <a:xfrm>
            <a:off x="566928" y="6455664"/>
            <a:ext cx="11057839" cy="0"/>
          </a:xfrm>
          <a:prstGeom prst="line">
            <a:avLst/>
          </a:prstGeom>
          <a:ln w="9525">
            <a:solidFill>
              <a:srgbClr val="E8E9EE"/>
            </a:solidFill>
          </a:ln>
          <a:effectLst/>
        </p:spPr>
      </p:cxnSp>
      <p:sp>
        <p:nvSpPr>
          <p:cNvPr id="32" name="TextBox 31"/>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3" name="TextBox 3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platforms, each turning a scattered public record into structured, citable evidence. The Parliament tracker is shown live, as captured this week.</a:t>
            </a:r>
          </a:p>
        </p:txBody>
      </p:sp>
      <p:pic>
        <p:nvPicPr>
          <p:cNvPr id="8" name="Picture 7" descr="parliamen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a:t>
            </a:r>
          </a:p>
        </p:txBody>
      </p:sp>
      <p:sp>
        <p:nvSpPr>
          <p:cNvPr id="11" name="Rounded Rectangle 10"/>
          <p:cNvSpPr/>
          <p:nvPr/>
        </p:nvSpPr>
        <p:spPr>
          <a:xfrm>
            <a:off x="6144768" y="1938528"/>
            <a:ext cx="5486400" cy="2395728"/>
          </a:xfrm>
          <a:prstGeom prst="roundRect">
            <a:avLst>
              <a:gd name="adj" fmla="val 6000"/>
            </a:avLst>
          </a:prstGeom>
          <a:solidFill>
            <a:srgbClr val="FFFFFF"/>
          </a:solidFill>
          <a:ln w="9525">
            <a:solidFill>
              <a:srgbClr val="E8E9EE"/>
            </a:solidFill>
          </a:ln>
          <a:effectLst/>
        </p:spPr>
        <p:txBody>
          <a:bodyPr rtlCol="0" anchor="ctr"/>
          <a:lstStyle/>
          <a:p>
            <a:pPr algn="ctr"/>
          </a:p>
        </p:txBody>
      </p:sp>
      <p:sp>
        <p:nvSpPr>
          <p:cNvPr id="12" name="Oval 11"/>
          <p:cNvSpPr/>
          <p:nvPr/>
        </p:nvSpPr>
        <p:spPr>
          <a:xfrm>
            <a:off x="6327648" y="2121408"/>
            <a:ext cx="420624" cy="420624"/>
          </a:xfrm>
          <a:prstGeom prst="ellipse">
            <a:avLst/>
          </a:prstGeom>
          <a:solidFill>
            <a:srgbClr val="E7F4F4"/>
          </a:solidFill>
          <a:ln>
            <a:noFill/>
          </a:ln>
          <a:effectLst/>
        </p:spPr>
        <p:txBody>
          <a:bodyPr rtlCol="0" anchor="ctr"/>
          <a:lstStyle/>
          <a:p>
            <a:pPr algn="ctr"/>
          </a:p>
        </p:txBody>
      </p:sp>
      <p:pic>
        <p:nvPicPr>
          <p:cNvPr id="13" name="Picture 12" descr="database_0E8A8A_256_2.0.png"/>
          <p:cNvPicPr>
            <a:picLocks noChangeAspect="1"/>
          </p:cNvPicPr>
          <p:nvPr/>
        </p:nvPicPr>
        <p:blipFill>
          <a:blip r:embed="rId3"/>
          <a:stretch>
            <a:fillRect/>
          </a:stretch>
        </p:blipFill>
        <p:spPr>
          <a:xfrm>
            <a:off x="6428597" y="2222357"/>
            <a:ext cx="218724" cy="218724"/>
          </a:xfrm>
          <a:prstGeom prst="rect">
            <a:avLst/>
          </a:prstGeom>
        </p:spPr>
      </p:pic>
      <p:sp>
        <p:nvSpPr>
          <p:cNvPr id="14" name="TextBox 13"/>
          <p:cNvSpPr txBox="1"/>
          <p:nvPr/>
        </p:nvSpPr>
        <p:spPr>
          <a:xfrm>
            <a:off x="6876288" y="2103120"/>
            <a:ext cx="3840480" cy="50292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National Road-Infrastructure</a:t>
            </a:r>
          </a:p>
          <a:p>
            <a:pPr algn="l">
              <a:lnSpc>
                <a:spcPct val="110000"/>
              </a:lnSpc>
            </a:pPr>
            <a:r>
              <a:rPr sz="1250" b="1" i="0">
                <a:solidFill>
                  <a:srgbClr val="16181D"/>
                </a:solidFill>
                <a:latin typeface="Montserrat"/>
              </a:rPr>
              <a:t>Defect Repository</a:t>
            </a:r>
          </a:p>
        </p:txBody>
      </p:sp>
      <p:sp>
        <p:nvSpPr>
          <p:cNvPr id="15" name="Rounded Rectangle 14"/>
          <p:cNvSpPr/>
          <p:nvPr/>
        </p:nvSpPr>
        <p:spPr>
          <a:xfrm>
            <a:off x="10213848" y="2139696"/>
            <a:ext cx="1261872" cy="310896"/>
          </a:xfrm>
          <a:prstGeom prst="roundRect">
            <a:avLst>
              <a:gd name="adj" fmla="val 50000"/>
            </a:avLst>
          </a:prstGeom>
          <a:solidFill>
            <a:srgbClr val="E7F4F4"/>
          </a:solidFill>
          <a:ln>
            <a:noFill/>
          </a:ln>
          <a:effectLst/>
        </p:spPr>
        <p:txBody>
          <a:bodyPr rtlCol="0" anchor="ctr"/>
          <a:lstStyle/>
          <a:p>
            <a:pPr algn="ctr"/>
          </a:p>
        </p:txBody>
      </p:sp>
      <p:sp>
        <p:nvSpPr>
          <p:cNvPr id="16" name="TextBox 15"/>
          <p:cNvSpPr txBox="1"/>
          <p:nvPr/>
        </p:nvSpPr>
        <p:spPr>
          <a:xfrm>
            <a:off x="10232136" y="2139696"/>
            <a:ext cx="1225296" cy="310896"/>
          </a:xfrm>
          <a:prstGeom prst="rect">
            <a:avLst/>
          </a:prstGeom>
          <a:noFill/>
        </p:spPr>
        <p:txBody>
          <a:bodyPr wrap="square" lIns="0" rIns="0" tIns="0" bIns="0" anchor="ctr">
            <a:spAutoFit/>
          </a:bodyPr>
          <a:lstStyle/>
          <a:p>
            <a:pPr algn="ctr">
              <a:lnSpc>
                <a:spcPct val="100000"/>
              </a:lnSpc>
            </a:pPr>
            <a:r>
              <a:rPr sz="700" b="1" i="0">
                <a:solidFill>
                  <a:srgbClr val="0E8A8A"/>
                </a:solidFill>
                <a:latin typeface="Montserrat"/>
              </a:rPr>
              <a:t>DAILY · 07:00 IST</a:t>
            </a:r>
          </a:p>
        </p:txBody>
      </p:sp>
      <p:sp>
        <p:nvSpPr>
          <p:cNvPr id="17" name="TextBox 16"/>
          <p:cNvSpPr txBox="1"/>
          <p:nvPr/>
        </p:nvSpPr>
        <p:spPr>
          <a:xfrm>
            <a:off x="6327648" y="2798064"/>
            <a:ext cx="5120640" cy="45720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An AI pipeline reads local-language news every morning and turns road-defect reports into structured, mapped, ranked evidence, each entry carrying its verbatim source.</a:t>
            </a:r>
          </a:p>
        </p:txBody>
      </p:sp>
      <p:sp>
        <p:nvSpPr>
          <p:cNvPr id="18" name="Rounded Rectangle 17"/>
          <p:cNvSpPr/>
          <p:nvPr/>
        </p:nvSpPr>
        <p:spPr>
          <a:xfrm>
            <a:off x="632764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19" name="TextBox 18"/>
          <p:cNvSpPr txBox="1"/>
          <p:nvPr/>
        </p:nvSpPr>
        <p:spPr>
          <a:xfrm>
            <a:off x="634593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Potholes</a:t>
            </a:r>
          </a:p>
        </p:txBody>
      </p:sp>
      <p:sp>
        <p:nvSpPr>
          <p:cNvPr id="20" name="Rounded Rectangle 19"/>
          <p:cNvSpPr/>
          <p:nvPr/>
        </p:nvSpPr>
        <p:spPr>
          <a:xfrm>
            <a:off x="737006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1" name="TextBox 20"/>
          <p:cNvSpPr txBox="1"/>
          <p:nvPr/>
        </p:nvSpPr>
        <p:spPr>
          <a:xfrm>
            <a:off x="738835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Missing signage</a:t>
            </a:r>
          </a:p>
        </p:txBody>
      </p:sp>
      <p:sp>
        <p:nvSpPr>
          <p:cNvPr id="22" name="Rounded Rectangle 21"/>
          <p:cNvSpPr/>
          <p:nvPr/>
        </p:nvSpPr>
        <p:spPr>
          <a:xfrm>
            <a:off x="841247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3" name="TextBox 22"/>
          <p:cNvSpPr txBox="1"/>
          <p:nvPr/>
        </p:nvSpPr>
        <p:spPr>
          <a:xfrm>
            <a:off x="843076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Unlit stretches</a:t>
            </a:r>
          </a:p>
        </p:txBody>
      </p:sp>
      <p:sp>
        <p:nvSpPr>
          <p:cNvPr id="24" name="Rounded Rectangle 23"/>
          <p:cNvSpPr/>
          <p:nvPr/>
        </p:nvSpPr>
        <p:spPr>
          <a:xfrm>
            <a:off x="945489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5" name="TextBox 24"/>
          <p:cNvSpPr txBox="1"/>
          <p:nvPr/>
        </p:nvSpPr>
        <p:spPr>
          <a:xfrm>
            <a:off x="947318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Blind curves</a:t>
            </a:r>
          </a:p>
        </p:txBody>
      </p:sp>
      <p:sp>
        <p:nvSpPr>
          <p:cNvPr id="26" name="Rounded Rectangle 25"/>
          <p:cNvSpPr/>
          <p:nvPr/>
        </p:nvSpPr>
        <p:spPr>
          <a:xfrm>
            <a:off x="1049730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1051559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Broken dividers</a:t>
            </a:r>
          </a:p>
        </p:txBody>
      </p:sp>
      <p:sp>
        <p:nvSpPr>
          <p:cNvPr id="28" name="Rounded Rectangle 27"/>
          <p:cNvSpPr/>
          <p:nvPr/>
        </p:nvSpPr>
        <p:spPr>
          <a:xfrm>
            <a:off x="6327648"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29" name="TextBox 28"/>
          <p:cNvSpPr txBox="1"/>
          <p:nvPr/>
        </p:nvSpPr>
        <p:spPr>
          <a:xfrm>
            <a:off x="6419088"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146</a:t>
            </a:r>
          </a:p>
        </p:txBody>
      </p:sp>
      <p:sp>
        <p:nvSpPr>
          <p:cNvPr id="30" name="TextBox 29"/>
          <p:cNvSpPr txBox="1"/>
          <p:nvPr/>
        </p:nvSpPr>
        <p:spPr>
          <a:xfrm>
            <a:off x="6894576"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districts scanned daily</a:t>
            </a:r>
          </a:p>
        </p:txBody>
      </p:sp>
      <p:sp>
        <p:nvSpPr>
          <p:cNvPr id="31" name="Rounded Rectangle 30"/>
          <p:cNvSpPr/>
          <p:nvPr/>
        </p:nvSpPr>
        <p:spPr>
          <a:xfrm>
            <a:off x="8083296"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2" name="TextBox 31"/>
          <p:cNvSpPr txBox="1"/>
          <p:nvPr/>
        </p:nvSpPr>
        <p:spPr>
          <a:xfrm>
            <a:off x="8174736"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13</a:t>
            </a:r>
          </a:p>
        </p:txBody>
      </p:sp>
      <p:sp>
        <p:nvSpPr>
          <p:cNvPr id="33" name="TextBox 32"/>
          <p:cNvSpPr txBox="1"/>
          <p:nvPr/>
        </p:nvSpPr>
        <p:spPr>
          <a:xfrm>
            <a:off x="8650224"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languages read</a:t>
            </a:r>
          </a:p>
        </p:txBody>
      </p:sp>
      <p:sp>
        <p:nvSpPr>
          <p:cNvPr id="34" name="Rounded Rectangle 33"/>
          <p:cNvSpPr/>
          <p:nvPr/>
        </p:nvSpPr>
        <p:spPr>
          <a:xfrm>
            <a:off x="9838944"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5" name="TextBox 34"/>
          <p:cNvSpPr txBox="1"/>
          <p:nvPr/>
        </p:nvSpPr>
        <p:spPr>
          <a:xfrm>
            <a:off x="9930384"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21</a:t>
            </a:r>
          </a:p>
        </p:txBody>
      </p:sp>
      <p:sp>
        <p:nvSpPr>
          <p:cNvPr id="36" name="TextBox 35"/>
          <p:cNvSpPr txBox="1"/>
          <p:nvPr/>
        </p:nvSpPr>
        <p:spPr>
          <a:xfrm>
            <a:off x="10405872"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defect codes tracked</a:t>
            </a:r>
          </a:p>
        </p:txBody>
      </p:sp>
      <p:sp>
        <p:nvSpPr>
          <p:cNvPr id="37" name="TextBox 36"/>
          <p:cNvSpPr txBox="1"/>
          <p:nvPr/>
        </p:nvSpPr>
        <p:spPr>
          <a:xfrm>
            <a:off x="6144768" y="4379976"/>
            <a:ext cx="5486400" cy="2743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Local news → AI extraction → confidence gate → human review → public map. Live across Bihar, UP and Rajasthan districts today.</a:t>
            </a:r>
          </a:p>
        </p:txBody>
      </p:sp>
      <p:sp>
        <p:nvSpPr>
          <p:cNvPr id="38" name="Rounded Rectangle 37"/>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9" name="Oval 38"/>
          <p:cNvSpPr/>
          <p:nvPr/>
        </p:nvSpPr>
        <p:spPr>
          <a:xfrm>
            <a:off x="713232" y="5102352"/>
            <a:ext cx="365760" cy="365760"/>
          </a:xfrm>
          <a:prstGeom prst="ellipse">
            <a:avLst/>
          </a:prstGeom>
          <a:solidFill>
            <a:srgbClr val="EFEDFF"/>
          </a:solidFill>
          <a:ln>
            <a:noFill/>
          </a:ln>
          <a:effectLst/>
        </p:spPr>
        <p:txBody>
          <a:bodyPr rtlCol="0" anchor="ctr"/>
          <a:lstStyle/>
          <a:p>
            <a:pPr algn="ctr"/>
          </a:p>
        </p:txBody>
      </p:sp>
      <p:pic>
        <p:nvPicPr>
          <p:cNvPr id="40" name="Picture 39" descr="scale_4A35FF_256_2.0.png"/>
          <p:cNvPicPr>
            <a:picLocks noChangeAspect="1"/>
          </p:cNvPicPr>
          <p:nvPr/>
        </p:nvPicPr>
        <p:blipFill>
          <a:blip r:embed="rId4"/>
          <a:stretch>
            <a:fillRect/>
          </a:stretch>
        </p:blipFill>
        <p:spPr>
          <a:xfrm>
            <a:off x="801014" y="5190134"/>
            <a:ext cx="190195" cy="190195"/>
          </a:xfrm>
          <a:prstGeom prst="rect">
            <a:avLst/>
          </a:prstGeom>
        </p:spPr>
      </p:pic>
      <p:sp>
        <p:nvSpPr>
          <p:cNvPr id="41" name="TextBox 40"/>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Supreme Court Litigation Tracker</a:t>
            </a:r>
          </a:p>
        </p:txBody>
      </p:sp>
      <p:sp>
        <p:nvSpPr>
          <p:cNvPr id="42" name="Rounded Rectangle 41"/>
          <p:cNvSpPr/>
          <p:nvPr/>
        </p:nvSpPr>
        <p:spPr>
          <a:xfrm>
            <a:off x="4572000" y="5093208"/>
            <a:ext cx="1353312" cy="292608"/>
          </a:xfrm>
          <a:prstGeom prst="roundRect">
            <a:avLst>
              <a:gd name="adj" fmla="val 50000"/>
            </a:avLst>
          </a:prstGeom>
          <a:solidFill>
            <a:srgbClr val="EFEDFF"/>
          </a:solidFill>
          <a:ln>
            <a:noFill/>
          </a:ln>
          <a:effectLst/>
        </p:spPr>
        <p:txBody>
          <a:bodyPr rtlCol="0" anchor="ctr"/>
          <a:lstStyle/>
          <a:p>
            <a:pPr algn="ctr"/>
          </a:p>
        </p:txBody>
      </p:sp>
      <p:sp>
        <p:nvSpPr>
          <p:cNvPr id="43" name="TextBox 42"/>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4A35FF"/>
                </a:solidFill>
                <a:latin typeface="Montserrat"/>
              </a:rPr>
              <a:t>WEEKLY · LIVE</a:t>
            </a:r>
          </a:p>
        </p:txBody>
      </p:sp>
      <p:sp>
        <p:nvSpPr>
          <p:cNvPr id="44" name="TextBox 43"/>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Every systemic road-safety matter before the Supreme Court, orders indexed, precedent judgments digested, refreshed every Tuesday.</a:t>
            </a:r>
          </a:p>
        </p:txBody>
      </p:sp>
      <p:pic>
        <p:nvPicPr>
          <p:cNvPr id="45" name="Picture 44" descr="strip_sctracker.png"/>
          <p:cNvPicPr>
            <a:picLocks noChangeAspect="1"/>
          </p:cNvPicPr>
          <p:nvPr/>
        </p:nvPicPr>
        <p:blipFill>
          <a:blip r:embed="rId5"/>
          <a:stretch>
            <a:fillRect/>
          </a:stretch>
        </p:blipFill>
        <p:spPr>
          <a:xfrm>
            <a:off x="4059936" y="5522976"/>
            <a:ext cx="1847088" cy="362006"/>
          </a:xfrm>
          <a:prstGeom prst="rect">
            <a:avLst/>
          </a:prstGeom>
        </p:spPr>
      </p:pic>
      <p:sp>
        <p:nvSpPr>
          <p:cNvPr id="46" name="Rounded Rectangle 45"/>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47" name="Oval 46"/>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48" name="Picture 47"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49" name="TextBox 48"/>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50" name="Rounded Rectangle 49"/>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51" name="TextBox 50"/>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52" name="TextBox 51"/>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every number reconciled against the printed books, open licence (CC-BY).</a:t>
            </a:r>
          </a:p>
        </p:txBody>
      </p:sp>
      <p:pic>
        <p:nvPicPr>
          <p:cNvPr id="53" name="Picture 52"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54" name="Connector 53"/>
          <p:cNvCxnSpPr/>
          <p:nvPr/>
        </p:nvCxnSpPr>
        <p:spPr>
          <a:xfrm>
            <a:off x="566928" y="6455664"/>
            <a:ext cx="11057839" cy="0"/>
          </a:xfrm>
          <a:prstGeom prst="line">
            <a:avLst/>
          </a:prstGeom>
          <a:ln w="9525">
            <a:solidFill>
              <a:srgbClr val="E8E9EE"/>
            </a:solidFill>
          </a:ln>
          <a:effectLst/>
        </p:spPr>
      </p:cxnSp>
      <p:sp>
        <p:nvSpPr>
          <p:cNvPr id="55" name="TextBox 5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6" name="TextBox 5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sp>
        <p:nvSpPr>
          <p:cNvPr id="8" name="Rounded Rectangle 7"/>
          <p:cNvSpPr/>
          <p:nvPr/>
        </p:nvSpPr>
        <p:spPr>
          <a:xfrm>
            <a:off x="56692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ui_aasha_chat.png"/>
          <p:cNvPicPr>
            <a:picLocks noChangeAspect="1"/>
          </p:cNvPicPr>
          <p:nvPr/>
        </p:nvPicPr>
        <p:blipFill>
          <a:blip r:embed="rId2"/>
          <a:stretch>
            <a:fillRect/>
          </a:stretch>
        </p:blipFill>
        <p:spPr>
          <a:xfrm>
            <a:off x="676656" y="2048256"/>
            <a:ext cx="2459736" cy="1810774"/>
          </a:xfrm>
          <a:prstGeom prst="rect">
            <a:avLst/>
          </a:prstGeom>
        </p:spPr>
      </p:pic>
      <p:sp>
        <p:nvSpPr>
          <p:cNvPr id="10" name="Oval 9"/>
          <p:cNvSpPr/>
          <p:nvPr/>
        </p:nvSpPr>
        <p:spPr>
          <a:xfrm>
            <a:off x="694944" y="4526280"/>
            <a:ext cx="347472" cy="347472"/>
          </a:xfrm>
          <a:prstGeom prst="ellipse">
            <a:avLst/>
          </a:prstGeom>
          <a:solidFill>
            <a:srgbClr val="EFEDFF"/>
          </a:solidFill>
          <a:ln>
            <a:noFill/>
          </a:ln>
          <a:effectLst/>
        </p:spPr>
        <p:txBody>
          <a:bodyPr rtlCol="0" anchor="ctr"/>
          <a:lstStyle/>
          <a:p>
            <a:pPr algn="ctr"/>
          </a:p>
        </p:txBody>
      </p:sp>
      <p:pic>
        <p:nvPicPr>
          <p:cNvPr id="11" name="Picture 10" descr="bot_4A35FF_256_2.0.png"/>
          <p:cNvPicPr>
            <a:picLocks noChangeAspect="1"/>
          </p:cNvPicPr>
          <p:nvPr/>
        </p:nvPicPr>
        <p:blipFill>
          <a:blip r:embed="rId3"/>
          <a:stretch>
            <a:fillRect/>
          </a:stretch>
        </p:blipFill>
        <p:spPr>
          <a:xfrm>
            <a:off x="778337" y="4609673"/>
            <a:ext cx="180685" cy="180685"/>
          </a:xfrm>
          <a:prstGeom prst="rect">
            <a:avLst/>
          </a:prstGeom>
        </p:spPr>
      </p:pic>
      <p:sp>
        <p:nvSpPr>
          <p:cNvPr id="12" name="TextBox 11"/>
          <p:cNvSpPr txBox="1"/>
          <p:nvPr/>
        </p:nvSpPr>
        <p:spPr>
          <a:xfrm>
            <a:off x="113385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Aasha chatbot</a:t>
            </a:r>
          </a:p>
        </p:txBody>
      </p:sp>
      <p:sp>
        <p:nvSpPr>
          <p:cNvPr id="13" name="TextBox 12"/>
          <p:cNvSpPr txBox="1"/>
          <p:nvPr/>
        </p:nvSpPr>
        <p:spPr>
          <a:xfrm>
            <a:off x="69494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India's first AI legal companion for crash victims, on WhatsApp and voice, no app needed.</a:t>
            </a:r>
          </a:p>
        </p:txBody>
      </p:sp>
      <p:sp>
        <p:nvSpPr>
          <p:cNvPr id="14" name="Rounded Rectangle 13"/>
          <p:cNvSpPr/>
          <p:nvPr/>
        </p:nvSpPr>
        <p:spPr>
          <a:xfrm>
            <a:off x="335584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ui_mact_calc.png"/>
          <p:cNvPicPr>
            <a:picLocks noChangeAspect="1"/>
          </p:cNvPicPr>
          <p:nvPr/>
        </p:nvPicPr>
        <p:blipFill>
          <a:blip r:embed="rId4"/>
          <a:stretch>
            <a:fillRect/>
          </a:stretch>
        </p:blipFill>
        <p:spPr>
          <a:xfrm>
            <a:off x="3537522" y="2048256"/>
            <a:ext cx="2315843" cy="2286000"/>
          </a:xfrm>
          <a:prstGeom prst="rect">
            <a:avLst/>
          </a:prstGeom>
        </p:spPr>
      </p:pic>
      <p:sp>
        <p:nvSpPr>
          <p:cNvPr id="16" name="Oval 15"/>
          <p:cNvSpPr/>
          <p:nvPr/>
        </p:nvSpPr>
        <p:spPr>
          <a:xfrm>
            <a:off x="3483864" y="4526280"/>
            <a:ext cx="347472" cy="347472"/>
          </a:xfrm>
          <a:prstGeom prst="ellipse">
            <a:avLst/>
          </a:prstGeom>
          <a:solidFill>
            <a:srgbClr val="E7F4F4"/>
          </a:solidFill>
          <a:ln>
            <a:noFill/>
          </a:ln>
          <a:effectLst/>
        </p:spPr>
        <p:txBody>
          <a:bodyPr rtlCol="0" anchor="ctr"/>
          <a:lstStyle/>
          <a:p>
            <a:pPr algn="ctr"/>
          </a:p>
        </p:txBody>
      </p:sp>
      <p:pic>
        <p:nvPicPr>
          <p:cNvPr id="17" name="Picture 16" descr="calculator_0E8A8A_256_2.0.png"/>
          <p:cNvPicPr>
            <a:picLocks noChangeAspect="1"/>
          </p:cNvPicPr>
          <p:nvPr/>
        </p:nvPicPr>
        <p:blipFill>
          <a:blip r:embed="rId5"/>
          <a:stretch>
            <a:fillRect/>
          </a:stretch>
        </p:blipFill>
        <p:spPr>
          <a:xfrm>
            <a:off x="3567257" y="4609673"/>
            <a:ext cx="180685" cy="180685"/>
          </a:xfrm>
          <a:prstGeom prst="rect">
            <a:avLst/>
          </a:prstGeom>
        </p:spPr>
      </p:pic>
      <p:sp>
        <p:nvSpPr>
          <p:cNvPr id="18" name="TextBox 17"/>
          <p:cNvSpPr txBox="1"/>
          <p:nvPr/>
        </p:nvSpPr>
        <p:spPr>
          <a:xfrm>
            <a:off x="392277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Compensation Calculator</a:t>
            </a:r>
          </a:p>
        </p:txBody>
      </p:sp>
      <p:sp>
        <p:nvSpPr>
          <p:cNvPr id="19" name="TextBox 18"/>
          <p:cNvSpPr txBox="1"/>
          <p:nvPr/>
        </p:nvSpPr>
        <p:spPr>
          <a:xfrm>
            <a:off x="348386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Free instant estimates computed on Supreme Court principles (Sarla Verma, Pranay Sethi).</a:t>
            </a:r>
          </a:p>
        </p:txBody>
      </p:sp>
      <p:sp>
        <p:nvSpPr>
          <p:cNvPr id="20" name="Rounded Rectangle 19"/>
          <p:cNvSpPr/>
          <p:nvPr/>
        </p:nvSpPr>
        <p:spPr>
          <a:xfrm>
            <a:off x="614476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comic_aasha_page.png"/>
          <p:cNvPicPr>
            <a:picLocks noChangeAspect="1"/>
          </p:cNvPicPr>
          <p:nvPr/>
        </p:nvPicPr>
        <p:blipFill>
          <a:blip r:embed="rId6"/>
          <a:stretch>
            <a:fillRect/>
          </a:stretch>
        </p:blipFill>
        <p:spPr>
          <a:xfrm>
            <a:off x="6620503" y="2048256"/>
            <a:ext cx="1727722" cy="2286000"/>
          </a:xfrm>
          <a:prstGeom prst="rect">
            <a:avLst/>
          </a:prstGeom>
        </p:spPr>
      </p:pic>
      <p:sp>
        <p:nvSpPr>
          <p:cNvPr id="22" name="Oval 21"/>
          <p:cNvSpPr/>
          <p:nvPr/>
        </p:nvSpPr>
        <p:spPr>
          <a:xfrm>
            <a:off x="6272784" y="4526280"/>
            <a:ext cx="347472" cy="347472"/>
          </a:xfrm>
          <a:prstGeom prst="ellipse">
            <a:avLst/>
          </a:prstGeom>
          <a:solidFill>
            <a:srgbClr val="FDF3E3"/>
          </a:solidFill>
          <a:ln>
            <a:noFill/>
          </a:ln>
          <a:effectLst/>
        </p:spPr>
        <p:txBody>
          <a:bodyPr rtlCol="0" anchor="ctr"/>
          <a:lstStyle/>
          <a:p>
            <a:pPr algn="ctr"/>
          </a:p>
        </p:txBody>
      </p:sp>
      <p:pic>
        <p:nvPicPr>
          <p:cNvPr id="23" name="Picture 22" descr="book-open_E58900_256_2.0.png"/>
          <p:cNvPicPr>
            <a:picLocks noChangeAspect="1"/>
          </p:cNvPicPr>
          <p:nvPr/>
        </p:nvPicPr>
        <p:blipFill>
          <a:blip r:embed="rId7"/>
          <a:stretch>
            <a:fillRect/>
          </a:stretch>
        </p:blipFill>
        <p:spPr>
          <a:xfrm>
            <a:off x="6356177" y="4609673"/>
            <a:ext cx="180685" cy="180685"/>
          </a:xfrm>
          <a:prstGeom prst="rect">
            <a:avLst/>
          </a:prstGeom>
        </p:spPr>
      </p:pic>
      <p:sp>
        <p:nvSpPr>
          <p:cNvPr id="24" name="TextBox 23"/>
          <p:cNvSpPr txBox="1"/>
          <p:nvPr/>
        </p:nvSpPr>
        <p:spPr>
          <a:xfrm>
            <a:off x="671169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'Meet Aasha' comics</a:t>
            </a:r>
          </a:p>
        </p:txBody>
      </p:sp>
      <p:sp>
        <p:nvSpPr>
          <p:cNvPr id="25" name="TextBox 24"/>
          <p:cNvSpPr txBox="1"/>
          <p:nvPr/>
        </p:nvSpPr>
        <p:spPr>
          <a:xfrm>
            <a:off x="627278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Plain-language legal education that families actually read, at desks and in schools.</a:t>
            </a:r>
          </a:p>
        </p:txBody>
      </p:sp>
      <p:sp>
        <p:nvSpPr>
          <p:cNvPr id="26" name="Rounded Rectangle 25"/>
          <p:cNvSpPr/>
          <p:nvPr/>
        </p:nvSpPr>
        <p:spPr>
          <a:xfrm>
            <a:off x="893368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opt_guide_p1_1500.jpg"/>
          <p:cNvPicPr>
            <a:picLocks noChangeAspect="1"/>
          </p:cNvPicPr>
          <p:nvPr/>
        </p:nvPicPr>
        <p:blipFill>
          <a:blip r:embed="rId8"/>
          <a:stretch>
            <a:fillRect/>
          </a:stretch>
        </p:blipFill>
        <p:spPr>
          <a:xfrm>
            <a:off x="9438979" y="2048256"/>
            <a:ext cx="1668610" cy="2286000"/>
          </a:xfrm>
          <a:prstGeom prst="rect">
            <a:avLst/>
          </a:prstGeom>
        </p:spPr>
      </p:pic>
      <p:sp>
        <p:nvSpPr>
          <p:cNvPr id="28" name="Oval 27"/>
          <p:cNvSpPr/>
          <p:nvPr/>
        </p:nvSpPr>
        <p:spPr>
          <a:xfrm>
            <a:off x="9061704" y="4526280"/>
            <a:ext cx="347472" cy="347472"/>
          </a:xfrm>
          <a:prstGeom prst="ellipse">
            <a:avLst/>
          </a:prstGeom>
          <a:solidFill>
            <a:srgbClr val="E9F7F0"/>
          </a:solidFill>
          <a:ln>
            <a:noFill/>
          </a:ln>
          <a:effectLst/>
        </p:spPr>
        <p:txBody>
          <a:bodyPr rtlCol="0" anchor="ctr"/>
          <a:lstStyle/>
          <a:p>
            <a:pPr algn="ctr"/>
          </a:p>
        </p:txBody>
      </p:sp>
      <p:pic>
        <p:nvPicPr>
          <p:cNvPr id="29" name="Picture 28" descr="languages_0A9955_256_2.0.png"/>
          <p:cNvPicPr>
            <a:picLocks noChangeAspect="1"/>
          </p:cNvPicPr>
          <p:nvPr/>
        </p:nvPicPr>
        <p:blipFill>
          <a:blip r:embed="rId9"/>
          <a:stretch>
            <a:fillRect/>
          </a:stretch>
        </p:blipFill>
        <p:spPr>
          <a:xfrm>
            <a:off x="9145097" y="4609673"/>
            <a:ext cx="180685" cy="180685"/>
          </a:xfrm>
          <a:prstGeom prst="rect">
            <a:avLst/>
          </a:prstGeom>
        </p:spPr>
      </p:pic>
      <p:sp>
        <p:nvSpPr>
          <p:cNvPr id="30" name="TextBox 29"/>
          <p:cNvSpPr txBox="1"/>
          <p:nvPr/>
        </p:nvSpPr>
        <p:spPr>
          <a:xfrm>
            <a:off x="950061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Hindi rights guide</a:t>
            </a:r>
          </a:p>
        </p:txBody>
      </p:sp>
      <p:sp>
        <p:nvSpPr>
          <p:cNvPr id="31" name="TextBox 30"/>
          <p:cNvSpPr txBox="1"/>
          <p:nvPr/>
        </p:nvSpPr>
        <p:spPr>
          <a:xfrm>
            <a:off x="906170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All three compensation routes, NALSA 15100 and the Cashless Treatment Scheme 2025.</a:t>
            </a:r>
          </a:p>
        </p:txBody>
      </p:sp>
      <p:sp>
        <p:nvSpPr>
          <p:cNvPr id="32" name="Rounded Rectangle 31"/>
          <p:cNvSpPr/>
          <p:nvPr/>
        </p:nvSpPr>
        <p:spPr>
          <a:xfrm>
            <a:off x="566928" y="5870448"/>
            <a:ext cx="11057839" cy="457200"/>
          </a:xfrm>
          <a:prstGeom prst="roundRect">
            <a:avLst>
              <a:gd name="adj" fmla="val 14000"/>
            </a:avLst>
          </a:prstGeom>
          <a:solidFill>
            <a:srgbClr val="E9F7F0"/>
          </a:solidFill>
          <a:ln>
            <a:noFill/>
          </a:ln>
          <a:effectLst/>
        </p:spPr>
        <p:txBody>
          <a:bodyPr rtlCol="0" anchor="ctr"/>
          <a:lstStyle/>
          <a:p>
            <a:pPr algn="ctr"/>
          </a:p>
        </p:txBody>
      </p:sp>
      <p:sp>
        <p:nvSpPr>
          <p:cNvPr id="33" name="TextBox 32"/>
          <p:cNvSpPr txBox="1"/>
          <p:nvPr/>
        </p:nvSpPr>
        <p:spPr>
          <a:xfrm>
            <a:off x="768096" y="5943600"/>
            <a:ext cx="10646359" cy="329184"/>
          </a:xfrm>
          <a:prstGeom prst="rect">
            <a:avLst/>
          </a:prstGeom>
          <a:noFill/>
        </p:spPr>
        <p:txBody>
          <a:bodyPr wrap="square" lIns="0" rIns="0" tIns="0" bIns="0" anchor="t">
            <a:spAutoFit/>
          </a:bodyPr>
          <a:lstStyle/>
          <a:p>
            <a:pPr algn="l">
              <a:lnSpc>
                <a:spcPct val="120000"/>
              </a:lnSpc>
            </a:pPr>
            <a:r>
              <a:rPr sz="950" b="1" i="0">
                <a:solidFill>
                  <a:srgbClr val="0A9955"/>
                </a:solidFill>
                <a:latin typeface="Geist"/>
              </a:rPr>
              <a:t>Hospital helpdesks bring all of this to the trauma-ward bedside </a:t>
            </a:r>
            <a:r>
              <a:rPr sz="950" b="0" i="0">
                <a:solidFill>
                  <a:srgbClr val="0A9955"/>
                </a:solidFill>
                <a:latin typeface="Geist"/>
              </a:rPr>
              <a:t>, 100+ victims supported in the first four days, run with DLSA and Neev Foundation.</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OUR RESEARCH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Published evidence </a:t>
            </a:r>
            <a:r>
              <a:rPr sz="2250" b="1" i="0">
                <a:solidFill>
                  <a:srgbClr val="4A35FF"/>
                </a:solidFill>
                <a:latin typeface="Montserrat"/>
              </a:rPr>
              <a:t>the sector cites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Original research, launched publicly and covered by national press. Each report turns a policy gap into something authorities can act on.</a:t>
            </a:r>
          </a:p>
        </p:txBody>
      </p:sp>
      <p:sp>
        <p:nvSpPr>
          <p:cNvPr id="8" name="Rounded Rectangle 7"/>
          <p:cNvSpPr/>
          <p:nvPr/>
        </p:nvSpPr>
        <p:spPr>
          <a:xfrm>
            <a:off x="566928" y="2148840"/>
            <a:ext cx="3611880" cy="3749039"/>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opt_cov_justice_unserved_1500.jpg"/>
          <p:cNvPicPr>
            <a:picLocks noChangeAspect="1"/>
          </p:cNvPicPr>
          <p:nvPr/>
        </p:nvPicPr>
        <p:blipFill>
          <a:blip r:embed="rId2"/>
          <a:stretch>
            <a:fillRect/>
          </a:stretch>
        </p:blipFill>
        <p:spPr>
          <a:xfrm>
            <a:off x="1609636" y="2331720"/>
            <a:ext cx="1526463" cy="2011680"/>
          </a:xfrm>
          <a:prstGeom prst="rect">
            <a:avLst/>
          </a:prstGeom>
        </p:spPr>
      </p:pic>
      <p:sp>
        <p:nvSpPr>
          <p:cNvPr id="10" name="TextBox 9"/>
          <p:cNvSpPr txBox="1"/>
          <p:nvPr/>
        </p:nvSpPr>
        <p:spPr>
          <a:xfrm>
            <a:off x="749808" y="4480560"/>
            <a:ext cx="3246120" cy="27432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'Justice Unserved'</a:t>
            </a:r>
          </a:p>
        </p:txBody>
      </p:sp>
      <p:sp>
        <p:nvSpPr>
          <p:cNvPr id="11" name="Rounded Rectangle 10"/>
          <p:cNvSpPr/>
          <p:nvPr/>
        </p:nvSpPr>
        <p:spPr>
          <a:xfrm>
            <a:off x="749808" y="4800600"/>
            <a:ext cx="1188720" cy="292608"/>
          </a:xfrm>
          <a:prstGeom prst="roundRect">
            <a:avLst>
              <a:gd name="adj" fmla="val 50000"/>
            </a:avLst>
          </a:prstGeom>
          <a:solidFill>
            <a:srgbClr val="EFEDFF"/>
          </a:solidFill>
          <a:ln>
            <a:noFill/>
          </a:ln>
          <a:effectLst/>
        </p:spPr>
        <p:txBody>
          <a:bodyPr rtlCol="0" anchor="ctr"/>
          <a:lstStyle/>
          <a:p>
            <a:pPr algn="ctr"/>
          </a:p>
        </p:txBody>
      </p:sp>
      <p:sp>
        <p:nvSpPr>
          <p:cNvPr id="12" name="TextBox 11"/>
          <p:cNvSpPr txBox="1"/>
          <p:nvPr/>
        </p:nvSpPr>
        <p:spPr>
          <a:xfrm>
            <a:off x="768096" y="4800600"/>
            <a:ext cx="1152144" cy="292608"/>
          </a:xfrm>
          <a:prstGeom prst="rect">
            <a:avLst/>
          </a:prstGeom>
          <a:noFill/>
        </p:spPr>
        <p:txBody>
          <a:bodyPr wrap="square" lIns="0" rIns="0" tIns="0" bIns="0" anchor="ctr">
            <a:spAutoFit/>
          </a:bodyPr>
          <a:lstStyle/>
          <a:p>
            <a:pPr algn="ctr">
              <a:lnSpc>
                <a:spcPct val="100000"/>
              </a:lnSpc>
            </a:pPr>
            <a:r>
              <a:rPr sz="800" b="1" i="0">
                <a:solidFill>
                  <a:srgbClr val="4A35FF"/>
                </a:solidFill>
                <a:latin typeface="Montserrat"/>
              </a:rPr>
              <a:t>Jan 2026</a:t>
            </a:r>
          </a:p>
        </p:txBody>
      </p:sp>
      <p:sp>
        <p:nvSpPr>
          <p:cNvPr id="13" name="TextBox 12"/>
          <p:cNvSpPr txBox="1"/>
          <p:nvPr/>
        </p:nvSpPr>
        <p:spPr>
          <a:xfrm>
            <a:off x="749808" y="5184648"/>
            <a:ext cx="3246120" cy="64008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Why so few hit-and-run and third-party claims reach the families entitled to them. Launched at IIT Delhi; findings presented to MoRTH.</a:t>
            </a:r>
          </a:p>
        </p:txBody>
      </p:sp>
      <p:sp>
        <p:nvSpPr>
          <p:cNvPr id="14" name="Rounded Rectangle 13"/>
          <p:cNvSpPr/>
          <p:nvPr/>
        </p:nvSpPr>
        <p:spPr>
          <a:xfrm>
            <a:off x="4288536" y="2148840"/>
            <a:ext cx="3611880" cy="3749039"/>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cov_deposited.png"/>
          <p:cNvPicPr>
            <a:picLocks noChangeAspect="1"/>
          </p:cNvPicPr>
          <p:nvPr/>
        </p:nvPicPr>
        <p:blipFill>
          <a:blip r:embed="rId3"/>
          <a:stretch>
            <a:fillRect/>
          </a:stretch>
        </p:blipFill>
        <p:spPr>
          <a:xfrm>
            <a:off x="5327923" y="2331720"/>
            <a:ext cx="1533106" cy="2011680"/>
          </a:xfrm>
          <a:prstGeom prst="rect">
            <a:avLst/>
          </a:prstGeom>
        </p:spPr>
      </p:pic>
      <p:sp>
        <p:nvSpPr>
          <p:cNvPr id="16" name="TextBox 15"/>
          <p:cNvSpPr txBox="1"/>
          <p:nvPr/>
        </p:nvSpPr>
        <p:spPr>
          <a:xfrm>
            <a:off x="4471416" y="4480560"/>
            <a:ext cx="3246120" cy="27432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'Deposited But Not Delivered'</a:t>
            </a:r>
          </a:p>
        </p:txBody>
      </p:sp>
      <p:sp>
        <p:nvSpPr>
          <p:cNvPr id="17" name="Rounded Rectangle 16"/>
          <p:cNvSpPr/>
          <p:nvPr/>
        </p:nvSpPr>
        <p:spPr>
          <a:xfrm>
            <a:off x="4471416" y="4800600"/>
            <a:ext cx="1188720" cy="292608"/>
          </a:xfrm>
          <a:prstGeom prst="roundRect">
            <a:avLst>
              <a:gd name="adj" fmla="val 50000"/>
            </a:avLst>
          </a:prstGeom>
          <a:solidFill>
            <a:srgbClr val="EFEDFF"/>
          </a:solidFill>
          <a:ln>
            <a:noFill/>
          </a:ln>
          <a:effectLst/>
        </p:spPr>
        <p:txBody>
          <a:bodyPr rtlCol="0" anchor="ctr"/>
          <a:lstStyle/>
          <a:p>
            <a:pPr algn="ctr"/>
          </a:p>
        </p:txBody>
      </p:sp>
      <p:sp>
        <p:nvSpPr>
          <p:cNvPr id="18" name="TextBox 17"/>
          <p:cNvSpPr txBox="1"/>
          <p:nvPr/>
        </p:nvSpPr>
        <p:spPr>
          <a:xfrm>
            <a:off x="4489704" y="4800600"/>
            <a:ext cx="1152144" cy="292608"/>
          </a:xfrm>
          <a:prstGeom prst="rect">
            <a:avLst/>
          </a:prstGeom>
          <a:noFill/>
        </p:spPr>
        <p:txBody>
          <a:bodyPr wrap="square" lIns="0" rIns="0" tIns="0" bIns="0" anchor="ctr">
            <a:spAutoFit/>
          </a:bodyPr>
          <a:lstStyle/>
          <a:p>
            <a:pPr algn="ctr">
              <a:lnSpc>
                <a:spcPct val="100000"/>
              </a:lnSpc>
            </a:pPr>
            <a:r>
              <a:rPr sz="800" b="1" i="0">
                <a:solidFill>
                  <a:srgbClr val="4A35FF"/>
                </a:solidFill>
                <a:latin typeface="Montserrat"/>
              </a:rPr>
              <a:t>2026</a:t>
            </a:r>
          </a:p>
        </p:txBody>
      </p:sp>
      <p:sp>
        <p:nvSpPr>
          <p:cNvPr id="19" name="TextBox 18"/>
          <p:cNvSpPr txBox="1"/>
          <p:nvPr/>
        </p:nvSpPr>
        <p:spPr>
          <a:xfrm>
            <a:off x="4471416" y="5184648"/>
            <a:ext cx="3246120" cy="64008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~₹986 crore of court-awarded compensation lies unclaimed across five High Court jurisdictions, a bottleneck the Supreme Court noted in 2025.</a:t>
            </a:r>
          </a:p>
        </p:txBody>
      </p:sp>
      <p:sp>
        <p:nvSpPr>
          <p:cNvPr id="20" name="Rounded Rectangle 19"/>
          <p:cNvSpPr/>
          <p:nvPr/>
        </p:nvSpPr>
        <p:spPr>
          <a:xfrm>
            <a:off x="8010144" y="2148840"/>
            <a:ext cx="3611880" cy="3749039"/>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rimer_cover-01.jpg"/>
          <p:cNvPicPr>
            <a:picLocks noChangeAspect="1"/>
          </p:cNvPicPr>
          <p:nvPr/>
        </p:nvPicPr>
        <p:blipFill>
          <a:blip r:embed="rId4"/>
          <a:stretch>
            <a:fillRect/>
          </a:stretch>
        </p:blipFill>
        <p:spPr>
          <a:xfrm>
            <a:off x="9104689" y="2331720"/>
            <a:ext cx="1422790" cy="2011680"/>
          </a:xfrm>
          <a:prstGeom prst="rect">
            <a:avLst/>
          </a:prstGeom>
        </p:spPr>
      </p:pic>
      <p:sp>
        <p:nvSpPr>
          <p:cNvPr id="22" name="TextBox 21"/>
          <p:cNvSpPr txBox="1"/>
          <p:nvPr/>
        </p:nvSpPr>
        <p:spPr>
          <a:xfrm>
            <a:off x="8193024" y="4480560"/>
            <a:ext cx="3246120" cy="27432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Pre-Hospital Care Primer</a:t>
            </a:r>
          </a:p>
        </p:txBody>
      </p:sp>
      <p:sp>
        <p:nvSpPr>
          <p:cNvPr id="23" name="Rounded Rectangle 22"/>
          <p:cNvSpPr/>
          <p:nvPr/>
        </p:nvSpPr>
        <p:spPr>
          <a:xfrm>
            <a:off x="8193024" y="4800600"/>
            <a:ext cx="1188720" cy="292608"/>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8211312" y="4800600"/>
            <a:ext cx="1152144" cy="292608"/>
          </a:xfrm>
          <a:prstGeom prst="rect">
            <a:avLst/>
          </a:prstGeom>
          <a:noFill/>
        </p:spPr>
        <p:txBody>
          <a:bodyPr wrap="square" lIns="0" rIns="0" tIns="0" bIns="0" anchor="ctr">
            <a:spAutoFit/>
          </a:bodyPr>
          <a:lstStyle/>
          <a:p>
            <a:pPr algn="ctr">
              <a:lnSpc>
                <a:spcPct val="100000"/>
              </a:lnSpc>
            </a:pPr>
            <a:r>
              <a:rPr sz="800" b="1" i="0">
                <a:solidFill>
                  <a:srgbClr val="4A35FF"/>
                </a:solidFill>
                <a:latin typeface="Montserrat"/>
              </a:rPr>
              <a:t>Sep 2025</a:t>
            </a:r>
          </a:p>
        </p:txBody>
      </p:sp>
      <p:sp>
        <p:nvSpPr>
          <p:cNvPr id="25" name="TextBox 24"/>
          <p:cNvSpPr txBox="1"/>
          <p:nvPr/>
        </p:nvSpPr>
        <p:spPr>
          <a:xfrm>
            <a:off x="8193024" y="5184648"/>
            <a:ext cx="3246120" cy="64008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Benchmarks ERSS-112 response and documents state EMS innovations, with contributions from the AIIMS Trauma Centre.</a:t>
            </a:r>
          </a:p>
        </p:txBody>
      </p:sp>
      <p:sp>
        <p:nvSpPr>
          <p:cNvPr id="26" name="TextBox 25"/>
          <p:cNvSpPr txBox="1"/>
          <p:nvPr/>
        </p:nvSpPr>
        <p:spPr>
          <a:xfrm>
            <a:off x="566928" y="6035040"/>
            <a:ext cx="11057839" cy="274320"/>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the gig-rider brief 'When Risks Become Routine', and four open public-data platforms, all free to use and openly licensed.</a:t>
            </a:r>
          </a:p>
        </p:txBody>
      </p:sp>
      <p:cxnSp>
        <p:nvCxnSpPr>
          <p:cNvPr id="27" name="Connector 26"/>
          <p:cNvCxnSpPr/>
          <p:nvPr/>
        </p:nvCxnSpPr>
        <p:spPr>
          <a:xfrm>
            <a:off x="566928" y="6455664"/>
            <a:ext cx="11057839" cy="0"/>
          </a:xfrm>
          <a:prstGeom prst="line">
            <a:avLst/>
          </a:prstGeom>
          <a:ln w="9525">
            <a:solidFill>
              <a:srgbClr val="E8E9EE"/>
            </a:solidFill>
          </a:ln>
          <a:effectLst/>
        </p:spPr>
      </p:cxnSp>
      <p:sp>
        <p:nvSpPr>
          <p:cNvPr id="28" name="TextBox 27"/>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29" name="TextBox 2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VULNERABLE ROAD USERS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fastest-growing risk on Indian roads </a:t>
            </a:r>
            <a:r>
              <a:rPr sz="2250" b="1" i="0">
                <a:solidFill>
                  <a:srgbClr val="4A35FF"/>
                </a:solidFill>
                <a:latin typeface="Montserrat"/>
              </a:rPr>
              <a:t>rides a two-wheeler</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Two-wheeler riders carry the largest share of road deaths, and gig and delivery work concentrates that exposure. We study it, and we work it.</a:t>
            </a:r>
          </a:p>
        </p:txBody>
      </p:sp>
      <p:sp>
        <p:nvSpPr>
          <p:cNvPr id="8" name="Rounded Rectangle 7"/>
          <p:cNvSpPr/>
          <p:nvPr/>
        </p:nvSpPr>
        <p:spPr>
          <a:xfrm>
            <a:off x="566928" y="2148840"/>
            <a:ext cx="2377440" cy="137160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13232" y="2258568"/>
            <a:ext cx="2084832" cy="41148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~45%</a:t>
            </a:r>
          </a:p>
        </p:txBody>
      </p:sp>
      <p:sp>
        <p:nvSpPr>
          <p:cNvPr id="10" name="TextBox 9"/>
          <p:cNvSpPr txBox="1"/>
          <p:nvPr/>
        </p:nvSpPr>
        <p:spPr>
          <a:xfrm>
            <a:off x="713232" y="2715768"/>
            <a:ext cx="2084832" cy="73152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of India's crash fatalities are two-wheeler users, rising year on year</a:t>
            </a:r>
          </a:p>
        </p:txBody>
      </p:sp>
      <p:sp>
        <p:nvSpPr>
          <p:cNvPr id="11" name="Rounded Rectangle 10"/>
          <p:cNvSpPr/>
          <p:nvPr/>
        </p:nvSpPr>
        <p:spPr>
          <a:xfrm>
            <a:off x="3054096" y="2148840"/>
            <a:ext cx="2377440" cy="1371600"/>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3200400" y="2258568"/>
            <a:ext cx="2084832" cy="41148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23.5 M</a:t>
            </a:r>
          </a:p>
        </p:txBody>
      </p:sp>
      <p:sp>
        <p:nvSpPr>
          <p:cNvPr id="13" name="TextBox 12"/>
          <p:cNvSpPr txBox="1"/>
          <p:nvPr/>
        </p:nvSpPr>
        <p:spPr>
          <a:xfrm>
            <a:off x="3200400" y="2715768"/>
            <a:ext cx="2084832" cy="73152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gig and platform workers projected by 2029-30 (NITI Aayog)</a:t>
            </a:r>
          </a:p>
        </p:txBody>
      </p:sp>
      <p:sp>
        <p:nvSpPr>
          <p:cNvPr id="14" name="Rounded Rectangle 13"/>
          <p:cNvSpPr/>
          <p:nvPr/>
        </p:nvSpPr>
        <p:spPr>
          <a:xfrm>
            <a:off x="5541264" y="2148840"/>
            <a:ext cx="2377440" cy="1371600"/>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5687568" y="2258568"/>
            <a:ext cx="2084832" cy="41148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1 in 2</a:t>
            </a:r>
          </a:p>
        </p:txBody>
      </p:sp>
      <p:sp>
        <p:nvSpPr>
          <p:cNvPr id="16" name="TextBox 15"/>
          <p:cNvSpPr txBox="1"/>
          <p:nvPr/>
        </p:nvSpPr>
        <p:spPr>
          <a:xfrm>
            <a:off x="5687568" y="2715768"/>
            <a:ext cx="2084832" cy="73152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delivery riders in a 431-rider Mumbai crash study had already crashed</a:t>
            </a:r>
          </a:p>
        </p:txBody>
      </p:sp>
      <p:sp>
        <p:nvSpPr>
          <p:cNvPr id="17" name="Oval 16"/>
          <p:cNvSpPr/>
          <p:nvPr/>
        </p:nvSpPr>
        <p:spPr>
          <a:xfrm>
            <a:off x="566928" y="3794760"/>
            <a:ext cx="365760" cy="365760"/>
          </a:xfrm>
          <a:prstGeom prst="ellipse">
            <a:avLst/>
          </a:prstGeom>
          <a:solidFill>
            <a:srgbClr val="FDF3E3"/>
          </a:solidFill>
          <a:ln>
            <a:noFill/>
          </a:ln>
          <a:effectLst/>
        </p:spPr>
        <p:txBody>
          <a:bodyPr rtlCol="0" anchor="ctr"/>
          <a:lstStyle/>
          <a:p>
            <a:pPr algn="ctr"/>
          </a:p>
        </p:txBody>
      </p:sp>
      <p:pic>
        <p:nvPicPr>
          <p:cNvPr id="18" name="Picture 17" descr="file-search_E58900_256_2.0.png"/>
          <p:cNvPicPr>
            <a:picLocks noChangeAspect="1"/>
          </p:cNvPicPr>
          <p:nvPr/>
        </p:nvPicPr>
        <p:blipFill>
          <a:blip r:embed="rId2"/>
          <a:stretch>
            <a:fillRect/>
          </a:stretch>
        </p:blipFill>
        <p:spPr>
          <a:xfrm>
            <a:off x="654710" y="3882542"/>
            <a:ext cx="190195" cy="190195"/>
          </a:xfrm>
          <a:prstGeom prst="rect">
            <a:avLst/>
          </a:prstGeom>
        </p:spPr>
      </p:pic>
      <p:sp>
        <p:nvSpPr>
          <p:cNvPr id="19" name="TextBox 18"/>
          <p:cNvSpPr txBox="1"/>
          <p:nvPr/>
        </p:nvSpPr>
        <p:spPr>
          <a:xfrm>
            <a:off x="1097280" y="3776472"/>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A published study</a:t>
            </a:r>
          </a:p>
        </p:txBody>
      </p:sp>
      <p:sp>
        <p:nvSpPr>
          <p:cNvPr id="20" name="TextBox 19"/>
          <p:cNvSpPr txBox="1"/>
          <p:nvPr/>
        </p:nvSpPr>
        <p:spPr>
          <a:xfrm>
            <a:off x="3566160" y="3776472"/>
            <a:ext cx="397764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'When Risks Become Routine' (Feb 2026): 40 pages, 87 references, from incentive design and helmet compliance to the e-bike regulatory blind spot.</a:t>
            </a:r>
          </a:p>
        </p:txBody>
      </p:sp>
      <p:sp>
        <p:nvSpPr>
          <p:cNvPr id="21" name="Oval 20"/>
          <p:cNvSpPr/>
          <p:nvPr/>
        </p:nvSpPr>
        <p:spPr>
          <a:xfrm>
            <a:off x="566928" y="4544568"/>
            <a:ext cx="365760" cy="365760"/>
          </a:xfrm>
          <a:prstGeom prst="ellipse">
            <a:avLst/>
          </a:prstGeom>
          <a:solidFill>
            <a:srgbClr val="E7F4F4"/>
          </a:solidFill>
          <a:ln>
            <a:noFill/>
          </a:ln>
          <a:effectLst/>
        </p:spPr>
        <p:txBody>
          <a:bodyPr rtlCol="0" anchor="ctr"/>
          <a:lstStyle/>
          <a:p>
            <a:pPr algn="ctr"/>
          </a:p>
        </p:txBody>
      </p:sp>
      <p:pic>
        <p:nvPicPr>
          <p:cNvPr id="22" name="Picture 21" descr="gauge_0E8A8A_256_2.0.png"/>
          <p:cNvPicPr>
            <a:picLocks noChangeAspect="1"/>
          </p:cNvPicPr>
          <p:nvPr/>
        </p:nvPicPr>
        <p:blipFill>
          <a:blip r:embed="rId3"/>
          <a:stretch>
            <a:fillRect/>
          </a:stretch>
        </p:blipFill>
        <p:spPr>
          <a:xfrm>
            <a:off x="654710" y="4632350"/>
            <a:ext cx="190195" cy="190195"/>
          </a:xfrm>
          <a:prstGeom prst="rect">
            <a:avLst/>
          </a:prstGeom>
        </p:spPr>
      </p:pic>
      <p:sp>
        <p:nvSpPr>
          <p:cNvPr id="23" name="TextBox 22"/>
          <p:cNvSpPr txBox="1"/>
          <p:nvPr/>
        </p:nvSpPr>
        <p:spPr>
          <a:xfrm>
            <a:off x="1097280" y="4526280"/>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A 300-rider study, now in the field</a:t>
            </a:r>
          </a:p>
        </p:txBody>
      </p:sp>
      <p:sp>
        <p:nvSpPr>
          <p:cNvPr id="24" name="TextBox 23"/>
          <p:cNvSpPr txBox="1"/>
          <p:nvPr/>
        </p:nvSpPr>
        <p:spPr>
          <a:xfrm>
            <a:off x="3566160" y="4526280"/>
            <a:ext cx="397764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Quantifying how often riders face near-misses, which risk factors matter most, and what rider profiles exist, so interventions can be targeted.</a:t>
            </a:r>
          </a:p>
        </p:txBody>
      </p:sp>
      <p:sp>
        <p:nvSpPr>
          <p:cNvPr id="25" name="Oval 24"/>
          <p:cNvSpPr/>
          <p:nvPr/>
        </p:nvSpPr>
        <p:spPr>
          <a:xfrm>
            <a:off x="566928" y="5294376"/>
            <a:ext cx="365760" cy="365760"/>
          </a:xfrm>
          <a:prstGeom prst="ellipse">
            <a:avLst/>
          </a:prstGeom>
          <a:solidFill>
            <a:srgbClr val="EFEDFF"/>
          </a:solidFill>
          <a:ln>
            <a:noFill/>
          </a:ln>
          <a:effectLst/>
        </p:spPr>
        <p:txBody>
          <a:bodyPr rtlCol="0" anchor="ctr"/>
          <a:lstStyle/>
          <a:p>
            <a:pPr algn="ctr"/>
          </a:p>
        </p:txBody>
      </p:sp>
      <p:pic>
        <p:nvPicPr>
          <p:cNvPr id="26" name="Picture 25" descr="bike_4A35FF_256_2.0.png"/>
          <p:cNvPicPr>
            <a:picLocks noChangeAspect="1"/>
          </p:cNvPicPr>
          <p:nvPr/>
        </p:nvPicPr>
        <p:blipFill>
          <a:blip r:embed="rId4"/>
          <a:stretch>
            <a:fillRect/>
          </a:stretch>
        </p:blipFill>
        <p:spPr>
          <a:xfrm>
            <a:off x="654710" y="5382158"/>
            <a:ext cx="190195" cy="190195"/>
          </a:xfrm>
          <a:prstGeom prst="rect">
            <a:avLst/>
          </a:prstGeom>
        </p:spPr>
      </p:pic>
      <p:sp>
        <p:nvSpPr>
          <p:cNvPr id="27" name="TextBox 26"/>
          <p:cNvSpPr txBox="1"/>
          <p:nvPr/>
        </p:nvSpPr>
        <p:spPr>
          <a:xfrm>
            <a:off x="1097280" y="5276088"/>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Field, not only desk</a:t>
            </a:r>
          </a:p>
        </p:txBody>
      </p:sp>
      <p:sp>
        <p:nvSpPr>
          <p:cNvPr id="28" name="TextBox 27"/>
          <p:cNvSpPr txBox="1"/>
          <p:nvPr/>
        </p:nvSpPr>
        <p:spPr>
          <a:xfrm>
            <a:off x="3566160" y="5276088"/>
            <a:ext cx="397764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Fieldwork included shadowing a delivery rider through a full nine-hour shift, documented on video.</a:t>
            </a:r>
          </a:p>
        </p:txBody>
      </p:sp>
      <p:pic>
        <p:nvPicPr>
          <p:cNvPr id="29" name="Picture 28" descr="opt_cov_gig_1500.jpg"/>
          <p:cNvPicPr>
            <a:picLocks noChangeAspect="1"/>
          </p:cNvPicPr>
          <p:nvPr/>
        </p:nvPicPr>
        <p:blipFill>
          <a:blip r:embed="rId5"/>
          <a:stretch>
            <a:fillRect/>
          </a:stretch>
        </p:blipFill>
        <p:spPr>
          <a:xfrm>
            <a:off x="8557239" y="1965960"/>
            <a:ext cx="2682279" cy="3794760"/>
          </a:xfrm>
          <a:prstGeom prst="rect">
            <a:avLst/>
          </a:prstGeom>
        </p:spPr>
      </p:pic>
      <p:sp>
        <p:nvSpPr>
          <p:cNvPr id="30" name="Rectangle 29"/>
          <p:cNvSpPr/>
          <p:nvPr/>
        </p:nvSpPr>
        <p:spPr>
          <a:xfrm>
            <a:off x="8557239" y="1965960"/>
            <a:ext cx="2682279" cy="3794760"/>
          </a:xfrm>
          <a:prstGeom prst="rect">
            <a:avLst/>
          </a:prstGeom>
          <a:noFill/>
          <a:ln w="12700">
            <a:solidFill>
              <a:srgbClr val="E8E9EE"/>
            </a:solidFill>
          </a:ln>
          <a:effectLst/>
        </p:spPr>
        <p:txBody>
          <a:bodyPr rtlCol="0" anchor="ctr"/>
          <a:lstStyle/>
          <a:p>
            <a:pPr algn="ctr"/>
          </a:p>
        </p:txBody>
      </p:sp>
      <p:sp>
        <p:nvSpPr>
          <p:cNvPr id="31" name="TextBox 30"/>
          <p:cNvSpPr txBox="1"/>
          <p:nvPr/>
        </p:nvSpPr>
        <p:spPr>
          <a:xfrm>
            <a:off x="8557239" y="5806440"/>
            <a:ext cx="2682279"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'When Risks Become Routine' · Crashfree India research brief, February 2026.</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SCHOOL ZONES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School Safety Index: a public score </a:t>
            </a:r>
            <a:r>
              <a:rPr sz="2250" b="1" i="0">
                <a:solidFill>
                  <a:srgbClr val="4A35FF"/>
                </a:solidFill>
                <a:latin typeface="Montserrat"/>
              </a:rPr>
              <a:t>for every school's road</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child's walk to school can be graded. We grade it against India's own standard, publish the evidence, and hand the worst zones to field teams and the road-owning authority.</a:t>
            </a:r>
          </a:p>
        </p:txBody>
      </p:sp>
      <p:sp>
        <p:nvSpPr>
          <p:cNvPr id="8" name="Oval 7"/>
          <p:cNvSpPr/>
          <p:nvPr/>
        </p:nvSpPr>
        <p:spPr>
          <a:xfrm>
            <a:off x="566928" y="2212848"/>
            <a:ext cx="365760" cy="365760"/>
          </a:xfrm>
          <a:prstGeom prst="ellipse">
            <a:avLst/>
          </a:prstGeom>
          <a:solidFill>
            <a:srgbClr val="EFEDFF"/>
          </a:solidFill>
          <a:ln>
            <a:noFill/>
          </a:ln>
          <a:effectLst/>
        </p:spPr>
        <p:txBody>
          <a:bodyPr rtlCol="0" anchor="ctr"/>
          <a:lstStyle/>
          <a:p>
            <a:pPr algn="ctr"/>
          </a:p>
        </p:txBody>
      </p:sp>
      <p:pic>
        <p:nvPicPr>
          <p:cNvPr id="9" name="Picture 8" descr="scan-line_4A35FF_256_2.0.png"/>
          <p:cNvPicPr>
            <a:picLocks noChangeAspect="1"/>
          </p:cNvPicPr>
          <p:nvPr/>
        </p:nvPicPr>
        <p:blipFill>
          <a:blip r:embed="rId2"/>
          <a:stretch>
            <a:fillRect/>
          </a:stretch>
        </p:blipFill>
        <p:spPr>
          <a:xfrm>
            <a:off x="654710" y="2300630"/>
            <a:ext cx="190195" cy="190195"/>
          </a:xfrm>
          <a:prstGeom prst="rect">
            <a:avLst/>
          </a:prstGeom>
        </p:spPr>
      </p:pic>
      <p:sp>
        <p:nvSpPr>
          <p:cNvPr id="10" name="TextBox 9"/>
          <p:cNvSpPr txBox="1"/>
          <p:nvPr/>
        </p:nvSpPr>
        <p:spPr>
          <a:xfrm>
            <a:off x="1097280" y="2194560"/>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Screening at city scale</a:t>
            </a:r>
          </a:p>
        </p:txBody>
      </p:sp>
      <p:sp>
        <p:nvSpPr>
          <p:cNvPr id="11" name="TextBox 10"/>
          <p:cNvSpPr txBox="1"/>
          <p:nvPr/>
        </p:nvSpPr>
        <p:spPr>
          <a:xfrm>
            <a:off x="3566160" y="2194560"/>
            <a:ext cx="384048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Dated Street View imagery, scored 0–100 by an AI auditor against IRC:SP:32-2023, India's school-zone standard, and independently verified before publication.</a:t>
            </a:r>
          </a:p>
        </p:txBody>
      </p:sp>
      <p:sp>
        <p:nvSpPr>
          <p:cNvPr id="12" name="Oval 11"/>
          <p:cNvSpPr/>
          <p:nvPr/>
        </p:nvSpPr>
        <p:spPr>
          <a:xfrm>
            <a:off x="566928" y="3108960"/>
            <a:ext cx="365760" cy="365760"/>
          </a:xfrm>
          <a:prstGeom prst="ellipse">
            <a:avLst/>
          </a:prstGeom>
          <a:solidFill>
            <a:srgbClr val="E7F4F4"/>
          </a:solidFill>
          <a:ln>
            <a:noFill/>
          </a:ln>
          <a:effectLst/>
        </p:spPr>
        <p:txBody>
          <a:bodyPr rtlCol="0" anchor="ctr"/>
          <a:lstStyle/>
          <a:p>
            <a:pPr algn="ctr"/>
          </a:p>
        </p:txBody>
      </p:sp>
      <p:pic>
        <p:nvPicPr>
          <p:cNvPr id="13" name="Picture 12" descr="school_0E8A8A_256_2.0.png"/>
          <p:cNvPicPr>
            <a:picLocks noChangeAspect="1"/>
          </p:cNvPicPr>
          <p:nvPr/>
        </p:nvPicPr>
        <p:blipFill>
          <a:blip r:embed="rId3"/>
          <a:stretch>
            <a:fillRect/>
          </a:stretch>
        </p:blipFill>
        <p:spPr>
          <a:xfrm>
            <a:off x="654710" y="3196742"/>
            <a:ext cx="190195" cy="190195"/>
          </a:xfrm>
          <a:prstGeom prst="rect">
            <a:avLst/>
          </a:prstGeom>
        </p:spPr>
      </p:pic>
      <p:sp>
        <p:nvSpPr>
          <p:cNvPr id="14" name="TextBox 13"/>
          <p:cNvSpPr txBox="1"/>
          <p:nvPr/>
        </p:nvSpPr>
        <p:spPr>
          <a:xfrm>
            <a:off x="1097280" y="3090672"/>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Delhi and Jaipur first</a:t>
            </a:r>
          </a:p>
        </p:txBody>
      </p:sp>
      <p:sp>
        <p:nvSpPr>
          <p:cNvPr id="15" name="TextBox 14"/>
          <p:cNvSpPr txBox="1"/>
          <p:nvPr/>
        </p:nvSpPr>
        <p:spPr>
          <a:xfrm>
            <a:off x="3566160" y="3090672"/>
            <a:ext cx="384048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5,386 schools mapped across the two cities. Named schools and per-school photo evidence published from the first batch, re-audited every six months.</a:t>
            </a:r>
          </a:p>
        </p:txBody>
      </p:sp>
      <p:sp>
        <p:nvSpPr>
          <p:cNvPr id="16" name="Oval 15"/>
          <p:cNvSpPr/>
          <p:nvPr/>
        </p:nvSpPr>
        <p:spPr>
          <a:xfrm>
            <a:off x="566928" y="4005072"/>
            <a:ext cx="365760" cy="365760"/>
          </a:xfrm>
          <a:prstGeom prst="ellipse">
            <a:avLst/>
          </a:prstGeom>
          <a:solidFill>
            <a:srgbClr val="E9F7F0"/>
          </a:solidFill>
          <a:ln>
            <a:noFill/>
          </a:ln>
          <a:effectLst/>
        </p:spPr>
        <p:txBody>
          <a:bodyPr rtlCol="0" anchor="ctr"/>
          <a:lstStyle/>
          <a:p>
            <a:pPr algn="ctr"/>
          </a:p>
        </p:txBody>
      </p:sp>
      <p:pic>
        <p:nvPicPr>
          <p:cNvPr id="17" name="Picture 16" descr="footprints_0A9955_256_2.0.png"/>
          <p:cNvPicPr>
            <a:picLocks noChangeAspect="1"/>
          </p:cNvPicPr>
          <p:nvPr/>
        </p:nvPicPr>
        <p:blipFill>
          <a:blip r:embed="rId4"/>
          <a:stretch>
            <a:fillRect/>
          </a:stretch>
        </p:blipFill>
        <p:spPr>
          <a:xfrm>
            <a:off x="654710" y="4092854"/>
            <a:ext cx="190195" cy="190195"/>
          </a:xfrm>
          <a:prstGeom prst="rect">
            <a:avLst/>
          </a:prstGeom>
        </p:spPr>
      </p:pic>
      <p:sp>
        <p:nvSpPr>
          <p:cNvPr id="18" name="TextBox 17"/>
          <p:cNvSpPr txBox="1"/>
          <p:nvPr/>
        </p:nvSpPr>
        <p:spPr>
          <a:xfrm>
            <a:off x="1097280" y="3986784"/>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It measures the road, never the school</a:t>
            </a:r>
          </a:p>
        </p:txBody>
      </p:sp>
      <p:sp>
        <p:nvSpPr>
          <p:cNvPr id="19" name="TextBox 18"/>
          <p:cNvSpPr txBox="1"/>
          <p:nvPr/>
        </p:nvSpPr>
        <p:spPr>
          <a:xfrm>
            <a:off x="3566160" y="3986784"/>
            <a:ext cx="384048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A low score is a demand on the road-owning authority, not a criticism of the school. The worst zones feed our student field audits, the 41-check ground tier.</a:t>
            </a:r>
          </a:p>
        </p:txBody>
      </p:sp>
      <p:sp>
        <p:nvSpPr>
          <p:cNvPr id="20" name="Rounded Rectangle 19"/>
          <p:cNvSpPr/>
          <p:nvPr/>
        </p:nvSpPr>
        <p:spPr>
          <a:xfrm>
            <a:off x="566928" y="5047488"/>
            <a:ext cx="2212848" cy="1133856"/>
          </a:xfrm>
          <a:prstGeom prst="roundRect">
            <a:avLst>
              <a:gd name="adj" fmla="val 10000"/>
            </a:avLst>
          </a:prstGeom>
          <a:solidFill>
            <a:srgbClr val="F7F7FA"/>
          </a:solidFill>
          <a:ln>
            <a:noFill/>
          </a:ln>
          <a:effectLst/>
        </p:spPr>
        <p:txBody>
          <a:bodyPr rtlCol="0" anchor="ctr"/>
          <a:lstStyle/>
          <a:p>
            <a:pPr algn="ctr"/>
          </a:p>
        </p:txBody>
      </p:sp>
      <p:sp>
        <p:nvSpPr>
          <p:cNvPr id="21" name="TextBox 20"/>
          <p:cNvSpPr txBox="1"/>
          <p:nvPr/>
        </p:nvSpPr>
        <p:spPr>
          <a:xfrm>
            <a:off x="704088" y="5138928"/>
            <a:ext cx="1938528" cy="365760"/>
          </a:xfrm>
          <a:prstGeom prst="rect">
            <a:avLst/>
          </a:prstGeom>
          <a:noFill/>
        </p:spPr>
        <p:txBody>
          <a:bodyPr wrap="square" lIns="0" rIns="0" tIns="0" bIns="0" anchor="t">
            <a:spAutoFit/>
          </a:bodyPr>
          <a:lstStyle/>
          <a:p>
            <a:pPr algn="l">
              <a:lnSpc>
                <a:spcPct val="128000"/>
              </a:lnSpc>
            </a:pPr>
            <a:r>
              <a:rPr sz="1700" b="1" i="0">
                <a:solidFill>
                  <a:srgbClr val="4A35FF"/>
                </a:solidFill>
                <a:latin typeface="Montserrat"/>
              </a:rPr>
              <a:t>~10,000</a:t>
            </a:r>
          </a:p>
        </p:txBody>
      </p:sp>
      <p:sp>
        <p:nvSpPr>
          <p:cNvPr id="22" name="TextBox 21"/>
          <p:cNvSpPr txBox="1"/>
          <p:nvPr/>
        </p:nvSpPr>
        <p:spPr>
          <a:xfrm>
            <a:off x="704088" y="5522976"/>
            <a:ext cx="1938528" cy="621792"/>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minors died on Indian roads in 2023 (MoRTH)</a:t>
            </a:r>
          </a:p>
        </p:txBody>
      </p:sp>
      <p:sp>
        <p:nvSpPr>
          <p:cNvPr id="23" name="Rounded Rectangle 22"/>
          <p:cNvSpPr/>
          <p:nvPr/>
        </p:nvSpPr>
        <p:spPr>
          <a:xfrm>
            <a:off x="2907792" y="5047488"/>
            <a:ext cx="2212848" cy="1133856"/>
          </a:xfrm>
          <a:prstGeom prst="roundRect">
            <a:avLst>
              <a:gd name="adj" fmla="val 10000"/>
            </a:avLst>
          </a:prstGeom>
          <a:solidFill>
            <a:srgbClr val="F7F7FA"/>
          </a:solidFill>
          <a:ln>
            <a:noFill/>
          </a:ln>
          <a:effectLst/>
        </p:spPr>
        <p:txBody>
          <a:bodyPr rtlCol="0" anchor="ctr"/>
          <a:lstStyle/>
          <a:p>
            <a:pPr algn="ctr"/>
          </a:p>
        </p:txBody>
      </p:sp>
      <p:sp>
        <p:nvSpPr>
          <p:cNvPr id="24" name="TextBox 23"/>
          <p:cNvSpPr txBox="1"/>
          <p:nvPr/>
        </p:nvSpPr>
        <p:spPr>
          <a:xfrm>
            <a:off x="3044952" y="5138928"/>
            <a:ext cx="1938528" cy="365760"/>
          </a:xfrm>
          <a:prstGeom prst="rect">
            <a:avLst/>
          </a:prstGeom>
          <a:noFill/>
        </p:spPr>
        <p:txBody>
          <a:bodyPr wrap="square" lIns="0" rIns="0" tIns="0" bIns="0" anchor="t">
            <a:spAutoFit/>
          </a:bodyPr>
          <a:lstStyle/>
          <a:p>
            <a:pPr algn="l">
              <a:lnSpc>
                <a:spcPct val="128000"/>
              </a:lnSpc>
            </a:pPr>
            <a:r>
              <a:rPr sz="1700" b="1" i="0">
                <a:solidFill>
                  <a:srgbClr val="4A35FF"/>
                </a:solidFill>
                <a:latin typeface="Montserrat"/>
              </a:rPr>
              <a:t>4.6%</a:t>
            </a:r>
          </a:p>
        </p:txBody>
      </p:sp>
      <p:sp>
        <p:nvSpPr>
          <p:cNvPr id="25" name="TextBox 24"/>
          <p:cNvSpPr txBox="1"/>
          <p:nvPr/>
        </p:nvSpPr>
        <p:spPr>
          <a:xfrm>
            <a:off x="3044952" y="5522976"/>
            <a:ext cx="1938528" cy="621792"/>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of crashes occur in school and college zones (e-DAR 2024)</a:t>
            </a:r>
          </a:p>
        </p:txBody>
      </p:sp>
      <p:sp>
        <p:nvSpPr>
          <p:cNvPr id="26" name="Rounded Rectangle 25"/>
          <p:cNvSpPr/>
          <p:nvPr/>
        </p:nvSpPr>
        <p:spPr>
          <a:xfrm>
            <a:off x="5248656" y="5047488"/>
            <a:ext cx="2212848" cy="1133856"/>
          </a:xfrm>
          <a:prstGeom prst="roundRect">
            <a:avLst>
              <a:gd name="adj" fmla="val 10000"/>
            </a:avLst>
          </a:prstGeom>
          <a:solidFill>
            <a:srgbClr val="F7F7FA"/>
          </a:solidFill>
          <a:ln>
            <a:noFill/>
          </a:ln>
          <a:effectLst/>
        </p:spPr>
        <p:txBody>
          <a:bodyPr rtlCol="0" anchor="ctr"/>
          <a:lstStyle/>
          <a:p>
            <a:pPr algn="ctr"/>
          </a:p>
        </p:txBody>
      </p:sp>
      <p:sp>
        <p:nvSpPr>
          <p:cNvPr id="27" name="TextBox 26"/>
          <p:cNvSpPr txBox="1"/>
          <p:nvPr/>
        </p:nvSpPr>
        <p:spPr>
          <a:xfrm>
            <a:off x="5385816" y="5138928"/>
            <a:ext cx="1938528" cy="365760"/>
          </a:xfrm>
          <a:prstGeom prst="rect">
            <a:avLst/>
          </a:prstGeom>
          <a:noFill/>
        </p:spPr>
        <p:txBody>
          <a:bodyPr wrap="square" lIns="0" rIns="0" tIns="0" bIns="0" anchor="t">
            <a:spAutoFit/>
          </a:bodyPr>
          <a:lstStyle/>
          <a:p>
            <a:pPr algn="l">
              <a:lnSpc>
                <a:spcPct val="128000"/>
              </a:lnSpc>
            </a:pPr>
            <a:r>
              <a:rPr sz="1700" b="1" i="0">
                <a:solidFill>
                  <a:srgbClr val="4A35FF"/>
                </a:solidFill>
                <a:latin typeface="Montserrat"/>
              </a:rPr>
              <a:t>730+</a:t>
            </a:r>
          </a:p>
        </p:txBody>
      </p:sp>
      <p:sp>
        <p:nvSpPr>
          <p:cNvPr id="28" name="TextBox 27"/>
          <p:cNvSpPr txBox="1"/>
          <p:nvPr/>
        </p:nvSpPr>
        <p:spPr>
          <a:xfrm>
            <a:off x="5385816" y="5522976"/>
            <a:ext cx="1938528" cy="621792"/>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schools graded from imagery worldwide, validating the method (iRAP)</a:t>
            </a:r>
          </a:p>
        </p:txBody>
      </p:sp>
      <p:pic>
        <p:nvPicPr>
          <p:cNvPr id="29" name="Picture 28" descr="slide_ssi_index.png_4.15x3.62_0.00.jpg"/>
          <p:cNvPicPr>
            <a:picLocks noChangeAspect="1"/>
          </p:cNvPicPr>
          <p:nvPr/>
        </p:nvPicPr>
        <p:blipFill>
          <a:blip r:embed="rId5"/>
          <a:stretch>
            <a:fillRect/>
          </a:stretch>
        </p:blipFill>
        <p:spPr>
          <a:xfrm>
            <a:off x="7818120" y="2212848"/>
            <a:ext cx="3794760" cy="3310128"/>
          </a:xfrm>
          <a:prstGeom prst="rect">
            <a:avLst/>
          </a:prstGeom>
        </p:spPr>
      </p:pic>
      <p:sp>
        <p:nvSpPr>
          <p:cNvPr id="30" name="Rectangle 29"/>
          <p:cNvSpPr/>
          <p:nvPr/>
        </p:nvSpPr>
        <p:spPr>
          <a:xfrm>
            <a:off x="7818120" y="2212848"/>
            <a:ext cx="3794760" cy="3310128"/>
          </a:xfrm>
          <a:prstGeom prst="rect">
            <a:avLst/>
          </a:prstGeom>
          <a:noFill/>
          <a:ln w="12700">
            <a:solidFill>
              <a:srgbClr val="E8E9EE"/>
            </a:solidFill>
          </a:ln>
          <a:effectLst/>
        </p:spPr>
        <p:txBody>
          <a:bodyPr rtlCol="0" anchor="ctr"/>
          <a:lstStyle/>
          <a:p>
            <a:pPr algn="ctr"/>
          </a:p>
        </p:txBody>
      </p:sp>
      <p:sp>
        <p:nvSpPr>
          <p:cNvPr id="31" name="TextBox 30"/>
          <p:cNvSpPr txBox="1"/>
          <p:nvPr/>
        </p:nvSpPr>
        <p:spPr>
          <a:xfrm>
            <a:off x="7818120" y="5568696"/>
            <a:ext cx="37947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The pilot dashboard: score-first, evidence-pinned. Delhi and Jaipur batches are in build now.</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IN THE NEWS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work, </a:t>
            </a:r>
            <a:r>
              <a:rPr sz="2250" b="1" i="0">
                <a:solidFill>
                  <a:srgbClr val="4A35FF"/>
                </a:solidFill>
                <a:latin typeface="Montserrat"/>
              </a:rPr>
              <a:t>as the press tells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National newsrooms cite our research, cover our deployments, and quote our researchers by name.</a:t>
            </a:r>
          </a:p>
        </p:txBody>
      </p:sp>
      <p:sp>
        <p:nvSpPr>
          <p:cNvPr id="8" name="Rounded Rectangle 7"/>
          <p:cNvSpPr/>
          <p:nvPr/>
        </p:nvSpPr>
        <p:spPr>
          <a:xfrm>
            <a:off x="566928" y="2066543"/>
            <a:ext cx="3611880" cy="1956816"/>
          </a:xfrm>
          <a:prstGeom prst="roundRect">
            <a:avLst>
              <a:gd name="adj" fmla="val 6000"/>
            </a:avLst>
          </a:prstGeom>
          <a:solidFill>
            <a:srgbClr val="FFFFFF"/>
          </a:solidFill>
          <a:ln w="12700">
            <a:solidFill>
              <a:srgbClr val="E8E9EE"/>
            </a:solidFill>
          </a:ln>
          <a:effectLst/>
        </p:spPr>
        <p:txBody>
          <a:bodyPr rtlCol="0" anchor="ctr"/>
          <a:lstStyle/>
          <a:p>
            <a:pPr algn="ctr"/>
          </a:p>
        </p:txBody>
      </p:sp>
      <p:pic>
        <p:nvPicPr>
          <p:cNvPr id="9" name="Picture 8" descr="strip_dh_ju.jpg_3.95x0.86_0.00.jpg"/>
          <p:cNvPicPr>
            <a:picLocks noChangeAspect="1"/>
          </p:cNvPicPr>
          <p:nvPr/>
        </p:nvPicPr>
        <p:blipFill>
          <a:blip r:embed="rId2"/>
          <a:stretch>
            <a:fillRect/>
          </a:stretch>
        </p:blipFill>
        <p:spPr>
          <a:xfrm>
            <a:off x="566928" y="2066543"/>
            <a:ext cx="3611880" cy="786384"/>
          </a:xfrm>
          <a:prstGeom prst="rect">
            <a:avLst/>
          </a:prstGeom>
        </p:spPr>
      </p:pic>
      <p:sp>
        <p:nvSpPr>
          <p:cNvPr id="10" name="Rectangle 9"/>
          <p:cNvSpPr/>
          <p:nvPr/>
        </p:nvSpPr>
        <p:spPr>
          <a:xfrm>
            <a:off x="566928" y="2066543"/>
            <a:ext cx="3611880" cy="786384"/>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731520" y="2962655"/>
            <a:ext cx="3282696" cy="201168"/>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DECCAN HERALD  ·  MARCH 2026</a:t>
            </a:r>
          </a:p>
        </p:txBody>
      </p:sp>
      <p:sp>
        <p:nvSpPr>
          <p:cNvPr id="12" name="TextBox 11"/>
          <p:cNvSpPr txBox="1"/>
          <p:nvPr/>
        </p:nvSpPr>
        <p:spPr>
          <a:xfrm>
            <a:off x="731520" y="3182111"/>
            <a:ext cx="3282696" cy="457200"/>
          </a:xfrm>
          <a:prstGeom prst="rect">
            <a:avLst/>
          </a:prstGeom>
          <a:noFill/>
        </p:spPr>
        <p:txBody>
          <a:bodyPr wrap="square" lIns="0" rIns="0" tIns="0" bIns="0" anchor="t">
            <a:spAutoFit/>
          </a:bodyPr>
          <a:lstStyle/>
          <a:p>
            <a:pPr algn="l">
              <a:lnSpc>
                <a:spcPct val="112000"/>
              </a:lnSpc>
            </a:pPr>
            <a:r>
              <a:rPr sz="950" b="1" i="0">
                <a:solidFill>
                  <a:srgbClr val="16181D"/>
                </a:solidFill>
                <a:latin typeface="Montserrat"/>
              </a:rPr>
              <a:t>Road crash victims struggle as ₹80,000 crore compensation lies unpaid</a:t>
            </a:r>
          </a:p>
        </p:txBody>
      </p:sp>
      <p:sp>
        <p:nvSpPr>
          <p:cNvPr id="13" name="TextBox 12"/>
          <p:cNvSpPr txBox="1"/>
          <p:nvPr/>
        </p:nvSpPr>
        <p:spPr>
          <a:xfrm>
            <a:off x="731520" y="3675887"/>
            <a:ext cx="3282696" cy="310896"/>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National coverage of our 'Justice Unserved' brief; DH hosts the full report for readers.</a:t>
            </a:r>
          </a:p>
        </p:txBody>
      </p:sp>
      <p:sp>
        <p:nvSpPr>
          <p:cNvPr id="14" name="Rounded Rectangle 13"/>
          <p:cNvSpPr/>
          <p:nvPr/>
        </p:nvSpPr>
        <p:spPr>
          <a:xfrm>
            <a:off x="4302252" y="2066543"/>
            <a:ext cx="3611880" cy="1956816"/>
          </a:xfrm>
          <a:prstGeom prst="roundRect">
            <a:avLst>
              <a:gd name="adj" fmla="val 6000"/>
            </a:avLst>
          </a:prstGeom>
          <a:solidFill>
            <a:srgbClr val="FFFFFF"/>
          </a:solidFill>
          <a:ln w="12700">
            <a:solidFill>
              <a:srgbClr val="E8E9EE"/>
            </a:solidFill>
          </a:ln>
          <a:effectLst/>
        </p:spPr>
        <p:txBody>
          <a:bodyPr rtlCol="0" anchor="ctr"/>
          <a:lstStyle/>
          <a:p>
            <a:pPr algn="ctr"/>
          </a:p>
        </p:txBody>
      </p:sp>
      <p:pic>
        <p:nvPicPr>
          <p:cNvPr id="15" name="Picture 14" descr="strip_wire_survivors.jpg_3.95x0.86_0.00.jpg"/>
          <p:cNvPicPr>
            <a:picLocks noChangeAspect="1"/>
          </p:cNvPicPr>
          <p:nvPr/>
        </p:nvPicPr>
        <p:blipFill>
          <a:blip r:embed="rId3"/>
          <a:stretch>
            <a:fillRect/>
          </a:stretch>
        </p:blipFill>
        <p:spPr>
          <a:xfrm>
            <a:off x="4302252" y="2066543"/>
            <a:ext cx="3611880" cy="786384"/>
          </a:xfrm>
          <a:prstGeom prst="rect">
            <a:avLst/>
          </a:prstGeom>
        </p:spPr>
      </p:pic>
      <p:sp>
        <p:nvSpPr>
          <p:cNvPr id="16" name="Rectangle 15"/>
          <p:cNvSpPr/>
          <p:nvPr/>
        </p:nvSpPr>
        <p:spPr>
          <a:xfrm>
            <a:off x="4302252" y="2066543"/>
            <a:ext cx="3611880" cy="786384"/>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66844" y="2962655"/>
            <a:ext cx="3282696" cy="201168"/>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THE WIRE  ·  INDIASPEND  ·  MAY 2026</a:t>
            </a:r>
          </a:p>
        </p:txBody>
      </p:sp>
      <p:sp>
        <p:nvSpPr>
          <p:cNvPr id="18" name="TextBox 17"/>
          <p:cNvSpPr txBox="1"/>
          <p:nvPr/>
        </p:nvSpPr>
        <p:spPr>
          <a:xfrm>
            <a:off x="4466844" y="3182111"/>
            <a:ext cx="3282696" cy="457200"/>
          </a:xfrm>
          <a:prstGeom prst="rect">
            <a:avLst/>
          </a:prstGeom>
          <a:noFill/>
        </p:spPr>
        <p:txBody>
          <a:bodyPr wrap="square" lIns="0" rIns="0" tIns="0" bIns="0" anchor="t">
            <a:spAutoFit/>
          </a:bodyPr>
          <a:lstStyle/>
          <a:p>
            <a:pPr algn="l">
              <a:lnSpc>
                <a:spcPct val="112000"/>
              </a:lnSpc>
            </a:pPr>
            <a:r>
              <a:rPr sz="950" b="1" i="0">
                <a:solidFill>
                  <a:srgbClr val="16181D"/>
                </a:solidFill>
                <a:latin typeface="Montserrat"/>
              </a:rPr>
              <a:t>For India's road accident survivors, legal compensation is elusive</a:t>
            </a:r>
          </a:p>
        </p:txBody>
      </p:sp>
      <p:sp>
        <p:nvSpPr>
          <p:cNvPr id="19" name="TextBox 18"/>
          <p:cNvSpPr txBox="1"/>
          <p:nvPr/>
        </p:nvSpPr>
        <p:spPr>
          <a:xfrm>
            <a:off x="4466844" y="3675887"/>
            <a:ext cx="3282696" cy="310896"/>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Quotes our research lead Kesar Kanjhlia on where claims stall.</a:t>
            </a:r>
          </a:p>
        </p:txBody>
      </p:sp>
      <p:sp>
        <p:nvSpPr>
          <p:cNvPr id="20" name="Rounded Rectangle 19"/>
          <p:cNvSpPr/>
          <p:nvPr/>
        </p:nvSpPr>
        <p:spPr>
          <a:xfrm>
            <a:off x="8037576" y="2066543"/>
            <a:ext cx="3611880" cy="1956816"/>
          </a:xfrm>
          <a:prstGeom prst="roundRect">
            <a:avLst>
              <a:gd name="adj" fmla="val 6000"/>
            </a:avLst>
          </a:prstGeom>
          <a:solidFill>
            <a:srgbClr val="FFFFFF"/>
          </a:solidFill>
          <a:ln w="12700">
            <a:solidFill>
              <a:srgbClr val="E8E9EE"/>
            </a:solidFill>
          </a:ln>
          <a:effectLst/>
        </p:spPr>
        <p:txBody>
          <a:bodyPr rtlCol="0" anchor="ctr"/>
          <a:lstStyle/>
          <a:p>
            <a:pPr algn="ctr"/>
          </a:p>
        </p:txBody>
      </p:sp>
      <p:pic>
        <p:nvPicPr>
          <p:cNvPr id="21" name="Picture 20" descr="strip_indiaspend_crash.jpg_3.95x0.86_0.00.jpg"/>
          <p:cNvPicPr>
            <a:picLocks noChangeAspect="1"/>
          </p:cNvPicPr>
          <p:nvPr/>
        </p:nvPicPr>
        <p:blipFill>
          <a:blip r:embed="rId4"/>
          <a:stretch>
            <a:fillRect/>
          </a:stretch>
        </p:blipFill>
        <p:spPr>
          <a:xfrm>
            <a:off x="8037576" y="2066543"/>
            <a:ext cx="3611880" cy="786384"/>
          </a:xfrm>
          <a:prstGeom prst="rect">
            <a:avLst/>
          </a:prstGeom>
        </p:spPr>
      </p:pic>
      <p:sp>
        <p:nvSpPr>
          <p:cNvPr id="22" name="Rectangle 21"/>
          <p:cNvSpPr/>
          <p:nvPr/>
        </p:nvSpPr>
        <p:spPr>
          <a:xfrm>
            <a:off x="8037576" y="2066543"/>
            <a:ext cx="3611880" cy="786384"/>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202168" y="2962655"/>
            <a:ext cx="3282696" cy="201168"/>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INDIASPEND  ·  ISIGNAL  ·  MARCH 2026</a:t>
            </a:r>
          </a:p>
        </p:txBody>
      </p:sp>
      <p:sp>
        <p:nvSpPr>
          <p:cNvPr id="24" name="TextBox 23"/>
          <p:cNvSpPr txBox="1"/>
          <p:nvPr/>
        </p:nvSpPr>
        <p:spPr>
          <a:xfrm>
            <a:off x="8202168" y="3182111"/>
            <a:ext cx="3282696" cy="457200"/>
          </a:xfrm>
          <a:prstGeom prst="rect">
            <a:avLst/>
          </a:prstGeom>
          <a:noFill/>
        </p:spPr>
        <p:txBody>
          <a:bodyPr wrap="square" lIns="0" rIns="0" tIns="0" bIns="0" anchor="t">
            <a:spAutoFit/>
          </a:bodyPr>
          <a:lstStyle/>
          <a:p>
            <a:pPr algn="l">
              <a:lnSpc>
                <a:spcPct val="112000"/>
              </a:lnSpc>
            </a:pPr>
            <a:r>
              <a:rPr sz="950" b="1" i="0">
                <a:solidFill>
                  <a:srgbClr val="16181D"/>
                </a:solidFill>
                <a:latin typeface="Montserrat"/>
              </a:rPr>
              <a:t>One crash, years of crisis: the hidden scale of serious road injuries</a:t>
            </a:r>
          </a:p>
        </p:txBody>
      </p:sp>
      <p:sp>
        <p:nvSpPr>
          <p:cNvPr id="25" name="TextBox 24"/>
          <p:cNvSpPr txBox="1"/>
          <p:nvPr/>
        </p:nvSpPr>
        <p:spPr>
          <a:xfrm>
            <a:off x="8202168" y="3675887"/>
            <a:ext cx="3282696" cy="310896"/>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Cites our gig-rider research; quotes Aastha Shreeharsh on missing risk data.</a:t>
            </a:r>
          </a:p>
        </p:txBody>
      </p:sp>
      <p:sp>
        <p:nvSpPr>
          <p:cNvPr id="26" name="Rounded Rectangle 25"/>
          <p:cNvSpPr/>
          <p:nvPr/>
        </p:nvSpPr>
        <p:spPr>
          <a:xfrm>
            <a:off x="566928" y="4151375"/>
            <a:ext cx="3611880" cy="1956816"/>
          </a:xfrm>
          <a:prstGeom prst="roundRect">
            <a:avLst>
              <a:gd name="adj" fmla="val 6000"/>
            </a:avLst>
          </a:prstGeom>
          <a:solidFill>
            <a:srgbClr val="FFFFFF"/>
          </a:solidFill>
          <a:ln w="12700">
            <a:solidFill>
              <a:srgbClr val="E8E9EE"/>
            </a:solidFill>
          </a:ln>
          <a:effectLst/>
        </p:spPr>
        <p:txBody>
          <a:bodyPr rtlCol="0" anchor="ctr"/>
          <a:lstStyle/>
          <a:p>
            <a:pPr algn="ctr"/>
          </a:p>
        </p:txBody>
      </p:sp>
      <p:pic>
        <p:nvPicPr>
          <p:cNvPr id="27" name="Picture 26" descr="strip_dh_billboard.jpg_3.95x0.86_0.00.jpg"/>
          <p:cNvPicPr>
            <a:picLocks noChangeAspect="1"/>
          </p:cNvPicPr>
          <p:nvPr/>
        </p:nvPicPr>
        <p:blipFill>
          <a:blip r:embed="rId5"/>
          <a:stretch>
            <a:fillRect/>
          </a:stretch>
        </p:blipFill>
        <p:spPr>
          <a:xfrm>
            <a:off x="566928" y="4151375"/>
            <a:ext cx="3611880" cy="786384"/>
          </a:xfrm>
          <a:prstGeom prst="rect">
            <a:avLst/>
          </a:prstGeom>
        </p:spPr>
      </p:pic>
      <p:sp>
        <p:nvSpPr>
          <p:cNvPr id="28" name="Rectangle 27"/>
          <p:cNvSpPr/>
          <p:nvPr/>
        </p:nvSpPr>
        <p:spPr>
          <a:xfrm>
            <a:off x="566928" y="4151375"/>
            <a:ext cx="3611880" cy="786384"/>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731520" y="5047487"/>
            <a:ext cx="3282696" cy="201168"/>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DECCAN HERALD  ·  SEPT 2025</a:t>
            </a:r>
          </a:p>
        </p:txBody>
      </p:sp>
      <p:sp>
        <p:nvSpPr>
          <p:cNvPr id="30" name="TextBox 29"/>
          <p:cNvSpPr txBox="1"/>
          <p:nvPr/>
        </p:nvSpPr>
        <p:spPr>
          <a:xfrm>
            <a:off x="731520" y="5266943"/>
            <a:ext cx="3282696" cy="457200"/>
          </a:xfrm>
          <a:prstGeom prst="rect">
            <a:avLst/>
          </a:prstGeom>
          <a:noFill/>
        </p:spPr>
        <p:txBody>
          <a:bodyPr wrap="square" lIns="0" rIns="0" tIns="0" bIns="0" anchor="t">
            <a:spAutoFit/>
          </a:bodyPr>
          <a:lstStyle/>
          <a:p>
            <a:pPr algn="l">
              <a:lnSpc>
                <a:spcPct val="112000"/>
              </a:lnSpc>
            </a:pPr>
            <a:r>
              <a:rPr sz="950" b="1" i="0">
                <a:solidFill>
                  <a:srgbClr val="16181D"/>
                </a:solidFill>
                <a:latin typeface="Montserrat"/>
              </a:rPr>
              <a:t>Big boss watching! Billboard at Trinity Circle displays violations in real time</a:t>
            </a:r>
          </a:p>
        </p:txBody>
      </p:sp>
      <p:sp>
        <p:nvSpPr>
          <p:cNvPr id="31" name="TextBox 30"/>
          <p:cNvSpPr txBox="1"/>
          <p:nvPr/>
        </p:nvSpPr>
        <p:spPr>
          <a:xfrm>
            <a:off x="731520" y="5760719"/>
            <a:ext cx="3282696" cy="310896"/>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Our live challan billboard with Bengaluru Traffic Police and Cars24.</a:t>
            </a:r>
          </a:p>
        </p:txBody>
      </p:sp>
      <p:sp>
        <p:nvSpPr>
          <p:cNvPr id="32" name="Rounded Rectangle 31"/>
          <p:cNvSpPr/>
          <p:nvPr/>
        </p:nvSpPr>
        <p:spPr>
          <a:xfrm>
            <a:off x="4302252" y="4151375"/>
            <a:ext cx="3611880" cy="1956816"/>
          </a:xfrm>
          <a:prstGeom prst="roundRect">
            <a:avLst>
              <a:gd name="adj" fmla="val 6000"/>
            </a:avLst>
          </a:prstGeom>
          <a:solidFill>
            <a:srgbClr val="FFFFFF"/>
          </a:solidFill>
          <a:ln w="12700">
            <a:solidFill>
              <a:srgbClr val="E8E9EE"/>
            </a:solidFill>
          </a:ln>
          <a:effectLst/>
        </p:spPr>
        <p:txBody>
          <a:bodyPr rtlCol="0" anchor="ctr"/>
          <a:lstStyle/>
          <a:p>
            <a:pPr algn="ctr"/>
          </a:p>
        </p:txBody>
      </p:sp>
      <p:pic>
        <p:nvPicPr>
          <p:cNvPr id="33" name="Picture 32" descr="strip_tli_billboard.jpg_3.95x0.86_0.00.jpg"/>
          <p:cNvPicPr>
            <a:picLocks noChangeAspect="1"/>
          </p:cNvPicPr>
          <p:nvPr/>
        </p:nvPicPr>
        <p:blipFill>
          <a:blip r:embed="rId6"/>
          <a:stretch>
            <a:fillRect/>
          </a:stretch>
        </p:blipFill>
        <p:spPr>
          <a:xfrm>
            <a:off x="4302252" y="4151375"/>
            <a:ext cx="3611880" cy="786384"/>
          </a:xfrm>
          <a:prstGeom prst="rect">
            <a:avLst/>
          </a:prstGeom>
        </p:spPr>
      </p:pic>
      <p:sp>
        <p:nvSpPr>
          <p:cNvPr id="34" name="Rectangle 33"/>
          <p:cNvSpPr/>
          <p:nvPr/>
        </p:nvSpPr>
        <p:spPr>
          <a:xfrm>
            <a:off x="4302252" y="4151375"/>
            <a:ext cx="3611880" cy="786384"/>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66844" y="5047487"/>
            <a:ext cx="3282696" cy="201168"/>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THE LOGICAL INDIAN  ·  SEPT 2025</a:t>
            </a:r>
          </a:p>
        </p:txBody>
      </p:sp>
      <p:sp>
        <p:nvSpPr>
          <p:cNvPr id="36" name="TextBox 35"/>
          <p:cNvSpPr txBox="1"/>
          <p:nvPr/>
        </p:nvSpPr>
        <p:spPr>
          <a:xfrm>
            <a:off x="4466844" y="5266943"/>
            <a:ext cx="3282696" cy="457200"/>
          </a:xfrm>
          <a:prstGeom prst="rect">
            <a:avLst/>
          </a:prstGeom>
          <a:noFill/>
        </p:spPr>
        <p:txBody>
          <a:bodyPr wrap="square" lIns="0" rIns="0" tIns="0" bIns="0" anchor="t">
            <a:spAutoFit/>
          </a:bodyPr>
          <a:lstStyle/>
          <a:p>
            <a:pPr algn="l">
              <a:lnSpc>
                <a:spcPct val="112000"/>
              </a:lnSpc>
            </a:pPr>
            <a:r>
              <a:rPr sz="950" b="1" i="0">
                <a:solidFill>
                  <a:srgbClr val="16181D"/>
                </a:solidFill>
                <a:latin typeface="Montserrat"/>
              </a:rPr>
              <a:t>India's first AI-powered billboard to display pending challans in real time</a:t>
            </a:r>
          </a:p>
        </p:txBody>
      </p:sp>
      <p:sp>
        <p:nvSpPr>
          <p:cNvPr id="37" name="TextBox 36"/>
          <p:cNvSpPr txBox="1"/>
          <p:nvPr/>
        </p:nvSpPr>
        <p:spPr>
          <a:xfrm>
            <a:off x="4466844" y="5760719"/>
            <a:ext cx="3282696" cy="310896"/>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Also covered by Siasat, CarToq, Media Infoline and Daily Jagran.</a:t>
            </a:r>
          </a:p>
        </p:txBody>
      </p:sp>
      <p:sp>
        <p:nvSpPr>
          <p:cNvPr id="38" name="Rounded Rectangle 37"/>
          <p:cNvSpPr/>
          <p:nvPr/>
        </p:nvSpPr>
        <p:spPr>
          <a:xfrm>
            <a:off x="8037576" y="4151375"/>
            <a:ext cx="3611880" cy="1956816"/>
          </a:xfrm>
          <a:prstGeom prst="roundRect">
            <a:avLst>
              <a:gd name="adj" fmla="val 6000"/>
            </a:avLst>
          </a:prstGeom>
          <a:solidFill>
            <a:srgbClr val="FFFFFF"/>
          </a:solidFill>
          <a:ln w="12700">
            <a:solidFill>
              <a:srgbClr val="E8E9EE"/>
            </a:solidFill>
          </a:ln>
          <a:effectLst/>
        </p:spPr>
        <p:txBody>
          <a:bodyPr rtlCol="0" anchor="ctr"/>
          <a:lstStyle/>
          <a:p>
            <a:pPr algn="ctr"/>
          </a:p>
        </p:txBody>
      </p:sp>
      <p:sp>
        <p:nvSpPr>
          <p:cNvPr id="39" name="Rounded Rectangle 38"/>
          <p:cNvSpPr/>
          <p:nvPr/>
        </p:nvSpPr>
        <p:spPr>
          <a:xfrm>
            <a:off x="8037576" y="4151375"/>
            <a:ext cx="3611880" cy="1956816"/>
          </a:xfrm>
          <a:prstGeom prst="roundRect">
            <a:avLst>
              <a:gd name="adj" fmla="val 6000"/>
            </a:avLst>
          </a:prstGeom>
          <a:solidFill>
            <a:srgbClr val="EFEDFF"/>
          </a:solidFill>
          <a:ln>
            <a:noFill/>
          </a:ln>
          <a:effectLst/>
        </p:spPr>
        <p:txBody>
          <a:bodyPr rtlCol="0" anchor="ctr"/>
          <a:lstStyle/>
          <a:p>
            <a:pPr algn="ctr"/>
          </a:p>
        </p:txBody>
      </p:sp>
      <p:sp>
        <p:nvSpPr>
          <p:cNvPr id="40" name="TextBox 39"/>
          <p:cNvSpPr txBox="1"/>
          <p:nvPr/>
        </p:nvSpPr>
        <p:spPr>
          <a:xfrm>
            <a:off x="8220456" y="4334255"/>
            <a:ext cx="3246120" cy="201168"/>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FROM OUR POLICY DESK</a:t>
            </a:r>
          </a:p>
        </p:txBody>
      </p:sp>
      <p:sp>
        <p:nvSpPr>
          <p:cNvPr id="41" name="TextBox 40"/>
          <p:cNvSpPr txBox="1"/>
          <p:nvPr/>
        </p:nvSpPr>
        <p:spPr>
          <a:xfrm>
            <a:off x="8220456" y="4608575"/>
            <a:ext cx="3246120" cy="548640"/>
          </a:xfrm>
          <a:prstGeom prst="rect">
            <a:avLst/>
          </a:prstGeom>
          <a:noFill/>
        </p:spPr>
        <p:txBody>
          <a:bodyPr wrap="square" lIns="0" rIns="0" tIns="0" bIns="0" anchor="t">
            <a:spAutoFit/>
          </a:bodyPr>
          <a:lstStyle/>
          <a:p>
            <a:pPr algn="l">
              <a:lnSpc>
                <a:spcPct val="115000"/>
              </a:lnSpc>
            </a:pPr>
            <a:r>
              <a:rPr sz="1150" b="1" i="0">
                <a:solidFill>
                  <a:srgbClr val="16181D"/>
                </a:solidFill>
                <a:latin typeface="Montserrat"/>
              </a:rPr>
              <a:t>A steady line of published argument</a:t>
            </a:r>
          </a:p>
        </p:txBody>
      </p:sp>
      <p:sp>
        <p:nvSpPr>
          <p:cNvPr id="42" name="TextBox 41"/>
          <p:cNvSpPr txBox="1"/>
          <p:nvPr/>
        </p:nvSpPr>
        <p:spPr>
          <a:xfrm>
            <a:off x="8220456" y="5193790"/>
            <a:ext cx="3246120" cy="777240"/>
          </a:xfrm>
          <a:prstGeom prst="rect">
            <a:avLst/>
          </a:prstGeom>
          <a:noFill/>
        </p:spPr>
        <p:txBody>
          <a:bodyPr wrap="square" lIns="0" rIns="0" tIns="0" bIns="0" anchor="t">
            <a:spAutoFit/>
          </a:bodyPr>
          <a:lstStyle/>
          <a:p>
            <a:pPr algn="l">
              <a:lnSpc>
                <a:spcPct val="125000"/>
              </a:lnSpc>
            </a:pPr>
            <a:r>
              <a:rPr sz="850" b="0" i="0">
                <a:solidFill>
                  <a:srgbClr val="6E7180"/>
                </a:solidFill>
                <a:latin typeface="Geist"/>
              </a:rPr>
              <a:t>Articles and explainers by Shubham Kumar and our policy team, from claim pipelines to enforcement design.</a:t>
            </a:r>
          </a:p>
        </p:txBody>
      </p:sp>
      <p:sp>
        <p:nvSpPr>
          <p:cNvPr id="43" name="TextBox 42"/>
          <p:cNvSpPr txBox="1"/>
          <p:nvPr/>
        </p:nvSpPr>
        <p:spPr>
          <a:xfrm>
            <a:off x="566928" y="6144768"/>
            <a:ext cx="11057839" cy="274320"/>
          </a:xfrm>
          <a:prstGeom prst="rect">
            <a:avLst/>
          </a:prstGeom>
          <a:noFill/>
        </p:spPr>
        <p:txBody>
          <a:bodyPr wrap="square" lIns="0" rIns="0" tIns="0" bIns="0" anchor="t">
            <a:spAutoFit/>
          </a:bodyPr>
          <a:lstStyle/>
          <a:p>
            <a:pPr algn="l">
              <a:lnSpc>
                <a:spcPct val="120000"/>
              </a:lnSpc>
            </a:pPr>
            <a:r>
              <a:rPr sz="850" b="1" i="0">
                <a:solidFill>
                  <a:srgbClr val="16181D"/>
                </a:solidFill>
                <a:latin typeface="Geist"/>
              </a:rPr>
              <a:t>Also in the record:  </a:t>
            </a:r>
            <a:r>
              <a:rPr sz="850" b="0" i="0">
                <a:solidFill>
                  <a:srgbClr val="6E7180"/>
                </a:solidFill>
                <a:latin typeface="Geist"/>
              </a:rPr>
              <a:t>'Justice Unserved' launched at IIT Delhi and presented to MoRTH · launch coverage in Team-BHP, Adgully and The CSR Universe.</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1993392"/>
            <a:ext cx="640080" cy="640080"/>
          </a:xfrm>
          <a:prstGeom prst="rect">
            <a:avLst/>
          </a:prstGeom>
        </p:spPr>
      </p:pic>
      <p:sp>
        <p:nvSpPr>
          <p:cNvPr id="10" name="TextBox 9"/>
          <p:cNvSpPr txBox="1"/>
          <p:nvPr/>
        </p:nvSpPr>
        <p:spPr>
          <a:xfrm>
            <a:off x="1463040"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1993392"/>
            <a:ext cx="640080" cy="640080"/>
          </a:xfrm>
          <a:prstGeom prst="rect">
            <a:avLst/>
          </a:prstGeom>
        </p:spPr>
      </p:pic>
      <p:sp>
        <p:nvSpPr>
          <p:cNvPr id="14" name="TextBox 13"/>
          <p:cNvSpPr txBox="1"/>
          <p:nvPr/>
        </p:nvSpPr>
        <p:spPr>
          <a:xfrm>
            <a:off x="5175503"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1993392"/>
            <a:ext cx="640080" cy="640080"/>
          </a:xfrm>
          <a:prstGeom prst="rect">
            <a:avLst/>
          </a:prstGeom>
        </p:spPr>
      </p:pic>
      <p:sp>
        <p:nvSpPr>
          <p:cNvPr id="18" name="TextBox 17"/>
          <p:cNvSpPr txBox="1"/>
          <p:nvPr/>
        </p:nvSpPr>
        <p:spPr>
          <a:xfrm>
            <a:off x="8887966"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294436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273552"/>
            <a:ext cx="530352" cy="530352"/>
          </a:xfrm>
          <a:prstGeom prst="rect">
            <a:avLst/>
          </a:prstGeom>
        </p:spPr>
      </p:pic>
      <p:sp>
        <p:nvSpPr>
          <p:cNvPr id="22" name="TextBox 21"/>
          <p:cNvSpPr txBox="1"/>
          <p:nvPr/>
        </p:nvSpPr>
        <p:spPr>
          <a:xfrm>
            <a:off x="1225296"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25296"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ex-Bain · strategy, programmes, new initiatives, partnerships and product</a:t>
            </a:r>
          </a:p>
        </p:txBody>
      </p:sp>
      <p:pic>
        <p:nvPicPr>
          <p:cNvPr id="24" name="Picture 23" descr="t_shubham.png"/>
          <p:cNvPicPr>
            <a:picLocks noChangeAspect="1"/>
          </p:cNvPicPr>
          <p:nvPr/>
        </p:nvPicPr>
        <p:blipFill>
          <a:blip r:embed="rId6"/>
          <a:stretch>
            <a:fillRect/>
          </a:stretch>
        </p:blipFill>
        <p:spPr>
          <a:xfrm>
            <a:off x="4279391" y="3273552"/>
            <a:ext cx="530352" cy="530352"/>
          </a:xfrm>
          <a:prstGeom prst="rect">
            <a:avLst/>
          </a:prstGeom>
        </p:spPr>
      </p:pic>
      <p:sp>
        <p:nvSpPr>
          <p:cNvPr id="25" name="TextBox 24"/>
          <p:cNvSpPr txBox="1"/>
          <p:nvPr/>
        </p:nvSpPr>
        <p:spPr>
          <a:xfrm>
            <a:off x="4937759"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37759"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programmes, policy advocacy, legal research, government relations</a:t>
            </a:r>
          </a:p>
        </p:txBody>
      </p:sp>
      <p:pic>
        <p:nvPicPr>
          <p:cNvPr id="27" name="Picture 26" descr="t_muskan.png"/>
          <p:cNvPicPr>
            <a:picLocks noChangeAspect="1"/>
          </p:cNvPicPr>
          <p:nvPr/>
        </p:nvPicPr>
        <p:blipFill>
          <a:blip r:embed="rId7"/>
          <a:stretch>
            <a:fillRect/>
          </a:stretch>
        </p:blipFill>
        <p:spPr>
          <a:xfrm>
            <a:off x="7991854" y="3273552"/>
            <a:ext cx="530352" cy="530352"/>
          </a:xfrm>
          <a:prstGeom prst="rect">
            <a:avLst/>
          </a:prstGeom>
        </p:spPr>
      </p:pic>
      <p:sp>
        <p:nvSpPr>
          <p:cNvPr id="28" name="TextBox 27"/>
          <p:cNvSpPr txBox="1"/>
          <p:nvPr/>
        </p:nvSpPr>
        <p:spPr>
          <a:xfrm>
            <a:off x="8650222"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50222"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district programmes, Project Rakshak, infrastructure interventions, DRSC work</a:t>
            </a:r>
          </a:p>
        </p:txBody>
      </p:sp>
      <p:pic>
        <p:nvPicPr>
          <p:cNvPr id="30" name="Picture 29" descr="t_krishna.png"/>
          <p:cNvPicPr>
            <a:picLocks noChangeAspect="1"/>
          </p:cNvPicPr>
          <p:nvPr/>
        </p:nvPicPr>
        <p:blipFill>
          <a:blip r:embed="rId8"/>
          <a:stretch>
            <a:fillRect/>
          </a:stretch>
        </p:blipFill>
        <p:spPr>
          <a:xfrm>
            <a:off x="566928" y="3968496"/>
            <a:ext cx="530352" cy="530352"/>
          </a:xfrm>
          <a:prstGeom prst="rect">
            <a:avLst/>
          </a:prstGeom>
        </p:spPr>
      </p:pic>
      <p:sp>
        <p:nvSpPr>
          <p:cNvPr id="31" name="TextBox 30"/>
          <p:cNvSpPr txBox="1"/>
          <p:nvPr/>
        </p:nvSpPr>
        <p:spPr>
          <a:xfrm>
            <a:off x="1225296"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Krishna Jain  </a:t>
            </a:r>
            <a:r>
              <a:rPr sz="800" b="1" i="0">
                <a:solidFill>
                  <a:srgbClr val="4A35FF"/>
                </a:solidFill>
                <a:latin typeface="Geist"/>
              </a:rPr>
              <a:t>Tech &amp; Product</a:t>
            </a:r>
          </a:p>
        </p:txBody>
      </p:sp>
      <p:sp>
        <p:nvSpPr>
          <p:cNvPr id="32" name="TextBox 31"/>
          <p:cNvSpPr txBox="1"/>
          <p:nvPr/>
        </p:nvSpPr>
        <p:spPr>
          <a:xfrm>
            <a:off x="1225296"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Builds and runs Aasha, SATARK and the open public data platforms</a:t>
            </a:r>
          </a:p>
        </p:txBody>
      </p:sp>
      <p:pic>
        <p:nvPicPr>
          <p:cNvPr id="33" name="Picture 32" descr="t_aastha.png"/>
          <p:cNvPicPr>
            <a:picLocks noChangeAspect="1"/>
          </p:cNvPicPr>
          <p:nvPr/>
        </p:nvPicPr>
        <p:blipFill>
          <a:blip r:embed="rId9"/>
          <a:stretch>
            <a:fillRect/>
          </a:stretch>
        </p:blipFill>
        <p:spPr>
          <a:xfrm>
            <a:off x="4279391" y="3968496"/>
            <a:ext cx="530352" cy="530352"/>
          </a:xfrm>
          <a:prstGeom prst="rect">
            <a:avLst/>
          </a:prstGeom>
        </p:spPr>
      </p:pic>
      <p:sp>
        <p:nvSpPr>
          <p:cNvPr id="34" name="TextBox 33"/>
          <p:cNvSpPr txBox="1"/>
          <p:nvPr/>
        </p:nvSpPr>
        <p:spPr>
          <a:xfrm>
            <a:off x="4937759"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5" name="TextBox 34"/>
          <p:cNvSpPr txBox="1"/>
          <p:nvPr/>
        </p:nvSpPr>
        <p:spPr>
          <a:xfrm>
            <a:off x="4937759"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institutional communications, government relations</a:t>
            </a:r>
          </a:p>
        </p:txBody>
      </p:sp>
      <p:pic>
        <p:nvPicPr>
          <p:cNvPr id="36" name="Picture 35" descr="t_rohan.png"/>
          <p:cNvPicPr>
            <a:picLocks noChangeAspect="1"/>
          </p:cNvPicPr>
          <p:nvPr/>
        </p:nvPicPr>
        <p:blipFill>
          <a:blip r:embed="rId10"/>
          <a:stretch>
            <a:fillRect/>
          </a:stretch>
        </p:blipFill>
        <p:spPr>
          <a:xfrm>
            <a:off x="7991854" y="3968496"/>
            <a:ext cx="530352" cy="530352"/>
          </a:xfrm>
          <a:prstGeom prst="rect">
            <a:avLst/>
          </a:prstGeom>
        </p:spPr>
      </p:pic>
      <p:sp>
        <p:nvSpPr>
          <p:cNvPr id="37" name="TextBox 36"/>
          <p:cNvSpPr txBox="1"/>
          <p:nvPr/>
        </p:nvSpPr>
        <p:spPr>
          <a:xfrm>
            <a:off x="8650222"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8" name="TextBox 37"/>
          <p:cNvSpPr txBox="1"/>
          <p:nvPr/>
        </p:nvSpPr>
        <p:spPr>
          <a:xfrm>
            <a:off x="8650222"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Awareness campaigns, digital advocacy, community mobilisation</a:t>
            </a:r>
          </a:p>
        </p:txBody>
      </p:sp>
      <p:pic>
        <p:nvPicPr>
          <p:cNvPr id="39" name="Picture 38" descr="t_ishita.png"/>
          <p:cNvPicPr>
            <a:picLocks noChangeAspect="1"/>
          </p:cNvPicPr>
          <p:nvPr/>
        </p:nvPicPr>
        <p:blipFill>
          <a:blip r:embed="rId11"/>
          <a:stretch>
            <a:fillRect/>
          </a:stretch>
        </p:blipFill>
        <p:spPr>
          <a:xfrm>
            <a:off x="566928" y="4663440"/>
            <a:ext cx="530352" cy="530352"/>
          </a:xfrm>
          <a:prstGeom prst="rect">
            <a:avLst/>
          </a:prstGeom>
        </p:spPr>
      </p:pic>
      <p:sp>
        <p:nvSpPr>
          <p:cNvPr id="40" name="TextBox 39"/>
          <p:cNvSpPr txBox="1"/>
          <p:nvPr/>
        </p:nvSpPr>
        <p:spPr>
          <a:xfrm>
            <a:off x="1225296"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41" name="TextBox 40"/>
          <p:cNvSpPr txBox="1"/>
          <p:nvPr/>
        </p:nvSpPr>
        <p:spPr>
          <a:xfrm>
            <a:off x="1225296"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and hiring, volunteers, the 75+ intern engineering corps</a:t>
            </a:r>
          </a:p>
        </p:txBody>
      </p:sp>
      <p:pic>
        <p:nvPicPr>
          <p:cNvPr id="42" name="Picture 41" descr="t_yuvraj.png"/>
          <p:cNvPicPr>
            <a:picLocks noChangeAspect="1"/>
          </p:cNvPicPr>
          <p:nvPr/>
        </p:nvPicPr>
        <p:blipFill>
          <a:blip r:embed="rId12"/>
          <a:stretch>
            <a:fillRect/>
          </a:stretch>
        </p:blipFill>
        <p:spPr>
          <a:xfrm>
            <a:off x="4279391" y="4663440"/>
            <a:ext cx="530352" cy="530352"/>
          </a:xfrm>
          <a:prstGeom prst="rect">
            <a:avLst/>
          </a:prstGeom>
        </p:spPr>
      </p:pic>
      <p:sp>
        <p:nvSpPr>
          <p:cNvPr id="43" name="TextBox 42"/>
          <p:cNvSpPr txBox="1"/>
          <p:nvPr/>
        </p:nvSpPr>
        <p:spPr>
          <a:xfrm>
            <a:off x="4937759"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4" name="TextBox 43"/>
          <p:cNvSpPr txBox="1"/>
          <p:nvPr/>
        </p:nvSpPr>
        <p:spPr>
          <a:xfrm>
            <a:off x="4937759"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operations across 18 cities · works with police on SATARK and enforcement rollouts</a:t>
            </a:r>
          </a:p>
        </p:txBody>
      </p:sp>
      <p:pic>
        <p:nvPicPr>
          <p:cNvPr id="45" name="Picture 44" descr="t_lovish.png"/>
          <p:cNvPicPr>
            <a:picLocks noChangeAspect="1"/>
          </p:cNvPicPr>
          <p:nvPr/>
        </p:nvPicPr>
        <p:blipFill>
          <a:blip r:embed="rId13"/>
          <a:stretch>
            <a:fillRect/>
          </a:stretch>
        </p:blipFill>
        <p:spPr>
          <a:xfrm>
            <a:off x="7991854" y="4663440"/>
            <a:ext cx="530352" cy="530352"/>
          </a:xfrm>
          <a:prstGeom prst="rect">
            <a:avLst/>
          </a:prstGeom>
        </p:spPr>
      </p:pic>
      <p:sp>
        <p:nvSpPr>
          <p:cNvPr id="46" name="TextBox 45"/>
          <p:cNvSpPr txBox="1"/>
          <p:nvPr/>
        </p:nvSpPr>
        <p:spPr>
          <a:xfrm>
            <a:off x="8650222"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7" name="TextBox 46"/>
          <p:cNvSpPr txBox="1"/>
          <p:nvPr/>
        </p:nvSpPr>
        <p:spPr>
          <a:xfrm>
            <a:off x="8650222"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8" name="Picture 47" descr="t_shipra.png"/>
          <p:cNvPicPr>
            <a:picLocks noChangeAspect="1"/>
          </p:cNvPicPr>
          <p:nvPr/>
        </p:nvPicPr>
        <p:blipFill>
          <a:blip r:embed="rId14"/>
          <a:stretch>
            <a:fillRect/>
          </a:stretch>
        </p:blipFill>
        <p:spPr>
          <a:xfrm>
            <a:off x="566928" y="5358384"/>
            <a:ext cx="530352" cy="530352"/>
          </a:xfrm>
          <a:prstGeom prst="rect">
            <a:avLst/>
          </a:prstGeom>
        </p:spPr>
      </p:pic>
      <p:sp>
        <p:nvSpPr>
          <p:cNvPr id="49" name="TextBox 48"/>
          <p:cNvSpPr txBox="1"/>
          <p:nvPr/>
        </p:nvSpPr>
        <p:spPr>
          <a:xfrm>
            <a:off x="1225296" y="5321808"/>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50" name="TextBox 49"/>
          <p:cNvSpPr txBox="1"/>
          <p:nvPr/>
        </p:nvSpPr>
        <p:spPr>
          <a:xfrm>
            <a:off x="1225296" y="5541264"/>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51" name="Rounded Rectangle 50"/>
          <p:cNvSpPr/>
          <p:nvPr/>
        </p:nvSpPr>
        <p:spPr>
          <a:xfrm>
            <a:off x="4553712" y="5340096"/>
            <a:ext cx="5120640" cy="548640"/>
          </a:xfrm>
          <a:prstGeom prst="roundRect">
            <a:avLst>
              <a:gd name="adj" fmla="val 12000"/>
            </a:avLst>
          </a:prstGeom>
          <a:solidFill>
            <a:srgbClr val="EFEDFF"/>
          </a:solidFill>
          <a:ln>
            <a:noFill/>
          </a:ln>
          <a:effectLst/>
        </p:spPr>
        <p:txBody>
          <a:bodyPr rtlCol="0" anchor="ctr"/>
          <a:lstStyle/>
          <a:p>
            <a:pPr algn="ctr"/>
          </a:p>
        </p:txBody>
      </p:sp>
      <p:sp>
        <p:nvSpPr>
          <p:cNvPr id="52" name="TextBox 51"/>
          <p:cNvSpPr txBox="1"/>
          <p:nvPr/>
        </p:nvSpPr>
        <p:spPr>
          <a:xfrm>
            <a:off x="4754880" y="5340096"/>
            <a:ext cx="4754880" cy="548640"/>
          </a:xfrm>
          <a:prstGeom prst="rect">
            <a:avLst/>
          </a:prstGeom>
          <a:noFill/>
        </p:spPr>
        <p:txBody>
          <a:bodyPr wrap="square" lIns="0" rIns="0" tIns="0" bIns="0" anchor="ctr">
            <a:spAutoFit/>
          </a:bodyPr>
          <a:lstStyle/>
          <a:p>
            <a:pPr algn="l">
              <a:lnSpc>
                <a:spcPct val="115000"/>
              </a:lnSpc>
            </a:pPr>
            <a:r>
              <a:rPr sz="900" b="1" i="0">
                <a:solidFill>
                  <a:srgbClr val="4A35FF"/>
                </a:solidFill>
                <a:latin typeface="Geist"/>
              </a:rPr>
              <a:t>Plus 75+ engineering interns and 31 student audit teams.</a:t>
            </a:r>
          </a:p>
        </p:txBody>
      </p:sp>
      <p:sp>
        <p:nvSpPr>
          <p:cNvPr id="53" name="Rounded Rectangle 52"/>
          <p:cNvSpPr/>
          <p:nvPr/>
        </p:nvSpPr>
        <p:spPr>
          <a:xfrm>
            <a:off x="566928" y="5989320"/>
            <a:ext cx="11057839" cy="384048"/>
          </a:xfrm>
          <a:prstGeom prst="roundRect">
            <a:avLst>
              <a:gd name="adj" fmla="val 14000"/>
            </a:avLst>
          </a:prstGeom>
          <a:solidFill>
            <a:srgbClr val="F7F7FA"/>
          </a:solidFill>
          <a:ln>
            <a:noFill/>
          </a:ln>
          <a:effectLst/>
        </p:spPr>
        <p:txBody>
          <a:bodyPr rtlCol="0" anchor="ctr"/>
          <a:lstStyle/>
          <a:p>
            <a:pPr algn="ctr"/>
          </a:p>
        </p:txBody>
      </p:sp>
      <p:sp>
        <p:nvSpPr>
          <p:cNvPr id="54" name="TextBox 53"/>
          <p:cNvSpPr txBox="1"/>
          <p:nvPr/>
        </p:nvSpPr>
        <p:spPr>
          <a:xfrm>
            <a:off x="768096" y="6053328"/>
            <a:ext cx="10646359" cy="292608"/>
          </a:xfrm>
          <a:prstGeom prst="rect">
            <a:avLst/>
          </a:prstGeom>
          <a:noFill/>
        </p:spPr>
        <p:txBody>
          <a:bodyPr wrap="square" lIns="0" rIns="0" tIns="0" bIns="0" anchor="t">
            <a:spAutoFit/>
          </a:bodyPr>
          <a:lstStyle/>
          <a:p>
            <a:pPr algn="l">
              <a:lnSpc>
                <a:spcPct val="115000"/>
              </a:lnSpc>
            </a:pPr>
            <a:r>
              <a:rPr sz="900" b="1" i="0">
                <a:solidFill>
                  <a:srgbClr val="16181D"/>
                </a:solidFill>
                <a:latin typeface="Geist"/>
              </a:rPr>
              <a:t>In-house capabilities: </a:t>
            </a:r>
            <a:r>
              <a:rPr sz="900" b="0" i="0">
                <a:solidFill>
                  <a:srgbClr val="6E7180"/>
                </a:solidFill>
                <a:latin typeface="Geist"/>
              </a:rPr>
              <a:t>road-engineering audits · legal &amp; policy research · AI product development · district operations · behaviour-change communication</a:t>
            </a:r>
          </a:p>
        </p:txBody>
      </p:sp>
      <p:cxnSp>
        <p:nvCxnSpPr>
          <p:cNvPr id="55" name="Connector 54"/>
          <p:cNvCxnSpPr/>
          <p:nvPr/>
        </p:nvCxnSpPr>
        <p:spPr>
          <a:xfrm>
            <a:off x="566928" y="6455664"/>
            <a:ext cx="11057839" cy="0"/>
          </a:xfrm>
          <a:prstGeom prst="line">
            <a:avLst/>
          </a:prstGeom>
          <a:ln w="9525">
            <a:solidFill>
              <a:srgbClr val="E8E9EE"/>
            </a:solidFill>
          </a:ln>
          <a:effectLst/>
        </p:spPr>
      </p:cxnSp>
      <p:sp>
        <p:nvSpPr>
          <p:cNvPr id="56" name="TextBox 55"/>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7" name="TextBox 5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THE YEAR AHEAD</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THE YEAR AHEAD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Where we are going, and </a:t>
            </a:r>
            <a:r>
              <a:rPr sz="2250" b="1" i="0">
                <a:solidFill>
                  <a:srgbClr val="4A35FF"/>
                </a:solidFill>
                <a:latin typeface="Montserrat"/>
              </a:rPr>
              <a:t>where your counsel would help</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Year 2 moves from programmes to institutions. These are the goals, and what we hope to learn from your experience.</a:t>
            </a:r>
          </a:p>
        </p:txBody>
      </p:sp>
      <p:sp>
        <p:nvSpPr>
          <p:cNvPr id="8" name="TextBox 7"/>
          <p:cNvSpPr txBox="1"/>
          <p:nvPr/>
        </p:nvSpPr>
        <p:spPr>
          <a:xfrm>
            <a:off x="566928" y="1847088"/>
            <a:ext cx="5349240" cy="237744"/>
          </a:xfrm>
          <a:prstGeom prst="rect">
            <a:avLst/>
          </a:prstGeom>
          <a:noFill/>
        </p:spPr>
        <p:txBody>
          <a:bodyPr wrap="square" lIns="0" rIns="0" tIns="0" bIns="0" anchor="t">
            <a:spAutoFit/>
          </a:bodyPr>
          <a:lstStyle/>
          <a:p>
            <a:pPr algn="l">
              <a:lnSpc>
                <a:spcPct val="128000"/>
              </a:lnSpc>
            </a:pPr>
            <a:r>
              <a:rPr sz="900" b="1" i="0" spc="180">
                <a:solidFill>
                  <a:srgbClr val="6E7180"/>
                </a:solidFill>
                <a:latin typeface="Montserrat"/>
              </a:rPr>
              <a:t>THE YEAR AHEAD</a:t>
            </a:r>
          </a:p>
        </p:txBody>
      </p:sp>
      <p:sp>
        <p:nvSpPr>
          <p:cNvPr id="9" name="Oval 8"/>
          <p:cNvSpPr/>
          <p:nvPr/>
        </p:nvSpPr>
        <p:spPr>
          <a:xfrm>
            <a:off x="566928" y="2176272"/>
            <a:ext cx="365760" cy="365760"/>
          </a:xfrm>
          <a:prstGeom prst="ellipse">
            <a:avLst/>
          </a:prstGeom>
          <a:solidFill>
            <a:srgbClr val="EFEDFF"/>
          </a:solidFill>
          <a:ln>
            <a:noFill/>
          </a:ln>
          <a:effectLst/>
        </p:spPr>
        <p:txBody>
          <a:bodyPr rtlCol="0" anchor="ctr"/>
          <a:lstStyle/>
          <a:p>
            <a:pPr algn="ctr"/>
          </a:p>
        </p:txBody>
      </p:sp>
      <p:pic>
        <p:nvPicPr>
          <p:cNvPr id="10" name="Picture 9" descr="hard-hat_4A35FF_256_2.0.png"/>
          <p:cNvPicPr>
            <a:picLocks noChangeAspect="1"/>
          </p:cNvPicPr>
          <p:nvPr/>
        </p:nvPicPr>
        <p:blipFill>
          <a:blip r:embed="rId2"/>
          <a:stretch>
            <a:fillRect/>
          </a:stretch>
        </p:blipFill>
        <p:spPr>
          <a:xfrm>
            <a:off x="654710" y="2264054"/>
            <a:ext cx="190195" cy="190195"/>
          </a:xfrm>
          <a:prstGeom prst="rect">
            <a:avLst/>
          </a:prstGeom>
        </p:spPr>
      </p:pic>
      <p:sp>
        <p:nvSpPr>
          <p:cNvPr id="11" name="TextBox 10"/>
          <p:cNvSpPr txBox="1"/>
          <p:nvPr/>
        </p:nvSpPr>
        <p:spPr>
          <a:xfrm>
            <a:off x="1097280" y="215798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Project Rakshak</a:t>
            </a:r>
          </a:p>
        </p:txBody>
      </p:sp>
      <p:sp>
        <p:nvSpPr>
          <p:cNvPr id="12" name="TextBox 11"/>
          <p:cNvSpPr txBox="1"/>
          <p:nvPr/>
        </p:nvSpPr>
        <p:spPr>
          <a:xfrm>
            <a:off x="3566160" y="2157984"/>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Audits running inside institutions, with 75+ implementations initiated and every one tracked publicly.</a:t>
            </a:r>
          </a:p>
        </p:txBody>
      </p:sp>
      <p:sp>
        <p:nvSpPr>
          <p:cNvPr id="13" name="Oval 12"/>
          <p:cNvSpPr/>
          <p:nvPr/>
        </p:nvSpPr>
        <p:spPr>
          <a:xfrm>
            <a:off x="566928" y="2962656"/>
            <a:ext cx="365760" cy="365760"/>
          </a:xfrm>
          <a:prstGeom prst="ellipse">
            <a:avLst/>
          </a:prstGeom>
          <a:solidFill>
            <a:srgbClr val="EFEDFF"/>
          </a:solidFill>
          <a:ln>
            <a:noFill/>
          </a:ln>
          <a:effectLst/>
        </p:spPr>
        <p:txBody>
          <a:bodyPr rtlCol="0" anchor="ctr"/>
          <a:lstStyle/>
          <a:p>
            <a:pPr algn="ctr"/>
          </a:p>
        </p:txBody>
      </p:sp>
      <p:pic>
        <p:nvPicPr>
          <p:cNvPr id="14" name="Picture 13" descr="scale_4A35FF_256_2.0.png"/>
          <p:cNvPicPr>
            <a:picLocks noChangeAspect="1"/>
          </p:cNvPicPr>
          <p:nvPr/>
        </p:nvPicPr>
        <p:blipFill>
          <a:blip r:embed="rId3"/>
          <a:stretch>
            <a:fillRect/>
          </a:stretch>
        </p:blipFill>
        <p:spPr>
          <a:xfrm>
            <a:off x="654710" y="3050438"/>
            <a:ext cx="190195" cy="190195"/>
          </a:xfrm>
          <a:prstGeom prst="rect">
            <a:avLst/>
          </a:prstGeom>
        </p:spPr>
      </p:pic>
      <p:sp>
        <p:nvSpPr>
          <p:cNvPr id="15" name="TextBox 14"/>
          <p:cNvSpPr txBox="1"/>
          <p:nvPr/>
        </p:nvSpPr>
        <p:spPr>
          <a:xfrm>
            <a:off x="1097280" y="294436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Crash compensation</a:t>
            </a:r>
          </a:p>
        </p:txBody>
      </p:sp>
      <p:sp>
        <p:nvSpPr>
          <p:cNvPr id="16" name="TextBox 15"/>
          <p:cNvSpPr txBox="1"/>
          <p:nvPr/>
        </p:nvSpPr>
        <p:spPr>
          <a:xfrm>
            <a:off x="3566160" y="2944368"/>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Claim pipeline fixed in two districts, mapped in eight, with a playbook states can adopt.</a:t>
            </a:r>
          </a:p>
        </p:txBody>
      </p:sp>
      <p:sp>
        <p:nvSpPr>
          <p:cNvPr id="17" name="Oval 16"/>
          <p:cNvSpPr/>
          <p:nvPr/>
        </p:nvSpPr>
        <p:spPr>
          <a:xfrm>
            <a:off x="566928" y="3749040"/>
            <a:ext cx="365760" cy="365760"/>
          </a:xfrm>
          <a:prstGeom prst="ellipse">
            <a:avLst/>
          </a:prstGeom>
          <a:solidFill>
            <a:srgbClr val="EFEDFF"/>
          </a:solidFill>
          <a:ln>
            <a:noFill/>
          </a:ln>
          <a:effectLst/>
        </p:spPr>
        <p:txBody>
          <a:bodyPr rtlCol="0" anchor="ctr"/>
          <a:lstStyle/>
          <a:p>
            <a:pPr algn="ctr"/>
          </a:p>
        </p:txBody>
      </p:sp>
      <p:pic>
        <p:nvPicPr>
          <p:cNvPr id="18" name="Picture 17" descr="cpu_4A35FF_256_2.0.png"/>
          <p:cNvPicPr>
            <a:picLocks noChangeAspect="1"/>
          </p:cNvPicPr>
          <p:nvPr/>
        </p:nvPicPr>
        <p:blipFill>
          <a:blip r:embed="rId4"/>
          <a:stretch>
            <a:fillRect/>
          </a:stretch>
        </p:blipFill>
        <p:spPr>
          <a:xfrm>
            <a:off x="654710" y="3836822"/>
            <a:ext cx="190195" cy="190195"/>
          </a:xfrm>
          <a:prstGeom prst="rect">
            <a:avLst/>
          </a:prstGeom>
        </p:spPr>
      </p:pic>
      <p:sp>
        <p:nvSpPr>
          <p:cNvPr id="19" name="TextBox 18"/>
          <p:cNvSpPr txBox="1"/>
          <p:nvPr/>
        </p:nvSpPr>
        <p:spPr>
          <a:xfrm>
            <a:off x="1097280" y="37307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SATARK</a:t>
            </a:r>
          </a:p>
        </p:txBody>
      </p:sp>
      <p:sp>
        <p:nvSpPr>
          <p:cNvPr id="20" name="TextBox 19"/>
          <p:cNvSpPr txBox="1"/>
          <p:nvPr/>
        </p:nvSpPr>
        <p:spPr>
          <a:xfrm>
            <a:off x="3566160" y="3730752"/>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From 3 cities toward 30, as shared public infrastructure for traffic police.</a:t>
            </a:r>
          </a:p>
        </p:txBody>
      </p:sp>
      <p:sp>
        <p:nvSpPr>
          <p:cNvPr id="21" name="Oval 20"/>
          <p:cNvSpPr/>
          <p:nvPr/>
        </p:nvSpPr>
        <p:spPr>
          <a:xfrm>
            <a:off x="566928" y="4535424"/>
            <a:ext cx="365760" cy="365760"/>
          </a:xfrm>
          <a:prstGeom prst="ellipse">
            <a:avLst/>
          </a:prstGeom>
          <a:solidFill>
            <a:srgbClr val="EFEDFF"/>
          </a:solidFill>
          <a:ln>
            <a:noFill/>
          </a:ln>
          <a:effectLst/>
        </p:spPr>
        <p:txBody>
          <a:bodyPr rtlCol="0" anchor="ctr"/>
          <a:lstStyle/>
          <a:p>
            <a:pPr algn="ctr"/>
          </a:p>
        </p:txBody>
      </p:sp>
      <p:pic>
        <p:nvPicPr>
          <p:cNvPr id="22" name="Picture 21" descr="rocket_4A35FF_256_2.0.png"/>
          <p:cNvPicPr>
            <a:picLocks noChangeAspect="1"/>
          </p:cNvPicPr>
          <p:nvPr/>
        </p:nvPicPr>
        <p:blipFill>
          <a:blip r:embed="rId5"/>
          <a:stretch>
            <a:fillRect/>
          </a:stretch>
        </p:blipFill>
        <p:spPr>
          <a:xfrm>
            <a:off x="654710" y="4623206"/>
            <a:ext cx="190195" cy="190195"/>
          </a:xfrm>
          <a:prstGeom prst="rect">
            <a:avLst/>
          </a:prstGeom>
        </p:spPr>
      </p:pic>
      <p:sp>
        <p:nvSpPr>
          <p:cNvPr id="23" name="TextBox 22"/>
          <p:cNvSpPr txBox="1"/>
          <p:nvPr/>
        </p:nvSpPr>
        <p:spPr>
          <a:xfrm>
            <a:off x="1097280" y="451713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Two exploratory bets</a:t>
            </a:r>
          </a:p>
        </p:txBody>
      </p:sp>
      <p:sp>
        <p:nvSpPr>
          <p:cNvPr id="24" name="TextBox 23"/>
          <p:cNvSpPr txBox="1"/>
          <p:nvPr/>
        </p:nvSpPr>
        <p:spPr>
          <a:xfrm>
            <a:off x="3566160" y="4517136"/>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School Safety Index and gig rider safety, each scaled only if a small, honest pilot earns it.</a:t>
            </a:r>
          </a:p>
        </p:txBody>
      </p:sp>
      <p:sp>
        <p:nvSpPr>
          <p:cNvPr id="25" name="Oval 24"/>
          <p:cNvSpPr/>
          <p:nvPr/>
        </p:nvSpPr>
        <p:spPr>
          <a:xfrm>
            <a:off x="566928" y="5321808"/>
            <a:ext cx="365760" cy="365760"/>
          </a:xfrm>
          <a:prstGeom prst="ellipse">
            <a:avLst/>
          </a:prstGeom>
          <a:solidFill>
            <a:srgbClr val="EFEDFF"/>
          </a:solidFill>
          <a:ln>
            <a:noFill/>
          </a:ln>
          <a:effectLst/>
        </p:spPr>
        <p:txBody>
          <a:bodyPr rtlCol="0" anchor="ctr"/>
          <a:lstStyle/>
          <a:p>
            <a:pPr algn="ctr"/>
          </a:p>
        </p:txBody>
      </p:sp>
      <p:pic>
        <p:nvPicPr>
          <p:cNvPr id="26" name="Picture 25" descr="building-2_4A35FF_256_2.0.png"/>
          <p:cNvPicPr>
            <a:picLocks noChangeAspect="1"/>
          </p:cNvPicPr>
          <p:nvPr/>
        </p:nvPicPr>
        <p:blipFill>
          <a:blip r:embed="rId6"/>
          <a:stretch>
            <a:fillRect/>
          </a:stretch>
        </p:blipFill>
        <p:spPr>
          <a:xfrm>
            <a:off x="654710" y="5409590"/>
            <a:ext cx="190195" cy="190195"/>
          </a:xfrm>
          <a:prstGeom prst="rect">
            <a:avLst/>
          </a:prstGeom>
        </p:spPr>
      </p:pic>
      <p:sp>
        <p:nvSpPr>
          <p:cNvPr id="27" name="TextBox 26"/>
          <p:cNvSpPr txBox="1"/>
          <p:nvPr/>
        </p:nvSpPr>
        <p:spPr>
          <a:xfrm>
            <a:off x="1097280" y="530352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Institutions that outlive us</a:t>
            </a:r>
          </a:p>
        </p:txBody>
      </p:sp>
      <p:sp>
        <p:nvSpPr>
          <p:cNvPr id="28" name="TextBox 27"/>
          <p:cNvSpPr txBox="1"/>
          <p:nvPr/>
        </p:nvSpPr>
        <p:spPr>
          <a:xfrm>
            <a:off x="3566160" y="5303520"/>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An expert consortium, an audit manual and a publishing cadence that outlive any single cohort.</a:t>
            </a:r>
          </a:p>
        </p:txBody>
      </p:sp>
      <p:sp>
        <p:nvSpPr>
          <p:cNvPr id="29" name="TextBox 28"/>
          <p:cNvSpPr txBox="1"/>
          <p:nvPr/>
        </p:nvSpPr>
        <p:spPr>
          <a:xfrm>
            <a:off x="6300216" y="1847088"/>
            <a:ext cx="5324551" cy="237744"/>
          </a:xfrm>
          <a:prstGeom prst="rect">
            <a:avLst/>
          </a:prstGeom>
          <a:noFill/>
        </p:spPr>
        <p:txBody>
          <a:bodyPr wrap="square" lIns="0" rIns="0" tIns="0" bIns="0" anchor="t">
            <a:spAutoFit/>
          </a:bodyPr>
          <a:lstStyle/>
          <a:p>
            <a:pPr algn="l">
              <a:lnSpc>
                <a:spcPct val="128000"/>
              </a:lnSpc>
            </a:pPr>
            <a:r>
              <a:rPr sz="900" b="1" i="0" spc="180">
                <a:solidFill>
                  <a:srgbClr val="6E7180"/>
                </a:solidFill>
                <a:latin typeface="Montserrat"/>
              </a:rPr>
              <a:t>WHERE WE SEEK YOUR GUIDANCE</a:t>
            </a:r>
          </a:p>
        </p:txBody>
      </p:sp>
      <p:sp>
        <p:nvSpPr>
          <p:cNvPr id="30" name="Oval 29"/>
          <p:cNvSpPr/>
          <p:nvPr/>
        </p:nvSpPr>
        <p:spPr>
          <a:xfrm>
            <a:off x="6300216" y="2176272"/>
            <a:ext cx="365760" cy="365760"/>
          </a:xfrm>
          <a:prstGeom prst="ellipse">
            <a:avLst/>
          </a:prstGeom>
          <a:solidFill>
            <a:srgbClr val="E9F7F0"/>
          </a:solidFill>
          <a:ln>
            <a:noFill/>
          </a:ln>
          <a:effectLst/>
        </p:spPr>
        <p:txBody>
          <a:bodyPr rtlCol="0" anchor="ctr"/>
          <a:lstStyle/>
          <a:p>
            <a:pPr algn="ctr"/>
          </a:p>
        </p:txBody>
      </p:sp>
      <p:pic>
        <p:nvPicPr>
          <p:cNvPr id="31" name="Picture 30" descr="building-2_0A9955_256_2.0.png"/>
          <p:cNvPicPr>
            <a:picLocks noChangeAspect="1"/>
          </p:cNvPicPr>
          <p:nvPr/>
        </p:nvPicPr>
        <p:blipFill>
          <a:blip r:embed="rId7"/>
          <a:stretch>
            <a:fillRect/>
          </a:stretch>
        </p:blipFill>
        <p:spPr>
          <a:xfrm>
            <a:off x="6387998" y="2264054"/>
            <a:ext cx="190195" cy="190195"/>
          </a:xfrm>
          <a:prstGeom prst="rect">
            <a:avLst/>
          </a:prstGeom>
        </p:spPr>
      </p:pic>
      <p:sp>
        <p:nvSpPr>
          <p:cNvPr id="32" name="TextBox 31"/>
          <p:cNvSpPr txBox="1"/>
          <p:nvPr/>
        </p:nvSpPr>
        <p:spPr>
          <a:xfrm>
            <a:off x="6830568" y="215798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How you built institutions</a:t>
            </a:r>
          </a:p>
        </p:txBody>
      </p:sp>
      <p:sp>
        <p:nvSpPr>
          <p:cNvPr id="33" name="TextBox 32"/>
          <p:cNvSpPr txBox="1"/>
          <p:nvPr/>
        </p:nvSpPr>
        <p:spPr>
          <a:xfrm>
            <a:off x="9299448" y="2157984"/>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Organisations that outlast their founders: the standards, governance and culture that takes.</a:t>
            </a:r>
          </a:p>
        </p:txBody>
      </p:sp>
      <p:sp>
        <p:nvSpPr>
          <p:cNvPr id="34" name="Oval 33"/>
          <p:cNvSpPr/>
          <p:nvPr/>
        </p:nvSpPr>
        <p:spPr>
          <a:xfrm>
            <a:off x="6300216" y="2962656"/>
            <a:ext cx="365760" cy="365760"/>
          </a:xfrm>
          <a:prstGeom prst="ellipse">
            <a:avLst/>
          </a:prstGeom>
          <a:solidFill>
            <a:srgbClr val="E9F7F0"/>
          </a:solidFill>
          <a:ln>
            <a:noFill/>
          </a:ln>
          <a:effectLst/>
        </p:spPr>
        <p:txBody>
          <a:bodyPr rtlCol="0" anchor="ctr"/>
          <a:lstStyle/>
          <a:p>
            <a:pPr algn="ctr"/>
          </a:p>
        </p:txBody>
      </p:sp>
      <p:pic>
        <p:nvPicPr>
          <p:cNvPr id="35" name="Picture 34" descr="zap_0A9955_256_2.0.png"/>
          <p:cNvPicPr>
            <a:picLocks noChangeAspect="1"/>
          </p:cNvPicPr>
          <p:nvPr/>
        </p:nvPicPr>
        <p:blipFill>
          <a:blip r:embed="rId8"/>
          <a:stretch>
            <a:fillRect/>
          </a:stretch>
        </p:blipFill>
        <p:spPr>
          <a:xfrm>
            <a:off x="6387998" y="3050438"/>
            <a:ext cx="190195" cy="190195"/>
          </a:xfrm>
          <a:prstGeom prst="rect">
            <a:avLst/>
          </a:prstGeom>
        </p:spPr>
      </p:pic>
      <p:sp>
        <p:nvSpPr>
          <p:cNvPr id="36" name="TextBox 35"/>
          <p:cNvSpPr txBox="1"/>
          <p:nvPr/>
        </p:nvSpPr>
        <p:spPr>
          <a:xfrm>
            <a:off x="6830568" y="294436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How you solved the hardest problems</a:t>
            </a:r>
          </a:p>
        </p:txBody>
      </p:sp>
      <p:sp>
        <p:nvSpPr>
          <p:cNvPr id="37" name="TextBox 36"/>
          <p:cNvSpPr txBox="1"/>
          <p:nvPr/>
        </p:nvSpPr>
        <p:spPr>
          <a:xfrm>
            <a:off x="9299448" y="2944368"/>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judgement earned on ambiguous, high-stakes problems. We would bring you ours early.</a:t>
            </a:r>
          </a:p>
        </p:txBody>
      </p:sp>
      <p:sp>
        <p:nvSpPr>
          <p:cNvPr id="38" name="Oval 37"/>
          <p:cNvSpPr/>
          <p:nvPr/>
        </p:nvSpPr>
        <p:spPr>
          <a:xfrm>
            <a:off x="6300216" y="3749040"/>
            <a:ext cx="365760" cy="365760"/>
          </a:xfrm>
          <a:prstGeom prst="ellipse">
            <a:avLst/>
          </a:prstGeom>
          <a:solidFill>
            <a:srgbClr val="E9F7F0"/>
          </a:solidFill>
          <a:ln>
            <a:noFill/>
          </a:ln>
          <a:effectLst/>
        </p:spPr>
        <p:txBody>
          <a:bodyPr rtlCol="0" anchor="ctr"/>
          <a:lstStyle/>
          <a:p>
            <a:pPr algn="ctr"/>
          </a:p>
        </p:txBody>
      </p:sp>
      <p:pic>
        <p:nvPicPr>
          <p:cNvPr id="39" name="Picture 38" descr="landmark_0A9955_256_2.0.png"/>
          <p:cNvPicPr>
            <a:picLocks noChangeAspect="1"/>
          </p:cNvPicPr>
          <p:nvPr/>
        </p:nvPicPr>
        <p:blipFill>
          <a:blip r:embed="rId9"/>
          <a:stretch>
            <a:fillRect/>
          </a:stretch>
        </p:blipFill>
        <p:spPr>
          <a:xfrm>
            <a:off x="6387998" y="3836822"/>
            <a:ext cx="190195" cy="190195"/>
          </a:xfrm>
          <a:prstGeom prst="rect">
            <a:avLst/>
          </a:prstGeom>
        </p:spPr>
      </p:pic>
      <p:sp>
        <p:nvSpPr>
          <p:cNvPr id="40" name="TextBox 39"/>
          <p:cNvSpPr txBox="1"/>
          <p:nvPr/>
        </p:nvSpPr>
        <p:spPr>
          <a:xfrm>
            <a:off x="6830568" y="37307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Working with government at scale</a:t>
            </a:r>
          </a:p>
        </p:txBody>
      </p:sp>
      <p:sp>
        <p:nvSpPr>
          <p:cNvPr id="41" name="TextBox 40"/>
          <p:cNvSpPr txBox="1"/>
          <p:nvPr/>
        </p:nvSpPr>
        <p:spPr>
          <a:xfrm>
            <a:off x="9299448" y="3730752"/>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Partnerships that deepen while we keep our independence and publish everything.</a:t>
            </a:r>
          </a:p>
        </p:txBody>
      </p:sp>
      <p:sp>
        <p:nvSpPr>
          <p:cNvPr id="42" name="Oval 41"/>
          <p:cNvSpPr/>
          <p:nvPr/>
        </p:nvSpPr>
        <p:spPr>
          <a:xfrm>
            <a:off x="6300216" y="4535424"/>
            <a:ext cx="365760" cy="365760"/>
          </a:xfrm>
          <a:prstGeom prst="ellipse">
            <a:avLst/>
          </a:prstGeom>
          <a:solidFill>
            <a:srgbClr val="E9F7F0"/>
          </a:solidFill>
          <a:ln>
            <a:noFill/>
          </a:ln>
          <a:effectLst/>
        </p:spPr>
        <p:txBody>
          <a:bodyPr rtlCol="0" anchor="ctr"/>
          <a:lstStyle/>
          <a:p>
            <a:pPr algn="ctr"/>
          </a:p>
        </p:txBody>
      </p:sp>
      <p:pic>
        <p:nvPicPr>
          <p:cNvPr id="43" name="Picture 42" descr="users_0A9955_256_2.0.png"/>
          <p:cNvPicPr>
            <a:picLocks noChangeAspect="1"/>
          </p:cNvPicPr>
          <p:nvPr/>
        </p:nvPicPr>
        <p:blipFill>
          <a:blip r:embed="rId10"/>
          <a:stretch>
            <a:fillRect/>
          </a:stretch>
        </p:blipFill>
        <p:spPr>
          <a:xfrm>
            <a:off x="6387998" y="4623206"/>
            <a:ext cx="190195" cy="190195"/>
          </a:xfrm>
          <a:prstGeom prst="rect">
            <a:avLst/>
          </a:prstGeom>
        </p:spPr>
      </p:pic>
      <p:sp>
        <p:nvSpPr>
          <p:cNvPr id="44" name="TextBox 43"/>
          <p:cNvSpPr txBox="1"/>
          <p:nvPr/>
        </p:nvSpPr>
        <p:spPr>
          <a:xfrm>
            <a:off x="6830568" y="451713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People and leadership</a:t>
            </a:r>
          </a:p>
        </p:txBody>
      </p:sp>
      <p:sp>
        <p:nvSpPr>
          <p:cNvPr id="45" name="TextBox 44"/>
          <p:cNvSpPr txBox="1"/>
          <p:nvPr/>
        </p:nvSpPr>
        <p:spPr>
          <a:xfrm>
            <a:off x="9299448" y="4517136"/>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Growing a young team into leaders, and drawing senior operators to a nonprofit mission.</a:t>
            </a:r>
          </a:p>
        </p:txBody>
      </p:sp>
      <p:sp>
        <p:nvSpPr>
          <p:cNvPr id="46" name="Oval 45"/>
          <p:cNvSpPr/>
          <p:nvPr/>
        </p:nvSpPr>
        <p:spPr>
          <a:xfrm>
            <a:off x="6300216" y="5321808"/>
            <a:ext cx="365760" cy="365760"/>
          </a:xfrm>
          <a:prstGeom prst="ellipse">
            <a:avLst/>
          </a:prstGeom>
          <a:solidFill>
            <a:srgbClr val="E9F7F0"/>
          </a:solidFill>
          <a:ln>
            <a:noFill/>
          </a:ln>
          <a:effectLst/>
        </p:spPr>
        <p:txBody>
          <a:bodyPr rtlCol="0" anchor="ctr"/>
          <a:lstStyle/>
          <a:p>
            <a:pPr algn="ctr"/>
          </a:p>
        </p:txBody>
      </p:sp>
      <p:pic>
        <p:nvPicPr>
          <p:cNvPr id="47" name="Picture 46" descr="target_0A9955_256_2.0.png"/>
          <p:cNvPicPr>
            <a:picLocks noChangeAspect="1"/>
          </p:cNvPicPr>
          <p:nvPr/>
        </p:nvPicPr>
        <p:blipFill>
          <a:blip r:embed="rId11"/>
          <a:stretch>
            <a:fillRect/>
          </a:stretch>
        </p:blipFill>
        <p:spPr>
          <a:xfrm>
            <a:off x="6387998" y="5409590"/>
            <a:ext cx="190195" cy="190195"/>
          </a:xfrm>
          <a:prstGeom prst="rect">
            <a:avLst/>
          </a:prstGeom>
        </p:spPr>
      </p:pic>
      <p:sp>
        <p:nvSpPr>
          <p:cNvPr id="48" name="TextBox 47"/>
          <p:cNvSpPr txBox="1"/>
          <p:nvPr/>
        </p:nvSpPr>
        <p:spPr>
          <a:xfrm>
            <a:off x="6830568" y="530352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Focus</a:t>
            </a:r>
          </a:p>
        </p:txBody>
      </p:sp>
      <p:sp>
        <p:nvSpPr>
          <p:cNvPr id="49" name="TextBox 48"/>
          <p:cNvSpPr txBox="1"/>
          <p:nvPr/>
        </p:nvSpPr>
        <p:spPr>
          <a:xfrm>
            <a:off x="9299448" y="5303520"/>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What to stop, what to scale, and when. The discipline of a small organisation with a national mission.</a:t>
            </a:r>
          </a:p>
        </p:txBody>
      </p:sp>
      <p:cxnSp>
        <p:nvCxnSpPr>
          <p:cNvPr id="50" name="Connector 49"/>
          <p:cNvCxnSpPr/>
          <p:nvPr/>
        </p:nvCxnSpPr>
        <p:spPr>
          <a:xfrm>
            <a:off x="566928" y="6455664"/>
            <a:ext cx="11057839" cy="0"/>
          </a:xfrm>
          <a:prstGeom prst="line">
            <a:avLst/>
          </a:prstGeom>
          <a:ln w="9525">
            <a:solidFill>
              <a:srgbClr val="E8E9EE"/>
            </a:solidFill>
          </a:ln>
          <a:effectLst/>
        </p:spPr>
      </p:cxnSp>
      <p:sp>
        <p:nvSpPr>
          <p:cNvPr id="51" name="TextBox 50"/>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2" name="TextBox 5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920240"/>
            <a:ext cx="11064240" cy="1280160"/>
          </a:xfrm>
          <a:prstGeom prst="rect">
            <a:avLst/>
          </a:prstGeom>
          <a:noFill/>
        </p:spPr>
        <p:txBody>
          <a:bodyPr wrap="square" lIns="0" rIns="0" tIns="0" bIns="0" anchor="t">
            <a:spAutoFit/>
          </a:bodyPr>
          <a:lstStyle/>
          <a:p>
            <a:pPr algn="l">
              <a:lnSpc>
                <a:spcPct val="120000"/>
              </a:lnSpc>
            </a:pPr>
            <a:r>
              <a:rPr sz="3200" b="1" i="0">
                <a:solidFill>
                  <a:srgbClr val="FFFFFF"/>
                </a:solidFill>
                <a:latin typeface="Montserrat"/>
              </a:rPr>
              <a:t>No life lost on an Indian road</a:t>
            </a:r>
          </a:p>
          <a:p>
            <a:pPr algn="l">
              <a:lnSpc>
                <a:spcPct val="120000"/>
              </a:lnSpc>
            </a:pPr>
            <a:r>
              <a:rPr sz="3200" b="1" i="0">
                <a:solidFill>
                  <a:srgbClr val="FFFFFF"/>
                </a:solidFill>
                <a:latin typeface="Montserrat"/>
              </a:rPr>
              <a:t>is acceptable.</a:t>
            </a:r>
          </a:p>
        </p:txBody>
      </p:sp>
      <p:sp>
        <p:nvSpPr>
          <p:cNvPr id="5" name="TextBox 4"/>
          <p:cNvSpPr txBox="1"/>
          <p:nvPr/>
        </p:nvSpPr>
        <p:spPr>
          <a:xfrm>
            <a:off x="566928" y="3520440"/>
            <a:ext cx="10515600" cy="54864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We add the hands, the evidence and the tools that turn that goal into work the system can carry, and we track it in public.</a:t>
            </a:r>
          </a:p>
        </p:txBody>
      </p:sp>
      <p:cxnSp>
        <p:nvCxnSpPr>
          <p:cNvPr id="6" name="Connector 5"/>
          <p:cNvCxnSpPr/>
          <p:nvPr/>
        </p:nvCxnSpPr>
        <p:spPr>
          <a:xfrm>
            <a:off x="566928" y="4315968"/>
            <a:ext cx="4754880" cy="0"/>
          </a:xfrm>
          <a:prstGeom prst="line">
            <a:avLst/>
          </a:prstGeom>
          <a:ln w="12700">
            <a:solidFill>
              <a:srgbClr val="6A55FF"/>
            </a:solidFill>
          </a:ln>
          <a:effectLst/>
        </p:spPr>
      </p:cxnSp>
      <p:sp>
        <p:nvSpPr>
          <p:cNvPr id="7" name="TextBox 6"/>
          <p:cNvSpPr txBox="1"/>
          <p:nvPr/>
        </p:nvSpPr>
        <p:spPr>
          <a:xfrm>
            <a:off x="566928" y="4517136"/>
            <a:ext cx="9875520" cy="777240"/>
          </a:xfrm>
          <a:prstGeom prst="rect">
            <a:avLst/>
          </a:prstGeom>
          <a:noFill/>
        </p:spPr>
        <p:txBody>
          <a:bodyPr wrap="square" lIns="0" rIns="0" tIns="0" bIns="0" anchor="t">
            <a:spAutoFit/>
          </a:bodyPr>
          <a:lstStyle/>
          <a:p>
            <a:pPr algn="l">
              <a:lnSpc>
                <a:spcPct val="135000"/>
              </a:lnSpc>
            </a:pPr>
            <a:r>
              <a:rPr sz="140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75504"/>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614416"/>
            <a:ext cx="256032" cy="256032"/>
          </a:xfrm>
          <a:prstGeom prst="rect">
            <a:avLst/>
          </a:prstGeom>
        </p:spPr>
      </p:pic>
      <p:sp>
        <p:nvSpPr>
          <p:cNvPr id="10" name="TextBox 9"/>
          <p:cNvSpPr txBox="1"/>
          <p:nvPr/>
        </p:nvSpPr>
        <p:spPr>
          <a:xfrm>
            <a:off x="978408" y="5596128"/>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6035040"/>
            <a:ext cx="256032" cy="256032"/>
          </a:xfrm>
          <a:prstGeom prst="rect">
            <a:avLst/>
          </a:prstGeom>
        </p:spPr>
      </p:pic>
      <p:sp>
        <p:nvSpPr>
          <p:cNvPr id="12" name="TextBox 11"/>
          <p:cNvSpPr txBox="1"/>
          <p:nvPr/>
        </p:nvSpPr>
        <p:spPr>
          <a:xfrm>
            <a:off x="978408" y="60167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