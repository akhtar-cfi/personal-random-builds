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image" Target="../media/image26.jpg"/><Relationship Id="rId5" Type="http://schemas.openxmlformats.org/officeDocument/2006/relationships/image" Target="../media/image27.jpg"/><Relationship Id="rId6" Type="http://schemas.openxmlformats.org/officeDocument/2006/relationships/image" Target="../media/image28.jpg"/><Relationship Id="rId7" Type="http://schemas.openxmlformats.org/officeDocument/2006/relationships/image" Target="../media/image2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image" Target="../media/image41.jp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2.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 Id="rId9" Type="http://schemas.openxmlformats.org/officeDocument/2006/relationships/image" Target="../media/image5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jp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image" Target="../media/image59.jpg"/><Relationship Id="rId4" Type="http://schemas.openxmlformats.org/officeDocument/2006/relationships/image" Target="../media/image60.jpg"/><Relationship Id="rId5" Type="http://schemas.openxmlformats.org/officeDocument/2006/relationships/image" Target="../media/image61.jpg"/><Relationship Id="rId6" Type="http://schemas.openxmlformats.org/officeDocument/2006/relationships/image" Target="../media/image6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image" Target="../media/image64.jpg"/><Relationship Id="rId4" Type="http://schemas.openxmlformats.org/officeDocument/2006/relationships/image" Target="../media/image65.jpg"/><Relationship Id="rId5" Type="http://schemas.openxmlformats.org/officeDocument/2006/relationships/image" Target="../media/image6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image" Target="../media/image74.png"/><Relationship Id="rId10" Type="http://schemas.openxmlformats.org/officeDocument/2006/relationships/image" Target="../media/image75.png"/><Relationship Id="rId11" Type="http://schemas.openxmlformats.org/officeDocument/2006/relationships/image" Target="../media/image76.png"/><Relationship Id="rId12" Type="http://schemas.openxmlformats.org/officeDocument/2006/relationships/image" Target="../media/image77.png"/><Relationship Id="rId13" Type="http://schemas.openxmlformats.org/officeDocument/2006/relationships/image" Target="../media/image78.png"/><Relationship Id="rId14" Type="http://schemas.openxmlformats.org/officeDocument/2006/relationships/image" Target="../media/image79.png"/><Relationship Id="rId15" Type="http://schemas.openxmlformats.org/officeDocument/2006/relationships/image" Target="../media/image80.png"/><Relationship Id="rId16" Type="http://schemas.openxmlformats.org/officeDocument/2006/relationships/image" Target="../media/image81.png"/><Relationship Id="rId17" Type="http://schemas.openxmlformats.org/officeDocument/2006/relationships/image" Target="../media/image82.png"/><Relationship Id="rId18" Type="http://schemas.openxmlformats.org/officeDocument/2006/relationships/image" Target="../media/image83.png"/><Relationship Id="rId19" Type="http://schemas.openxmlformats.org/officeDocument/2006/relationships/image" Target="../media/image84.png"/><Relationship Id="rId20" Type="http://schemas.openxmlformats.org/officeDocument/2006/relationships/image" Target="../media/image85.png"/><Relationship Id="rId21" Type="http://schemas.openxmlformats.org/officeDocument/2006/relationships/image" Target="../media/image86.png"/><Relationship Id="rId22" Type="http://schemas.openxmlformats.org/officeDocument/2006/relationships/image" Target="../media/image87.png"/><Relationship Id="rId23" Type="http://schemas.openxmlformats.org/officeDocument/2006/relationships/image" Target="../media/image88.png"/><Relationship Id="rId24" Type="http://schemas.openxmlformats.org/officeDocument/2006/relationships/image" Target="../media/image89.png"/><Relationship Id="rId25" Type="http://schemas.openxmlformats.org/officeDocument/2006/relationships/image" Target="../media/image9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98.png"/><Relationship Id="rId10" Type="http://schemas.openxmlformats.org/officeDocument/2006/relationships/image" Target="../media/image99.png"/><Relationship Id="rId11" Type="http://schemas.openxmlformats.org/officeDocument/2006/relationships/image" Target="../media/image100.png"/><Relationship Id="rId12" Type="http://schemas.openxmlformats.org/officeDocument/2006/relationships/image" Target="../media/image101.png"/><Relationship Id="rId13" Type="http://schemas.openxmlformats.org/officeDocument/2006/relationships/image" Target="../media/image10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22.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jp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image" Target="../media/image119.png"/><Relationship Id="rId7"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0.png"/><Relationship Id="rId4" Type="http://schemas.openxmlformats.org/officeDocument/2006/relationships/image" Target="../media/image121.png"/><Relationship Id="rId5" Type="http://schemas.openxmlformats.org/officeDocument/2006/relationships/image" Target="../media/image122.png"/><Relationship Id="rId6" Type="http://schemas.openxmlformats.org/officeDocument/2006/relationships/image" Target="../media/image123.jpg"/><Relationship Id="rId7" Type="http://schemas.openxmlformats.org/officeDocument/2006/relationships/image" Target="../media/image12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 Id="rId3" Type="http://schemas.openxmlformats.org/officeDocument/2006/relationships/image" Target="../media/image126.png"/><Relationship Id="rId4" Type="http://schemas.openxmlformats.org/officeDocument/2006/relationships/image" Target="../media/image127.png"/><Relationship Id="rId5" Type="http://schemas.openxmlformats.org/officeDocument/2006/relationships/image" Target="../media/image1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 Id="rId3" Type="http://schemas.openxmlformats.org/officeDocument/2006/relationships/image" Target="../media/image130.png"/><Relationship Id="rId4" Type="http://schemas.openxmlformats.org/officeDocument/2006/relationships/image" Target="../media/image131.png"/><Relationship Id="rId5" Type="http://schemas.openxmlformats.org/officeDocument/2006/relationships/image" Target="../media/image13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jpg"/><Relationship Id="rId3" Type="http://schemas.openxmlformats.org/officeDocument/2006/relationships/image" Target="../media/image134.jpg"/><Relationship Id="rId4" Type="http://schemas.openxmlformats.org/officeDocument/2006/relationships/image" Target="../media/image135.png"/><Relationship Id="rId5" Type="http://schemas.openxmlformats.org/officeDocument/2006/relationships/image" Target="../media/image136.png"/><Relationship Id="rId6" Type="http://schemas.openxmlformats.org/officeDocument/2006/relationships/image" Target="../media/image137.png"/><Relationship Id="rId7" Type="http://schemas.openxmlformats.org/officeDocument/2006/relationships/image" Target="../media/image1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jpg"/><Relationship Id="rId3" Type="http://schemas.openxmlformats.org/officeDocument/2006/relationships/image" Target="../media/image140.jpg"/><Relationship Id="rId4" Type="http://schemas.openxmlformats.org/officeDocument/2006/relationships/image" Target="../media/image48.png"/><Relationship Id="rId5" Type="http://schemas.openxmlformats.org/officeDocument/2006/relationships/image" Target="../media/image8.png"/><Relationship Id="rId6" Type="http://schemas.openxmlformats.org/officeDocument/2006/relationships/image" Target="../media/image141.png"/><Relationship Id="rId7" Type="http://schemas.openxmlformats.org/officeDocument/2006/relationships/image" Target="../media/image4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572768"/>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EXPRESSION OF INTEREST  ·  NATIONAL ROAD SAFETY BOARD</a:t>
            </a:r>
          </a:p>
        </p:txBody>
      </p:sp>
      <p:sp>
        <p:nvSpPr>
          <p:cNvPr id="6" name="TextBox 5"/>
          <p:cNvSpPr txBox="1"/>
          <p:nvPr/>
        </p:nvSpPr>
        <p:spPr>
          <a:xfrm>
            <a:off x="566928" y="1956816"/>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834640"/>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Application to Working Group 5:</a:t>
            </a:r>
          </a:p>
          <a:p>
            <a:pPr algn="l">
              <a:lnSpc>
                <a:spcPct val="125000"/>
              </a:lnSpc>
            </a:pPr>
            <a:r>
              <a:rPr sz="1650" b="1" i="0">
                <a:solidFill>
                  <a:srgbClr val="4A35FF"/>
                </a:solidFill>
                <a:latin typeface="Montserrat"/>
              </a:rPr>
              <a:t>Post-Crash Care, Policy Standards &amp; State Implementation</a:t>
            </a:r>
          </a:p>
        </p:txBody>
      </p:sp>
      <p:sp>
        <p:nvSpPr>
          <p:cNvPr id="8" name="Oval 7"/>
          <p:cNvSpPr/>
          <p:nvPr/>
        </p:nvSpPr>
        <p:spPr>
          <a:xfrm>
            <a:off x="566928" y="4251960"/>
            <a:ext cx="365760" cy="365760"/>
          </a:xfrm>
          <a:prstGeom prst="ellipse">
            <a:avLst/>
          </a:prstGeom>
          <a:solidFill>
            <a:srgbClr val="EFEDFF"/>
          </a:solidFill>
          <a:ln>
            <a:noFill/>
          </a:ln>
          <a:effectLst/>
        </p:spPr>
        <p:txBody>
          <a:bodyPr rtlCol="0" anchor="ctr"/>
          <a:lstStyle/>
          <a:p>
            <a:pPr algn="ctr"/>
          </a:p>
        </p:txBody>
      </p:sp>
      <p:pic>
        <p:nvPicPr>
          <p:cNvPr id="9" name="Picture 8" descr="bot_4A35FF_256_2.0.png"/>
          <p:cNvPicPr>
            <a:picLocks noChangeAspect="1"/>
          </p:cNvPicPr>
          <p:nvPr/>
        </p:nvPicPr>
        <p:blipFill>
          <a:blip r:embed="rId3"/>
          <a:stretch>
            <a:fillRect/>
          </a:stretch>
        </p:blipFill>
        <p:spPr>
          <a:xfrm>
            <a:off x="654710" y="4339742"/>
            <a:ext cx="190195" cy="190195"/>
          </a:xfrm>
          <a:prstGeom prst="rect">
            <a:avLst/>
          </a:prstGeom>
        </p:spPr>
      </p:pic>
      <p:sp>
        <p:nvSpPr>
          <p:cNvPr id="10" name="TextBox 9"/>
          <p:cNvSpPr txBox="1"/>
          <p:nvPr/>
        </p:nvSpPr>
        <p:spPr>
          <a:xfrm>
            <a:off x="1078992" y="4297680"/>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Tools families actually use: Aasha on WhatsApp, calculator, hospital helpdesks</a:t>
            </a:r>
          </a:p>
        </p:txBody>
      </p:sp>
      <p:sp>
        <p:nvSpPr>
          <p:cNvPr id="11" name="Oval 10"/>
          <p:cNvSpPr/>
          <p:nvPr/>
        </p:nvSpPr>
        <p:spPr>
          <a:xfrm>
            <a:off x="566928" y="4818888"/>
            <a:ext cx="365760" cy="365760"/>
          </a:xfrm>
          <a:prstGeom prst="ellipse">
            <a:avLst/>
          </a:prstGeom>
          <a:solidFill>
            <a:srgbClr val="EFEDFF"/>
          </a:solidFill>
          <a:ln>
            <a:noFill/>
          </a:ln>
          <a:effectLst/>
        </p:spPr>
        <p:txBody>
          <a:bodyPr rtlCol="0" anchor="ctr"/>
          <a:lstStyle/>
          <a:p>
            <a:pPr algn="ctr"/>
          </a:p>
        </p:txBody>
      </p:sp>
      <p:pic>
        <p:nvPicPr>
          <p:cNvPr id="12" name="Picture 11" descr="file-search_4A35FF_256_2.0.png"/>
          <p:cNvPicPr>
            <a:picLocks noChangeAspect="1"/>
          </p:cNvPicPr>
          <p:nvPr/>
        </p:nvPicPr>
        <p:blipFill>
          <a:blip r:embed="rId4"/>
          <a:stretch>
            <a:fillRect/>
          </a:stretch>
        </p:blipFill>
        <p:spPr>
          <a:xfrm>
            <a:off x="654710" y="4906670"/>
            <a:ext cx="190195" cy="190195"/>
          </a:xfrm>
          <a:prstGeom prst="rect">
            <a:avLst/>
          </a:prstGeom>
        </p:spPr>
      </p:pic>
      <p:sp>
        <p:nvSpPr>
          <p:cNvPr id="13" name="TextBox 12"/>
          <p:cNvSpPr txBox="1"/>
          <p:nvPr/>
        </p:nvSpPr>
        <p:spPr>
          <a:xfrm>
            <a:off x="1078992" y="4864608"/>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Published policy research: Justice Unserved and the Pre-Hospital Care Primer</a:t>
            </a:r>
          </a:p>
        </p:txBody>
      </p:sp>
      <p:sp>
        <p:nvSpPr>
          <p:cNvPr id="14" name="Oval 13"/>
          <p:cNvSpPr/>
          <p:nvPr/>
        </p:nvSpPr>
        <p:spPr>
          <a:xfrm>
            <a:off x="566928" y="5385816"/>
            <a:ext cx="365760" cy="365760"/>
          </a:xfrm>
          <a:prstGeom prst="ellipse">
            <a:avLst/>
          </a:prstGeom>
          <a:solidFill>
            <a:srgbClr val="EFEDFF"/>
          </a:solidFill>
          <a:ln>
            <a:noFill/>
          </a:ln>
          <a:effectLst/>
        </p:spPr>
        <p:txBody>
          <a:bodyPr rtlCol="0" anchor="ctr"/>
          <a:lstStyle/>
          <a:p>
            <a:pPr algn="ctr"/>
          </a:p>
        </p:txBody>
      </p:sp>
      <p:pic>
        <p:nvPicPr>
          <p:cNvPr id="15" name="Picture 14" descr="handshake_4A35FF_256_2.0.png"/>
          <p:cNvPicPr>
            <a:picLocks noChangeAspect="1"/>
          </p:cNvPicPr>
          <p:nvPr/>
        </p:nvPicPr>
        <p:blipFill>
          <a:blip r:embed="rId5"/>
          <a:stretch>
            <a:fillRect/>
          </a:stretch>
        </p:blipFill>
        <p:spPr>
          <a:xfrm>
            <a:off x="654710" y="5473598"/>
            <a:ext cx="190195" cy="190195"/>
          </a:xfrm>
          <a:prstGeom prst="rect">
            <a:avLst/>
          </a:prstGeom>
        </p:spPr>
      </p:pic>
      <p:sp>
        <p:nvSpPr>
          <p:cNvPr id="16" name="TextBox 15"/>
          <p:cNvSpPr txBox="1"/>
          <p:nvPr/>
        </p:nvSpPr>
        <p:spPr>
          <a:xfrm>
            <a:off x="1078992" y="5431536"/>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Hand in hand with authorities: 4 district committees, Rajasthan, police MoUs</a:t>
            </a:r>
          </a:p>
        </p:txBody>
      </p:sp>
      <p:sp>
        <p:nvSpPr>
          <p:cNvPr id="17" name="TextBox 16"/>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5, National Road Safety Board</a:t>
            </a:r>
          </a:p>
        </p:txBody>
      </p:sp>
      <p:sp>
        <p:nvSpPr>
          <p:cNvPr id="18" name="TextBox 17"/>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19" name="Picture 18" descr="ph_dhoni_white.jpg_3.60x4.90_0.12.jpg"/>
          <p:cNvPicPr>
            <a:picLocks noChangeAspect="1"/>
          </p:cNvPicPr>
          <p:nvPr/>
        </p:nvPicPr>
        <p:blipFill>
          <a:blip r:embed="rId6"/>
          <a:stretch>
            <a:fillRect/>
          </a:stretch>
        </p:blipFill>
        <p:spPr>
          <a:xfrm>
            <a:off x="8321040" y="1051560"/>
            <a:ext cx="3291840" cy="4480560"/>
          </a:xfrm>
          <a:prstGeom prst="rect">
            <a:avLst/>
          </a:prstGeom>
        </p:spPr>
      </p:pic>
      <p:sp>
        <p:nvSpPr>
          <p:cNvPr id="20" name="Rectangle 19"/>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1" name="Rectangle 20"/>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2" name="TextBox 21"/>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0000"/>
              </a:lnSpc>
              <a:spcAft>
                <a:spcPts val="700"/>
              </a:spcAft>
            </a:pPr>
            <a:r>
              <a:rPr sz="1060" b="0" i="0">
                <a:solidFill>
                  <a:srgbClr val="16181D"/>
                </a:solidFill>
                <a:latin typeface="Geist"/>
              </a:rPr>
              <a:t>Respected Chairperson and Members of Working Group 5,</a:t>
            </a:r>
          </a:p>
          <a:p>
            <a:pPr algn="l">
              <a:lnSpc>
                <a:spcPct val="130000"/>
              </a:lnSpc>
              <a:spcAft>
                <a:spcPts val="700"/>
              </a:spcAft>
            </a:pPr>
            <a:r>
              <a:rPr sz="1060" b="0" i="0">
                <a:solidFill>
                  <a:srgbClr val="16181D"/>
                </a:solidFill>
                <a:latin typeface="Geist"/>
              </a:rPr>
              <a:t>Crashfree India is a young road safety nonprofit, registered as the Vision Zero Trust, co-founded with the Indian Road Safety Council, and backed by a three-year, US$3 million commitment from Cars24. We work alongside public authorities: our student teams audit dangerous locations under senior experts, our technology helps police and administrators see their own pipelines, and our support tools stand with families after a crash. MS Dhoni carries this message to the country as our Goodwill Ambassador.</a:t>
            </a:r>
          </a:p>
          <a:p>
            <a:pPr algn="l">
              <a:lnSpc>
                <a:spcPct val="130000"/>
              </a:lnSpc>
              <a:spcAft>
                <a:spcPts val="700"/>
              </a:spcAft>
            </a:pPr>
            <a:r>
              <a:rPr sz="1060" b="0" i="0">
                <a:solidFill>
                  <a:srgbClr val="16181D"/>
                </a:solidFill>
                <a:latin typeface="Geist"/>
              </a:rPr>
              <a:t>Our post-crash work began with evidence. 'Justice Unserved', our study of the hit-and-run compensation pipeline, showed how few eligible families ever receive what the law promises, and our follow-up brief, 'Deposited But Not Delivered', found ~₹986 crore of already-awarded compensation sitting unclaimed in just five cities. Since then we have joined four District Road Safety Committees, mapped Rajasthan's scheme office-by-office with the Transport Department, and built the tools families actually use, the Aasha chatbot, a compensation calculator, hospital helpdesks that supported 100+ victims in their first four days, and plain-language guides in Hindi.</a:t>
            </a:r>
          </a:p>
          <a:p>
            <a:pPr algn="l">
              <a:lnSpc>
                <a:spcPct val="130000"/>
              </a:lnSpc>
              <a:spcAft>
                <a:spcPts val="700"/>
              </a:spcAft>
            </a:pPr>
            <a:r>
              <a:rPr sz="106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6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three minutes</a:t>
            </a:r>
            <a:r>
              <a:rPr sz="2250" b="1" i="0">
                <a:solidFill>
                  <a:srgbClr val="16181D"/>
                </a:solidFill>
                <a:latin typeface="Montserrat"/>
              </a:rPr>
              <a:t> to skim</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 and how we work</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our approach to the road crash crisis, and why this Working Group.</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 – 06</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What we have built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audits, enforcement tech, victim support, open data, youth, campaigns.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14</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Our people</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team, its capabilities, and the expert bench around the work.</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15 – 16</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Post-crash care in depth</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evidence, method, results.</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17 – 24</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How we can contribute</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25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Backed by a US$3 million, three-year commitment from Cars24 </a:t>
            </a:r>
            <a:r>
              <a:rPr sz="1150" b="0" i="0">
                <a:solidFill>
                  <a:srgbClr val="4A35FF"/>
                </a:solidFill>
                <a:latin typeface="Geist"/>
              </a:rPr>
              <a:t>. Programmes, not overheads, receive 71% of the budget.</a:t>
            </a:r>
          </a:p>
        </p:txBody>
      </p:sp>
      <p:pic>
        <p:nvPicPr>
          <p:cNvPr id="26" name="Picture 25" descr="cfi_map_dots.png"/>
          <p:cNvPicPr>
            <a:picLocks noChangeAspect="1"/>
          </p:cNvPicPr>
          <p:nvPr/>
        </p:nvPicPr>
        <p:blipFill>
          <a:blip r:embed="rId6"/>
          <a:stretch>
            <a:fillRect/>
          </a:stretch>
        </p:blipFill>
        <p:spPr>
          <a:xfrm>
            <a:off x="8092440" y="1965960"/>
            <a:ext cx="3291840" cy="3911357"/>
          </a:xfrm>
          <a:prstGeom prst="rect">
            <a:avLst/>
          </a:prstGeom>
        </p:spPr>
      </p:pic>
      <p:sp>
        <p:nvSpPr>
          <p:cNvPr id="27" name="Rectangle 26"/>
          <p:cNvSpPr/>
          <p:nvPr/>
        </p:nvSpPr>
        <p:spPr>
          <a:xfrm>
            <a:off x="8092440" y="196596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092440" y="592303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OUR APPROACH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Our approach: work </a:t>
            </a:r>
            <a:r>
              <a:rPr sz="2250" b="1" i="0">
                <a:solidFill>
                  <a:srgbClr val="4A35FF"/>
                </a:solidFill>
                <a:latin typeface="Montserrat"/>
              </a:rPr>
              <a:t>with the system</a:t>
            </a:r>
            <a:r>
              <a:rPr sz="2250" b="1" i="0">
                <a:solidFill>
                  <a:srgbClr val="16181D"/>
                </a:solidFill>
                <a:latin typeface="Montserrat"/>
              </a:rPr>
              <a:t>, and prove it with data</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steps, applied to every problem we take up, from a dangerous junction to a stalled compensation claim.</a:t>
            </a:r>
          </a:p>
        </p:txBody>
      </p:sp>
      <p:sp>
        <p:nvSpPr>
          <p:cNvPr id="8" name="Rounded Rectangle 7"/>
          <p:cNvSpPr/>
          <p:nvPr/>
        </p:nvSpPr>
        <p:spPr>
          <a:xfrm>
            <a:off x="56692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58568"/>
            <a:ext cx="475488" cy="475488"/>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63925" y="2372685"/>
            <a:ext cx="247253" cy="247253"/>
          </a:xfrm>
          <a:prstGeom prst="rect">
            <a:avLst/>
          </a:prstGeom>
        </p:spPr>
      </p:pic>
      <p:sp>
        <p:nvSpPr>
          <p:cNvPr id="11" name="TextBox 10"/>
          <p:cNvSpPr txBox="1"/>
          <p:nvPr/>
        </p:nvSpPr>
        <p:spPr>
          <a:xfrm>
            <a:off x="74980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1 · Evidence</a:t>
            </a:r>
          </a:p>
        </p:txBody>
      </p:sp>
      <p:sp>
        <p:nvSpPr>
          <p:cNvPr id="12" name="TextBox 11"/>
          <p:cNvSpPr txBox="1"/>
          <p:nvPr/>
        </p:nvSpPr>
        <p:spPr>
          <a:xfrm>
            <a:off x="74980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Field audits, file reviews and research to official standards.</a:t>
            </a:r>
          </a:p>
        </p:txBody>
      </p:sp>
      <p:cxnSp>
        <p:nvCxnSpPr>
          <p:cNvPr id="13" name="Connector 12"/>
          <p:cNvCxnSpPr/>
          <p:nvPr/>
        </p:nvCxnSpPr>
        <p:spPr>
          <a:xfrm>
            <a:off x="749808" y="4270248"/>
            <a:ext cx="2304288" cy="0"/>
          </a:xfrm>
          <a:prstGeom prst="line">
            <a:avLst/>
          </a:prstGeom>
          <a:ln w="9525">
            <a:solidFill>
              <a:srgbClr val="E8E9EE"/>
            </a:solidFill>
          </a:ln>
          <a:effectLst/>
        </p:spPr>
      </p:cxnSp>
      <p:sp>
        <p:nvSpPr>
          <p:cNvPr id="14" name="TextBox 13"/>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31 sites audited · 50+ stakeholder consultations</a:t>
            </a:r>
          </a:p>
        </p:txBody>
      </p:sp>
      <p:sp>
        <p:nvSpPr>
          <p:cNvPr id="15" name="TextBox 14"/>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0A9955"/>
                </a:solidFill>
                <a:latin typeface="Montserrat"/>
              </a:rPr>
              <a:t>31 sites audited · 50+ stakeholder consultations</a:t>
            </a:r>
          </a:p>
        </p:txBody>
      </p:sp>
      <p:sp>
        <p:nvSpPr>
          <p:cNvPr id="16" name="TextBox 15"/>
          <p:cNvSpPr txBox="1"/>
          <p:nvPr/>
        </p:nvSpPr>
        <p:spPr>
          <a:xfrm>
            <a:off x="320954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17" name="Rounded Rectangle 16"/>
          <p:cNvSpPr/>
          <p:nvPr/>
        </p:nvSpPr>
        <p:spPr>
          <a:xfrm>
            <a:off x="335584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3538728" y="2258568"/>
            <a:ext cx="475488" cy="475488"/>
          </a:xfrm>
          <a:prstGeom prst="ellipse">
            <a:avLst/>
          </a:prstGeom>
          <a:solidFill>
            <a:srgbClr val="EFEDFF"/>
          </a:solidFill>
          <a:ln>
            <a:noFill/>
          </a:ln>
          <a:effectLst/>
        </p:spPr>
        <p:txBody>
          <a:bodyPr rtlCol="0" anchor="ctr"/>
          <a:lstStyle/>
          <a:p>
            <a:pPr algn="ctr"/>
          </a:p>
        </p:txBody>
      </p:sp>
      <p:pic>
        <p:nvPicPr>
          <p:cNvPr id="19" name="Picture 18" descr="landmark_4A35FF_256_2.0.png"/>
          <p:cNvPicPr>
            <a:picLocks noChangeAspect="1"/>
          </p:cNvPicPr>
          <p:nvPr/>
        </p:nvPicPr>
        <p:blipFill>
          <a:blip r:embed="rId3"/>
          <a:stretch>
            <a:fillRect/>
          </a:stretch>
        </p:blipFill>
        <p:spPr>
          <a:xfrm>
            <a:off x="3652845" y="2372685"/>
            <a:ext cx="247253" cy="247253"/>
          </a:xfrm>
          <a:prstGeom prst="rect">
            <a:avLst/>
          </a:prstGeom>
        </p:spPr>
      </p:pic>
      <p:sp>
        <p:nvSpPr>
          <p:cNvPr id="20" name="TextBox 19"/>
          <p:cNvSpPr txBox="1"/>
          <p:nvPr/>
        </p:nvSpPr>
        <p:spPr>
          <a:xfrm>
            <a:off x="353872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2 · Institutional partnership</a:t>
            </a:r>
          </a:p>
        </p:txBody>
      </p:sp>
      <p:sp>
        <p:nvSpPr>
          <p:cNvPr id="21" name="TextBox 20"/>
          <p:cNvSpPr txBox="1"/>
          <p:nvPr/>
        </p:nvSpPr>
        <p:spPr>
          <a:xfrm>
            <a:off x="353872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Work through the authority that owns the problem, never around it.</a:t>
            </a:r>
          </a:p>
        </p:txBody>
      </p:sp>
      <p:cxnSp>
        <p:nvCxnSpPr>
          <p:cNvPr id="22" name="Connector 21"/>
          <p:cNvCxnSpPr/>
          <p:nvPr/>
        </p:nvCxnSpPr>
        <p:spPr>
          <a:xfrm>
            <a:off x="3538728" y="4270248"/>
            <a:ext cx="2304288" cy="0"/>
          </a:xfrm>
          <a:prstGeom prst="line">
            <a:avLst/>
          </a:prstGeom>
          <a:ln w="9525">
            <a:solidFill>
              <a:srgbClr val="E8E9EE"/>
            </a:solidFill>
          </a:ln>
          <a:effectLst/>
        </p:spPr>
      </p:cxnSp>
      <p:sp>
        <p:nvSpPr>
          <p:cNvPr id="23" name="TextBox 22"/>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25+ written approvals · 4 DRSCs · MoUs with police</a:t>
            </a:r>
          </a:p>
        </p:txBody>
      </p:sp>
      <p:sp>
        <p:nvSpPr>
          <p:cNvPr id="24" name="TextBox 23"/>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4A35FF"/>
                </a:solidFill>
                <a:latin typeface="Montserrat"/>
              </a:rPr>
              <a:t>25+ written approvals · 4 DRSCs · MoUs with police</a:t>
            </a:r>
          </a:p>
        </p:txBody>
      </p:sp>
      <p:sp>
        <p:nvSpPr>
          <p:cNvPr id="25" name="TextBox 24"/>
          <p:cNvSpPr txBox="1"/>
          <p:nvPr/>
        </p:nvSpPr>
        <p:spPr>
          <a:xfrm>
            <a:off x="599846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26" name="Rounded Rectangle 25"/>
          <p:cNvSpPr/>
          <p:nvPr/>
        </p:nvSpPr>
        <p:spPr>
          <a:xfrm>
            <a:off x="614476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6327648" y="2258568"/>
            <a:ext cx="475488" cy="475488"/>
          </a:xfrm>
          <a:prstGeom prst="ellipse">
            <a:avLst/>
          </a:prstGeom>
          <a:solidFill>
            <a:srgbClr val="E7F4F4"/>
          </a:solidFill>
          <a:ln>
            <a:noFill/>
          </a:ln>
          <a:effectLst/>
        </p:spPr>
        <p:txBody>
          <a:bodyPr rtlCol="0" anchor="ctr"/>
          <a:lstStyle/>
          <a:p>
            <a:pPr algn="ctr"/>
          </a:p>
        </p:txBody>
      </p:sp>
      <p:pic>
        <p:nvPicPr>
          <p:cNvPr id="28" name="Picture 27" descr="cpu_0E8A8A_256_2.0.png"/>
          <p:cNvPicPr>
            <a:picLocks noChangeAspect="1"/>
          </p:cNvPicPr>
          <p:nvPr/>
        </p:nvPicPr>
        <p:blipFill>
          <a:blip r:embed="rId4"/>
          <a:stretch>
            <a:fillRect/>
          </a:stretch>
        </p:blipFill>
        <p:spPr>
          <a:xfrm>
            <a:off x="6441765" y="2372685"/>
            <a:ext cx="247253" cy="247253"/>
          </a:xfrm>
          <a:prstGeom prst="rect">
            <a:avLst/>
          </a:prstGeom>
        </p:spPr>
      </p:pic>
      <p:sp>
        <p:nvSpPr>
          <p:cNvPr id="29" name="TextBox 28"/>
          <p:cNvSpPr txBox="1"/>
          <p:nvPr/>
        </p:nvSpPr>
        <p:spPr>
          <a:xfrm>
            <a:off x="632764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3 · Technology</a:t>
            </a:r>
          </a:p>
        </p:txBody>
      </p:sp>
      <p:sp>
        <p:nvSpPr>
          <p:cNvPr id="30" name="TextBox 29"/>
          <p:cNvSpPr txBox="1"/>
          <p:nvPr/>
        </p:nvSpPr>
        <p:spPr>
          <a:xfrm>
            <a:off x="632764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Dashboards, AI and WhatsApp tools that fit how officials already work.</a:t>
            </a:r>
          </a:p>
        </p:txBody>
      </p:sp>
      <p:cxnSp>
        <p:nvCxnSpPr>
          <p:cNvPr id="31" name="Connector 30"/>
          <p:cNvCxnSpPr/>
          <p:nvPr/>
        </p:nvCxnSpPr>
        <p:spPr>
          <a:xfrm>
            <a:off x="6327648" y="4270248"/>
            <a:ext cx="2304288" cy="0"/>
          </a:xfrm>
          <a:prstGeom prst="line">
            <a:avLst/>
          </a:prstGeom>
          <a:ln w="9525">
            <a:solidFill>
              <a:srgbClr val="E8E9EE"/>
            </a:solidFill>
          </a:ln>
          <a:effectLst/>
        </p:spPr>
      </p:cxnSp>
      <p:sp>
        <p:nvSpPr>
          <p:cNvPr id="32" name="TextBox 31"/>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6 live public products</a:t>
            </a:r>
          </a:p>
        </p:txBody>
      </p:sp>
      <p:sp>
        <p:nvSpPr>
          <p:cNvPr id="33" name="TextBox 32"/>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0E8A8A"/>
                </a:solidFill>
                <a:latin typeface="Montserrat"/>
              </a:rPr>
              <a:t>6 live public products</a:t>
            </a:r>
          </a:p>
        </p:txBody>
      </p:sp>
      <p:sp>
        <p:nvSpPr>
          <p:cNvPr id="34" name="TextBox 33"/>
          <p:cNvSpPr txBox="1"/>
          <p:nvPr/>
        </p:nvSpPr>
        <p:spPr>
          <a:xfrm>
            <a:off x="878738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35" name="Rounded Rectangle 34"/>
          <p:cNvSpPr/>
          <p:nvPr/>
        </p:nvSpPr>
        <p:spPr>
          <a:xfrm>
            <a:off x="893368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9116568" y="2258568"/>
            <a:ext cx="475488" cy="475488"/>
          </a:xfrm>
          <a:prstGeom prst="ellipse">
            <a:avLst/>
          </a:prstGeom>
          <a:solidFill>
            <a:srgbClr val="FDF3E3"/>
          </a:solidFill>
          <a:ln>
            <a:noFill/>
          </a:ln>
          <a:effectLst/>
        </p:spPr>
        <p:txBody>
          <a:bodyPr rtlCol="0" anchor="ctr"/>
          <a:lstStyle/>
          <a:p>
            <a:pPr algn="ctr"/>
          </a:p>
        </p:txBody>
      </p:sp>
      <p:pic>
        <p:nvPicPr>
          <p:cNvPr id="37" name="Picture 36" descr="route_E58900_256_2.0.png"/>
          <p:cNvPicPr>
            <a:picLocks noChangeAspect="1"/>
          </p:cNvPicPr>
          <p:nvPr/>
        </p:nvPicPr>
        <p:blipFill>
          <a:blip r:embed="rId5"/>
          <a:stretch>
            <a:fillRect/>
          </a:stretch>
        </p:blipFill>
        <p:spPr>
          <a:xfrm>
            <a:off x="9230685" y="2372685"/>
            <a:ext cx="247253" cy="247253"/>
          </a:xfrm>
          <a:prstGeom prst="rect">
            <a:avLst/>
          </a:prstGeom>
        </p:spPr>
      </p:pic>
      <p:sp>
        <p:nvSpPr>
          <p:cNvPr id="38" name="TextBox 37"/>
          <p:cNvSpPr txBox="1"/>
          <p:nvPr/>
        </p:nvSpPr>
        <p:spPr>
          <a:xfrm>
            <a:off x="911656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4 · Follow-through</a:t>
            </a:r>
          </a:p>
        </p:txBody>
      </p:sp>
      <p:sp>
        <p:nvSpPr>
          <p:cNvPr id="39" name="TextBox 38"/>
          <p:cNvSpPr txBox="1"/>
          <p:nvPr/>
        </p:nvSpPr>
        <p:spPr>
          <a:xfrm>
            <a:off x="911656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Every recommendation tracked publicly to completion.</a:t>
            </a:r>
          </a:p>
        </p:txBody>
      </p:sp>
      <p:cxnSp>
        <p:nvCxnSpPr>
          <p:cNvPr id="40" name="Connector 39"/>
          <p:cNvCxnSpPr/>
          <p:nvPr/>
        </p:nvCxnSpPr>
        <p:spPr>
          <a:xfrm>
            <a:off x="9116568" y="4270248"/>
            <a:ext cx="2304288" cy="0"/>
          </a:xfrm>
          <a:prstGeom prst="line">
            <a:avLst/>
          </a:prstGeom>
          <a:ln w="9525">
            <a:solidFill>
              <a:srgbClr val="E8E9EE"/>
            </a:solidFill>
          </a:ln>
          <a:effectLst/>
        </p:spPr>
      </p:cxnSp>
      <p:sp>
        <p:nvSpPr>
          <p:cNvPr id="41" name="TextBox 40"/>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7 sites fully implemented · 6 more partially</a:t>
            </a:r>
          </a:p>
        </p:txBody>
      </p:sp>
      <p:sp>
        <p:nvSpPr>
          <p:cNvPr id="42" name="TextBox 41"/>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E58900"/>
                </a:solidFill>
                <a:latin typeface="Montserrat"/>
              </a:rPr>
              <a:t>7 sites fully implemented · 6 more partially</a:t>
            </a:r>
          </a:p>
        </p:txBody>
      </p:sp>
      <p:sp>
        <p:nvSpPr>
          <p:cNvPr id="43" name="Rounded Rectangle 42"/>
          <p:cNvSpPr/>
          <p:nvPr/>
        </p:nvSpPr>
        <p:spPr>
          <a:xfrm>
            <a:off x="566928" y="5257800"/>
            <a:ext cx="11057839" cy="640080"/>
          </a:xfrm>
          <a:prstGeom prst="roundRect">
            <a:avLst>
              <a:gd name="adj" fmla="val 14000"/>
            </a:avLst>
          </a:prstGeom>
          <a:solidFill>
            <a:srgbClr val="F7F7FA"/>
          </a:solidFill>
          <a:ln>
            <a:noFill/>
          </a:ln>
          <a:effectLst/>
        </p:spPr>
        <p:txBody>
          <a:bodyPr rtlCol="0" anchor="ctr"/>
          <a:lstStyle/>
          <a:p>
            <a:pPr algn="ctr"/>
          </a:p>
        </p:txBody>
      </p:sp>
      <p:sp>
        <p:nvSpPr>
          <p:cNvPr id="44" name="TextBox 43"/>
          <p:cNvSpPr txBox="1"/>
          <p:nvPr/>
        </p:nvSpPr>
        <p:spPr>
          <a:xfrm>
            <a:off x="795528" y="5358384"/>
            <a:ext cx="10600639" cy="457200"/>
          </a:xfrm>
          <a:prstGeom prst="rect">
            <a:avLst/>
          </a:prstGeom>
          <a:noFill/>
        </p:spPr>
        <p:txBody>
          <a:bodyPr wrap="square" lIns="0" rIns="0" tIns="0" bIns="0" anchor="t">
            <a:spAutoFit/>
          </a:bodyPr>
          <a:lstStyle/>
          <a:p>
            <a:pPr algn="l">
              <a:lnSpc>
                <a:spcPct val="130000"/>
              </a:lnSpc>
            </a:pPr>
            <a:r>
              <a:rPr sz="1100" b="1" i="0">
                <a:solidFill>
                  <a:srgbClr val="16181D"/>
                </a:solidFill>
                <a:latin typeface="Geist"/>
              </a:rPr>
              <a:t>We do not replace the system and we do not campaign against it. </a:t>
            </a:r>
            <a:r>
              <a:rPr sz="1100" b="0" i="0">
                <a:solidFill>
                  <a:srgbClr val="6E7180"/>
                </a:solidFill>
                <a:latin typeface="Geist"/>
              </a:rPr>
              <a:t>We add hands, evidence and tools to work the system has already committed to.</a:t>
            </a:r>
          </a:p>
        </p:txBody>
      </p:sp>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WHY WORKING GROUP 5</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Why Working Group 5, </a:t>
            </a:r>
            <a:r>
              <a:rPr sz="2250" b="1" i="0">
                <a:solidFill>
                  <a:srgbClr val="4A35FF"/>
                </a:solidFill>
                <a:latin typeface="Montserrat"/>
              </a:rPr>
              <a:t>and what we bring to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Group's mandate matches the deepest part of our portfolio. Three focus areas where we are ready on day one.</a:t>
            </a:r>
          </a:p>
        </p:txBody>
      </p:sp>
      <p:sp>
        <p:nvSpPr>
          <p:cNvPr id="8" name="Oval 7"/>
          <p:cNvSpPr/>
          <p:nvPr/>
        </p:nvSpPr>
        <p:spPr>
          <a:xfrm>
            <a:off x="566928" y="2011680"/>
            <a:ext cx="365760" cy="365760"/>
          </a:xfrm>
          <a:prstGeom prst="ellipse">
            <a:avLst/>
          </a:prstGeom>
          <a:solidFill>
            <a:srgbClr val="EFEDFF"/>
          </a:solidFill>
          <a:ln>
            <a:noFill/>
          </a:ln>
          <a:effectLst/>
        </p:spPr>
        <p:txBody>
          <a:bodyPr rtlCol="0" anchor="ctr"/>
          <a:lstStyle/>
          <a:p>
            <a:pPr algn="ctr"/>
          </a:p>
        </p:txBody>
      </p:sp>
      <p:pic>
        <p:nvPicPr>
          <p:cNvPr id="9" name="Picture 8" descr="banknote_4A35FF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Clearing the compensation pipeline</a:t>
            </a:r>
          </a:p>
        </p:txBody>
      </p:sp>
      <p:sp>
        <p:nvSpPr>
          <p:cNvPr id="11" name="TextBox 10"/>
          <p:cNvSpPr txBox="1"/>
          <p:nvPr/>
        </p:nvSpPr>
        <p:spPr>
          <a:xfrm>
            <a:off x="3566160" y="199339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Pendency is measured in years and thousands of crores. Our district work shows exactly where files stall, and how visibility clears them.</a:t>
            </a:r>
          </a:p>
        </p:txBody>
      </p:sp>
      <p:sp>
        <p:nvSpPr>
          <p:cNvPr id="12" name="Oval 11"/>
          <p:cNvSpPr/>
          <p:nvPr/>
        </p:nvSpPr>
        <p:spPr>
          <a:xfrm>
            <a:off x="566928" y="2907792"/>
            <a:ext cx="365760" cy="365760"/>
          </a:xfrm>
          <a:prstGeom prst="ellipse">
            <a:avLst/>
          </a:prstGeom>
          <a:solidFill>
            <a:srgbClr val="E9F7F0"/>
          </a:solidFill>
          <a:ln>
            <a:noFill/>
          </a:ln>
          <a:effectLst/>
        </p:spPr>
        <p:txBody>
          <a:bodyPr rtlCol="0" anchor="ctr"/>
          <a:lstStyle/>
          <a:p>
            <a:pPr algn="ctr"/>
          </a:p>
        </p:txBody>
      </p:sp>
      <p:pic>
        <p:nvPicPr>
          <p:cNvPr id="13" name="Picture 12" descr="bot_0A9955_256_2.0.png"/>
          <p:cNvPicPr>
            <a:picLocks noChangeAspect="1"/>
          </p:cNvPicPr>
          <p:nvPr/>
        </p:nvPicPr>
        <p:blipFill>
          <a:blip r:embed="rId3"/>
          <a:stretch>
            <a:fillRect/>
          </a:stretch>
        </p:blipFill>
        <p:spPr>
          <a:xfrm>
            <a:off x="654710" y="2995574"/>
            <a:ext cx="190195" cy="190195"/>
          </a:xfrm>
          <a:prstGeom prst="rect">
            <a:avLst/>
          </a:prstGeom>
        </p:spPr>
      </p:pic>
      <p:sp>
        <p:nvSpPr>
          <p:cNvPr id="14" name="TextBox 13"/>
          <p:cNvSpPr txBox="1"/>
          <p:nvPr/>
        </p:nvSpPr>
        <p:spPr>
          <a:xfrm>
            <a:off x="1097280" y="288950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Victim-facing standards &amp; tools</a:t>
            </a:r>
          </a:p>
        </p:txBody>
      </p:sp>
      <p:sp>
        <p:nvSpPr>
          <p:cNvPr id="15" name="TextBox 14"/>
          <p:cNvSpPr txBox="1"/>
          <p:nvPr/>
        </p:nvSpPr>
        <p:spPr>
          <a:xfrm>
            <a:off x="3566160" y="288950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Aasha, the calculator, guides and helpdesks, working models for the citizen-facing standards WG-5 will set.</a:t>
            </a:r>
          </a:p>
        </p:txBody>
      </p:sp>
      <p:sp>
        <p:nvSpPr>
          <p:cNvPr id="16" name="Oval 15"/>
          <p:cNvSpPr/>
          <p:nvPr/>
        </p:nvSpPr>
        <p:spPr>
          <a:xfrm>
            <a:off x="566928" y="3803904"/>
            <a:ext cx="365760" cy="365760"/>
          </a:xfrm>
          <a:prstGeom prst="ellipse">
            <a:avLst/>
          </a:prstGeom>
          <a:solidFill>
            <a:srgbClr val="E7F4F4"/>
          </a:solidFill>
          <a:ln>
            <a:noFill/>
          </a:ln>
          <a:effectLst/>
        </p:spPr>
        <p:txBody>
          <a:bodyPr rtlCol="0" anchor="ctr"/>
          <a:lstStyle/>
          <a:p>
            <a:pPr algn="ctr"/>
          </a:p>
        </p:txBody>
      </p:sp>
      <p:pic>
        <p:nvPicPr>
          <p:cNvPr id="17" name="Picture 16" descr="stethoscope_0E8A8A_256_2.0.png"/>
          <p:cNvPicPr>
            <a:picLocks noChangeAspect="1"/>
          </p:cNvPicPr>
          <p:nvPr/>
        </p:nvPicPr>
        <p:blipFill>
          <a:blip r:embed="rId4"/>
          <a:stretch>
            <a:fillRect/>
          </a:stretch>
        </p:blipFill>
        <p:spPr>
          <a:xfrm>
            <a:off x="654710" y="3891686"/>
            <a:ext cx="190195" cy="190195"/>
          </a:xfrm>
          <a:prstGeom prst="rect">
            <a:avLst/>
          </a:prstGeom>
        </p:spPr>
      </p:pic>
      <p:sp>
        <p:nvSpPr>
          <p:cNvPr id="18" name="TextBox 17"/>
          <p:cNvSpPr txBox="1"/>
          <p:nvPr/>
        </p:nvSpPr>
        <p:spPr>
          <a:xfrm>
            <a:off x="1097280" y="37856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EMS &amp; trauma-care evidence</a:t>
            </a:r>
          </a:p>
        </p:txBody>
      </p:sp>
      <p:sp>
        <p:nvSpPr>
          <p:cNvPr id="19" name="TextBox 18"/>
          <p:cNvSpPr txBox="1"/>
          <p:nvPr/>
        </p:nvSpPr>
        <p:spPr>
          <a:xfrm>
            <a:off x="3566160" y="378561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Pre-Hospital Care Primer benchmarks ERSS-112 and documents state innovations, a ready baseline for care standards.</a:t>
            </a:r>
          </a:p>
        </p:txBody>
      </p:sp>
      <p:sp>
        <p:nvSpPr>
          <p:cNvPr id="20" name="TextBox 19"/>
          <p:cNvSpPr txBox="1"/>
          <p:nvPr/>
        </p:nvSpPr>
        <p:spPr>
          <a:xfrm>
            <a:off x="7452360" y="1920240"/>
            <a:ext cx="402336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EXISTING CAPABILITIES WE PUT ON THE TABLE</a:t>
            </a:r>
          </a:p>
        </p:txBody>
      </p:sp>
      <p:sp>
        <p:nvSpPr>
          <p:cNvPr id="21" name="Rounded Rectangle 20"/>
          <p:cNvSpPr/>
          <p:nvPr/>
        </p:nvSpPr>
        <p:spPr>
          <a:xfrm>
            <a:off x="7452360"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470648"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Justice Unserved evidence</a:t>
            </a:r>
          </a:p>
        </p:txBody>
      </p:sp>
      <p:sp>
        <p:nvSpPr>
          <p:cNvPr id="23" name="Rounded Rectangle 22"/>
          <p:cNvSpPr/>
          <p:nvPr/>
        </p:nvSpPr>
        <p:spPr>
          <a:xfrm>
            <a:off x="9573768"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92056"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Rajasthan portal blueprint</a:t>
            </a:r>
          </a:p>
        </p:txBody>
      </p:sp>
      <p:sp>
        <p:nvSpPr>
          <p:cNvPr id="25" name="Rounded Rectangle 24"/>
          <p:cNvSpPr/>
          <p:nvPr/>
        </p:nvSpPr>
        <p:spPr>
          <a:xfrm>
            <a:off x="7452360"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6" name="TextBox 25"/>
          <p:cNvSpPr txBox="1"/>
          <p:nvPr/>
        </p:nvSpPr>
        <p:spPr>
          <a:xfrm>
            <a:off x="7470648"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4 DRSC working seats</a:t>
            </a:r>
          </a:p>
        </p:txBody>
      </p:sp>
      <p:sp>
        <p:nvSpPr>
          <p:cNvPr id="27" name="Rounded Rectangle 26"/>
          <p:cNvSpPr/>
          <p:nvPr/>
        </p:nvSpPr>
        <p:spPr>
          <a:xfrm>
            <a:off x="9573768"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8" name="TextBox 27"/>
          <p:cNvSpPr txBox="1"/>
          <p:nvPr/>
        </p:nvSpPr>
        <p:spPr>
          <a:xfrm>
            <a:off x="9592056"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Legal bench: MACT + DLSA</a:t>
            </a:r>
          </a:p>
        </p:txBody>
      </p:sp>
      <p:sp>
        <p:nvSpPr>
          <p:cNvPr id="29" name="Rounded Rectangle 28"/>
          <p:cNvSpPr/>
          <p:nvPr/>
        </p:nvSpPr>
        <p:spPr>
          <a:xfrm>
            <a:off x="7452360"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7470648"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Aasha + calculator live</a:t>
            </a:r>
          </a:p>
        </p:txBody>
      </p:sp>
      <p:sp>
        <p:nvSpPr>
          <p:cNvPr id="31" name="Rounded Rectangle 30"/>
          <p:cNvSpPr/>
          <p:nvPr/>
        </p:nvSpPr>
        <p:spPr>
          <a:xfrm>
            <a:off x="9573768"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2" name="TextBox 31"/>
          <p:cNvSpPr txBox="1"/>
          <p:nvPr/>
        </p:nvSpPr>
        <p:spPr>
          <a:xfrm>
            <a:off x="9592056"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Trauma-ward helpdesks</a:t>
            </a:r>
          </a:p>
        </p:txBody>
      </p:sp>
      <p:sp>
        <p:nvSpPr>
          <p:cNvPr id="33" name="TextBox 32"/>
          <p:cNvSpPr txBox="1"/>
          <p:nvPr/>
        </p:nvSpPr>
        <p:spPr>
          <a:xfrm>
            <a:off x="566928" y="4709160"/>
            <a:ext cx="1097280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SUBJECT-MATTER EXPERTS ALREADY ENGAGED ON THIS AGENDA</a:t>
            </a:r>
          </a:p>
        </p:txBody>
      </p:sp>
      <p:sp>
        <p:nvSpPr>
          <p:cNvPr id="34" name="Rounded Rectangle 33"/>
          <p:cNvSpPr/>
          <p:nvPr/>
        </p:nvSpPr>
        <p:spPr>
          <a:xfrm>
            <a:off x="566928"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35" name="Picture 34" descr="x_pp_midha.png"/>
          <p:cNvPicPr>
            <a:picLocks noChangeAspect="1"/>
          </p:cNvPicPr>
          <p:nvPr/>
        </p:nvPicPr>
        <p:blipFill>
          <a:blip r:embed="rId5"/>
          <a:stretch>
            <a:fillRect/>
          </a:stretch>
        </p:blipFill>
        <p:spPr>
          <a:xfrm>
            <a:off x="676656" y="5138928"/>
            <a:ext cx="777240" cy="777240"/>
          </a:xfrm>
          <a:prstGeom prst="rect">
            <a:avLst/>
          </a:prstGeom>
        </p:spPr>
      </p:pic>
      <p:sp>
        <p:nvSpPr>
          <p:cNvPr id="36" name="TextBox 35"/>
          <p:cNvSpPr txBox="1"/>
          <p:nvPr/>
        </p:nvSpPr>
        <p:spPr>
          <a:xfrm>
            <a:off x="1536192"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Justice J.R. Midha</a:t>
            </a:r>
          </a:p>
        </p:txBody>
      </p:sp>
      <p:sp>
        <p:nvSpPr>
          <p:cNvPr id="37" name="TextBox 36"/>
          <p:cNvSpPr txBox="1"/>
          <p:nvPr/>
        </p:nvSpPr>
        <p:spPr>
          <a:xfrm>
            <a:off x="1536192"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Retd., Delhi HC · MACT process architect</a:t>
            </a:r>
          </a:p>
        </p:txBody>
      </p:sp>
      <p:sp>
        <p:nvSpPr>
          <p:cNvPr id="38" name="Rounded Rectangle 37"/>
          <p:cNvSpPr/>
          <p:nvPr/>
        </p:nvSpPr>
        <p:spPr>
          <a:xfrm>
            <a:off x="2794955" y="4983480"/>
            <a:ext cx="2145731" cy="1097280"/>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2904683" y="5138928"/>
            <a:ext cx="777240" cy="777240"/>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2904683" y="5120640"/>
            <a:ext cx="777240" cy="822960"/>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PT</a:t>
            </a:r>
          </a:p>
        </p:txBody>
      </p:sp>
      <p:sp>
        <p:nvSpPr>
          <p:cNvPr id="41" name="TextBox 40"/>
          <p:cNvSpPr txBox="1"/>
          <p:nvPr/>
        </p:nvSpPr>
        <p:spPr>
          <a:xfrm>
            <a:off x="3764219"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Piyush Tewari</a:t>
            </a:r>
          </a:p>
        </p:txBody>
      </p:sp>
      <p:sp>
        <p:nvSpPr>
          <p:cNvPr id="42" name="TextBox 41"/>
          <p:cNvSpPr txBox="1"/>
          <p:nvPr/>
        </p:nvSpPr>
        <p:spPr>
          <a:xfrm>
            <a:off x="3764219"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SaveLIFE Foundation · Good Samaritan Law</a:t>
            </a:r>
          </a:p>
        </p:txBody>
      </p:sp>
      <p:sp>
        <p:nvSpPr>
          <p:cNvPr id="43" name="Rounded Rectangle 42"/>
          <p:cNvSpPr/>
          <p:nvPr/>
        </p:nvSpPr>
        <p:spPr>
          <a:xfrm>
            <a:off x="5022982"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4" name="Picture 43" descr="x_sagar.png"/>
          <p:cNvPicPr>
            <a:picLocks noChangeAspect="1"/>
          </p:cNvPicPr>
          <p:nvPr/>
        </p:nvPicPr>
        <p:blipFill>
          <a:blip r:embed="rId6"/>
          <a:stretch>
            <a:fillRect/>
          </a:stretch>
        </p:blipFill>
        <p:spPr>
          <a:xfrm>
            <a:off x="5132710" y="5138928"/>
            <a:ext cx="777240" cy="777240"/>
          </a:xfrm>
          <a:prstGeom prst="rect">
            <a:avLst/>
          </a:prstGeom>
        </p:spPr>
      </p:pic>
      <p:sp>
        <p:nvSpPr>
          <p:cNvPr id="45" name="TextBox 44"/>
          <p:cNvSpPr txBox="1"/>
          <p:nvPr/>
        </p:nvSpPr>
        <p:spPr>
          <a:xfrm>
            <a:off x="5992246"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Dr. Sushma Sagar</a:t>
            </a:r>
          </a:p>
        </p:txBody>
      </p:sp>
      <p:sp>
        <p:nvSpPr>
          <p:cNvPr id="46" name="TextBox 45"/>
          <p:cNvSpPr txBox="1"/>
          <p:nvPr/>
        </p:nvSpPr>
        <p:spPr>
          <a:xfrm>
            <a:off x="5992246"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Prof. &amp; In-charge, Trauma Surgery, JPN Apex Trauma Centre, AIIMS</a:t>
            </a:r>
          </a:p>
        </p:txBody>
      </p:sp>
      <p:sp>
        <p:nvSpPr>
          <p:cNvPr id="47" name="Rounded Rectangle 46"/>
          <p:cNvSpPr/>
          <p:nvPr/>
        </p:nvSpPr>
        <p:spPr>
          <a:xfrm>
            <a:off x="7251009"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8" name="Picture 47" descr="x_tandon.png"/>
          <p:cNvPicPr>
            <a:picLocks noChangeAspect="1"/>
          </p:cNvPicPr>
          <p:nvPr/>
        </p:nvPicPr>
        <p:blipFill>
          <a:blip r:embed="rId7"/>
          <a:stretch>
            <a:fillRect/>
          </a:stretch>
        </p:blipFill>
        <p:spPr>
          <a:xfrm>
            <a:off x="7360737" y="5138928"/>
            <a:ext cx="777240" cy="777240"/>
          </a:xfrm>
          <a:prstGeom prst="rect">
            <a:avLst/>
          </a:prstGeom>
        </p:spPr>
      </p:pic>
      <p:sp>
        <p:nvSpPr>
          <p:cNvPr id="49" name="TextBox 48"/>
          <p:cNvSpPr txBox="1"/>
          <p:nvPr/>
        </p:nvSpPr>
        <p:spPr>
          <a:xfrm>
            <a:off x="8220273"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Dr. Maya Tandon</a:t>
            </a:r>
          </a:p>
        </p:txBody>
      </p:sp>
      <p:sp>
        <p:nvSpPr>
          <p:cNvPr id="50" name="TextBox 49"/>
          <p:cNvSpPr txBox="1"/>
          <p:nvPr/>
        </p:nvSpPr>
        <p:spPr>
          <a:xfrm>
            <a:off x="8220273"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Sahayta Trust · trauma-response pioneer</a:t>
            </a:r>
          </a:p>
        </p:txBody>
      </p:sp>
      <p:sp>
        <p:nvSpPr>
          <p:cNvPr id="51" name="Rounded Rectangle 50"/>
          <p:cNvSpPr/>
          <p:nvPr/>
        </p:nvSpPr>
        <p:spPr>
          <a:xfrm>
            <a:off x="9479036"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52" name="Picture 51" descr="x_pp_mishika.png"/>
          <p:cNvPicPr>
            <a:picLocks noChangeAspect="1"/>
          </p:cNvPicPr>
          <p:nvPr/>
        </p:nvPicPr>
        <p:blipFill>
          <a:blip r:embed="rId8"/>
          <a:stretch>
            <a:fillRect/>
          </a:stretch>
        </p:blipFill>
        <p:spPr>
          <a:xfrm>
            <a:off x="9588764" y="5138928"/>
            <a:ext cx="777240" cy="777240"/>
          </a:xfrm>
          <a:prstGeom prst="rect">
            <a:avLst/>
          </a:prstGeom>
        </p:spPr>
      </p:pic>
      <p:sp>
        <p:nvSpPr>
          <p:cNvPr id="53" name="TextBox 52"/>
          <p:cNvSpPr txBox="1"/>
          <p:nvPr/>
        </p:nvSpPr>
        <p:spPr>
          <a:xfrm>
            <a:off x="10448300"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Mishika Singh</a:t>
            </a:r>
          </a:p>
        </p:txBody>
      </p:sp>
      <p:sp>
        <p:nvSpPr>
          <p:cNvPr id="54" name="TextBox 53"/>
          <p:cNvSpPr txBox="1"/>
          <p:nvPr/>
        </p:nvSpPr>
        <p:spPr>
          <a:xfrm>
            <a:off x="10448300"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Neev Foundation · legal helpdesks</a:t>
            </a:r>
          </a:p>
        </p:txBody>
      </p:sp>
      <p:cxnSp>
        <p:nvCxnSpPr>
          <p:cNvPr id="55" name="Connector 54"/>
          <p:cNvCxnSpPr/>
          <p:nvPr/>
        </p:nvCxnSpPr>
        <p:spPr>
          <a:xfrm>
            <a:off x="566928" y="6455664"/>
            <a:ext cx="11057839" cy="0"/>
          </a:xfrm>
          <a:prstGeom prst="line">
            <a:avLst/>
          </a:prstGeom>
          <a:ln w="9525">
            <a:solidFill>
              <a:srgbClr val="E8E9EE"/>
            </a:solidFill>
          </a:ln>
          <a:effectLst/>
        </p:spPr>
      </p:cxnSp>
      <p:sp>
        <p:nvSpPr>
          <p:cNvPr id="56" name="TextBox 5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7" name="TextBox 5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42.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platforms, each turning a scattered public record into structured, citable evidence. The two trackers are shown live, as captured this week.</a:t>
            </a:r>
          </a:p>
        </p:txBody>
      </p:sp>
      <p:pic>
        <p:nvPicPr>
          <p:cNvPr id="8" name="Picture 7" descr="parliament_live.png_6.00x2.62_0.00.jpg"/>
          <p:cNvPicPr>
            <a:picLocks noChangeAspect="1"/>
          </p:cNvPicPr>
          <p:nvPr/>
        </p:nvPicPr>
        <p:blipFill>
          <a:blip r:embed="rId2"/>
          <a:stretch>
            <a:fillRect/>
          </a:stretch>
        </p:blipFill>
        <p:spPr>
          <a:xfrm>
            <a:off x="566928" y="1938528"/>
            <a:ext cx="5486400" cy="2395728"/>
          </a:xfrm>
          <a:prstGeom prst="rect">
            <a:avLst/>
          </a:prstGeom>
        </p:spPr>
      </p:pic>
      <p:sp>
        <p:nvSpPr>
          <p:cNvPr id="9" name="Rectangle 8"/>
          <p:cNvSpPr/>
          <p:nvPr/>
        </p:nvSpPr>
        <p:spPr>
          <a:xfrm>
            <a:off x="566928" y="1938528"/>
            <a:ext cx="5486400" cy="2395728"/>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275 of 540 sitting Lok Sabha MPs have never asked one.</a:t>
            </a:r>
          </a:p>
        </p:txBody>
      </p:sp>
      <p:pic>
        <p:nvPicPr>
          <p:cNvPr id="11" name="Picture 10" descr="sctracker.png_6.00x2.62_0.00.jpg"/>
          <p:cNvPicPr>
            <a:picLocks noChangeAspect="1"/>
          </p:cNvPicPr>
          <p:nvPr/>
        </p:nvPicPr>
        <p:blipFill>
          <a:blip r:embed="rId3"/>
          <a:stretch>
            <a:fillRect/>
          </a:stretch>
        </p:blipFill>
        <p:spPr>
          <a:xfrm>
            <a:off x="6144768" y="1938528"/>
            <a:ext cx="5486400" cy="2395728"/>
          </a:xfrm>
          <a:prstGeom prst="rect">
            <a:avLst/>
          </a:prstGeom>
        </p:spPr>
      </p:pic>
      <p:sp>
        <p:nvSpPr>
          <p:cNvPr id="12" name="Rectangle 11"/>
          <p:cNvSpPr/>
          <p:nvPr/>
        </p:nvSpPr>
        <p:spPr>
          <a:xfrm>
            <a:off x="6144768" y="1938528"/>
            <a:ext cx="5486400" cy="239572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614476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Supreme Court Litigation Tracker: 20 systemic cases, 191 orders indexed, 30 precedent judgments. Refreshes every Tuesday.</a:t>
            </a:r>
          </a:p>
        </p:txBody>
      </p:sp>
      <p:sp>
        <p:nvSpPr>
          <p:cNvPr id="14" name="Rounded Rectangle 13"/>
          <p:cNvSpPr/>
          <p:nvPr/>
        </p:nvSpPr>
        <p:spPr>
          <a:xfrm>
            <a:off x="56692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13232" y="5102352"/>
            <a:ext cx="365760" cy="365760"/>
          </a:xfrm>
          <a:prstGeom prst="ellipse">
            <a:avLst/>
          </a:prstGeom>
          <a:solidFill>
            <a:srgbClr val="E7F4F4"/>
          </a:solidFill>
          <a:ln>
            <a:noFill/>
          </a:ln>
          <a:effectLst/>
        </p:spPr>
        <p:txBody>
          <a:bodyPr rtlCol="0" anchor="ctr"/>
          <a:lstStyle/>
          <a:p>
            <a:pPr algn="ctr"/>
          </a:p>
        </p:txBody>
      </p:sp>
      <p:pic>
        <p:nvPicPr>
          <p:cNvPr id="16" name="Picture 15" descr="database_0E8A8A_256_2.0.png"/>
          <p:cNvPicPr>
            <a:picLocks noChangeAspect="1"/>
          </p:cNvPicPr>
          <p:nvPr/>
        </p:nvPicPr>
        <p:blipFill>
          <a:blip r:embed="rId4"/>
          <a:stretch>
            <a:fillRect/>
          </a:stretch>
        </p:blipFill>
        <p:spPr>
          <a:xfrm>
            <a:off x="801014" y="5190134"/>
            <a:ext cx="190195" cy="190195"/>
          </a:xfrm>
          <a:prstGeom prst="rect">
            <a:avLst/>
          </a:prstGeom>
        </p:spPr>
      </p:pic>
      <p:sp>
        <p:nvSpPr>
          <p:cNvPr id="17" name="TextBox 16"/>
          <p:cNvSpPr txBox="1"/>
          <p:nvPr/>
        </p:nvSpPr>
        <p:spPr>
          <a:xfrm>
            <a:off x="118872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Road-Infrastructure Defect Repository</a:t>
            </a:r>
          </a:p>
        </p:txBody>
      </p:sp>
      <p:sp>
        <p:nvSpPr>
          <p:cNvPr id="18" name="Rounded Rectangle 17"/>
          <p:cNvSpPr/>
          <p:nvPr/>
        </p:nvSpPr>
        <p:spPr>
          <a:xfrm>
            <a:off x="4572000" y="5093208"/>
            <a:ext cx="1353312" cy="292608"/>
          </a:xfrm>
          <a:prstGeom prst="roundRect">
            <a:avLst>
              <a:gd name="adj" fmla="val 50000"/>
            </a:avLst>
          </a:prstGeom>
          <a:solidFill>
            <a:srgbClr val="E7F4F4"/>
          </a:solidFill>
          <a:ln>
            <a:noFill/>
          </a:ln>
          <a:effectLst/>
        </p:spPr>
        <p:txBody>
          <a:bodyPr rtlCol="0" anchor="ctr"/>
          <a:lstStyle/>
          <a:p>
            <a:pPr algn="ctr"/>
          </a:p>
        </p:txBody>
      </p:sp>
      <p:sp>
        <p:nvSpPr>
          <p:cNvPr id="19" name="TextBox 18"/>
          <p:cNvSpPr txBox="1"/>
          <p:nvPr/>
        </p:nvSpPr>
        <p:spPr>
          <a:xfrm>
            <a:off x="4590288" y="5093208"/>
            <a:ext cx="1316736" cy="292608"/>
          </a:xfrm>
          <a:prstGeom prst="rect">
            <a:avLst/>
          </a:prstGeom>
          <a:noFill/>
        </p:spPr>
        <p:txBody>
          <a:bodyPr wrap="square" lIns="0" rIns="0" tIns="0" bIns="0" anchor="ctr">
            <a:spAutoFit/>
          </a:bodyPr>
          <a:lstStyle/>
          <a:p>
            <a:pPr algn="ctr">
              <a:lnSpc>
                <a:spcPct val="100000"/>
              </a:lnSpc>
            </a:pPr>
            <a:r>
              <a:rPr sz="700" b="1" i="0">
                <a:solidFill>
                  <a:srgbClr val="0E8A8A"/>
                </a:solidFill>
                <a:latin typeface="Montserrat"/>
              </a:rPr>
              <a:t>DAILY · 07:00 IST</a:t>
            </a:r>
          </a:p>
        </p:txBody>
      </p:sp>
      <p:sp>
        <p:nvSpPr>
          <p:cNvPr id="20" name="TextBox 19"/>
          <p:cNvSpPr txBox="1"/>
          <p:nvPr/>
        </p:nvSpPr>
        <p:spPr>
          <a:xfrm>
            <a:off x="71323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An AI pipeline reads local-language news from 146 districts every morning and turns road-defect reports, potholes, missing signage, unlit stretches, into structured, mapped evidence.</a:t>
            </a:r>
          </a:p>
        </p:txBody>
      </p:sp>
      <p:pic>
        <p:nvPicPr>
          <p:cNvPr id="21" name="Picture 20" descr="strip_defect.png"/>
          <p:cNvPicPr>
            <a:picLocks noChangeAspect="1"/>
          </p:cNvPicPr>
          <p:nvPr/>
        </p:nvPicPr>
        <p:blipFill>
          <a:blip r:embed="rId5"/>
          <a:stretch>
            <a:fillRect/>
          </a:stretch>
        </p:blipFill>
        <p:spPr>
          <a:xfrm>
            <a:off x="4059936" y="5522976"/>
            <a:ext cx="1847088" cy="349372"/>
          </a:xfrm>
          <a:prstGeom prst="rect">
            <a:avLst/>
          </a:prstGeom>
        </p:spPr>
      </p:pic>
      <p:sp>
        <p:nvSpPr>
          <p:cNvPr id="22" name="Rounded Rectangle 21"/>
          <p:cNvSpPr/>
          <p:nvPr/>
        </p:nvSpPr>
        <p:spPr>
          <a:xfrm>
            <a:off x="614476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3" name="Oval 22"/>
          <p:cNvSpPr/>
          <p:nvPr/>
        </p:nvSpPr>
        <p:spPr>
          <a:xfrm>
            <a:off x="6291072" y="5102352"/>
            <a:ext cx="365760" cy="365760"/>
          </a:xfrm>
          <a:prstGeom prst="ellipse">
            <a:avLst/>
          </a:prstGeom>
          <a:solidFill>
            <a:srgbClr val="FDF3E3"/>
          </a:solidFill>
          <a:ln>
            <a:noFill/>
          </a:ln>
          <a:effectLst/>
        </p:spPr>
        <p:txBody>
          <a:bodyPr rtlCol="0" anchor="ctr"/>
          <a:lstStyle/>
          <a:p>
            <a:pPr algn="ctr"/>
          </a:p>
        </p:txBody>
      </p:sp>
      <p:pic>
        <p:nvPicPr>
          <p:cNvPr id="24" name="Picture 23" descr="bar-chart-3_E58900_256_2.0.png"/>
          <p:cNvPicPr>
            <a:picLocks noChangeAspect="1"/>
          </p:cNvPicPr>
          <p:nvPr/>
        </p:nvPicPr>
        <p:blipFill>
          <a:blip r:embed="rId6"/>
          <a:stretch>
            <a:fillRect/>
          </a:stretch>
        </p:blipFill>
        <p:spPr>
          <a:xfrm>
            <a:off x="6378854" y="5190134"/>
            <a:ext cx="190195" cy="190195"/>
          </a:xfrm>
          <a:prstGeom prst="rect">
            <a:avLst/>
          </a:prstGeom>
        </p:spPr>
      </p:pic>
      <p:sp>
        <p:nvSpPr>
          <p:cNvPr id="25" name="TextBox 24"/>
          <p:cNvSpPr txBox="1"/>
          <p:nvPr/>
        </p:nvSpPr>
        <p:spPr>
          <a:xfrm>
            <a:off x="676656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26" name="Rounded Rectangle 25"/>
          <p:cNvSpPr/>
          <p:nvPr/>
        </p:nvSpPr>
        <p:spPr>
          <a:xfrm>
            <a:off x="10149840" y="5093208"/>
            <a:ext cx="1353312" cy="292608"/>
          </a:xfrm>
          <a:prstGeom prst="roundRect">
            <a:avLst>
              <a:gd name="adj" fmla="val 50000"/>
            </a:avLst>
          </a:prstGeom>
          <a:solidFill>
            <a:srgbClr val="FDF3E3"/>
          </a:solidFill>
          <a:ln>
            <a:noFill/>
          </a:ln>
          <a:effectLst/>
        </p:spPr>
        <p:txBody>
          <a:bodyPr rtlCol="0" anchor="ctr"/>
          <a:lstStyle/>
          <a:p>
            <a:pPr algn="ctr"/>
          </a:p>
        </p:txBody>
      </p:sp>
      <p:sp>
        <p:nvSpPr>
          <p:cNvPr id="27" name="TextBox 26"/>
          <p:cNvSpPr txBox="1"/>
          <p:nvPr/>
        </p:nvSpPr>
        <p:spPr>
          <a:xfrm>
            <a:off x="10168128" y="5093208"/>
            <a:ext cx="1316736" cy="292608"/>
          </a:xfrm>
          <a:prstGeom prst="rect">
            <a:avLst/>
          </a:prstGeom>
          <a:noFill/>
        </p:spPr>
        <p:txBody>
          <a:bodyPr wrap="square" lIns="0" rIns="0" tIns="0" bIns="0" anchor="ctr">
            <a:spAutoFit/>
          </a:bodyPr>
          <a:lstStyle/>
          <a:p>
            <a:pPr algn="ctr">
              <a:lnSpc>
                <a:spcPct val="100000"/>
              </a:lnSpc>
            </a:pPr>
            <a:r>
              <a:rPr sz="700" b="1" i="0">
                <a:solidFill>
                  <a:srgbClr val="E58900"/>
                </a:solidFill>
                <a:latin typeface="Montserrat"/>
              </a:rPr>
              <a:t>ANNUAL · OPEN DATA</a:t>
            </a:r>
          </a:p>
        </p:txBody>
      </p:sp>
      <p:sp>
        <p:nvSpPr>
          <p:cNvPr id="28" name="TextBox 27"/>
          <p:cNvSpPr txBox="1"/>
          <p:nvPr/>
        </p:nvSpPr>
        <p:spPr>
          <a:xfrm>
            <a:off x="629107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MoRTH's annual 'Road Accidents in India' books as a usable product: report cards for 36 states and 50 cities, every number reconciled against the printed books, open licence (CC-BY).</a:t>
            </a:r>
          </a:p>
        </p:txBody>
      </p:sp>
      <p:pic>
        <p:nvPicPr>
          <p:cNvPr id="29" name="Picture 28" descr="strip_crash.png"/>
          <p:cNvPicPr>
            <a:picLocks noChangeAspect="1"/>
          </p:cNvPicPr>
          <p:nvPr/>
        </p:nvPicPr>
        <p:blipFill>
          <a:blip r:embed="rId7"/>
          <a:stretch>
            <a:fillRect/>
          </a:stretch>
        </p:blipFill>
        <p:spPr>
          <a:xfrm>
            <a:off x="9637776" y="5522976"/>
            <a:ext cx="1847088" cy="362006"/>
          </a:xfrm>
          <a:prstGeom prst="rect">
            <a:avLst/>
          </a:prstGeom>
        </p:spPr>
      </p:pic>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on WhatsApp, on paper, and in person.</a:t>
            </a:r>
          </a:p>
        </p:txBody>
      </p:sp>
      <p:pic>
        <p:nvPicPr>
          <p:cNvPr id="8" name="Picture 7" descr="ui_aasha_chat.png"/>
          <p:cNvPicPr>
            <a:picLocks noChangeAspect="1"/>
          </p:cNvPicPr>
          <p:nvPr/>
        </p:nvPicPr>
        <p:blipFill>
          <a:blip r:embed="rId2"/>
          <a:stretch>
            <a:fillRect/>
          </a:stretch>
        </p:blipFill>
        <p:spPr>
          <a:xfrm>
            <a:off x="566928" y="1920240"/>
            <a:ext cx="3850544" cy="2834640"/>
          </a:xfrm>
          <a:prstGeom prst="rect">
            <a:avLst/>
          </a:prstGeom>
        </p:spPr>
      </p:pic>
      <p:sp>
        <p:nvSpPr>
          <p:cNvPr id="9" name="Rectangle 8"/>
          <p:cNvSpPr/>
          <p:nvPr/>
        </p:nvSpPr>
        <p:spPr>
          <a:xfrm>
            <a:off x="566928" y="1920240"/>
            <a:ext cx="3850544" cy="283464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800600"/>
            <a:ext cx="385054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Aasha, live on WhatsApp, 24/7, multilingual, step-by-step guidance on rights, schemes and documents.</a:t>
            </a:r>
          </a:p>
        </p:txBody>
      </p:sp>
      <p:sp>
        <p:nvSpPr>
          <p:cNvPr id="11" name="Oval 10"/>
          <p:cNvSpPr/>
          <p:nvPr/>
        </p:nvSpPr>
        <p:spPr>
          <a:xfrm>
            <a:off x="566928" y="5166360"/>
            <a:ext cx="365760" cy="365760"/>
          </a:xfrm>
          <a:prstGeom prst="ellipse">
            <a:avLst/>
          </a:prstGeom>
          <a:solidFill>
            <a:srgbClr val="EFEDFF"/>
          </a:solidFill>
          <a:ln>
            <a:noFill/>
          </a:ln>
          <a:effectLst/>
        </p:spPr>
        <p:txBody>
          <a:bodyPr rtlCol="0" anchor="ctr"/>
          <a:lstStyle/>
          <a:p>
            <a:pPr algn="ctr"/>
          </a:p>
        </p:txBody>
      </p:sp>
      <p:pic>
        <p:nvPicPr>
          <p:cNvPr id="12" name="Picture 11" descr="bot_4A35FF_256_2.0.png"/>
          <p:cNvPicPr>
            <a:picLocks noChangeAspect="1"/>
          </p:cNvPicPr>
          <p:nvPr/>
        </p:nvPicPr>
        <p:blipFill>
          <a:blip r:embed="rId3"/>
          <a:stretch>
            <a:fillRect/>
          </a:stretch>
        </p:blipFill>
        <p:spPr>
          <a:xfrm>
            <a:off x="654710" y="5254142"/>
            <a:ext cx="190195" cy="190195"/>
          </a:xfrm>
          <a:prstGeom prst="rect">
            <a:avLst/>
          </a:prstGeom>
        </p:spPr>
      </p:pic>
      <p:sp>
        <p:nvSpPr>
          <p:cNvPr id="13" name="TextBox 12"/>
          <p:cNvSpPr txBox="1"/>
          <p:nvPr/>
        </p:nvSpPr>
        <p:spPr>
          <a:xfrm>
            <a:off x="1042416" y="5184648"/>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Aasha chatbot, </a:t>
            </a:r>
            <a:r>
              <a:rPr sz="850" b="0" i="0">
                <a:solidFill>
                  <a:srgbClr val="6E7180"/>
                </a:solidFill>
                <a:latin typeface="Geist"/>
              </a:rPr>
              <a:t>India's first AI legal companion for crash victims, no app, no portal, just WhatsApp and voice.</a:t>
            </a:r>
          </a:p>
        </p:txBody>
      </p:sp>
      <p:sp>
        <p:nvSpPr>
          <p:cNvPr id="14" name="Oval 13"/>
          <p:cNvSpPr/>
          <p:nvPr/>
        </p:nvSpPr>
        <p:spPr>
          <a:xfrm>
            <a:off x="6190488" y="5166360"/>
            <a:ext cx="365760" cy="365760"/>
          </a:xfrm>
          <a:prstGeom prst="ellipse">
            <a:avLst/>
          </a:prstGeom>
          <a:solidFill>
            <a:srgbClr val="E7F4F4"/>
          </a:solidFill>
          <a:ln>
            <a:noFill/>
          </a:ln>
          <a:effectLst/>
        </p:spPr>
        <p:txBody>
          <a:bodyPr rtlCol="0" anchor="ctr"/>
          <a:lstStyle/>
          <a:p>
            <a:pPr algn="ctr"/>
          </a:p>
        </p:txBody>
      </p:sp>
      <p:pic>
        <p:nvPicPr>
          <p:cNvPr id="15" name="Picture 14" descr="calculator_0E8A8A_256_2.0.png"/>
          <p:cNvPicPr>
            <a:picLocks noChangeAspect="1"/>
          </p:cNvPicPr>
          <p:nvPr/>
        </p:nvPicPr>
        <p:blipFill>
          <a:blip r:embed="rId4"/>
          <a:stretch>
            <a:fillRect/>
          </a:stretch>
        </p:blipFill>
        <p:spPr>
          <a:xfrm>
            <a:off x="6278270" y="5254142"/>
            <a:ext cx="190195" cy="190195"/>
          </a:xfrm>
          <a:prstGeom prst="rect">
            <a:avLst/>
          </a:prstGeom>
        </p:spPr>
      </p:pic>
      <p:sp>
        <p:nvSpPr>
          <p:cNvPr id="16" name="TextBox 15"/>
          <p:cNvSpPr txBox="1"/>
          <p:nvPr/>
        </p:nvSpPr>
        <p:spPr>
          <a:xfrm>
            <a:off x="6665976" y="5184648"/>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Compensation Calculator, </a:t>
            </a:r>
            <a:r>
              <a:rPr sz="850" b="0" i="0">
                <a:solidFill>
                  <a:srgbClr val="6E7180"/>
                </a:solidFill>
                <a:latin typeface="Geist"/>
              </a:rPr>
              <a:t>Free instant estimates on Supreme Court principles (Sarla Verma, Pranay Sethi).</a:t>
            </a:r>
          </a:p>
        </p:txBody>
      </p:sp>
      <p:sp>
        <p:nvSpPr>
          <p:cNvPr id="17" name="Oval 16"/>
          <p:cNvSpPr/>
          <p:nvPr/>
        </p:nvSpPr>
        <p:spPr>
          <a:xfrm>
            <a:off x="566928" y="5733288"/>
            <a:ext cx="365760" cy="365760"/>
          </a:xfrm>
          <a:prstGeom prst="ellipse">
            <a:avLst/>
          </a:prstGeom>
          <a:solidFill>
            <a:srgbClr val="E9F7F0"/>
          </a:solidFill>
          <a:ln>
            <a:noFill/>
          </a:ln>
          <a:effectLst/>
        </p:spPr>
        <p:txBody>
          <a:bodyPr rtlCol="0" anchor="ctr"/>
          <a:lstStyle/>
          <a:p>
            <a:pPr algn="ctr"/>
          </a:p>
        </p:txBody>
      </p:sp>
      <p:pic>
        <p:nvPicPr>
          <p:cNvPr id="18" name="Picture 17" descr="life-buoy_0A9955_256_2.0.png"/>
          <p:cNvPicPr>
            <a:picLocks noChangeAspect="1"/>
          </p:cNvPicPr>
          <p:nvPr/>
        </p:nvPicPr>
        <p:blipFill>
          <a:blip r:embed="rId5"/>
          <a:stretch>
            <a:fillRect/>
          </a:stretch>
        </p:blipFill>
        <p:spPr>
          <a:xfrm>
            <a:off x="654710" y="5821070"/>
            <a:ext cx="190195" cy="190195"/>
          </a:xfrm>
          <a:prstGeom prst="rect">
            <a:avLst/>
          </a:prstGeom>
        </p:spPr>
      </p:pic>
      <p:sp>
        <p:nvSpPr>
          <p:cNvPr id="19" name="TextBox 18"/>
          <p:cNvSpPr txBox="1"/>
          <p:nvPr/>
        </p:nvSpPr>
        <p:spPr>
          <a:xfrm>
            <a:off x="1042416" y="5751576"/>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Hospital helpdesks, </a:t>
            </a:r>
            <a:r>
              <a:rPr sz="850" b="0" i="0">
                <a:solidFill>
                  <a:srgbClr val="6E7180"/>
                </a:solidFill>
                <a:latin typeface="Geist"/>
              </a:rPr>
              <a:t>Legal desks in trauma wards, 100+ victims supported in the first four days.</a:t>
            </a:r>
          </a:p>
        </p:txBody>
      </p:sp>
      <p:sp>
        <p:nvSpPr>
          <p:cNvPr id="20" name="Oval 19"/>
          <p:cNvSpPr/>
          <p:nvPr/>
        </p:nvSpPr>
        <p:spPr>
          <a:xfrm>
            <a:off x="6190488" y="5733288"/>
            <a:ext cx="365760" cy="365760"/>
          </a:xfrm>
          <a:prstGeom prst="ellipse">
            <a:avLst/>
          </a:prstGeom>
          <a:solidFill>
            <a:srgbClr val="FDF3E3"/>
          </a:solidFill>
          <a:ln>
            <a:noFill/>
          </a:ln>
          <a:effectLst/>
        </p:spPr>
        <p:txBody>
          <a:bodyPr rtlCol="0" anchor="ctr"/>
          <a:lstStyle/>
          <a:p>
            <a:pPr algn="ctr"/>
          </a:p>
        </p:txBody>
      </p:sp>
      <p:pic>
        <p:nvPicPr>
          <p:cNvPr id="21" name="Picture 20" descr="book-open_E58900_256_2.0.png"/>
          <p:cNvPicPr>
            <a:picLocks noChangeAspect="1"/>
          </p:cNvPicPr>
          <p:nvPr/>
        </p:nvPicPr>
        <p:blipFill>
          <a:blip r:embed="rId6"/>
          <a:stretch>
            <a:fillRect/>
          </a:stretch>
        </p:blipFill>
        <p:spPr>
          <a:xfrm>
            <a:off x="6278270" y="5821070"/>
            <a:ext cx="190195" cy="190195"/>
          </a:xfrm>
          <a:prstGeom prst="rect">
            <a:avLst/>
          </a:prstGeom>
        </p:spPr>
      </p:pic>
      <p:sp>
        <p:nvSpPr>
          <p:cNvPr id="22" name="TextBox 21"/>
          <p:cNvSpPr txBox="1"/>
          <p:nvPr/>
        </p:nvSpPr>
        <p:spPr>
          <a:xfrm>
            <a:off x="6665976" y="5751576"/>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Plain-language education, </a:t>
            </a:r>
            <a:r>
              <a:rPr sz="850" b="0" i="0">
                <a:solidFill>
                  <a:srgbClr val="6E7180"/>
                </a:solidFill>
                <a:latin typeface="Geist"/>
              </a:rPr>
              <a:t>Comics and Hindi guides on all three compensation routes, NALSA 15100 and the Cashless Treatment Scheme 2025.</a:t>
            </a:r>
          </a:p>
        </p:txBody>
      </p:sp>
      <p:pic>
        <p:nvPicPr>
          <p:cNvPr id="23" name="Picture 22" descr="ui_mact_calc.png"/>
          <p:cNvPicPr>
            <a:picLocks noChangeAspect="1"/>
          </p:cNvPicPr>
          <p:nvPr/>
        </p:nvPicPr>
        <p:blipFill>
          <a:blip r:embed="rId7"/>
          <a:stretch>
            <a:fillRect/>
          </a:stretch>
        </p:blipFill>
        <p:spPr>
          <a:xfrm>
            <a:off x="4572000" y="1920240"/>
            <a:ext cx="2871645" cy="2834640"/>
          </a:xfrm>
          <a:prstGeom prst="rect">
            <a:avLst/>
          </a:prstGeom>
        </p:spPr>
      </p:pic>
      <p:sp>
        <p:nvSpPr>
          <p:cNvPr id="24" name="Rectangle 23"/>
          <p:cNvSpPr/>
          <p:nvPr/>
        </p:nvSpPr>
        <p:spPr>
          <a:xfrm>
            <a:off x="4572000" y="1920240"/>
            <a:ext cx="2871645" cy="283464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4572000" y="4800600"/>
            <a:ext cx="2871645"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Calculator, a sample estimate</a:t>
            </a:r>
          </a:p>
          <a:p>
            <a:pPr algn="l">
              <a:lnSpc>
                <a:spcPct val="112000"/>
              </a:lnSpc>
            </a:pPr>
            <a:r>
              <a:rPr sz="850" b="0" i="0">
                <a:solidFill>
                  <a:srgbClr val="6E7180"/>
                </a:solidFill>
                <a:latin typeface="Geist"/>
              </a:rPr>
              <a:t>computed on SC principles.</a:t>
            </a:r>
          </a:p>
        </p:txBody>
      </p:sp>
      <p:pic>
        <p:nvPicPr>
          <p:cNvPr id="26" name="Picture 25" descr="comic_aasha_page.png"/>
          <p:cNvPicPr>
            <a:picLocks noChangeAspect="1"/>
          </p:cNvPicPr>
          <p:nvPr/>
        </p:nvPicPr>
        <p:blipFill>
          <a:blip r:embed="rId8"/>
          <a:stretch>
            <a:fillRect/>
          </a:stretch>
        </p:blipFill>
        <p:spPr>
          <a:xfrm>
            <a:off x="8183879" y="1920240"/>
            <a:ext cx="2142375" cy="2834640"/>
          </a:xfrm>
          <a:prstGeom prst="rect">
            <a:avLst/>
          </a:prstGeom>
        </p:spPr>
      </p:pic>
      <p:sp>
        <p:nvSpPr>
          <p:cNvPr id="27" name="Rectangle 26"/>
          <p:cNvSpPr/>
          <p:nvPr/>
        </p:nvSpPr>
        <p:spPr>
          <a:xfrm>
            <a:off x="8183879" y="1920240"/>
            <a:ext cx="2142375" cy="2834640"/>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183879" y="4800600"/>
            <a:ext cx="2142375"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'Meet Aasha' comic, legal education</a:t>
            </a:r>
          </a:p>
          <a:p>
            <a:pPr algn="l">
              <a:lnSpc>
                <a:spcPct val="112000"/>
              </a:lnSpc>
            </a:pPr>
            <a:r>
              <a:rPr sz="850" b="0" i="0">
                <a:solidFill>
                  <a:srgbClr val="6E7180"/>
                </a:solidFill>
                <a:latin typeface="Geist"/>
              </a:rPr>
              <a:t>families actually read.</a:t>
            </a:r>
          </a:p>
        </p:txBody>
      </p:sp>
      <p:pic>
        <p:nvPicPr>
          <p:cNvPr id="29" name="Picture 28" descr="opt_guide_p1_1500.jpg"/>
          <p:cNvPicPr>
            <a:picLocks noChangeAspect="1"/>
          </p:cNvPicPr>
          <p:nvPr/>
        </p:nvPicPr>
        <p:blipFill>
          <a:blip r:embed="rId9"/>
          <a:stretch>
            <a:fillRect/>
          </a:stretch>
        </p:blipFill>
        <p:spPr>
          <a:xfrm>
            <a:off x="10195560" y="1920240"/>
            <a:ext cx="1417320" cy="1941731"/>
          </a:xfrm>
          <a:prstGeom prst="rect">
            <a:avLst/>
          </a:prstGeom>
        </p:spPr>
      </p:pic>
      <p:sp>
        <p:nvSpPr>
          <p:cNvPr id="30" name="Rectangle 29"/>
          <p:cNvSpPr/>
          <p:nvPr/>
        </p:nvSpPr>
        <p:spPr>
          <a:xfrm>
            <a:off x="10195560" y="1920240"/>
            <a:ext cx="1417320" cy="1941731"/>
          </a:xfrm>
          <a:prstGeom prst="rect">
            <a:avLst/>
          </a:prstGeom>
          <a:noFill/>
          <a:ln w="12700">
            <a:solidFill>
              <a:srgbClr val="E8E9EE"/>
            </a:solidFill>
          </a:ln>
          <a:effectLst/>
        </p:spPr>
        <p:txBody>
          <a:bodyPr rtlCol="0" anchor="ctr"/>
          <a:lstStyle/>
          <a:p>
            <a:pPr algn="ctr"/>
          </a:p>
        </p:txBody>
      </p:sp>
      <p:sp>
        <p:nvSpPr>
          <p:cNvPr id="31" name="TextBox 30"/>
          <p:cNvSpPr txBox="1"/>
          <p:nvPr/>
        </p:nvSpPr>
        <p:spPr>
          <a:xfrm>
            <a:off x="10195560" y="3907691"/>
            <a:ext cx="201168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Hindi legal-rights</a:t>
            </a:r>
          </a:p>
          <a:p>
            <a:pPr algn="l">
              <a:lnSpc>
                <a:spcPct val="112000"/>
              </a:lnSpc>
            </a:pPr>
            <a:r>
              <a:rPr sz="850" b="0" i="0">
                <a:solidFill>
                  <a:srgbClr val="6E7180"/>
                </a:solidFill>
                <a:latin typeface="Geist"/>
              </a:rPr>
              <a:t>guide.</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forum_stage2.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60+ experts from MoRTH, WHO, UNICEF, iRAP and CSIR-CRRI reviewed the work.</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jury from the Government of Rajasthan, NIUA, OMI, NASSCOM and CSEP judged the student teams;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Advocacy on video</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YouTube channel documents hazards and fixes on camera: ground-audit walkthroughs, Dialogue Series recordings and victim-education explainers. A public record any authority can cite.</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in Hindi and local languages.</a:t>
            </a:r>
          </a:p>
        </p:txBody>
      </p:sp>
      <p:pic>
        <p:nvPicPr>
          <p:cNvPr id="8" name="Picture 7" descr="ph_police_rally.jpg_4.70x3.55_0.3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on the road with district traffic police, Jan 2026.</a:t>
            </a:r>
          </a:p>
        </p:txBody>
      </p:sp>
      <p:pic>
        <p:nvPicPr>
          <p:cNvPr id="11" name="Picture 10" descr="ph_stall.jpg_3.55x1.72_0.45.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_0.35.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_0.30.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_0.40.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gives road safety </a:t>
            </a:r>
            <a:r>
              <a:rPr sz="2250" b="1" i="0">
                <a:solidFill>
                  <a:srgbClr val="4A35FF"/>
                </a:solidFill>
                <a:latin typeface="Montserrat"/>
              </a:rPr>
              <a:t>a national voice</a:t>
            </a:r>
          </a:p>
        </p:txBody>
      </p:sp>
      <p:pic>
        <p:nvPicPr>
          <p:cNvPr id="7" name="Picture 6" descr="ph_dhoni_helmet.jpg_2.85x3.60_0.10.jpg"/>
          <p:cNvPicPr>
            <a:picLocks noChangeAspect="1"/>
          </p:cNvPicPr>
          <p:nvPr/>
        </p:nvPicPr>
        <p:blipFill>
          <a:blip r:embed="rId2"/>
          <a:stretch>
            <a:fillRect/>
          </a:stretch>
        </p:blipFill>
        <p:spPr>
          <a:xfrm>
            <a:off x="566928" y="1783080"/>
            <a:ext cx="2606040" cy="3291840"/>
          </a:xfrm>
          <a:prstGeom prst="rect">
            <a:avLst/>
          </a:prstGeom>
        </p:spPr>
      </p:pic>
      <p:sp>
        <p:nvSpPr>
          <p:cNvPr id="8" name="Rectangle 7"/>
          <p:cNvSpPr/>
          <p:nvPr/>
        </p:nvSpPr>
        <p:spPr>
          <a:xfrm>
            <a:off x="566928" y="1783080"/>
            <a:ext cx="2606040" cy="32918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120640"/>
            <a:ext cx="26060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Goodwill Ambassador, announced April 2026.</a:t>
            </a:r>
          </a:p>
        </p:txBody>
      </p:sp>
      <p:sp>
        <p:nvSpPr>
          <p:cNvPr id="10" name="Rounded Rectangle 9"/>
          <p:cNvSpPr/>
          <p:nvPr/>
        </p:nvSpPr>
        <p:spPr>
          <a:xfrm>
            <a:off x="3429000" y="1783080"/>
            <a:ext cx="3063240" cy="329184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657600" y="2057400"/>
            <a:ext cx="2606040" cy="2011680"/>
          </a:xfrm>
          <a:prstGeom prst="rect">
            <a:avLst/>
          </a:prstGeom>
          <a:noFill/>
        </p:spPr>
        <p:txBody>
          <a:bodyPr wrap="square" lIns="0" rIns="0" tIns="0" bIns="0" anchor="t">
            <a:spAutoFit/>
          </a:bodyPr>
          <a:lstStyle/>
          <a:p>
            <a:pPr algn="l">
              <a:lnSpc>
                <a:spcPct val="135000"/>
              </a:lnSpc>
            </a:pPr>
            <a:r>
              <a:rPr sz="13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657600" y="4206240"/>
            <a:ext cx="2606040" cy="5486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MS Dhoni, at the National Road Safety</a:t>
            </a:r>
          </a:p>
          <a:p>
            <a:pPr algn="l">
              <a:lnSpc>
                <a:spcPct val="125000"/>
              </a:lnSpc>
            </a:pPr>
            <a:r>
              <a:rPr sz="900" b="0" i="0">
                <a:solidFill>
                  <a:srgbClr val="6E7180"/>
                </a:solidFill>
                <a:latin typeface="Geist"/>
              </a:rPr>
              <a:t>Implementation Forum, IIT Delhi</a:t>
            </a:r>
          </a:p>
        </p:txBody>
      </p:sp>
      <p:sp>
        <p:nvSpPr>
          <p:cNvPr id="13" name="TextBox 12"/>
          <p:cNvSpPr txBox="1"/>
          <p:nvPr/>
        </p:nvSpPr>
        <p:spPr>
          <a:xfrm>
            <a:off x="6766560" y="1783080"/>
            <a:ext cx="4846320" cy="237744"/>
          </a:xfrm>
          <a:prstGeom prst="rect">
            <a:avLst/>
          </a:prstGeom>
          <a:noFill/>
        </p:spPr>
        <p:txBody>
          <a:bodyPr wrap="square" lIns="0" rIns="0" tIns="0" bIns="0" anchor="t">
            <a:spAutoFit/>
          </a:bodyPr>
          <a:lstStyle/>
          <a:p>
            <a:pPr algn="l">
              <a:lnSpc>
                <a:spcPct val="128000"/>
              </a:lnSpc>
            </a:pPr>
            <a:r>
              <a:rPr sz="800" b="1" i="0" spc="160">
                <a:solidFill>
                  <a:srgbClr val="6E7180"/>
                </a:solidFill>
                <a:latin typeface="Montserrat"/>
              </a:rPr>
              <a:t>AS SEEN IN THE PRESS</a:t>
            </a:r>
          </a:p>
        </p:txBody>
      </p:sp>
      <p:pic>
        <p:nvPicPr>
          <p:cNvPr id="14" name="Picture 13" descr="opt_press_ht_primer_1500.jpg"/>
          <p:cNvPicPr>
            <a:picLocks noChangeAspect="1"/>
          </p:cNvPicPr>
          <p:nvPr/>
        </p:nvPicPr>
        <p:blipFill>
          <a:blip r:embed="rId3"/>
          <a:stretch>
            <a:fillRect/>
          </a:stretch>
        </p:blipFill>
        <p:spPr>
          <a:xfrm>
            <a:off x="6766560" y="2084831"/>
            <a:ext cx="2313584" cy="1965960"/>
          </a:xfrm>
          <a:prstGeom prst="rect">
            <a:avLst/>
          </a:prstGeom>
        </p:spPr>
      </p:pic>
      <p:sp>
        <p:nvSpPr>
          <p:cNvPr id="15" name="Rectangle 14"/>
          <p:cNvSpPr/>
          <p:nvPr/>
        </p:nvSpPr>
        <p:spPr>
          <a:xfrm>
            <a:off x="6766560" y="2084831"/>
            <a:ext cx="2313584" cy="196596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766560" y="4096511"/>
            <a:ext cx="231358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Hindustan Times, on our</a:t>
            </a:r>
          </a:p>
          <a:p>
            <a:pPr algn="l">
              <a:lnSpc>
                <a:spcPct val="112000"/>
              </a:lnSpc>
            </a:pPr>
            <a:r>
              <a:rPr sz="850" b="0" i="0">
                <a:solidFill>
                  <a:srgbClr val="6E7180"/>
                </a:solidFill>
                <a:latin typeface="Geist"/>
              </a:rPr>
              <a:t>Pre-Hospital Care Primer.</a:t>
            </a:r>
          </a:p>
        </p:txBody>
      </p:sp>
      <p:pic>
        <p:nvPicPr>
          <p:cNvPr id="17" name="Picture 16" descr="opt_press_print_ideathon_1500.jpg"/>
          <p:cNvPicPr>
            <a:picLocks noChangeAspect="1"/>
          </p:cNvPicPr>
          <p:nvPr/>
        </p:nvPicPr>
        <p:blipFill>
          <a:blip r:embed="rId4"/>
          <a:stretch>
            <a:fillRect/>
          </a:stretch>
        </p:blipFill>
        <p:spPr>
          <a:xfrm>
            <a:off x="9281160" y="2084831"/>
            <a:ext cx="2331720" cy="1600567"/>
          </a:xfrm>
          <a:prstGeom prst="rect">
            <a:avLst/>
          </a:prstGeom>
        </p:spPr>
      </p:pic>
      <p:sp>
        <p:nvSpPr>
          <p:cNvPr id="18" name="Rectangle 17"/>
          <p:cNvSpPr/>
          <p:nvPr/>
        </p:nvSpPr>
        <p:spPr>
          <a:xfrm>
            <a:off x="9281160" y="2084831"/>
            <a:ext cx="2331720" cy="1600567"/>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9281160" y="3731118"/>
            <a:ext cx="23317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ThePrint, on the NextMile</a:t>
            </a:r>
          </a:p>
          <a:p>
            <a:pPr algn="l">
              <a:lnSpc>
                <a:spcPct val="112000"/>
              </a:lnSpc>
            </a:pPr>
            <a:r>
              <a:rPr sz="850" b="0" i="0">
                <a:solidFill>
                  <a:srgbClr val="6E7180"/>
                </a:solidFill>
                <a:latin typeface="Geist"/>
              </a:rPr>
              <a:t>ideathon finale.</a:t>
            </a:r>
          </a:p>
        </p:txBody>
      </p:sp>
      <p:sp>
        <p:nvSpPr>
          <p:cNvPr id="20" name="Rounded Rectangle 19"/>
          <p:cNvSpPr/>
          <p:nvPr/>
        </p:nvSpPr>
        <p:spPr>
          <a:xfrm>
            <a:off x="6766560" y="4709160"/>
            <a:ext cx="1463040" cy="548640"/>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1" name="Picture 20" descr="lg_bloomberg.png"/>
          <p:cNvPicPr>
            <a:picLocks noChangeAspect="1"/>
          </p:cNvPicPr>
          <p:nvPr/>
        </p:nvPicPr>
        <p:blipFill>
          <a:blip r:embed="rId5"/>
          <a:stretch>
            <a:fillRect/>
          </a:stretch>
        </p:blipFill>
        <p:spPr>
          <a:xfrm>
            <a:off x="6876288" y="4867715"/>
            <a:ext cx="1243584" cy="231530"/>
          </a:xfrm>
          <a:prstGeom prst="rect">
            <a:avLst/>
          </a:prstGeom>
        </p:spPr>
      </p:pic>
      <p:sp>
        <p:nvSpPr>
          <p:cNvPr id="22" name="Rounded Rectangle 21"/>
          <p:cNvSpPr/>
          <p:nvPr/>
        </p:nvSpPr>
        <p:spPr>
          <a:xfrm>
            <a:off x="8339327"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3" name="TextBox 22"/>
          <p:cNvSpPr txBox="1"/>
          <p:nvPr/>
        </p:nvSpPr>
        <p:spPr>
          <a:xfrm>
            <a:off x="8357615"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Deccan Herald</a:t>
            </a:r>
          </a:p>
        </p:txBody>
      </p:sp>
      <p:sp>
        <p:nvSpPr>
          <p:cNvPr id="24" name="Rounded Rectangle 23"/>
          <p:cNvSpPr/>
          <p:nvPr/>
        </p:nvSpPr>
        <p:spPr>
          <a:xfrm>
            <a:off x="9473183"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5" name="TextBox 24"/>
          <p:cNvSpPr txBox="1"/>
          <p:nvPr/>
        </p:nvSpPr>
        <p:spPr>
          <a:xfrm>
            <a:off x="9491471"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Economic Times</a:t>
            </a:r>
          </a:p>
        </p:txBody>
      </p:sp>
      <p:sp>
        <p:nvSpPr>
          <p:cNvPr id="26" name="Rounded Rectangle 25"/>
          <p:cNvSpPr/>
          <p:nvPr/>
        </p:nvSpPr>
        <p:spPr>
          <a:xfrm>
            <a:off x="10607039"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7" name="TextBox 26"/>
          <p:cNvSpPr txBox="1"/>
          <p:nvPr/>
        </p:nvSpPr>
        <p:spPr>
          <a:xfrm>
            <a:off x="10625327"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Fortune India</a:t>
            </a:r>
          </a:p>
        </p:txBody>
      </p:sp>
      <p:sp>
        <p:nvSpPr>
          <p:cNvPr id="28" name="Rounded Rectangle 27"/>
          <p:cNvSpPr/>
          <p:nvPr/>
        </p:nvSpPr>
        <p:spPr>
          <a:xfrm>
            <a:off x="8339327"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9" name="TextBox 28"/>
          <p:cNvSpPr txBox="1"/>
          <p:nvPr/>
        </p:nvSpPr>
        <p:spPr>
          <a:xfrm>
            <a:off x="8357615"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IndiaSpend</a:t>
            </a:r>
          </a:p>
        </p:txBody>
      </p:sp>
      <p:sp>
        <p:nvSpPr>
          <p:cNvPr id="30" name="Rounded Rectangle 29"/>
          <p:cNvSpPr/>
          <p:nvPr/>
        </p:nvSpPr>
        <p:spPr>
          <a:xfrm>
            <a:off x="9473183"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9491471"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Scroll.in</a:t>
            </a:r>
          </a:p>
        </p:txBody>
      </p:sp>
      <p:sp>
        <p:nvSpPr>
          <p:cNvPr id="32" name="Rounded Rectangle 31"/>
          <p:cNvSpPr/>
          <p:nvPr/>
        </p:nvSpPr>
        <p:spPr>
          <a:xfrm>
            <a:off x="10607039"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3" name="TextBox 32"/>
          <p:cNvSpPr txBox="1"/>
          <p:nvPr/>
        </p:nvSpPr>
        <p:spPr>
          <a:xfrm>
            <a:off x="10625327"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The Wire</a:t>
            </a:r>
          </a:p>
        </p:txBody>
      </p:sp>
      <p:sp>
        <p:nvSpPr>
          <p:cNvPr id="34" name="Rounded Rectangle 33"/>
          <p:cNvSpPr/>
          <p:nvPr/>
        </p:nvSpPr>
        <p:spPr>
          <a:xfrm>
            <a:off x="8339327"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5" name="TextBox 34"/>
          <p:cNvSpPr txBox="1"/>
          <p:nvPr/>
        </p:nvSpPr>
        <p:spPr>
          <a:xfrm>
            <a:off x="8357615"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Times of India</a:t>
            </a:r>
          </a:p>
        </p:txBody>
      </p:sp>
      <p:sp>
        <p:nvSpPr>
          <p:cNvPr id="36" name="Rounded Rectangle 35"/>
          <p:cNvSpPr/>
          <p:nvPr/>
        </p:nvSpPr>
        <p:spPr>
          <a:xfrm>
            <a:off x="9473183"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7" name="TextBox 36"/>
          <p:cNvSpPr txBox="1"/>
          <p:nvPr/>
        </p:nvSpPr>
        <p:spPr>
          <a:xfrm>
            <a:off x="9491471"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Business Standard</a:t>
            </a:r>
          </a:p>
        </p:txBody>
      </p:sp>
      <p:sp>
        <p:nvSpPr>
          <p:cNvPr id="38" name="TextBox 37"/>
          <p:cNvSpPr txBox="1"/>
          <p:nvPr/>
        </p:nvSpPr>
        <p:spPr>
          <a:xfrm>
            <a:off x="566928" y="5440680"/>
            <a:ext cx="603504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9" name="Connector 38"/>
          <p:cNvCxnSpPr/>
          <p:nvPr/>
        </p:nvCxnSpPr>
        <p:spPr>
          <a:xfrm>
            <a:off x="566928" y="6455664"/>
            <a:ext cx="11057839" cy="0"/>
          </a:xfrm>
          <a:prstGeom prst="line">
            <a:avLst/>
          </a:prstGeom>
          <a:ln w="9525">
            <a:solidFill>
              <a:srgbClr val="E8E9EE"/>
            </a:solidFill>
          </a:ln>
          <a:effectLst/>
        </p:spPr>
      </p:cxnSp>
      <p:sp>
        <p:nvSpPr>
          <p:cNvPr id="40" name="TextBox 3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1" name="TextBox 4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THE NETWORK</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institutions </a:t>
            </a:r>
            <a:r>
              <a:rPr sz="2250" b="1" i="0">
                <a:solidFill>
                  <a:srgbClr val="4A35FF"/>
                </a:solidFill>
                <a:latin typeface="Montserrat"/>
              </a:rPr>
              <a:t>around the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As they appear in our working decks, engagement ranges from formal MoUs and written approvals to jury, mentoring and research collaboration.</a:t>
            </a:r>
          </a:p>
        </p:txBody>
      </p:sp>
      <p:sp>
        <p:nvSpPr>
          <p:cNvPr id="8" name="TextBox 7"/>
          <p:cNvSpPr txBox="1"/>
          <p:nvPr/>
        </p:nvSpPr>
        <p:spPr>
          <a:xfrm>
            <a:off x="566928" y="178308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AUTHORITIES &amp; PUBLIC BODIES WE WORK WITH</a:t>
            </a:r>
          </a:p>
        </p:txBody>
      </p:sp>
      <p:sp>
        <p:nvSpPr>
          <p:cNvPr id="9" name="Rounded Rectangle 8"/>
          <p:cNvSpPr/>
          <p:nvPr/>
        </p:nvSpPr>
        <p:spPr>
          <a:xfrm>
            <a:off x="56692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0" name="Picture 9" descr="lg_nhai.png"/>
          <p:cNvPicPr>
            <a:picLocks noChangeAspect="1"/>
          </p:cNvPicPr>
          <p:nvPr/>
        </p:nvPicPr>
        <p:blipFill>
          <a:blip r:embed="rId2"/>
          <a:stretch>
            <a:fillRect/>
          </a:stretch>
        </p:blipFill>
        <p:spPr>
          <a:xfrm>
            <a:off x="841725" y="2167128"/>
            <a:ext cx="748854" cy="493776"/>
          </a:xfrm>
          <a:prstGeom prst="rect">
            <a:avLst/>
          </a:prstGeom>
        </p:spPr>
      </p:pic>
      <p:sp>
        <p:nvSpPr>
          <p:cNvPr id="11" name="Rounded Rectangle 10"/>
          <p:cNvSpPr/>
          <p:nvPr/>
        </p:nvSpPr>
        <p:spPr>
          <a:xfrm>
            <a:off x="195681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2" name="Picture 11" descr="lg_pwd.png"/>
          <p:cNvPicPr>
            <a:picLocks noChangeAspect="1"/>
          </p:cNvPicPr>
          <p:nvPr/>
        </p:nvPicPr>
        <p:blipFill>
          <a:blip r:embed="rId3"/>
          <a:stretch>
            <a:fillRect/>
          </a:stretch>
        </p:blipFill>
        <p:spPr>
          <a:xfrm>
            <a:off x="2234145" y="2167128"/>
            <a:ext cx="743789" cy="493776"/>
          </a:xfrm>
          <a:prstGeom prst="rect">
            <a:avLst/>
          </a:prstGeom>
        </p:spPr>
      </p:pic>
      <p:sp>
        <p:nvSpPr>
          <p:cNvPr id="13" name="Rounded Rectangle 12"/>
          <p:cNvSpPr/>
          <p:nvPr/>
        </p:nvSpPr>
        <p:spPr>
          <a:xfrm>
            <a:off x="334670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4" name="Picture 13" descr="lg_indore_nn.png"/>
          <p:cNvPicPr>
            <a:picLocks noChangeAspect="1"/>
          </p:cNvPicPr>
          <p:nvPr/>
        </p:nvPicPr>
        <p:blipFill>
          <a:blip r:embed="rId4"/>
          <a:stretch>
            <a:fillRect/>
          </a:stretch>
        </p:blipFill>
        <p:spPr>
          <a:xfrm>
            <a:off x="3784517" y="2167128"/>
            <a:ext cx="422822" cy="493776"/>
          </a:xfrm>
          <a:prstGeom prst="rect">
            <a:avLst/>
          </a:prstGeom>
        </p:spPr>
      </p:pic>
      <p:sp>
        <p:nvSpPr>
          <p:cNvPr id="15" name="Rounded Rectangle 14"/>
          <p:cNvSpPr/>
          <p:nvPr/>
        </p:nvSpPr>
        <p:spPr>
          <a:xfrm>
            <a:off x="4736592"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6" name="Picture 15" descr="lg_vijayawada_police.png"/>
          <p:cNvPicPr>
            <a:picLocks noChangeAspect="1"/>
          </p:cNvPicPr>
          <p:nvPr/>
        </p:nvPicPr>
        <p:blipFill>
          <a:blip r:embed="rId5"/>
          <a:stretch>
            <a:fillRect/>
          </a:stretch>
        </p:blipFill>
        <p:spPr>
          <a:xfrm>
            <a:off x="5138928" y="2167128"/>
            <a:ext cx="493776" cy="493776"/>
          </a:xfrm>
          <a:prstGeom prst="rect">
            <a:avLst/>
          </a:prstGeom>
        </p:spPr>
      </p:pic>
      <p:sp>
        <p:nvSpPr>
          <p:cNvPr id="17" name="Rounded Rectangle 16"/>
          <p:cNvSpPr/>
          <p:nvPr/>
        </p:nvSpPr>
        <p:spPr>
          <a:xfrm>
            <a:off x="6126480"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8" name="Picture 17" descr="lg_haryana_police.png"/>
          <p:cNvPicPr>
            <a:picLocks noChangeAspect="1"/>
          </p:cNvPicPr>
          <p:nvPr/>
        </p:nvPicPr>
        <p:blipFill>
          <a:blip r:embed="rId6"/>
          <a:stretch>
            <a:fillRect/>
          </a:stretch>
        </p:blipFill>
        <p:spPr>
          <a:xfrm>
            <a:off x="6528816" y="2167128"/>
            <a:ext cx="493776" cy="493776"/>
          </a:xfrm>
          <a:prstGeom prst="rect">
            <a:avLst/>
          </a:prstGeom>
        </p:spPr>
      </p:pic>
      <p:sp>
        <p:nvSpPr>
          <p:cNvPr id="19" name="Rounded Rectangle 18"/>
          <p:cNvSpPr/>
          <p:nvPr/>
        </p:nvSpPr>
        <p:spPr>
          <a:xfrm>
            <a:off x="751636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0" name="Picture 19" descr="lg_kolkata_police.png"/>
          <p:cNvPicPr>
            <a:picLocks noChangeAspect="1"/>
          </p:cNvPicPr>
          <p:nvPr/>
        </p:nvPicPr>
        <p:blipFill>
          <a:blip r:embed="rId7"/>
          <a:stretch>
            <a:fillRect/>
          </a:stretch>
        </p:blipFill>
        <p:spPr>
          <a:xfrm>
            <a:off x="7909726" y="2167128"/>
            <a:ext cx="511731" cy="493776"/>
          </a:xfrm>
          <a:prstGeom prst="rect">
            <a:avLst/>
          </a:prstGeom>
        </p:spPr>
      </p:pic>
      <p:sp>
        <p:nvSpPr>
          <p:cNvPr id="21" name="Rounded Rectangle 20"/>
          <p:cNvSpPr/>
          <p:nvPr/>
        </p:nvSpPr>
        <p:spPr>
          <a:xfrm>
            <a:off x="890625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2" name="Picture 21" descr="lg_kozhikode_tp.png"/>
          <p:cNvPicPr>
            <a:picLocks noChangeAspect="1"/>
          </p:cNvPicPr>
          <p:nvPr/>
        </p:nvPicPr>
        <p:blipFill>
          <a:blip r:embed="rId8"/>
          <a:stretch>
            <a:fillRect/>
          </a:stretch>
        </p:blipFill>
        <p:spPr>
          <a:xfrm>
            <a:off x="9307490" y="2167128"/>
            <a:ext cx="495980" cy="493776"/>
          </a:xfrm>
          <a:prstGeom prst="rect">
            <a:avLst/>
          </a:prstGeom>
        </p:spPr>
      </p:pic>
      <p:sp>
        <p:nvSpPr>
          <p:cNvPr id="23" name="Rounded Rectangle 22"/>
          <p:cNvSpPr/>
          <p:nvPr/>
        </p:nvSpPr>
        <p:spPr>
          <a:xfrm>
            <a:off x="1029614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4" name="Picture 23" descr="lg_dlsa.png"/>
          <p:cNvPicPr>
            <a:picLocks noChangeAspect="1"/>
          </p:cNvPicPr>
          <p:nvPr/>
        </p:nvPicPr>
        <p:blipFill>
          <a:blip r:embed="rId9"/>
          <a:stretch>
            <a:fillRect/>
          </a:stretch>
        </p:blipFill>
        <p:spPr>
          <a:xfrm>
            <a:off x="10735297" y="2167128"/>
            <a:ext cx="420142" cy="493776"/>
          </a:xfrm>
          <a:prstGeom prst="rect">
            <a:avLst/>
          </a:prstGeom>
        </p:spPr>
      </p:pic>
      <p:sp>
        <p:nvSpPr>
          <p:cNvPr id="25" name="TextBox 24"/>
          <p:cNvSpPr txBox="1"/>
          <p:nvPr/>
        </p:nvSpPr>
        <p:spPr>
          <a:xfrm>
            <a:off x="566928" y="306324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UNIVERSITIES &amp; INSTITUTES FIELDING AUDIT TEAMS</a:t>
            </a:r>
          </a:p>
        </p:txBody>
      </p:sp>
      <p:sp>
        <p:nvSpPr>
          <p:cNvPr id="26" name="Rounded Rectangle 25"/>
          <p:cNvSpPr/>
          <p:nvPr/>
        </p:nvSpPr>
        <p:spPr>
          <a:xfrm>
            <a:off x="56692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7" name="Picture 26" descr="lg_iitm.png"/>
          <p:cNvPicPr>
            <a:picLocks noChangeAspect="1"/>
          </p:cNvPicPr>
          <p:nvPr/>
        </p:nvPicPr>
        <p:blipFill>
          <a:blip r:embed="rId10"/>
          <a:stretch>
            <a:fillRect/>
          </a:stretch>
        </p:blipFill>
        <p:spPr>
          <a:xfrm>
            <a:off x="969264" y="3447288"/>
            <a:ext cx="493776" cy="493776"/>
          </a:xfrm>
          <a:prstGeom prst="rect">
            <a:avLst/>
          </a:prstGeom>
        </p:spPr>
      </p:pic>
      <p:sp>
        <p:nvSpPr>
          <p:cNvPr id="28" name="Rounded Rectangle 27"/>
          <p:cNvSpPr/>
          <p:nvPr/>
        </p:nvSpPr>
        <p:spPr>
          <a:xfrm>
            <a:off x="195681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iitd.png"/>
          <p:cNvPicPr>
            <a:picLocks noChangeAspect="1"/>
          </p:cNvPicPr>
          <p:nvPr/>
        </p:nvPicPr>
        <p:blipFill>
          <a:blip r:embed="rId11"/>
          <a:stretch>
            <a:fillRect/>
          </a:stretch>
        </p:blipFill>
        <p:spPr>
          <a:xfrm>
            <a:off x="2361751" y="3447288"/>
            <a:ext cx="488578" cy="493776"/>
          </a:xfrm>
          <a:prstGeom prst="rect">
            <a:avLst/>
          </a:prstGeom>
        </p:spPr>
      </p:pic>
      <p:sp>
        <p:nvSpPr>
          <p:cNvPr id="30" name="Rounded Rectangle 29"/>
          <p:cNvSpPr/>
          <p:nvPr/>
        </p:nvSpPr>
        <p:spPr>
          <a:xfrm>
            <a:off x="334670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nitc.png"/>
          <p:cNvPicPr>
            <a:picLocks noChangeAspect="1"/>
          </p:cNvPicPr>
          <p:nvPr/>
        </p:nvPicPr>
        <p:blipFill>
          <a:blip r:embed="rId12"/>
          <a:stretch>
            <a:fillRect/>
          </a:stretch>
        </p:blipFill>
        <p:spPr>
          <a:xfrm>
            <a:off x="3784951" y="3447288"/>
            <a:ext cx="421954" cy="493776"/>
          </a:xfrm>
          <a:prstGeom prst="rect">
            <a:avLst/>
          </a:prstGeom>
        </p:spPr>
      </p:pic>
      <p:sp>
        <p:nvSpPr>
          <p:cNvPr id="32" name="Rounded Rectangle 31"/>
          <p:cNvSpPr/>
          <p:nvPr/>
        </p:nvSpPr>
        <p:spPr>
          <a:xfrm>
            <a:off x="4736592"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u29.png"/>
          <p:cNvPicPr>
            <a:picLocks noChangeAspect="1"/>
          </p:cNvPicPr>
          <p:nvPr/>
        </p:nvPicPr>
        <p:blipFill>
          <a:blip r:embed="rId13"/>
          <a:stretch>
            <a:fillRect/>
          </a:stretch>
        </p:blipFill>
        <p:spPr>
          <a:xfrm>
            <a:off x="5136329" y="3447288"/>
            <a:ext cx="498973" cy="493776"/>
          </a:xfrm>
          <a:prstGeom prst="rect">
            <a:avLst/>
          </a:prstGeom>
        </p:spPr>
      </p:pic>
      <p:sp>
        <p:nvSpPr>
          <p:cNvPr id="34" name="Rounded Rectangle 33"/>
          <p:cNvSpPr/>
          <p:nvPr/>
        </p:nvSpPr>
        <p:spPr>
          <a:xfrm>
            <a:off x="6126480"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u30.png"/>
          <p:cNvPicPr>
            <a:picLocks noChangeAspect="1"/>
          </p:cNvPicPr>
          <p:nvPr/>
        </p:nvPicPr>
        <p:blipFill>
          <a:blip r:embed="rId14"/>
          <a:stretch>
            <a:fillRect/>
          </a:stretch>
        </p:blipFill>
        <p:spPr>
          <a:xfrm>
            <a:off x="6453450" y="3447288"/>
            <a:ext cx="644507" cy="493776"/>
          </a:xfrm>
          <a:prstGeom prst="rect">
            <a:avLst/>
          </a:prstGeom>
        </p:spPr>
      </p:pic>
      <p:sp>
        <p:nvSpPr>
          <p:cNvPr id="36" name="Rounded Rectangle 35"/>
          <p:cNvSpPr/>
          <p:nvPr/>
        </p:nvSpPr>
        <p:spPr>
          <a:xfrm>
            <a:off x="751636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u25.png"/>
          <p:cNvPicPr>
            <a:picLocks noChangeAspect="1"/>
          </p:cNvPicPr>
          <p:nvPr/>
        </p:nvPicPr>
        <p:blipFill>
          <a:blip r:embed="rId15"/>
          <a:stretch>
            <a:fillRect/>
          </a:stretch>
        </p:blipFill>
        <p:spPr>
          <a:xfrm>
            <a:off x="7918704" y="3447288"/>
            <a:ext cx="493776" cy="493776"/>
          </a:xfrm>
          <a:prstGeom prst="rect">
            <a:avLst/>
          </a:prstGeom>
        </p:spPr>
      </p:pic>
      <p:sp>
        <p:nvSpPr>
          <p:cNvPr id="38" name="Rounded Rectangle 37"/>
          <p:cNvSpPr/>
          <p:nvPr/>
        </p:nvSpPr>
        <p:spPr>
          <a:xfrm>
            <a:off x="890625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u22.png"/>
          <p:cNvPicPr>
            <a:picLocks noChangeAspect="1"/>
          </p:cNvPicPr>
          <p:nvPr/>
        </p:nvPicPr>
        <p:blipFill>
          <a:blip r:embed="rId16"/>
          <a:stretch>
            <a:fillRect/>
          </a:stretch>
        </p:blipFill>
        <p:spPr>
          <a:xfrm>
            <a:off x="9308592" y="3447288"/>
            <a:ext cx="493776" cy="493776"/>
          </a:xfrm>
          <a:prstGeom prst="rect">
            <a:avLst/>
          </a:prstGeom>
        </p:spPr>
      </p:pic>
      <p:sp>
        <p:nvSpPr>
          <p:cNvPr id="40" name="Rounded Rectangle 39"/>
          <p:cNvSpPr/>
          <p:nvPr/>
        </p:nvSpPr>
        <p:spPr>
          <a:xfrm>
            <a:off x="1029614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1" name="Picture 40" descr="lg_u105.png"/>
          <p:cNvPicPr>
            <a:picLocks noChangeAspect="1"/>
          </p:cNvPicPr>
          <p:nvPr/>
        </p:nvPicPr>
        <p:blipFill>
          <a:blip r:embed="rId17"/>
          <a:stretch>
            <a:fillRect/>
          </a:stretch>
        </p:blipFill>
        <p:spPr>
          <a:xfrm>
            <a:off x="10698480" y="3447288"/>
            <a:ext cx="493776" cy="493776"/>
          </a:xfrm>
          <a:prstGeom prst="rect">
            <a:avLst/>
          </a:prstGeom>
        </p:spPr>
      </p:pic>
      <p:sp>
        <p:nvSpPr>
          <p:cNvPr id="42" name="TextBox 41"/>
          <p:cNvSpPr txBox="1"/>
          <p:nvPr/>
        </p:nvSpPr>
        <p:spPr>
          <a:xfrm>
            <a:off x="566928" y="434340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EXPERT &amp; ECOSYSTEM PARTNERS</a:t>
            </a:r>
          </a:p>
        </p:txBody>
      </p:sp>
      <p:sp>
        <p:nvSpPr>
          <p:cNvPr id="43" name="Rounded Rectangle 42"/>
          <p:cNvSpPr/>
          <p:nvPr/>
        </p:nvSpPr>
        <p:spPr>
          <a:xfrm>
            <a:off x="56692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tripc.png"/>
          <p:cNvPicPr>
            <a:picLocks noChangeAspect="1"/>
          </p:cNvPicPr>
          <p:nvPr/>
        </p:nvPicPr>
        <p:blipFill>
          <a:blip r:embed="rId18"/>
          <a:stretch>
            <a:fillRect/>
          </a:stretch>
        </p:blipFill>
        <p:spPr>
          <a:xfrm>
            <a:off x="676656" y="4823014"/>
            <a:ext cx="1078992" cy="302644"/>
          </a:xfrm>
          <a:prstGeom prst="rect">
            <a:avLst/>
          </a:prstGeom>
        </p:spPr>
      </p:pic>
      <p:sp>
        <p:nvSpPr>
          <p:cNvPr id="45" name="Rounded Rectangle 44"/>
          <p:cNvSpPr/>
          <p:nvPr/>
        </p:nvSpPr>
        <p:spPr>
          <a:xfrm>
            <a:off x="195681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6" name="Picture 45" descr="lg_niua.png"/>
          <p:cNvPicPr>
            <a:picLocks noChangeAspect="1"/>
          </p:cNvPicPr>
          <p:nvPr/>
        </p:nvPicPr>
        <p:blipFill>
          <a:blip r:embed="rId19"/>
          <a:stretch>
            <a:fillRect/>
          </a:stretch>
        </p:blipFill>
        <p:spPr>
          <a:xfrm>
            <a:off x="2066544" y="4762204"/>
            <a:ext cx="1078992" cy="424263"/>
          </a:xfrm>
          <a:prstGeom prst="rect">
            <a:avLst/>
          </a:prstGeom>
        </p:spPr>
      </p:pic>
      <p:sp>
        <p:nvSpPr>
          <p:cNvPr id="47" name="Rounded Rectangle 46"/>
          <p:cNvSpPr/>
          <p:nvPr/>
        </p:nvSpPr>
        <p:spPr>
          <a:xfrm>
            <a:off x="334670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8" name="Picture 47" descr="lg_omi.png"/>
          <p:cNvPicPr>
            <a:picLocks noChangeAspect="1"/>
          </p:cNvPicPr>
          <p:nvPr/>
        </p:nvPicPr>
        <p:blipFill>
          <a:blip r:embed="rId20"/>
          <a:stretch>
            <a:fillRect/>
          </a:stretch>
        </p:blipFill>
        <p:spPr>
          <a:xfrm>
            <a:off x="3632379" y="4727448"/>
            <a:ext cx="727098" cy="493776"/>
          </a:xfrm>
          <a:prstGeom prst="rect">
            <a:avLst/>
          </a:prstGeom>
        </p:spPr>
      </p:pic>
      <p:sp>
        <p:nvSpPr>
          <p:cNvPr id="49" name="Rounded Rectangle 48"/>
          <p:cNvSpPr/>
          <p:nvPr/>
        </p:nvSpPr>
        <p:spPr>
          <a:xfrm>
            <a:off x="4736592"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0" name="Picture 49" descr="lg_wri.png"/>
          <p:cNvPicPr>
            <a:picLocks noChangeAspect="1"/>
          </p:cNvPicPr>
          <p:nvPr/>
        </p:nvPicPr>
        <p:blipFill>
          <a:blip r:embed="rId21"/>
          <a:stretch>
            <a:fillRect/>
          </a:stretch>
        </p:blipFill>
        <p:spPr>
          <a:xfrm>
            <a:off x="4846320" y="4781659"/>
            <a:ext cx="1078992" cy="385354"/>
          </a:xfrm>
          <a:prstGeom prst="rect">
            <a:avLst/>
          </a:prstGeom>
        </p:spPr>
      </p:pic>
      <p:sp>
        <p:nvSpPr>
          <p:cNvPr id="51" name="Rounded Rectangle 50"/>
          <p:cNvSpPr/>
          <p:nvPr/>
        </p:nvSpPr>
        <p:spPr>
          <a:xfrm>
            <a:off x="6126480"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2" name="Picture 51" descr="lg_cii.png"/>
          <p:cNvPicPr>
            <a:picLocks noChangeAspect="1"/>
          </p:cNvPicPr>
          <p:nvPr/>
        </p:nvPicPr>
        <p:blipFill>
          <a:blip r:embed="rId22"/>
          <a:stretch>
            <a:fillRect/>
          </a:stretch>
        </p:blipFill>
        <p:spPr>
          <a:xfrm>
            <a:off x="6236208" y="4809382"/>
            <a:ext cx="1078992" cy="329907"/>
          </a:xfrm>
          <a:prstGeom prst="rect">
            <a:avLst/>
          </a:prstGeom>
        </p:spPr>
      </p:pic>
      <p:sp>
        <p:nvSpPr>
          <p:cNvPr id="53" name="Rounded Rectangle 52"/>
          <p:cNvSpPr/>
          <p:nvPr/>
        </p:nvSpPr>
        <p:spPr>
          <a:xfrm>
            <a:off x="751636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4" name="Picture 53" descr="lg_gic.png"/>
          <p:cNvPicPr>
            <a:picLocks noChangeAspect="1"/>
          </p:cNvPicPr>
          <p:nvPr/>
        </p:nvPicPr>
        <p:blipFill>
          <a:blip r:embed="rId23"/>
          <a:stretch>
            <a:fillRect/>
          </a:stretch>
        </p:blipFill>
        <p:spPr>
          <a:xfrm>
            <a:off x="7705051" y="4727448"/>
            <a:ext cx="921082" cy="493776"/>
          </a:xfrm>
          <a:prstGeom prst="rect">
            <a:avLst/>
          </a:prstGeom>
        </p:spPr>
      </p:pic>
      <p:sp>
        <p:nvSpPr>
          <p:cNvPr id="55" name="Rounded Rectangle 54"/>
          <p:cNvSpPr/>
          <p:nvPr/>
        </p:nvSpPr>
        <p:spPr>
          <a:xfrm>
            <a:off x="890625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6" name="Picture 55" descr="lg_iffco.png"/>
          <p:cNvPicPr>
            <a:picLocks noChangeAspect="1"/>
          </p:cNvPicPr>
          <p:nvPr/>
        </p:nvPicPr>
        <p:blipFill>
          <a:blip r:embed="rId24"/>
          <a:stretch>
            <a:fillRect/>
          </a:stretch>
        </p:blipFill>
        <p:spPr>
          <a:xfrm>
            <a:off x="9116286" y="4727448"/>
            <a:ext cx="878388" cy="493776"/>
          </a:xfrm>
          <a:prstGeom prst="rect">
            <a:avLst/>
          </a:prstGeom>
        </p:spPr>
      </p:pic>
      <p:sp>
        <p:nvSpPr>
          <p:cNvPr id="57" name="Rounded Rectangle 56"/>
          <p:cNvSpPr/>
          <p:nvPr/>
        </p:nvSpPr>
        <p:spPr>
          <a:xfrm>
            <a:off x="1029614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8" name="Picture 57" descr="lg_nia.png"/>
          <p:cNvPicPr>
            <a:picLocks noChangeAspect="1"/>
          </p:cNvPicPr>
          <p:nvPr/>
        </p:nvPicPr>
        <p:blipFill>
          <a:blip r:embed="rId25"/>
          <a:stretch>
            <a:fillRect/>
          </a:stretch>
        </p:blipFill>
        <p:spPr>
          <a:xfrm>
            <a:off x="10405872" y="4769184"/>
            <a:ext cx="1078992" cy="410304"/>
          </a:xfrm>
          <a:prstGeom prst="rect">
            <a:avLst/>
          </a:prstGeom>
        </p:spPr>
      </p:pic>
      <p:sp>
        <p:nvSpPr>
          <p:cNvPr id="59" name="Rounded Rectangle 58"/>
          <p:cNvSpPr/>
          <p:nvPr/>
        </p:nvSpPr>
        <p:spPr>
          <a:xfrm>
            <a:off x="566928" y="5623560"/>
            <a:ext cx="11057839" cy="548640"/>
          </a:xfrm>
          <a:prstGeom prst="roundRect">
            <a:avLst>
              <a:gd name="adj" fmla="val 14000"/>
            </a:avLst>
          </a:prstGeom>
          <a:solidFill>
            <a:srgbClr val="F7F7FA"/>
          </a:solidFill>
          <a:ln>
            <a:noFill/>
          </a:ln>
          <a:effectLst/>
        </p:spPr>
        <p:txBody>
          <a:bodyPr rtlCol="0" anchor="ctr"/>
          <a:lstStyle/>
          <a:p>
            <a:pPr algn="ctr"/>
          </a:p>
        </p:txBody>
      </p:sp>
      <p:sp>
        <p:nvSpPr>
          <p:cNvPr id="60" name="TextBox 59"/>
          <p:cNvSpPr txBox="1"/>
          <p:nvPr/>
        </p:nvSpPr>
        <p:spPr>
          <a:xfrm>
            <a:off x="768096" y="5715000"/>
            <a:ext cx="10646359"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Jaipur Traffic Police &amp; Gurugram Police (MoUs) · CPWD &amp; district administrations · Bloomberg, Johns Hopkins, Centre for Green Mobility and PwC experts on juries and reviews.</a:t>
            </a:r>
          </a:p>
        </p:txBody>
      </p:sp>
      <p:cxnSp>
        <p:nvCxnSpPr>
          <p:cNvPr id="61" name="Connector 60"/>
          <p:cNvCxnSpPr/>
          <p:nvPr/>
        </p:nvCxnSpPr>
        <p:spPr>
          <a:xfrm>
            <a:off x="566928" y="6455664"/>
            <a:ext cx="11057839" cy="0"/>
          </a:xfrm>
          <a:prstGeom prst="line">
            <a:avLst/>
          </a:prstGeom>
          <a:ln w="9525">
            <a:solidFill>
              <a:srgbClr val="E8E9EE"/>
            </a:solidFill>
          </a:ln>
          <a:effectLst/>
        </p:spPr>
      </p:cxnSp>
      <p:sp>
        <p:nvSpPr>
          <p:cNvPr id="62" name="TextBox 6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63" name="TextBox 6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under trustees who have led Indian road safety for a decade.</a:t>
            </a:r>
          </a:p>
        </p:txBody>
      </p:sp>
      <p:sp>
        <p:nvSpPr>
          <p:cNvPr id="8" name="Rounded Rectangle 7"/>
          <p:cNvSpPr/>
          <p:nvPr/>
        </p:nvSpPr>
        <p:spPr>
          <a:xfrm>
            <a:off x="566928" y="1920240"/>
            <a:ext cx="3630168" cy="896112"/>
          </a:xfrm>
          <a:prstGeom prst="roundRect">
            <a:avLst>
              <a:gd name="adj" fmla="val 10000"/>
            </a:avLst>
          </a:prstGeom>
          <a:solidFill>
            <a:srgbClr val="F7F7FA"/>
          </a:solidFill>
          <a:ln>
            <a:noFill/>
          </a:ln>
          <a:effectLst/>
        </p:spPr>
        <p:txBody>
          <a:bodyPr rtlCol="0" anchor="ctr"/>
          <a:lstStyle/>
          <a:p>
            <a:pPr algn="ctr"/>
          </a:p>
        </p:txBody>
      </p:sp>
      <p:pic>
        <p:nvPicPr>
          <p:cNvPr id="9" name="Picture 8" descr="t_amar.png"/>
          <p:cNvPicPr>
            <a:picLocks noChangeAspect="1"/>
          </p:cNvPicPr>
          <p:nvPr/>
        </p:nvPicPr>
        <p:blipFill>
          <a:blip r:embed="rId2"/>
          <a:stretch>
            <a:fillRect/>
          </a:stretch>
        </p:blipFill>
        <p:spPr>
          <a:xfrm>
            <a:off x="685800" y="2039112"/>
            <a:ext cx="658368" cy="658368"/>
          </a:xfrm>
          <a:prstGeom prst="rect">
            <a:avLst/>
          </a:prstGeom>
        </p:spPr>
      </p:pic>
      <p:sp>
        <p:nvSpPr>
          <p:cNvPr id="10" name="TextBox 9"/>
          <p:cNvSpPr txBox="1"/>
          <p:nvPr/>
        </p:nvSpPr>
        <p:spPr>
          <a:xfrm>
            <a:off x="1463040"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1" name="TextBox 10"/>
          <p:cNvSpPr txBox="1"/>
          <p:nvPr/>
        </p:nvSpPr>
        <p:spPr>
          <a:xfrm>
            <a:off x="1463040"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2" name="Rounded Rectangle 11"/>
          <p:cNvSpPr/>
          <p:nvPr/>
        </p:nvSpPr>
        <p:spPr>
          <a:xfrm>
            <a:off x="4279391" y="1920240"/>
            <a:ext cx="3630168" cy="896112"/>
          </a:xfrm>
          <a:prstGeom prst="roundRect">
            <a:avLst>
              <a:gd name="adj" fmla="val 10000"/>
            </a:avLst>
          </a:prstGeom>
          <a:solidFill>
            <a:srgbClr val="F7F7FA"/>
          </a:solidFill>
          <a:ln>
            <a:noFill/>
          </a:ln>
          <a:effectLst/>
        </p:spPr>
        <p:txBody>
          <a:bodyPr rtlCol="0" anchor="ctr"/>
          <a:lstStyle/>
          <a:p>
            <a:pPr algn="ctr"/>
          </a:p>
        </p:txBody>
      </p:sp>
      <p:pic>
        <p:nvPicPr>
          <p:cNvPr id="13" name="Picture 12" descr="t_deepanshu.png"/>
          <p:cNvPicPr>
            <a:picLocks noChangeAspect="1"/>
          </p:cNvPicPr>
          <p:nvPr/>
        </p:nvPicPr>
        <p:blipFill>
          <a:blip r:embed="rId3"/>
          <a:stretch>
            <a:fillRect/>
          </a:stretch>
        </p:blipFill>
        <p:spPr>
          <a:xfrm>
            <a:off x="4398263" y="2039112"/>
            <a:ext cx="658368" cy="658368"/>
          </a:xfrm>
          <a:prstGeom prst="rect">
            <a:avLst/>
          </a:prstGeom>
        </p:spPr>
      </p:pic>
      <p:sp>
        <p:nvSpPr>
          <p:cNvPr id="14" name="TextBox 13"/>
          <p:cNvSpPr txBox="1"/>
          <p:nvPr/>
        </p:nvSpPr>
        <p:spPr>
          <a:xfrm>
            <a:off x="5175503"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5" name="TextBox 14"/>
          <p:cNvSpPr txBox="1"/>
          <p:nvPr/>
        </p:nvSpPr>
        <p:spPr>
          <a:xfrm>
            <a:off x="5175503"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6" name="Rounded Rectangle 15"/>
          <p:cNvSpPr/>
          <p:nvPr/>
        </p:nvSpPr>
        <p:spPr>
          <a:xfrm>
            <a:off x="7991854" y="1920240"/>
            <a:ext cx="3630168" cy="896112"/>
          </a:xfrm>
          <a:prstGeom prst="roundRect">
            <a:avLst>
              <a:gd name="adj" fmla="val 10000"/>
            </a:avLst>
          </a:prstGeom>
          <a:solidFill>
            <a:srgbClr val="F7F7FA"/>
          </a:solidFill>
          <a:ln>
            <a:noFill/>
          </a:ln>
          <a:effectLst/>
        </p:spPr>
        <p:txBody>
          <a:bodyPr rtlCol="0" anchor="ctr"/>
          <a:lstStyle/>
          <a:p>
            <a:pPr algn="ctr"/>
          </a:p>
        </p:txBody>
      </p:sp>
      <p:pic>
        <p:nvPicPr>
          <p:cNvPr id="17" name="Picture 16" descr="t_gajendra.png"/>
          <p:cNvPicPr>
            <a:picLocks noChangeAspect="1"/>
          </p:cNvPicPr>
          <p:nvPr/>
        </p:nvPicPr>
        <p:blipFill>
          <a:blip r:embed="rId4"/>
          <a:stretch>
            <a:fillRect/>
          </a:stretch>
        </p:blipFill>
        <p:spPr>
          <a:xfrm>
            <a:off x="8110726" y="2039112"/>
            <a:ext cx="658368" cy="658368"/>
          </a:xfrm>
          <a:prstGeom prst="rect">
            <a:avLst/>
          </a:prstGeom>
        </p:spPr>
      </p:pic>
      <p:sp>
        <p:nvSpPr>
          <p:cNvPr id="18" name="TextBox 17"/>
          <p:cNvSpPr txBox="1"/>
          <p:nvPr/>
        </p:nvSpPr>
        <p:spPr>
          <a:xfrm>
            <a:off x="8887966"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19" name="TextBox 18"/>
          <p:cNvSpPr txBox="1"/>
          <p:nvPr/>
        </p:nvSpPr>
        <p:spPr>
          <a:xfrm>
            <a:off x="8887966"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0" name="TextBox 19"/>
          <p:cNvSpPr txBox="1"/>
          <p:nvPr/>
        </p:nvSpPr>
        <p:spPr>
          <a:xfrm>
            <a:off x="566928" y="3035808"/>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pic>
        <p:nvPicPr>
          <p:cNvPr id="21" name="Picture 20" descr="t_akhtar.png"/>
          <p:cNvPicPr>
            <a:picLocks noChangeAspect="1"/>
          </p:cNvPicPr>
          <p:nvPr/>
        </p:nvPicPr>
        <p:blipFill>
          <a:blip r:embed="rId5"/>
          <a:stretch>
            <a:fillRect/>
          </a:stretch>
        </p:blipFill>
        <p:spPr>
          <a:xfrm>
            <a:off x="566928" y="3374136"/>
            <a:ext cx="566928" cy="566928"/>
          </a:xfrm>
          <a:prstGeom prst="rect">
            <a:avLst/>
          </a:prstGeom>
        </p:spPr>
      </p:pic>
      <p:sp>
        <p:nvSpPr>
          <p:cNvPr id="22" name="TextBox 21"/>
          <p:cNvSpPr txBox="1"/>
          <p:nvPr/>
        </p:nvSpPr>
        <p:spPr>
          <a:xfrm>
            <a:off x="1252728" y="3328416"/>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Akhtar Hussain  </a:t>
            </a:r>
            <a:r>
              <a:rPr sz="800" b="1" i="0">
                <a:solidFill>
                  <a:srgbClr val="4A35FF"/>
                </a:solidFill>
                <a:latin typeface="Geist"/>
              </a:rPr>
              <a:t>Mission Lead</a:t>
            </a:r>
          </a:p>
        </p:txBody>
      </p:sp>
      <p:sp>
        <p:nvSpPr>
          <p:cNvPr id="23" name="TextBox 22"/>
          <p:cNvSpPr txBox="1"/>
          <p:nvPr/>
        </p:nvSpPr>
        <p:spPr>
          <a:xfrm>
            <a:off x="1252728" y="3547872"/>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IIT Delhi · ex-Cars24 · leads strategy, partnerships and MoRTH/NRSB engagement</a:t>
            </a:r>
          </a:p>
        </p:txBody>
      </p:sp>
      <p:pic>
        <p:nvPicPr>
          <p:cNvPr id="24" name="Picture 23" descr="t_shubham.png"/>
          <p:cNvPicPr>
            <a:picLocks noChangeAspect="1"/>
          </p:cNvPicPr>
          <p:nvPr/>
        </p:nvPicPr>
        <p:blipFill>
          <a:blip r:embed="rId6"/>
          <a:stretch>
            <a:fillRect/>
          </a:stretch>
        </p:blipFill>
        <p:spPr>
          <a:xfrm>
            <a:off x="4279391" y="3374136"/>
            <a:ext cx="566928" cy="566928"/>
          </a:xfrm>
          <a:prstGeom prst="rect">
            <a:avLst/>
          </a:prstGeom>
        </p:spPr>
      </p:pic>
      <p:sp>
        <p:nvSpPr>
          <p:cNvPr id="25" name="TextBox 24"/>
          <p:cNvSpPr txBox="1"/>
          <p:nvPr/>
        </p:nvSpPr>
        <p:spPr>
          <a:xfrm>
            <a:off x="4965191" y="3328416"/>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Shubham Kumar  </a:t>
            </a:r>
            <a:r>
              <a:rPr sz="800" b="1" i="0">
                <a:solidFill>
                  <a:srgbClr val="4A35FF"/>
                </a:solidFill>
                <a:latin typeface="Geist"/>
              </a:rPr>
              <a:t>Policy &amp; Advocacy</a:t>
            </a:r>
          </a:p>
        </p:txBody>
      </p:sp>
      <p:sp>
        <p:nvSpPr>
          <p:cNvPr id="26" name="TextBox 25"/>
          <p:cNvSpPr txBox="1"/>
          <p:nvPr/>
        </p:nvSpPr>
        <p:spPr>
          <a:xfrm>
            <a:off x="4965191" y="3547872"/>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NALSAR Hyderabad · legal research, RTIs, Justice Unserved co-author</a:t>
            </a:r>
          </a:p>
        </p:txBody>
      </p:sp>
      <p:pic>
        <p:nvPicPr>
          <p:cNvPr id="27" name="Picture 26" descr="t_muskan.png"/>
          <p:cNvPicPr>
            <a:picLocks noChangeAspect="1"/>
          </p:cNvPicPr>
          <p:nvPr/>
        </p:nvPicPr>
        <p:blipFill>
          <a:blip r:embed="rId7"/>
          <a:stretch>
            <a:fillRect/>
          </a:stretch>
        </p:blipFill>
        <p:spPr>
          <a:xfrm>
            <a:off x="7991854" y="3374136"/>
            <a:ext cx="566928" cy="566928"/>
          </a:xfrm>
          <a:prstGeom prst="rect">
            <a:avLst/>
          </a:prstGeom>
        </p:spPr>
      </p:pic>
      <p:sp>
        <p:nvSpPr>
          <p:cNvPr id="28" name="TextBox 27"/>
          <p:cNvSpPr txBox="1"/>
          <p:nvPr/>
        </p:nvSpPr>
        <p:spPr>
          <a:xfrm>
            <a:off x="8677654" y="3328416"/>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Muskan Yadav  </a:t>
            </a:r>
            <a:r>
              <a:rPr sz="800" b="1" i="0">
                <a:solidFill>
                  <a:srgbClr val="4A35FF"/>
                </a:solidFill>
                <a:latin typeface="Geist"/>
              </a:rPr>
              <a:t>Programmes</a:t>
            </a:r>
          </a:p>
        </p:txBody>
      </p:sp>
      <p:sp>
        <p:nvSpPr>
          <p:cNvPr id="29" name="TextBox 28"/>
          <p:cNvSpPr txBox="1"/>
          <p:nvPr/>
        </p:nvSpPr>
        <p:spPr>
          <a:xfrm>
            <a:off x="8677654" y="3547872"/>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TISS · runs district programmes, DRSC work and helpdesk operations</a:t>
            </a:r>
          </a:p>
        </p:txBody>
      </p:sp>
      <p:pic>
        <p:nvPicPr>
          <p:cNvPr id="30" name="Picture 29" descr="t_aastha.png"/>
          <p:cNvPicPr>
            <a:picLocks noChangeAspect="1"/>
          </p:cNvPicPr>
          <p:nvPr/>
        </p:nvPicPr>
        <p:blipFill>
          <a:blip r:embed="rId8"/>
          <a:stretch>
            <a:fillRect/>
          </a:stretch>
        </p:blipFill>
        <p:spPr>
          <a:xfrm>
            <a:off x="566928" y="4123944"/>
            <a:ext cx="566928" cy="566928"/>
          </a:xfrm>
          <a:prstGeom prst="rect">
            <a:avLst/>
          </a:prstGeom>
        </p:spPr>
      </p:pic>
      <p:sp>
        <p:nvSpPr>
          <p:cNvPr id="31" name="TextBox 30"/>
          <p:cNvSpPr txBox="1"/>
          <p:nvPr/>
        </p:nvSpPr>
        <p:spPr>
          <a:xfrm>
            <a:off x="1252728" y="4078224"/>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Aastha Shreeharsh  </a:t>
            </a:r>
            <a:r>
              <a:rPr sz="800" b="1" i="0">
                <a:solidFill>
                  <a:srgbClr val="4A35FF"/>
                </a:solidFill>
                <a:latin typeface="Geist"/>
              </a:rPr>
              <a:t>Development Communications</a:t>
            </a:r>
          </a:p>
        </p:txBody>
      </p:sp>
      <p:sp>
        <p:nvSpPr>
          <p:cNvPr id="32" name="TextBox 31"/>
          <p:cNvSpPr txBox="1"/>
          <p:nvPr/>
        </p:nvSpPr>
        <p:spPr>
          <a:xfrm>
            <a:off x="1252728" y="4297680"/>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HKUST · donor &amp; institutional communications, impact reporting</a:t>
            </a:r>
          </a:p>
        </p:txBody>
      </p:sp>
      <p:pic>
        <p:nvPicPr>
          <p:cNvPr id="33" name="Picture 32" descr="t_rohan.png"/>
          <p:cNvPicPr>
            <a:picLocks noChangeAspect="1"/>
          </p:cNvPicPr>
          <p:nvPr/>
        </p:nvPicPr>
        <p:blipFill>
          <a:blip r:embed="rId9"/>
          <a:stretch>
            <a:fillRect/>
          </a:stretch>
        </p:blipFill>
        <p:spPr>
          <a:xfrm>
            <a:off x="4279391" y="4123944"/>
            <a:ext cx="566928" cy="566928"/>
          </a:xfrm>
          <a:prstGeom prst="rect">
            <a:avLst/>
          </a:prstGeom>
        </p:spPr>
      </p:pic>
      <p:sp>
        <p:nvSpPr>
          <p:cNvPr id="34" name="TextBox 33"/>
          <p:cNvSpPr txBox="1"/>
          <p:nvPr/>
        </p:nvSpPr>
        <p:spPr>
          <a:xfrm>
            <a:off x="4965191" y="4078224"/>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Rohan Sharma  </a:t>
            </a:r>
            <a:r>
              <a:rPr sz="800" b="1" i="0">
                <a:solidFill>
                  <a:srgbClr val="4A35FF"/>
                </a:solidFill>
                <a:latin typeface="Geist"/>
              </a:rPr>
              <a:t>Cause Marketing</a:t>
            </a:r>
          </a:p>
        </p:txBody>
      </p:sp>
      <p:sp>
        <p:nvSpPr>
          <p:cNvPr id="35" name="TextBox 34"/>
          <p:cNvSpPr txBox="1"/>
          <p:nvPr/>
        </p:nvSpPr>
        <p:spPr>
          <a:xfrm>
            <a:off x="4965191" y="4297680"/>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Campaigns with police &amp; schools · Road Safety Month, NextMile outreach</a:t>
            </a:r>
          </a:p>
        </p:txBody>
      </p:sp>
      <p:pic>
        <p:nvPicPr>
          <p:cNvPr id="36" name="Picture 35" descr="t_ishita.png"/>
          <p:cNvPicPr>
            <a:picLocks noChangeAspect="1"/>
          </p:cNvPicPr>
          <p:nvPr/>
        </p:nvPicPr>
        <p:blipFill>
          <a:blip r:embed="rId10"/>
          <a:stretch>
            <a:fillRect/>
          </a:stretch>
        </p:blipFill>
        <p:spPr>
          <a:xfrm>
            <a:off x="7991854" y="4123944"/>
            <a:ext cx="566928" cy="566928"/>
          </a:xfrm>
          <a:prstGeom prst="rect">
            <a:avLst/>
          </a:prstGeom>
        </p:spPr>
      </p:pic>
      <p:sp>
        <p:nvSpPr>
          <p:cNvPr id="37" name="TextBox 36"/>
          <p:cNvSpPr txBox="1"/>
          <p:nvPr/>
        </p:nvSpPr>
        <p:spPr>
          <a:xfrm>
            <a:off x="8677654" y="4078224"/>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Ishita Rathore  </a:t>
            </a:r>
            <a:r>
              <a:rPr sz="800" b="1" i="0">
                <a:solidFill>
                  <a:srgbClr val="4A35FF"/>
                </a:solidFill>
                <a:latin typeface="Geist"/>
              </a:rPr>
              <a:t>People &amp; Culture</a:t>
            </a:r>
          </a:p>
        </p:txBody>
      </p:sp>
      <p:sp>
        <p:nvSpPr>
          <p:cNvPr id="38" name="TextBox 37"/>
          <p:cNvSpPr txBox="1"/>
          <p:nvPr/>
        </p:nvSpPr>
        <p:spPr>
          <a:xfrm>
            <a:off x="8677654" y="4297680"/>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Talent, volunteers and the 75+ intern engineering corps</a:t>
            </a:r>
          </a:p>
        </p:txBody>
      </p:sp>
      <p:pic>
        <p:nvPicPr>
          <p:cNvPr id="39" name="Picture 38" descr="t_yuvraj.png"/>
          <p:cNvPicPr>
            <a:picLocks noChangeAspect="1"/>
          </p:cNvPicPr>
          <p:nvPr/>
        </p:nvPicPr>
        <p:blipFill>
          <a:blip r:embed="rId11"/>
          <a:stretch>
            <a:fillRect/>
          </a:stretch>
        </p:blipFill>
        <p:spPr>
          <a:xfrm>
            <a:off x="566928" y="4873752"/>
            <a:ext cx="566928" cy="566928"/>
          </a:xfrm>
          <a:prstGeom prst="rect">
            <a:avLst/>
          </a:prstGeom>
        </p:spPr>
      </p:pic>
      <p:sp>
        <p:nvSpPr>
          <p:cNvPr id="40" name="TextBox 39"/>
          <p:cNvSpPr txBox="1"/>
          <p:nvPr/>
        </p:nvSpPr>
        <p:spPr>
          <a:xfrm>
            <a:off x="1252728" y="4828032"/>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Yuvraj Yadav  </a:t>
            </a:r>
            <a:r>
              <a:rPr sz="800" b="1" i="0">
                <a:solidFill>
                  <a:srgbClr val="4A35FF"/>
                </a:solidFill>
                <a:latin typeface="Geist"/>
              </a:rPr>
              <a:t>Operations</a:t>
            </a:r>
          </a:p>
        </p:txBody>
      </p:sp>
      <p:sp>
        <p:nvSpPr>
          <p:cNvPr id="41" name="TextBox 40"/>
          <p:cNvSpPr txBox="1"/>
          <p:nvPr/>
        </p:nvSpPr>
        <p:spPr>
          <a:xfrm>
            <a:off x="1252728" y="5047488"/>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Field logistics across 18 cities · audit-cohort and event operations</a:t>
            </a:r>
          </a:p>
        </p:txBody>
      </p:sp>
      <p:pic>
        <p:nvPicPr>
          <p:cNvPr id="42" name="Picture 41" descr="t_lovish.png"/>
          <p:cNvPicPr>
            <a:picLocks noChangeAspect="1"/>
          </p:cNvPicPr>
          <p:nvPr/>
        </p:nvPicPr>
        <p:blipFill>
          <a:blip r:embed="rId12"/>
          <a:stretch>
            <a:fillRect/>
          </a:stretch>
        </p:blipFill>
        <p:spPr>
          <a:xfrm>
            <a:off x="4279391" y="4873752"/>
            <a:ext cx="566928" cy="566928"/>
          </a:xfrm>
          <a:prstGeom prst="rect">
            <a:avLst/>
          </a:prstGeom>
        </p:spPr>
      </p:pic>
      <p:sp>
        <p:nvSpPr>
          <p:cNvPr id="43" name="TextBox 42"/>
          <p:cNvSpPr txBox="1"/>
          <p:nvPr/>
        </p:nvSpPr>
        <p:spPr>
          <a:xfrm>
            <a:off x="4965191" y="4828032"/>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Lovish  </a:t>
            </a:r>
            <a:r>
              <a:rPr sz="800" b="1" i="0">
                <a:solidFill>
                  <a:srgbClr val="4A35FF"/>
                </a:solidFill>
                <a:latin typeface="Geist"/>
              </a:rPr>
              <a:t>Creative (Video)</a:t>
            </a:r>
          </a:p>
        </p:txBody>
      </p:sp>
      <p:sp>
        <p:nvSpPr>
          <p:cNvPr id="44" name="TextBox 43"/>
          <p:cNvSpPr txBox="1"/>
          <p:nvPr/>
        </p:nvSpPr>
        <p:spPr>
          <a:xfrm>
            <a:off x="4965191" y="5047488"/>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Video explainers, ground-audit films and the YouTube channel</a:t>
            </a:r>
          </a:p>
        </p:txBody>
      </p:sp>
      <p:pic>
        <p:nvPicPr>
          <p:cNvPr id="45" name="Picture 44" descr="t_shipra.png"/>
          <p:cNvPicPr>
            <a:picLocks noChangeAspect="1"/>
          </p:cNvPicPr>
          <p:nvPr/>
        </p:nvPicPr>
        <p:blipFill>
          <a:blip r:embed="rId13"/>
          <a:stretch>
            <a:fillRect/>
          </a:stretch>
        </p:blipFill>
        <p:spPr>
          <a:xfrm>
            <a:off x="7991854" y="4873752"/>
            <a:ext cx="566928" cy="566928"/>
          </a:xfrm>
          <a:prstGeom prst="rect">
            <a:avLst/>
          </a:prstGeom>
        </p:spPr>
      </p:pic>
      <p:sp>
        <p:nvSpPr>
          <p:cNvPr id="46" name="TextBox 45"/>
          <p:cNvSpPr txBox="1"/>
          <p:nvPr/>
        </p:nvSpPr>
        <p:spPr>
          <a:xfrm>
            <a:off x="8677654" y="4828032"/>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Shipra Kushwaha  </a:t>
            </a:r>
            <a:r>
              <a:rPr sz="800" b="1" i="0">
                <a:solidFill>
                  <a:srgbClr val="4A35FF"/>
                </a:solidFill>
                <a:latin typeface="Geist"/>
              </a:rPr>
              <a:t>Creative (Graphic)</a:t>
            </a:r>
          </a:p>
        </p:txBody>
      </p:sp>
      <p:sp>
        <p:nvSpPr>
          <p:cNvPr id="47" name="TextBox 46"/>
          <p:cNvSpPr txBox="1"/>
          <p:nvPr/>
        </p:nvSpPr>
        <p:spPr>
          <a:xfrm>
            <a:off x="8677654" y="5047488"/>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Guides, comics and bilingual campaign material families actually read</a:t>
            </a:r>
          </a:p>
        </p:txBody>
      </p:sp>
      <p:sp>
        <p:nvSpPr>
          <p:cNvPr id="48" name="Rounded Rectangle 47"/>
          <p:cNvSpPr/>
          <p:nvPr/>
        </p:nvSpPr>
        <p:spPr>
          <a:xfrm>
            <a:off x="566928" y="5532120"/>
            <a:ext cx="11057839" cy="640080"/>
          </a:xfrm>
          <a:prstGeom prst="roundRect">
            <a:avLst>
              <a:gd name="adj" fmla="val 14000"/>
            </a:avLst>
          </a:prstGeom>
          <a:solidFill>
            <a:srgbClr val="F7F7FA"/>
          </a:solidFill>
          <a:ln>
            <a:noFill/>
          </a:ln>
          <a:effectLst/>
        </p:spPr>
        <p:txBody>
          <a:bodyPr rtlCol="0" anchor="ctr"/>
          <a:lstStyle/>
          <a:p>
            <a:pPr algn="ctr"/>
          </a:p>
        </p:txBody>
      </p:sp>
      <p:sp>
        <p:nvSpPr>
          <p:cNvPr id="49" name="TextBox 48"/>
          <p:cNvSpPr txBox="1"/>
          <p:nvPr/>
        </p:nvSpPr>
        <p:spPr>
          <a:xfrm>
            <a:off x="768096" y="5605272"/>
            <a:ext cx="10646359" cy="50292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In-house capabilities: </a:t>
            </a:r>
            <a:r>
              <a:rPr sz="950" b="0" i="0">
                <a:solidFill>
                  <a:srgbClr val="6E7180"/>
                </a:solidFill>
                <a:latin typeface="Geist"/>
              </a:rPr>
              <a:t>road-engineering audits · legal &amp; policy research · AI product development · district operations · behaviour-change communication.   </a:t>
            </a:r>
            <a:r>
              <a:rPr sz="950" b="1" i="0">
                <a:solidFill>
                  <a:srgbClr val="4A35FF"/>
                </a:solidFill>
                <a:latin typeface="Geist"/>
              </a:rPr>
              <a:t>Plus 75+ engineering interns and 31 student audit teams.</a:t>
            </a:r>
          </a:p>
        </p:txBody>
      </p:sp>
      <p:cxnSp>
        <p:nvCxnSpPr>
          <p:cNvPr id="50" name="Connector 49"/>
          <p:cNvCxnSpPr/>
          <p:nvPr/>
        </p:nvCxnSpPr>
        <p:spPr>
          <a:xfrm>
            <a:off x="566928" y="6455664"/>
            <a:ext cx="11057839" cy="0"/>
          </a:xfrm>
          <a:prstGeom prst="line">
            <a:avLst/>
          </a:prstGeom>
          <a:ln w="9525">
            <a:solidFill>
              <a:srgbClr val="E8E9EE"/>
            </a:solidFill>
          </a:ln>
          <a:effectLst/>
        </p:spPr>
      </p:cxnSp>
      <p:sp>
        <p:nvSpPr>
          <p:cNvPr id="51" name="TextBox 5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2" name="TextBox 5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 THE EXPERT BENCH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32688"/>
          </a:xfrm>
          <a:prstGeom prst="roundRect">
            <a:avLst>
              <a:gd name="adj" fmla="val 12000"/>
            </a:avLst>
          </a:prstGeom>
          <a:solidFill>
            <a:srgbClr val="F7F7FA"/>
          </a:solidFill>
          <a:ln>
            <a:noFill/>
          </a:ln>
          <a:effectLst/>
        </p:spPr>
        <p:txBody>
          <a:bodyPr rtlCol="0" anchor="ctr"/>
          <a:lstStyle/>
          <a:p>
            <a:pPr algn="ctr"/>
          </a:p>
        </p:txBody>
      </p:sp>
      <p:pic>
        <p:nvPicPr>
          <p:cNvPr id="8" name="Picture 7" descr="x_gtiwari.png"/>
          <p:cNvPicPr>
            <a:picLocks noChangeAspect="1"/>
          </p:cNvPicPr>
          <p:nvPr/>
        </p:nvPicPr>
        <p:blipFill>
          <a:blip r:embed="rId2"/>
          <a:stretch>
            <a:fillRect/>
          </a:stretch>
        </p:blipFill>
        <p:spPr>
          <a:xfrm>
            <a:off x="694944" y="1682496"/>
            <a:ext cx="676656" cy="676656"/>
          </a:xfrm>
          <a:prstGeom prst="rect">
            <a:avLst/>
          </a:prstGeom>
        </p:spPr>
      </p:pic>
      <p:sp>
        <p:nvSpPr>
          <p:cNvPr id="9" name="TextBox 8"/>
          <p:cNvSpPr txBox="1"/>
          <p:nvPr/>
        </p:nvSpPr>
        <p:spPr>
          <a:xfrm>
            <a:off x="1499616" y="1673352"/>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Board of Advisors</a:t>
            </a:r>
          </a:p>
        </p:txBody>
      </p:sp>
      <p:sp>
        <p:nvSpPr>
          <p:cNvPr id="10" name="TextBox 9"/>
          <p:cNvSpPr txBox="1"/>
          <p:nvPr/>
        </p:nvSpPr>
        <p:spPr>
          <a:xfrm>
            <a:off x="1499616" y="1965960"/>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Member, IRC H-7 Committee on Road Safety Audit</a:t>
            </a:r>
          </a:p>
        </p:txBody>
      </p:sp>
      <p:sp>
        <p:nvSpPr>
          <p:cNvPr id="11" name="Rounded Rectangle 10"/>
          <p:cNvSpPr/>
          <p:nvPr/>
        </p:nvSpPr>
        <p:spPr>
          <a:xfrm>
            <a:off x="6263640" y="1554480"/>
            <a:ext cx="5349240" cy="932688"/>
          </a:xfrm>
          <a:prstGeom prst="roundRect">
            <a:avLst>
              <a:gd name="adj" fmla="val 12000"/>
            </a:avLst>
          </a:prstGeom>
          <a:solidFill>
            <a:srgbClr val="F7F7FA"/>
          </a:solidFill>
          <a:ln>
            <a:noFill/>
          </a:ln>
          <a:effectLst/>
        </p:spPr>
        <p:txBody>
          <a:bodyPr rtlCol="0" anchor="ctr"/>
          <a:lstStyle/>
          <a:p>
            <a:pPr algn="ctr"/>
          </a:p>
        </p:txBody>
      </p:sp>
      <p:sp>
        <p:nvSpPr>
          <p:cNvPr id="12" name="Oval 11"/>
          <p:cNvSpPr/>
          <p:nvPr/>
        </p:nvSpPr>
        <p:spPr>
          <a:xfrm>
            <a:off x="6391656" y="1682496"/>
            <a:ext cx="676656" cy="676656"/>
          </a:xfrm>
          <a:prstGeom prst="ellipse">
            <a:avLst/>
          </a:prstGeom>
          <a:solidFill>
            <a:srgbClr val="EFEDFF"/>
          </a:solidFill>
          <a:ln>
            <a:noFill/>
          </a:ln>
          <a:effectLst/>
        </p:spPr>
        <p:txBody>
          <a:bodyPr rtlCol="0" anchor="ctr"/>
          <a:lstStyle/>
          <a:p>
            <a:pPr algn="ctr"/>
          </a:p>
        </p:txBody>
      </p:sp>
      <p:sp>
        <p:nvSpPr>
          <p:cNvPr id="13" name="TextBox 12"/>
          <p:cNvSpPr txBox="1"/>
          <p:nvPr/>
        </p:nvSpPr>
        <p:spPr>
          <a:xfrm>
            <a:off x="6391656" y="1664208"/>
            <a:ext cx="676656" cy="676656"/>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PT</a:t>
            </a:r>
          </a:p>
        </p:txBody>
      </p:sp>
      <p:sp>
        <p:nvSpPr>
          <p:cNvPr id="14" name="TextBox 13"/>
          <p:cNvSpPr txBox="1"/>
          <p:nvPr/>
        </p:nvSpPr>
        <p:spPr>
          <a:xfrm>
            <a:off x="7196328" y="1673352"/>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Board of Advisors</a:t>
            </a:r>
          </a:p>
        </p:txBody>
      </p:sp>
      <p:sp>
        <p:nvSpPr>
          <p:cNvPr id="15" name="TextBox 14"/>
          <p:cNvSpPr txBox="1"/>
          <p:nvPr/>
        </p:nvSpPr>
        <p:spPr>
          <a:xfrm>
            <a:off x="7196328" y="1965960"/>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6" name="TextBox 15"/>
          <p:cNvSpPr txBox="1"/>
          <p:nvPr/>
        </p:nvSpPr>
        <p:spPr>
          <a:xfrm>
            <a:off x="566928" y="269748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JURY, MENTORS &amp; REVIEWERS AROUND OUR WORK</a:t>
            </a:r>
          </a:p>
        </p:txBody>
      </p:sp>
      <p:pic>
        <p:nvPicPr>
          <p:cNvPr id="17" name="Picture 16" descr="x_midha.png"/>
          <p:cNvPicPr>
            <a:picLocks noChangeAspect="1"/>
          </p:cNvPicPr>
          <p:nvPr/>
        </p:nvPicPr>
        <p:blipFill>
          <a:blip r:embed="rId3"/>
          <a:stretch>
            <a:fillRect/>
          </a:stretch>
        </p:blipFill>
        <p:spPr>
          <a:xfrm>
            <a:off x="1152144" y="2999232"/>
            <a:ext cx="640080" cy="640080"/>
          </a:xfrm>
          <a:prstGeom prst="rect">
            <a:avLst/>
          </a:prstGeom>
        </p:spPr>
      </p:pic>
      <p:sp>
        <p:nvSpPr>
          <p:cNvPr id="18" name="TextBox 17"/>
          <p:cNvSpPr txBox="1"/>
          <p:nvPr/>
        </p:nvSpPr>
        <p:spPr>
          <a:xfrm>
            <a:off x="566928"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9" name="TextBox 18"/>
          <p:cNvSpPr txBox="1"/>
          <p:nvPr/>
        </p:nvSpPr>
        <p:spPr>
          <a:xfrm>
            <a:off x="566928"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20" name="Picture 19" descr="x_damle.png"/>
          <p:cNvPicPr>
            <a:picLocks noChangeAspect="1"/>
          </p:cNvPicPr>
          <p:nvPr/>
        </p:nvPicPr>
        <p:blipFill>
          <a:blip r:embed="rId4"/>
          <a:stretch>
            <a:fillRect/>
          </a:stretch>
        </p:blipFill>
        <p:spPr>
          <a:xfrm>
            <a:off x="3017520" y="2999232"/>
            <a:ext cx="640080" cy="640080"/>
          </a:xfrm>
          <a:prstGeom prst="rect">
            <a:avLst/>
          </a:prstGeom>
        </p:spPr>
      </p:pic>
      <p:sp>
        <p:nvSpPr>
          <p:cNvPr id="21" name="TextBox 20"/>
          <p:cNvSpPr txBox="1"/>
          <p:nvPr/>
        </p:nvSpPr>
        <p:spPr>
          <a:xfrm>
            <a:off x="2432304"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2" name="TextBox 21"/>
          <p:cNvSpPr txBox="1"/>
          <p:nvPr/>
        </p:nvSpPr>
        <p:spPr>
          <a:xfrm>
            <a:off x="2432304"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3" name="Picture 22" descr="x_dange.png"/>
          <p:cNvPicPr>
            <a:picLocks noChangeAspect="1"/>
          </p:cNvPicPr>
          <p:nvPr/>
        </p:nvPicPr>
        <p:blipFill>
          <a:blip r:embed="rId5"/>
          <a:stretch>
            <a:fillRect/>
          </a:stretch>
        </p:blipFill>
        <p:spPr>
          <a:xfrm>
            <a:off x="4882896" y="2999232"/>
            <a:ext cx="640080" cy="640080"/>
          </a:xfrm>
          <a:prstGeom prst="rect">
            <a:avLst/>
          </a:prstGeom>
        </p:spPr>
      </p:pic>
      <p:sp>
        <p:nvSpPr>
          <p:cNvPr id="24" name="TextBox 23"/>
          <p:cNvSpPr txBox="1"/>
          <p:nvPr/>
        </p:nvSpPr>
        <p:spPr>
          <a:xfrm>
            <a:off x="4297680"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5" name="TextBox 24"/>
          <p:cNvSpPr txBox="1"/>
          <p:nvPr/>
        </p:nvSpPr>
        <p:spPr>
          <a:xfrm>
            <a:off x="4297680"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6" name="Picture 25" descr="x_tandon.png"/>
          <p:cNvPicPr>
            <a:picLocks noChangeAspect="1"/>
          </p:cNvPicPr>
          <p:nvPr/>
        </p:nvPicPr>
        <p:blipFill>
          <a:blip r:embed="rId6"/>
          <a:stretch>
            <a:fillRect/>
          </a:stretch>
        </p:blipFill>
        <p:spPr>
          <a:xfrm>
            <a:off x="6748272" y="2999232"/>
            <a:ext cx="640080" cy="640080"/>
          </a:xfrm>
          <a:prstGeom prst="rect">
            <a:avLst/>
          </a:prstGeom>
        </p:spPr>
      </p:pic>
      <p:sp>
        <p:nvSpPr>
          <p:cNvPr id="27" name="TextBox 26"/>
          <p:cNvSpPr txBox="1"/>
          <p:nvPr/>
        </p:nvSpPr>
        <p:spPr>
          <a:xfrm>
            <a:off x="6163056"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8" name="TextBox 27"/>
          <p:cNvSpPr txBox="1"/>
          <p:nvPr/>
        </p:nvSpPr>
        <p:spPr>
          <a:xfrm>
            <a:off x="6163056"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9" name="Picture 28" descr="x_ratnam.png"/>
          <p:cNvPicPr>
            <a:picLocks noChangeAspect="1"/>
          </p:cNvPicPr>
          <p:nvPr/>
        </p:nvPicPr>
        <p:blipFill>
          <a:blip r:embed="rId7"/>
          <a:stretch>
            <a:fillRect/>
          </a:stretch>
        </p:blipFill>
        <p:spPr>
          <a:xfrm>
            <a:off x="8613648" y="2999232"/>
            <a:ext cx="640080" cy="640080"/>
          </a:xfrm>
          <a:prstGeom prst="rect">
            <a:avLst/>
          </a:prstGeom>
        </p:spPr>
      </p:pic>
      <p:sp>
        <p:nvSpPr>
          <p:cNvPr id="30" name="TextBox 29"/>
          <p:cNvSpPr txBox="1"/>
          <p:nvPr/>
        </p:nvSpPr>
        <p:spPr>
          <a:xfrm>
            <a:off x="8028432"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1" name="TextBox 30"/>
          <p:cNvSpPr txBox="1"/>
          <p:nvPr/>
        </p:nvSpPr>
        <p:spPr>
          <a:xfrm>
            <a:off x="8028432"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2" name="Picture 31" descr="x_asrivastava.png"/>
          <p:cNvPicPr>
            <a:picLocks noChangeAspect="1"/>
          </p:cNvPicPr>
          <p:nvPr/>
        </p:nvPicPr>
        <p:blipFill>
          <a:blip r:embed="rId8"/>
          <a:stretch>
            <a:fillRect/>
          </a:stretch>
        </p:blipFill>
        <p:spPr>
          <a:xfrm>
            <a:off x="10479024" y="2999232"/>
            <a:ext cx="640080" cy="640080"/>
          </a:xfrm>
          <a:prstGeom prst="rect">
            <a:avLst/>
          </a:prstGeom>
        </p:spPr>
      </p:pic>
      <p:sp>
        <p:nvSpPr>
          <p:cNvPr id="33" name="TextBox 32"/>
          <p:cNvSpPr txBox="1"/>
          <p:nvPr/>
        </p:nvSpPr>
        <p:spPr>
          <a:xfrm>
            <a:off x="9893808"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4" name="TextBox 33"/>
          <p:cNvSpPr txBox="1"/>
          <p:nvPr/>
        </p:nvSpPr>
        <p:spPr>
          <a:xfrm>
            <a:off x="9893808"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5" name="Picture 34" descr="x_gsingh.png"/>
          <p:cNvPicPr>
            <a:picLocks noChangeAspect="1"/>
          </p:cNvPicPr>
          <p:nvPr/>
        </p:nvPicPr>
        <p:blipFill>
          <a:blip r:embed="rId9"/>
          <a:stretch>
            <a:fillRect/>
          </a:stretch>
        </p:blipFill>
        <p:spPr>
          <a:xfrm>
            <a:off x="1152144" y="4206240"/>
            <a:ext cx="640080" cy="640080"/>
          </a:xfrm>
          <a:prstGeom prst="rect">
            <a:avLst/>
          </a:prstGeom>
        </p:spPr>
      </p:pic>
      <p:sp>
        <p:nvSpPr>
          <p:cNvPr id="36" name="TextBox 35"/>
          <p:cNvSpPr txBox="1"/>
          <p:nvPr/>
        </p:nvSpPr>
        <p:spPr>
          <a:xfrm>
            <a:off x="566928"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Gautam Singh</a:t>
            </a:r>
          </a:p>
        </p:txBody>
      </p:sp>
      <p:sp>
        <p:nvSpPr>
          <p:cNvPr id="37" name="TextBox 36"/>
          <p:cNvSpPr txBox="1"/>
          <p:nvPr/>
        </p:nvSpPr>
        <p:spPr>
          <a:xfrm>
            <a:off x="566928"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SaveLIFE Foundation</a:t>
            </a:r>
          </a:p>
        </p:txBody>
      </p:sp>
      <p:pic>
        <p:nvPicPr>
          <p:cNvPr id="38" name="Picture 37" descr="x_raman.png"/>
          <p:cNvPicPr>
            <a:picLocks noChangeAspect="1"/>
          </p:cNvPicPr>
          <p:nvPr/>
        </p:nvPicPr>
        <p:blipFill>
          <a:blip r:embed="rId10"/>
          <a:stretch>
            <a:fillRect/>
          </a:stretch>
        </p:blipFill>
        <p:spPr>
          <a:xfrm>
            <a:off x="3017520" y="4206240"/>
            <a:ext cx="640080" cy="640080"/>
          </a:xfrm>
          <a:prstGeom prst="rect">
            <a:avLst/>
          </a:prstGeom>
        </p:spPr>
      </p:pic>
      <p:sp>
        <p:nvSpPr>
          <p:cNvPr id="39" name="TextBox 38"/>
          <p:cNvSpPr txBox="1"/>
          <p:nvPr/>
        </p:nvSpPr>
        <p:spPr>
          <a:xfrm>
            <a:off x="2432304"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40" name="TextBox 39"/>
          <p:cNvSpPr txBox="1"/>
          <p:nvPr/>
        </p:nvSpPr>
        <p:spPr>
          <a:xfrm>
            <a:off x="2432304"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41" name="Picture 40" descr="x_nkumar.png"/>
          <p:cNvPicPr>
            <a:picLocks noChangeAspect="1"/>
          </p:cNvPicPr>
          <p:nvPr/>
        </p:nvPicPr>
        <p:blipFill>
          <a:blip r:embed="rId11"/>
          <a:stretch>
            <a:fillRect/>
          </a:stretch>
        </p:blipFill>
        <p:spPr>
          <a:xfrm>
            <a:off x="4882896" y="4206240"/>
            <a:ext cx="640080" cy="640080"/>
          </a:xfrm>
          <a:prstGeom prst="rect">
            <a:avLst/>
          </a:prstGeom>
        </p:spPr>
      </p:pic>
      <p:sp>
        <p:nvSpPr>
          <p:cNvPr id="42" name="TextBox 41"/>
          <p:cNvSpPr txBox="1"/>
          <p:nvPr/>
        </p:nvSpPr>
        <p:spPr>
          <a:xfrm>
            <a:off x="4297680"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43" name="TextBox 42"/>
          <p:cNvSpPr txBox="1"/>
          <p:nvPr/>
        </p:nvSpPr>
        <p:spPr>
          <a:xfrm>
            <a:off x="4297680"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4" name="Picture 43" descr="x_pandey.png"/>
          <p:cNvPicPr>
            <a:picLocks noChangeAspect="1"/>
          </p:cNvPicPr>
          <p:nvPr/>
        </p:nvPicPr>
        <p:blipFill>
          <a:blip r:embed="rId12"/>
          <a:stretch>
            <a:fillRect/>
          </a:stretch>
        </p:blipFill>
        <p:spPr>
          <a:xfrm>
            <a:off x="6748272" y="4206240"/>
            <a:ext cx="640080" cy="640080"/>
          </a:xfrm>
          <a:prstGeom prst="rect">
            <a:avLst/>
          </a:prstGeom>
        </p:spPr>
      </p:pic>
      <p:sp>
        <p:nvSpPr>
          <p:cNvPr id="45" name="TextBox 44"/>
          <p:cNvSpPr txBox="1"/>
          <p:nvPr/>
        </p:nvSpPr>
        <p:spPr>
          <a:xfrm>
            <a:off x="6163056"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6" name="TextBox 45"/>
          <p:cNvSpPr txBox="1"/>
          <p:nvPr/>
        </p:nvSpPr>
        <p:spPr>
          <a:xfrm>
            <a:off x="6163056"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7" name="Picture 46" descr="x_dash.png"/>
          <p:cNvPicPr>
            <a:picLocks noChangeAspect="1"/>
          </p:cNvPicPr>
          <p:nvPr/>
        </p:nvPicPr>
        <p:blipFill>
          <a:blip r:embed="rId13"/>
          <a:stretch>
            <a:fillRect/>
          </a:stretch>
        </p:blipFill>
        <p:spPr>
          <a:xfrm>
            <a:off x="8613648" y="4206240"/>
            <a:ext cx="640080" cy="640080"/>
          </a:xfrm>
          <a:prstGeom prst="rect">
            <a:avLst/>
          </a:prstGeom>
        </p:spPr>
      </p:pic>
      <p:sp>
        <p:nvSpPr>
          <p:cNvPr id="48" name="TextBox 47"/>
          <p:cNvSpPr txBox="1"/>
          <p:nvPr/>
        </p:nvSpPr>
        <p:spPr>
          <a:xfrm>
            <a:off x="8028432"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9" name="TextBox 48"/>
          <p:cNvSpPr txBox="1"/>
          <p:nvPr/>
        </p:nvSpPr>
        <p:spPr>
          <a:xfrm>
            <a:off x="8028432"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50" name="Rounded Rectangle 49"/>
          <p:cNvSpPr/>
          <p:nvPr/>
        </p:nvSpPr>
        <p:spPr>
          <a:xfrm>
            <a:off x="566928" y="5559552"/>
            <a:ext cx="11057839" cy="621792"/>
          </a:xfrm>
          <a:prstGeom prst="roundRect">
            <a:avLst>
              <a:gd name="adj" fmla="val 14000"/>
            </a:avLst>
          </a:prstGeom>
          <a:solidFill>
            <a:srgbClr val="F7F7FA"/>
          </a:solidFill>
          <a:ln>
            <a:noFill/>
          </a:ln>
          <a:effectLst/>
        </p:spPr>
        <p:txBody>
          <a:bodyPr rtlCol="0" anchor="ctr"/>
          <a:lstStyle/>
          <a:p>
            <a:pPr algn="ctr"/>
          </a:p>
        </p:txBody>
      </p:sp>
      <p:sp>
        <p:nvSpPr>
          <p:cNvPr id="51" name="TextBox 50"/>
          <p:cNvSpPr txBox="1"/>
          <p:nvPr/>
        </p:nvSpPr>
        <p:spPr>
          <a:xfrm>
            <a:off x="768096" y="5623560"/>
            <a:ext cx="10646359" cy="502920"/>
          </a:xfrm>
          <a:prstGeom prst="rect">
            <a:avLst/>
          </a:prstGeom>
          <a:noFill/>
        </p:spPr>
        <p:txBody>
          <a:bodyPr wrap="square" lIns="0" rIns="0" tIns="0" bIns="0" anchor="t">
            <a:spAutoFit/>
          </a:bodyPr>
          <a:lstStyle/>
          <a:p>
            <a:pPr algn="l">
              <a:lnSpc>
                <a:spcPct val="125000"/>
              </a:lnSpc>
            </a:pPr>
            <a:r>
              <a:rPr sz="900" b="1" i="0">
                <a:solidFill>
                  <a:srgbClr val="16181D"/>
                </a:solidFill>
                <a:latin typeface="Geist"/>
              </a:rPr>
              <a:t>Engaged through the National Road Safety Dialogue Series: </a:t>
            </a:r>
            <a:r>
              <a:rPr sz="900" b="0" i="0">
                <a:solidFill>
                  <a:srgbClr val="6E7180"/>
                </a:solidFill>
                <a:latin typeface="Geist"/>
              </a:rPr>
              <a:t>Balraj Bhanot (ex-Chair, CMVR-TSC) · I.V. Rao (TERI; ex-Maruti Suzuki) · D.P. Saste (CIRT / ex-MoRTH) · Dr. Sushma Sagar (AIIMS Trauma) · Dr. S. Velmurugan (CSIR-CRRI), and jurors from OMI, NIUA, WRI, CII and Tata AIG.</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PROBLEM, MEASURED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Compensation pendency, </a:t>
            </a:r>
            <a:r>
              <a:rPr sz="2250" b="1" i="0">
                <a:solidFill>
                  <a:srgbClr val="4A35FF"/>
                </a:solidFill>
                <a:latin typeface="Montserrat"/>
              </a:rPr>
              <a:t>in numbers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Families and courts both lose to process friction. This is a pipeline problem, and pipelines can be fixed with standards and visibility.</a:t>
            </a:r>
          </a:p>
        </p:txBody>
      </p:sp>
      <p:sp>
        <p:nvSpPr>
          <p:cNvPr id="8" name="Rounded Rectangle 7"/>
          <p:cNvSpPr/>
          <p:nvPr/>
        </p:nvSpPr>
        <p:spPr>
          <a:xfrm>
            <a:off x="566928" y="2148840"/>
            <a:ext cx="3611880" cy="1243584"/>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2585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₹80,000+ Cr</a:t>
            </a:r>
          </a:p>
        </p:txBody>
      </p:sp>
      <p:sp>
        <p:nvSpPr>
          <p:cNvPr id="10" name="TextBox 9"/>
          <p:cNvSpPr txBox="1"/>
          <p:nvPr/>
        </p:nvSpPr>
        <p:spPr>
          <a:xfrm>
            <a:off x="731520" y="27340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held up across 10.46 lakh pending MACT cases nationally</a:t>
            </a:r>
          </a:p>
        </p:txBody>
      </p:sp>
      <p:sp>
        <p:nvSpPr>
          <p:cNvPr id="11" name="Rounded Rectangle 10"/>
          <p:cNvSpPr/>
          <p:nvPr/>
        </p:nvSpPr>
        <p:spPr>
          <a:xfrm>
            <a:off x="4288536" y="2148840"/>
            <a:ext cx="3611880" cy="1243584"/>
          </a:xfrm>
          <a:prstGeom prst="roundRect">
            <a:avLst>
              <a:gd name="adj" fmla="val 8000"/>
            </a:avLst>
          </a:prstGeom>
          <a:solidFill>
            <a:srgbClr val="F7F7FA"/>
          </a:solidFill>
          <a:ln>
            <a:noFill/>
          </a:ln>
          <a:effectLst/>
        </p:spPr>
        <p:txBody>
          <a:bodyPr rtlCol="0" anchor="ctr"/>
          <a:lstStyle/>
          <a:p>
            <a:pPr algn="ctr"/>
          </a:p>
        </p:txBody>
      </p:sp>
      <p:sp>
        <p:nvSpPr>
          <p:cNvPr id="12" name="TextBox 11"/>
          <p:cNvSpPr txBox="1"/>
          <p:nvPr/>
        </p:nvSpPr>
        <p:spPr>
          <a:xfrm>
            <a:off x="4453128" y="22585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11 lakh</a:t>
            </a:r>
          </a:p>
        </p:txBody>
      </p:sp>
      <p:sp>
        <p:nvSpPr>
          <p:cNvPr id="13" name="TextBox 12"/>
          <p:cNvSpPr txBox="1"/>
          <p:nvPr/>
        </p:nvSpPr>
        <p:spPr>
          <a:xfrm>
            <a:off x="4453128" y="27340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claims pending in MACT courts (FY 2023)</a:t>
            </a:r>
          </a:p>
        </p:txBody>
      </p:sp>
      <p:sp>
        <p:nvSpPr>
          <p:cNvPr id="14" name="Rounded Rectangle 13"/>
          <p:cNvSpPr/>
          <p:nvPr/>
        </p:nvSpPr>
        <p:spPr>
          <a:xfrm>
            <a:off x="8010144" y="2148840"/>
            <a:ext cx="3611880" cy="1243584"/>
          </a:xfrm>
          <a:prstGeom prst="roundRect">
            <a:avLst>
              <a:gd name="adj" fmla="val 8000"/>
            </a:avLst>
          </a:prstGeom>
          <a:solidFill>
            <a:srgbClr val="F7F7FA"/>
          </a:solidFill>
          <a:ln>
            <a:noFill/>
          </a:ln>
          <a:effectLst/>
        </p:spPr>
        <p:txBody>
          <a:bodyPr rtlCol="0" anchor="ctr"/>
          <a:lstStyle/>
          <a:p>
            <a:pPr algn="ctr"/>
          </a:p>
        </p:txBody>
      </p:sp>
      <p:sp>
        <p:nvSpPr>
          <p:cNvPr id="15" name="TextBox 14"/>
          <p:cNvSpPr txBox="1"/>
          <p:nvPr/>
        </p:nvSpPr>
        <p:spPr>
          <a:xfrm>
            <a:off x="8174736" y="22585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3.6 years</a:t>
            </a:r>
          </a:p>
        </p:txBody>
      </p:sp>
      <p:sp>
        <p:nvSpPr>
          <p:cNvPr id="16" name="TextBox 15"/>
          <p:cNvSpPr txBox="1"/>
          <p:nvPr/>
        </p:nvSpPr>
        <p:spPr>
          <a:xfrm>
            <a:off x="8174736" y="27340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average time to settlement, for those who persist</a:t>
            </a:r>
          </a:p>
        </p:txBody>
      </p:sp>
      <p:sp>
        <p:nvSpPr>
          <p:cNvPr id="17" name="Rounded Rectangle 16"/>
          <p:cNvSpPr/>
          <p:nvPr/>
        </p:nvSpPr>
        <p:spPr>
          <a:xfrm>
            <a:off x="566928" y="3520440"/>
            <a:ext cx="3611880" cy="1243584"/>
          </a:xfrm>
          <a:prstGeom prst="roundRect">
            <a:avLst>
              <a:gd name="adj" fmla="val 8000"/>
            </a:avLst>
          </a:prstGeom>
          <a:solidFill>
            <a:srgbClr val="F7F7FA"/>
          </a:solidFill>
          <a:ln>
            <a:noFill/>
          </a:ln>
          <a:effectLst/>
        </p:spPr>
        <p:txBody>
          <a:bodyPr rtlCol="0" anchor="ctr"/>
          <a:lstStyle/>
          <a:p>
            <a:pPr algn="ctr"/>
          </a:p>
        </p:txBody>
      </p:sp>
      <p:sp>
        <p:nvSpPr>
          <p:cNvPr id="18" name="TextBox 17"/>
          <p:cNvSpPr txBox="1"/>
          <p:nvPr/>
        </p:nvSpPr>
        <p:spPr>
          <a:xfrm>
            <a:off x="731520" y="36301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20–40</a:t>
            </a:r>
          </a:p>
        </p:txBody>
      </p:sp>
      <p:sp>
        <p:nvSpPr>
          <p:cNvPr id="19" name="TextBox 18"/>
          <p:cNvSpPr txBox="1"/>
          <p:nvPr/>
        </p:nvSpPr>
        <p:spPr>
          <a:xfrm>
            <a:off x="731520" y="41056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office visits to keep a single claim alive</a:t>
            </a:r>
          </a:p>
        </p:txBody>
      </p:sp>
      <p:sp>
        <p:nvSpPr>
          <p:cNvPr id="20" name="Rounded Rectangle 19"/>
          <p:cNvSpPr/>
          <p:nvPr/>
        </p:nvSpPr>
        <p:spPr>
          <a:xfrm>
            <a:off x="4288536" y="3520440"/>
            <a:ext cx="3611880" cy="1243584"/>
          </a:xfrm>
          <a:prstGeom prst="roundRect">
            <a:avLst>
              <a:gd name="adj" fmla="val 8000"/>
            </a:avLst>
          </a:prstGeom>
          <a:solidFill>
            <a:srgbClr val="F7F7FA"/>
          </a:solidFill>
          <a:ln>
            <a:noFill/>
          </a:ln>
          <a:effectLst/>
        </p:spPr>
        <p:txBody>
          <a:bodyPr rtlCol="0" anchor="ctr"/>
          <a:lstStyle/>
          <a:p>
            <a:pPr algn="ctr"/>
          </a:p>
        </p:txBody>
      </p:sp>
      <p:sp>
        <p:nvSpPr>
          <p:cNvPr id="21" name="TextBox 20"/>
          <p:cNvSpPr txBox="1"/>
          <p:nvPr/>
        </p:nvSpPr>
        <p:spPr>
          <a:xfrm>
            <a:off x="4453128" y="36301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~1 in 7</a:t>
            </a:r>
          </a:p>
        </p:txBody>
      </p:sp>
      <p:sp>
        <p:nvSpPr>
          <p:cNvPr id="22" name="TextBox 21"/>
          <p:cNvSpPr txBox="1"/>
          <p:nvPr/>
        </p:nvSpPr>
        <p:spPr>
          <a:xfrm>
            <a:off x="4453128" y="41056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hit-and-run crashes becomes a registered compensation claim (FY26)</a:t>
            </a:r>
          </a:p>
        </p:txBody>
      </p:sp>
      <p:sp>
        <p:nvSpPr>
          <p:cNvPr id="23" name="Rounded Rectangle 22"/>
          <p:cNvSpPr/>
          <p:nvPr/>
        </p:nvSpPr>
        <p:spPr>
          <a:xfrm>
            <a:off x="8010144" y="3520440"/>
            <a:ext cx="3611880" cy="1243584"/>
          </a:xfrm>
          <a:prstGeom prst="roundRect">
            <a:avLst>
              <a:gd name="adj" fmla="val 8000"/>
            </a:avLst>
          </a:prstGeom>
          <a:solidFill>
            <a:srgbClr val="F7F7FA"/>
          </a:solidFill>
          <a:ln>
            <a:noFill/>
          </a:ln>
          <a:effectLst/>
        </p:spPr>
        <p:txBody>
          <a:bodyPr rtlCol="0" anchor="ctr"/>
          <a:lstStyle/>
          <a:p>
            <a:pPr algn="ctr"/>
          </a:p>
        </p:txBody>
      </p:sp>
      <p:sp>
        <p:nvSpPr>
          <p:cNvPr id="24" name="TextBox 23"/>
          <p:cNvSpPr txBox="1"/>
          <p:nvPr/>
        </p:nvSpPr>
        <p:spPr>
          <a:xfrm>
            <a:off x="8174736" y="3630168"/>
            <a:ext cx="3282696" cy="457200"/>
          </a:xfrm>
          <a:prstGeom prst="rect">
            <a:avLst/>
          </a:prstGeom>
          <a:noFill/>
        </p:spPr>
        <p:txBody>
          <a:bodyPr wrap="square" lIns="0" rIns="0" tIns="0" bIns="0" anchor="t">
            <a:spAutoFit/>
          </a:bodyPr>
          <a:lstStyle/>
          <a:p>
            <a:pPr algn="l">
              <a:lnSpc>
                <a:spcPct val="128000"/>
              </a:lnSpc>
            </a:pPr>
            <a:r>
              <a:rPr sz="2000" b="1" i="0">
                <a:solidFill>
                  <a:srgbClr val="E58900"/>
                </a:solidFill>
                <a:latin typeface="Montserrat"/>
              </a:rPr>
              <a:t>~₹986 Cr</a:t>
            </a:r>
          </a:p>
        </p:txBody>
      </p:sp>
      <p:sp>
        <p:nvSpPr>
          <p:cNvPr id="25" name="TextBox 24"/>
          <p:cNvSpPr txBox="1"/>
          <p:nvPr/>
        </p:nvSpPr>
        <p:spPr>
          <a:xfrm>
            <a:off x="8174736" y="41056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awarded but unclaimed in MACT accounts, in just 5 cities</a:t>
            </a:r>
          </a:p>
        </p:txBody>
      </p:sp>
      <p:pic>
        <p:nvPicPr>
          <p:cNvPr id="26" name="Picture 25" descr="cov_deposited.png"/>
          <p:cNvPicPr>
            <a:picLocks noChangeAspect="1"/>
          </p:cNvPicPr>
          <p:nvPr/>
        </p:nvPicPr>
        <p:blipFill>
          <a:blip r:embed="rId2"/>
          <a:stretch>
            <a:fillRect/>
          </a:stretch>
        </p:blipFill>
        <p:spPr>
          <a:xfrm>
            <a:off x="9464040" y="5029200"/>
            <a:ext cx="871082" cy="1143000"/>
          </a:xfrm>
          <a:prstGeom prst="rect">
            <a:avLst/>
          </a:prstGeom>
        </p:spPr>
      </p:pic>
      <p:sp>
        <p:nvSpPr>
          <p:cNvPr id="27" name="Rectangle 26"/>
          <p:cNvSpPr/>
          <p:nvPr/>
        </p:nvSpPr>
        <p:spPr>
          <a:xfrm>
            <a:off x="9464040" y="5029200"/>
            <a:ext cx="871082" cy="1143000"/>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566928" y="5120640"/>
            <a:ext cx="9052560" cy="822960"/>
          </a:xfrm>
          <a:prstGeom prst="rect">
            <a:avLst/>
          </a:prstGeom>
          <a:noFill/>
        </p:spPr>
        <p:txBody>
          <a:bodyPr wrap="square" lIns="0" rIns="0" tIns="0" bIns="0" anchor="t">
            <a:spAutoFit/>
          </a:bodyPr>
          <a:lstStyle/>
          <a:p>
            <a:pPr algn="l">
              <a:lnSpc>
                <a:spcPct val="135000"/>
              </a:lnSpc>
            </a:pPr>
            <a:r>
              <a:rPr sz="1050" b="1" i="0">
                <a:solidFill>
                  <a:srgbClr val="16181D"/>
                </a:solidFill>
                <a:latin typeface="Geist"/>
              </a:rPr>
              <a:t>'Deposited But Not Delivered' </a:t>
            </a:r>
            <a:r>
              <a:rPr sz="1050" b="0" i="0">
                <a:solidFill>
                  <a:srgbClr val="6E7180"/>
                </a:solidFill>
                <a:latin typeface="Geist"/>
              </a:rPr>
              <a:t>, our research brief on court-awarded money that never reaches families, maps exactly where the pipeline leaks: awareness, documents, traceability, and the hand-offs between offices.</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OUR RESEARCH FOUNDATION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'Justice Unserved', </a:t>
            </a:r>
            <a:r>
              <a:rPr sz="2250" b="1" i="0">
                <a:solidFill>
                  <a:srgbClr val="4A35FF"/>
                </a:solidFill>
                <a:latin typeface="Montserrat"/>
              </a:rPr>
              <a:t>the evidence base</a:t>
            </a:r>
            <a:r>
              <a:rPr sz="2250" b="1" i="0">
                <a:solidFill>
                  <a:srgbClr val="16181D"/>
                </a:solidFill>
                <a:latin typeface="Montserrat"/>
              </a:rPr>
              <a:t> we built first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Published January 2026 · launched at IIT Delhi · findings presented to MoRTH · covered by national press.</a:t>
            </a:r>
          </a:p>
        </p:txBody>
      </p:sp>
      <p:pic>
        <p:nvPicPr>
          <p:cNvPr id="8" name="Picture 7" descr="opt_comp_image1_1500.jpg"/>
          <p:cNvPicPr>
            <a:picLocks noChangeAspect="1"/>
          </p:cNvPicPr>
          <p:nvPr/>
        </p:nvPicPr>
        <p:blipFill>
          <a:blip r:embed="rId2"/>
          <a:stretch>
            <a:fillRect/>
          </a:stretch>
        </p:blipFill>
        <p:spPr>
          <a:xfrm>
            <a:off x="566928" y="1965960"/>
            <a:ext cx="2514600" cy="3244842"/>
          </a:xfrm>
          <a:prstGeom prst="rect">
            <a:avLst/>
          </a:prstGeom>
        </p:spPr>
      </p:pic>
      <p:sp>
        <p:nvSpPr>
          <p:cNvPr id="9" name="Rectangle 8"/>
          <p:cNvSpPr/>
          <p:nvPr/>
        </p:nvSpPr>
        <p:spPr>
          <a:xfrm>
            <a:off x="566928" y="1965960"/>
            <a:ext cx="2514600" cy="3244842"/>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56522"/>
            <a:ext cx="25146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The report, file reviews, RTIs and</a:t>
            </a:r>
          </a:p>
          <a:p>
            <a:pPr algn="l">
              <a:lnSpc>
                <a:spcPct val="110000"/>
              </a:lnSpc>
            </a:pPr>
            <a:r>
              <a:rPr sz="850" b="0" i="0">
                <a:solidFill>
                  <a:srgbClr val="6E7180"/>
                </a:solidFill>
                <a:latin typeface="Geist"/>
              </a:rPr>
              <a:t>consultations across the pipeline.</a:t>
            </a:r>
          </a:p>
        </p:txBody>
      </p:sp>
      <p:sp>
        <p:nvSpPr>
          <p:cNvPr id="11" name="Oval 10"/>
          <p:cNvSpPr/>
          <p:nvPr/>
        </p:nvSpPr>
        <p:spPr>
          <a:xfrm>
            <a:off x="3611880" y="1965960"/>
            <a:ext cx="365760" cy="365760"/>
          </a:xfrm>
          <a:prstGeom prst="ellipse">
            <a:avLst/>
          </a:prstGeom>
          <a:solidFill>
            <a:srgbClr val="FDF3E3"/>
          </a:solidFill>
          <a:ln>
            <a:noFill/>
          </a:ln>
          <a:effectLst/>
        </p:spPr>
        <p:txBody>
          <a:bodyPr rtlCol="0" anchor="ctr"/>
          <a:lstStyle/>
          <a:p>
            <a:pPr algn="ctr"/>
          </a:p>
        </p:txBody>
      </p:sp>
      <p:pic>
        <p:nvPicPr>
          <p:cNvPr id="12" name="Picture 11" descr="megaphone_E58900_256_2.0.png"/>
          <p:cNvPicPr>
            <a:picLocks noChangeAspect="1"/>
          </p:cNvPicPr>
          <p:nvPr/>
        </p:nvPicPr>
        <p:blipFill>
          <a:blip r:embed="rId3"/>
          <a:stretch>
            <a:fillRect/>
          </a:stretch>
        </p:blipFill>
        <p:spPr>
          <a:xfrm>
            <a:off x="3699662" y="2053742"/>
            <a:ext cx="190195" cy="190195"/>
          </a:xfrm>
          <a:prstGeom prst="rect">
            <a:avLst/>
          </a:prstGeom>
        </p:spPr>
      </p:pic>
      <p:sp>
        <p:nvSpPr>
          <p:cNvPr id="13" name="TextBox 12"/>
          <p:cNvSpPr txBox="1"/>
          <p:nvPr/>
        </p:nvSpPr>
        <p:spPr>
          <a:xfrm>
            <a:off x="4114800" y="1947672"/>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Awareness</a:t>
            </a:r>
          </a:p>
        </p:txBody>
      </p:sp>
      <p:sp>
        <p:nvSpPr>
          <p:cNvPr id="14" name="TextBox 13"/>
          <p:cNvSpPr txBox="1"/>
          <p:nvPr/>
        </p:nvSpPr>
        <p:spPr>
          <a:xfrm>
            <a:off x="5696711" y="1947672"/>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70% of low-income families are unaware compensation exists.</a:t>
            </a:r>
          </a:p>
        </p:txBody>
      </p:sp>
      <p:sp>
        <p:nvSpPr>
          <p:cNvPr id="15" name="Oval 14"/>
          <p:cNvSpPr/>
          <p:nvPr/>
        </p:nvSpPr>
        <p:spPr>
          <a:xfrm>
            <a:off x="3611880" y="2624328"/>
            <a:ext cx="365760" cy="365760"/>
          </a:xfrm>
          <a:prstGeom prst="ellipse">
            <a:avLst/>
          </a:prstGeom>
          <a:solidFill>
            <a:srgbClr val="FDF3E3"/>
          </a:solidFill>
          <a:ln>
            <a:noFill/>
          </a:ln>
          <a:effectLst/>
        </p:spPr>
        <p:txBody>
          <a:bodyPr rtlCol="0" anchor="ctr"/>
          <a:lstStyle/>
          <a:p>
            <a:pPr algn="ctr"/>
          </a:p>
        </p:txBody>
      </p:sp>
      <p:pic>
        <p:nvPicPr>
          <p:cNvPr id="16" name="Picture 15" descr="clock_E58900_256_2.0.png"/>
          <p:cNvPicPr>
            <a:picLocks noChangeAspect="1"/>
          </p:cNvPicPr>
          <p:nvPr/>
        </p:nvPicPr>
        <p:blipFill>
          <a:blip r:embed="rId4"/>
          <a:stretch>
            <a:fillRect/>
          </a:stretch>
        </p:blipFill>
        <p:spPr>
          <a:xfrm>
            <a:off x="3699662" y="2712110"/>
            <a:ext cx="190195" cy="190195"/>
          </a:xfrm>
          <a:prstGeom prst="rect">
            <a:avLst/>
          </a:prstGeom>
        </p:spPr>
      </p:pic>
      <p:sp>
        <p:nvSpPr>
          <p:cNvPr id="17" name="TextBox 16"/>
          <p:cNvSpPr txBox="1"/>
          <p:nvPr/>
        </p:nvSpPr>
        <p:spPr>
          <a:xfrm>
            <a:off x="4114800" y="2606040"/>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Timeliness</a:t>
            </a:r>
          </a:p>
        </p:txBody>
      </p:sp>
      <p:sp>
        <p:nvSpPr>
          <p:cNvPr id="18" name="TextBox 17"/>
          <p:cNvSpPr txBox="1"/>
          <p:nvPr/>
        </p:nvSpPr>
        <p:spPr>
          <a:xfrm>
            <a:off x="5696711" y="2606040"/>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3.6-year average claim; MACT cases often run 8–10 years.</a:t>
            </a:r>
          </a:p>
        </p:txBody>
      </p:sp>
      <p:sp>
        <p:nvSpPr>
          <p:cNvPr id="19" name="Oval 18"/>
          <p:cNvSpPr/>
          <p:nvPr/>
        </p:nvSpPr>
        <p:spPr>
          <a:xfrm>
            <a:off x="3611880" y="3282696"/>
            <a:ext cx="365760" cy="365760"/>
          </a:xfrm>
          <a:prstGeom prst="ellipse">
            <a:avLst/>
          </a:prstGeom>
          <a:solidFill>
            <a:srgbClr val="FDF3E3"/>
          </a:solidFill>
          <a:ln>
            <a:noFill/>
          </a:ln>
          <a:effectLst/>
        </p:spPr>
        <p:txBody>
          <a:bodyPr rtlCol="0" anchor="ctr"/>
          <a:lstStyle/>
          <a:p>
            <a:pPr algn="ctr"/>
          </a:p>
        </p:txBody>
      </p:sp>
      <p:pic>
        <p:nvPicPr>
          <p:cNvPr id="20" name="Picture 19" descr="file-x_E58900_256_2.0.png"/>
          <p:cNvPicPr>
            <a:picLocks noChangeAspect="1"/>
          </p:cNvPicPr>
          <p:nvPr/>
        </p:nvPicPr>
        <p:blipFill>
          <a:blip r:embed="rId5"/>
          <a:stretch>
            <a:fillRect/>
          </a:stretch>
        </p:blipFill>
        <p:spPr>
          <a:xfrm>
            <a:off x="3699662" y="3370478"/>
            <a:ext cx="190195" cy="190195"/>
          </a:xfrm>
          <a:prstGeom prst="rect">
            <a:avLst/>
          </a:prstGeom>
        </p:spPr>
      </p:pic>
      <p:sp>
        <p:nvSpPr>
          <p:cNvPr id="21" name="TextBox 20"/>
          <p:cNvSpPr txBox="1"/>
          <p:nvPr/>
        </p:nvSpPr>
        <p:spPr>
          <a:xfrm>
            <a:off x="4114800" y="3264408"/>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Documentation</a:t>
            </a:r>
          </a:p>
        </p:txBody>
      </p:sp>
      <p:sp>
        <p:nvSpPr>
          <p:cNvPr id="22" name="TextBox 21"/>
          <p:cNvSpPr txBox="1"/>
          <p:nvPr/>
        </p:nvSpPr>
        <p:spPr>
          <a:xfrm>
            <a:off x="5696711" y="3264408"/>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90% of pending hit-and-run claims stall on documents alone.</a:t>
            </a:r>
          </a:p>
        </p:txBody>
      </p:sp>
      <p:sp>
        <p:nvSpPr>
          <p:cNvPr id="23" name="Oval 22"/>
          <p:cNvSpPr/>
          <p:nvPr/>
        </p:nvSpPr>
        <p:spPr>
          <a:xfrm>
            <a:off x="3611880" y="3941064"/>
            <a:ext cx="365760" cy="365760"/>
          </a:xfrm>
          <a:prstGeom prst="ellipse">
            <a:avLst/>
          </a:prstGeom>
          <a:solidFill>
            <a:srgbClr val="FDF3E3"/>
          </a:solidFill>
          <a:ln>
            <a:noFill/>
          </a:ln>
          <a:effectLst/>
        </p:spPr>
        <p:txBody>
          <a:bodyPr rtlCol="0" anchor="ctr"/>
          <a:lstStyle/>
          <a:p>
            <a:pPr algn="ctr"/>
          </a:p>
        </p:txBody>
      </p:sp>
      <p:pic>
        <p:nvPicPr>
          <p:cNvPr id="24" name="Picture 23" descr="scale_E58900_256_2.0.png"/>
          <p:cNvPicPr>
            <a:picLocks noChangeAspect="1"/>
          </p:cNvPicPr>
          <p:nvPr/>
        </p:nvPicPr>
        <p:blipFill>
          <a:blip r:embed="rId6"/>
          <a:stretch>
            <a:fillRect/>
          </a:stretch>
        </p:blipFill>
        <p:spPr>
          <a:xfrm>
            <a:off x="3699662" y="4028846"/>
            <a:ext cx="190195" cy="190195"/>
          </a:xfrm>
          <a:prstGeom prst="rect">
            <a:avLst/>
          </a:prstGeom>
        </p:spPr>
      </p:pic>
      <p:sp>
        <p:nvSpPr>
          <p:cNvPr id="25" name="TextBox 24"/>
          <p:cNvSpPr txBox="1"/>
          <p:nvPr/>
        </p:nvSpPr>
        <p:spPr>
          <a:xfrm>
            <a:off x="4114800" y="3922776"/>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Adequacy</a:t>
            </a:r>
          </a:p>
        </p:txBody>
      </p:sp>
      <p:sp>
        <p:nvSpPr>
          <p:cNvPr id="26" name="TextBox 25"/>
          <p:cNvSpPr txBox="1"/>
          <p:nvPr/>
        </p:nvSpPr>
        <p:spPr>
          <a:xfrm>
            <a:off x="5696711" y="3922776"/>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Informal workers are often valued at minimum wage in courts.</a:t>
            </a:r>
          </a:p>
        </p:txBody>
      </p:sp>
      <p:sp>
        <p:nvSpPr>
          <p:cNvPr id="27" name="Oval 26"/>
          <p:cNvSpPr/>
          <p:nvPr/>
        </p:nvSpPr>
        <p:spPr>
          <a:xfrm>
            <a:off x="3611880" y="4599432"/>
            <a:ext cx="365760" cy="365760"/>
          </a:xfrm>
          <a:prstGeom prst="ellipse">
            <a:avLst/>
          </a:prstGeom>
          <a:solidFill>
            <a:srgbClr val="FDF3E3"/>
          </a:solidFill>
          <a:ln>
            <a:noFill/>
          </a:ln>
          <a:effectLst/>
        </p:spPr>
        <p:txBody>
          <a:bodyPr rtlCol="0" anchor="ctr"/>
          <a:lstStyle/>
          <a:p>
            <a:pPr algn="ctr"/>
          </a:p>
        </p:txBody>
      </p:sp>
      <p:pic>
        <p:nvPicPr>
          <p:cNvPr id="28" name="Picture 27" descr="users_E58900_256_2.0.png"/>
          <p:cNvPicPr>
            <a:picLocks noChangeAspect="1"/>
          </p:cNvPicPr>
          <p:nvPr/>
        </p:nvPicPr>
        <p:blipFill>
          <a:blip r:embed="rId7"/>
          <a:stretch>
            <a:fillRect/>
          </a:stretch>
        </p:blipFill>
        <p:spPr>
          <a:xfrm>
            <a:off x="3699662" y="4687214"/>
            <a:ext cx="190195" cy="190195"/>
          </a:xfrm>
          <a:prstGeom prst="rect">
            <a:avLst/>
          </a:prstGeom>
        </p:spPr>
      </p:pic>
      <p:sp>
        <p:nvSpPr>
          <p:cNvPr id="29" name="TextBox 28"/>
          <p:cNvSpPr txBox="1"/>
          <p:nvPr/>
        </p:nvSpPr>
        <p:spPr>
          <a:xfrm>
            <a:off x="4114800" y="4581144"/>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Equity</a:t>
            </a:r>
          </a:p>
        </p:txBody>
      </p:sp>
      <p:sp>
        <p:nvSpPr>
          <p:cNvPr id="30" name="TextBox 29"/>
          <p:cNvSpPr txBox="1"/>
          <p:nvPr/>
        </p:nvSpPr>
        <p:spPr>
          <a:xfrm>
            <a:off x="5696711" y="4581144"/>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14% of low-income households compensated vs 24% of high-income.</a:t>
            </a:r>
          </a:p>
        </p:txBody>
      </p:sp>
      <p:sp>
        <p:nvSpPr>
          <p:cNvPr id="31" name="Rounded Rectangle 30"/>
          <p:cNvSpPr/>
          <p:nvPr/>
        </p:nvSpPr>
        <p:spPr>
          <a:xfrm>
            <a:off x="8275320" y="1965960"/>
            <a:ext cx="3337560" cy="3108960"/>
          </a:xfrm>
          <a:prstGeom prst="roundRect">
            <a:avLst>
              <a:gd name="adj" fmla="val 8000"/>
            </a:avLst>
          </a:prstGeom>
          <a:solidFill>
            <a:srgbClr val="F7F7FA"/>
          </a:solidFill>
          <a:ln>
            <a:noFill/>
          </a:ln>
          <a:effectLst/>
        </p:spPr>
        <p:txBody>
          <a:bodyPr rtlCol="0" anchor="ctr"/>
          <a:lstStyle/>
          <a:p>
            <a:pPr algn="ctr"/>
          </a:p>
        </p:txBody>
      </p:sp>
      <p:sp>
        <p:nvSpPr>
          <p:cNvPr id="32" name="TextBox 31"/>
          <p:cNvSpPr txBox="1"/>
          <p:nvPr/>
        </p:nvSpPr>
        <p:spPr>
          <a:xfrm>
            <a:off x="8458200" y="2103120"/>
            <a:ext cx="3017520" cy="274320"/>
          </a:xfrm>
          <a:prstGeom prst="rect">
            <a:avLst/>
          </a:prstGeom>
          <a:noFill/>
        </p:spPr>
        <p:txBody>
          <a:bodyPr wrap="square" lIns="0" rIns="0" tIns="0" bIns="0" anchor="t">
            <a:spAutoFit/>
          </a:bodyPr>
          <a:lstStyle/>
          <a:p>
            <a:pPr algn="l">
              <a:lnSpc>
                <a:spcPct val="128000"/>
              </a:lnSpc>
            </a:pPr>
            <a:r>
              <a:rPr sz="850" b="1" i="0" spc="120">
                <a:solidFill>
                  <a:srgbClr val="6E7180"/>
                </a:solidFill>
                <a:latin typeface="Montserrat"/>
              </a:rPr>
              <a:t>THE CLAIM RATE, NATIONALLY</a:t>
            </a:r>
          </a:p>
        </p:txBody>
      </p:sp>
      <p:sp>
        <p:nvSpPr>
          <p:cNvPr id="33" name="Rounded Rectangle 32"/>
          <p:cNvSpPr/>
          <p:nvPr/>
        </p:nvSpPr>
        <p:spPr>
          <a:xfrm>
            <a:off x="8458200" y="2514600"/>
            <a:ext cx="2834640" cy="274320"/>
          </a:xfrm>
          <a:prstGeom prst="roundRect">
            <a:avLst>
              <a:gd name="adj" fmla="val 50000"/>
            </a:avLst>
          </a:prstGeom>
          <a:solidFill>
            <a:srgbClr val="16181D"/>
          </a:solidFill>
          <a:ln>
            <a:noFill/>
          </a:ln>
          <a:effectLst/>
        </p:spPr>
        <p:txBody>
          <a:bodyPr rtlCol="0" anchor="ctr"/>
          <a:lstStyle/>
          <a:p>
            <a:pPr algn="ctr"/>
          </a:p>
        </p:txBody>
      </p:sp>
      <p:sp>
        <p:nvSpPr>
          <p:cNvPr id="34" name="TextBox 33"/>
          <p:cNvSpPr txBox="1"/>
          <p:nvPr/>
        </p:nvSpPr>
        <p:spPr>
          <a:xfrm>
            <a:off x="8458200" y="2807208"/>
            <a:ext cx="3017520" cy="256032"/>
          </a:xfrm>
          <a:prstGeom prst="rect">
            <a:avLst/>
          </a:prstGeom>
          <a:noFill/>
        </p:spPr>
        <p:txBody>
          <a:bodyPr wrap="square" lIns="0" rIns="0" tIns="0" bIns="0" anchor="t">
            <a:spAutoFit/>
          </a:bodyPr>
          <a:lstStyle/>
          <a:p>
            <a:pPr algn="l">
              <a:lnSpc>
                <a:spcPct val="100000"/>
              </a:lnSpc>
            </a:pPr>
            <a:r>
              <a:rPr sz="1000" b="1" i="0">
                <a:solidFill>
                  <a:srgbClr val="16181D"/>
                </a:solidFill>
                <a:latin typeface="Geist"/>
              </a:rPr>
              <a:t>~30,000  </a:t>
            </a:r>
            <a:r>
              <a:rPr sz="800" b="0" i="0">
                <a:solidFill>
                  <a:srgbClr val="6E7180"/>
                </a:solidFill>
                <a:latin typeface="Geist"/>
              </a:rPr>
              <a:t>hit-and-run deaths every year (MoRTH)</a:t>
            </a:r>
          </a:p>
        </p:txBody>
      </p:sp>
      <p:sp>
        <p:nvSpPr>
          <p:cNvPr id="35" name="Rounded Rectangle 34"/>
          <p:cNvSpPr/>
          <p:nvPr/>
        </p:nvSpPr>
        <p:spPr>
          <a:xfrm>
            <a:off x="8458200" y="3200400"/>
            <a:ext cx="932688" cy="274320"/>
          </a:xfrm>
          <a:prstGeom prst="roundRect">
            <a:avLst>
              <a:gd name="adj" fmla="val 50000"/>
            </a:avLst>
          </a:prstGeom>
          <a:solidFill>
            <a:srgbClr val="4A35FF"/>
          </a:solidFill>
          <a:ln>
            <a:noFill/>
          </a:ln>
          <a:effectLst/>
        </p:spPr>
        <p:txBody>
          <a:bodyPr rtlCol="0" anchor="ctr"/>
          <a:lstStyle/>
          <a:p>
            <a:pPr algn="ctr"/>
          </a:p>
        </p:txBody>
      </p:sp>
      <p:sp>
        <p:nvSpPr>
          <p:cNvPr id="36" name="TextBox 35"/>
          <p:cNvSpPr txBox="1"/>
          <p:nvPr/>
        </p:nvSpPr>
        <p:spPr>
          <a:xfrm>
            <a:off x="8458200" y="3493008"/>
            <a:ext cx="3017520" cy="256032"/>
          </a:xfrm>
          <a:prstGeom prst="rect">
            <a:avLst/>
          </a:prstGeom>
          <a:noFill/>
        </p:spPr>
        <p:txBody>
          <a:bodyPr wrap="square" lIns="0" rIns="0" tIns="0" bIns="0" anchor="t">
            <a:spAutoFit/>
          </a:bodyPr>
          <a:lstStyle/>
          <a:p>
            <a:pPr algn="l">
              <a:lnSpc>
                <a:spcPct val="100000"/>
              </a:lnSpc>
            </a:pPr>
            <a:r>
              <a:rPr sz="1000" b="1" i="0">
                <a:solidFill>
                  <a:srgbClr val="4A35FF"/>
                </a:solidFill>
                <a:latin typeface="Geist"/>
              </a:rPr>
              <a:t>9,813  </a:t>
            </a:r>
            <a:r>
              <a:rPr sz="800" b="0" i="0">
                <a:solidFill>
                  <a:srgbClr val="6E7180"/>
                </a:solidFill>
                <a:latin typeface="Geist"/>
              </a:rPr>
              <a:t>claims registered, FY 2025-26</a:t>
            </a:r>
          </a:p>
        </p:txBody>
      </p:sp>
      <p:sp>
        <p:nvSpPr>
          <p:cNvPr id="37" name="Rounded Rectangle 36"/>
          <p:cNvSpPr/>
          <p:nvPr/>
        </p:nvSpPr>
        <p:spPr>
          <a:xfrm>
            <a:off x="8458200" y="3886200"/>
            <a:ext cx="694944" cy="274320"/>
          </a:xfrm>
          <a:prstGeom prst="roundRect">
            <a:avLst>
              <a:gd name="adj" fmla="val 50000"/>
            </a:avLst>
          </a:prstGeom>
          <a:solidFill>
            <a:srgbClr val="0A9955"/>
          </a:solidFill>
          <a:ln>
            <a:noFill/>
          </a:ln>
          <a:effectLst/>
        </p:spPr>
        <p:txBody>
          <a:bodyPr rtlCol="0" anchor="ctr"/>
          <a:lstStyle/>
          <a:p>
            <a:pPr algn="ctr"/>
          </a:p>
        </p:txBody>
      </p:sp>
      <p:sp>
        <p:nvSpPr>
          <p:cNvPr id="38" name="TextBox 37"/>
          <p:cNvSpPr txBox="1"/>
          <p:nvPr/>
        </p:nvSpPr>
        <p:spPr>
          <a:xfrm>
            <a:off x="8458200" y="4178808"/>
            <a:ext cx="3017520" cy="256032"/>
          </a:xfrm>
          <a:prstGeom prst="rect">
            <a:avLst/>
          </a:prstGeom>
          <a:noFill/>
        </p:spPr>
        <p:txBody>
          <a:bodyPr wrap="square" lIns="0" rIns="0" tIns="0" bIns="0" anchor="t">
            <a:spAutoFit/>
          </a:bodyPr>
          <a:lstStyle/>
          <a:p>
            <a:pPr algn="l">
              <a:lnSpc>
                <a:spcPct val="100000"/>
              </a:lnSpc>
            </a:pPr>
            <a:r>
              <a:rPr sz="1000" b="1" i="0">
                <a:solidFill>
                  <a:srgbClr val="0A9955"/>
                </a:solidFill>
                <a:latin typeface="Geist"/>
              </a:rPr>
              <a:t>7,348  </a:t>
            </a:r>
            <a:r>
              <a:rPr sz="800" b="0" i="0">
                <a:solidFill>
                  <a:srgbClr val="6E7180"/>
                </a:solidFill>
                <a:latin typeface="Geist"/>
              </a:rPr>
              <a:t>claims paid, to 28 Feb 2026</a:t>
            </a:r>
          </a:p>
        </p:txBody>
      </p:sp>
      <p:sp>
        <p:nvSpPr>
          <p:cNvPr id="39" name="TextBox 38"/>
          <p:cNvSpPr txBox="1"/>
          <p:nvPr/>
        </p:nvSpPr>
        <p:spPr>
          <a:xfrm>
            <a:off x="8458200" y="4572000"/>
            <a:ext cx="2971800" cy="457200"/>
          </a:xfrm>
          <a:prstGeom prst="rect">
            <a:avLst/>
          </a:prstGeom>
          <a:noFill/>
        </p:spPr>
        <p:txBody>
          <a:bodyPr wrap="square" lIns="0" rIns="0" tIns="0" bIns="0" anchor="t">
            <a:spAutoFit/>
          </a:bodyPr>
          <a:lstStyle/>
          <a:p>
            <a:pPr algn="l">
              <a:lnSpc>
                <a:spcPct val="120000"/>
              </a:lnSpc>
            </a:pPr>
            <a:r>
              <a:rPr sz="850" b="0" i="1">
                <a:solidFill>
                  <a:srgbClr val="6E7180"/>
                </a:solidFill>
                <a:latin typeface="Geist"/>
              </a:rPr>
              <a:t>Claims are up 48x since FY23 (205), yet most losses still never become claims. Source: Lok Sabha reply AU6419, April 2026.</a:t>
            </a:r>
          </a:p>
        </p:txBody>
      </p:sp>
      <p:sp>
        <p:nvSpPr>
          <p:cNvPr id="40" name="TextBox 39"/>
          <p:cNvSpPr txBox="1"/>
          <p:nvPr/>
        </p:nvSpPr>
        <p:spPr>
          <a:xfrm>
            <a:off x="566928" y="5577840"/>
            <a:ext cx="10972800" cy="457200"/>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Press: </a:t>
            </a:r>
            <a:r>
              <a:rPr sz="950" b="0" i="0">
                <a:solidFill>
                  <a:srgbClr val="6E7180"/>
                </a:solidFill>
                <a:latin typeface="Geist"/>
              </a:rPr>
              <a:t>Deccan Herald · Economic Times · Fortune India · IndiaSpend · Scroll.in · The Wire, and cited in Parliament-facing briefings.</a:t>
            </a:r>
          </a:p>
        </p:txBody>
      </p:sp>
      <p:cxnSp>
        <p:nvCxnSpPr>
          <p:cNvPr id="41" name="Connector 40"/>
          <p:cNvCxnSpPr/>
          <p:nvPr/>
        </p:nvCxnSpPr>
        <p:spPr>
          <a:xfrm>
            <a:off x="566928" y="6455664"/>
            <a:ext cx="11057839" cy="0"/>
          </a:xfrm>
          <a:prstGeom prst="line">
            <a:avLst/>
          </a:prstGeom>
          <a:ln w="9525">
            <a:solidFill>
              <a:srgbClr val="E8E9EE"/>
            </a:solidFill>
          </a:ln>
          <a:effectLst/>
        </p:spPr>
      </p:cxnSp>
      <p:sp>
        <p:nvSpPr>
          <p:cNvPr id="42" name="TextBox 4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3" name="TextBox 4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FROM RESEARCH TO DISTRICTS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Working </a:t>
            </a:r>
            <a:r>
              <a:rPr sz="2250" b="1" i="0">
                <a:solidFill>
                  <a:srgbClr val="4A35FF"/>
                </a:solidFill>
                <a:latin typeface="Montserrat"/>
              </a:rPr>
              <a:t>inside the district machinery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Not commentary from outside, formal seats, formal tasking, files on the table.</a:t>
            </a:r>
          </a:p>
        </p:txBody>
      </p:sp>
      <p:sp>
        <p:nvSpPr>
          <p:cNvPr id="8" name="Oval 7"/>
          <p:cNvSpPr/>
          <p:nvPr/>
        </p:nvSpPr>
        <p:spPr>
          <a:xfrm>
            <a:off x="566928" y="2057400"/>
            <a:ext cx="365760" cy="365760"/>
          </a:xfrm>
          <a:prstGeom prst="ellipse">
            <a:avLst/>
          </a:prstGeom>
          <a:solidFill>
            <a:srgbClr val="EFEDFF"/>
          </a:solidFill>
          <a:ln>
            <a:noFill/>
          </a:ln>
          <a:effectLst/>
        </p:spPr>
        <p:txBody>
          <a:bodyPr rtlCol="0" anchor="ctr"/>
          <a:lstStyle/>
          <a:p>
            <a:pPr algn="ctr"/>
          </a:p>
        </p:txBody>
      </p:sp>
      <p:pic>
        <p:nvPicPr>
          <p:cNvPr id="9" name="Picture 8" descr="landmark_4A35FF_256_2.0.png"/>
          <p:cNvPicPr>
            <a:picLocks noChangeAspect="1"/>
          </p:cNvPicPr>
          <p:nvPr/>
        </p:nvPicPr>
        <p:blipFill>
          <a:blip r:embed="rId2"/>
          <a:stretch>
            <a:fillRect/>
          </a:stretch>
        </p:blipFill>
        <p:spPr>
          <a:xfrm>
            <a:off x="654710" y="2145182"/>
            <a:ext cx="190195" cy="190195"/>
          </a:xfrm>
          <a:prstGeom prst="rect">
            <a:avLst/>
          </a:prstGeom>
        </p:spPr>
      </p:pic>
      <p:sp>
        <p:nvSpPr>
          <p:cNvPr id="10" name="TextBox 9"/>
          <p:cNvSpPr txBox="1"/>
          <p:nvPr/>
        </p:nvSpPr>
        <p:spPr>
          <a:xfrm>
            <a:off x="1097280" y="20391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Four DRSCs joined</a:t>
            </a:r>
          </a:p>
        </p:txBody>
      </p:sp>
      <p:sp>
        <p:nvSpPr>
          <p:cNvPr id="11" name="TextBox 10"/>
          <p:cNvSpPr txBox="1"/>
          <p:nvPr/>
        </p:nvSpPr>
        <p:spPr>
          <a:xfrm>
            <a:off x="3566160" y="20391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Gurugram, South-West Delhi, North-West Delhi and Jaipur, with MoUs with Jaipur Traffic Police and Gurugram Police.</a:t>
            </a:r>
          </a:p>
        </p:txBody>
      </p:sp>
      <p:sp>
        <p:nvSpPr>
          <p:cNvPr id="12" name="Oval 11"/>
          <p:cNvSpPr/>
          <p:nvPr/>
        </p:nvSpPr>
        <p:spPr>
          <a:xfrm>
            <a:off x="566928" y="2971800"/>
            <a:ext cx="365760" cy="365760"/>
          </a:xfrm>
          <a:prstGeom prst="ellipse">
            <a:avLst/>
          </a:prstGeom>
          <a:solidFill>
            <a:srgbClr val="E7F4F4"/>
          </a:solidFill>
          <a:ln>
            <a:noFill/>
          </a:ln>
          <a:effectLst/>
        </p:spPr>
        <p:txBody>
          <a:bodyPr rtlCol="0" anchor="ctr"/>
          <a:lstStyle/>
          <a:p>
            <a:pPr algn="ctr"/>
          </a:p>
        </p:txBody>
      </p:sp>
      <p:pic>
        <p:nvPicPr>
          <p:cNvPr id="13" name="Picture 12" descr="folder-open_0E8A8A_256_2.0.png"/>
          <p:cNvPicPr>
            <a:picLocks noChangeAspect="1"/>
          </p:cNvPicPr>
          <p:nvPr/>
        </p:nvPicPr>
        <p:blipFill>
          <a:blip r:embed="rId3"/>
          <a:stretch>
            <a:fillRect/>
          </a:stretch>
        </p:blipFill>
        <p:spPr>
          <a:xfrm>
            <a:off x="654710" y="3059582"/>
            <a:ext cx="190195" cy="190195"/>
          </a:xfrm>
          <a:prstGeom prst="rect">
            <a:avLst/>
          </a:prstGeom>
        </p:spPr>
      </p:pic>
      <p:sp>
        <p:nvSpPr>
          <p:cNvPr id="14" name="TextBox 13"/>
          <p:cNvSpPr txBox="1"/>
          <p:nvPr/>
        </p:nvSpPr>
        <p:spPr>
          <a:xfrm>
            <a:off x="1097280" y="29535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File-level pipeline support</a:t>
            </a:r>
          </a:p>
        </p:txBody>
      </p:sp>
      <p:sp>
        <p:nvSpPr>
          <p:cNvPr id="15" name="TextBox 14"/>
          <p:cNvSpPr txBox="1"/>
          <p:nvPr/>
        </p:nvSpPr>
        <p:spPr>
          <a:xfrm>
            <a:off x="3566160" y="29535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With district administrations we work the hit-and-run pipeline file by file, mapping where eligible families drop out, and helping offices close those gaps.</a:t>
            </a:r>
          </a:p>
        </p:txBody>
      </p:sp>
      <p:sp>
        <p:nvSpPr>
          <p:cNvPr id="16" name="Oval 15"/>
          <p:cNvSpPr/>
          <p:nvPr/>
        </p:nvSpPr>
        <p:spPr>
          <a:xfrm>
            <a:off x="566928" y="3886200"/>
            <a:ext cx="365760" cy="365760"/>
          </a:xfrm>
          <a:prstGeom prst="ellipse">
            <a:avLst/>
          </a:prstGeom>
          <a:solidFill>
            <a:srgbClr val="E9F7F0"/>
          </a:solidFill>
          <a:ln>
            <a:noFill/>
          </a:ln>
          <a:effectLst/>
        </p:spPr>
        <p:txBody>
          <a:bodyPr rtlCol="0" anchor="ctr"/>
          <a:lstStyle/>
          <a:p>
            <a:pPr algn="ctr"/>
          </a:p>
        </p:txBody>
      </p:sp>
      <p:pic>
        <p:nvPicPr>
          <p:cNvPr id="17" name="Picture 16" descr="clipboard-check_0A9955_256_2.0.png"/>
          <p:cNvPicPr>
            <a:picLocks noChangeAspect="1"/>
          </p:cNvPicPr>
          <p:nvPr/>
        </p:nvPicPr>
        <p:blipFill>
          <a:blip r:embed="rId4"/>
          <a:stretch>
            <a:fillRect/>
          </a:stretch>
        </p:blipFill>
        <p:spPr>
          <a:xfrm>
            <a:off x="654710" y="3973982"/>
            <a:ext cx="190195" cy="190195"/>
          </a:xfrm>
          <a:prstGeom prst="rect">
            <a:avLst/>
          </a:prstGeom>
        </p:spPr>
      </p:pic>
      <p:sp>
        <p:nvSpPr>
          <p:cNvPr id="18" name="TextBox 17"/>
          <p:cNvSpPr txBox="1"/>
          <p:nvPr/>
        </p:nvSpPr>
        <p:spPr>
          <a:xfrm>
            <a:off x="1097280" y="38679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Formally tasked</a:t>
            </a:r>
          </a:p>
        </p:txBody>
      </p:sp>
      <p:sp>
        <p:nvSpPr>
          <p:cNvPr id="19" name="TextBox 18"/>
          <p:cNvSpPr txBox="1"/>
          <p:nvPr/>
        </p:nvSpPr>
        <p:spPr>
          <a:xfrm>
            <a:off x="3566160" y="38679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South-West Delhi DRSC's signed minutes task Crashfree India with digitisation and analytics support for scheme files.</a:t>
            </a:r>
          </a:p>
        </p:txBody>
      </p:sp>
      <p:sp>
        <p:nvSpPr>
          <p:cNvPr id="20" name="Oval 19"/>
          <p:cNvSpPr/>
          <p:nvPr/>
        </p:nvSpPr>
        <p:spPr>
          <a:xfrm>
            <a:off x="566928" y="4800600"/>
            <a:ext cx="365760" cy="365760"/>
          </a:xfrm>
          <a:prstGeom prst="ellipse">
            <a:avLst/>
          </a:prstGeom>
          <a:solidFill>
            <a:srgbClr val="FDF3E3"/>
          </a:solidFill>
          <a:ln>
            <a:noFill/>
          </a:ln>
          <a:effectLst/>
        </p:spPr>
        <p:txBody>
          <a:bodyPr rtlCol="0" anchor="ctr"/>
          <a:lstStyle/>
          <a:p>
            <a:pPr algn="ctr"/>
          </a:p>
        </p:txBody>
      </p:sp>
      <p:pic>
        <p:nvPicPr>
          <p:cNvPr id="21" name="Picture 20" descr="user-check_E58900_256_2.0.png"/>
          <p:cNvPicPr>
            <a:picLocks noChangeAspect="1"/>
          </p:cNvPicPr>
          <p:nvPr/>
        </p:nvPicPr>
        <p:blipFill>
          <a:blip r:embed="rId5"/>
          <a:stretch>
            <a:fillRect/>
          </a:stretch>
        </p:blipFill>
        <p:spPr>
          <a:xfrm>
            <a:off x="654710" y="4888382"/>
            <a:ext cx="190195" cy="190195"/>
          </a:xfrm>
          <a:prstGeom prst="rect">
            <a:avLst/>
          </a:prstGeom>
        </p:spPr>
      </p:pic>
      <p:sp>
        <p:nvSpPr>
          <p:cNvPr id="22" name="TextBox 21"/>
          <p:cNvSpPr txBox="1"/>
          <p:nvPr/>
        </p:nvSpPr>
        <p:spPr>
          <a:xfrm>
            <a:off x="1097280" y="4782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Embedded presence</a:t>
            </a:r>
          </a:p>
        </p:txBody>
      </p:sp>
      <p:sp>
        <p:nvSpPr>
          <p:cNvPr id="23" name="TextBox 22"/>
          <p:cNvSpPr txBox="1"/>
          <p:nvPr/>
        </p:nvSpPr>
        <p:spPr>
          <a:xfrm>
            <a:off x="3566160" y="47823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 research fellow sits with Gurugram district offices, implementation support, not external commentary.</a:t>
            </a:r>
          </a:p>
        </p:txBody>
      </p:sp>
      <p:pic>
        <p:nvPicPr>
          <p:cNvPr id="24" name="Picture 23" descr="ph_helpdesk_camp.jpg_4.20x2.20_0.35.jpg"/>
          <p:cNvPicPr>
            <a:picLocks noChangeAspect="1"/>
          </p:cNvPicPr>
          <p:nvPr/>
        </p:nvPicPr>
        <p:blipFill>
          <a:blip r:embed="rId6"/>
          <a:stretch>
            <a:fillRect/>
          </a:stretch>
        </p:blipFill>
        <p:spPr>
          <a:xfrm>
            <a:off x="7772400" y="2011680"/>
            <a:ext cx="3840480" cy="2011680"/>
          </a:xfrm>
          <a:prstGeom prst="rect">
            <a:avLst/>
          </a:prstGeom>
        </p:spPr>
      </p:pic>
      <p:sp>
        <p:nvSpPr>
          <p:cNvPr id="25" name="Rectangle 24"/>
          <p:cNvSpPr/>
          <p:nvPr/>
        </p:nvSpPr>
        <p:spPr>
          <a:xfrm>
            <a:off x="7772400" y="2011680"/>
            <a:ext cx="3840480" cy="2011680"/>
          </a:xfrm>
          <a:prstGeom prst="rect">
            <a:avLst/>
          </a:prstGeom>
          <a:noFill/>
          <a:ln w="12700">
            <a:solidFill>
              <a:srgbClr val="E8E9EE"/>
            </a:solidFill>
          </a:ln>
          <a:effectLst/>
        </p:spPr>
        <p:txBody>
          <a:bodyPr rtlCol="0" anchor="ctr"/>
          <a:lstStyle/>
          <a:p>
            <a:pPr algn="ctr"/>
          </a:p>
        </p:txBody>
      </p:sp>
      <p:sp>
        <p:nvSpPr>
          <p:cNvPr id="26" name="TextBox 25"/>
          <p:cNvSpPr txBox="1"/>
          <p:nvPr/>
        </p:nvSpPr>
        <p:spPr>
          <a:xfrm>
            <a:off x="7772400" y="406908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Legal-rights helpdesk with district administration, Jan 2026.</a:t>
            </a:r>
          </a:p>
        </p:txBody>
      </p:sp>
      <p:pic>
        <p:nvPicPr>
          <p:cNvPr id="27" name="Picture 26" descr="ph_law_students.jpg_4.20x1.60_0.30.jpg"/>
          <p:cNvPicPr>
            <a:picLocks noChangeAspect="1"/>
          </p:cNvPicPr>
          <p:nvPr/>
        </p:nvPicPr>
        <p:blipFill>
          <a:blip r:embed="rId7"/>
          <a:stretch>
            <a:fillRect/>
          </a:stretch>
        </p:blipFill>
        <p:spPr>
          <a:xfrm>
            <a:off x="7772400" y="4526280"/>
            <a:ext cx="3840480" cy="1463040"/>
          </a:xfrm>
          <a:prstGeom prst="rect">
            <a:avLst/>
          </a:prstGeom>
        </p:spPr>
      </p:pic>
      <p:sp>
        <p:nvSpPr>
          <p:cNvPr id="28" name="Rectangle 27"/>
          <p:cNvSpPr/>
          <p:nvPr/>
        </p:nvSpPr>
        <p:spPr>
          <a:xfrm>
            <a:off x="7772400" y="4526280"/>
            <a:ext cx="3840480" cy="1463040"/>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7772400" y="603504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Law-student volunteers after a hospital helpdesk drive.</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STATE ENGAGEMENT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With Rajasthan: from ground mapping to </a:t>
            </a:r>
            <a:r>
              <a:rPr sz="2250" b="1" i="0">
                <a:solidFill>
                  <a:srgbClr val="4A35FF"/>
                </a:solidFill>
                <a:latin typeface="Montserrat"/>
              </a:rPr>
              <a:t>a working template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Supporting the State Road Safety Lead Agency and Transport Department on the Hit-and-Run Compensation Scheme.</a:t>
            </a:r>
          </a:p>
        </p:txBody>
      </p:sp>
      <p:sp>
        <p:nvSpPr>
          <p:cNvPr id="8" name="Rounded Rectangle 7"/>
          <p:cNvSpPr/>
          <p:nvPr/>
        </p:nvSpPr>
        <p:spPr>
          <a:xfrm>
            <a:off x="566928" y="2057400"/>
            <a:ext cx="3291840" cy="173736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49808" y="2240280"/>
            <a:ext cx="2926080" cy="640080"/>
          </a:xfrm>
          <a:prstGeom prst="rect">
            <a:avLst/>
          </a:prstGeom>
          <a:noFill/>
        </p:spPr>
        <p:txBody>
          <a:bodyPr wrap="square" lIns="0" rIns="0" tIns="0" bIns="0" anchor="t">
            <a:spAutoFit/>
          </a:bodyPr>
          <a:lstStyle/>
          <a:p>
            <a:pPr algn="l">
              <a:lnSpc>
                <a:spcPct val="128000"/>
              </a:lnSpc>
            </a:pPr>
            <a:r>
              <a:rPr sz="3600" b="1" i="0">
                <a:solidFill>
                  <a:srgbClr val="4A35FF"/>
                </a:solidFill>
                <a:latin typeface="Montserrat"/>
              </a:rPr>
              <a:t>~180</a:t>
            </a:r>
          </a:p>
        </p:txBody>
      </p:sp>
      <p:sp>
        <p:nvSpPr>
          <p:cNvPr id="10" name="TextBox 9"/>
          <p:cNvSpPr txBox="1"/>
          <p:nvPr/>
        </p:nvSpPr>
        <p:spPr>
          <a:xfrm>
            <a:off x="749808" y="2926080"/>
            <a:ext cx="2926080" cy="73152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of ~</a:t>
            </a:r>
            <a:r>
              <a:rPr sz="1000" b="1" i="0">
                <a:solidFill>
                  <a:srgbClr val="16181D"/>
                </a:solidFill>
                <a:latin typeface="Geist"/>
              </a:rPr>
              <a:t>395</a:t>
            </a:r>
            <a:r>
              <a:rPr sz="1000" b="0" i="0">
                <a:solidFill>
                  <a:srgbClr val="6E7180"/>
                </a:solidFill>
                <a:latin typeface="Geist"/>
              </a:rPr>
              <a:t> monthly hit-and-run claims in Rajasthan come from Jaipur alone (~46%)</a:t>
            </a:r>
          </a:p>
        </p:txBody>
      </p:sp>
      <p:sp>
        <p:nvSpPr>
          <p:cNvPr id="11" name="TextBox 10"/>
          <p:cNvSpPr txBox="1"/>
          <p:nvPr/>
        </p:nvSpPr>
        <p:spPr>
          <a:xfrm>
            <a:off x="566928" y="4023360"/>
            <a:ext cx="3291840" cy="914400"/>
          </a:xfrm>
          <a:prstGeom prst="rect">
            <a:avLst/>
          </a:prstGeom>
          <a:noFill/>
        </p:spPr>
        <p:txBody>
          <a:bodyPr wrap="square" lIns="0" rIns="0" tIns="0" bIns="0" anchor="t">
            <a:spAutoFit/>
          </a:bodyPr>
          <a:lstStyle/>
          <a:p>
            <a:pPr algn="l">
              <a:lnSpc>
                <a:spcPct val="130000"/>
              </a:lnSpc>
            </a:pPr>
            <a:r>
              <a:rPr sz="950" b="0" i="0">
                <a:solidFill>
                  <a:srgbClr val="6E7180"/>
                </a:solidFill>
                <a:latin typeface="Geist"/>
              </a:rPr>
              <a:t>Not because crashes happen only there, because Jaipur runs active outreach and a single coordination cell. The template is replicable.</a:t>
            </a:r>
          </a:p>
        </p:txBody>
      </p:sp>
      <p:sp>
        <p:nvSpPr>
          <p:cNvPr id="12" name="Oval 11"/>
          <p:cNvSpPr/>
          <p:nvPr/>
        </p:nvSpPr>
        <p:spPr>
          <a:xfrm>
            <a:off x="4114800" y="2057400"/>
            <a:ext cx="384048" cy="384048"/>
          </a:xfrm>
          <a:prstGeom prst="ellipse">
            <a:avLst/>
          </a:prstGeom>
          <a:solidFill>
            <a:srgbClr val="FDF3E3"/>
          </a:solidFill>
          <a:ln>
            <a:noFill/>
          </a:ln>
          <a:effectLst/>
        </p:spPr>
        <p:txBody>
          <a:bodyPr rtlCol="0" anchor="ctr"/>
          <a:lstStyle/>
          <a:p>
            <a:pPr algn="ctr"/>
          </a:p>
        </p:txBody>
      </p:sp>
      <p:pic>
        <p:nvPicPr>
          <p:cNvPr id="13" name="Picture 12" descr="file-warning_E58900_256_2.0.png"/>
          <p:cNvPicPr>
            <a:picLocks noChangeAspect="1"/>
          </p:cNvPicPr>
          <p:nvPr/>
        </p:nvPicPr>
        <p:blipFill>
          <a:blip r:embed="rId2"/>
          <a:stretch>
            <a:fillRect/>
          </a:stretch>
        </p:blipFill>
        <p:spPr>
          <a:xfrm>
            <a:off x="4206971" y="2149571"/>
            <a:ext cx="199704" cy="199704"/>
          </a:xfrm>
          <a:prstGeom prst="rect">
            <a:avLst/>
          </a:prstGeom>
        </p:spPr>
      </p:pic>
      <p:sp>
        <p:nvSpPr>
          <p:cNvPr id="14" name="TextBox 13"/>
          <p:cNvSpPr txBox="1"/>
          <p:nvPr/>
        </p:nvSpPr>
        <p:spPr>
          <a:xfrm>
            <a:off x="4645152" y="2029968"/>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What holds claims back</a:t>
            </a:r>
          </a:p>
        </p:txBody>
      </p:sp>
      <p:sp>
        <p:nvSpPr>
          <p:cNvPr id="15" name="TextBox 14"/>
          <p:cNvSpPr txBox="1"/>
          <p:nvPr/>
        </p:nvSpPr>
        <p:spPr>
          <a:xfrm>
            <a:off x="6995160" y="2029968"/>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11–13 documents demanded vs the 7 court-agreed standard · ~50% of files lack a usable family phone number · manual hand-offs between six offices.</a:t>
            </a:r>
          </a:p>
        </p:txBody>
      </p:sp>
      <p:sp>
        <p:nvSpPr>
          <p:cNvPr id="16" name="Oval 15"/>
          <p:cNvSpPr/>
          <p:nvPr/>
        </p:nvSpPr>
        <p:spPr>
          <a:xfrm>
            <a:off x="4114800" y="3026664"/>
            <a:ext cx="384048" cy="384048"/>
          </a:xfrm>
          <a:prstGeom prst="ellipse">
            <a:avLst/>
          </a:prstGeom>
          <a:solidFill>
            <a:srgbClr val="FDEFEC"/>
          </a:solidFill>
          <a:ln>
            <a:noFill/>
          </a:ln>
          <a:effectLst/>
        </p:spPr>
        <p:txBody>
          <a:bodyPr rtlCol="0" anchor="ctr"/>
          <a:lstStyle/>
          <a:p>
            <a:pPr algn="ctr"/>
          </a:p>
        </p:txBody>
      </p:sp>
      <p:pic>
        <p:nvPicPr>
          <p:cNvPr id="17" name="Picture 16" descr="alert-octagon_E11900_256_2.0.png"/>
          <p:cNvPicPr>
            <a:picLocks noChangeAspect="1"/>
          </p:cNvPicPr>
          <p:nvPr/>
        </p:nvPicPr>
        <p:blipFill>
          <a:blip r:embed="rId3"/>
          <a:stretch>
            <a:fillRect/>
          </a:stretch>
        </p:blipFill>
        <p:spPr>
          <a:xfrm>
            <a:off x="4206971" y="3118835"/>
            <a:ext cx="199704" cy="199704"/>
          </a:xfrm>
          <a:prstGeom prst="rect">
            <a:avLst/>
          </a:prstGeom>
        </p:spPr>
      </p:pic>
      <p:sp>
        <p:nvSpPr>
          <p:cNvPr id="18" name="TextBox 17"/>
          <p:cNvSpPr txBox="1"/>
          <p:nvPr/>
        </p:nvSpPr>
        <p:spPr>
          <a:xfrm>
            <a:off x="4645152" y="2999232"/>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The cautionary example</a:t>
            </a:r>
          </a:p>
        </p:txBody>
      </p:sp>
      <p:sp>
        <p:nvSpPr>
          <p:cNvPr id="19" name="TextBox 18"/>
          <p:cNvSpPr txBox="1"/>
          <p:nvPr/>
        </p:nvSpPr>
        <p:spPr>
          <a:xfrm>
            <a:off x="6995160" y="2999232"/>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A state portal that changed how offices work saw monthly requests fall 350 → 25. Our design rule: no stakeholder changes their medium.</a:t>
            </a:r>
          </a:p>
        </p:txBody>
      </p:sp>
      <p:sp>
        <p:nvSpPr>
          <p:cNvPr id="20" name="Oval 19"/>
          <p:cNvSpPr/>
          <p:nvPr/>
        </p:nvSpPr>
        <p:spPr>
          <a:xfrm>
            <a:off x="4114800" y="3995928"/>
            <a:ext cx="384048" cy="384048"/>
          </a:xfrm>
          <a:prstGeom prst="ellipse">
            <a:avLst/>
          </a:prstGeom>
          <a:solidFill>
            <a:srgbClr val="EFEDFF"/>
          </a:solidFill>
          <a:ln>
            <a:noFill/>
          </a:ln>
          <a:effectLst/>
        </p:spPr>
        <p:txBody>
          <a:bodyPr rtlCol="0" anchor="ctr"/>
          <a:lstStyle/>
          <a:p>
            <a:pPr algn="ctr"/>
          </a:p>
        </p:txBody>
      </p:sp>
      <p:pic>
        <p:nvPicPr>
          <p:cNvPr id="21" name="Picture 20" descr="list-checks_4A35FF_256_2.0.png"/>
          <p:cNvPicPr>
            <a:picLocks noChangeAspect="1"/>
          </p:cNvPicPr>
          <p:nvPr/>
        </p:nvPicPr>
        <p:blipFill>
          <a:blip r:embed="rId4"/>
          <a:stretch>
            <a:fillRect/>
          </a:stretch>
        </p:blipFill>
        <p:spPr>
          <a:xfrm>
            <a:off x="4206971" y="4088099"/>
            <a:ext cx="199704" cy="199704"/>
          </a:xfrm>
          <a:prstGeom prst="rect">
            <a:avLst/>
          </a:prstGeom>
        </p:spPr>
      </p:pic>
      <p:sp>
        <p:nvSpPr>
          <p:cNvPr id="22" name="TextBox 21"/>
          <p:cNvSpPr txBox="1"/>
          <p:nvPr/>
        </p:nvSpPr>
        <p:spPr>
          <a:xfrm>
            <a:off x="4645152" y="3968496"/>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Five GIC queries drafted</a:t>
            </a:r>
          </a:p>
        </p:txBody>
      </p:sp>
      <p:sp>
        <p:nvSpPr>
          <p:cNvPr id="23" name="TextBox 22"/>
          <p:cNvSpPr txBox="1"/>
          <p:nvPr/>
        </p:nvSpPr>
        <p:spPr>
          <a:xfrm>
            <a:off x="6995160" y="3968496"/>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Clarification questions ready for the insurer consortium, a joint ask from the Department lands harder.</a:t>
            </a:r>
          </a:p>
        </p:txBody>
      </p:sp>
      <p:sp>
        <p:nvSpPr>
          <p:cNvPr id="24" name="Oval 23"/>
          <p:cNvSpPr/>
          <p:nvPr/>
        </p:nvSpPr>
        <p:spPr>
          <a:xfrm>
            <a:off x="4114800" y="4965192"/>
            <a:ext cx="384048" cy="384048"/>
          </a:xfrm>
          <a:prstGeom prst="ellipse">
            <a:avLst/>
          </a:prstGeom>
          <a:solidFill>
            <a:srgbClr val="E9F7F0"/>
          </a:solidFill>
          <a:ln>
            <a:noFill/>
          </a:ln>
          <a:effectLst/>
        </p:spPr>
        <p:txBody>
          <a:bodyPr rtlCol="0" anchor="ctr"/>
          <a:lstStyle/>
          <a:p>
            <a:pPr algn="ctr"/>
          </a:p>
        </p:txBody>
      </p:sp>
      <p:pic>
        <p:nvPicPr>
          <p:cNvPr id="25" name="Picture 24" descr="rocket_0A9955_256_2.0.png"/>
          <p:cNvPicPr>
            <a:picLocks noChangeAspect="1"/>
          </p:cNvPicPr>
          <p:nvPr/>
        </p:nvPicPr>
        <p:blipFill>
          <a:blip r:embed="rId5"/>
          <a:stretch>
            <a:fillRect/>
          </a:stretch>
        </p:blipFill>
        <p:spPr>
          <a:xfrm>
            <a:off x="4206971" y="5057363"/>
            <a:ext cx="199704" cy="199704"/>
          </a:xfrm>
          <a:prstGeom prst="rect">
            <a:avLst/>
          </a:prstGeom>
        </p:spPr>
      </p:pic>
      <p:sp>
        <p:nvSpPr>
          <p:cNvPr id="26" name="TextBox 25"/>
          <p:cNvSpPr txBox="1"/>
          <p:nvPr/>
        </p:nvSpPr>
        <p:spPr>
          <a:xfrm>
            <a:off x="4645152" y="4937760"/>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Six asks → 60 days</a:t>
            </a:r>
          </a:p>
        </p:txBody>
      </p:sp>
      <p:sp>
        <p:nvSpPr>
          <p:cNvPr id="27" name="TextBox 26"/>
          <p:cNvSpPr txBox="1"/>
          <p:nvPr/>
        </p:nvSpPr>
        <p:spPr>
          <a:xfrm>
            <a:off x="6995160" y="4937760"/>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Decisions identified with the Department that put Phase 1 (family traceability) in motion within 60 days.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PORTAL CONCEPT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Designed so </a:t>
            </a:r>
            <a:r>
              <a:rPr sz="2250" b="1" i="0">
                <a:solidFill>
                  <a:srgbClr val="4A35FF"/>
                </a:solidFill>
                <a:latin typeface="Montserrat"/>
              </a:rPr>
              <a:t>no stakeholder changes how they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Families stay on WhatsApp; officers keep their queues and sign-offs; the system connects them behind the scenes.</a:t>
            </a:r>
          </a:p>
        </p:txBody>
      </p:sp>
      <p:pic>
        <p:nvPicPr>
          <p:cNvPr id="8" name="Picture 7" descr="wa_phone1.png"/>
          <p:cNvPicPr>
            <a:picLocks noChangeAspect="1"/>
          </p:cNvPicPr>
          <p:nvPr/>
        </p:nvPicPr>
        <p:blipFill>
          <a:blip r:embed="rId2"/>
          <a:stretch>
            <a:fillRect/>
          </a:stretch>
        </p:blipFill>
        <p:spPr>
          <a:xfrm>
            <a:off x="566928" y="2011680"/>
            <a:ext cx="1325880" cy="1964267"/>
          </a:xfrm>
          <a:prstGeom prst="rect">
            <a:avLst/>
          </a:prstGeom>
        </p:spPr>
      </p:pic>
      <p:pic>
        <p:nvPicPr>
          <p:cNvPr id="9" name="Picture 8" descr="wa_phone2.png"/>
          <p:cNvPicPr>
            <a:picLocks noChangeAspect="1"/>
          </p:cNvPicPr>
          <p:nvPr/>
        </p:nvPicPr>
        <p:blipFill>
          <a:blip r:embed="rId3"/>
          <a:stretch>
            <a:fillRect/>
          </a:stretch>
        </p:blipFill>
        <p:spPr>
          <a:xfrm>
            <a:off x="1984248" y="2011680"/>
            <a:ext cx="1325880" cy="1964267"/>
          </a:xfrm>
          <a:prstGeom prst="rect">
            <a:avLst/>
          </a:prstGeom>
        </p:spPr>
      </p:pic>
      <p:pic>
        <p:nvPicPr>
          <p:cNvPr id="10" name="Picture 9" descr="wa_phone3.png"/>
          <p:cNvPicPr>
            <a:picLocks noChangeAspect="1"/>
          </p:cNvPicPr>
          <p:nvPr/>
        </p:nvPicPr>
        <p:blipFill>
          <a:blip r:embed="rId4"/>
          <a:stretch>
            <a:fillRect/>
          </a:stretch>
        </p:blipFill>
        <p:spPr>
          <a:xfrm>
            <a:off x="3401568" y="2011680"/>
            <a:ext cx="1325880" cy="1964267"/>
          </a:xfrm>
          <a:prstGeom prst="rect">
            <a:avLst/>
          </a:prstGeom>
        </p:spPr>
      </p:pic>
      <p:sp>
        <p:nvSpPr>
          <p:cNvPr id="11" name="TextBox 10"/>
          <p:cNvSpPr txBox="1"/>
          <p:nvPr/>
        </p:nvSpPr>
        <p:spPr>
          <a:xfrm>
            <a:off x="566928" y="4069080"/>
            <a:ext cx="4206240" cy="45720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The family flow, day-one intake, document capture, live status. All inside WhatsApp, in Hindi.</a:t>
            </a:r>
          </a:p>
        </p:txBody>
      </p:sp>
      <p:pic>
        <p:nvPicPr>
          <p:cNvPr id="12" name="Picture 11" descr="opt_queue_ui_1500.jpg"/>
          <p:cNvPicPr>
            <a:picLocks noChangeAspect="1"/>
          </p:cNvPicPr>
          <p:nvPr/>
        </p:nvPicPr>
        <p:blipFill>
          <a:blip r:embed="rId5"/>
          <a:stretch>
            <a:fillRect/>
          </a:stretch>
        </p:blipFill>
        <p:spPr>
          <a:xfrm>
            <a:off x="5074920" y="2011680"/>
            <a:ext cx="6537960" cy="2405969"/>
          </a:xfrm>
          <a:prstGeom prst="rect">
            <a:avLst/>
          </a:prstGeom>
        </p:spPr>
      </p:pic>
      <p:sp>
        <p:nvSpPr>
          <p:cNvPr id="13" name="Rectangle 12"/>
          <p:cNvSpPr/>
          <p:nvPr/>
        </p:nvSpPr>
        <p:spPr>
          <a:xfrm>
            <a:off x="5074920" y="2011680"/>
            <a:ext cx="6537960" cy="2405969"/>
          </a:xfrm>
          <a:prstGeom prst="rect">
            <a:avLst/>
          </a:prstGeom>
          <a:noFill/>
          <a:ln w="12700">
            <a:solidFill>
              <a:srgbClr val="E8E9EE"/>
            </a:solidFill>
          </a:ln>
          <a:effectLst/>
        </p:spPr>
        <p:txBody>
          <a:bodyPr rtlCol="0" anchor="ctr"/>
          <a:lstStyle/>
          <a:p>
            <a:pPr algn="ctr"/>
          </a:p>
        </p:txBody>
      </p:sp>
      <p:sp>
        <p:nvSpPr>
          <p:cNvPr id="14" name="TextBox 13"/>
          <p:cNvSpPr txBox="1"/>
          <p:nvPr/>
        </p:nvSpPr>
        <p:spPr>
          <a:xfrm>
            <a:off x="5074920" y="4463369"/>
            <a:ext cx="65379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Officer view, same cases, filtered to what each desk owns; AI pre-checks flag issues, the decision stays human.</a:t>
            </a:r>
          </a:p>
        </p:txBody>
      </p:sp>
      <p:sp>
        <p:nvSpPr>
          <p:cNvPr id="15" name="Rounded Rectangle 14"/>
          <p:cNvSpPr/>
          <p:nvPr/>
        </p:nvSpPr>
        <p:spPr>
          <a:xfrm>
            <a:off x="566928"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16" name="TextBox 15"/>
          <p:cNvSpPr txBox="1"/>
          <p:nvPr/>
        </p:nvSpPr>
        <p:spPr>
          <a:xfrm>
            <a:off x="585216"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Family keeps WhatsApp</a:t>
            </a:r>
          </a:p>
        </p:txBody>
      </p:sp>
      <p:sp>
        <p:nvSpPr>
          <p:cNvPr id="17" name="Rounded Rectangle 16"/>
          <p:cNvSpPr/>
          <p:nvPr/>
        </p:nvSpPr>
        <p:spPr>
          <a:xfrm>
            <a:off x="2816352"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18" name="TextBox 17"/>
          <p:cNvSpPr txBox="1"/>
          <p:nvPr/>
        </p:nvSpPr>
        <p:spPr>
          <a:xfrm>
            <a:off x="2834640"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Officer keeps every decision</a:t>
            </a:r>
          </a:p>
        </p:txBody>
      </p:sp>
      <p:sp>
        <p:nvSpPr>
          <p:cNvPr id="19" name="Rounded Rectangle 18"/>
          <p:cNvSpPr/>
          <p:nvPr/>
        </p:nvSpPr>
        <p:spPr>
          <a:xfrm>
            <a:off x="5065776"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0" name="TextBox 19"/>
          <p:cNvSpPr txBox="1"/>
          <p:nvPr/>
        </p:nvSpPr>
        <p:spPr>
          <a:xfrm>
            <a:off x="5084064"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Traceability before automation</a:t>
            </a:r>
          </a:p>
        </p:txBody>
      </p:sp>
      <p:sp>
        <p:nvSpPr>
          <p:cNvPr id="21" name="Rounded Rectangle 20"/>
          <p:cNvSpPr/>
          <p:nvPr/>
        </p:nvSpPr>
        <p:spPr>
          <a:xfrm>
            <a:off x="7315200"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333488"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Single-pass clarification</a:t>
            </a:r>
          </a:p>
        </p:txBody>
      </p:sp>
      <p:sp>
        <p:nvSpPr>
          <p:cNvPr id="23" name="Rounded Rectangle 22"/>
          <p:cNvSpPr/>
          <p:nvPr/>
        </p:nvSpPr>
        <p:spPr>
          <a:xfrm>
            <a:off x="9564624"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82912"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Dashboards for administrators</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FIRST HOUR</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Pre-Hospital Care Primer, </a:t>
            </a:r>
            <a:r>
              <a:rPr sz="2250" b="1" i="0">
                <a:solidFill>
                  <a:srgbClr val="4A35FF"/>
                </a:solidFill>
                <a:latin typeface="Montserrat"/>
              </a:rPr>
              <a:t>our EMS evidence line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Published September 2025. Contributors include Dr. Sushma Sagar (AIIMS JPN Apex Trauma Centre) and Dr. Richa Ahuja (IIT Kharagpur).</a:t>
            </a:r>
          </a:p>
        </p:txBody>
      </p:sp>
      <p:pic>
        <p:nvPicPr>
          <p:cNvPr id="8" name="Picture 7" descr="primer_cover-01.jpg"/>
          <p:cNvPicPr>
            <a:picLocks noChangeAspect="1"/>
          </p:cNvPicPr>
          <p:nvPr/>
        </p:nvPicPr>
        <p:blipFill>
          <a:blip r:embed="rId2"/>
          <a:stretch>
            <a:fillRect/>
          </a:stretch>
        </p:blipFill>
        <p:spPr>
          <a:xfrm>
            <a:off x="566928" y="1965960"/>
            <a:ext cx="2263530" cy="3200400"/>
          </a:xfrm>
          <a:prstGeom prst="rect">
            <a:avLst/>
          </a:prstGeom>
        </p:spPr>
      </p:pic>
      <p:sp>
        <p:nvSpPr>
          <p:cNvPr id="9" name="Rectangle 8"/>
          <p:cNvSpPr/>
          <p:nvPr/>
        </p:nvSpPr>
        <p:spPr>
          <a:xfrm>
            <a:off x="566928" y="1965960"/>
            <a:ext cx="2263530" cy="32004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12080"/>
            <a:ext cx="226353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Primer, ERSS-112, global</a:t>
            </a:r>
          </a:p>
          <a:p>
            <a:pPr algn="l">
              <a:lnSpc>
                <a:spcPct val="112000"/>
              </a:lnSpc>
            </a:pPr>
            <a:r>
              <a:rPr sz="850" b="0" i="0">
                <a:solidFill>
                  <a:srgbClr val="6E7180"/>
                </a:solidFill>
                <a:latin typeface="Geist"/>
              </a:rPr>
              <a:t>comparisons, state innovations.</a:t>
            </a:r>
          </a:p>
        </p:txBody>
      </p:sp>
      <p:pic>
        <p:nvPicPr>
          <p:cNvPr id="11" name="Picture 10" descr="primer_chain-07.jpg"/>
          <p:cNvPicPr>
            <a:picLocks noChangeAspect="1"/>
          </p:cNvPicPr>
          <p:nvPr/>
        </p:nvPicPr>
        <p:blipFill>
          <a:blip r:embed="rId3"/>
          <a:stretch>
            <a:fillRect/>
          </a:stretch>
        </p:blipFill>
        <p:spPr>
          <a:xfrm>
            <a:off x="3108960" y="1965960"/>
            <a:ext cx="2263530" cy="3200400"/>
          </a:xfrm>
          <a:prstGeom prst="rect">
            <a:avLst/>
          </a:prstGeom>
        </p:spPr>
      </p:pic>
      <p:sp>
        <p:nvSpPr>
          <p:cNvPr id="12" name="Rectangle 11"/>
          <p:cNvSpPr/>
          <p:nvPr/>
        </p:nvSpPr>
        <p:spPr>
          <a:xfrm>
            <a:off x="3108960" y="1965960"/>
            <a:ext cx="2263530" cy="32004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3108960" y="5212080"/>
            <a:ext cx="226353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Chain of Survival, six links,</a:t>
            </a:r>
          </a:p>
          <a:p>
            <a:pPr algn="l">
              <a:lnSpc>
                <a:spcPct val="112000"/>
              </a:lnSpc>
            </a:pPr>
            <a:r>
              <a:rPr sz="850" b="0" i="0">
                <a:solidFill>
                  <a:srgbClr val="6E7180"/>
                </a:solidFill>
                <a:latin typeface="Geist"/>
              </a:rPr>
              <a:t>benchmarked for India.</a:t>
            </a:r>
          </a:p>
        </p:txBody>
      </p:sp>
      <p:sp>
        <p:nvSpPr>
          <p:cNvPr id="14" name="Oval 13"/>
          <p:cNvSpPr/>
          <p:nvPr/>
        </p:nvSpPr>
        <p:spPr>
          <a:xfrm>
            <a:off x="6035040" y="1965960"/>
            <a:ext cx="384048" cy="384048"/>
          </a:xfrm>
          <a:prstGeom prst="ellipse">
            <a:avLst/>
          </a:prstGeom>
          <a:solidFill>
            <a:srgbClr val="E7F4F4"/>
          </a:solidFill>
          <a:ln>
            <a:noFill/>
          </a:ln>
          <a:effectLst/>
        </p:spPr>
        <p:txBody>
          <a:bodyPr rtlCol="0" anchor="ctr"/>
          <a:lstStyle/>
          <a:p>
            <a:pPr algn="ctr"/>
          </a:p>
        </p:txBody>
      </p:sp>
      <p:pic>
        <p:nvPicPr>
          <p:cNvPr id="15" name="Picture 14" descr="timer_0E8A8A_256_2.0.png"/>
          <p:cNvPicPr>
            <a:picLocks noChangeAspect="1"/>
          </p:cNvPicPr>
          <p:nvPr/>
        </p:nvPicPr>
        <p:blipFill>
          <a:blip r:embed="rId4"/>
          <a:stretch>
            <a:fillRect/>
          </a:stretch>
        </p:blipFill>
        <p:spPr>
          <a:xfrm>
            <a:off x="6127211" y="2058131"/>
            <a:ext cx="199704" cy="199704"/>
          </a:xfrm>
          <a:prstGeom prst="rect">
            <a:avLst/>
          </a:prstGeom>
        </p:spPr>
      </p:pic>
      <p:sp>
        <p:nvSpPr>
          <p:cNvPr id="16" name="TextBox 15"/>
          <p:cNvSpPr txBox="1"/>
          <p:nvPr/>
        </p:nvSpPr>
        <p:spPr>
          <a:xfrm>
            <a:off x="6565392" y="1938528"/>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The response gap, measured</a:t>
            </a:r>
          </a:p>
        </p:txBody>
      </p:sp>
      <p:sp>
        <p:nvSpPr>
          <p:cNvPr id="17" name="TextBox 16"/>
          <p:cNvSpPr txBox="1"/>
          <p:nvPr/>
        </p:nvSpPr>
        <p:spPr>
          <a:xfrm>
            <a:off x="8549640" y="1938528"/>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ERSS-112 is live across all 36 states &amp; UTs, yet ambulance arrival averages 25–35 minutes, and the full care episode runs 55–75 minutes against a 60-minute golden hour.</a:t>
            </a:r>
          </a:p>
        </p:txBody>
      </p:sp>
      <p:sp>
        <p:nvSpPr>
          <p:cNvPr id="18" name="Oval 17"/>
          <p:cNvSpPr/>
          <p:nvPr/>
        </p:nvSpPr>
        <p:spPr>
          <a:xfrm>
            <a:off x="6035040" y="2999231"/>
            <a:ext cx="384048" cy="384048"/>
          </a:xfrm>
          <a:prstGeom prst="ellipse">
            <a:avLst/>
          </a:prstGeom>
          <a:solidFill>
            <a:srgbClr val="EFEDFF"/>
          </a:solidFill>
          <a:ln>
            <a:noFill/>
          </a:ln>
          <a:effectLst/>
        </p:spPr>
        <p:txBody>
          <a:bodyPr rtlCol="0" anchor="ctr"/>
          <a:lstStyle/>
          <a:p>
            <a:pPr algn="ctr"/>
          </a:p>
        </p:txBody>
      </p:sp>
      <p:pic>
        <p:nvPicPr>
          <p:cNvPr id="19" name="Picture 18" descr="map_4A35FF_256_2.0.png"/>
          <p:cNvPicPr>
            <a:picLocks noChangeAspect="1"/>
          </p:cNvPicPr>
          <p:nvPr/>
        </p:nvPicPr>
        <p:blipFill>
          <a:blip r:embed="rId5"/>
          <a:stretch>
            <a:fillRect/>
          </a:stretch>
        </p:blipFill>
        <p:spPr>
          <a:xfrm>
            <a:off x="6127211" y="3091402"/>
            <a:ext cx="199704" cy="199704"/>
          </a:xfrm>
          <a:prstGeom prst="rect">
            <a:avLst/>
          </a:prstGeom>
        </p:spPr>
      </p:pic>
      <p:sp>
        <p:nvSpPr>
          <p:cNvPr id="20" name="TextBox 19"/>
          <p:cNvSpPr txBox="1"/>
          <p:nvPr/>
        </p:nvSpPr>
        <p:spPr>
          <a:xfrm>
            <a:off x="6565392" y="2971799"/>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State innovations documented</a:t>
            </a:r>
          </a:p>
        </p:txBody>
      </p:sp>
      <p:sp>
        <p:nvSpPr>
          <p:cNvPr id="21" name="TextBox 20"/>
          <p:cNvSpPr txBox="1"/>
          <p:nvPr/>
        </p:nvSpPr>
        <p:spPr>
          <a:xfrm>
            <a:off x="8549640" y="2971799"/>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Maharashtra's MEMS, 937 ambulances under centralised dispatch; Tamil Nadu's TAEI trauma corridors, pre-arrival alerts and protocols.</a:t>
            </a:r>
          </a:p>
        </p:txBody>
      </p:sp>
      <p:sp>
        <p:nvSpPr>
          <p:cNvPr id="22" name="Oval 21"/>
          <p:cNvSpPr/>
          <p:nvPr/>
        </p:nvSpPr>
        <p:spPr>
          <a:xfrm>
            <a:off x="6035040" y="4032502"/>
            <a:ext cx="384048" cy="384048"/>
          </a:xfrm>
          <a:prstGeom prst="ellipse">
            <a:avLst/>
          </a:prstGeom>
          <a:solidFill>
            <a:srgbClr val="E9F7F0"/>
          </a:solidFill>
          <a:ln>
            <a:noFill/>
          </a:ln>
          <a:effectLst/>
        </p:spPr>
        <p:txBody>
          <a:bodyPr rtlCol="0" anchor="ctr"/>
          <a:lstStyle/>
          <a:p>
            <a:pPr algn="ctr"/>
          </a:p>
        </p:txBody>
      </p:sp>
      <p:pic>
        <p:nvPicPr>
          <p:cNvPr id="23" name="Picture 22" descr="heart-handshake_0A9955_256_2.0.png"/>
          <p:cNvPicPr>
            <a:picLocks noChangeAspect="1"/>
          </p:cNvPicPr>
          <p:nvPr/>
        </p:nvPicPr>
        <p:blipFill>
          <a:blip r:embed="rId6"/>
          <a:stretch>
            <a:fillRect/>
          </a:stretch>
        </p:blipFill>
        <p:spPr>
          <a:xfrm>
            <a:off x="6127211" y="4124673"/>
            <a:ext cx="199704" cy="199704"/>
          </a:xfrm>
          <a:prstGeom prst="rect">
            <a:avLst/>
          </a:prstGeom>
        </p:spPr>
      </p:pic>
      <p:sp>
        <p:nvSpPr>
          <p:cNvPr id="24" name="TextBox 23"/>
          <p:cNvSpPr txBox="1"/>
          <p:nvPr/>
        </p:nvSpPr>
        <p:spPr>
          <a:xfrm>
            <a:off x="6565392" y="4005070"/>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The demand side too</a:t>
            </a:r>
          </a:p>
        </p:txBody>
      </p:sp>
      <p:sp>
        <p:nvSpPr>
          <p:cNvPr id="25" name="TextBox 24"/>
          <p:cNvSpPr txBox="1"/>
          <p:nvPr/>
        </p:nvSpPr>
        <p:spPr>
          <a:xfrm>
            <a:off x="8549640" y="4005070"/>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Good Samaritan protections and the ₹1.5 lakh / 7-day Cashless Treatment Scheme 2025, explained in our public guides and helpdesks.</a:t>
            </a:r>
          </a:p>
        </p:txBody>
      </p:sp>
      <p:sp>
        <p:nvSpPr>
          <p:cNvPr id="26" name="Oval 25"/>
          <p:cNvSpPr/>
          <p:nvPr/>
        </p:nvSpPr>
        <p:spPr>
          <a:xfrm>
            <a:off x="6035040" y="5065773"/>
            <a:ext cx="384048" cy="384048"/>
          </a:xfrm>
          <a:prstGeom prst="ellipse">
            <a:avLst/>
          </a:prstGeom>
          <a:solidFill>
            <a:srgbClr val="FDF3E3"/>
          </a:solidFill>
          <a:ln>
            <a:noFill/>
          </a:ln>
          <a:effectLst/>
        </p:spPr>
        <p:txBody>
          <a:bodyPr rtlCol="0" anchor="ctr"/>
          <a:lstStyle/>
          <a:p>
            <a:pPr algn="ctr"/>
          </a:p>
        </p:txBody>
      </p:sp>
      <p:pic>
        <p:nvPicPr>
          <p:cNvPr id="27" name="Picture 26" descr="stethoscope_E58900_256_2.0.png"/>
          <p:cNvPicPr>
            <a:picLocks noChangeAspect="1"/>
          </p:cNvPicPr>
          <p:nvPr/>
        </p:nvPicPr>
        <p:blipFill>
          <a:blip r:embed="rId7"/>
          <a:stretch>
            <a:fillRect/>
          </a:stretch>
        </p:blipFill>
        <p:spPr>
          <a:xfrm>
            <a:off x="6127211" y="5157944"/>
            <a:ext cx="199704" cy="199704"/>
          </a:xfrm>
          <a:prstGeom prst="rect">
            <a:avLst/>
          </a:prstGeom>
        </p:spPr>
      </p:pic>
      <p:sp>
        <p:nvSpPr>
          <p:cNvPr id="28" name="TextBox 27"/>
          <p:cNvSpPr txBox="1"/>
          <p:nvPr/>
        </p:nvSpPr>
        <p:spPr>
          <a:xfrm>
            <a:off x="6565392" y="5038341"/>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Ready for WG-5</a:t>
            </a:r>
          </a:p>
        </p:txBody>
      </p:sp>
      <p:sp>
        <p:nvSpPr>
          <p:cNvPr id="29" name="TextBox 28"/>
          <p:cNvSpPr txBox="1"/>
          <p:nvPr/>
        </p:nvSpPr>
        <p:spPr>
          <a:xfrm>
            <a:off x="8549640" y="5038341"/>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 referenced baseline for the Group's EMS and trauma-care standards discussions, states already compared, gaps already mapped.</a:t>
            </a:r>
          </a:p>
        </p:txBody>
      </p:sp>
      <p:sp>
        <p:nvSpPr>
          <p:cNvPr id="30" name="TextBox 29"/>
          <p:cNvSpPr txBox="1"/>
          <p:nvPr/>
        </p:nvSpPr>
        <p:spPr>
          <a:xfrm>
            <a:off x="566928" y="5532120"/>
            <a:ext cx="5486400" cy="548640"/>
          </a:xfrm>
          <a:prstGeom prst="rect">
            <a:avLst/>
          </a:prstGeom>
          <a:noFill/>
        </p:spPr>
        <p:txBody>
          <a:bodyPr wrap="square" lIns="0" rIns="0" tIns="0" bIns="0" anchor="t">
            <a:spAutoFit/>
          </a:bodyPr>
          <a:lstStyle/>
          <a:p>
            <a:pPr algn="l">
              <a:lnSpc>
                <a:spcPct val="130000"/>
              </a:lnSpc>
            </a:pPr>
            <a:r>
              <a:rPr sz="1000" b="1" i="0">
                <a:solidFill>
                  <a:srgbClr val="16181D"/>
                </a:solidFill>
                <a:latin typeface="Geist"/>
              </a:rPr>
              <a:t>Covered by Hindustan Times: </a:t>
            </a:r>
            <a:r>
              <a:rPr sz="1000" b="0" i="1">
                <a:solidFill>
                  <a:srgbClr val="6E7180"/>
                </a:solidFill>
                <a:latin typeface="Geist"/>
              </a:rPr>
              <a:t>'India's Road Safety Primer Flags Gaps in Pre-Hospital Emergency Care.'</a:t>
            </a:r>
          </a:p>
        </p:txBody>
      </p:sp>
      <p:cxnSp>
        <p:nvCxnSpPr>
          <p:cNvPr id="31" name="Connector 30"/>
          <p:cNvCxnSpPr/>
          <p:nvPr/>
        </p:nvCxnSpPr>
        <p:spPr>
          <a:xfrm>
            <a:off x="566928" y="6455664"/>
            <a:ext cx="11057839" cy="0"/>
          </a:xfrm>
          <a:prstGeom prst="line">
            <a:avLst/>
          </a:prstGeom>
          <a:ln w="9525">
            <a:solidFill>
              <a:srgbClr val="E8E9EE"/>
            </a:solidFill>
          </a:ln>
          <a:effectLst/>
        </p:spPr>
      </p:cxnSp>
      <p:sp>
        <p:nvSpPr>
          <p:cNvPr id="32" name="TextBox 3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3" name="TextBox 3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IN THE WARDS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Helpdesks where families actually are: </a:t>
            </a:r>
            <a:r>
              <a:rPr sz="2250" b="1" i="0">
                <a:solidFill>
                  <a:srgbClr val="4A35FF"/>
                </a:solidFill>
                <a:latin typeface="Montserrat"/>
              </a:rPr>
              <a:t>trauma wards</a:t>
            </a:r>
          </a:p>
        </p:txBody>
      </p:sp>
      <p:pic>
        <p:nvPicPr>
          <p:cNvPr id="7" name="Picture 6" descr="ph_helpdesk_desk.jpg_4.30x2.60_0.40.jpg"/>
          <p:cNvPicPr>
            <a:picLocks noChangeAspect="1"/>
          </p:cNvPicPr>
          <p:nvPr/>
        </p:nvPicPr>
        <p:blipFill>
          <a:blip r:embed="rId2"/>
          <a:stretch>
            <a:fillRect/>
          </a:stretch>
        </p:blipFill>
        <p:spPr>
          <a:xfrm>
            <a:off x="566928" y="1874519"/>
            <a:ext cx="3931920" cy="2377440"/>
          </a:xfrm>
          <a:prstGeom prst="rect">
            <a:avLst/>
          </a:prstGeom>
        </p:spPr>
      </p:pic>
      <p:sp>
        <p:nvSpPr>
          <p:cNvPr id="8" name="Rectangle 7"/>
          <p:cNvSpPr/>
          <p:nvPr/>
        </p:nvSpPr>
        <p:spPr>
          <a:xfrm>
            <a:off x="566928" y="1874519"/>
            <a:ext cx="3931920" cy="23774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4297679"/>
            <a:ext cx="39319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Hospital legal helpdesk, 100+ victims supported in the first four days of operation.</a:t>
            </a:r>
          </a:p>
        </p:txBody>
      </p:sp>
      <p:pic>
        <p:nvPicPr>
          <p:cNvPr id="10" name="Picture 9" descr="ph_stall.jpg_4.30x1.45_0.45.jpg"/>
          <p:cNvPicPr>
            <a:picLocks noChangeAspect="1"/>
          </p:cNvPicPr>
          <p:nvPr/>
        </p:nvPicPr>
        <p:blipFill>
          <a:blip r:embed="rId3"/>
          <a:stretch>
            <a:fillRect/>
          </a:stretch>
        </p:blipFill>
        <p:spPr>
          <a:xfrm>
            <a:off x="566928" y="4709160"/>
            <a:ext cx="3931920" cy="1325880"/>
          </a:xfrm>
          <a:prstGeom prst="rect">
            <a:avLst/>
          </a:prstGeom>
        </p:spPr>
      </p:pic>
      <p:sp>
        <p:nvSpPr>
          <p:cNvPr id="11" name="Rectangle 10"/>
          <p:cNvSpPr/>
          <p:nvPr/>
        </p:nvSpPr>
        <p:spPr>
          <a:xfrm>
            <a:off x="566928" y="4709160"/>
            <a:ext cx="3931920" cy="1325880"/>
          </a:xfrm>
          <a:prstGeom prst="rect">
            <a:avLst/>
          </a:prstGeom>
          <a:noFill/>
          <a:ln w="12700">
            <a:solidFill>
              <a:srgbClr val="E8E9EE"/>
            </a:solidFill>
          </a:ln>
          <a:effectLst/>
        </p:spPr>
        <p:txBody>
          <a:bodyPr rtlCol="0" anchor="ctr"/>
          <a:lstStyle/>
          <a:p>
            <a:pPr algn="ctr"/>
          </a:p>
        </p:txBody>
      </p:sp>
      <p:sp>
        <p:nvSpPr>
          <p:cNvPr id="12" name="Oval 11"/>
          <p:cNvSpPr/>
          <p:nvPr/>
        </p:nvSpPr>
        <p:spPr>
          <a:xfrm>
            <a:off x="4892040" y="1874519"/>
            <a:ext cx="384048" cy="384048"/>
          </a:xfrm>
          <a:prstGeom prst="ellipse">
            <a:avLst/>
          </a:prstGeom>
          <a:solidFill>
            <a:srgbClr val="E9F7F0"/>
          </a:solidFill>
          <a:ln>
            <a:noFill/>
          </a:ln>
          <a:effectLst/>
        </p:spPr>
        <p:txBody>
          <a:bodyPr rtlCol="0" anchor="ctr"/>
          <a:lstStyle/>
          <a:p>
            <a:pPr algn="ctr"/>
          </a:p>
        </p:txBody>
      </p:sp>
      <p:pic>
        <p:nvPicPr>
          <p:cNvPr id="13" name="Picture 12" descr="life-buoy_0A9955_256_2.0.png"/>
          <p:cNvPicPr>
            <a:picLocks noChangeAspect="1"/>
          </p:cNvPicPr>
          <p:nvPr/>
        </p:nvPicPr>
        <p:blipFill>
          <a:blip r:embed="rId4"/>
          <a:stretch>
            <a:fillRect/>
          </a:stretch>
        </p:blipFill>
        <p:spPr>
          <a:xfrm>
            <a:off x="4984211" y="1966690"/>
            <a:ext cx="199704" cy="199704"/>
          </a:xfrm>
          <a:prstGeom prst="rect">
            <a:avLst/>
          </a:prstGeom>
        </p:spPr>
      </p:pic>
      <p:sp>
        <p:nvSpPr>
          <p:cNvPr id="14" name="TextBox 13"/>
          <p:cNvSpPr txBox="1"/>
          <p:nvPr/>
        </p:nvSpPr>
        <p:spPr>
          <a:xfrm>
            <a:off x="5422392" y="1847087"/>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What the desk does</a:t>
            </a:r>
          </a:p>
        </p:txBody>
      </p:sp>
      <p:sp>
        <p:nvSpPr>
          <p:cNvPr id="15" name="TextBox 14"/>
          <p:cNvSpPr txBox="1"/>
          <p:nvPr/>
        </p:nvSpPr>
        <p:spPr>
          <a:xfrm>
            <a:off x="7498080" y="1847087"/>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FIR follow-up, document checklists, DLSA referrals and compensation guidance, at the bedside, in Hindi.</a:t>
            </a:r>
          </a:p>
        </p:txBody>
      </p:sp>
      <p:sp>
        <p:nvSpPr>
          <p:cNvPr id="16" name="Oval 15"/>
          <p:cNvSpPr/>
          <p:nvPr/>
        </p:nvSpPr>
        <p:spPr>
          <a:xfrm>
            <a:off x="4892040" y="2907790"/>
            <a:ext cx="384048" cy="384048"/>
          </a:xfrm>
          <a:prstGeom prst="ellipse">
            <a:avLst/>
          </a:prstGeom>
          <a:solidFill>
            <a:srgbClr val="EFEDFF"/>
          </a:solidFill>
          <a:ln>
            <a:noFill/>
          </a:ln>
          <a:effectLst/>
        </p:spPr>
        <p:txBody>
          <a:bodyPr rtlCol="0" anchor="ctr"/>
          <a:lstStyle/>
          <a:p>
            <a:pPr algn="ctr"/>
          </a:p>
        </p:txBody>
      </p:sp>
      <p:pic>
        <p:nvPicPr>
          <p:cNvPr id="17" name="Picture 16" descr="users_4A35FF_256_2.0.png"/>
          <p:cNvPicPr>
            <a:picLocks noChangeAspect="1"/>
          </p:cNvPicPr>
          <p:nvPr/>
        </p:nvPicPr>
        <p:blipFill>
          <a:blip r:embed="rId5"/>
          <a:stretch>
            <a:fillRect/>
          </a:stretch>
        </p:blipFill>
        <p:spPr>
          <a:xfrm>
            <a:off x="4984211" y="2999961"/>
            <a:ext cx="199704" cy="199704"/>
          </a:xfrm>
          <a:prstGeom prst="rect">
            <a:avLst/>
          </a:prstGeom>
        </p:spPr>
      </p:pic>
      <p:sp>
        <p:nvSpPr>
          <p:cNvPr id="18" name="TextBox 17"/>
          <p:cNvSpPr txBox="1"/>
          <p:nvPr/>
        </p:nvSpPr>
        <p:spPr>
          <a:xfrm>
            <a:off x="5422392" y="2880358"/>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Who runs it</a:t>
            </a:r>
          </a:p>
        </p:txBody>
      </p:sp>
      <p:sp>
        <p:nvSpPr>
          <p:cNvPr id="19" name="TextBox 18"/>
          <p:cNvSpPr txBox="1"/>
          <p:nvPr/>
        </p:nvSpPr>
        <p:spPr>
          <a:xfrm>
            <a:off x="7498080" y="2880358"/>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Trained law-student volunteers under practising advocates, with Neev Foundation and DLSA coordination.</a:t>
            </a:r>
          </a:p>
        </p:txBody>
      </p:sp>
      <p:sp>
        <p:nvSpPr>
          <p:cNvPr id="20" name="Oval 19"/>
          <p:cNvSpPr/>
          <p:nvPr/>
        </p:nvSpPr>
        <p:spPr>
          <a:xfrm>
            <a:off x="4892040" y="3941061"/>
            <a:ext cx="384048" cy="384048"/>
          </a:xfrm>
          <a:prstGeom prst="ellipse">
            <a:avLst/>
          </a:prstGeom>
          <a:solidFill>
            <a:srgbClr val="E7F4F4"/>
          </a:solidFill>
          <a:ln>
            <a:noFill/>
          </a:ln>
          <a:effectLst/>
        </p:spPr>
        <p:txBody>
          <a:bodyPr rtlCol="0" anchor="ctr"/>
          <a:lstStyle/>
          <a:p>
            <a:pPr algn="ctr"/>
          </a:p>
        </p:txBody>
      </p:sp>
      <p:pic>
        <p:nvPicPr>
          <p:cNvPr id="21" name="Picture 20" descr="map-pin_0E8A8A_256_2.0.png"/>
          <p:cNvPicPr>
            <a:picLocks noChangeAspect="1"/>
          </p:cNvPicPr>
          <p:nvPr/>
        </p:nvPicPr>
        <p:blipFill>
          <a:blip r:embed="rId6"/>
          <a:stretch>
            <a:fillRect/>
          </a:stretch>
        </p:blipFill>
        <p:spPr>
          <a:xfrm>
            <a:off x="4984211" y="4033232"/>
            <a:ext cx="199704" cy="199704"/>
          </a:xfrm>
          <a:prstGeom prst="rect">
            <a:avLst/>
          </a:prstGeom>
        </p:spPr>
      </p:pic>
      <p:sp>
        <p:nvSpPr>
          <p:cNvPr id="22" name="TextBox 21"/>
          <p:cNvSpPr txBox="1"/>
          <p:nvPr/>
        </p:nvSpPr>
        <p:spPr>
          <a:xfrm>
            <a:off x="5422392" y="3913629"/>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Where it grows</a:t>
            </a:r>
          </a:p>
        </p:txBody>
      </p:sp>
      <p:sp>
        <p:nvSpPr>
          <p:cNvPr id="23" name="TextBox 22"/>
          <p:cNvSpPr txBox="1"/>
          <p:nvPr/>
        </p:nvSpPr>
        <p:spPr>
          <a:xfrm>
            <a:off x="7498080" y="3913629"/>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Gurugram and Delhi trauma wards first; the district toolkit makes it replicable wherever a DRSC wants one.</a:t>
            </a:r>
          </a:p>
        </p:txBody>
      </p:sp>
      <p:sp>
        <p:nvSpPr>
          <p:cNvPr id="24" name="Oval 23"/>
          <p:cNvSpPr/>
          <p:nvPr/>
        </p:nvSpPr>
        <p:spPr>
          <a:xfrm>
            <a:off x="4892040" y="4974332"/>
            <a:ext cx="384048" cy="384048"/>
          </a:xfrm>
          <a:prstGeom prst="ellipse">
            <a:avLst/>
          </a:prstGeom>
          <a:solidFill>
            <a:srgbClr val="FDF3E3"/>
          </a:solidFill>
          <a:ln>
            <a:noFill/>
          </a:ln>
          <a:effectLst/>
        </p:spPr>
        <p:txBody>
          <a:bodyPr rtlCol="0" anchor="ctr"/>
          <a:lstStyle/>
          <a:p>
            <a:pPr algn="ctr"/>
          </a:p>
        </p:txBody>
      </p:sp>
      <p:pic>
        <p:nvPicPr>
          <p:cNvPr id="25" name="Picture 24" descr="book-open_E58900_256_2.0.png"/>
          <p:cNvPicPr>
            <a:picLocks noChangeAspect="1"/>
          </p:cNvPicPr>
          <p:nvPr/>
        </p:nvPicPr>
        <p:blipFill>
          <a:blip r:embed="rId7"/>
          <a:stretch>
            <a:fillRect/>
          </a:stretch>
        </p:blipFill>
        <p:spPr>
          <a:xfrm>
            <a:off x="4984211" y="5066503"/>
            <a:ext cx="199704" cy="199704"/>
          </a:xfrm>
          <a:prstGeom prst="rect">
            <a:avLst/>
          </a:prstGeom>
        </p:spPr>
      </p:pic>
      <p:sp>
        <p:nvSpPr>
          <p:cNvPr id="26" name="TextBox 25"/>
          <p:cNvSpPr txBox="1"/>
          <p:nvPr/>
        </p:nvSpPr>
        <p:spPr>
          <a:xfrm>
            <a:off x="5422392" y="4946900"/>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Backed by materials</a:t>
            </a:r>
          </a:p>
        </p:txBody>
      </p:sp>
      <p:sp>
        <p:nvSpPr>
          <p:cNvPr id="27" name="TextBox 26"/>
          <p:cNvSpPr txBox="1"/>
          <p:nvPr/>
        </p:nvSpPr>
        <p:spPr>
          <a:xfrm>
            <a:off x="7498080" y="4946900"/>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The Hindi legal-rights guide and 'Meet Aasha' comics live at every desk, and Aasha continues the help at home, 24/7.</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PIPELINE, MEASURED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Numbers a standard </a:t>
            </a:r>
            <a:r>
              <a:rPr sz="2250" b="1" i="0">
                <a:solidFill>
                  <a:srgbClr val="4A35FF"/>
                </a:solidFill>
                <a:latin typeface="Montserrat"/>
              </a:rPr>
              <a:t>can act 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Each one is a lever for a WG-5 standard, toolkit entry or communication norm, none requires new legislation.</a:t>
            </a:r>
          </a:p>
        </p:txBody>
      </p:sp>
      <p:sp>
        <p:nvSpPr>
          <p:cNvPr id="8" name="Rounded Rectangle 7"/>
          <p:cNvSpPr/>
          <p:nvPr/>
        </p:nvSpPr>
        <p:spPr>
          <a:xfrm>
            <a:off x="566928" y="2148840"/>
            <a:ext cx="3611880" cy="128016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25856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921 of 1,026</a:t>
            </a:r>
          </a:p>
        </p:txBody>
      </p:sp>
      <p:sp>
        <p:nvSpPr>
          <p:cNvPr id="10" name="TextBox 9"/>
          <p:cNvSpPr txBox="1"/>
          <p:nvPr/>
        </p:nvSpPr>
        <p:spPr>
          <a:xfrm>
            <a:off x="731520" y="271576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claims pending nationally were stalled at documentation alone (RTI, July 2024)</a:t>
            </a:r>
          </a:p>
        </p:txBody>
      </p:sp>
      <p:sp>
        <p:nvSpPr>
          <p:cNvPr id="11" name="Rounded Rectangle 10"/>
          <p:cNvSpPr/>
          <p:nvPr/>
        </p:nvSpPr>
        <p:spPr>
          <a:xfrm>
            <a:off x="4288536" y="2148840"/>
            <a:ext cx="3611880" cy="1280160"/>
          </a:xfrm>
          <a:prstGeom prst="roundRect">
            <a:avLst>
              <a:gd name="adj" fmla="val 8000"/>
            </a:avLst>
          </a:prstGeom>
          <a:solidFill>
            <a:srgbClr val="F7F7FA"/>
          </a:solidFill>
          <a:ln>
            <a:noFill/>
          </a:ln>
          <a:effectLst/>
        </p:spPr>
        <p:txBody>
          <a:bodyPr rtlCol="0" anchor="ctr"/>
          <a:lstStyle/>
          <a:p>
            <a:pPr algn="ctr"/>
          </a:p>
        </p:txBody>
      </p:sp>
      <p:sp>
        <p:nvSpPr>
          <p:cNvPr id="12" name="TextBox 11"/>
          <p:cNvSpPr txBox="1"/>
          <p:nvPr/>
        </p:nvSpPr>
        <p:spPr>
          <a:xfrm>
            <a:off x="4453128" y="225856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~60 days</a:t>
            </a:r>
          </a:p>
        </p:txBody>
      </p:sp>
      <p:sp>
        <p:nvSpPr>
          <p:cNvPr id="13" name="TextBox 12"/>
          <p:cNvSpPr txBox="1"/>
          <p:nvPr/>
        </p:nvSpPr>
        <p:spPr>
          <a:xfrm>
            <a:off x="4453128" y="271576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typical intake latency where claims surface only via bi-monthly meetings</a:t>
            </a:r>
          </a:p>
        </p:txBody>
      </p:sp>
      <p:sp>
        <p:nvSpPr>
          <p:cNvPr id="14" name="Rounded Rectangle 13"/>
          <p:cNvSpPr/>
          <p:nvPr/>
        </p:nvSpPr>
        <p:spPr>
          <a:xfrm>
            <a:off x="8010144" y="2148840"/>
            <a:ext cx="3611880" cy="1280160"/>
          </a:xfrm>
          <a:prstGeom prst="roundRect">
            <a:avLst>
              <a:gd name="adj" fmla="val 8000"/>
            </a:avLst>
          </a:prstGeom>
          <a:solidFill>
            <a:srgbClr val="F7F7FA"/>
          </a:solidFill>
          <a:ln>
            <a:noFill/>
          </a:ln>
          <a:effectLst/>
        </p:spPr>
        <p:txBody>
          <a:bodyPr rtlCol="0" anchor="ctr"/>
          <a:lstStyle/>
          <a:p>
            <a:pPr algn="ctr"/>
          </a:p>
        </p:txBody>
      </p:sp>
      <p:sp>
        <p:nvSpPr>
          <p:cNvPr id="15" name="TextBox 14"/>
          <p:cNvSpPr txBox="1"/>
          <p:nvPr/>
        </p:nvSpPr>
        <p:spPr>
          <a:xfrm>
            <a:off x="8174736" y="225856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~50%</a:t>
            </a:r>
          </a:p>
        </p:txBody>
      </p:sp>
      <p:sp>
        <p:nvSpPr>
          <p:cNvPr id="16" name="TextBox 15"/>
          <p:cNvSpPr txBox="1"/>
          <p:nvPr/>
        </p:nvSpPr>
        <p:spPr>
          <a:xfrm>
            <a:off x="8174736" y="271576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of case files lack a usable family phone number, traceability is the first lever</a:t>
            </a:r>
          </a:p>
        </p:txBody>
      </p:sp>
      <p:sp>
        <p:nvSpPr>
          <p:cNvPr id="17" name="Rounded Rectangle 16"/>
          <p:cNvSpPr/>
          <p:nvPr/>
        </p:nvSpPr>
        <p:spPr>
          <a:xfrm>
            <a:off x="566928" y="3566160"/>
            <a:ext cx="3611880" cy="1280160"/>
          </a:xfrm>
          <a:prstGeom prst="roundRect">
            <a:avLst>
              <a:gd name="adj" fmla="val 8000"/>
            </a:avLst>
          </a:prstGeom>
          <a:solidFill>
            <a:srgbClr val="F7F7FA"/>
          </a:solidFill>
          <a:ln>
            <a:noFill/>
          </a:ln>
          <a:effectLst/>
        </p:spPr>
        <p:txBody>
          <a:bodyPr rtlCol="0" anchor="ctr"/>
          <a:lstStyle/>
          <a:p>
            <a:pPr algn="ctr"/>
          </a:p>
        </p:txBody>
      </p:sp>
      <p:sp>
        <p:nvSpPr>
          <p:cNvPr id="18" name="TextBox 17"/>
          <p:cNvSpPr txBox="1"/>
          <p:nvPr/>
        </p:nvSpPr>
        <p:spPr>
          <a:xfrm>
            <a:off x="731520" y="367588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7 vs 11–13</a:t>
            </a:r>
          </a:p>
        </p:txBody>
      </p:sp>
      <p:sp>
        <p:nvSpPr>
          <p:cNvPr id="19" name="TextBox 18"/>
          <p:cNvSpPr txBox="1"/>
          <p:nvPr/>
        </p:nvSpPr>
        <p:spPr>
          <a:xfrm>
            <a:off x="731520" y="413308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court-agreed documents vs what claimants are asked for in practice</a:t>
            </a:r>
          </a:p>
        </p:txBody>
      </p:sp>
      <p:sp>
        <p:nvSpPr>
          <p:cNvPr id="20" name="Rounded Rectangle 19"/>
          <p:cNvSpPr/>
          <p:nvPr/>
        </p:nvSpPr>
        <p:spPr>
          <a:xfrm>
            <a:off x="4288536" y="3566160"/>
            <a:ext cx="3611880" cy="1280160"/>
          </a:xfrm>
          <a:prstGeom prst="roundRect">
            <a:avLst>
              <a:gd name="adj" fmla="val 8000"/>
            </a:avLst>
          </a:prstGeom>
          <a:solidFill>
            <a:srgbClr val="F7F7FA"/>
          </a:solidFill>
          <a:ln>
            <a:noFill/>
          </a:ln>
          <a:effectLst/>
        </p:spPr>
        <p:txBody>
          <a:bodyPr rtlCol="0" anchor="ctr"/>
          <a:lstStyle/>
          <a:p>
            <a:pPr algn="ctr"/>
          </a:p>
        </p:txBody>
      </p:sp>
      <p:sp>
        <p:nvSpPr>
          <p:cNvPr id="21" name="TextBox 20"/>
          <p:cNvSpPr txBox="1"/>
          <p:nvPr/>
        </p:nvSpPr>
        <p:spPr>
          <a:xfrm>
            <a:off x="4453128" y="367588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205 → 9,813</a:t>
            </a:r>
          </a:p>
        </p:txBody>
      </p:sp>
      <p:sp>
        <p:nvSpPr>
          <p:cNvPr id="22" name="TextBox 21"/>
          <p:cNvSpPr txBox="1"/>
          <p:nvPr/>
        </p:nvSpPr>
        <p:spPr>
          <a:xfrm>
            <a:off x="4453128" y="413308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hit-and-run claims per year, FY23 to FY26, awareness works; the pipeline is next</a:t>
            </a:r>
          </a:p>
        </p:txBody>
      </p:sp>
      <p:sp>
        <p:nvSpPr>
          <p:cNvPr id="23" name="Rounded Rectangle 22"/>
          <p:cNvSpPr/>
          <p:nvPr/>
        </p:nvSpPr>
        <p:spPr>
          <a:xfrm>
            <a:off x="8010144" y="3566160"/>
            <a:ext cx="3611880" cy="1280160"/>
          </a:xfrm>
          <a:prstGeom prst="roundRect">
            <a:avLst>
              <a:gd name="adj" fmla="val 8000"/>
            </a:avLst>
          </a:prstGeom>
          <a:solidFill>
            <a:srgbClr val="F7F7FA"/>
          </a:solidFill>
          <a:ln>
            <a:noFill/>
          </a:ln>
          <a:effectLst/>
        </p:spPr>
        <p:txBody>
          <a:bodyPr rtlCol="0" anchor="ctr"/>
          <a:lstStyle/>
          <a:p>
            <a:pPr algn="ctr"/>
          </a:p>
        </p:txBody>
      </p:sp>
      <p:sp>
        <p:nvSpPr>
          <p:cNvPr id="24" name="TextBox 23"/>
          <p:cNvSpPr txBox="1"/>
          <p:nvPr/>
        </p:nvSpPr>
        <p:spPr>
          <a:xfrm>
            <a:off x="8174736" y="367588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5 + 22</a:t>
            </a:r>
          </a:p>
        </p:txBody>
      </p:sp>
      <p:sp>
        <p:nvSpPr>
          <p:cNvPr id="25" name="TextBox 24"/>
          <p:cNvSpPr txBox="1"/>
          <p:nvPr/>
        </p:nvSpPr>
        <p:spPr>
          <a:xfrm>
            <a:off x="8174736" y="413308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GIC clarification queries drafted · RTIs building the public record</a:t>
            </a:r>
          </a:p>
        </p:txBody>
      </p:sp>
      <p:sp>
        <p:nvSpPr>
          <p:cNvPr id="26" name="TextBox 25"/>
          <p:cNvSpPr txBox="1"/>
          <p:nvPr/>
        </p:nvSpPr>
        <p:spPr>
          <a:xfrm>
            <a:off x="566928" y="5257800"/>
            <a:ext cx="11057839" cy="731520"/>
          </a:xfrm>
          <a:prstGeom prst="rect">
            <a:avLst/>
          </a:prstGeom>
          <a:noFill/>
        </p:spPr>
        <p:txBody>
          <a:bodyPr wrap="square" lIns="0" rIns="0" tIns="0" bIns="0" anchor="t">
            <a:spAutoFit/>
          </a:bodyPr>
          <a:lstStyle/>
          <a:p>
            <a:pPr algn="l">
              <a:lnSpc>
                <a:spcPct val="135000"/>
              </a:lnSpc>
            </a:pPr>
            <a:r>
              <a:rPr sz="1050" b="1" i="0">
                <a:solidFill>
                  <a:srgbClr val="16181D"/>
                </a:solidFill>
                <a:latin typeface="Geist"/>
              </a:rPr>
              <a:t>The claim's other side: </a:t>
            </a:r>
            <a:r>
              <a:rPr sz="1050" b="0" i="0">
                <a:solidFill>
                  <a:srgbClr val="6E7180"/>
                </a:solidFill>
                <a:latin typeface="Geist"/>
              </a:rPr>
              <a:t>consultations with GIC and insurers on settlement practice · guidance from Justice J.R. Midha (Retd.), architect of the FaSTDAR process · working partners across MACT courts, DLSAs and legal-services clinics, Mishika Singh (Neev Foundation), Yash Agarwal (Public Policy India), Sanchit Seth (Advocate, Delhi MACT).</a:t>
            </a:r>
          </a:p>
        </p:txBody>
      </p:sp>
      <p:cxnSp>
        <p:nvCxnSpPr>
          <p:cNvPr id="27" name="Connector 26"/>
          <p:cNvCxnSpPr/>
          <p:nvPr/>
        </p:nvCxnSpPr>
        <p:spPr>
          <a:xfrm>
            <a:off x="566928" y="6455664"/>
            <a:ext cx="11057839" cy="0"/>
          </a:xfrm>
          <a:prstGeom prst="line">
            <a:avLst/>
          </a:prstGeom>
          <a:ln w="9525">
            <a:solidFill>
              <a:srgbClr val="E8E9EE"/>
            </a:solidFill>
          </a:ln>
          <a:effectLst/>
        </p:spPr>
      </p:cxnSp>
      <p:sp>
        <p:nvSpPr>
          <p:cNvPr id="28" name="TextBox 2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9" name="TextBox 2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5</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victim-side evidence base</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'Justice Unserved', 'Deposited But Not Delivered', 120+ victim and family interactions, and file-level pipeline data showing precisely where eligible families drop out.</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district toolkit, drawn from practice</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Working DRSC integration experience, agendas, file digitisation, fellow placement, ready to be codified into the Group's district toolkit.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reusable state portal blueprint</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The Rajasthan case-management design, guided filing, stage-wise visibility, single-pass clarification, offered as a template any state can adapt.</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Standards input from the claimant's side</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Document standards (the court-agreed 7), communication norms and timeline benchmarks, grounded in what families actually experience.</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920240"/>
            <a:ext cx="11064240" cy="1280160"/>
          </a:xfrm>
          <a:prstGeom prst="rect">
            <a:avLst/>
          </a:prstGeom>
          <a:noFill/>
        </p:spPr>
        <p:txBody>
          <a:bodyPr wrap="square" lIns="0" rIns="0" tIns="0" bIns="0" anchor="t">
            <a:spAutoFit/>
          </a:bodyPr>
          <a:lstStyle/>
          <a:p>
            <a:pPr algn="l">
              <a:lnSpc>
                <a:spcPct val="120000"/>
              </a:lnSpc>
            </a:pPr>
            <a:r>
              <a:rPr sz="3200" b="1" i="0">
                <a:solidFill>
                  <a:srgbClr val="FFFFFF"/>
                </a:solidFill>
                <a:latin typeface="Montserrat"/>
              </a:rPr>
              <a:t>We would be honoured to contribute</a:t>
            </a:r>
          </a:p>
          <a:p>
            <a:pPr algn="l">
              <a:lnSpc>
                <a:spcPct val="120000"/>
              </a:lnSpc>
            </a:pPr>
            <a:r>
              <a:rPr sz="3200" b="1" i="0">
                <a:solidFill>
                  <a:srgbClr val="FFFFFF"/>
                </a:solidFill>
                <a:latin typeface="Montserrat"/>
              </a:rPr>
              <a:t>to Working Group 5.</a:t>
            </a:r>
          </a:p>
        </p:txBody>
      </p:sp>
      <p:sp>
        <p:nvSpPr>
          <p:cNvPr id="5" name="TextBox 4"/>
          <p:cNvSpPr txBox="1"/>
          <p:nvPr/>
        </p:nvSpPr>
        <p:spPr>
          <a:xfrm>
            <a:off x="566928" y="3520440"/>
            <a:ext cx="10515600" cy="548640"/>
          </a:xfrm>
          <a:prstGeom prst="rect">
            <a:avLst/>
          </a:prstGeom>
          <a:noFill/>
        </p:spPr>
        <p:txBody>
          <a:bodyPr wrap="square" lIns="0" rIns="0" tIns="0" bIns="0" anchor="t">
            <a:spAutoFit/>
          </a:bodyPr>
          <a:lstStyle/>
          <a:p>
            <a:pPr algn="l">
              <a:lnSpc>
                <a:spcPct val="140000"/>
              </a:lnSpc>
            </a:pPr>
            <a:r>
              <a:rPr sz="1250" b="0" i="0">
                <a:solidFill>
                  <a:srgbClr val="C8C0FF"/>
                </a:solidFill>
                <a:latin typeface="Geist"/>
              </a:rPr>
              <a:t>Our evidence, our district relationships, our technology and our expert bench are available to the Board, in whichever form is most useful.</a:t>
            </a:r>
          </a:p>
        </p:txBody>
      </p:sp>
      <p:cxnSp>
        <p:nvCxnSpPr>
          <p:cNvPr id="6" name="Connector 5"/>
          <p:cNvCxnSpPr/>
          <p:nvPr/>
        </p:nvCxnSpPr>
        <p:spPr>
          <a:xfrm>
            <a:off x="566928" y="4315968"/>
            <a:ext cx="4754880" cy="0"/>
          </a:xfrm>
          <a:prstGeom prst="line">
            <a:avLst/>
          </a:prstGeom>
          <a:ln w="12700">
            <a:solidFill>
              <a:srgbClr val="6A55FF"/>
            </a:solidFill>
          </a:ln>
          <a:effectLst/>
        </p:spPr>
      </p:cxnSp>
      <p:sp>
        <p:nvSpPr>
          <p:cNvPr id="7" name="TextBox 6"/>
          <p:cNvSpPr txBox="1"/>
          <p:nvPr/>
        </p:nvSpPr>
        <p:spPr>
          <a:xfrm>
            <a:off x="566928" y="4517136"/>
            <a:ext cx="9875520" cy="777240"/>
          </a:xfrm>
          <a:prstGeom prst="rect">
            <a:avLst/>
          </a:prstGeom>
          <a:noFill/>
        </p:spPr>
        <p:txBody>
          <a:bodyPr wrap="square" lIns="0" rIns="0" tIns="0" bIns="0" anchor="t">
            <a:spAutoFit/>
          </a:bodyPr>
          <a:lstStyle/>
          <a:p>
            <a:pPr algn="l">
              <a:lnSpc>
                <a:spcPct val="135000"/>
              </a:lnSpc>
            </a:pPr>
            <a:r>
              <a:rPr sz="140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75504"/>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614416"/>
            <a:ext cx="256032" cy="256032"/>
          </a:xfrm>
          <a:prstGeom prst="rect">
            <a:avLst/>
          </a:prstGeom>
        </p:spPr>
      </p:pic>
      <p:sp>
        <p:nvSpPr>
          <p:cNvPr id="10" name="TextBox 9"/>
          <p:cNvSpPr txBox="1"/>
          <p:nvPr/>
        </p:nvSpPr>
        <p:spPr>
          <a:xfrm>
            <a:off x="978408" y="5596128"/>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6035040"/>
            <a:ext cx="256032" cy="256032"/>
          </a:xfrm>
          <a:prstGeom prst="rect">
            <a:avLst/>
          </a:prstGeom>
        </p:spPr>
      </p:pic>
      <p:sp>
        <p:nvSpPr>
          <p:cNvPr id="12" name="TextBox 11"/>
          <p:cNvSpPr txBox="1"/>
          <p:nvPr/>
        </p:nvSpPr>
        <p:spPr>
          <a:xfrm>
            <a:off x="978408" y="60167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