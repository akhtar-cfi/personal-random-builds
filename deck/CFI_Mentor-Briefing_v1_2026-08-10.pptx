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jp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4.png"/><Relationship Id="rId4" Type="http://schemas.openxmlformats.org/officeDocument/2006/relationships/image" Target="../media/image4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47.jp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54.jpg"/><Relationship Id="rId6" Type="http://schemas.openxmlformats.org/officeDocument/2006/relationships/image" Target="../media/image5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31.png"/><Relationship Id="rId4" Type="http://schemas.openxmlformats.org/officeDocument/2006/relationships/image" Target="../media/image3.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image" Target="../media/image7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 BRIEFING FOR MENTORS  ·  2026</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A ROAD SAFETY NONPROFIT  ·  NEW DELHI</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Adding capacity to India's road safety system:</a:t>
            </a:r>
          </a:p>
          <a:p>
            <a:pPr algn="l">
              <a:lnSpc>
                <a:spcPct val="125000"/>
              </a:lnSpc>
            </a:pPr>
            <a:r>
              <a:rPr sz="1650" b="1" i="0">
                <a:solidFill>
                  <a:srgbClr val="4A35FF"/>
                </a:solidFill>
                <a:latin typeface="Montserrat"/>
              </a:rPr>
              <a:t>evidence, institutions, and technology that follows through</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search-check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Field audits and research to official standards, fixed with the authorities that own the road</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cpu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Technology for police, victims and the public: enforcement, open data, and a chatbot on WhatsApp</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landmark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Working inside the machinery: 4 district committees, police MoUs, 25+ written approvals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Registered as the Vision Zero Trust · A Cars24 commitment · Co-founded with the Indian Road Safety Council</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personal </a:t>
            </a:r>
            <a:r>
              <a:rPr sz="2250" b="1" i="0">
                <a:solidFill>
                  <a:srgbClr val="4A35FF"/>
                </a:solidFill>
                <a:latin typeface="Montserrat"/>
              </a:rPr>
              <a:t>note</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12848"/>
            <a:ext cx="8412480" cy="3383280"/>
          </a:xfrm>
          <a:prstGeom prst="rect">
            <a:avLst/>
          </a:prstGeom>
          <a:noFill/>
        </p:spPr>
        <p:txBody>
          <a:bodyPr wrap="square" lIns="0" rIns="0" tIns="0" bIns="0" anchor="t">
            <a:spAutoFit/>
          </a:bodyPr>
          <a:lstStyle/>
          <a:p>
            <a:pPr algn="l">
              <a:lnSpc>
                <a:spcPct val="128000"/>
              </a:lnSpc>
              <a:spcAft>
                <a:spcPts val="650"/>
              </a:spcAft>
            </a:pPr>
            <a:r>
              <a:rPr sz="1040" b="0" i="0">
                <a:solidFill>
                  <a:srgbClr val="16181D"/>
                </a:solidFill>
                <a:latin typeface="Geist"/>
              </a:rPr>
              <a:t>Dear friend,</a:t>
            </a:r>
          </a:p>
          <a:p>
            <a:pPr algn="l">
              <a:lnSpc>
                <a:spcPct val="128000"/>
              </a:lnSpc>
              <a:spcAft>
                <a:spcPts val="650"/>
              </a:spcAft>
            </a:pPr>
            <a:r>
              <a:rPr sz="1040" b="0" i="0">
                <a:solidFill>
                  <a:srgbClr val="16181D"/>
                </a:solidFill>
                <a:latin typeface="Geist"/>
              </a:rPr>
              <a:t>This deck goes to a small set of people whose judgement I deeply admire. I am writing to ask for something specific: your counsel, from time to time, as Crashfree India grows.</a:t>
            </a:r>
          </a:p>
          <a:p>
            <a:pPr algn="l">
              <a:lnSpc>
                <a:spcPct val="128000"/>
              </a:lnSpc>
              <a:spcAft>
                <a:spcPts val="650"/>
              </a:spcAft>
            </a:pPr>
            <a:r>
              <a:rPr sz="1040" b="0" i="0">
                <a:solidFill>
                  <a:srgbClr val="16181D"/>
                </a:solidFill>
                <a:latin typeface="Geist"/>
              </a:rPr>
              <a:t>Crashfree India is a road safety nonprofit, registered as the Vision Zero Trust, co-founded with the Indian Road Safety Council and backed by a three-year, US$3 million commitment from Cars24. India loses more than 1.7 lakh lives on its roads every year. In our first year we built an audit-to-implementation engine that has moved 15 dangerous sites into rectification, an AI enforcement platform running with three police forces, a compensation practice that follows crash victims' families from FIR to disbursal, and open data platforms that turn scattered public records into citable evidence. MS Dhoni carries this message to the country as our Goodwill Ambassador.</a:t>
            </a:r>
          </a:p>
          <a:p>
            <a:pPr algn="l">
              <a:lnSpc>
                <a:spcPct val="128000"/>
              </a:lnSpc>
              <a:spcAft>
                <a:spcPts val="650"/>
              </a:spcAft>
            </a:pPr>
            <a:r>
              <a:rPr sz="1040" b="0" i="0">
                <a:solidFill>
                  <a:srgbClr val="16181D"/>
                </a:solidFill>
                <a:latin typeface="Geist"/>
              </a:rPr>
              <a:t>The work has reached the stage where ambition can outrun experience. We are deciding which programmes become institutions, how to work with government at scale, and how to build an organisation that can hold this mission for a decade. On questions like these, we have more energy than experience, and we know it.</a:t>
            </a:r>
          </a:p>
          <a:p>
            <a:pPr algn="l">
              <a:lnSpc>
                <a:spcPct val="128000"/>
              </a:lnSpc>
              <a:spcAft>
                <a:spcPts val="650"/>
              </a:spcAft>
            </a:pPr>
            <a:r>
              <a:rPr sz="1040" b="0" i="0">
                <a:solidFill>
                  <a:srgbClr val="16181D"/>
                </a:solidFill>
                <a:latin typeface="Geist"/>
              </a:rPr>
              <a:t>The pages that follow are a short tour of what we have built. If the work speaks to you, I would be grateful for an hour of your time, and for the licence to write to you when we face a decision where your experience would show us the way.</a:t>
            </a:r>
          </a:p>
        </p:txBody>
      </p:sp>
      <p:sp>
        <p:nvSpPr>
          <p:cNvPr id="11" name="TextBox 10"/>
          <p:cNvSpPr txBox="1"/>
          <p:nvPr/>
        </p:nvSpPr>
        <p:spPr>
          <a:xfrm>
            <a:off x="1892808" y="5541263"/>
            <a:ext cx="8412480" cy="274320"/>
          </a:xfrm>
          <a:prstGeom prst="rect">
            <a:avLst/>
          </a:prstGeom>
          <a:noFill/>
        </p:spPr>
        <p:txBody>
          <a:bodyPr wrap="square" lIns="0" rIns="0" tIns="0" bIns="0" anchor="t">
            <a:spAutoFit/>
          </a:bodyPr>
          <a:lstStyle/>
          <a:p>
            <a:pPr algn="l">
              <a:lnSpc>
                <a:spcPct val="128000"/>
              </a:lnSpc>
            </a:pPr>
            <a:r>
              <a:rPr sz="1040" b="0" i="0">
                <a:solidFill>
                  <a:srgbClr val="16181D"/>
                </a:solidFill>
                <a:latin typeface="Geist"/>
              </a:rPr>
              <a:t>With respect,</a:t>
            </a:r>
          </a:p>
        </p:txBody>
      </p:sp>
      <p:sp>
        <p:nvSpPr>
          <p:cNvPr id="12" name="TextBox 11"/>
          <p:cNvSpPr txBox="1"/>
          <p:nvPr/>
        </p:nvSpPr>
        <p:spPr>
          <a:xfrm>
            <a:off x="1892808" y="5797296"/>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16752"/>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cxnSp>
        <p:nvCxnSpPr>
          <p:cNvPr id="14" name="Connector 13"/>
          <p:cNvCxnSpPr/>
          <p:nvPr/>
        </p:nvCxnSpPr>
        <p:spPr>
          <a:xfrm>
            <a:off x="566928" y="6455664"/>
            <a:ext cx="11057839" cy="0"/>
          </a:xfrm>
          <a:prstGeom prst="line">
            <a:avLst/>
          </a:prstGeom>
          <a:ln w="9525">
            <a:solidFill>
              <a:srgbClr val="E8E9EE"/>
            </a:solidFill>
          </a:ln>
          <a:effectLst/>
        </p:spPr>
      </p:cxnSp>
      <p:sp>
        <p:nvSpPr>
          <p:cNvPr id="15" name="TextBox 1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16" name="TextBox 1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Programmes, not overheads, receive 71% of the budget.</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Aasha · SATARK · 4 open data platforms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Aasha · SATARK · 4 open data platforms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Implementation started at 15 sites · 7 fully built</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Implementation started at 15 sites · 7 fully built</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ROAD INFRASTRUCTURE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student audits </a:t>
            </a:r>
            <a:r>
              <a:rPr sz="2250" b="1" i="0">
                <a:solidFill>
                  <a:srgbClr val="4A35FF"/>
                </a:solidFill>
                <a:latin typeface="Montserrat"/>
              </a:rPr>
              <a:t>that end in built fixes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Trained student teams, guided by senior experts, audit dangerous locations to IRC codes, and we walk each fix through the road-owning authority until it is built.</a:t>
            </a:r>
          </a:p>
        </p:txBody>
      </p:sp>
      <p:sp>
        <p:nvSpPr>
          <p:cNvPr id="8" name="Rounded Rectangle 7"/>
          <p:cNvSpPr/>
          <p:nvPr/>
        </p:nvSpPr>
        <p:spPr>
          <a:xfrm>
            <a:off x="56692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9" name="TextBox 8"/>
          <p:cNvSpPr txBox="1"/>
          <p:nvPr/>
        </p:nvSpPr>
        <p:spPr>
          <a:xfrm>
            <a:off x="69494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10" name="TextBox 9"/>
          <p:cNvSpPr txBox="1"/>
          <p:nvPr/>
        </p:nvSpPr>
        <p:spPr>
          <a:xfrm>
            <a:off x="69494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1" name="TextBox 10"/>
          <p:cNvSpPr txBox="1"/>
          <p:nvPr/>
        </p:nvSpPr>
        <p:spPr>
          <a:xfrm>
            <a:off x="233172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2" name="Rounded Rectangle 11"/>
          <p:cNvSpPr/>
          <p:nvPr/>
        </p:nvSpPr>
        <p:spPr>
          <a:xfrm>
            <a:off x="248716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3" name="TextBox 12"/>
          <p:cNvSpPr txBox="1"/>
          <p:nvPr/>
        </p:nvSpPr>
        <p:spPr>
          <a:xfrm>
            <a:off x="261518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4" name="TextBox 13"/>
          <p:cNvSpPr txBox="1"/>
          <p:nvPr/>
        </p:nvSpPr>
        <p:spPr>
          <a:xfrm>
            <a:off x="261518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5" name="TextBox 14"/>
          <p:cNvSpPr txBox="1"/>
          <p:nvPr/>
        </p:nvSpPr>
        <p:spPr>
          <a:xfrm>
            <a:off x="425196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6" name="Rounded Rectangle 15"/>
          <p:cNvSpPr/>
          <p:nvPr/>
        </p:nvSpPr>
        <p:spPr>
          <a:xfrm>
            <a:off x="440740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7" name="TextBox 16"/>
          <p:cNvSpPr txBox="1"/>
          <p:nvPr/>
        </p:nvSpPr>
        <p:spPr>
          <a:xfrm>
            <a:off x="453542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8" name="TextBox 17"/>
          <p:cNvSpPr txBox="1"/>
          <p:nvPr/>
        </p:nvSpPr>
        <p:spPr>
          <a:xfrm>
            <a:off x="453542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9" name="TextBox 18"/>
          <p:cNvSpPr txBox="1"/>
          <p:nvPr/>
        </p:nvSpPr>
        <p:spPr>
          <a:xfrm>
            <a:off x="617220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20" name="Rounded Rectangle 19"/>
          <p:cNvSpPr/>
          <p:nvPr/>
        </p:nvSpPr>
        <p:spPr>
          <a:xfrm>
            <a:off x="6327648" y="2011680"/>
            <a:ext cx="1783080" cy="1143000"/>
          </a:xfrm>
          <a:prstGeom prst="roundRect">
            <a:avLst>
              <a:gd name="adj" fmla="val 12000"/>
            </a:avLst>
          </a:prstGeom>
          <a:solidFill>
            <a:srgbClr val="4A35FF"/>
          </a:solidFill>
          <a:ln>
            <a:noFill/>
          </a:ln>
          <a:effectLst/>
        </p:spPr>
        <p:txBody>
          <a:bodyPr rtlCol="0" anchor="ctr"/>
          <a:lstStyle/>
          <a:p>
            <a:pPr algn="ctr"/>
          </a:p>
        </p:txBody>
      </p:sp>
      <p:sp>
        <p:nvSpPr>
          <p:cNvPr id="21" name="TextBox 20"/>
          <p:cNvSpPr txBox="1"/>
          <p:nvPr/>
        </p:nvSpPr>
        <p:spPr>
          <a:xfrm>
            <a:off x="6455664" y="212140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15</a:t>
            </a:r>
          </a:p>
        </p:txBody>
      </p:sp>
      <p:sp>
        <p:nvSpPr>
          <p:cNvPr id="22" name="TextBox 21"/>
          <p:cNvSpPr txBox="1"/>
          <p:nvPr/>
        </p:nvSpPr>
        <p:spPr>
          <a:xfrm>
            <a:off x="6455664" y="257860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sites in implementation, 7 fully built</a:t>
            </a:r>
          </a:p>
        </p:txBody>
      </p:sp>
      <p:sp>
        <p:nvSpPr>
          <p:cNvPr id="23" name="TextBox 22"/>
          <p:cNvSpPr txBox="1"/>
          <p:nvPr/>
        </p:nvSpPr>
        <p:spPr>
          <a:xfrm>
            <a:off x="566928" y="3383280"/>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every audit</a:t>
            </a:r>
          </a:p>
        </p:txBody>
      </p:sp>
      <p:sp>
        <p:nvSpPr>
          <p:cNvPr id="24" name="Rounded Rectangle 23"/>
          <p:cNvSpPr/>
          <p:nvPr/>
        </p:nvSpPr>
        <p:spPr>
          <a:xfrm>
            <a:off x="566928" y="3886200"/>
            <a:ext cx="7498079" cy="1234440"/>
          </a:xfrm>
          <a:prstGeom prst="roundRect">
            <a:avLst>
              <a:gd name="adj" fmla="val 10000"/>
            </a:avLst>
          </a:prstGeom>
          <a:solidFill>
            <a:srgbClr val="E9F7F0"/>
          </a:solidFill>
          <a:ln>
            <a:noFill/>
          </a:ln>
          <a:effectLst/>
        </p:spPr>
        <p:txBody>
          <a:bodyPr rtlCol="0" anchor="ctr"/>
          <a:lstStyle/>
          <a:p>
            <a:pPr algn="ctr"/>
          </a:p>
        </p:txBody>
      </p:sp>
      <p:sp>
        <p:nvSpPr>
          <p:cNvPr id="25" name="TextBox 24"/>
          <p:cNvSpPr txBox="1"/>
          <p:nvPr/>
        </p:nvSpPr>
        <p:spPr>
          <a:xfrm>
            <a:off x="768096" y="4005072"/>
            <a:ext cx="7132320" cy="274320"/>
          </a:xfrm>
          <a:prstGeom prst="rect">
            <a:avLst/>
          </a:prstGeom>
          <a:noFill/>
        </p:spPr>
        <p:txBody>
          <a:bodyPr wrap="square" lIns="0" rIns="0" tIns="0" bIns="0" anchor="t">
            <a:spAutoFit/>
          </a:bodyPr>
          <a:lstStyle/>
          <a:p>
            <a:pPr algn="l">
              <a:lnSpc>
                <a:spcPct val="128000"/>
              </a:lnSpc>
            </a:pPr>
            <a:r>
              <a:rPr sz="850" b="1" i="0" spc="120">
                <a:solidFill>
                  <a:srgbClr val="0A9955"/>
                </a:solidFill>
                <a:latin typeface="Montserrat"/>
              </a:rPr>
              <a:t>MARQUEE CASE, OUTER RING ROAD, SOUTH DELHI</a:t>
            </a:r>
          </a:p>
        </p:txBody>
      </p:sp>
      <p:sp>
        <p:nvSpPr>
          <p:cNvPr id="26" name="TextBox 25"/>
          <p:cNvSpPr txBox="1"/>
          <p:nvPr/>
        </p:nvSpPr>
        <p:spPr>
          <a:xfrm>
            <a:off x="768096" y="4297680"/>
            <a:ext cx="7132320" cy="731520"/>
          </a:xfrm>
          <a:prstGeom prst="rect">
            <a:avLst/>
          </a:prstGeom>
          <a:noFill/>
        </p:spPr>
        <p:txBody>
          <a:bodyPr wrap="square" lIns="0" rIns="0" tIns="0" bIns="0" anchor="t">
            <a:spAutoFit/>
          </a:bodyPr>
          <a:lstStyle/>
          <a:p>
            <a:pPr algn="l">
              <a:lnSpc>
                <a:spcPct val="130000"/>
              </a:lnSpc>
            </a:pPr>
            <a:r>
              <a:rPr sz="100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sp>
        <p:nvSpPr>
          <p:cNvPr id="27" name="TextBox 26"/>
          <p:cNvSpPr txBox="1"/>
          <p:nvPr/>
        </p:nvSpPr>
        <p:spPr>
          <a:xfrm>
            <a:off x="566928" y="5303520"/>
            <a:ext cx="7498079" cy="64008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Every site is tracked on a public dashboard </a:t>
            </a:r>
            <a:r>
              <a:rPr sz="1000" b="0" i="0">
                <a:solidFill>
                  <a:srgbClr val="6E7180"/>
                </a:solidFill>
                <a:latin typeface="Geist"/>
              </a:rPr>
              <a:t>from submission through approval to completed construction, an honest read on how quickly agencies can act.</a:t>
            </a:r>
          </a:p>
        </p:txBody>
      </p:sp>
      <p:pic>
        <p:nvPicPr>
          <p:cNvPr id="28" name="Picture 27" descr="implementation_work.jpg_3.60x4.35_0.30.jpg"/>
          <p:cNvPicPr>
            <a:picLocks noChangeAspect="1"/>
          </p:cNvPicPr>
          <p:nvPr/>
        </p:nvPicPr>
        <p:blipFill>
          <a:blip r:embed="rId2"/>
          <a:stretch>
            <a:fillRect/>
          </a:stretch>
        </p:blipFill>
        <p:spPr>
          <a:xfrm>
            <a:off x="8321040" y="1965960"/>
            <a:ext cx="3291840" cy="3977639"/>
          </a:xfrm>
          <a:prstGeom prst="rect">
            <a:avLst/>
          </a:prstGeom>
        </p:spPr>
      </p:pic>
      <p:sp>
        <p:nvSpPr>
          <p:cNvPr id="29" name="Rectangle 28"/>
          <p:cNvSpPr/>
          <p:nvPr/>
        </p:nvSpPr>
        <p:spPr>
          <a:xfrm>
            <a:off x="8321040" y="1965960"/>
            <a:ext cx="3291840" cy="3977639"/>
          </a:xfrm>
          <a:prstGeom prst="rect">
            <a:avLst/>
          </a:prstGeom>
          <a:noFill/>
          <a:ln w="12700">
            <a:solidFill>
              <a:srgbClr val="E8E9EE"/>
            </a:solidFill>
          </a:ln>
          <a:effectLst/>
        </p:spPr>
        <p:txBody>
          <a:bodyPr rtlCol="0" anchor="ctr"/>
          <a:lstStyle/>
          <a:p>
            <a:pPr algn="ctr"/>
          </a:p>
        </p:txBody>
      </p:sp>
      <p:sp>
        <p:nvSpPr>
          <p:cNvPr id="30" name="TextBox 29"/>
          <p:cNvSpPr txBox="1"/>
          <p:nvPr/>
        </p:nvSpPr>
        <p:spPr>
          <a:xfrm>
            <a:off x="8321040" y="5989319"/>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Construction underway after a student audit, tracked publicly to completion.</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OUR RESEARCH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Published evidence </a:t>
            </a:r>
            <a:r>
              <a:rPr sz="2250" b="1" i="0">
                <a:solidFill>
                  <a:srgbClr val="4A35FF"/>
                </a:solidFill>
                <a:latin typeface="Montserrat"/>
              </a:rPr>
              <a:t>the sector cites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Original research, launched publicly and covered by national press. Each report turns a policy gap into something authorities can act on.</a:t>
            </a:r>
          </a:p>
        </p:txBody>
      </p:sp>
      <p:sp>
        <p:nvSpPr>
          <p:cNvPr id="8" name="Rounded Rectangle 7"/>
          <p:cNvSpPr/>
          <p:nvPr/>
        </p:nvSpPr>
        <p:spPr>
          <a:xfrm>
            <a:off x="566928"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opt_cov_justice_unserved_1500.jpg"/>
          <p:cNvPicPr>
            <a:picLocks noChangeAspect="1"/>
          </p:cNvPicPr>
          <p:nvPr/>
        </p:nvPicPr>
        <p:blipFill>
          <a:blip r:embed="rId2"/>
          <a:stretch>
            <a:fillRect/>
          </a:stretch>
        </p:blipFill>
        <p:spPr>
          <a:xfrm>
            <a:off x="1609636" y="2331720"/>
            <a:ext cx="1526463" cy="2011680"/>
          </a:xfrm>
          <a:prstGeom prst="rect">
            <a:avLst/>
          </a:prstGeom>
        </p:spPr>
      </p:pic>
      <p:sp>
        <p:nvSpPr>
          <p:cNvPr id="10" name="TextBox 9"/>
          <p:cNvSpPr txBox="1"/>
          <p:nvPr/>
        </p:nvSpPr>
        <p:spPr>
          <a:xfrm>
            <a:off x="749808"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'Justice Unserved'</a:t>
            </a:r>
          </a:p>
        </p:txBody>
      </p:sp>
      <p:sp>
        <p:nvSpPr>
          <p:cNvPr id="11" name="Rounded Rectangle 10"/>
          <p:cNvSpPr/>
          <p:nvPr/>
        </p:nvSpPr>
        <p:spPr>
          <a:xfrm>
            <a:off x="749808"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2" name="TextBox 11"/>
          <p:cNvSpPr txBox="1"/>
          <p:nvPr/>
        </p:nvSpPr>
        <p:spPr>
          <a:xfrm>
            <a:off x="768096"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Jan 2026</a:t>
            </a:r>
          </a:p>
        </p:txBody>
      </p:sp>
      <p:sp>
        <p:nvSpPr>
          <p:cNvPr id="13" name="TextBox 12"/>
          <p:cNvSpPr txBox="1"/>
          <p:nvPr/>
        </p:nvSpPr>
        <p:spPr>
          <a:xfrm>
            <a:off x="749808"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Why so few hit-and-run and third-party claims reach the families entitled to them. Launched at IIT Delhi; findings presented to MoRTH.</a:t>
            </a:r>
          </a:p>
        </p:txBody>
      </p:sp>
      <p:sp>
        <p:nvSpPr>
          <p:cNvPr id="14" name="Rounded Rectangle 13"/>
          <p:cNvSpPr/>
          <p:nvPr/>
        </p:nvSpPr>
        <p:spPr>
          <a:xfrm>
            <a:off x="4288536"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cov_deposited.png"/>
          <p:cNvPicPr>
            <a:picLocks noChangeAspect="1"/>
          </p:cNvPicPr>
          <p:nvPr/>
        </p:nvPicPr>
        <p:blipFill>
          <a:blip r:embed="rId3"/>
          <a:stretch>
            <a:fillRect/>
          </a:stretch>
        </p:blipFill>
        <p:spPr>
          <a:xfrm>
            <a:off x="5327923" y="2331720"/>
            <a:ext cx="1533106" cy="2011680"/>
          </a:xfrm>
          <a:prstGeom prst="rect">
            <a:avLst/>
          </a:prstGeom>
        </p:spPr>
      </p:pic>
      <p:sp>
        <p:nvSpPr>
          <p:cNvPr id="16" name="TextBox 15"/>
          <p:cNvSpPr txBox="1"/>
          <p:nvPr/>
        </p:nvSpPr>
        <p:spPr>
          <a:xfrm>
            <a:off x="4471416"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'Deposited But Not Delivered'</a:t>
            </a:r>
          </a:p>
        </p:txBody>
      </p:sp>
      <p:sp>
        <p:nvSpPr>
          <p:cNvPr id="17" name="Rounded Rectangle 16"/>
          <p:cNvSpPr/>
          <p:nvPr/>
        </p:nvSpPr>
        <p:spPr>
          <a:xfrm>
            <a:off x="4471416"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4489704"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2026</a:t>
            </a:r>
          </a:p>
        </p:txBody>
      </p:sp>
      <p:sp>
        <p:nvSpPr>
          <p:cNvPr id="19" name="TextBox 18"/>
          <p:cNvSpPr txBox="1"/>
          <p:nvPr/>
        </p:nvSpPr>
        <p:spPr>
          <a:xfrm>
            <a:off x="4471416"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~₹986 crore of court-awarded compensation lies unclaimed across five High Court jurisdictions, a bottleneck the Supreme Court noted in 2025.</a:t>
            </a:r>
          </a:p>
        </p:txBody>
      </p:sp>
      <p:sp>
        <p:nvSpPr>
          <p:cNvPr id="20" name="Rounded Rectangle 19"/>
          <p:cNvSpPr/>
          <p:nvPr/>
        </p:nvSpPr>
        <p:spPr>
          <a:xfrm>
            <a:off x="8010144"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rimer_cover-01.jpg"/>
          <p:cNvPicPr>
            <a:picLocks noChangeAspect="1"/>
          </p:cNvPicPr>
          <p:nvPr/>
        </p:nvPicPr>
        <p:blipFill>
          <a:blip r:embed="rId4"/>
          <a:stretch>
            <a:fillRect/>
          </a:stretch>
        </p:blipFill>
        <p:spPr>
          <a:xfrm>
            <a:off x="9104689" y="2331720"/>
            <a:ext cx="1422790" cy="2011680"/>
          </a:xfrm>
          <a:prstGeom prst="rect">
            <a:avLst/>
          </a:prstGeom>
        </p:spPr>
      </p:pic>
      <p:sp>
        <p:nvSpPr>
          <p:cNvPr id="22" name="TextBox 21"/>
          <p:cNvSpPr txBox="1"/>
          <p:nvPr/>
        </p:nvSpPr>
        <p:spPr>
          <a:xfrm>
            <a:off x="8193024"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Pre-Hospital Care Primer</a:t>
            </a:r>
          </a:p>
        </p:txBody>
      </p:sp>
      <p:sp>
        <p:nvSpPr>
          <p:cNvPr id="23" name="Rounded Rectangle 22"/>
          <p:cNvSpPr/>
          <p:nvPr/>
        </p:nvSpPr>
        <p:spPr>
          <a:xfrm>
            <a:off x="8193024"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8211312"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Sep 2025</a:t>
            </a:r>
          </a:p>
        </p:txBody>
      </p:sp>
      <p:sp>
        <p:nvSpPr>
          <p:cNvPr id="25" name="TextBox 24"/>
          <p:cNvSpPr txBox="1"/>
          <p:nvPr/>
        </p:nvSpPr>
        <p:spPr>
          <a:xfrm>
            <a:off x="8193024"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Benchmarks ERSS-112 response and documents state EMS innovations, with contributions from the AIIMS Trauma Centre.</a:t>
            </a:r>
          </a:p>
        </p:txBody>
      </p:sp>
      <p:sp>
        <p:nvSpPr>
          <p:cNvPr id="26" name="TextBox 25"/>
          <p:cNvSpPr txBox="1"/>
          <p:nvPr/>
        </p:nvSpPr>
        <p:spPr>
          <a:xfrm>
            <a:off x="566928" y="6035040"/>
            <a:ext cx="11057839" cy="27432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the gig-rider brief 'When Risks Become Routine', and four open public-data platforms, all free to use and openly licensed.</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THE YEAR AHEAD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THE YEAR AHEAD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Where we are going, and </a:t>
            </a:r>
            <a:r>
              <a:rPr sz="2250" b="1" i="0">
                <a:solidFill>
                  <a:srgbClr val="4A35FF"/>
                </a:solidFill>
                <a:latin typeface="Montserrat"/>
              </a:rPr>
              <a:t>where your counsel would help</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Year 2 moves from programmes to institutions. These are the goals, and the questions we would bring to a mentor.</a:t>
            </a:r>
          </a:p>
        </p:txBody>
      </p:sp>
      <p:sp>
        <p:nvSpPr>
          <p:cNvPr id="8" name="TextBox 7"/>
          <p:cNvSpPr txBox="1"/>
          <p:nvPr/>
        </p:nvSpPr>
        <p:spPr>
          <a:xfrm>
            <a:off x="566928" y="1847088"/>
            <a:ext cx="5349240"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THE YEAR AHEAD</a:t>
            </a:r>
          </a:p>
        </p:txBody>
      </p:sp>
      <p:sp>
        <p:nvSpPr>
          <p:cNvPr id="9" name="Oval 8"/>
          <p:cNvSpPr/>
          <p:nvPr/>
        </p:nvSpPr>
        <p:spPr>
          <a:xfrm>
            <a:off x="566928" y="2176272"/>
            <a:ext cx="365760" cy="365760"/>
          </a:xfrm>
          <a:prstGeom prst="ellipse">
            <a:avLst/>
          </a:prstGeom>
          <a:solidFill>
            <a:srgbClr val="EFEDFF"/>
          </a:solidFill>
          <a:ln>
            <a:noFill/>
          </a:ln>
          <a:effectLst/>
        </p:spPr>
        <p:txBody>
          <a:bodyPr rtlCol="0" anchor="ctr"/>
          <a:lstStyle/>
          <a:p>
            <a:pPr algn="ctr"/>
          </a:p>
        </p:txBody>
      </p:sp>
      <p:pic>
        <p:nvPicPr>
          <p:cNvPr id="10" name="Picture 9" descr="hard-hat_4A35FF_256_2.0.png"/>
          <p:cNvPicPr>
            <a:picLocks noChangeAspect="1"/>
          </p:cNvPicPr>
          <p:nvPr/>
        </p:nvPicPr>
        <p:blipFill>
          <a:blip r:embed="rId2"/>
          <a:stretch>
            <a:fillRect/>
          </a:stretch>
        </p:blipFill>
        <p:spPr>
          <a:xfrm>
            <a:off x="654710" y="2264054"/>
            <a:ext cx="190195" cy="190195"/>
          </a:xfrm>
          <a:prstGeom prst="rect">
            <a:avLst/>
          </a:prstGeom>
        </p:spPr>
      </p:pic>
      <p:sp>
        <p:nvSpPr>
          <p:cNvPr id="11" name="TextBox 10"/>
          <p:cNvSpPr txBox="1"/>
          <p:nvPr/>
        </p:nvSpPr>
        <p:spPr>
          <a:xfrm>
            <a:off x="1097280"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Project Rakshak</a:t>
            </a:r>
          </a:p>
        </p:txBody>
      </p:sp>
      <p:sp>
        <p:nvSpPr>
          <p:cNvPr id="12" name="TextBox 11"/>
          <p:cNvSpPr txBox="1"/>
          <p:nvPr/>
        </p:nvSpPr>
        <p:spPr>
          <a:xfrm>
            <a:off x="3566160" y="2157984"/>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Audits running inside institutions, with 75+ implementations initiated and every one tracked publicly.</a:t>
            </a:r>
          </a:p>
        </p:txBody>
      </p:sp>
      <p:sp>
        <p:nvSpPr>
          <p:cNvPr id="13" name="Oval 12"/>
          <p:cNvSpPr/>
          <p:nvPr/>
        </p:nvSpPr>
        <p:spPr>
          <a:xfrm>
            <a:off x="566928" y="2962656"/>
            <a:ext cx="365760" cy="365760"/>
          </a:xfrm>
          <a:prstGeom prst="ellipse">
            <a:avLst/>
          </a:prstGeom>
          <a:solidFill>
            <a:srgbClr val="EFEDFF"/>
          </a:solidFill>
          <a:ln>
            <a:noFill/>
          </a:ln>
          <a:effectLst/>
        </p:spPr>
        <p:txBody>
          <a:bodyPr rtlCol="0" anchor="ctr"/>
          <a:lstStyle/>
          <a:p>
            <a:pPr algn="ctr"/>
          </a:p>
        </p:txBody>
      </p:sp>
      <p:pic>
        <p:nvPicPr>
          <p:cNvPr id="14" name="Picture 13" descr="scale_4A35FF_256_2.0.png"/>
          <p:cNvPicPr>
            <a:picLocks noChangeAspect="1"/>
          </p:cNvPicPr>
          <p:nvPr/>
        </p:nvPicPr>
        <p:blipFill>
          <a:blip r:embed="rId3"/>
          <a:stretch>
            <a:fillRect/>
          </a:stretch>
        </p:blipFill>
        <p:spPr>
          <a:xfrm>
            <a:off x="654710" y="3050438"/>
            <a:ext cx="190195" cy="190195"/>
          </a:xfrm>
          <a:prstGeom prst="rect">
            <a:avLst/>
          </a:prstGeom>
        </p:spPr>
      </p:pic>
      <p:sp>
        <p:nvSpPr>
          <p:cNvPr id="15" name="TextBox 14"/>
          <p:cNvSpPr txBox="1"/>
          <p:nvPr/>
        </p:nvSpPr>
        <p:spPr>
          <a:xfrm>
            <a:off x="1097280"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Crash compensation</a:t>
            </a:r>
          </a:p>
        </p:txBody>
      </p:sp>
      <p:sp>
        <p:nvSpPr>
          <p:cNvPr id="16" name="TextBox 15"/>
          <p:cNvSpPr txBox="1"/>
          <p:nvPr/>
        </p:nvSpPr>
        <p:spPr>
          <a:xfrm>
            <a:off x="3566160" y="2944368"/>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Claim pipeline fixed in two districts, mapped in eight, with a playbook states can adopt.</a:t>
            </a:r>
          </a:p>
        </p:txBody>
      </p:sp>
      <p:sp>
        <p:nvSpPr>
          <p:cNvPr id="17" name="Oval 16"/>
          <p:cNvSpPr/>
          <p:nvPr/>
        </p:nvSpPr>
        <p:spPr>
          <a:xfrm>
            <a:off x="566928" y="3749040"/>
            <a:ext cx="365760" cy="365760"/>
          </a:xfrm>
          <a:prstGeom prst="ellipse">
            <a:avLst/>
          </a:prstGeom>
          <a:solidFill>
            <a:srgbClr val="EFEDFF"/>
          </a:solidFill>
          <a:ln>
            <a:noFill/>
          </a:ln>
          <a:effectLst/>
        </p:spPr>
        <p:txBody>
          <a:bodyPr rtlCol="0" anchor="ctr"/>
          <a:lstStyle/>
          <a:p>
            <a:pPr algn="ctr"/>
          </a:p>
        </p:txBody>
      </p:sp>
      <p:pic>
        <p:nvPicPr>
          <p:cNvPr id="18" name="Picture 17" descr="cpu_4A35FF_256_2.0.png"/>
          <p:cNvPicPr>
            <a:picLocks noChangeAspect="1"/>
          </p:cNvPicPr>
          <p:nvPr/>
        </p:nvPicPr>
        <p:blipFill>
          <a:blip r:embed="rId4"/>
          <a:stretch>
            <a:fillRect/>
          </a:stretch>
        </p:blipFill>
        <p:spPr>
          <a:xfrm>
            <a:off x="654710" y="3836822"/>
            <a:ext cx="190195" cy="190195"/>
          </a:xfrm>
          <a:prstGeom prst="rect">
            <a:avLst/>
          </a:prstGeom>
        </p:spPr>
      </p:pic>
      <p:sp>
        <p:nvSpPr>
          <p:cNvPr id="19" name="TextBox 18"/>
          <p:cNvSpPr txBox="1"/>
          <p:nvPr/>
        </p:nvSpPr>
        <p:spPr>
          <a:xfrm>
            <a:off x="1097280"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SATARK</a:t>
            </a:r>
          </a:p>
        </p:txBody>
      </p:sp>
      <p:sp>
        <p:nvSpPr>
          <p:cNvPr id="20" name="TextBox 19"/>
          <p:cNvSpPr txBox="1"/>
          <p:nvPr/>
        </p:nvSpPr>
        <p:spPr>
          <a:xfrm>
            <a:off x="3566160" y="3730752"/>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From 3 cities toward 30, as shared public infrastructure for traffic police.</a:t>
            </a:r>
          </a:p>
        </p:txBody>
      </p:sp>
      <p:sp>
        <p:nvSpPr>
          <p:cNvPr id="21" name="Oval 20"/>
          <p:cNvSpPr/>
          <p:nvPr/>
        </p:nvSpPr>
        <p:spPr>
          <a:xfrm>
            <a:off x="566928" y="4535424"/>
            <a:ext cx="365760" cy="365760"/>
          </a:xfrm>
          <a:prstGeom prst="ellipse">
            <a:avLst/>
          </a:prstGeom>
          <a:solidFill>
            <a:srgbClr val="EFEDFF"/>
          </a:solidFill>
          <a:ln>
            <a:noFill/>
          </a:ln>
          <a:effectLst/>
        </p:spPr>
        <p:txBody>
          <a:bodyPr rtlCol="0" anchor="ctr"/>
          <a:lstStyle/>
          <a:p>
            <a:pPr algn="ctr"/>
          </a:p>
        </p:txBody>
      </p:sp>
      <p:pic>
        <p:nvPicPr>
          <p:cNvPr id="22" name="Picture 21" descr="rocket_4A35FF_256_2.0.png"/>
          <p:cNvPicPr>
            <a:picLocks noChangeAspect="1"/>
          </p:cNvPicPr>
          <p:nvPr/>
        </p:nvPicPr>
        <p:blipFill>
          <a:blip r:embed="rId5"/>
          <a:stretch>
            <a:fillRect/>
          </a:stretch>
        </p:blipFill>
        <p:spPr>
          <a:xfrm>
            <a:off x="654710" y="4623206"/>
            <a:ext cx="190195" cy="190195"/>
          </a:xfrm>
          <a:prstGeom prst="rect">
            <a:avLst/>
          </a:prstGeom>
        </p:spPr>
      </p:pic>
      <p:sp>
        <p:nvSpPr>
          <p:cNvPr id="23" name="TextBox 22"/>
          <p:cNvSpPr txBox="1"/>
          <p:nvPr/>
        </p:nvSpPr>
        <p:spPr>
          <a:xfrm>
            <a:off x="1097280"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Two exploratory bets</a:t>
            </a:r>
          </a:p>
        </p:txBody>
      </p:sp>
      <p:sp>
        <p:nvSpPr>
          <p:cNvPr id="24" name="TextBox 23"/>
          <p:cNvSpPr txBox="1"/>
          <p:nvPr/>
        </p:nvSpPr>
        <p:spPr>
          <a:xfrm>
            <a:off x="3566160" y="4517136"/>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School Safety Index and gig rider safety, each scaled only if a small, honest pilot earns it.</a:t>
            </a:r>
          </a:p>
        </p:txBody>
      </p:sp>
      <p:sp>
        <p:nvSpPr>
          <p:cNvPr id="25" name="Oval 24"/>
          <p:cNvSpPr/>
          <p:nvPr/>
        </p:nvSpPr>
        <p:spPr>
          <a:xfrm>
            <a:off x="566928" y="5321808"/>
            <a:ext cx="365760" cy="365760"/>
          </a:xfrm>
          <a:prstGeom prst="ellipse">
            <a:avLst/>
          </a:prstGeom>
          <a:solidFill>
            <a:srgbClr val="EFEDFF"/>
          </a:solidFill>
          <a:ln>
            <a:noFill/>
          </a:ln>
          <a:effectLst/>
        </p:spPr>
        <p:txBody>
          <a:bodyPr rtlCol="0" anchor="ctr"/>
          <a:lstStyle/>
          <a:p>
            <a:pPr algn="ctr"/>
          </a:p>
        </p:txBody>
      </p:sp>
      <p:pic>
        <p:nvPicPr>
          <p:cNvPr id="26" name="Picture 25" descr="building-2_4A35FF_256_2.0.png"/>
          <p:cNvPicPr>
            <a:picLocks noChangeAspect="1"/>
          </p:cNvPicPr>
          <p:nvPr/>
        </p:nvPicPr>
        <p:blipFill>
          <a:blip r:embed="rId6"/>
          <a:stretch>
            <a:fillRect/>
          </a:stretch>
        </p:blipFill>
        <p:spPr>
          <a:xfrm>
            <a:off x="654710" y="5409590"/>
            <a:ext cx="190195" cy="190195"/>
          </a:xfrm>
          <a:prstGeom prst="rect">
            <a:avLst/>
          </a:prstGeom>
        </p:spPr>
      </p:pic>
      <p:sp>
        <p:nvSpPr>
          <p:cNvPr id="27" name="TextBox 26"/>
          <p:cNvSpPr txBox="1"/>
          <p:nvPr/>
        </p:nvSpPr>
        <p:spPr>
          <a:xfrm>
            <a:off x="1097280"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Institutions that outlive us</a:t>
            </a:r>
          </a:p>
        </p:txBody>
      </p:sp>
      <p:sp>
        <p:nvSpPr>
          <p:cNvPr id="28" name="TextBox 27"/>
          <p:cNvSpPr txBox="1"/>
          <p:nvPr/>
        </p:nvSpPr>
        <p:spPr>
          <a:xfrm>
            <a:off x="3566160" y="5303520"/>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An expert consortium, an audit manual and a publishing cadence that outlive any single cohort.</a:t>
            </a:r>
          </a:p>
        </p:txBody>
      </p:sp>
      <p:sp>
        <p:nvSpPr>
          <p:cNvPr id="29" name="TextBox 28"/>
          <p:cNvSpPr txBox="1"/>
          <p:nvPr/>
        </p:nvSpPr>
        <p:spPr>
          <a:xfrm>
            <a:off x="6300216" y="1847088"/>
            <a:ext cx="5324551"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WHERE GUIDANCE WOULD HELP</a:t>
            </a:r>
          </a:p>
        </p:txBody>
      </p:sp>
      <p:sp>
        <p:nvSpPr>
          <p:cNvPr id="30" name="Oval 29"/>
          <p:cNvSpPr/>
          <p:nvPr/>
        </p:nvSpPr>
        <p:spPr>
          <a:xfrm>
            <a:off x="6300216" y="2176272"/>
            <a:ext cx="365760" cy="365760"/>
          </a:xfrm>
          <a:prstGeom prst="ellipse">
            <a:avLst/>
          </a:prstGeom>
          <a:solidFill>
            <a:srgbClr val="E9F7F0"/>
          </a:solidFill>
          <a:ln>
            <a:noFill/>
          </a:ln>
          <a:effectLst/>
        </p:spPr>
        <p:txBody>
          <a:bodyPr rtlCol="0" anchor="ctr"/>
          <a:lstStyle/>
          <a:p>
            <a:pPr algn="ctr"/>
          </a:p>
        </p:txBody>
      </p:sp>
      <p:pic>
        <p:nvPicPr>
          <p:cNvPr id="31" name="Picture 30" descr="building-2_0A9955_256_2.0.png"/>
          <p:cNvPicPr>
            <a:picLocks noChangeAspect="1"/>
          </p:cNvPicPr>
          <p:nvPr/>
        </p:nvPicPr>
        <p:blipFill>
          <a:blip r:embed="rId7"/>
          <a:stretch>
            <a:fillRect/>
          </a:stretch>
        </p:blipFill>
        <p:spPr>
          <a:xfrm>
            <a:off x="6387998" y="2264054"/>
            <a:ext cx="190195" cy="190195"/>
          </a:xfrm>
          <a:prstGeom prst="rect">
            <a:avLst/>
          </a:prstGeom>
        </p:spPr>
      </p:pic>
      <p:sp>
        <p:nvSpPr>
          <p:cNvPr id="32" name="TextBox 31"/>
          <p:cNvSpPr txBox="1"/>
          <p:nvPr/>
        </p:nvSpPr>
        <p:spPr>
          <a:xfrm>
            <a:off x="6830568"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 building</a:t>
            </a:r>
          </a:p>
        </p:txBody>
      </p:sp>
      <p:sp>
        <p:nvSpPr>
          <p:cNvPr id="33" name="TextBox 32"/>
          <p:cNvSpPr txBox="1"/>
          <p:nvPr/>
        </p:nvSpPr>
        <p:spPr>
          <a:xfrm>
            <a:off x="9299448" y="2157984"/>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Turning young programmes into bodies with standards, governance and a life beyond the founding team.</a:t>
            </a:r>
          </a:p>
        </p:txBody>
      </p:sp>
      <p:sp>
        <p:nvSpPr>
          <p:cNvPr id="34" name="Oval 33"/>
          <p:cNvSpPr/>
          <p:nvPr/>
        </p:nvSpPr>
        <p:spPr>
          <a:xfrm>
            <a:off x="6300216" y="2962656"/>
            <a:ext cx="365760" cy="365760"/>
          </a:xfrm>
          <a:prstGeom prst="ellipse">
            <a:avLst/>
          </a:prstGeom>
          <a:solidFill>
            <a:srgbClr val="E9F7F0"/>
          </a:solidFill>
          <a:ln>
            <a:noFill/>
          </a:ln>
          <a:effectLst/>
        </p:spPr>
        <p:txBody>
          <a:bodyPr rtlCol="0" anchor="ctr"/>
          <a:lstStyle/>
          <a:p>
            <a:pPr algn="ctr"/>
          </a:p>
        </p:txBody>
      </p:sp>
      <p:pic>
        <p:nvPicPr>
          <p:cNvPr id="35" name="Picture 34" descr="landmark_0A9955_256_2.0.png"/>
          <p:cNvPicPr>
            <a:picLocks noChangeAspect="1"/>
          </p:cNvPicPr>
          <p:nvPr/>
        </p:nvPicPr>
        <p:blipFill>
          <a:blip r:embed="rId8"/>
          <a:stretch>
            <a:fillRect/>
          </a:stretch>
        </p:blipFill>
        <p:spPr>
          <a:xfrm>
            <a:off x="6387998" y="3050438"/>
            <a:ext cx="190195" cy="190195"/>
          </a:xfrm>
          <a:prstGeom prst="rect">
            <a:avLst/>
          </a:prstGeom>
        </p:spPr>
      </p:pic>
      <p:sp>
        <p:nvSpPr>
          <p:cNvPr id="36" name="TextBox 35"/>
          <p:cNvSpPr txBox="1"/>
          <p:nvPr/>
        </p:nvSpPr>
        <p:spPr>
          <a:xfrm>
            <a:off x="6830568"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Government at scale</a:t>
            </a:r>
          </a:p>
        </p:txBody>
      </p:sp>
      <p:sp>
        <p:nvSpPr>
          <p:cNvPr id="37" name="TextBox 36"/>
          <p:cNvSpPr txBox="1"/>
          <p:nvPr/>
        </p:nvSpPr>
        <p:spPr>
          <a:xfrm>
            <a:off x="9299448" y="2944368"/>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Deepening state partnerships while keeping our independence and our habit of publishing everything.</a:t>
            </a:r>
          </a:p>
        </p:txBody>
      </p:sp>
      <p:sp>
        <p:nvSpPr>
          <p:cNvPr id="38" name="Oval 37"/>
          <p:cNvSpPr/>
          <p:nvPr/>
        </p:nvSpPr>
        <p:spPr>
          <a:xfrm>
            <a:off x="6300216" y="3749040"/>
            <a:ext cx="365760" cy="365760"/>
          </a:xfrm>
          <a:prstGeom prst="ellipse">
            <a:avLst/>
          </a:prstGeom>
          <a:solidFill>
            <a:srgbClr val="E9F7F0"/>
          </a:solidFill>
          <a:ln>
            <a:noFill/>
          </a:ln>
          <a:effectLst/>
        </p:spPr>
        <p:txBody>
          <a:bodyPr rtlCol="0" anchor="ctr"/>
          <a:lstStyle/>
          <a:p>
            <a:pPr algn="ctr"/>
          </a:p>
        </p:txBody>
      </p:sp>
      <p:pic>
        <p:nvPicPr>
          <p:cNvPr id="39" name="Picture 38" descr="users_0A9955_256_2.0.png"/>
          <p:cNvPicPr>
            <a:picLocks noChangeAspect="1"/>
          </p:cNvPicPr>
          <p:nvPr/>
        </p:nvPicPr>
        <p:blipFill>
          <a:blip r:embed="rId9"/>
          <a:stretch>
            <a:fillRect/>
          </a:stretch>
        </p:blipFill>
        <p:spPr>
          <a:xfrm>
            <a:off x="6387998" y="3836822"/>
            <a:ext cx="190195" cy="190195"/>
          </a:xfrm>
          <a:prstGeom prst="rect">
            <a:avLst/>
          </a:prstGeom>
        </p:spPr>
      </p:pic>
      <p:sp>
        <p:nvSpPr>
          <p:cNvPr id="40" name="TextBox 39"/>
          <p:cNvSpPr txBox="1"/>
          <p:nvPr/>
        </p:nvSpPr>
        <p:spPr>
          <a:xfrm>
            <a:off x="6830568"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People and leadership</a:t>
            </a:r>
          </a:p>
        </p:txBody>
      </p:sp>
      <p:sp>
        <p:nvSpPr>
          <p:cNvPr id="41" name="TextBox 40"/>
          <p:cNvSpPr txBox="1"/>
          <p:nvPr/>
        </p:nvSpPr>
        <p:spPr>
          <a:xfrm>
            <a:off x="9299448" y="3730752"/>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Growing a young team into leaders, and drawing senior operators to a nonprofit mission.</a:t>
            </a:r>
          </a:p>
        </p:txBody>
      </p:sp>
      <p:sp>
        <p:nvSpPr>
          <p:cNvPr id="42" name="Oval 41"/>
          <p:cNvSpPr/>
          <p:nvPr/>
        </p:nvSpPr>
        <p:spPr>
          <a:xfrm>
            <a:off x="6300216" y="4535424"/>
            <a:ext cx="365760" cy="365760"/>
          </a:xfrm>
          <a:prstGeom prst="ellipse">
            <a:avLst/>
          </a:prstGeom>
          <a:solidFill>
            <a:srgbClr val="E9F7F0"/>
          </a:solidFill>
          <a:ln>
            <a:noFill/>
          </a:ln>
          <a:effectLst/>
        </p:spPr>
        <p:txBody>
          <a:bodyPr rtlCol="0" anchor="ctr"/>
          <a:lstStyle/>
          <a:p>
            <a:pPr algn="ctr"/>
          </a:p>
        </p:txBody>
      </p:sp>
      <p:pic>
        <p:nvPicPr>
          <p:cNvPr id="43" name="Picture 42" descr="banknote_0A9955_256_2.0.png"/>
          <p:cNvPicPr>
            <a:picLocks noChangeAspect="1"/>
          </p:cNvPicPr>
          <p:nvPr/>
        </p:nvPicPr>
        <p:blipFill>
          <a:blip r:embed="rId10"/>
          <a:stretch>
            <a:fillRect/>
          </a:stretch>
        </p:blipFill>
        <p:spPr>
          <a:xfrm>
            <a:off x="6387998" y="4623206"/>
            <a:ext cx="190195" cy="190195"/>
          </a:xfrm>
          <a:prstGeom prst="rect">
            <a:avLst/>
          </a:prstGeom>
        </p:spPr>
      </p:pic>
      <p:sp>
        <p:nvSpPr>
          <p:cNvPr id="44" name="TextBox 43"/>
          <p:cNvSpPr txBox="1"/>
          <p:nvPr/>
        </p:nvSpPr>
        <p:spPr>
          <a:xfrm>
            <a:off x="6830568"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Sustainability</a:t>
            </a:r>
          </a:p>
        </p:txBody>
      </p:sp>
      <p:sp>
        <p:nvSpPr>
          <p:cNvPr id="45" name="TextBox 44"/>
          <p:cNvSpPr txBox="1"/>
          <p:nvPr/>
        </p:nvSpPr>
        <p:spPr>
          <a:xfrm>
            <a:off x="9299448" y="4517136"/>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Building funding lines beyond the founding commitment, without distorting what we work on.</a:t>
            </a:r>
          </a:p>
        </p:txBody>
      </p:sp>
      <p:sp>
        <p:nvSpPr>
          <p:cNvPr id="46" name="Oval 45"/>
          <p:cNvSpPr/>
          <p:nvPr/>
        </p:nvSpPr>
        <p:spPr>
          <a:xfrm>
            <a:off x="6300216" y="5321808"/>
            <a:ext cx="365760" cy="365760"/>
          </a:xfrm>
          <a:prstGeom prst="ellipse">
            <a:avLst/>
          </a:prstGeom>
          <a:solidFill>
            <a:srgbClr val="E9F7F0"/>
          </a:solidFill>
          <a:ln>
            <a:noFill/>
          </a:ln>
          <a:effectLst/>
        </p:spPr>
        <p:txBody>
          <a:bodyPr rtlCol="0" anchor="ctr"/>
          <a:lstStyle/>
          <a:p>
            <a:pPr algn="ctr"/>
          </a:p>
        </p:txBody>
      </p:sp>
      <p:pic>
        <p:nvPicPr>
          <p:cNvPr id="47" name="Picture 46" descr="target_0A9955_256_2.0.png"/>
          <p:cNvPicPr>
            <a:picLocks noChangeAspect="1"/>
          </p:cNvPicPr>
          <p:nvPr/>
        </p:nvPicPr>
        <p:blipFill>
          <a:blip r:embed="rId11"/>
          <a:stretch>
            <a:fillRect/>
          </a:stretch>
        </p:blipFill>
        <p:spPr>
          <a:xfrm>
            <a:off x="6387998" y="5409590"/>
            <a:ext cx="190195" cy="190195"/>
          </a:xfrm>
          <a:prstGeom prst="rect">
            <a:avLst/>
          </a:prstGeom>
        </p:spPr>
      </p:pic>
      <p:sp>
        <p:nvSpPr>
          <p:cNvPr id="48" name="TextBox 47"/>
          <p:cNvSpPr txBox="1"/>
          <p:nvPr/>
        </p:nvSpPr>
        <p:spPr>
          <a:xfrm>
            <a:off x="6830568"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Focus</a:t>
            </a:r>
          </a:p>
        </p:txBody>
      </p:sp>
      <p:sp>
        <p:nvSpPr>
          <p:cNvPr id="49" name="TextBox 48"/>
          <p:cNvSpPr txBox="1"/>
          <p:nvPr/>
        </p:nvSpPr>
        <p:spPr>
          <a:xfrm>
            <a:off x="9299448" y="5303520"/>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What to stop, what to scale, and when. The discipline of a small organisation with a national mission.</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No life lost on an Indian road</a:t>
            </a:r>
          </a:p>
          <a:p>
            <a:pPr algn="l">
              <a:lnSpc>
                <a:spcPct val="120000"/>
              </a:lnSpc>
            </a:pPr>
            <a:r>
              <a:rPr sz="3200" b="1" i="0">
                <a:solidFill>
                  <a:srgbClr val="FFFFFF"/>
                </a:solidFill>
                <a:latin typeface="Montserrat"/>
              </a:rPr>
              <a:t>is acceptable.</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We add the hands, the evidence and the tools that turn that goal into work the system can carry, and we track it in public.</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