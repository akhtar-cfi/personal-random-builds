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4.png"/><Relationship Id="rId6" Type="http://schemas.openxmlformats.org/officeDocument/2006/relationships/image" Target="../media/image1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16.png"/><Relationship Id="rId5" Type="http://schemas.openxmlformats.org/officeDocument/2006/relationships/image" Target="../media/image1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19.png"/><Relationship Id="rId4" Type="http://schemas.openxmlformats.org/officeDocument/2006/relationships/image" Target="../media/image16.png"/><Relationship Id="rId5" Type="http://schemas.openxmlformats.org/officeDocument/2006/relationships/image" Target="../media/image20.png"/><Relationship Id="rId6" Type="http://schemas.openxmlformats.org/officeDocument/2006/relationships/image" Target="../media/image21.png"/><Relationship Id="rId7" Type="http://schemas.openxmlformats.org/officeDocument/2006/relationships/image" Target="../media/image2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jpg"/><Relationship Id="rId3" Type="http://schemas.openxmlformats.org/officeDocument/2006/relationships/image" Target="../media/image24.jpg"/><Relationship Id="rId4" Type="http://schemas.openxmlformats.org/officeDocument/2006/relationships/image" Target="../media/image25.jpg"/><Relationship Id="rId5" Type="http://schemas.openxmlformats.org/officeDocument/2006/relationships/image" Target="../media/image26.jpg"/><Relationship Id="rId6" Type="http://schemas.openxmlformats.org/officeDocument/2006/relationships/image" Target="../media/image27.jpg"/><Relationship Id="rId7" Type="http://schemas.openxmlformats.org/officeDocument/2006/relationships/image" Target="../media/image28.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jpg"/><Relationship Id="rId3" Type="http://schemas.openxmlformats.org/officeDocument/2006/relationships/image" Target="../media/image30.jpg"/><Relationship Id="rId4" Type="http://schemas.openxmlformats.org/officeDocument/2006/relationships/image" Target="../media/image31.png"/><Relationship Id="rId5" Type="http://schemas.openxmlformats.org/officeDocument/2006/relationships/image" Target="../media/image32.png"/><Relationship Id="rId6" Type="http://schemas.openxmlformats.org/officeDocument/2006/relationships/image" Target="../media/image33.png"/><Relationship Id="rId7" Type="http://schemas.openxmlformats.org/officeDocument/2006/relationships/image" Target="../media/image34.png"/><Relationship Id="rId8" Type="http://schemas.openxmlformats.org/officeDocument/2006/relationships/image" Target="../media/image35.png"/><Relationship Id="rId9" Type="http://schemas.openxmlformats.org/officeDocument/2006/relationships/image" Target="../media/image36.png"/><Relationship Id="rId10" Type="http://schemas.openxmlformats.org/officeDocument/2006/relationships/image" Target="../media/image37.png"/><Relationship Id="rId11" Type="http://schemas.openxmlformats.org/officeDocument/2006/relationships/image" Target="../media/image3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jpg"/><Relationship Id="rId3" Type="http://schemas.openxmlformats.org/officeDocument/2006/relationships/image" Target="../media/image40.png"/><Relationship Id="rId4" Type="http://schemas.openxmlformats.org/officeDocument/2006/relationships/image" Target="../media/image41.png"/><Relationship Id="rId5" Type="http://schemas.openxmlformats.org/officeDocument/2006/relationships/image" Target="../media/image42.png"/><Relationship Id="rId6" Type="http://schemas.openxmlformats.org/officeDocument/2006/relationships/image" Target="../media/image43.png"/><Relationship Id="rId7" Type="http://schemas.openxmlformats.org/officeDocument/2006/relationships/image" Target="../media/image4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 Id="rId3" Type="http://schemas.openxmlformats.org/officeDocument/2006/relationships/image" Target="../media/image46.png"/><Relationship Id="rId4" Type="http://schemas.openxmlformats.org/officeDocument/2006/relationships/image" Target="../media/image47.png"/><Relationship Id="rId5" Type="http://schemas.openxmlformats.org/officeDocument/2006/relationships/image" Target="../media/image48.png"/><Relationship Id="rId6" Type="http://schemas.openxmlformats.org/officeDocument/2006/relationships/image" Target="../media/image49.png"/><Relationship Id="rId7" Type="http://schemas.openxmlformats.org/officeDocument/2006/relationships/image" Target="../media/image50.png"/><Relationship Id="rId8" Type="http://schemas.openxmlformats.org/officeDocument/2006/relationships/image" Target="../media/image51.jpg"/><Relationship Id="rId9" Type="http://schemas.openxmlformats.org/officeDocument/2006/relationships/image" Target="../media/image5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jpg"/><Relationship Id="rId3" Type="http://schemas.openxmlformats.org/officeDocument/2006/relationships/image" Target="../media/image54.jpg"/><Relationship Id="rId4" Type="http://schemas.openxmlformats.org/officeDocument/2006/relationships/image" Target="../media/image55.png"/><Relationship Id="rId5" Type="http://schemas.openxmlformats.org/officeDocument/2006/relationships/image" Target="../media/image56.png"/><Relationship Id="rId6" Type="http://schemas.openxmlformats.org/officeDocument/2006/relationships/image" Target="../media/image5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8.jpg"/><Relationship Id="rId3" Type="http://schemas.openxmlformats.org/officeDocument/2006/relationships/image" Target="../media/image59.jpg"/><Relationship Id="rId4" Type="http://schemas.openxmlformats.org/officeDocument/2006/relationships/image" Target="../media/image60.jpg"/><Relationship Id="rId5" Type="http://schemas.openxmlformats.org/officeDocument/2006/relationships/image" Target="../media/image61.jpg"/><Relationship Id="rId6" Type="http://schemas.openxmlformats.org/officeDocument/2006/relationships/image" Target="../media/image62.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3.jpg"/><Relationship Id="rId3" Type="http://schemas.openxmlformats.org/officeDocument/2006/relationships/image" Target="../media/image64.jpg"/><Relationship Id="rId4" Type="http://schemas.openxmlformats.org/officeDocument/2006/relationships/image" Target="../media/image65.jpg"/><Relationship Id="rId5" Type="http://schemas.openxmlformats.org/officeDocument/2006/relationships/image" Target="../media/image6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7.png"/><Relationship Id="rId3" Type="http://schemas.openxmlformats.org/officeDocument/2006/relationships/image" Target="../media/image68.png"/><Relationship Id="rId4" Type="http://schemas.openxmlformats.org/officeDocument/2006/relationships/image" Target="../media/image69.png"/><Relationship Id="rId5" Type="http://schemas.openxmlformats.org/officeDocument/2006/relationships/image" Target="../media/image70.png"/><Relationship Id="rId6" Type="http://schemas.openxmlformats.org/officeDocument/2006/relationships/image" Target="../media/image71.png"/><Relationship Id="rId7" Type="http://schemas.openxmlformats.org/officeDocument/2006/relationships/image" Target="../media/image72.png"/><Relationship Id="rId8" Type="http://schemas.openxmlformats.org/officeDocument/2006/relationships/image" Target="../media/image73.png"/><Relationship Id="rId9" Type="http://schemas.openxmlformats.org/officeDocument/2006/relationships/image" Target="../media/image74.png"/><Relationship Id="rId10" Type="http://schemas.openxmlformats.org/officeDocument/2006/relationships/image" Target="../media/image75.png"/><Relationship Id="rId11" Type="http://schemas.openxmlformats.org/officeDocument/2006/relationships/image" Target="../media/image76.png"/><Relationship Id="rId12" Type="http://schemas.openxmlformats.org/officeDocument/2006/relationships/image" Target="../media/image77.png"/><Relationship Id="rId13" Type="http://schemas.openxmlformats.org/officeDocument/2006/relationships/image" Target="../media/image78.png"/><Relationship Id="rId14" Type="http://schemas.openxmlformats.org/officeDocument/2006/relationships/image" Target="../media/image79.png"/><Relationship Id="rId15" Type="http://schemas.openxmlformats.org/officeDocument/2006/relationships/image" Target="../media/image80.png"/><Relationship Id="rId16" Type="http://schemas.openxmlformats.org/officeDocument/2006/relationships/image" Target="../media/image81.png"/><Relationship Id="rId17" Type="http://schemas.openxmlformats.org/officeDocument/2006/relationships/image" Target="../media/image82.png"/><Relationship Id="rId18" Type="http://schemas.openxmlformats.org/officeDocument/2006/relationships/image" Target="../media/image83.png"/><Relationship Id="rId19" Type="http://schemas.openxmlformats.org/officeDocument/2006/relationships/image" Target="../media/image84.png"/><Relationship Id="rId20" Type="http://schemas.openxmlformats.org/officeDocument/2006/relationships/image" Target="../media/image85.png"/><Relationship Id="rId21" Type="http://schemas.openxmlformats.org/officeDocument/2006/relationships/image" Target="../media/image86.png"/><Relationship Id="rId22" Type="http://schemas.openxmlformats.org/officeDocument/2006/relationships/image" Target="../media/image87.png"/><Relationship Id="rId23" Type="http://schemas.openxmlformats.org/officeDocument/2006/relationships/image" Target="../media/image88.png"/><Relationship Id="rId24" Type="http://schemas.openxmlformats.org/officeDocument/2006/relationships/image" Target="../media/image89.png"/><Relationship Id="rId25" Type="http://schemas.openxmlformats.org/officeDocument/2006/relationships/image" Target="../media/image9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1.png"/><Relationship Id="rId3" Type="http://schemas.openxmlformats.org/officeDocument/2006/relationships/image" Target="../media/image92.png"/><Relationship Id="rId4" Type="http://schemas.openxmlformats.org/officeDocument/2006/relationships/image" Target="../media/image93.png"/><Relationship Id="rId5" Type="http://schemas.openxmlformats.org/officeDocument/2006/relationships/image" Target="../media/image94.png"/><Relationship Id="rId6" Type="http://schemas.openxmlformats.org/officeDocument/2006/relationships/image" Target="../media/image95.png"/><Relationship Id="rId7" Type="http://schemas.openxmlformats.org/officeDocument/2006/relationships/image" Target="../media/image96.png"/><Relationship Id="rId8" Type="http://schemas.openxmlformats.org/officeDocument/2006/relationships/image" Target="../media/image97.png"/><Relationship Id="rId9" Type="http://schemas.openxmlformats.org/officeDocument/2006/relationships/image" Target="../media/image98.png"/><Relationship Id="rId10" Type="http://schemas.openxmlformats.org/officeDocument/2006/relationships/image" Target="../media/image99.png"/><Relationship Id="rId11" Type="http://schemas.openxmlformats.org/officeDocument/2006/relationships/image" Target="../media/image100.png"/><Relationship Id="rId12" Type="http://schemas.openxmlformats.org/officeDocument/2006/relationships/image" Target="../media/image101.png"/><Relationship Id="rId13" Type="http://schemas.openxmlformats.org/officeDocument/2006/relationships/image" Target="../media/image102.png"/><Relationship Id="rId14" Type="http://schemas.openxmlformats.org/officeDocument/2006/relationships/image" Target="../media/image10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image" Target="../media/image104.png"/><Relationship Id="rId4" Type="http://schemas.openxmlformats.org/officeDocument/2006/relationships/image" Target="../media/image105.png"/><Relationship Id="rId5" Type="http://schemas.openxmlformats.org/officeDocument/2006/relationships/image" Target="../media/image106.png"/><Relationship Id="rId6" Type="http://schemas.openxmlformats.org/officeDocument/2006/relationships/image" Target="../media/image107.png"/><Relationship Id="rId7" Type="http://schemas.openxmlformats.org/officeDocument/2006/relationships/image" Target="../media/image108.png"/><Relationship Id="rId8" Type="http://schemas.openxmlformats.org/officeDocument/2006/relationships/image" Target="../media/image109.png"/><Relationship Id="rId9" Type="http://schemas.openxmlformats.org/officeDocument/2006/relationships/image" Target="../media/image22.png"/><Relationship Id="rId10" Type="http://schemas.openxmlformats.org/officeDocument/2006/relationships/image" Target="../media/image110.png"/><Relationship Id="rId11" Type="http://schemas.openxmlformats.org/officeDocument/2006/relationships/image" Target="../media/image111.png"/><Relationship Id="rId12" Type="http://schemas.openxmlformats.org/officeDocument/2006/relationships/image" Target="../media/image112.png"/><Relationship Id="rId13" Type="http://schemas.openxmlformats.org/officeDocument/2006/relationships/image" Target="../media/image11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4.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5.png"/><Relationship Id="rId3" Type="http://schemas.openxmlformats.org/officeDocument/2006/relationships/image" Target="../media/image116.png"/><Relationship Id="rId4" Type="http://schemas.openxmlformats.org/officeDocument/2006/relationships/image" Target="../media/image117.png"/><Relationship Id="rId5" Type="http://schemas.openxmlformats.org/officeDocument/2006/relationships/image" Target="../media/image118.png"/><Relationship Id="rId6" Type="http://schemas.openxmlformats.org/officeDocument/2006/relationships/image" Target="../media/image11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0.png"/><Relationship Id="rId3" Type="http://schemas.openxmlformats.org/officeDocument/2006/relationships/image" Target="../media/image121.png"/><Relationship Id="rId4" Type="http://schemas.openxmlformats.org/officeDocument/2006/relationships/image" Target="../media/image12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2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24.png"/><Relationship Id="rId4" Type="http://schemas.openxmlformats.org/officeDocument/2006/relationships/image" Target="../media/image12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6.jpg"/><Relationship Id="rId3" Type="http://schemas.openxmlformats.org/officeDocument/2006/relationships/image" Target="../media/image127.png"/><Relationship Id="rId4" Type="http://schemas.openxmlformats.org/officeDocument/2006/relationships/image" Target="../media/image128.png"/><Relationship Id="rId5" Type="http://schemas.openxmlformats.org/officeDocument/2006/relationships/image" Target="../media/image12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0.png"/><Relationship Id="rId3" Type="http://schemas.openxmlformats.org/officeDocument/2006/relationships/image" Target="../media/image131.png"/><Relationship Id="rId4" Type="http://schemas.openxmlformats.org/officeDocument/2006/relationships/image" Target="../media/image132.png"/><Relationship Id="rId5" Type="http://schemas.openxmlformats.org/officeDocument/2006/relationships/image" Target="../media/image13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4.png"/><Relationship Id="rId3" Type="http://schemas.openxmlformats.org/officeDocument/2006/relationships/image" Target="../media/image135.png"/><Relationship Id="rId4" Type="http://schemas.openxmlformats.org/officeDocument/2006/relationships/image" Target="../media/image136.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pic>
        <p:nvPicPr>
          <p:cNvPr id="3" name="Picture 2" descr="logo_blue.png"/>
          <p:cNvPicPr>
            <a:picLocks noChangeAspect="1"/>
          </p:cNvPicPr>
          <p:nvPr/>
        </p:nvPicPr>
        <p:blipFill>
          <a:blip r:embed="rId2"/>
          <a:stretch>
            <a:fillRect/>
          </a:stretch>
        </p:blipFill>
        <p:spPr>
          <a:xfrm>
            <a:off x="566928" y="457200"/>
            <a:ext cx="1691640" cy="233757"/>
          </a:xfrm>
          <a:prstGeom prst="rect">
            <a:avLst/>
          </a:prstGeom>
        </p:spPr>
      </p:pic>
      <p:sp>
        <p:nvSpPr>
          <p:cNvPr id="4" name="TextBox 3"/>
          <p:cNvSpPr txBox="1"/>
          <p:nvPr/>
        </p:nvSpPr>
        <p:spPr>
          <a:xfrm>
            <a:off x="8424367" y="502920"/>
            <a:ext cx="3200400" cy="274320"/>
          </a:xfrm>
          <a:prstGeom prst="rect">
            <a:avLst/>
          </a:prstGeom>
          <a:noFill/>
        </p:spPr>
        <p:txBody>
          <a:bodyPr wrap="square" lIns="0" rIns="0" tIns="0" bIns="0" anchor="t">
            <a:spAutoFit/>
          </a:bodyPr>
          <a:lstStyle/>
          <a:p>
            <a:pPr algn="r">
              <a:lnSpc>
                <a:spcPct val="128000"/>
              </a:lnSpc>
            </a:pPr>
            <a:r>
              <a:rPr sz="900" b="1" i="0" spc="180">
                <a:solidFill>
                  <a:srgbClr val="6E7180"/>
                </a:solidFill>
                <a:latin typeface="Montserrat"/>
              </a:rPr>
              <a:t>AUGUST 2026  ·  NEW DELHI</a:t>
            </a:r>
          </a:p>
        </p:txBody>
      </p:sp>
      <p:sp>
        <p:nvSpPr>
          <p:cNvPr id="5" name="TextBox 4"/>
          <p:cNvSpPr txBox="1"/>
          <p:nvPr/>
        </p:nvSpPr>
        <p:spPr>
          <a:xfrm>
            <a:off x="566928" y="1572768"/>
            <a:ext cx="7498079" cy="274320"/>
          </a:xfrm>
          <a:prstGeom prst="rect">
            <a:avLst/>
          </a:prstGeom>
          <a:noFill/>
        </p:spPr>
        <p:txBody>
          <a:bodyPr wrap="square" lIns="0" rIns="0" tIns="0" bIns="0" anchor="t">
            <a:spAutoFit/>
          </a:bodyPr>
          <a:lstStyle/>
          <a:p>
            <a:pPr algn="l">
              <a:lnSpc>
                <a:spcPct val="128000"/>
              </a:lnSpc>
            </a:pPr>
            <a:r>
              <a:rPr sz="1050" b="1" i="0" spc="220">
                <a:solidFill>
                  <a:srgbClr val="4A35FF"/>
                </a:solidFill>
                <a:latin typeface="Montserrat"/>
              </a:rPr>
              <a:t>EXPRESSION OF INTEREST  ·  NATIONAL ROAD SAFETY BOARD</a:t>
            </a:r>
          </a:p>
        </p:txBody>
      </p:sp>
      <p:sp>
        <p:nvSpPr>
          <p:cNvPr id="6" name="TextBox 5"/>
          <p:cNvSpPr txBox="1"/>
          <p:nvPr/>
        </p:nvSpPr>
        <p:spPr>
          <a:xfrm>
            <a:off x="566928" y="1956816"/>
            <a:ext cx="7589520" cy="777240"/>
          </a:xfrm>
          <a:prstGeom prst="rect">
            <a:avLst/>
          </a:prstGeom>
          <a:noFill/>
        </p:spPr>
        <p:txBody>
          <a:bodyPr wrap="square" lIns="0" rIns="0" tIns="0" bIns="0" anchor="t">
            <a:spAutoFit/>
          </a:bodyPr>
          <a:lstStyle/>
          <a:p>
            <a:pPr algn="l">
              <a:lnSpc>
                <a:spcPct val="100000"/>
              </a:lnSpc>
            </a:pPr>
            <a:r>
              <a:rPr sz="4600" b="1" i="0">
                <a:solidFill>
                  <a:srgbClr val="16181D"/>
                </a:solidFill>
                <a:latin typeface="Montserrat"/>
              </a:rPr>
              <a:t>Crashfree India</a:t>
            </a:r>
          </a:p>
        </p:txBody>
      </p:sp>
      <p:sp>
        <p:nvSpPr>
          <p:cNvPr id="7" name="TextBox 6"/>
          <p:cNvSpPr txBox="1"/>
          <p:nvPr/>
        </p:nvSpPr>
        <p:spPr>
          <a:xfrm>
            <a:off x="566928" y="2834640"/>
            <a:ext cx="7589520" cy="777240"/>
          </a:xfrm>
          <a:prstGeom prst="rect">
            <a:avLst/>
          </a:prstGeom>
          <a:noFill/>
        </p:spPr>
        <p:txBody>
          <a:bodyPr wrap="square" lIns="0" rIns="0" tIns="0" bIns="0" anchor="t">
            <a:spAutoFit/>
          </a:bodyPr>
          <a:lstStyle/>
          <a:p>
            <a:pPr algn="l">
              <a:lnSpc>
                <a:spcPct val="125000"/>
              </a:lnSpc>
            </a:pPr>
            <a:r>
              <a:rPr sz="1650" b="1" i="0">
                <a:solidFill>
                  <a:srgbClr val="4A35FF"/>
                </a:solidFill>
                <a:latin typeface="Montserrat"/>
              </a:rPr>
              <a:t>Application to Working Group 3:</a:t>
            </a:r>
          </a:p>
          <a:p>
            <a:pPr algn="l">
              <a:lnSpc>
                <a:spcPct val="125000"/>
              </a:lnSpc>
            </a:pPr>
            <a:r>
              <a:rPr sz="1650" b="1" i="0">
                <a:solidFill>
                  <a:srgbClr val="4A35FF"/>
                </a:solidFill>
                <a:latin typeface="Montserrat"/>
              </a:rPr>
              <a:t>Safe Vehicles, Commercial Transport &amp; Future Mobility</a:t>
            </a:r>
          </a:p>
        </p:txBody>
      </p:sp>
      <p:sp>
        <p:nvSpPr>
          <p:cNvPr id="8" name="Oval 7"/>
          <p:cNvSpPr/>
          <p:nvPr/>
        </p:nvSpPr>
        <p:spPr>
          <a:xfrm>
            <a:off x="566928" y="4251960"/>
            <a:ext cx="365760" cy="365760"/>
          </a:xfrm>
          <a:prstGeom prst="ellipse">
            <a:avLst/>
          </a:prstGeom>
          <a:solidFill>
            <a:srgbClr val="EFEDFF"/>
          </a:solidFill>
          <a:ln>
            <a:noFill/>
          </a:ln>
          <a:effectLst/>
        </p:spPr>
        <p:txBody>
          <a:bodyPr rtlCol="0" anchor="ctr"/>
          <a:lstStyle/>
          <a:p>
            <a:pPr algn="ctr"/>
          </a:p>
        </p:txBody>
      </p:sp>
      <p:pic>
        <p:nvPicPr>
          <p:cNvPr id="9" name="Picture 8" descr="bike_4A35FF_256_2.0.png"/>
          <p:cNvPicPr>
            <a:picLocks noChangeAspect="1"/>
          </p:cNvPicPr>
          <p:nvPr/>
        </p:nvPicPr>
        <p:blipFill>
          <a:blip r:embed="rId3"/>
          <a:stretch>
            <a:fillRect/>
          </a:stretch>
        </p:blipFill>
        <p:spPr>
          <a:xfrm>
            <a:off x="654710" y="4339742"/>
            <a:ext cx="190195" cy="190195"/>
          </a:xfrm>
          <a:prstGeom prst="rect">
            <a:avLst/>
          </a:prstGeom>
        </p:spPr>
      </p:pic>
      <p:sp>
        <p:nvSpPr>
          <p:cNvPr id="10" name="TextBox 9"/>
          <p:cNvSpPr txBox="1"/>
          <p:nvPr/>
        </p:nvSpPr>
        <p:spPr>
          <a:xfrm>
            <a:off x="1078992" y="4297680"/>
            <a:ext cx="7223760" cy="365760"/>
          </a:xfrm>
          <a:prstGeom prst="rect">
            <a:avLst/>
          </a:prstGeom>
          <a:noFill/>
        </p:spPr>
        <p:txBody>
          <a:bodyPr wrap="square" lIns="0" rIns="0" tIns="0" bIns="0" anchor="t">
            <a:spAutoFit/>
          </a:bodyPr>
          <a:lstStyle/>
          <a:p>
            <a:pPr algn="l">
              <a:lnSpc>
                <a:spcPct val="110000"/>
              </a:lnSpc>
            </a:pPr>
            <a:r>
              <a:rPr sz="1150" b="1" i="0">
                <a:solidFill>
                  <a:srgbClr val="16181D"/>
                </a:solidFill>
                <a:latin typeface="Montserrat"/>
              </a:rPr>
              <a:t>Published research on gig and two-wheeler rider risk, a 300-rider study under way</a:t>
            </a:r>
          </a:p>
        </p:txBody>
      </p:sp>
      <p:sp>
        <p:nvSpPr>
          <p:cNvPr id="11" name="Oval 10"/>
          <p:cNvSpPr/>
          <p:nvPr/>
        </p:nvSpPr>
        <p:spPr>
          <a:xfrm>
            <a:off x="566928" y="4818888"/>
            <a:ext cx="365760" cy="365760"/>
          </a:xfrm>
          <a:prstGeom prst="ellipse">
            <a:avLst/>
          </a:prstGeom>
          <a:solidFill>
            <a:srgbClr val="EFEDFF"/>
          </a:solidFill>
          <a:ln>
            <a:noFill/>
          </a:ln>
          <a:effectLst/>
        </p:spPr>
        <p:txBody>
          <a:bodyPr rtlCol="0" anchor="ctr"/>
          <a:lstStyle/>
          <a:p>
            <a:pPr algn="ctr"/>
          </a:p>
        </p:txBody>
      </p:sp>
      <p:pic>
        <p:nvPicPr>
          <p:cNvPr id="12" name="Picture 11" descr="file-search_4A35FF_256_2.0.png"/>
          <p:cNvPicPr>
            <a:picLocks noChangeAspect="1"/>
          </p:cNvPicPr>
          <p:nvPr/>
        </p:nvPicPr>
        <p:blipFill>
          <a:blip r:embed="rId4"/>
          <a:stretch>
            <a:fillRect/>
          </a:stretch>
        </p:blipFill>
        <p:spPr>
          <a:xfrm>
            <a:off x="654710" y="4906670"/>
            <a:ext cx="190195" cy="190195"/>
          </a:xfrm>
          <a:prstGeom prst="rect">
            <a:avLst/>
          </a:prstGeom>
        </p:spPr>
      </p:pic>
      <p:sp>
        <p:nvSpPr>
          <p:cNvPr id="13" name="TextBox 12"/>
          <p:cNvSpPr txBox="1"/>
          <p:nvPr/>
        </p:nvSpPr>
        <p:spPr>
          <a:xfrm>
            <a:off x="1078992" y="4864608"/>
            <a:ext cx="7223760" cy="365760"/>
          </a:xfrm>
          <a:prstGeom prst="rect">
            <a:avLst/>
          </a:prstGeom>
          <a:noFill/>
        </p:spPr>
        <p:txBody>
          <a:bodyPr wrap="square" lIns="0" rIns="0" tIns="0" bIns="0" anchor="t">
            <a:spAutoFit/>
          </a:bodyPr>
          <a:lstStyle/>
          <a:p>
            <a:pPr algn="l">
              <a:lnSpc>
                <a:spcPct val="110000"/>
              </a:lnSpc>
            </a:pPr>
            <a:r>
              <a:rPr sz="1150" b="1" i="0">
                <a:solidFill>
                  <a:srgbClr val="16181D"/>
                </a:solidFill>
                <a:latin typeface="Montserrat"/>
              </a:rPr>
              <a:t>Vehicle standards work with the people who wrote them: ARAI, CMVR-TSC, CIRT</a:t>
            </a:r>
          </a:p>
        </p:txBody>
      </p:sp>
      <p:sp>
        <p:nvSpPr>
          <p:cNvPr id="14" name="Oval 13"/>
          <p:cNvSpPr/>
          <p:nvPr/>
        </p:nvSpPr>
        <p:spPr>
          <a:xfrm>
            <a:off x="566928" y="5385816"/>
            <a:ext cx="365760" cy="365760"/>
          </a:xfrm>
          <a:prstGeom prst="ellipse">
            <a:avLst/>
          </a:prstGeom>
          <a:solidFill>
            <a:srgbClr val="EFEDFF"/>
          </a:solidFill>
          <a:ln>
            <a:noFill/>
          </a:ln>
          <a:effectLst/>
        </p:spPr>
        <p:txBody>
          <a:bodyPr rtlCol="0" anchor="ctr"/>
          <a:lstStyle/>
          <a:p>
            <a:pPr algn="ctr"/>
          </a:p>
        </p:txBody>
      </p:sp>
      <p:pic>
        <p:nvPicPr>
          <p:cNvPr id="15" name="Picture 14" descr="cpu_4A35FF_256_2.0.png"/>
          <p:cNvPicPr>
            <a:picLocks noChangeAspect="1"/>
          </p:cNvPicPr>
          <p:nvPr/>
        </p:nvPicPr>
        <p:blipFill>
          <a:blip r:embed="rId5"/>
          <a:stretch>
            <a:fillRect/>
          </a:stretch>
        </p:blipFill>
        <p:spPr>
          <a:xfrm>
            <a:off x="654710" y="5473598"/>
            <a:ext cx="190195" cy="190195"/>
          </a:xfrm>
          <a:prstGeom prst="rect">
            <a:avLst/>
          </a:prstGeom>
        </p:spPr>
      </p:pic>
      <p:sp>
        <p:nvSpPr>
          <p:cNvPr id="16" name="TextBox 15"/>
          <p:cNvSpPr txBox="1"/>
          <p:nvPr/>
        </p:nvSpPr>
        <p:spPr>
          <a:xfrm>
            <a:off x="1078992" y="5431536"/>
            <a:ext cx="7223760" cy="365760"/>
          </a:xfrm>
          <a:prstGeom prst="rect">
            <a:avLst/>
          </a:prstGeom>
          <a:noFill/>
        </p:spPr>
        <p:txBody>
          <a:bodyPr wrap="square" lIns="0" rIns="0" tIns="0" bIns="0" anchor="t">
            <a:spAutoFit/>
          </a:bodyPr>
          <a:lstStyle/>
          <a:p>
            <a:pPr algn="l">
              <a:lnSpc>
                <a:spcPct val="110000"/>
              </a:lnSpc>
            </a:pPr>
            <a:r>
              <a:rPr sz="1150" b="1" i="0">
                <a:solidFill>
                  <a:srgbClr val="16181D"/>
                </a:solidFill>
                <a:latin typeface="Montserrat"/>
              </a:rPr>
              <a:t>Compliance technology proven with police: 3,00,000+ vehicles screened by SATARK</a:t>
            </a:r>
          </a:p>
        </p:txBody>
      </p:sp>
      <p:sp>
        <p:nvSpPr>
          <p:cNvPr id="17" name="TextBox 16"/>
          <p:cNvSpPr txBox="1"/>
          <p:nvPr/>
        </p:nvSpPr>
        <p:spPr>
          <a:xfrm>
            <a:off x="566928" y="6309360"/>
            <a:ext cx="7863840" cy="274320"/>
          </a:xfrm>
          <a:prstGeom prst="rect">
            <a:avLst/>
          </a:prstGeom>
          <a:noFill/>
        </p:spPr>
        <p:txBody>
          <a:bodyPr wrap="square" lIns="0" rIns="0" tIns="0" bIns="0" anchor="t">
            <a:spAutoFit/>
          </a:bodyPr>
          <a:lstStyle/>
          <a:p>
            <a:pPr algn="l">
              <a:lnSpc>
                <a:spcPct val="128000"/>
              </a:lnSpc>
            </a:pPr>
            <a:r>
              <a:rPr sz="950" b="0" i="0">
                <a:solidFill>
                  <a:srgbClr val="6E7180"/>
                </a:solidFill>
                <a:latin typeface="Geist"/>
              </a:rPr>
              <a:t>Submitted to the Chairperson and Members, Working Group 3, National Road Safety Board</a:t>
            </a:r>
          </a:p>
        </p:txBody>
      </p:sp>
      <p:sp>
        <p:nvSpPr>
          <p:cNvPr id="18" name="TextBox 17"/>
          <p:cNvSpPr txBox="1"/>
          <p:nvPr/>
        </p:nvSpPr>
        <p:spPr>
          <a:xfrm>
            <a:off x="9247327" y="6309360"/>
            <a:ext cx="2377440" cy="274320"/>
          </a:xfrm>
          <a:prstGeom prst="rect">
            <a:avLst/>
          </a:prstGeom>
          <a:noFill/>
        </p:spPr>
        <p:txBody>
          <a:bodyPr wrap="square" lIns="0" rIns="0" tIns="0" bIns="0" anchor="t">
            <a:spAutoFit/>
          </a:bodyPr>
          <a:lstStyle/>
          <a:p>
            <a:pPr algn="r">
              <a:lnSpc>
                <a:spcPct val="128000"/>
              </a:lnSpc>
            </a:pPr>
            <a:r>
              <a:rPr sz="950" b="1" i="0">
                <a:solidFill>
                  <a:srgbClr val="4A35FF"/>
                </a:solidFill>
                <a:latin typeface="Montserrat"/>
              </a:rPr>
              <a:t>crashfreeindia.org</a:t>
            </a:r>
          </a:p>
        </p:txBody>
      </p:sp>
      <p:pic>
        <p:nvPicPr>
          <p:cNvPr id="19" name="Picture 18" descr="ph_dhoni_white.jpg_3.60x4.90_0.12.jpg"/>
          <p:cNvPicPr>
            <a:picLocks noChangeAspect="1"/>
          </p:cNvPicPr>
          <p:nvPr/>
        </p:nvPicPr>
        <p:blipFill>
          <a:blip r:embed="rId6"/>
          <a:stretch>
            <a:fillRect/>
          </a:stretch>
        </p:blipFill>
        <p:spPr>
          <a:xfrm>
            <a:off x="8321040" y="1051560"/>
            <a:ext cx="3291840" cy="4480560"/>
          </a:xfrm>
          <a:prstGeom prst="rect">
            <a:avLst/>
          </a:prstGeom>
        </p:spPr>
      </p:pic>
      <p:sp>
        <p:nvSpPr>
          <p:cNvPr id="20" name="Rectangle 19"/>
          <p:cNvSpPr/>
          <p:nvPr/>
        </p:nvSpPr>
        <p:spPr>
          <a:xfrm>
            <a:off x="8321040" y="1051560"/>
            <a:ext cx="3291840" cy="4480560"/>
          </a:xfrm>
          <a:prstGeom prst="rect">
            <a:avLst/>
          </a:prstGeom>
          <a:noFill/>
          <a:ln w="12700">
            <a:solidFill>
              <a:srgbClr val="E8E9EE"/>
            </a:solidFill>
          </a:ln>
          <a:effectLst/>
        </p:spPr>
        <p:txBody>
          <a:bodyPr rtlCol="0" anchor="ctr"/>
          <a:lstStyle/>
          <a:p>
            <a:pPr algn="ctr"/>
          </a:p>
        </p:txBody>
      </p:sp>
      <p:sp>
        <p:nvSpPr>
          <p:cNvPr id="21" name="Rectangle 20"/>
          <p:cNvSpPr/>
          <p:nvPr/>
        </p:nvSpPr>
        <p:spPr>
          <a:xfrm>
            <a:off x="8321040" y="5020056"/>
            <a:ext cx="3291840" cy="512064"/>
          </a:xfrm>
          <a:prstGeom prst="rect">
            <a:avLst/>
          </a:prstGeom>
          <a:solidFill>
            <a:srgbClr val="4A35FF"/>
          </a:solidFill>
          <a:ln>
            <a:noFill/>
          </a:ln>
          <a:effectLst/>
        </p:spPr>
        <p:txBody>
          <a:bodyPr rtlCol="0" anchor="ctr"/>
          <a:lstStyle/>
          <a:p>
            <a:pPr algn="ctr"/>
          </a:p>
        </p:txBody>
      </p:sp>
      <p:sp>
        <p:nvSpPr>
          <p:cNvPr id="22" name="TextBox 21"/>
          <p:cNvSpPr txBox="1"/>
          <p:nvPr/>
        </p:nvSpPr>
        <p:spPr>
          <a:xfrm>
            <a:off x="8321040" y="5056632"/>
            <a:ext cx="3291840" cy="457200"/>
          </a:xfrm>
          <a:prstGeom prst="rect">
            <a:avLst/>
          </a:prstGeom>
          <a:noFill/>
        </p:spPr>
        <p:txBody>
          <a:bodyPr wrap="square" lIns="0" rIns="0" tIns="0" bIns="0" anchor="t">
            <a:spAutoFit/>
          </a:bodyPr>
          <a:lstStyle/>
          <a:p>
            <a:pPr algn="ctr">
              <a:lnSpc>
                <a:spcPct val="115000"/>
              </a:lnSpc>
            </a:pPr>
            <a:r>
              <a:rPr sz="850" b="1" i="0" spc="100">
                <a:solidFill>
                  <a:srgbClr val="FFFFFF"/>
                </a:solidFill>
                <a:latin typeface="Montserrat"/>
              </a:rPr>
              <a:t>MS DHONI · GOODWILL AMBASSADOR,</a:t>
            </a:r>
          </a:p>
          <a:p>
            <a:pPr algn="ctr">
              <a:lnSpc>
                <a:spcPct val="115000"/>
              </a:lnSpc>
            </a:pPr>
            <a:r>
              <a:rPr sz="850" b="1" i="0" spc="100">
                <a:solidFill>
                  <a:srgbClr val="FFFFFF"/>
                </a:solidFill>
                <a:latin typeface="Montserrat"/>
              </a:rPr>
              <a:t>CRASHFREE INDIA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BEFORE THE SLIDES</a:t>
            </a:r>
          </a:p>
        </p:txBody>
      </p:sp>
      <p:cxnSp>
        <p:nvCxnSpPr>
          <p:cNvPr id="4" name="Connector 3"/>
          <p:cNvCxnSpPr/>
          <p:nvPr/>
        </p:nvCxnSpPr>
        <p:spPr>
          <a:xfrm>
            <a:off x="566928" y="566928"/>
            <a:ext cx="502920" cy="0"/>
          </a:xfrm>
          <a:prstGeom prst="line">
            <a:avLst/>
          </a:prstGeom>
          <a:ln w="25400">
            <a:solidFill>
              <a:srgbClr val="4A35FF"/>
            </a:solidFill>
          </a:ln>
          <a:effectLst/>
        </p:spPr>
      </p:cxnSp>
      <p:sp>
        <p:nvSpPr>
          <p:cNvPr id="5" name="TextBox 4"/>
          <p:cNvSpPr txBox="1"/>
          <p:nvPr/>
        </p:nvSpPr>
        <p:spPr>
          <a:xfrm>
            <a:off x="566928" y="694944"/>
            <a:ext cx="10972800" cy="457200"/>
          </a:xfrm>
          <a:prstGeom prst="rect">
            <a:avLst/>
          </a:prstGeom>
          <a:noFill/>
        </p:spPr>
        <p:txBody>
          <a:bodyPr wrap="square" lIns="0" rIns="0" tIns="0" bIns="0" anchor="t">
            <a:spAutoFit/>
          </a:bodyPr>
          <a:lstStyle/>
          <a:p>
            <a:pPr algn="l">
              <a:lnSpc>
                <a:spcPct val="110000"/>
              </a:lnSpc>
            </a:pPr>
            <a:r>
              <a:rPr sz="2250" b="1" i="0">
                <a:solidFill>
                  <a:srgbClr val="16181D"/>
                </a:solidFill>
                <a:latin typeface="Montserrat"/>
              </a:rPr>
              <a:t>A letter to the </a:t>
            </a:r>
            <a:r>
              <a:rPr sz="2250" b="1" i="0">
                <a:solidFill>
                  <a:srgbClr val="4A35FF"/>
                </a:solidFill>
                <a:latin typeface="Montserrat"/>
              </a:rPr>
              <a:t>Working Group</a:t>
            </a:r>
          </a:p>
        </p:txBody>
      </p:sp>
      <p:sp>
        <p:nvSpPr>
          <p:cNvPr id="6" name="Rectangle 5"/>
          <p:cNvSpPr/>
          <p:nvPr/>
        </p:nvSpPr>
        <p:spPr>
          <a:xfrm>
            <a:off x="1435608" y="1371600"/>
            <a:ext cx="9326880" cy="4956048"/>
          </a:xfrm>
          <a:prstGeom prst="rect">
            <a:avLst/>
          </a:prstGeom>
          <a:solidFill>
            <a:srgbClr val="FFFFFF"/>
          </a:solidFill>
          <a:ln w="15240">
            <a:solidFill>
              <a:srgbClr val="E8E9EE"/>
            </a:solidFill>
          </a:ln>
          <a:effectLst/>
        </p:spPr>
        <p:txBody>
          <a:bodyPr rtlCol="0" anchor="ctr"/>
          <a:lstStyle/>
          <a:p>
            <a:pPr algn="ctr"/>
          </a:p>
        </p:txBody>
      </p:sp>
      <p:sp>
        <p:nvSpPr>
          <p:cNvPr id="7" name="Rectangle 6"/>
          <p:cNvSpPr/>
          <p:nvPr/>
        </p:nvSpPr>
        <p:spPr>
          <a:xfrm>
            <a:off x="1435608" y="1371600"/>
            <a:ext cx="9326880" cy="54864"/>
          </a:xfrm>
          <a:prstGeom prst="rect">
            <a:avLst/>
          </a:prstGeom>
          <a:solidFill>
            <a:srgbClr val="4A35FF"/>
          </a:solidFill>
          <a:ln>
            <a:noFill/>
          </a:ln>
          <a:effectLst/>
        </p:spPr>
        <p:txBody>
          <a:bodyPr rtlCol="0" anchor="ctr"/>
          <a:lstStyle/>
          <a:p>
            <a:pPr algn="ctr"/>
          </a:p>
        </p:txBody>
      </p:sp>
      <p:pic>
        <p:nvPicPr>
          <p:cNvPr id="8" name="Picture 7" descr="logo_blue.png"/>
          <p:cNvPicPr>
            <a:picLocks noChangeAspect="1"/>
          </p:cNvPicPr>
          <p:nvPr/>
        </p:nvPicPr>
        <p:blipFill>
          <a:blip r:embed="rId2"/>
          <a:stretch>
            <a:fillRect/>
          </a:stretch>
        </p:blipFill>
        <p:spPr>
          <a:xfrm>
            <a:off x="1892808" y="1664208"/>
            <a:ext cx="1234440" cy="170579"/>
          </a:xfrm>
          <a:prstGeom prst="rect">
            <a:avLst/>
          </a:prstGeom>
        </p:spPr>
      </p:pic>
      <p:sp>
        <p:nvSpPr>
          <p:cNvPr id="9" name="TextBox 8"/>
          <p:cNvSpPr txBox="1"/>
          <p:nvPr/>
        </p:nvSpPr>
        <p:spPr>
          <a:xfrm>
            <a:off x="7836408" y="1700784"/>
            <a:ext cx="2468880" cy="274320"/>
          </a:xfrm>
          <a:prstGeom prst="rect">
            <a:avLst/>
          </a:prstGeom>
          <a:noFill/>
        </p:spPr>
        <p:txBody>
          <a:bodyPr wrap="square" lIns="0" rIns="0" tIns="0" bIns="0" anchor="t">
            <a:spAutoFit/>
          </a:bodyPr>
          <a:lstStyle/>
          <a:p>
            <a:pPr algn="r">
              <a:lnSpc>
                <a:spcPct val="128000"/>
              </a:lnSpc>
            </a:pPr>
            <a:r>
              <a:rPr sz="950" b="0" i="0">
                <a:solidFill>
                  <a:srgbClr val="6E7180"/>
                </a:solidFill>
                <a:latin typeface="Geist"/>
              </a:rPr>
              <a:t>New Delhi · August 2026</a:t>
            </a:r>
          </a:p>
        </p:txBody>
      </p:sp>
      <p:sp>
        <p:nvSpPr>
          <p:cNvPr id="10" name="TextBox 9"/>
          <p:cNvSpPr txBox="1"/>
          <p:nvPr/>
        </p:nvSpPr>
        <p:spPr>
          <a:xfrm>
            <a:off x="1892808" y="2240280"/>
            <a:ext cx="8412480" cy="3291840"/>
          </a:xfrm>
          <a:prstGeom prst="rect">
            <a:avLst/>
          </a:prstGeom>
          <a:noFill/>
        </p:spPr>
        <p:txBody>
          <a:bodyPr wrap="square" lIns="0" rIns="0" tIns="0" bIns="0" anchor="t">
            <a:spAutoFit/>
          </a:bodyPr>
          <a:lstStyle/>
          <a:p>
            <a:pPr algn="l">
              <a:lnSpc>
                <a:spcPct val="130000"/>
              </a:lnSpc>
              <a:spcAft>
                <a:spcPts val="700"/>
              </a:spcAft>
            </a:pPr>
            <a:r>
              <a:rPr sz="1060" b="0" i="0">
                <a:solidFill>
                  <a:srgbClr val="16181D"/>
                </a:solidFill>
                <a:latin typeface="Geist"/>
              </a:rPr>
              <a:t>Respected Chairperson and Members of Working Group 3,</a:t>
            </a:r>
          </a:p>
          <a:p>
            <a:pPr algn="l">
              <a:lnSpc>
                <a:spcPct val="130000"/>
              </a:lnSpc>
              <a:spcAft>
                <a:spcPts val="700"/>
              </a:spcAft>
            </a:pPr>
            <a:r>
              <a:rPr sz="1060" b="0" i="0">
                <a:solidFill>
                  <a:srgbClr val="16181D"/>
                </a:solidFill>
                <a:latin typeface="Geist"/>
              </a:rPr>
              <a:t>Crashfree India is a young road safety nonprofit, registered as the Vision Zero Trust, co-founded with the Indian Road Safety Council, and backed by a three-year, US$3 million commitment from Cars24. Our work meets this Working Group where the risk is growing fastest: two-wheeler riders, the commercial and gig fleets they increasingly ride for, and the standards and technology that keep vehicles safe and compliant. Through Cars24 we also carry an industry vantage point into vehicle markets, fleet operations and used-vehicle certification. MS Dhoni carries this message to the country as our Goodwill Ambassador.</a:t>
            </a:r>
          </a:p>
          <a:p>
            <a:pPr algn="l">
              <a:lnSpc>
                <a:spcPct val="130000"/>
              </a:lnSpc>
              <a:spcAft>
                <a:spcPts val="700"/>
              </a:spcAft>
            </a:pPr>
            <a:r>
              <a:rPr sz="1060" b="0" i="0">
                <a:solidFill>
                  <a:srgbClr val="16181D"/>
                </a:solidFill>
                <a:latin typeface="Geist"/>
              </a:rPr>
              <a:t>Two-wheeler riders are the largest and fastest-growing category of road deaths, and gig and delivery riders spend entire working days inside that risk. We published 'When Risks Become Routine', our study of gig-rider road risk, in February 2026, and a 300-rider study is now in the field to quantify what it surfaced. Expert sessions on two-wheeler ADAS and bus fire safety have brought veterans of ARAI, CMVR-TSC and CIRT to our table, and an early review of ride-hailing vehicles found 56.8% carrying more than three recorded challans. SATARK, our vehicle-screening platform with police in three cities, shows compliance technology working at scale.</a:t>
            </a:r>
          </a:p>
          <a:p>
            <a:pPr algn="l">
              <a:lnSpc>
                <a:spcPct val="130000"/>
              </a:lnSpc>
              <a:spcAft>
                <a:spcPts val="700"/>
              </a:spcAft>
            </a:pPr>
            <a:r>
              <a:rPr sz="1060" b="0" i="0">
                <a:solidFill>
                  <a:srgbClr val="16181D"/>
                </a:solidFill>
                <a:latin typeface="Geist"/>
              </a:rPr>
              <a:t>The pages that follow introduce the organisation briefly, then set out the work most relevant to this Working Group in the detail its mandate deserves. Everything shown is running today, is public, and is offered to the Board without cost. We would be honoured to contribute.</a:t>
            </a:r>
          </a:p>
        </p:txBody>
      </p:sp>
      <p:sp>
        <p:nvSpPr>
          <p:cNvPr id="11" name="TextBox 10"/>
          <p:cNvSpPr txBox="1"/>
          <p:nvPr/>
        </p:nvSpPr>
        <p:spPr>
          <a:xfrm>
            <a:off x="1892808" y="5596128"/>
            <a:ext cx="8412480" cy="274320"/>
          </a:xfrm>
          <a:prstGeom prst="rect">
            <a:avLst/>
          </a:prstGeom>
          <a:noFill/>
        </p:spPr>
        <p:txBody>
          <a:bodyPr wrap="square" lIns="0" rIns="0" tIns="0" bIns="0" anchor="t">
            <a:spAutoFit/>
          </a:bodyPr>
          <a:lstStyle/>
          <a:p>
            <a:pPr algn="l">
              <a:lnSpc>
                <a:spcPct val="128000"/>
              </a:lnSpc>
            </a:pPr>
            <a:r>
              <a:rPr sz="1060" b="0" i="0">
                <a:solidFill>
                  <a:srgbClr val="16181D"/>
                </a:solidFill>
                <a:latin typeface="Geist"/>
              </a:rPr>
              <a:t>Respectfully,</a:t>
            </a:r>
          </a:p>
        </p:txBody>
      </p:sp>
      <p:sp>
        <p:nvSpPr>
          <p:cNvPr id="12" name="TextBox 11"/>
          <p:cNvSpPr txBox="1"/>
          <p:nvPr/>
        </p:nvSpPr>
        <p:spPr>
          <a:xfrm>
            <a:off x="1892808" y="5870448"/>
            <a:ext cx="8412480" cy="274320"/>
          </a:xfrm>
          <a:prstGeom prst="rect">
            <a:avLst/>
          </a:prstGeom>
          <a:noFill/>
        </p:spPr>
        <p:txBody>
          <a:bodyPr wrap="square" lIns="0" rIns="0" tIns="0" bIns="0" anchor="t">
            <a:spAutoFit/>
          </a:bodyPr>
          <a:lstStyle/>
          <a:p>
            <a:pPr algn="l">
              <a:lnSpc>
                <a:spcPct val="128000"/>
              </a:lnSpc>
            </a:pPr>
            <a:r>
              <a:rPr sz="1150" b="1" i="0">
                <a:solidFill>
                  <a:srgbClr val="16181D"/>
                </a:solidFill>
                <a:latin typeface="Montserrat"/>
              </a:rPr>
              <a:t>Akhtar Hussain</a:t>
            </a:r>
          </a:p>
        </p:txBody>
      </p:sp>
      <p:sp>
        <p:nvSpPr>
          <p:cNvPr id="13" name="TextBox 12"/>
          <p:cNvSpPr txBox="1"/>
          <p:nvPr/>
        </p:nvSpPr>
        <p:spPr>
          <a:xfrm>
            <a:off x="1892808" y="6089904"/>
            <a:ext cx="8412480" cy="237744"/>
          </a:xfrm>
          <a:prstGeom prst="rect">
            <a:avLst/>
          </a:prstGeom>
          <a:noFill/>
        </p:spPr>
        <p:txBody>
          <a:bodyPr wrap="square" lIns="0" rIns="0" tIns="0" bIns="0" anchor="t">
            <a:spAutoFit/>
          </a:bodyPr>
          <a:lstStyle/>
          <a:p>
            <a:pPr algn="l">
              <a:lnSpc>
                <a:spcPct val="128000"/>
              </a:lnSpc>
            </a:pPr>
            <a:r>
              <a:rPr sz="950" b="0" i="0">
                <a:solidFill>
                  <a:srgbClr val="6E7180"/>
                </a:solidFill>
                <a:latin typeface="Geist"/>
              </a:rPr>
              <a:t>Mission Lead, Crashfree India  ·  akhtar@crashfreeindia.org  ·  crashfreeindia.org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HOW THIS DECK IS ORGANISED</a:t>
            </a:r>
          </a:p>
        </p:txBody>
      </p:sp>
      <p:cxnSp>
        <p:nvCxnSpPr>
          <p:cNvPr id="4" name="Connector 3"/>
          <p:cNvCxnSpPr/>
          <p:nvPr/>
        </p:nvCxnSpPr>
        <p:spPr>
          <a:xfrm>
            <a:off x="566928" y="566928"/>
            <a:ext cx="502920" cy="0"/>
          </a:xfrm>
          <a:prstGeom prst="line">
            <a:avLst/>
          </a:prstGeom>
          <a:ln w="25400">
            <a:solidFill>
              <a:srgbClr val="4A35FF"/>
            </a:solidFill>
          </a:ln>
          <a:effectLst/>
        </p:spPr>
      </p:cxnSp>
      <p:sp>
        <p:nvSpPr>
          <p:cNvPr id="5" name="TextBox 4"/>
          <p:cNvSpPr txBox="1"/>
          <p:nvPr/>
        </p:nvSpPr>
        <p:spPr>
          <a:xfrm>
            <a:off x="566928" y="694944"/>
            <a:ext cx="10972800" cy="457200"/>
          </a:xfrm>
          <a:prstGeom prst="rect">
            <a:avLst/>
          </a:prstGeom>
          <a:noFill/>
        </p:spPr>
        <p:txBody>
          <a:bodyPr wrap="square" lIns="0" rIns="0" tIns="0" bIns="0" anchor="t">
            <a:spAutoFit/>
          </a:bodyPr>
          <a:lstStyle/>
          <a:p>
            <a:pPr algn="l">
              <a:lnSpc>
                <a:spcPct val="110000"/>
              </a:lnSpc>
            </a:pPr>
            <a:r>
              <a:rPr sz="2250" b="1" i="0">
                <a:solidFill>
                  <a:srgbClr val="16181D"/>
                </a:solidFill>
                <a:latin typeface="Montserrat"/>
              </a:rPr>
              <a:t>Five sections, </a:t>
            </a:r>
            <a:r>
              <a:rPr sz="2250" b="1" i="0">
                <a:solidFill>
                  <a:srgbClr val="4A35FF"/>
                </a:solidFill>
                <a:latin typeface="Montserrat"/>
              </a:rPr>
              <a:t>from who we are to what we offer</a:t>
            </a:r>
          </a:p>
        </p:txBody>
      </p:sp>
      <p:sp>
        <p:nvSpPr>
          <p:cNvPr id="6" name="Rounded Rectangle 5"/>
          <p:cNvSpPr/>
          <p:nvPr/>
        </p:nvSpPr>
        <p:spPr>
          <a:xfrm>
            <a:off x="566928" y="1572768"/>
            <a:ext cx="11057839" cy="804672"/>
          </a:xfrm>
          <a:prstGeom prst="roundRect">
            <a:avLst>
              <a:gd name="adj" fmla="val 10000"/>
            </a:avLst>
          </a:prstGeom>
          <a:solidFill>
            <a:srgbClr val="F7F7FA"/>
          </a:solidFill>
          <a:ln>
            <a:noFill/>
          </a:ln>
          <a:effectLst/>
        </p:spPr>
        <p:txBody>
          <a:bodyPr rtlCol="0" anchor="ctr"/>
          <a:lstStyle/>
          <a:p>
            <a:pPr algn="ctr"/>
          </a:p>
        </p:txBody>
      </p:sp>
      <p:sp>
        <p:nvSpPr>
          <p:cNvPr id="7" name="Oval 6"/>
          <p:cNvSpPr/>
          <p:nvPr/>
        </p:nvSpPr>
        <p:spPr>
          <a:xfrm>
            <a:off x="768096" y="1755648"/>
            <a:ext cx="438912" cy="438912"/>
          </a:xfrm>
          <a:prstGeom prst="ellipse">
            <a:avLst/>
          </a:prstGeom>
          <a:solidFill>
            <a:srgbClr val="EFEDFF"/>
          </a:solidFill>
          <a:ln>
            <a:noFill/>
          </a:ln>
          <a:effectLst/>
        </p:spPr>
        <p:txBody>
          <a:bodyPr rtlCol="0" anchor="ctr"/>
          <a:lstStyle/>
          <a:p>
            <a:pPr algn="ctr"/>
          </a:p>
        </p:txBody>
      </p:sp>
      <p:sp>
        <p:nvSpPr>
          <p:cNvPr id="8" name="TextBox 7"/>
          <p:cNvSpPr txBox="1"/>
          <p:nvPr/>
        </p:nvSpPr>
        <p:spPr>
          <a:xfrm>
            <a:off x="768096" y="1744676"/>
            <a:ext cx="438912" cy="438912"/>
          </a:xfrm>
          <a:prstGeom prst="rect">
            <a:avLst/>
          </a:prstGeom>
          <a:noFill/>
        </p:spPr>
        <p:txBody>
          <a:bodyPr wrap="square" lIns="0" rIns="0" tIns="0" bIns="0" anchor="ctr">
            <a:spAutoFit/>
          </a:bodyPr>
          <a:lstStyle/>
          <a:p>
            <a:pPr algn="ctr">
              <a:lnSpc>
                <a:spcPct val="100000"/>
              </a:lnSpc>
            </a:pPr>
            <a:r>
              <a:rPr sz="1300" b="1" i="0">
                <a:solidFill>
                  <a:srgbClr val="4A35FF"/>
                </a:solidFill>
                <a:latin typeface="Montserrat"/>
              </a:rPr>
              <a:t>1</a:t>
            </a:r>
          </a:p>
        </p:txBody>
      </p:sp>
      <p:sp>
        <p:nvSpPr>
          <p:cNvPr id="9" name="Oval 8"/>
          <p:cNvSpPr/>
          <p:nvPr/>
        </p:nvSpPr>
        <p:spPr>
          <a:xfrm>
            <a:off x="1435608" y="1755648"/>
            <a:ext cx="438912" cy="438912"/>
          </a:xfrm>
          <a:prstGeom prst="ellipse">
            <a:avLst/>
          </a:prstGeom>
          <a:solidFill>
            <a:srgbClr val="EFEDFF"/>
          </a:solidFill>
          <a:ln>
            <a:noFill/>
          </a:ln>
          <a:effectLst/>
        </p:spPr>
        <p:txBody>
          <a:bodyPr rtlCol="0" anchor="ctr"/>
          <a:lstStyle/>
          <a:p>
            <a:pPr algn="ctr"/>
          </a:p>
        </p:txBody>
      </p:sp>
      <p:pic>
        <p:nvPicPr>
          <p:cNvPr id="10" name="Picture 9" descr="building-2_4A35FF_256_2.0.png"/>
          <p:cNvPicPr>
            <a:picLocks noChangeAspect="1"/>
          </p:cNvPicPr>
          <p:nvPr/>
        </p:nvPicPr>
        <p:blipFill>
          <a:blip r:embed="rId2"/>
          <a:stretch>
            <a:fillRect/>
          </a:stretch>
        </p:blipFill>
        <p:spPr>
          <a:xfrm>
            <a:off x="1540946" y="1860986"/>
            <a:ext cx="228234" cy="228234"/>
          </a:xfrm>
          <a:prstGeom prst="rect">
            <a:avLst/>
          </a:prstGeom>
        </p:spPr>
      </p:pic>
      <p:sp>
        <p:nvSpPr>
          <p:cNvPr id="11" name="TextBox 10"/>
          <p:cNvSpPr txBox="1"/>
          <p:nvPr/>
        </p:nvSpPr>
        <p:spPr>
          <a:xfrm>
            <a:off x="2103120" y="1691640"/>
            <a:ext cx="4023360" cy="365760"/>
          </a:xfrm>
          <a:prstGeom prst="rect">
            <a:avLst/>
          </a:prstGeom>
          <a:noFill/>
        </p:spPr>
        <p:txBody>
          <a:bodyPr wrap="square" lIns="0" rIns="0" tIns="0" bIns="0" anchor="t">
            <a:spAutoFit/>
          </a:bodyPr>
          <a:lstStyle/>
          <a:p>
            <a:pPr algn="l">
              <a:lnSpc>
                <a:spcPct val="100000"/>
              </a:lnSpc>
            </a:pPr>
            <a:r>
              <a:rPr sz="1300" b="1" i="0">
                <a:solidFill>
                  <a:srgbClr val="16181D"/>
                </a:solidFill>
                <a:latin typeface="Montserrat"/>
              </a:rPr>
              <a:t>About us, and how we work</a:t>
            </a:r>
          </a:p>
        </p:txBody>
      </p:sp>
      <p:sp>
        <p:nvSpPr>
          <p:cNvPr id="12" name="TextBox 11"/>
          <p:cNvSpPr txBox="1"/>
          <p:nvPr/>
        </p:nvSpPr>
        <p:spPr>
          <a:xfrm>
            <a:off x="2103120" y="1993392"/>
            <a:ext cx="7498079" cy="320040"/>
          </a:xfrm>
          <a:prstGeom prst="rect">
            <a:avLst/>
          </a:prstGeom>
          <a:noFill/>
        </p:spPr>
        <p:txBody>
          <a:bodyPr wrap="square" lIns="0" rIns="0" tIns="0" bIns="0" anchor="t">
            <a:spAutoFit/>
          </a:bodyPr>
          <a:lstStyle/>
          <a:p>
            <a:pPr algn="l">
              <a:lnSpc>
                <a:spcPct val="115000"/>
              </a:lnSpc>
            </a:pPr>
            <a:r>
              <a:rPr sz="1000" b="0" i="0">
                <a:solidFill>
                  <a:srgbClr val="6E7180"/>
                </a:solidFill>
                <a:latin typeface="Geist"/>
              </a:rPr>
              <a:t>Who we are, our approach to the road crash crisis, and why this Working Group.</a:t>
            </a:r>
          </a:p>
        </p:txBody>
      </p:sp>
      <p:sp>
        <p:nvSpPr>
          <p:cNvPr id="13" name="TextBox 12"/>
          <p:cNvSpPr txBox="1"/>
          <p:nvPr/>
        </p:nvSpPr>
        <p:spPr>
          <a:xfrm>
            <a:off x="10024567" y="1792224"/>
            <a:ext cx="1371600" cy="365760"/>
          </a:xfrm>
          <a:prstGeom prst="rect">
            <a:avLst/>
          </a:prstGeom>
          <a:noFill/>
        </p:spPr>
        <p:txBody>
          <a:bodyPr wrap="square" lIns="0" rIns="0" tIns="0" bIns="0" anchor="t">
            <a:spAutoFit/>
          </a:bodyPr>
          <a:lstStyle/>
          <a:p>
            <a:pPr algn="r">
              <a:lnSpc>
                <a:spcPct val="128000"/>
              </a:lnSpc>
            </a:pPr>
            <a:r>
              <a:rPr sz="1200" b="1" i="0">
                <a:solidFill>
                  <a:srgbClr val="4A35FF"/>
                </a:solidFill>
                <a:latin typeface="Montserrat"/>
              </a:rPr>
              <a:t>04 – 06</a:t>
            </a:r>
          </a:p>
        </p:txBody>
      </p:sp>
      <p:sp>
        <p:nvSpPr>
          <p:cNvPr id="14" name="Rounded Rectangle 13"/>
          <p:cNvSpPr/>
          <p:nvPr/>
        </p:nvSpPr>
        <p:spPr>
          <a:xfrm>
            <a:off x="566928" y="2505456"/>
            <a:ext cx="11057839" cy="804672"/>
          </a:xfrm>
          <a:prstGeom prst="roundRect">
            <a:avLst>
              <a:gd name="adj" fmla="val 10000"/>
            </a:avLst>
          </a:prstGeom>
          <a:solidFill>
            <a:srgbClr val="FFFFFF"/>
          </a:solidFill>
          <a:ln w="9525">
            <a:solidFill>
              <a:srgbClr val="E8E9EE"/>
            </a:solidFill>
          </a:ln>
          <a:effectLst/>
        </p:spPr>
        <p:txBody>
          <a:bodyPr rtlCol="0" anchor="ctr"/>
          <a:lstStyle/>
          <a:p>
            <a:pPr algn="ctr"/>
          </a:p>
        </p:txBody>
      </p:sp>
      <p:sp>
        <p:nvSpPr>
          <p:cNvPr id="15" name="Oval 14"/>
          <p:cNvSpPr/>
          <p:nvPr/>
        </p:nvSpPr>
        <p:spPr>
          <a:xfrm>
            <a:off x="768096" y="2688336"/>
            <a:ext cx="438912" cy="438912"/>
          </a:xfrm>
          <a:prstGeom prst="ellipse">
            <a:avLst/>
          </a:prstGeom>
          <a:solidFill>
            <a:srgbClr val="EFEDFF"/>
          </a:solidFill>
          <a:ln>
            <a:noFill/>
          </a:ln>
          <a:effectLst/>
        </p:spPr>
        <p:txBody>
          <a:bodyPr rtlCol="0" anchor="ctr"/>
          <a:lstStyle/>
          <a:p>
            <a:pPr algn="ctr"/>
          </a:p>
        </p:txBody>
      </p:sp>
      <p:sp>
        <p:nvSpPr>
          <p:cNvPr id="16" name="TextBox 15"/>
          <p:cNvSpPr txBox="1"/>
          <p:nvPr/>
        </p:nvSpPr>
        <p:spPr>
          <a:xfrm>
            <a:off x="768096" y="2677364"/>
            <a:ext cx="438912" cy="438912"/>
          </a:xfrm>
          <a:prstGeom prst="rect">
            <a:avLst/>
          </a:prstGeom>
          <a:noFill/>
        </p:spPr>
        <p:txBody>
          <a:bodyPr wrap="square" lIns="0" rIns="0" tIns="0" bIns="0" anchor="ctr">
            <a:spAutoFit/>
          </a:bodyPr>
          <a:lstStyle/>
          <a:p>
            <a:pPr algn="ctr">
              <a:lnSpc>
                <a:spcPct val="100000"/>
              </a:lnSpc>
            </a:pPr>
            <a:r>
              <a:rPr sz="1300" b="1" i="0">
                <a:solidFill>
                  <a:srgbClr val="4A35FF"/>
                </a:solidFill>
                <a:latin typeface="Montserrat"/>
              </a:rPr>
              <a:t>2</a:t>
            </a:r>
          </a:p>
        </p:txBody>
      </p:sp>
      <p:sp>
        <p:nvSpPr>
          <p:cNvPr id="17" name="Oval 16"/>
          <p:cNvSpPr/>
          <p:nvPr/>
        </p:nvSpPr>
        <p:spPr>
          <a:xfrm>
            <a:off x="1435608" y="2688336"/>
            <a:ext cx="438912" cy="438912"/>
          </a:xfrm>
          <a:prstGeom prst="ellipse">
            <a:avLst/>
          </a:prstGeom>
          <a:solidFill>
            <a:srgbClr val="EFEDFF"/>
          </a:solidFill>
          <a:ln>
            <a:noFill/>
          </a:ln>
          <a:effectLst/>
        </p:spPr>
        <p:txBody>
          <a:bodyPr rtlCol="0" anchor="ctr"/>
          <a:lstStyle/>
          <a:p>
            <a:pPr algn="ctr"/>
          </a:p>
        </p:txBody>
      </p:sp>
      <p:pic>
        <p:nvPicPr>
          <p:cNvPr id="18" name="Picture 17" descr="layers_4A35FF_256_2.0.png"/>
          <p:cNvPicPr>
            <a:picLocks noChangeAspect="1"/>
          </p:cNvPicPr>
          <p:nvPr/>
        </p:nvPicPr>
        <p:blipFill>
          <a:blip r:embed="rId3"/>
          <a:stretch>
            <a:fillRect/>
          </a:stretch>
        </p:blipFill>
        <p:spPr>
          <a:xfrm>
            <a:off x="1540946" y="2793674"/>
            <a:ext cx="228234" cy="228234"/>
          </a:xfrm>
          <a:prstGeom prst="rect">
            <a:avLst/>
          </a:prstGeom>
        </p:spPr>
      </p:pic>
      <p:sp>
        <p:nvSpPr>
          <p:cNvPr id="19" name="TextBox 18"/>
          <p:cNvSpPr txBox="1"/>
          <p:nvPr/>
        </p:nvSpPr>
        <p:spPr>
          <a:xfrm>
            <a:off x="2103120" y="2624328"/>
            <a:ext cx="4023360" cy="365760"/>
          </a:xfrm>
          <a:prstGeom prst="rect">
            <a:avLst/>
          </a:prstGeom>
          <a:noFill/>
        </p:spPr>
        <p:txBody>
          <a:bodyPr wrap="square" lIns="0" rIns="0" tIns="0" bIns="0" anchor="t">
            <a:spAutoFit/>
          </a:bodyPr>
          <a:lstStyle/>
          <a:p>
            <a:pPr algn="l">
              <a:lnSpc>
                <a:spcPct val="100000"/>
              </a:lnSpc>
            </a:pPr>
            <a:r>
              <a:rPr sz="1300" b="1" i="0">
                <a:solidFill>
                  <a:srgbClr val="16181D"/>
                </a:solidFill>
                <a:latin typeface="Montserrat"/>
              </a:rPr>
              <a:t>What we have built</a:t>
            </a:r>
          </a:p>
        </p:txBody>
      </p:sp>
      <p:sp>
        <p:nvSpPr>
          <p:cNvPr id="20" name="TextBox 19"/>
          <p:cNvSpPr txBox="1"/>
          <p:nvPr/>
        </p:nvSpPr>
        <p:spPr>
          <a:xfrm>
            <a:off x="2103120" y="2926080"/>
            <a:ext cx="7498079" cy="320040"/>
          </a:xfrm>
          <a:prstGeom prst="rect">
            <a:avLst/>
          </a:prstGeom>
          <a:noFill/>
        </p:spPr>
        <p:txBody>
          <a:bodyPr wrap="square" lIns="0" rIns="0" tIns="0" bIns="0" anchor="t">
            <a:spAutoFit/>
          </a:bodyPr>
          <a:lstStyle/>
          <a:p>
            <a:pPr algn="l">
              <a:lnSpc>
                <a:spcPct val="115000"/>
              </a:lnSpc>
            </a:pPr>
            <a:r>
              <a:rPr sz="1000" b="0" i="0">
                <a:solidFill>
                  <a:srgbClr val="6E7180"/>
                </a:solidFill>
                <a:latin typeface="Geist"/>
              </a:rPr>
              <a:t>Every public-facing programme, audits, enforcement tech, victim support, open data, youth, campaigns.</a:t>
            </a:r>
          </a:p>
        </p:txBody>
      </p:sp>
      <p:sp>
        <p:nvSpPr>
          <p:cNvPr id="21" name="TextBox 20"/>
          <p:cNvSpPr txBox="1"/>
          <p:nvPr/>
        </p:nvSpPr>
        <p:spPr>
          <a:xfrm>
            <a:off x="10024567" y="2724912"/>
            <a:ext cx="1371600" cy="365760"/>
          </a:xfrm>
          <a:prstGeom prst="rect">
            <a:avLst/>
          </a:prstGeom>
          <a:noFill/>
        </p:spPr>
        <p:txBody>
          <a:bodyPr wrap="square" lIns="0" rIns="0" tIns="0" bIns="0" anchor="t">
            <a:spAutoFit/>
          </a:bodyPr>
          <a:lstStyle/>
          <a:p>
            <a:pPr algn="r">
              <a:lnSpc>
                <a:spcPct val="128000"/>
              </a:lnSpc>
            </a:pPr>
            <a:r>
              <a:rPr sz="1200" b="1" i="0">
                <a:solidFill>
                  <a:srgbClr val="4A35FF"/>
                </a:solidFill>
                <a:latin typeface="Montserrat"/>
              </a:rPr>
              <a:t>07 – 14</a:t>
            </a:r>
          </a:p>
        </p:txBody>
      </p:sp>
      <p:sp>
        <p:nvSpPr>
          <p:cNvPr id="22" name="Rounded Rectangle 21"/>
          <p:cNvSpPr/>
          <p:nvPr/>
        </p:nvSpPr>
        <p:spPr>
          <a:xfrm>
            <a:off x="566928" y="3438144"/>
            <a:ext cx="11057839" cy="804672"/>
          </a:xfrm>
          <a:prstGeom prst="roundRect">
            <a:avLst>
              <a:gd name="adj" fmla="val 10000"/>
            </a:avLst>
          </a:prstGeom>
          <a:solidFill>
            <a:srgbClr val="F7F7FA"/>
          </a:solidFill>
          <a:ln>
            <a:noFill/>
          </a:ln>
          <a:effectLst/>
        </p:spPr>
        <p:txBody>
          <a:bodyPr rtlCol="0" anchor="ctr"/>
          <a:lstStyle/>
          <a:p>
            <a:pPr algn="ctr"/>
          </a:p>
        </p:txBody>
      </p:sp>
      <p:sp>
        <p:nvSpPr>
          <p:cNvPr id="23" name="Oval 22"/>
          <p:cNvSpPr/>
          <p:nvPr/>
        </p:nvSpPr>
        <p:spPr>
          <a:xfrm>
            <a:off x="768096" y="3621024"/>
            <a:ext cx="438912" cy="438912"/>
          </a:xfrm>
          <a:prstGeom prst="ellipse">
            <a:avLst/>
          </a:prstGeom>
          <a:solidFill>
            <a:srgbClr val="EFEDFF"/>
          </a:solidFill>
          <a:ln>
            <a:noFill/>
          </a:ln>
          <a:effectLst/>
        </p:spPr>
        <p:txBody>
          <a:bodyPr rtlCol="0" anchor="ctr"/>
          <a:lstStyle/>
          <a:p>
            <a:pPr algn="ctr"/>
          </a:p>
        </p:txBody>
      </p:sp>
      <p:sp>
        <p:nvSpPr>
          <p:cNvPr id="24" name="TextBox 23"/>
          <p:cNvSpPr txBox="1"/>
          <p:nvPr/>
        </p:nvSpPr>
        <p:spPr>
          <a:xfrm>
            <a:off x="768096" y="3610052"/>
            <a:ext cx="438912" cy="438912"/>
          </a:xfrm>
          <a:prstGeom prst="rect">
            <a:avLst/>
          </a:prstGeom>
          <a:noFill/>
        </p:spPr>
        <p:txBody>
          <a:bodyPr wrap="square" lIns="0" rIns="0" tIns="0" bIns="0" anchor="ctr">
            <a:spAutoFit/>
          </a:bodyPr>
          <a:lstStyle/>
          <a:p>
            <a:pPr algn="ctr">
              <a:lnSpc>
                <a:spcPct val="100000"/>
              </a:lnSpc>
            </a:pPr>
            <a:r>
              <a:rPr sz="1300" b="1" i="0">
                <a:solidFill>
                  <a:srgbClr val="4A35FF"/>
                </a:solidFill>
                <a:latin typeface="Montserrat"/>
              </a:rPr>
              <a:t>3</a:t>
            </a:r>
          </a:p>
        </p:txBody>
      </p:sp>
      <p:sp>
        <p:nvSpPr>
          <p:cNvPr id="25" name="Oval 24"/>
          <p:cNvSpPr/>
          <p:nvPr/>
        </p:nvSpPr>
        <p:spPr>
          <a:xfrm>
            <a:off x="1435608" y="3621024"/>
            <a:ext cx="438912" cy="438912"/>
          </a:xfrm>
          <a:prstGeom prst="ellipse">
            <a:avLst/>
          </a:prstGeom>
          <a:solidFill>
            <a:srgbClr val="EFEDFF"/>
          </a:solidFill>
          <a:ln>
            <a:noFill/>
          </a:ln>
          <a:effectLst/>
        </p:spPr>
        <p:txBody>
          <a:bodyPr rtlCol="0" anchor="ctr"/>
          <a:lstStyle/>
          <a:p>
            <a:pPr algn="ctr"/>
          </a:p>
        </p:txBody>
      </p:sp>
      <p:pic>
        <p:nvPicPr>
          <p:cNvPr id="26" name="Picture 25" descr="users_4A35FF_256_2.0.png"/>
          <p:cNvPicPr>
            <a:picLocks noChangeAspect="1"/>
          </p:cNvPicPr>
          <p:nvPr/>
        </p:nvPicPr>
        <p:blipFill>
          <a:blip r:embed="rId4"/>
          <a:stretch>
            <a:fillRect/>
          </a:stretch>
        </p:blipFill>
        <p:spPr>
          <a:xfrm>
            <a:off x="1540946" y="3726362"/>
            <a:ext cx="228234" cy="228234"/>
          </a:xfrm>
          <a:prstGeom prst="rect">
            <a:avLst/>
          </a:prstGeom>
        </p:spPr>
      </p:pic>
      <p:sp>
        <p:nvSpPr>
          <p:cNvPr id="27" name="TextBox 26"/>
          <p:cNvSpPr txBox="1"/>
          <p:nvPr/>
        </p:nvSpPr>
        <p:spPr>
          <a:xfrm>
            <a:off x="2103120" y="3557016"/>
            <a:ext cx="4023360" cy="365760"/>
          </a:xfrm>
          <a:prstGeom prst="rect">
            <a:avLst/>
          </a:prstGeom>
          <a:noFill/>
        </p:spPr>
        <p:txBody>
          <a:bodyPr wrap="square" lIns="0" rIns="0" tIns="0" bIns="0" anchor="t">
            <a:spAutoFit/>
          </a:bodyPr>
          <a:lstStyle/>
          <a:p>
            <a:pPr algn="l">
              <a:lnSpc>
                <a:spcPct val="100000"/>
              </a:lnSpc>
            </a:pPr>
            <a:r>
              <a:rPr sz="1300" b="1" i="0">
                <a:solidFill>
                  <a:srgbClr val="16181D"/>
                </a:solidFill>
                <a:latin typeface="Montserrat"/>
              </a:rPr>
              <a:t>Our people</a:t>
            </a:r>
          </a:p>
        </p:txBody>
      </p:sp>
      <p:sp>
        <p:nvSpPr>
          <p:cNvPr id="28" name="TextBox 27"/>
          <p:cNvSpPr txBox="1"/>
          <p:nvPr/>
        </p:nvSpPr>
        <p:spPr>
          <a:xfrm>
            <a:off x="2103120" y="3858768"/>
            <a:ext cx="7498079" cy="320040"/>
          </a:xfrm>
          <a:prstGeom prst="rect">
            <a:avLst/>
          </a:prstGeom>
          <a:noFill/>
        </p:spPr>
        <p:txBody>
          <a:bodyPr wrap="square" lIns="0" rIns="0" tIns="0" bIns="0" anchor="t">
            <a:spAutoFit/>
          </a:bodyPr>
          <a:lstStyle/>
          <a:p>
            <a:pPr algn="l">
              <a:lnSpc>
                <a:spcPct val="115000"/>
              </a:lnSpc>
            </a:pPr>
            <a:r>
              <a:rPr sz="1000" b="0" i="0">
                <a:solidFill>
                  <a:srgbClr val="6E7180"/>
                </a:solidFill>
                <a:latin typeface="Geist"/>
              </a:rPr>
              <a:t>The team, its capabilities, and the expert bench around the work.</a:t>
            </a:r>
          </a:p>
        </p:txBody>
      </p:sp>
      <p:sp>
        <p:nvSpPr>
          <p:cNvPr id="29" name="TextBox 28"/>
          <p:cNvSpPr txBox="1"/>
          <p:nvPr/>
        </p:nvSpPr>
        <p:spPr>
          <a:xfrm>
            <a:off x="10024567" y="3657600"/>
            <a:ext cx="1371600" cy="365760"/>
          </a:xfrm>
          <a:prstGeom prst="rect">
            <a:avLst/>
          </a:prstGeom>
          <a:noFill/>
        </p:spPr>
        <p:txBody>
          <a:bodyPr wrap="square" lIns="0" rIns="0" tIns="0" bIns="0" anchor="t">
            <a:spAutoFit/>
          </a:bodyPr>
          <a:lstStyle/>
          <a:p>
            <a:pPr algn="r">
              <a:lnSpc>
                <a:spcPct val="128000"/>
              </a:lnSpc>
            </a:pPr>
            <a:r>
              <a:rPr sz="1200" b="1" i="0">
                <a:solidFill>
                  <a:srgbClr val="4A35FF"/>
                </a:solidFill>
                <a:latin typeface="Montserrat"/>
              </a:rPr>
              <a:t>15 – 16</a:t>
            </a:r>
          </a:p>
        </p:txBody>
      </p:sp>
      <p:sp>
        <p:nvSpPr>
          <p:cNvPr id="30" name="Rounded Rectangle 29"/>
          <p:cNvSpPr/>
          <p:nvPr/>
        </p:nvSpPr>
        <p:spPr>
          <a:xfrm>
            <a:off x="566928" y="4370832"/>
            <a:ext cx="11057839" cy="804672"/>
          </a:xfrm>
          <a:prstGeom prst="roundRect">
            <a:avLst>
              <a:gd name="adj" fmla="val 10000"/>
            </a:avLst>
          </a:prstGeom>
          <a:solidFill>
            <a:srgbClr val="FFFFFF"/>
          </a:solidFill>
          <a:ln w="9525">
            <a:solidFill>
              <a:srgbClr val="E8E9EE"/>
            </a:solidFill>
          </a:ln>
          <a:effectLst/>
        </p:spPr>
        <p:txBody>
          <a:bodyPr rtlCol="0" anchor="ctr"/>
          <a:lstStyle/>
          <a:p>
            <a:pPr algn="ctr"/>
          </a:p>
        </p:txBody>
      </p:sp>
      <p:sp>
        <p:nvSpPr>
          <p:cNvPr id="31" name="Oval 30"/>
          <p:cNvSpPr/>
          <p:nvPr/>
        </p:nvSpPr>
        <p:spPr>
          <a:xfrm>
            <a:off x="768096" y="4553712"/>
            <a:ext cx="438912" cy="438912"/>
          </a:xfrm>
          <a:prstGeom prst="ellipse">
            <a:avLst/>
          </a:prstGeom>
          <a:solidFill>
            <a:srgbClr val="EFEDFF"/>
          </a:solidFill>
          <a:ln>
            <a:noFill/>
          </a:ln>
          <a:effectLst/>
        </p:spPr>
        <p:txBody>
          <a:bodyPr rtlCol="0" anchor="ctr"/>
          <a:lstStyle/>
          <a:p>
            <a:pPr algn="ctr"/>
          </a:p>
        </p:txBody>
      </p:sp>
      <p:sp>
        <p:nvSpPr>
          <p:cNvPr id="32" name="TextBox 31"/>
          <p:cNvSpPr txBox="1"/>
          <p:nvPr/>
        </p:nvSpPr>
        <p:spPr>
          <a:xfrm>
            <a:off x="768096" y="4542740"/>
            <a:ext cx="438912" cy="438912"/>
          </a:xfrm>
          <a:prstGeom prst="rect">
            <a:avLst/>
          </a:prstGeom>
          <a:noFill/>
        </p:spPr>
        <p:txBody>
          <a:bodyPr wrap="square" lIns="0" rIns="0" tIns="0" bIns="0" anchor="ctr">
            <a:spAutoFit/>
          </a:bodyPr>
          <a:lstStyle/>
          <a:p>
            <a:pPr algn="ctr">
              <a:lnSpc>
                <a:spcPct val="100000"/>
              </a:lnSpc>
            </a:pPr>
            <a:r>
              <a:rPr sz="1300" b="1" i="0">
                <a:solidFill>
                  <a:srgbClr val="4A35FF"/>
                </a:solidFill>
                <a:latin typeface="Montserrat"/>
              </a:rPr>
              <a:t>4</a:t>
            </a:r>
          </a:p>
        </p:txBody>
      </p:sp>
      <p:sp>
        <p:nvSpPr>
          <p:cNvPr id="33" name="Oval 32"/>
          <p:cNvSpPr/>
          <p:nvPr/>
        </p:nvSpPr>
        <p:spPr>
          <a:xfrm>
            <a:off x="1435608" y="4553712"/>
            <a:ext cx="438912" cy="438912"/>
          </a:xfrm>
          <a:prstGeom prst="ellipse">
            <a:avLst/>
          </a:prstGeom>
          <a:solidFill>
            <a:srgbClr val="EFEDFF"/>
          </a:solidFill>
          <a:ln>
            <a:noFill/>
          </a:ln>
          <a:effectLst/>
        </p:spPr>
        <p:txBody>
          <a:bodyPr rtlCol="0" anchor="ctr"/>
          <a:lstStyle/>
          <a:p>
            <a:pPr algn="ctr"/>
          </a:p>
        </p:txBody>
      </p:sp>
      <p:pic>
        <p:nvPicPr>
          <p:cNvPr id="34" name="Picture 33" descr="target_4A35FF_256_2.0.png"/>
          <p:cNvPicPr>
            <a:picLocks noChangeAspect="1"/>
          </p:cNvPicPr>
          <p:nvPr/>
        </p:nvPicPr>
        <p:blipFill>
          <a:blip r:embed="rId5"/>
          <a:stretch>
            <a:fillRect/>
          </a:stretch>
        </p:blipFill>
        <p:spPr>
          <a:xfrm>
            <a:off x="1540946" y="4659050"/>
            <a:ext cx="228234" cy="228234"/>
          </a:xfrm>
          <a:prstGeom prst="rect">
            <a:avLst/>
          </a:prstGeom>
        </p:spPr>
      </p:pic>
      <p:sp>
        <p:nvSpPr>
          <p:cNvPr id="35" name="TextBox 34"/>
          <p:cNvSpPr txBox="1"/>
          <p:nvPr/>
        </p:nvSpPr>
        <p:spPr>
          <a:xfrm>
            <a:off x="2103120" y="4489704"/>
            <a:ext cx="4023360" cy="365760"/>
          </a:xfrm>
          <a:prstGeom prst="rect">
            <a:avLst/>
          </a:prstGeom>
          <a:noFill/>
        </p:spPr>
        <p:txBody>
          <a:bodyPr wrap="square" lIns="0" rIns="0" tIns="0" bIns="0" anchor="t">
            <a:spAutoFit/>
          </a:bodyPr>
          <a:lstStyle/>
          <a:p>
            <a:pPr algn="l">
              <a:lnSpc>
                <a:spcPct val="100000"/>
              </a:lnSpc>
            </a:pPr>
            <a:r>
              <a:rPr sz="1300" b="1" i="0">
                <a:solidFill>
                  <a:srgbClr val="16181D"/>
                </a:solidFill>
                <a:latin typeface="Montserrat"/>
              </a:rPr>
              <a:t>Gig &amp; two-wheeler safety in depth</a:t>
            </a:r>
          </a:p>
        </p:txBody>
      </p:sp>
      <p:sp>
        <p:nvSpPr>
          <p:cNvPr id="36" name="TextBox 35"/>
          <p:cNvSpPr txBox="1"/>
          <p:nvPr/>
        </p:nvSpPr>
        <p:spPr>
          <a:xfrm>
            <a:off x="2103120" y="4791456"/>
            <a:ext cx="7498079" cy="320040"/>
          </a:xfrm>
          <a:prstGeom prst="rect">
            <a:avLst/>
          </a:prstGeom>
          <a:noFill/>
        </p:spPr>
        <p:txBody>
          <a:bodyPr wrap="square" lIns="0" rIns="0" tIns="0" bIns="0" anchor="t">
            <a:spAutoFit/>
          </a:bodyPr>
          <a:lstStyle/>
          <a:p>
            <a:pPr algn="l">
              <a:lnSpc>
                <a:spcPct val="115000"/>
              </a:lnSpc>
            </a:pPr>
            <a:r>
              <a:rPr sz="1000" b="0" i="0">
                <a:solidFill>
                  <a:srgbClr val="6E7180"/>
                </a:solidFill>
                <a:latin typeface="Geist"/>
              </a:rPr>
              <a:t>The deep dive matched to this Working Group's mandate, evidence, method, results.</a:t>
            </a:r>
          </a:p>
        </p:txBody>
      </p:sp>
      <p:sp>
        <p:nvSpPr>
          <p:cNvPr id="37" name="TextBox 36"/>
          <p:cNvSpPr txBox="1"/>
          <p:nvPr/>
        </p:nvSpPr>
        <p:spPr>
          <a:xfrm>
            <a:off x="10024567" y="4590288"/>
            <a:ext cx="1371600" cy="365760"/>
          </a:xfrm>
          <a:prstGeom prst="rect">
            <a:avLst/>
          </a:prstGeom>
          <a:noFill/>
        </p:spPr>
        <p:txBody>
          <a:bodyPr wrap="square" lIns="0" rIns="0" tIns="0" bIns="0" anchor="t">
            <a:spAutoFit/>
          </a:bodyPr>
          <a:lstStyle/>
          <a:p>
            <a:pPr algn="r">
              <a:lnSpc>
                <a:spcPct val="128000"/>
              </a:lnSpc>
            </a:pPr>
            <a:r>
              <a:rPr sz="1200" b="1" i="0">
                <a:solidFill>
                  <a:srgbClr val="4A35FF"/>
                </a:solidFill>
                <a:latin typeface="Montserrat"/>
              </a:rPr>
              <a:t>17 – 24</a:t>
            </a:r>
          </a:p>
        </p:txBody>
      </p:sp>
      <p:sp>
        <p:nvSpPr>
          <p:cNvPr id="38" name="Rounded Rectangle 37"/>
          <p:cNvSpPr/>
          <p:nvPr/>
        </p:nvSpPr>
        <p:spPr>
          <a:xfrm>
            <a:off x="566928" y="5303520"/>
            <a:ext cx="11057839" cy="804672"/>
          </a:xfrm>
          <a:prstGeom prst="roundRect">
            <a:avLst>
              <a:gd name="adj" fmla="val 10000"/>
            </a:avLst>
          </a:prstGeom>
          <a:solidFill>
            <a:srgbClr val="F7F7FA"/>
          </a:solidFill>
          <a:ln>
            <a:noFill/>
          </a:ln>
          <a:effectLst/>
        </p:spPr>
        <p:txBody>
          <a:bodyPr rtlCol="0" anchor="ctr"/>
          <a:lstStyle/>
          <a:p>
            <a:pPr algn="ctr"/>
          </a:p>
        </p:txBody>
      </p:sp>
      <p:sp>
        <p:nvSpPr>
          <p:cNvPr id="39" name="Oval 38"/>
          <p:cNvSpPr/>
          <p:nvPr/>
        </p:nvSpPr>
        <p:spPr>
          <a:xfrm>
            <a:off x="768096" y="5486400"/>
            <a:ext cx="438912" cy="438912"/>
          </a:xfrm>
          <a:prstGeom prst="ellipse">
            <a:avLst/>
          </a:prstGeom>
          <a:solidFill>
            <a:srgbClr val="EFEDFF"/>
          </a:solidFill>
          <a:ln>
            <a:noFill/>
          </a:ln>
          <a:effectLst/>
        </p:spPr>
        <p:txBody>
          <a:bodyPr rtlCol="0" anchor="ctr"/>
          <a:lstStyle/>
          <a:p>
            <a:pPr algn="ctr"/>
          </a:p>
        </p:txBody>
      </p:sp>
      <p:sp>
        <p:nvSpPr>
          <p:cNvPr id="40" name="TextBox 39"/>
          <p:cNvSpPr txBox="1"/>
          <p:nvPr/>
        </p:nvSpPr>
        <p:spPr>
          <a:xfrm>
            <a:off x="768096" y="5475428"/>
            <a:ext cx="438912" cy="438912"/>
          </a:xfrm>
          <a:prstGeom prst="rect">
            <a:avLst/>
          </a:prstGeom>
          <a:noFill/>
        </p:spPr>
        <p:txBody>
          <a:bodyPr wrap="square" lIns="0" rIns="0" tIns="0" bIns="0" anchor="ctr">
            <a:spAutoFit/>
          </a:bodyPr>
          <a:lstStyle/>
          <a:p>
            <a:pPr algn="ctr">
              <a:lnSpc>
                <a:spcPct val="100000"/>
              </a:lnSpc>
            </a:pPr>
            <a:r>
              <a:rPr sz="1300" b="1" i="0">
                <a:solidFill>
                  <a:srgbClr val="4A35FF"/>
                </a:solidFill>
                <a:latin typeface="Montserrat"/>
              </a:rPr>
              <a:t>5</a:t>
            </a:r>
          </a:p>
        </p:txBody>
      </p:sp>
      <p:sp>
        <p:nvSpPr>
          <p:cNvPr id="41" name="Oval 40"/>
          <p:cNvSpPr/>
          <p:nvPr/>
        </p:nvSpPr>
        <p:spPr>
          <a:xfrm>
            <a:off x="1435608" y="5486400"/>
            <a:ext cx="438912" cy="438912"/>
          </a:xfrm>
          <a:prstGeom prst="ellipse">
            <a:avLst/>
          </a:prstGeom>
          <a:solidFill>
            <a:srgbClr val="EFEDFF"/>
          </a:solidFill>
          <a:ln>
            <a:noFill/>
          </a:ln>
          <a:effectLst/>
        </p:spPr>
        <p:txBody>
          <a:bodyPr rtlCol="0" anchor="ctr"/>
          <a:lstStyle/>
          <a:p>
            <a:pPr algn="ctr"/>
          </a:p>
        </p:txBody>
      </p:sp>
      <p:pic>
        <p:nvPicPr>
          <p:cNvPr id="42" name="Picture 41" descr="handshake_4A35FF_256_2.0.png"/>
          <p:cNvPicPr>
            <a:picLocks noChangeAspect="1"/>
          </p:cNvPicPr>
          <p:nvPr/>
        </p:nvPicPr>
        <p:blipFill>
          <a:blip r:embed="rId6"/>
          <a:stretch>
            <a:fillRect/>
          </a:stretch>
        </p:blipFill>
        <p:spPr>
          <a:xfrm>
            <a:off x="1540946" y="5591738"/>
            <a:ext cx="228234" cy="228234"/>
          </a:xfrm>
          <a:prstGeom prst="rect">
            <a:avLst/>
          </a:prstGeom>
        </p:spPr>
      </p:pic>
      <p:sp>
        <p:nvSpPr>
          <p:cNvPr id="43" name="TextBox 42"/>
          <p:cNvSpPr txBox="1"/>
          <p:nvPr/>
        </p:nvSpPr>
        <p:spPr>
          <a:xfrm>
            <a:off x="2103120" y="5422392"/>
            <a:ext cx="4023360" cy="365760"/>
          </a:xfrm>
          <a:prstGeom prst="rect">
            <a:avLst/>
          </a:prstGeom>
          <a:noFill/>
        </p:spPr>
        <p:txBody>
          <a:bodyPr wrap="square" lIns="0" rIns="0" tIns="0" bIns="0" anchor="t">
            <a:spAutoFit/>
          </a:bodyPr>
          <a:lstStyle/>
          <a:p>
            <a:pPr algn="l">
              <a:lnSpc>
                <a:spcPct val="100000"/>
              </a:lnSpc>
            </a:pPr>
            <a:r>
              <a:rPr sz="1300" b="1" i="0">
                <a:solidFill>
                  <a:srgbClr val="16181D"/>
                </a:solidFill>
                <a:latin typeface="Montserrat"/>
              </a:rPr>
              <a:t>How we can contribute</a:t>
            </a:r>
          </a:p>
        </p:txBody>
      </p:sp>
      <p:sp>
        <p:nvSpPr>
          <p:cNvPr id="44" name="TextBox 43"/>
          <p:cNvSpPr txBox="1"/>
          <p:nvPr/>
        </p:nvSpPr>
        <p:spPr>
          <a:xfrm>
            <a:off x="2103120" y="5724144"/>
            <a:ext cx="7498079" cy="320040"/>
          </a:xfrm>
          <a:prstGeom prst="rect">
            <a:avLst/>
          </a:prstGeom>
          <a:noFill/>
        </p:spPr>
        <p:txBody>
          <a:bodyPr wrap="square" lIns="0" rIns="0" tIns="0" bIns="0" anchor="t">
            <a:spAutoFit/>
          </a:bodyPr>
          <a:lstStyle/>
          <a:p>
            <a:pPr algn="l">
              <a:lnSpc>
                <a:spcPct val="115000"/>
              </a:lnSpc>
            </a:pPr>
            <a:r>
              <a:rPr sz="1000" b="0" i="0">
                <a:solidFill>
                  <a:srgbClr val="6E7180"/>
                </a:solidFill>
                <a:latin typeface="Geist"/>
              </a:rPr>
              <a:t>Four concrete, no-cost offers to the Working Group.</a:t>
            </a:r>
          </a:p>
        </p:txBody>
      </p:sp>
      <p:sp>
        <p:nvSpPr>
          <p:cNvPr id="45" name="TextBox 44"/>
          <p:cNvSpPr txBox="1"/>
          <p:nvPr/>
        </p:nvSpPr>
        <p:spPr>
          <a:xfrm>
            <a:off x="10024567" y="5522976"/>
            <a:ext cx="1371600" cy="365760"/>
          </a:xfrm>
          <a:prstGeom prst="rect">
            <a:avLst/>
          </a:prstGeom>
          <a:noFill/>
        </p:spPr>
        <p:txBody>
          <a:bodyPr wrap="square" lIns="0" rIns="0" tIns="0" bIns="0" anchor="t">
            <a:spAutoFit/>
          </a:bodyPr>
          <a:lstStyle/>
          <a:p>
            <a:pPr algn="r">
              <a:lnSpc>
                <a:spcPct val="128000"/>
              </a:lnSpc>
            </a:pPr>
            <a:r>
              <a:rPr sz="1200" b="1" i="0">
                <a:solidFill>
                  <a:srgbClr val="4A35FF"/>
                </a:solidFill>
                <a:latin typeface="Montserrat"/>
              </a:rPr>
              <a:t>25 – 26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1 OF 5  ·  ABOUT US</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01 · ABOUT US</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Crashfree India: a nonprofit that adds </a:t>
            </a:r>
            <a:r>
              <a:rPr sz="2250" b="1" i="0">
                <a:solidFill>
                  <a:srgbClr val="4A35FF"/>
                </a:solidFill>
                <a:latin typeface="Montserrat"/>
              </a:rPr>
              <a:t>capacity</a:t>
            </a:r>
            <a:r>
              <a:rPr sz="2250" b="1" i="0">
                <a:solidFill>
                  <a:srgbClr val="16181D"/>
                </a:solidFill>
                <a:latin typeface="Montserrat"/>
              </a:rPr>
              <a:t> to road safety work</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Registered as the Vision Zero Trust · Co-founded by Cars24 and the Indian Road Safety Council · Working since June 2025 · New Delhi</a:t>
            </a:r>
          </a:p>
        </p:txBody>
      </p:sp>
      <p:sp>
        <p:nvSpPr>
          <p:cNvPr id="8" name="Oval 7"/>
          <p:cNvSpPr/>
          <p:nvPr/>
        </p:nvSpPr>
        <p:spPr>
          <a:xfrm>
            <a:off x="566928" y="2011680"/>
            <a:ext cx="365760" cy="365760"/>
          </a:xfrm>
          <a:prstGeom prst="ellipse">
            <a:avLst/>
          </a:prstGeom>
          <a:solidFill>
            <a:srgbClr val="E9F7F0"/>
          </a:solidFill>
          <a:ln>
            <a:noFill/>
          </a:ln>
          <a:effectLst/>
        </p:spPr>
        <p:txBody>
          <a:bodyPr rtlCol="0" anchor="ctr"/>
          <a:lstStyle/>
          <a:p>
            <a:pPr algn="ctr"/>
          </a:p>
        </p:txBody>
      </p:sp>
      <p:pic>
        <p:nvPicPr>
          <p:cNvPr id="9" name="Picture 8" descr="search-check_0A9955_256_2.0.png"/>
          <p:cNvPicPr>
            <a:picLocks noChangeAspect="1"/>
          </p:cNvPicPr>
          <p:nvPr/>
        </p:nvPicPr>
        <p:blipFill>
          <a:blip r:embed="rId2"/>
          <a:stretch>
            <a:fillRect/>
          </a:stretch>
        </p:blipFill>
        <p:spPr>
          <a:xfrm>
            <a:off x="654710" y="2099462"/>
            <a:ext cx="190195" cy="190195"/>
          </a:xfrm>
          <a:prstGeom prst="rect">
            <a:avLst/>
          </a:prstGeom>
        </p:spPr>
      </p:pic>
      <p:sp>
        <p:nvSpPr>
          <p:cNvPr id="10" name="TextBox 9"/>
          <p:cNvSpPr txBox="1"/>
          <p:nvPr/>
        </p:nvSpPr>
        <p:spPr>
          <a:xfrm>
            <a:off x="1097280" y="1993392"/>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Evidence first</a:t>
            </a:r>
          </a:p>
        </p:txBody>
      </p:sp>
      <p:sp>
        <p:nvSpPr>
          <p:cNvPr id="11" name="TextBox 10"/>
          <p:cNvSpPr txBox="1"/>
          <p:nvPr/>
        </p:nvSpPr>
        <p:spPr>
          <a:xfrm>
            <a:off x="3566160" y="1993392"/>
            <a:ext cx="388620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Structured field audits, file reviews and research to official standards, not opinion.</a:t>
            </a:r>
          </a:p>
        </p:txBody>
      </p:sp>
      <p:sp>
        <p:nvSpPr>
          <p:cNvPr id="12" name="Oval 11"/>
          <p:cNvSpPr/>
          <p:nvPr/>
        </p:nvSpPr>
        <p:spPr>
          <a:xfrm>
            <a:off x="566928" y="2761488"/>
            <a:ext cx="365760" cy="365760"/>
          </a:xfrm>
          <a:prstGeom prst="ellipse">
            <a:avLst/>
          </a:prstGeom>
          <a:solidFill>
            <a:srgbClr val="EFEDFF"/>
          </a:solidFill>
          <a:ln>
            <a:noFill/>
          </a:ln>
          <a:effectLst/>
        </p:spPr>
        <p:txBody>
          <a:bodyPr rtlCol="0" anchor="ctr"/>
          <a:lstStyle/>
          <a:p>
            <a:pPr algn="ctr"/>
          </a:p>
        </p:txBody>
      </p:sp>
      <p:pic>
        <p:nvPicPr>
          <p:cNvPr id="13" name="Picture 12" descr="landmark_4A35FF_256_2.0.png"/>
          <p:cNvPicPr>
            <a:picLocks noChangeAspect="1"/>
          </p:cNvPicPr>
          <p:nvPr/>
        </p:nvPicPr>
        <p:blipFill>
          <a:blip r:embed="rId3"/>
          <a:stretch>
            <a:fillRect/>
          </a:stretch>
        </p:blipFill>
        <p:spPr>
          <a:xfrm>
            <a:off x="654710" y="2849270"/>
            <a:ext cx="190195" cy="190195"/>
          </a:xfrm>
          <a:prstGeom prst="rect">
            <a:avLst/>
          </a:prstGeom>
        </p:spPr>
      </p:pic>
      <p:sp>
        <p:nvSpPr>
          <p:cNvPr id="14" name="TextBox 13"/>
          <p:cNvSpPr txBox="1"/>
          <p:nvPr/>
        </p:nvSpPr>
        <p:spPr>
          <a:xfrm>
            <a:off x="1097280" y="2743200"/>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Institutional collaboration</a:t>
            </a:r>
          </a:p>
        </p:txBody>
      </p:sp>
      <p:sp>
        <p:nvSpPr>
          <p:cNvPr id="15" name="TextBox 14"/>
          <p:cNvSpPr txBox="1"/>
          <p:nvPr/>
        </p:nvSpPr>
        <p:spPr>
          <a:xfrm>
            <a:off x="3566160" y="2743200"/>
            <a:ext cx="388620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We work through PWDs, NHAI, transport departments, police and District Road Safety Committees.</a:t>
            </a:r>
          </a:p>
        </p:txBody>
      </p:sp>
      <p:sp>
        <p:nvSpPr>
          <p:cNvPr id="16" name="Oval 15"/>
          <p:cNvSpPr/>
          <p:nvPr/>
        </p:nvSpPr>
        <p:spPr>
          <a:xfrm>
            <a:off x="566928" y="3511296"/>
            <a:ext cx="365760" cy="365760"/>
          </a:xfrm>
          <a:prstGeom prst="ellipse">
            <a:avLst/>
          </a:prstGeom>
          <a:solidFill>
            <a:srgbClr val="FDF3E3"/>
          </a:solidFill>
          <a:ln>
            <a:noFill/>
          </a:ln>
          <a:effectLst/>
        </p:spPr>
        <p:txBody>
          <a:bodyPr rtlCol="0" anchor="ctr"/>
          <a:lstStyle/>
          <a:p>
            <a:pPr algn="ctr"/>
          </a:p>
        </p:txBody>
      </p:sp>
      <p:pic>
        <p:nvPicPr>
          <p:cNvPr id="17" name="Picture 16" descr="users_E58900_256_2.0.png"/>
          <p:cNvPicPr>
            <a:picLocks noChangeAspect="1"/>
          </p:cNvPicPr>
          <p:nvPr/>
        </p:nvPicPr>
        <p:blipFill>
          <a:blip r:embed="rId4"/>
          <a:stretch>
            <a:fillRect/>
          </a:stretch>
        </p:blipFill>
        <p:spPr>
          <a:xfrm>
            <a:off x="654710" y="3599078"/>
            <a:ext cx="190195" cy="190195"/>
          </a:xfrm>
          <a:prstGeom prst="rect">
            <a:avLst/>
          </a:prstGeom>
        </p:spPr>
      </p:pic>
      <p:sp>
        <p:nvSpPr>
          <p:cNvPr id="18" name="TextBox 17"/>
          <p:cNvSpPr txBox="1"/>
          <p:nvPr/>
        </p:nvSpPr>
        <p:spPr>
          <a:xfrm>
            <a:off x="1097280" y="3493008"/>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Youth-led capacity</a:t>
            </a:r>
          </a:p>
        </p:txBody>
      </p:sp>
      <p:sp>
        <p:nvSpPr>
          <p:cNvPr id="19" name="TextBox 18"/>
          <p:cNvSpPr txBox="1"/>
          <p:nvPr/>
        </p:nvSpPr>
        <p:spPr>
          <a:xfrm>
            <a:off x="3566160" y="3493008"/>
            <a:ext cx="388620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Trained student teams from IITs, NITs and SPAs add the auditing hands the system needs.</a:t>
            </a:r>
          </a:p>
        </p:txBody>
      </p:sp>
      <p:sp>
        <p:nvSpPr>
          <p:cNvPr id="20" name="Oval 19"/>
          <p:cNvSpPr/>
          <p:nvPr/>
        </p:nvSpPr>
        <p:spPr>
          <a:xfrm>
            <a:off x="566928" y="4261104"/>
            <a:ext cx="365760" cy="365760"/>
          </a:xfrm>
          <a:prstGeom prst="ellipse">
            <a:avLst/>
          </a:prstGeom>
          <a:solidFill>
            <a:srgbClr val="E7F4F4"/>
          </a:solidFill>
          <a:ln>
            <a:noFill/>
          </a:ln>
          <a:effectLst/>
        </p:spPr>
        <p:txBody>
          <a:bodyPr rtlCol="0" anchor="ctr"/>
          <a:lstStyle/>
          <a:p>
            <a:pPr algn="ctr"/>
          </a:p>
        </p:txBody>
      </p:sp>
      <p:pic>
        <p:nvPicPr>
          <p:cNvPr id="21" name="Picture 20" descr="monitor-check_0E8A8A_256_2.0.png"/>
          <p:cNvPicPr>
            <a:picLocks noChangeAspect="1"/>
          </p:cNvPicPr>
          <p:nvPr/>
        </p:nvPicPr>
        <p:blipFill>
          <a:blip r:embed="rId5"/>
          <a:stretch>
            <a:fillRect/>
          </a:stretch>
        </p:blipFill>
        <p:spPr>
          <a:xfrm>
            <a:off x="654710" y="4348886"/>
            <a:ext cx="190195" cy="190195"/>
          </a:xfrm>
          <a:prstGeom prst="rect">
            <a:avLst/>
          </a:prstGeom>
        </p:spPr>
      </p:pic>
      <p:sp>
        <p:nvSpPr>
          <p:cNvPr id="22" name="TextBox 21"/>
          <p:cNvSpPr txBox="1"/>
          <p:nvPr/>
        </p:nvSpPr>
        <p:spPr>
          <a:xfrm>
            <a:off x="1097280" y="4242816"/>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Technology for follow-through</a:t>
            </a:r>
          </a:p>
        </p:txBody>
      </p:sp>
      <p:sp>
        <p:nvSpPr>
          <p:cNvPr id="23" name="TextBox 22"/>
          <p:cNvSpPr txBox="1"/>
          <p:nvPr/>
        </p:nvSpPr>
        <p:spPr>
          <a:xfrm>
            <a:off x="3566160" y="4242816"/>
            <a:ext cx="388620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Public dashboards track every recommendation from submission to completion.</a:t>
            </a:r>
          </a:p>
        </p:txBody>
      </p:sp>
      <p:sp>
        <p:nvSpPr>
          <p:cNvPr id="24" name="Rounded Rectangle 23"/>
          <p:cNvSpPr/>
          <p:nvPr/>
        </p:nvSpPr>
        <p:spPr>
          <a:xfrm>
            <a:off x="566928" y="5166360"/>
            <a:ext cx="6903720" cy="841248"/>
          </a:xfrm>
          <a:prstGeom prst="roundRect">
            <a:avLst>
              <a:gd name="adj" fmla="val 16000"/>
            </a:avLst>
          </a:prstGeom>
          <a:solidFill>
            <a:srgbClr val="EFEDFF"/>
          </a:solidFill>
          <a:ln>
            <a:noFill/>
          </a:ln>
          <a:effectLst/>
        </p:spPr>
        <p:txBody>
          <a:bodyPr rtlCol="0" anchor="ctr"/>
          <a:lstStyle/>
          <a:p>
            <a:pPr algn="ctr"/>
          </a:p>
        </p:txBody>
      </p:sp>
      <p:sp>
        <p:nvSpPr>
          <p:cNvPr id="25" name="TextBox 24"/>
          <p:cNvSpPr txBox="1"/>
          <p:nvPr/>
        </p:nvSpPr>
        <p:spPr>
          <a:xfrm>
            <a:off x="795528" y="5230368"/>
            <a:ext cx="6492240" cy="731520"/>
          </a:xfrm>
          <a:prstGeom prst="rect">
            <a:avLst/>
          </a:prstGeom>
          <a:noFill/>
        </p:spPr>
        <p:txBody>
          <a:bodyPr wrap="square" lIns="0" rIns="0" tIns="0" bIns="0" anchor="t">
            <a:spAutoFit/>
          </a:bodyPr>
          <a:lstStyle/>
          <a:p>
            <a:pPr algn="l">
              <a:lnSpc>
                <a:spcPct val="130000"/>
              </a:lnSpc>
            </a:pPr>
            <a:r>
              <a:rPr sz="1150" b="1" i="0">
                <a:solidFill>
                  <a:srgbClr val="4A35FF"/>
                </a:solidFill>
                <a:latin typeface="Geist"/>
              </a:rPr>
              <a:t>The Group's mandate is our daily work: </a:t>
            </a:r>
            <a:r>
              <a:rPr sz="1150" b="0" i="0">
                <a:solidFill>
                  <a:srgbClr val="4A35FF"/>
                </a:solidFill>
                <a:latin typeface="Geist"/>
              </a:rPr>
              <a:t>rider-risk research, vehicle-standards engagement with the people who wrote them, and compliance technology proven with police.</a:t>
            </a:r>
          </a:p>
        </p:txBody>
      </p:sp>
      <p:pic>
        <p:nvPicPr>
          <p:cNvPr id="26" name="Picture 25" descr="cfi_map_dots.png"/>
          <p:cNvPicPr>
            <a:picLocks noChangeAspect="1"/>
          </p:cNvPicPr>
          <p:nvPr/>
        </p:nvPicPr>
        <p:blipFill>
          <a:blip r:embed="rId6"/>
          <a:stretch>
            <a:fillRect/>
          </a:stretch>
        </p:blipFill>
        <p:spPr>
          <a:xfrm>
            <a:off x="8092440" y="1965960"/>
            <a:ext cx="3291840" cy="3911357"/>
          </a:xfrm>
          <a:prstGeom prst="rect">
            <a:avLst/>
          </a:prstGeom>
        </p:spPr>
      </p:pic>
      <p:sp>
        <p:nvSpPr>
          <p:cNvPr id="27" name="Rectangle 26"/>
          <p:cNvSpPr/>
          <p:nvPr/>
        </p:nvSpPr>
        <p:spPr>
          <a:xfrm>
            <a:off x="8092440" y="1965960"/>
            <a:ext cx="3291840" cy="3911357"/>
          </a:xfrm>
          <a:prstGeom prst="rect">
            <a:avLst/>
          </a:prstGeom>
          <a:noFill/>
          <a:ln w="12700">
            <a:solidFill>
              <a:srgbClr val="E8E9EE"/>
            </a:solidFill>
          </a:ln>
          <a:effectLst/>
        </p:spPr>
        <p:txBody>
          <a:bodyPr rtlCol="0" anchor="ctr"/>
          <a:lstStyle/>
          <a:p>
            <a:pPr algn="ctr"/>
          </a:p>
        </p:txBody>
      </p:sp>
      <p:sp>
        <p:nvSpPr>
          <p:cNvPr id="28" name="TextBox 27"/>
          <p:cNvSpPr txBox="1"/>
          <p:nvPr/>
        </p:nvSpPr>
        <p:spPr>
          <a:xfrm>
            <a:off x="8092440" y="5923037"/>
            <a:ext cx="329184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Where we work today, 18 cities, north to south.</a:t>
            </a:r>
          </a:p>
        </p:txBody>
      </p:sp>
      <p:cxnSp>
        <p:nvCxnSpPr>
          <p:cNvPr id="29" name="Connector 28"/>
          <p:cNvCxnSpPr/>
          <p:nvPr/>
        </p:nvCxnSpPr>
        <p:spPr>
          <a:xfrm>
            <a:off x="566928" y="6455664"/>
            <a:ext cx="11057839" cy="0"/>
          </a:xfrm>
          <a:prstGeom prst="line">
            <a:avLst/>
          </a:prstGeom>
          <a:ln w="9525">
            <a:solidFill>
              <a:srgbClr val="E8E9EE"/>
            </a:solidFill>
          </a:ln>
          <a:effectLst/>
        </p:spPr>
      </p:cxnSp>
      <p:sp>
        <p:nvSpPr>
          <p:cNvPr id="30" name="TextBox 29"/>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3</a:t>
            </a:r>
          </a:p>
        </p:txBody>
      </p:sp>
      <p:sp>
        <p:nvSpPr>
          <p:cNvPr id="31" name="TextBox 30"/>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04 / 26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1 OF 5  ·  ABOUT US</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01 · ABOUT US, OUR APPROACH</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Our approach: work </a:t>
            </a:r>
            <a:r>
              <a:rPr sz="2250" b="1" i="0">
                <a:solidFill>
                  <a:srgbClr val="4A35FF"/>
                </a:solidFill>
                <a:latin typeface="Montserrat"/>
              </a:rPr>
              <a:t>with the system</a:t>
            </a:r>
            <a:r>
              <a:rPr sz="2250" b="1" i="0">
                <a:solidFill>
                  <a:srgbClr val="16181D"/>
                </a:solidFill>
                <a:latin typeface="Montserrat"/>
              </a:rPr>
              <a:t>, and prove it with data</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Four steps, applied to every problem we take up, from a dangerous junction to a stalled compensation claim.</a:t>
            </a:r>
          </a:p>
        </p:txBody>
      </p:sp>
      <p:sp>
        <p:nvSpPr>
          <p:cNvPr id="8" name="Rounded Rectangle 7"/>
          <p:cNvSpPr/>
          <p:nvPr/>
        </p:nvSpPr>
        <p:spPr>
          <a:xfrm>
            <a:off x="566928" y="2057400"/>
            <a:ext cx="2670048" cy="2880360"/>
          </a:xfrm>
          <a:prstGeom prst="roundRect">
            <a:avLst>
              <a:gd name="adj" fmla="val 8000"/>
            </a:avLst>
          </a:prstGeom>
          <a:solidFill>
            <a:srgbClr val="FFFFFF"/>
          </a:solidFill>
          <a:ln w="9525">
            <a:solidFill>
              <a:srgbClr val="E8E9EE"/>
            </a:solidFill>
          </a:ln>
          <a:effectLst/>
        </p:spPr>
        <p:txBody>
          <a:bodyPr rtlCol="0" anchor="ctr"/>
          <a:lstStyle/>
          <a:p>
            <a:pPr algn="ctr"/>
          </a:p>
        </p:txBody>
      </p:sp>
      <p:sp>
        <p:nvSpPr>
          <p:cNvPr id="9" name="Oval 8"/>
          <p:cNvSpPr/>
          <p:nvPr/>
        </p:nvSpPr>
        <p:spPr>
          <a:xfrm>
            <a:off x="749808" y="2258568"/>
            <a:ext cx="475488" cy="475488"/>
          </a:xfrm>
          <a:prstGeom prst="ellipse">
            <a:avLst/>
          </a:prstGeom>
          <a:solidFill>
            <a:srgbClr val="E9F7F0"/>
          </a:solidFill>
          <a:ln>
            <a:noFill/>
          </a:ln>
          <a:effectLst/>
        </p:spPr>
        <p:txBody>
          <a:bodyPr rtlCol="0" anchor="ctr"/>
          <a:lstStyle/>
          <a:p>
            <a:pPr algn="ctr"/>
          </a:p>
        </p:txBody>
      </p:sp>
      <p:pic>
        <p:nvPicPr>
          <p:cNvPr id="10" name="Picture 9" descr="search-check_0A9955_256_2.0.png"/>
          <p:cNvPicPr>
            <a:picLocks noChangeAspect="1"/>
          </p:cNvPicPr>
          <p:nvPr/>
        </p:nvPicPr>
        <p:blipFill>
          <a:blip r:embed="rId2"/>
          <a:stretch>
            <a:fillRect/>
          </a:stretch>
        </p:blipFill>
        <p:spPr>
          <a:xfrm>
            <a:off x="863925" y="2372685"/>
            <a:ext cx="247253" cy="247253"/>
          </a:xfrm>
          <a:prstGeom prst="rect">
            <a:avLst/>
          </a:prstGeom>
        </p:spPr>
      </p:pic>
      <p:sp>
        <p:nvSpPr>
          <p:cNvPr id="11" name="TextBox 10"/>
          <p:cNvSpPr txBox="1"/>
          <p:nvPr/>
        </p:nvSpPr>
        <p:spPr>
          <a:xfrm>
            <a:off x="749808" y="2898648"/>
            <a:ext cx="2304288" cy="320040"/>
          </a:xfrm>
          <a:prstGeom prst="rect">
            <a:avLst/>
          </a:prstGeom>
          <a:noFill/>
        </p:spPr>
        <p:txBody>
          <a:bodyPr wrap="square" lIns="0" rIns="0" tIns="0" bIns="0" anchor="t">
            <a:spAutoFit/>
          </a:bodyPr>
          <a:lstStyle/>
          <a:p>
            <a:pPr algn="l">
              <a:lnSpc>
                <a:spcPct val="128000"/>
              </a:lnSpc>
            </a:pPr>
            <a:r>
              <a:rPr sz="1250" b="1" i="0">
                <a:solidFill>
                  <a:srgbClr val="16181D"/>
                </a:solidFill>
                <a:latin typeface="Montserrat"/>
              </a:rPr>
              <a:t>1 · Evidence</a:t>
            </a:r>
          </a:p>
        </p:txBody>
      </p:sp>
      <p:sp>
        <p:nvSpPr>
          <p:cNvPr id="12" name="TextBox 11"/>
          <p:cNvSpPr txBox="1"/>
          <p:nvPr/>
        </p:nvSpPr>
        <p:spPr>
          <a:xfrm>
            <a:off x="749808" y="3264408"/>
            <a:ext cx="2304288" cy="914400"/>
          </a:xfrm>
          <a:prstGeom prst="rect">
            <a:avLst/>
          </a:prstGeom>
          <a:noFill/>
        </p:spPr>
        <p:txBody>
          <a:bodyPr wrap="square" lIns="0" rIns="0" tIns="0" bIns="0" anchor="t">
            <a:spAutoFit/>
          </a:bodyPr>
          <a:lstStyle/>
          <a:p>
            <a:pPr algn="l">
              <a:lnSpc>
                <a:spcPct val="128000"/>
              </a:lnSpc>
            </a:pPr>
            <a:r>
              <a:rPr sz="950" b="0" i="0">
                <a:solidFill>
                  <a:srgbClr val="6E7180"/>
                </a:solidFill>
                <a:latin typeface="Geist"/>
              </a:rPr>
              <a:t>Field audits, file reviews and research to official standards.</a:t>
            </a:r>
          </a:p>
        </p:txBody>
      </p:sp>
      <p:cxnSp>
        <p:nvCxnSpPr>
          <p:cNvPr id="13" name="Connector 12"/>
          <p:cNvCxnSpPr/>
          <p:nvPr/>
        </p:nvCxnSpPr>
        <p:spPr>
          <a:xfrm>
            <a:off x="749808" y="4270248"/>
            <a:ext cx="2304288" cy="0"/>
          </a:xfrm>
          <a:prstGeom prst="line">
            <a:avLst/>
          </a:prstGeom>
          <a:ln w="9525">
            <a:solidFill>
              <a:srgbClr val="E8E9EE"/>
            </a:solidFill>
          </a:ln>
          <a:effectLst/>
        </p:spPr>
      </p:cxnSp>
      <p:sp>
        <p:nvSpPr>
          <p:cNvPr id="14" name="TextBox 13"/>
          <p:cNvSpPr txBox="1"/>
          <p:nvPr/>
        </p:nvSpPr>
        <p:spPr>
          <a:xfrm>
            <a:off x="749808" y="4361688"/>
            <a:ext cx="2304288" cy="502920"/>
          </a:xfrm>
          <a:prstGeom prst="rect">
            <a:avLst/>
          </a:prstGeom>
          <a:noFill/>
        </p:spPr>
        <p:txBody>
          <a:bodyPr wrap="square" lIns="0" rIns="0" tIns="0" bIns="0" anchor="t">
            <a:spAutoFit/>
          </a:bodyPr>
          <a:lstStyle/>
          <a:p>
            <a:pPr algn="l">
              <a:lnSpc>
                <a:spcPct val="125000"/>
              </a:lnSpc>
            </a:pPr>
            <a:r>
              <a:rPr sz="850" b="1" i="0">
                <a:solidFill>
                  <a:srgbClr val="16181D"/>
                </a:solidFill>
                <a:latin typeface="Montserrat"/>
              </a:rPr>
              <a:t>31 sites audited · 50+ stakeholder consultations</a:t>
            </a:r>
          </a:p>
        </p:txBody>
      </p:sp>
      <p:sp>
        <p:nvSpPr>
          <p:cNvPr id="15" name="TextBox 14"/>
          <p:cNvSpPr txBox="1"/>
          <p:nvPr/>
        </p:nvSpPr>
        <p:spPr>
          <a:xfrm>
            <a:off x="749808" y="4361688"/>
            <a:ext cx="2304288" cy="502920"/>
          </a:xfrm>
          <a:prstGeom prst="rect">
            <a:avLst/>
          </a:prstGeom>
          <a:noFill/>
        </p:spPr>
        <p:txBody>
          <a:bodyPr wrap="square" lIns="0" rIns="0" tIns="0" bIns="0" anchor="t">
            <a:spAutoFit/>
          </a:bodyPr>
          <a:lstStyle/>
          <a:p>
            <a:pPr algn="l">
              <a:lnSpc>
                <a:spcPct val="125000"/>
              </a:lnSpc>
            </a:pPr>
            <a:r>
              <a:rPr sz="850" b="1" i="0">
                <a:solidFill>
                  <a:srgbClr val="0A9955"/>
                </a:solidFill>
                <a:latin typeface="Montserrat"/>
              </a:rPr>
              <a:t>31 sites audited · 50+ stakeholder consultations</a:t>
            </a:r>
          </a:p>
        </p:txBody>
      </p:sp>
      <p:sp>
        <p:nvSpPr>
          <p:cNvPr id="16" name="TextBox 15"/>
          <p:cNvSpPr txBox="1"/>
          <p:nvPr/>
        </p:nvSpPr>
        <p:spPr>
          <a:xfrm>
            <a:off x="3209544" y="3291840"/>
            <a:ext cx="201168" cy="365760"/>
          </a:xfrm>
          <a:prstGeom prst="rect">
            <a:avLst/>
          </a:prstGeom>
          <a:noFill/>
        </p:spPr>
        <p:txBody>
          <a:bodyPr wrap="square" lIns="0" rIns="0" tIns="0" bIns="0" anchor="t">
            <a:spAutoFit/>
          </a:bodyPr>
          <a:lstStyle/>
          <a:p>
            <a:pPr algn="l">
              <a:lnSpc>
                <a:spcPct val="128000"/>
              </a:lnSpc>
            </a:pPr>
            <a:r>
              <a:rPr sz="1500" b="0" i="0">
                <a:solidFill>
                  <a:srgbClr val="6E7180"/>
                </a:solidFill>
                <a:latin typeface="Geist"/>
              </a:rPr>
              <a:t>→</a:t>
            </a:r>
          </a:p>
        </p:txBody>
      </p:sp>
      <p:sp>
        <p:nvSpPr>
          <p:cNvPr id="17" name="Rounded Rectangle 16"/>
          <p:cNvSpPr/>
          <p:nvPr/>
        </p:nvSpPr>
        <p:spPr>
          <a:xfrm>
            <a:off x="3355848" y="2057400"/>
            <a:ext cx="2670048" cy="2880360"/>
          </a:xfrm>
          <a:prstGeom prst="roundRect">
            <a:avLst>
              <a:gd name="adj" fmla="val 8000"/>
            </a:avLst>
          </a:prstGeom>
          <a:solidFill>
            <a:srgbClr val="FFFFFF"/>
          </a:solidFill>
          <a:ln w="9525">
            <a:solidFill>
              <a:srgbClr val="E8E9EE"/>
            </a:solidFill>
          </a:ln>
          <a:effectLst/>
        </p:spPr>
        <p:txBody>
          <a:bodyPr rtlCol="0" anchor="ctr"/>
          <a:lstStyle/>
          <a:p>
            <a:pPr algn="ctr"/>
          </a:p>
        </p:txBody>
      </p:sp>
      <p:sp>
        <p:nvSpPr>
          <p:cNvPr id="18" name="Oval 17"/>
          <p:cNvSpPr/>
          <p:nvPr/>
        </p:nvSpPr>
        <p:spPr>
          <a:xfrm>
            <a:off x="3538728" y="2258568"/>
            <a:ext cx="475488" cy="475488"/>
          </a:xfrm>
          <a:prstGeom prst="ellipse">
            <a:avLst/>
          </a:prstGeom>
          <a:solidFill>
            <a:srgbClr val="EFEDFF"/>
          </a:solidFill>
          <a:ln>
            <a:noFill/>
          </a:ln>
          <a:effectLst/>
        </p:spPr>
        <p:txBody>
          <a:bodyPr rtlCol="0" anchor="ctr"/>
          <a:lstStyle/>
          <a:p>
            <a:pPr algn="ctr"/>
          </a:p>
        </p:txBody>
      </p:sp>
      <p:pic>
        <p:nvPicPr>
          <p:cNvPr id="19" name="Picture 18" descr="landmark_4A35FF_256_2.0.png"/>
          <p:cNvPicPr>
            <a:picLocks noChangeAspect="1"/>
          </p:cNvPicPr>
          <p:nvPr/>
        </p:nvPicPr>
        <p:blipFill>
          <a:blip r:embed="rId3"/>
          <a:stretch>
            <a:fillRect/>
          </a:stretch>
        </p:blipFill>
        <p:spPr>
          <a:xfrm>
            <a:off x="3652845" y="2372685"/>
            <a:ext cx="247253" cy="247253"/>
          </a:xfrm>
          <a:prstGeom prst="rect">
            <a:avLst/>
          </a:prstGeom>
        </p:spPr>
      </p:pic>
      <p:sp>
        <p:nvSpPr>
          <p:cNvPr id="20" name="TextBox 19"/>
          <p:cNvSpPr txBox="1"/>
          <p:nvPr/>
        </p:nvSpPr>
        <p:spPr>
          <a:xfrm>
            <a:off x="3538728" y="2898648"/>
            <a:ext cx="2304288" cy="320040"/>
          </a:xfrm>
          <a:prstGeom prst="rect">
            <a:avLst/>
          </a:prstGeom>
          <a:noFill/>
        </p:spPr>
        <p:txBody>
          <a:bodyPr wrap="square" lIns="0" rIns="0" tIns="0" bIns="0" anchor="t">
            <a:spAutoFit/>
          </a:bodyPr>
          <a:lstStyle/>
          <a:p>
            <a:pPr algn="l">
              <a:lnSpc>
                <a:spcPct val="128000"/>
              </a:lnSpc>
            </a:pPr>
            <a:r>
              <a:rPr sz="1250" b="1" i="0">
                <a:solidFill>
                  <a:srgbClr val="16181D"/>
                </a:solidFill>
                <a:latin typeface="Montserrat"/>
              </a:rPr>
              <a:t>2 · Institutional partnership</a:t>
            </a:r>
          </a:p>
        </p:txBody>
      </p:sp>
      <p:sp>
        <p:nvSpPr>
          <p:cNvPr id="21" name="TextBox 20"/>
          <p:cNvSpPr txBox="1"/>
          <p:nvPr/>
        </p:nvSpPr>
        <p:spPr>
          <a:xfrm>
            <a:off x="3538728" y="3264408"/>
            <a:ext cx="2304288" cy="914400"/>
          </a:xfrm>
          <a:prstGeom prst="rect">
            <a:avLst/>
          </a:prstGeom>
          <a:noFill/>
        </p:spPr>
        <p:txBody>
          <a:bodyPr wrap="square" lIns="0" rIns="0" tIns="0" bIns="0" anchor="t">
            <a:spAutoFit/>
          </a:bodyPr>
          <a:lstStyle/>
          <a:p>
            <a:pPr algn="l">
              <a:lnSpc>
                <a:spcPct val="128000"/>
              </a:lnSpc>
            </a:pPr>
            <a:r>
              <a:rPr sz="950" b="0" i="0">
                <a:solidFill>
                  <a:srgbClr val="6E7180"/>
                </a:solidFill>
                <a:latin typeface="Geist"/>
              </a:rPr>
              <a:t>Work through the authority that owns the problem, never around it.</a:t>
            </a:r>
          </a:p>
        </p:txBody>
      </p:sp>
      <p:cxnSp>
        <p:nvCxnSpPr>
          <p:cNvPr id="22" name="Connector 21"/>
          <p:cNvCxnSpPr/>
          <p:nvPr/>
        </p:nvCxnSpPr>
        <p:spPr>
          <a:xfrm>
            <a:off x="3538728" y="4270248"/>
            <a:ext cx="2304288" cy="0"/>
          </a:xfrm>
          <a:prstGeom prst="line">
            <a:avLst/>
          </a:prstGeom>
          <a:ln w="9525">
            <a:solidFill>
              <a:srgbClr val="E8E9EE"/>
            </a:solidFill>
          </a:ln>
          <a:effectLst/>
        </p:spPr>
      </p:cxnSp>
      <p:sp>
        <p:nvSpPr>
          <p:cNvPr id="23" name="TextBox 22"/>
          <p:cNvSpPr txBox="1"/>
          <p:nvPr/>
        </p:nvSpPr>
        <p:spPr>
          <a:xfrm>
            <a:off x="3538728" y="4361688"/>
            <a:ext cx="2304288" cy="502920"/>
          </a:xfrm>
          <a:prstGeom prst="rect">
            <a:avLst/>
          </a:prstGeom>
          <a:noFill/>
        </p:spPr>
        <p:txBody>
          <a:bodyPr wrap="square" lIns="0" rIns="0" tIns="0" bIns="0" anchor="t">
            <a:spAutoFit/>
          </a:bodyPr>
          <a:lstStyle/>
          <a:p>
            <a:pPr algn="l">
              <a:lnSpc>
                <a:spcPct val="125000"/>
              </a:lnSpc>
            </a:pPr>
            <a:r>
              <a:rPr sz="850" b="1" i="0">
                <a:solidFill>
                  <a:srgbClr val="16181D"/>
                </a:solidFill>
                <a:latin typeface="Montserrat"/>
              </a:rPr>
              <a:t>25+ written approvals · 4 DRSCs · MoUs with police</a:t>
            </a:r>
          </a:p>
        </p:txBody>
      </p:sp>
      <p:sp>
        <p:nvSpPr>
          <p:cNvPr id="24" name="TextBox 23"/>
          <p:cNvSpPr txBox="1"/>
          <p:nvPr/>
        </p:nvSpPr>
        <p:spPr>
          <a:xfrm>
            <a:off x="3538728" y="4361688"/>
            <a:ext cx="2304288" cy="502920"/>
          </a:xfrm>
          <a:prstGeom prst="rect">
            <a:avLst/>
          </a:prstGeom>
          <a:noFill/>
        </p:spPr>
        <p:txBody>
          <a:bodyPr wrap="square" lIns="0" rIns="0" tIns="0" bIns="0" anchor="t">
            <a:spAutoFit/>
          </a:bodyPr>
          <a:lstStyle/>
          <a:p>
            <a:pPr algn="l">
              <a:lnSpc>
                <a:spcPct val="125000"/>
              </a:lnSpc>
            </a:pPr>
            <a:r>
              <a:rPr sz="850" b="1" i="0">
                <a:solidFill>
                  <a:srgbClr val="4A35FF"/>
                </a:solidFill>
                <a:latin typeface="Montserrat"/>
              </a:rPr>
              <a:t>25+ written approvals · 4 DRSCs · MoUs with police</a:t>
            </a:r>
          </a:p>
        </p:txBody>
      </p:sp>
      <p:sp>
        <p:nvSpPr>
          <p:cNvPr id="25" name="TextBox 24"/>
          <p:cNvSpPr txBox="1"/>
          <p:nvPr/>
        </p:nvSpPr>
        <p:spPr>
          <a:xfrm>
            <a:off x="5998464" y="3291840"/>
            <a:ext cx="201168" cy="365760"/>
          </a:xfrm>
          <a:prstGeom prst="rect">
            <a:avLst/>
          </a:prstGeom>
          <a:noFill/>
        </p:spPr>
        <p:txBody>
          <a:bodyPr wrap="square" lIns="0" rIns="0" tIns="0" bIns="0" anchor="t">
            <a:spAutoFit/>
          </a:bodyPr>
          <a:lstStyle/>
          <a:p>
            <a:pPr algn="l">
              <a:lnSpc>
                <a:spcPct val="128000"/>
              </a:lnSpc>
            </a:pPr>
            <a:r>
              <a:rPr sz="1500" b="0" i="0">
                <a:solidFill>
                  <a:srgbClr val="6E7180"/>
                </a:solidFill>
                <a:latin typeface="Geist"/>
              </a:rPr>
              <a:t>→</a:t>
            </a:r>
          </a:p>
        </p:txBody>
      </p:sp>
      <p:sp>
        <p:nvSpPr>
          <p:cNvPr id="26" name="Rounded Rectangle 25"/>
          <p:cNvSpPr/>
          <p:nvPr/>
        </p:nvSpPr>
        <p:spPr>
          <a:xfrm>
            <a:off x="6144768" y="2057400"/>
            <a:ext cx="2670048" cy="2880360"/>
          </a:xfrm>
          <a:prstGeom prst="roundRect">
            <a:avLst>
              <a:gd name="adj" fmla="val 8000"/>
            </a:avLst>
          </a:prstGeom>
          <a:solidFill>
            <a:srgbClr val="FFFFFF"/>
          </a:solidFill>
          <a:ln w="9525">
            <a:solidFill>
              <a:srgbClr val="E8E9EE"/>
            </a:solidFill>
          </a:ln>
          <a:effectLst/>
        </p:spPr>
        <p:txBody>
          <a:bodyPr rtlCol="0" anchor="ctr"/>
          <a:lstStyle/>
          <a:p>
            <a:pPr algn="ctr"/>
          </a:p>
        </p:txBody>
      </p:sp>
      <p:sp>
        <p:nvSpPr>
          <p:cNvPr id="27" name="Oval 26"/>
          <p:cNvSpPr/>
          <p:nvPr/>
        </p:nvSpPr>
        <p:spPr>
          <a:xfrm>
            <a:off x="6327648" y="2258568"/>
            <a:ext cx="475488" cy="475488"/>
          </a:xfrm>
          <a:prstGeom prst="ellipse">
            <a:avLst/>
          </a:prstGeom>
          <a:solidFill>
            <a:srgbClr val="E7F4F4"/>
          </a:solidFill>
          <a:ln>
            <a:noFill/>
          </a:ln>
          <a:effectLst/>
        </p:spPr>
        <p:txBody>
          <a:bodyPr rtlCol="0" anchor="ctr"/>
          <a:lstStyle/>
          <a:p>
            <a:pPr algn="ctr"/>
          </a:p>
        </p:txBody>
      </p:sp>
      <p:pic>
        <p:nvPicPr>
          <p:cNvPr id="28" name="Picture 27" descr="cpu_0E8A8A_256_2.0.png"/>
          <p:cNvPicPr>
            <a:picLocks noChangeAspect="1"/>
          </p:cNvPicPr>
          <p:nvPr/>
        </p:nvPicPr>
        <p:blipFill>
          <a:blip r:embed="rId4"/>
          <a:stretch>
            <a:fillRect/>
          </a:stretch>
        </p:blipFill>
        <p:spPr>
          <a:xfrm>
            <a:off x="6441765" y="2372685"/>
            <a:ext cx="247253" cy="247253"/>
          </a:xfrm>
          <a:prstGeom prst="rect">
            <a:avLst/>
          </a:prstGeom>
        </p:spPr>
      </p:pic>
      <p:sp>
        <p:nvSpPr>
          <p:cNvPr id="29" name="TextBox 28"/>
          <p:cNvSpPr txBox="1"/>
          <p:nvPr/>
        </p:nvSpPr>
        <p:spPr>
          <a:xfrm>
            <a:off x="6327648" y="2898648"/>
            <a:ext cx="2304288" cy="320040"/>
          </a:xfrm>
          <a:prstGeom prst="rect">
            <a:avLst/>
          </a:prstGeom>
          <a:noFill/>
        </p:spPr>
        <p:txBody>
          <a:bodyPr wrap="square" lIns="0" rIns="0" tIns="0" bIns="0" anchor="t">
            <a:spAutoFit/>
          </a:bodyPr>
          <a:lstStyle/>
          <a:p>
            <a:pPr algn="l">
              <a:lnSpc>
                <a:spcPct val="128000"/>
              </a:lnSpc>
            </a:pPr>
            <a:r>
              <a:rPr sz="1250" b="1" i="0">
                <a:solidFill>
                  <a:srgbClr val="16181D"/>
                </a:solidFill>
                <a:latin typeface="Montserrat"/>
              </a:rPr>
              <a:t>3 · Technology</a:t>
            </a:r>
          </a:p>
        </p:txBody>
      </p:sp>
      <p:sp>
        <p:nvSpPr>
          <p:cNvPr id="30" name="TextBox 29"/>
          <p:cNvSpPr txBox="1"/>
          <p:nvPr/>
        </p:nvSpPr>
        <p:spPr>
          <a:xfrm>
            <a:off x="6327648" y="3264408"/>
            <a:ext cx="2304288" cy="914400"/>
          </a:xfrm>
          <a:prstGeom prst="rect">
            <a:avLst/>
          </a:prstGeom>
          <a:noFill/>
        </p:spPr>
        <p:txBody>
          <a:bodyPr wrap="square" lIns="0" rIns="0" tIns="0" bIns="0" anchor="t">
            <a:spAutoFit/>
          </a:bodyPr>
          <a:lstStyle/>
          <a:p>
            <a:pPr algn="l">
              <a:lnSpc>
                <a:spcPct val="128000"/>
              </a:lnSpc>
            </a:pPr>
            <a:r>
              <a:rPr sz="950" b="0" i="0">
                <a:solidFill>
                  <a:srgbClr val="6E7180"/>
                </a:solidFill>
                <a:latin typeface="Geist"/>
              </a:rPr>
              <a:t>Dashboards, AI and WhatsApp tools that fit how officials already work.</a:t>
            </a:r>
          </a:p>
        </p:txBody>
      </p:sp>
      <p:cxnSp>
        <p:nvCxnSpPr>
          <p:cNvPr id="31" name="Connector 30"/>
          <p:cNvCxnSpPr/>
          <p:nvPr/>
        </p:nvCxnSpPr>
        <p:spPr>
          <a:xfrm>
            <a:off x="6327648" y="4270248"/>
            <a:ext cx="2304288" cy="0"/>
          </a:xfrm>
          <a:prstGeom prst="line">
            <a:avLst/>
          </a:prstGeom>
          <a:ln w="9525">
            <a:solidFill>
              <a:srgbClr val="E8E9EE"/>
            </a:solidFill>
          </a:ln>
          <a:effectLst/>
        </p:spPr>
      </p:cxnSp>
      <p:sp>
        <p:nvSpPr>
          <p:cNvPr id="32" name="TextBox 31"/>
          <p:cNvSpPr txBox="1"/>
          <p:nvPr/>
        </p:nvSpPr>
        <p:spPr>
          <a:xfrm>
            <a:off x="6327648" y="4361688"/>
            <a:ext cx="2304288" cy="502920"/>
          </a:xfrm>
          <a:prstGeom prst="rect">
            <a:avLst/>
          </a:prstGeom>
          <a:noFill/>
        </p:spPr>
        <p:txBody>
          <a:bodyPr wrap="square" lIns="0" rIns="0" tIns="0" bIns="0" anchor="t">
            <a:spAutoFit/>
          </a:bodyPr>
          <a:lstStyle/>
          <a:p>
            <a:pPr algn="l">
              <a:lnSpc>
                <a:spcPct val="125000"/>
              </a:lnSpc>
            </a:pPr>
            <a:r>
              <a:rPr sz="850" b="1" i="0">
                <a:solidFill>
                  <a:srgbClr val="16181D"/>
                </a:solidFill>
                <a:latin typeface="Montserrat"/>
              </a:rPr>
              <a:t>Aasha · SATARK · 4 open data platforms</a:t>
            </a:r>
          </a:p>
        </p:txBody>
      </p:sp>
      <p:sp>
        <p:nvSpPr>
          <p:cNvPr id="33" name="TextBox 32"/>
          <p:cNvSpPr txBox="1"/>
          <p:nvPr/>
        </p:nvSpPr>
        <p:spPr>
          <a:xfrm>
            <a:off x="6327648" y="4361688"/>
            <a:ext cx="2304288" cy="502920"/>
          </a:xfrm>
          <a:prstGeom prst="rect">
            <a:avLst/>
          </a:prstGeom>
          <a:noFill/>
        </p:spPr>
        <p:txBody>
          <a:bodyPr wrap="square" lIns="0" rIns="0" tIns="0" bIns="0" anchor="t">
            <a:spAutoFit/>
          </a:bodyPr>
          <a:lstStyle/>
          <a:p>
            <a:pPr algn="l">
              <a:lnSpc>
                <a:spcPct val="125000"/>
              </a:lnSpc>
            </a:pPr>
            <a:r>
              <a:rPr sz="850" b="1" i="0">
                <a:solidFill>
                  <a:srgbClr val="0E8A8A"/>
                </a:solidFill>
                <a:latin typeface="Montserrat"/>
              </a:rPr>
              <a:t>Aasha · SATARK · 4 open data platforms</a:t>
            </a:r>
          </a:p>
        </p:txBody>
      </p:sp>
      <p:sp>
        <p:nvSpPr>
          <p:cNvPr id="34" name="TextBox 33"/>
          <p:cNvSpPr txBox="1"/>
          <p:nvPr/>
        </p:nvSpPr>
        <p:spPr>
          <a:xfrm>
            <a:off x="8787384" y="3291840"/>
            <a:ext cx="201168" cy="365760"/>
          </a:xfrm>
          <a:prstGeom prst="rect">
            <a:avLst/>
          </a:prstGeom>
          <a:noFill/>
        </p:spPr>
        <p:txBody>
          <a:bodyPr wrap="square" lIns="0" rIns="0" tIns="0" bIns="0" anchor="t">
            <a:spAutoFit/>
          </a:bodyPr>
          <a:lstStyle/>
          <a:p>
            <a:pPr algn="l">
              <a:lnSpc>
                <a:spcPct val="128000"/>
              </a:lnSpc>
            </a:pPr>
            <a:r>
              <a:rPr sz="1500" b="0" i="0">
                <a:solidFill>
                  <a:srgbClr val="6E7180"/>
                </a:solidFill>
                <a:latin typeface="Geist"/>
              </a:rPr>
              <a:t>→</a:t>
            </a:r>
          </a:p>
        </p:txBody>
      </p:sp>
      <p:sp>
        <p:nvSpPr>
          <p:cNvPr id="35" name="Rounded Rectangle 34"/>
          <p:cNvSpPr/>
          <p:nvPr/>
        </p:nvSpPr>
        <p:spPr>
          <a:xfrm>
            <a:off x="8933688" y="2057400"/>
            <a:ext cx="2670048" cy="2880360"/>
          </a:xfrm>
          <a:prstGeom prst="roundRect">
            <a:avLst>
              <a:gd name="adj" fmla="val 8000"/>
            </a:avLst>
          </a:prstGeom>
          <a:solidFill>
            <a:srgbClr val="FFFFFF"/>
          </a:solidFill>
          <a:ln w="9525">
            <a:solidFill>
              <a:srgbClr val="E8E9EE"/>
            </a:solidFill>
          </a:ln>
          <a:effectLst/>
        </p:spPr>
        <p:txBody>
          <a:bodyPr rtlCol="0" anchor="ctr"/>
          <a:lstStyle/>
          <a:p>
            <a:pPr algn="ctr"/>
          </a:p>
        </p:txBody>
      </p:sp>
      <p:sp>
        <p:nvSpPr>
          <p:cNvPr id="36" name="Oval 35"/>
          <p:cNvSpPr/>
          <p:nvPr/>
        </p:nvSpPr>
        <p:spPr>
          <a:xfrm>
            <a:off x="9116568" y="2258568"/>
            <a:ext cx="475488" cy="475488"/>
          </a:xfrm>
          <a:prstGeom prst="ellipse">
            <a:avLst/>
          </a:prstGeom>
          <a:solidFill>
            <a:srgbClr val="FDF3E3"/>
          </a:solidFill>
          <a:ln>
            <a:noFill/>
          </a:ln>
          <a:effectLst/>
        </p:spPr>
        <p:txBody>
          <a:bodyPr rtlCol="0" anchor="ctr"/>
          <a:lstStyle/>
          <a:p>
            <a:pPr algn="ctr"/>
          </a:p>
        </p:txBody>
      </p:sp>
      <p:pic>
        <p:nvPicPr>
          <p:cNvPr id="37" name="Picture 36" descr="route_E58900_256_2.0.png"/>
          <p:cNvPicPr>
            <a:picLocks noChangeAspect="1"/>
          </p:cNvPicPr>
          <p:nvPr/>
        </p:nvPicPr>
        <p:blipFill>
          <a:blip r:embed="rId5"/>
          <a:stretch>
            <a:fillRect/>
          </a:stretch>
        </p:blipFill>
        <p:spPr>
          <a:xfrm>
            <a:off x="9230685" y="2372685"/>
            <a:ext cx="247253" cy="247253"/>
          </a:xfrm>
          <a:prstGeom prst="rect">
            <a:avLst/>
          </a:prstGeom>
        </p:spPr>
      </p:pic>
      <p:sp>
        <p:nvSpPr>
          <p:cNvPr id="38" name="TextBox 37"/>
          <p:cNvSpPr txBox="1"/>
          <p:nvPr/>
        </p:nvSpPr>
        <p:spPr>
          <a:xfrm>
            <a:off x="9116568" y="2898648"/>
            <a:ext cx="2304288" cy="320040"/>
          </a:xfrm>
          <a:prstGeom prst="rect">
            <a:avLst/>
          </a:prstGeom>
          <a:noFill/>
        </p:spPr>
        <p:txBody>
          <a:bodyPr wrap="square" lIns="0" rIns="0" tIns="0" bIns="0" anchor="t">
            <a:spAutoFit/>
          </a:bodyPr>
          <a:lstStyle/>
          <a:p>
            <a:pPr algn="l">
              <a:lnSpc>
                <a:spcPct val="128000"/>
              </a:lnSpc>
            </a:pPr>
            <a:r>
              <a:rPr sz="1250" b="1" i="0">
                <a:solidFill>
                  <a:srgbClr val="16181D"/>
                </a:solidFill>
                <a:latin typeface="Montserrat"/>
              </a:rPr>
              <a:t>4 · Follow-through</a:t>
            </a:r>
          </a:p>
        </p:txBody>
      </p:sp>
      <p:sp>
        <p:nvSpPr>
          <p:cNvPr id="39" name="TextBox 38"/>
          <p:cNvSpPr txBox="1"/>
          <p:nvPr/>
        </p:nvSpPr>
        <p:spPr>
          <a:xfrm>
            <a:off x="9116568" y="3264408"/>
            <a:ext cx="2304288" cy="914400"/>
          </a:xfrm>
          <a:prstGeom prst="rect">
            <a:avLst/>
          </a:prstGeom>
          <a:noFill/>
        </p:spPr>
        <p:txBody>
          <a:bodyPr wrap="square" lIns="0" rIns="0" tIns="0" bIns="0" anchor="t">
            <a:spAutoFit/>
          </a:bodyPr>
          <a:lstStyle/>
          <a:p>
            <a:pPr algn="l">
              <a:lnSpc>
                <a:spcPct val="128000"/>
              </a:lnSpc>
            </a:pPr>
            <a:r>
              <a:rPr sz="950" b="0" i="0">
                <a:solidFill>
                  <a:srgbClr val="6E7180"/>
                </a:solidFill>
                <a:latin typeface="Geist"/>
              </a:rPr>
              <a:t>Every recommendation tracked publicly to completion.</a:t>
            </a:r>
          </a:p>
        </p:txBody>
      </p:sp>
      <p:cxnSp>
        <p:nvCxnSpPr>
          <p:cNvPr id="40" name="Connector 39"/>
          <p:cNvCxnSpPr/>
          <p:nvPr/>
        </p:nvCxnSpPr>
        <p:spPr>
          <a:xfrm>
            <a:off x="9116568" y="4270248"/>
            <a:ext cx="2304288" cy="0"/>
          </a:xfrm>
          <a:prstGeom prst="line">
            <a:avLst/>
          </a:prstGeom>
          <a:ln w="9525">
            <a:solidFill>
              <a:srgbClr val="E8E9EE"/>
            </a:solidFill>
          </a:ln>
          <a:effectLst/>
        </p:spPr>
      </p:cxnSp>
      <p:sp>
        <p:nvSpPr>
          <p:cNvPr id="41" name="TextBox 40"/>
          <p:cNvSpPr txBox="1"/>
          <p:nvPr/>
        </p:nvSpPr>
        <p:spPr>
          <a:xfrm>
            <a:off x="9116568" y="4361688"/>
            <a:ext cx="2304288" cy="502920"/>
          </a:xfrm>
          <a:prstGeom prst="rect">
            <a:avLst/>
          </a:prstGeom>
          <a:noFill/>
        </p:spPr>
        <p:txBody>
          <a:bodyPr wrap="square" lIns="0" rIns="0" tIns="0" bIns="0" anchor="t">
            <a:spAutoFit/>
          </a:bodyPr>
          <a:lstStyle/>
          <a:p>
            <a:pPr algn="l">
              <a:lnSpc>
                <a:spcPct val="125000"/>
              </a:lnSpc>
            </a:pPr>
            <a:r>
              <a:rPr sz="850" b="1" i="0">
                <a:solidFill>
                  <a:srgbClr val="16181D"/>
                </a:solidFill>
                <a:latin typeface="Montserrat"/>
              </a:rPr>
              <a:t>Implementation started at 15 sites · 7 fully built</a:t>
            </a:r>
          </a:p>
        </p:txBody>
      </p:sp>
      <p:sp>
        <p:nvSpPr>
          <p:cNvPr id="42" name="TextBox 41"/>
          <p:cNvSpPr txBox="1"/>
          <p:nvPr/>
        </p:nvSpPr>
        <p:spPr>
          <a:xfrm>
            <a:off x="9116568" y="4361688"/>
            <a:ext cx="2304288" cy="502920"/>
          </a:xfrm>
          <a:prstGeom prst="rect">
            <a:avLst/>
          </a:prstGeom>
          <a:noFill/>
        </p:spPr>
        <p:txBody>
          <a:bodyPr wrap="square" lIns="0" rIns="0" tIns="0" bIns="0" anchor="t">
            <a:spAutoFit/>
          </a:bodyPr>
          <a:lstStyle/>
          <a:p>
            <a:pPr algn="l">
              <a:lnSpc>
                <a:spcPct val="125000"/>
              </a:lnSpc>
            </a:pPr>
            <a:r>
              <a:rPr sz="850" b="1" i="0">
                <a:solidFill>
                  <a:srgbClr val="E58900"/>
                </a:solidFill>
                <a:latin typeface="Montserrat"/>
              </a:rPr>
              <a:t>Implementation started at 15 sites · 7 fully built</a:t>
            </a:r>
          </a:p>
        </p:txBody>
      </p:sp>
      <p:sp>
        <p:nvSpPr>
          <p:cNvPr id="43" name="Rounded Rectangle 42"/>
          <p:cNvSpPr/>
          <p:nvPr/>
        </p:nvSpPr>
        <p:spPr>
          <a:xfrm>
            <a:off x="566928" y="5257800"/>
            <a:ext cx="11057839" cy="640080"/>
          </a:xfrm>
          <a:prstGeom prst="roundRect">
            <a:avLst>
              <a:gd name="adj" fmla="val 14000"/>
            </a:avLst>
          </a:prstGeom>
          <a:solidFill>
            <a:srgbClr val="F7F7FA"/>
          </a:solidFill>
          <a:ln>
            <a:noFill/>
          </a:ln>
          <a:effectLst/>
        </p:spPr>
        <p:txBody>
          <a:bodyPr rtlCol="0" anchor="ctr"/>
          <a:lstStyle/>
          <a:p>
            <a:pPr algn="ctr"/>
          </a:p>
        </p:txBody>
      </p:sp>
      <p:sp>
        <p:nvSpPr>
          <p:cNvPr id="44" name="TextBox 43"/>
          <p:cNvSpPr txBox="1"/>
          <p:nvPr/>
        </p:nvSpPr>
        <p:spPr>
          <a:xfrm>
            <a:off x="795528" y="5358384"/>
            <a:ext cx="10600639" cy="457200"/>
          </a:xfrm>
          <a:prstGeom prst="rect">
            <a:avLst/>
          </a:prstGeom>
          <a:noFill/>
        </p:spPr>
        <p:txBody>
          <a:bodyPr wrap="square" lIns="0" rIns="0" tIns="0" bIns="0" anchor="t">
            <a:spAutoFit/>
          </a:bodyPr>
          <a:lstStyle/>
          <a:p>
            <a:pPr algn="l">
              <a:lnSpc>
                <a:spcPct val="130000"/>
              </a:lnSpc>
            </a:pPr>
            <a:r>
              <a:rPr sz="1100" b="1" i="0">
                <a:solidFill>
                  <a:srgbClr val="16181D"/>
                </a:solidFill>
                <a:latin typeface="Geist"/>
              </a:rPr>
              <a:t>We do not replace the system and we do not campaign against it. </a:t>
            </a:r>
            <a:r>
              <a:rPr sz="1100" b="0" i="0">
                <a:solidFill>
                  <a:srgbClr val="6E7180"/>
                </a:solidFill>
                <a:latin typeface="Geist"/>
              </a:rPr>
              <a:t>We add hands, evidence and tools to work the system has already committed to.</a:t>
            </a:r>
          </a:p>
        </p:txBody>
      </p:sp>
      <p:cxnSp>
        <p:nvCxnSpPr>
          <p:cNvPr id="45" name="Connector 44"/>
          <p:cNvCxnSpPr/>
          <p:nvPr/>
        </p:nvCxnSpPr>
        <p:spPr>
          <a:xfrm>
            <a:off x="566928" y="6455664"/>
            <a:ext cx="11057839" cy="0"/>
          </a:xfrm>
          <a:prstGeom prst="line">
            <a:avLst/>
          </a:prstGeom>
          <a:ln w="9525">
            <a:solidFill>
              <a:srgbClr val="E8E9EE"/>
            </a:solidFill>
          </a:ln>
          <a:effectLst/>
        </p:spPr>
      </p:cxnSp>
      <p:sp>
        <p:nvSpPr>
          <p:cNvPr id="46" name="TextBox 45"/>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3</a:t>
            </a:r>
          </a:p>
        </p:txBody>
      </p:sp>
      <p:sp>
        <p:nvSpPr>
          <p:cNvPr id="47" name="TextBox 46"/>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05 / 26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1 OF 5  ·  ABOUT US</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01 · WHY WORKING GROUP 3</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Why Working Group 3, </a:t>
            </a:r>
            <a:r>
              <a:rPr sz="2250" b="1" i="0">
                <a:solidFill>
                  <a:srgbClr val="4A35FF"/>
                </a:solidFill>
                <a:latin typeface="Montserrat"/>
              </a:rPr>
              <a:t>and what we bring to it</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The Group's mandate matches the deepest part of our portfolio. Three focus areas where we are ready on day one.</a:t>
            </a:r>
          </a:p>
        </p:txBody>
      </p:sp>
      <p:sp>
        <p:nvSpPr>
          <p:cNvPr id="8" name="Oval 7"/>
          <p:cNvSpPr/>
          <p:nvPr/>
        </p:nvSpPr>
        <p:spPr>
          <a:xfrm>
            <a:off x="566928" y="2011680"/>
            <a:ext cx="365760" cy="365760"/>
          </a:xfrm>
          <a:prstGeom prst="ellipse">
            <a:avLst/>
          </a:prstGeom>
          <a:solidFill>
            <a:srgbClr val="FDF3E3"/>
          </a:solidFill>
          <a:ln>
            <a:noFill/>
          </a:ln>
          <a:effectLst/>
        </p:spPr>
        <p:txBody>
          <a:bodyPr rtlCol="0" anchor="ctr"/>
          <a:lstStyle/>
          <a:p>
            <a:pPr algn="ctr"/>
          </a:p>
        </p:txBody>
      </p:sp>
      <p:pic>
        <p:nvPicPr>
          <p:cNvPr id="9" name="Picture 8" descr="bike_E58900_256_2.0.png"/>
          <p:cNvPicPr>
            <a:picLocks noChangeAspect="1"/>
          </p:cNvPicPr>
          <p:nvPr/>
        </p:nvPicPr>
        <p:blipFill>
          <a:blip r:embed="rId2"/>
          <a:stretch>
            <a:fillRect/>
          </a:stretch>
        </p:blipFill>
        <p:spPr>
          <a:xfrm>
            <a:off x="654710" y="2099462"/>
            <a:ext cx="190195" cy="190195"/>
          </a:xfrm>
          <a:prstGeom prst="rect">
            <a:avLst/>
          </a:prstGeom>
        </p:spPr>
      </p:pic>
      <p:sp>
        <p:nvSpPr>
          <p:cNvPr id="10" name="TextBox 9"/>
          <p:cNvSpPr txBox="1"/>
          <p:nvPr/>
        </p:nvSpPr>
        <p:spPr>
          <a:xfrm>
            <a:off x="1097280" y="1993392"/>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Two-wheeler &amp; rider safety evidence</a:t>
            </a:r>
          </a:p>
        </p:txBody>
      </p:sp>
      <p:sp>
        <p:nvSpPr>
          <p:cNvPr id="11" name="TextBox 10"/>
          <p:cNvSpPr txBox="1"/>
          <p:nvPr/>
        </p:nvSpPr>
        <p:spPr>
          <a:xfrm>
            <a:off x="3566160" y="1993392"/>
            <a:ext cx="361188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Two-wheeler riders carry the fastest-growing share of road deaths; our published study and 300-rider fieldwork sit exactly here.</a:t>
            </a:r>
          </a:p>
        </p:txBody>
      </p:sp>
      <p:sp>
        <p:nvSpPr>
          <p:cNvPr id="12" name="Oval 11"/>
          <p:cNvSpPr/>
          <p:nvPr/>
        </p:nvSpPr>
        <p:spPr>
          <a:xfrm>
            <a:off x="566928" y="2907792"/>
            <a:ext cx="365760" cy="365760"/>
          </a:xfrm>
          <a:prstGeom prst="ellipse">
            <a:avLst/>
          </a:prstGeom>
          <a:solidFill>
            <a:srgbClr val="EFEDFF"/>
          </a:solidFill>
          <a:ln>
            <a:noFill/>
          </a:ln>
          <a:effectLst/>
        </p:spPr>
        <p:txBody>
          <a:bodyPr rtlCol="0" anchor="ctr"/>
          <a:lstStyle/>
          <a:p>
            <a:pPr algn="ctr"/>
          </a:p>
        </p:txBody>
      </p:sp>
      <p:pic>
        <p:nvPicPr>
          <p:cNvPr id="13" name="Picture 12" descr="bus_4A35FF_256_2.0.png"/>
          <p:cNvPicPr>
            <a:picLocks noChangeAspect="1"/>
          </p:cNvPicPr>
          <p:nvPr/>
        </p:nvPicPr>
        <p:blipFill>
          <a:blip r:embed="rId3"/>
          <a:stretch>
            <a:fillRect/>
          </a:stretch>
        </p:blipFill>
        <p:spPr>
          <a:xfrm>
            <a:off x="654710" y="2995574"/>
            <a:ext cx="190195" cy="190195"/>
          </a:xfrm>
          <a:prstGeom prst="rect">
            <a:avLst/>
          </a:prstGeom>
        </p:spPr>
      </p:pic>
      <p:sp>
        <p:nvSpPr>
          <p:cNvPr id="14" name="TextBox 13"/>
          <p:cNvSpPr txBox="1"/>
          <p:nvPr/>
        </p:nvSpPr>
        <p:spPr>
          <a:xfrm>
            <a:off x="1097280" y="2889504"/>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Vehicle standards &amp; commercial fleets</a:t>
            </a:r>
          </a:p>
        </p:txBody>
      </p:sp>
      <p:sp>
        <p:nvSpPr>
          <p:cNvPr id="15" name="TextBox 14"/>
          <p:cNvSpPr txBox="1"/>
          <p:nvPr/>
        </p:nvSpPr>
        <p:spPr>
          <a:xfrm>
            <a:off x="3566160" y="2889504"/>
            <a:ext cx="361188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Expert sessions on two-wheeler ADAS and bus fire safety, with the veterans of ARAI, CMVR-TSC and CIRT, and an industry vantage point through Cars24.</a:t>
            </a:r>
          </a:p>
        </p:txBody>
      </p:sp>
      <p:sp>
        <p:nvSpPr>
          <p:cNvPr id="16" name="Oval 15"/>
          <p:cNvSpPr/>
          <p:nvPr/>
        </p:nvSpPr>
        <p:spPr>
          <a:xfrm>
            <a:off x="566928" y="3803904"/>
            <a:ext cx="365760" cy="365760"/>
          </a:xfrm>
          <a:prstGeom prst="ellipse">
            <a:avLst/>
          </a:prstGeom>
          <a:solidFill>
            <a:srgbClr val="E7F4F4"/>
          </a:solidFill>
          <a:ln>
            <a:noFill/>
          </a:ln>
          <a:effectLst/>
        </p:spPr>
        <p:txBody>
          <a:bodyPr rtlCol="0" anchor="ctr"/>
          <a:lstStyle/>
          <a:p>
            <a:pPr algn="ctr"/>
          </a:p>
        </p:txBody>
      </p:sp>
      <p:pic>
        <p:nvPicPr>
          <p:cNvPr id="17" name="Picture 16" descr="cpu_0E8A8A_256_2.0.png"/>
          <p:cNvPicPr>
            <a:picLocks noChangeAspect="1"/>
          </p:cNvPicPr>
          <p:nvPr/>
        </p:nvPicPr>
        <p:blipFill>
          <a:blip r:embed="rId4"/>
          <a:stretch>
            <a:fillRect/>
          </a:stretch>
        </p:blipFill>
        <p:spPr>
          <a:xfrm>
            <a:off x="654710" y="3891686"/>
            <a:ext cx="190195" cy="190195"/>
          </a:xfrm>
          <a:prstGeom prst="rect">
            <a:avLst/>
          </a:prstGeom>
        </p:spPr>
      </p:pic>
      <p:sp>
        <p:nvSpPr>
          <p:cNvPr id="18" name="TextBox 17"/>
          <p:cNvSpPr txBox="1"/>
          <p:nvPr/>
        </p:nvSpPr>
        <p:spPr>
          <a:xfrm>
            <a:off x="1097280" y="3785616"/>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Compliance technology for fleets</a:t>
            </a:r>
          </a:p>
        </p:txBody>
      </p:sp>
      <p:sp>
        <p:nvSpPr>
          <p:cNvPr id="19" name="TextBox 18"/>
          <p:cNvSpPr txBox="1"/>
          <p:nvPr/>
        </p:nvSpPr>
        <p:spPr>
          <a:xfrm>
            <a:off x="3566160" y="3785616"/>
            <a:ext cx="361188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SATARK screens vehicles at scale with police; our aggregator review shows exactly where challan verification breaks down.</a:t>
            </a:r>
          </a:p>
        </p:txBody>
      </p:sp>
      <p:sp>
        <p:nvSpPr>
          <p:cNvPr id="20" name="TextBox 19"/>
          <p:cNvSpPr txBox="1"/>
          <p:nvPr/>
        </p:nvSpPr>
        <p:spPr>
          <a:xfrm>
            <a:off x="7452360" y="1920240"/>
            <a:ext cx="4023360" cy="237744"/>
          </a:xfrm>
          <a:prstGeom prst="rect">
            <a:avLst/>
          </a:prstGeom>
          <a:noFill/>
        </p:spPr>
        <p:txBody>
          <a:bodyPr wrap="square" lIns="0" rIns="0" tIns="0" bIns="0" anchor="t">
            <a:spAutoFit/>
          </a:bodyPr>
          <a:lstStyle/>
          <a:p>
            <a:pPr algn="l">
              <a:lnSpc>
                <a:spcPct val="128000"/>
              </a:lnSpc>
            </a:pPr>
            <a:r>
              <a:rPr sz="850" b="1" i="0" spc="140">
                <a:solidFill>
                  <a:srgbClr val="6E7180"/>
                </a:solidFill>
                <a:latin typeface="Montserrat"/>
              </a:rPr>
              <a:t>EXISTING CAPABILITIES WE PUT ON THE TABLE</a:t>
            </a:r>
          </a:p>
        </p:txBody>
      </p:sp>
      <p:sp>
        <p:nvSpPr>
          <p:cNvPr id="21" name="Rounded Rectangle 20"/>
          <p:cNvSpPr/>
          <p:nvPr/>
        </p:nvSpPr>
        <p:spPr>
          <a:xfrm>
            <a:off x="7452360" y="2212848"/>
            <a:ext cx="2048256" cy="402336"/>
          </a:xfrm>
          <a:prstGeom prst="roundRect">
            <a:avLst>
              <a:gd name="adj" fmla="val 50000"/>
            </a:avLst>
          </a:prstGeom>
          <a:solidFill>
            <a:srgbClr val="EFEDFF"/>
          </a:solidFill>
          <a:ln>
            <a:noFill/>
          </a:ln>
          <a:effectLst/>
        </p:spPr>
        <p:txBody>
          <a:bodyPr rtlCol="0" anchor="ctr"/>
          <a:lstStyle/>
          <a:p>
            <a:pPr algn="ctr"/>
          </a:p>
        </p:txBody>
      </p:sp>
      <p:sp>
        <p:nvSpPr>
          <p:cNvPr id="22" name="TextBox 21"/>
          <p:cNvSpPr txBox="1"/>
          <p:nvPr/>
        </p:nvSpPr>
        <p:spPr>
          <a:xfrm>
            <a:off x="7470648" y="2212848"/>
            <a:ext cx="2011680" cy="402336"/>
          </a:xfrm>
          <a:prstGeom prst="rect">
            <a:avLst/>
          </a:prstGeom>
          <a:noFill/>
        </p:spPr>
        <p:txBody>
          <a:bodyPr wrap="square" lIns="0" rIns="0" tIns="0" bIns="0" anchor="ctr">
            <a:spAutoFit/>
          </a:bodyPr>
          <a:lstStyle/>
          <a:p>
            <a:pPr algn="ctr">
              <a:lnSpc>
                <a:spcPct val="100000"/>
              </a:lnSpc>
            </a:pPr>
            <a:r>
              <a:rPr sz="850" b="1" i="0">
                <a:solidFill>
                  <a:srgbClr val="4A35FF"/>
                </a:solidFill>
                <a:latin typeface="Montserrat"/>
              </a:rPr>
              <a:t>Published gig-rider study</a:t>
            </a:r>
          </a:p>
        </p:txBody>
      </p:sp>
      <p:sp>
        <p:nvSpPr>
          <p:cNvPr id="23" name="Rounded Rectangle 22"/>
          <p:cNvSpPr/>
          <p:nvPr/>
        </p:nvSpPr>
        <p:spPr>
          <a:xfrm>
            <a:off x="9573768" y="2212848"/>
            <a:ext cx="2048256" cy="402336"/>
          </a:xfrm>
          <a:prstGeom prst="roundRect">
            <a:avLst>
              <a:gd name="adj" fmla="val 50000"/>
            </a:avLst>
          </a:prstGeom>
          <a:solidFill>
            <a:srgbClr val="EFEDFF"/>
          </a:solidFill>
          <a:ln>
            <a:noFill/>
          </a:ln>
          <a:effectLst/>
        </p:spPr>
        <p:txBody>
          <a:bodyPr rtlCol="0" anchor="ctr"/>
          <a:lstStyle/>
          <a:p>
            <a:pPr algn="ctr"/>
          </a:p>
        </p:txBody>
      </p:sp>
      <p:sp>
        <p:nvSpPr>
          <p:cNvPr id="24" name="TextBox 23"/>
          <p:cNvSpPr txBox="1"/>
          <p:nvPr/>
        </p:nvSpPr>
        <p:spPr>
          <a:xfrm>
            <a:off x="9592056" y="2212848"/>
            <a:ext cx="2011680" cy="402336"/>
          </a:xfrm>
          <a:prstGeom prst="rect">
            <a:avLst/>
          </a:prstGeom>
          <a:noFill/>
        </p:spPr>
        <p:txBody>
          <a:bodyPr wrap="square" lIns="0" rIns="0" tIns="0" bIns="0" anchor="ctr">
            <a:spAutoFit/>
          </a:bodyPr>
          <a:lstStyle/>
          <a:p>
            <a:pPr algn="ctr">
              <a:lnSpc>
                <a:spcPct val="100000"/>
              </a:lnSpc>
            </a:pPr>
            <a:r>
              <a:rPr sz="850" b="1" i="0">
                <a:solidFill>
                  <a:srgbClr val="4A35FF"/>
                </a:solidFill>
                <a:latin typeface="Montserrat"/>
              </a:rPr>
              <a:t>300-rider study in the field</a:t>
            </a:r>
          </a:p>
        </p:txBody>
      </p:sp>
      <p:sp>
        <p:nvSpPr>
          <p:cNvPr id="25" name="Rounded Rectangle 24"/>
          <p:cNvSpPr/>
          <p:nvPr/>
        </p:nvSpPr>
        <p:spPr>
          <a:xfrm>
            <a:off x="7452360" y="2688336"/>
            <a:ext cx="2048256" cy="402336"/>
          </a:xfrm>
          <a:prstGeom prst="roundRect">
            <a:avLst>
              <a:gd name="adj" fmla="val 50000"/>
            </a:avLst>
          </a:prstGeom>
          <a:solidFill>
            <a:srgbClr val="EFEDFF"/>
          </a:solidFill>
          <a:ln>
            <a:noFill/>
          </a:ln>
          <a:effectLst/>
        </p:spPr>
        <p:txBody>
          <a:bodyPr rtlCol="0" anchor="ctr"/>
          <a:lstStyle/>
          <a:p>
            <a:pPr algn="ctr"/>
          </a:p>
        </p:txBody>
      </p:sp>
      <p:sp>
        <p:nvSpPr>
          <p:cNvPr id="26" name="TextBox 25"/>
          <p:cNvSpPr txBox="1"/>
          <p:nvPr/>
        </p:nvSpPr>
        <p:spPr>
          <a:xfrm>
            <a:off x="7470648" y="2688336"/>
            <a:ext cx="2011680" cy="402336"/>
          </a:xfrm>
          <a:prstGeom prst="rect">
            <a:avLst/>
          </a:prstGeom>
          <a:noFill/>
        </p:spPr>
        <p:txBody>
          <a:bodyPr wrap="square" lIns="0" rIns="0" tIns="0" bIns="0" anchor="ctr">
            <a:spAutoFit/>
          </a:bodyPr>
          <a:lstStyle/>
          <a:p>
            <a:pPr algn="ctr">
              <a:lnSpc>
                <a:spcPct val="100000"/>
              </a:lnSpc>
            </a:pPr>
            <a:r>
              <a:rPr sz="850" b="1" i="0">
                <a:solidFill>
                  <a:srgbClr val="4A35FF"/>
                </a:solidFill>
                <a:latin typeface="Montserrat"/>
              </a:rPr>
              <a:t>ARAI · CMVR-TSC · CIRT bench</a:t>
            </a:r>
          </a:p>
        </p:txBody>
      </p:sp>
      <p:sp>
        <p:nvSpPr>
          <p:cNvPr id="27" name="Rounded Rectangle 26"/>
          <p:cNvSpPr/>
          <p:nvPr/>
        </p:nvSpPr>
        <p:spPr>
          <a:xfrm>
            <a:off x="9573768" y="2688336"/>
            <a:ext cx="2048256" cy="402336"/>
          </a:xfrm>
          <a:prstGeom prst="roundRect">
            <a:avLst>
              <a:gd name="adj" fmla="val 50000"/>
            </a:avLst>
          </a:prstGeom>
          <a:solidFill>
            <a:srgbClr val="EFEDFF"/>
          </a:solidFill>
          <a:ln>
            <a:noFill/>
          </a:ln>
          <a:effectLst/>
        </p:spPr>
        <p:txBody>
          <a:bodyPr rtlCol="0" anchor="ctr"/>
          <a:lstStyle/>
          <a:p>
            <a:pPr algn="ctr"/>
          </a:p>
        </p:txBody>
      </p:sp>
      <p:sp>
        <p:nvSpPr>
          <p:cNvPr id="28" name="TextBox 27"/>
          <p:cNvSpPr txBox="1"/>
          <p:nvPr/>
        </p:nvSpPr>
        <p:spPr>
          <a:xfrm>
            <a:off x="9592056" y="2688336"/>
            <a:ext cx="2011680" cy="402336"/>
          </a:xfrm>
          <a:prstGeom prst="rect">
            <a:avLst/>
          </a:prstGeom>
          <a:noFill/>
        </p:spPr>
        <p:txBody>
          <a:bodyPr wrap="square" lIns="0" rIns="0" tIns="0" bIns="0" anchor="ctr">
            <a:spAutoFit/>
          </a:bodyPr>
          <a:lstStyle/>
          <a:p>
            <a:pPr algn="ctr">
              <a:lnSpc>
                <a:spcPct val="100000"/>
              </a:lnSpc>
            </a:pPr>
            <a:r>
              <a:rPr sz="850" b="1" i="0">
                <a:solidFill>
                  <a:srgbClr val="4A35FF"/>
                </a:solidFill>
                <a:latin typeface="Montserrat"/>
              </a:rPr>
              <a:t>SATARK live in 3 cities</a:t>
            </a:r>
          </a:p>
        </p:txBody>
      </p:sp>
      <p:sp>
        <p:nvSpPr>
          <p:cNvPr id="29" name="Rounded Rectangle 28"/>
          <p:cNvSpPr/>
          <p:nvPr/>
        </p:nvSpPr>
        <p:spPr>
          <a:xfrm>
            <a:off x="7452360" y="3163824"/>
            <a:ext cx="2048256" cy="402336"/>
          </a:xfrm>
          <a:prstGeom prst="roundRect">
            <a:avLst>
              <a:gd name="adj" fmla="val 50000"/>
            </a:avLst>
          </a:prstGeom>
          <a:solidFill>
            <a:srgbClr val="EFEDFF"/>
          </a:solidFill>
          <a:ln>
            <a:noFill/>
          </a:ln>
          <a:effectLst/>
        </p:spPr>
        <p:txBody>
          <a:bodyPr rtlCol="0" anchor="ctr"/>
          <a:lstStyle/>
          <a:p>
            <a:pPr algn="ctr"/>
          </a:p>
        </p:txBody>
      </p:sp>
      <p:sp>
        <p:nvSpPr>
          <p:cNvPr id="30" name="TextBox 29"/>
          <p:cNvSpPr txBox="1"/>
          <p:nvPr/>
        </p:nvSpPr>
        <p:spPr>
          <a:xfrm>
            <a:off x="7470648" y="3163824"/>
            <a:ext cx="2011680" cy="402336"/>
          </a:xfrm>
          <a:prstGeom prst="rect">
            <a:avLst/>
          </a:prstGeom>
          <a:noFill/>
        </p:spPr>
        <p:txBody>
          <a:bodyPr wrap="square" lIns="0" rIns="0" tIns="0" bIns="0" anchor="ctr">
            <a:spAutoFit/>
          </a:bodyPr>
          <a:lstStyle/>
          <a:p>
            <a:pPr algn="ctr">
              <a:lnSpc>
                <a:spcPct val="100000"/>
              </a:lnSpc>
            </a:pPr>
            <a:r>
              <a:rPr sz="850" b="1" i="0">
                <a:solidFill>
                  <a:srgbClr val="4A35FF"/>
                </a:solidFill>
                <a:latin typeface="Montserrat"/>
              </a:rPr>
              <a:t>Aggregator challan evidence</a:t>
            </a:r>
          </a:p>
        </p:txBody>
      </p:sp>
      <p:sp>
        <p:nvSpPr>
          <p:cNvPr id="31" name="Rounded Rectangle 30"/>
          <p:cNvSpPr/>
          <p:nvPr/>
        </p:nvSpPr>
        <p:spPr>
          <a:xfrm>
            <a:off x="9573768" y="3163824"/>
            <a:ext cx="2048256" cy="402336"/>
          </a:xfrm>
          <a:prstGeom prst="roundRect">
            <a:avLst>
              <a:gd name="adj" fmla="val 50000"/>
            </a:avLst>
          </a:prstGeom>
          <a:solidFill>
            <a:srgbClr val="EFEDFF"/>
          </a:solidFill>
          <a:ln>
            <a:noFill/>
          </a:ln>
          <a:effectLst/>
        </p:spPr>
        <p:txBody>
          <a:bodyPr rtlCol="0" anchor="ctr"/>
          <a:lstStyle/>
          <a:p>
            <a:pPr algn="ctr"/>
          </a:p>
        </p:txBody>
      </p:sp>
      <p:sp>
        <p:nvSpPr>
          <p:cNvPr id="32" name="TextBox 31"/>
          <p:cNvSpPr txBox="1"/>
          <p:nvPr/>
        </p:nvSpPr>
        <p:spPr>
          <a:xfrm>
            <a:off x="9592056" y="3163824"/>
            <a:ext cx="2011680" cy="402336"/>
          </a:xfrm>
          <a:prstGeom prst="rect">
            <a:avLst/>
          </a:prstGeom>
          <a:noFill/>
        </p:spPr>
        <p:txBody>
          <a:bodyPr wrap="square" lIns="0" rIns="0" tIns="0" bIns="0" anchor="ctr">
            <a:spAutoFit/>
          </a:bodyPr>
          <a:lstStyle/>
          <a:p>
            <a:pPr algn="ctr">
              <a:lnSpc>
                <a:spcPct val="100000"/>
              </a:lnSpc>
            </a:pPr>
            <a:r>
              <a:rPr sz="850" b="1" i="0">
                <a:solidFill>
                  <a:srgbClr val="4A35FF"/>
                </a:solidFill>
                <a:latin typeface="Montserrat"/>
              </a:rPr>
              <a:t>Platform &amp; police relationships</a:t>
            </a:r>
          </a:p>
        </p:txBody>
      </p:sp>
      <p:sp>
        <p:nvSpPr>
          <p:cNvPr id="33" name="TextBox 32"/>
          <p:cNvSpPr txBox="1"/>
          <p:nvPr/>
        </p:nvSpPr>
        <p:spPr>
          <a:xfrm>
            <a:off x="566928" y="4709160"/>
            <a:ext cx="10972800" cy="237744"/>
          </a:xfrm>
          <a:prstGeom prst="rect">
            <a:avLst/>
          </a:prstGeom>
          <a:noFill/>
        </p:spPr>
        <p:txBody>
          <a:bodyPr wrap="square" lIns="0" rIns="0" tIns="0" bIns="0" anchor="t">
            <a:spAutoFit/>
          </a:bodyPr>
          <a:lstStyle/>
          <a:p>
            <a:pPr algn="l">
              <a:lnSpc>
                <a:spcPct val="128000"/>
              </a:lnSpc>
            </a:pPr>
            <a:r>
              <a:rPr sz="850" b="1" i="0" spc="140">
                <a:solidFill>
                  <a:srgbClr val="6E7180"/>
                </a:solidFill>
                <a:latin typeface="Montserrat"/>
              </a:rPr>
              <a:t>SUBJECT-MATTER EXPERTS ALREADY ENGAGED ON THIS AGENDA</a:t>
            </a:r>
          </a:p>
        </p:txBody>
      </p:sp>
      <p:sp>
        <p:nvSpPr>
          <p:cNvPr id="34" name="Rounded Rectangle 33"/>
          <p:cNvSpPr/>
          <p:nvPr/>
        </p:nvSpPr>
        <p:spPr>
          <a:xfrm>
            <a:off x="566928" y="4983480"/>
            <a:ext cx="2145731" cy="1097280"/>
          </a:xfrm>
          <a:prstGeom prst="roundRect">
            <a:avLst>
              <a:gd name="adj" fmla="val 10000"/>
            </a:avLst>
          </a:prstGeom>
          <a:solidFill>
            <a:srgbClr val="F7F7FA"/>
          </a:solidFill>
          <a:ln>
            <a:noFill/>
          </a:ln>
          <a:effectLst/>
        </p:spPr>
        <p:txBody>
          <a:bodyPr rtlCol="0" anchor="ctr"/>
          <a:lstStyle/>
          <a:p>
            <a:pPr algn="ctr"/>
          </a:p>
        </p:txBody>
      </p:sp>
      <p:sp>
        <p:nvSpPr>
          <p:cNvPr id="35" name="Oval 34"/>
          <p:cNvSpPr/>
          <p:nvPr/>
        </p:nvSpPr>
        <p:spPr>
          <a:xfrm>
            <a:off x="676656" y="5138928"/>
            <a:ext cx="777240" cy="777240"/>
          </a:xfrm>
          <a:prstGeom prst="ellipse">
            <a:avLst/>
          </a:prstGeom>
          <a:solidFill>
            <a:srgbClr val="EFEDFF"/>
          </a:solidFill>
          <a:ln>
            <a:noFill/>
          </a:ln>
          <a:effectLst/>
        </p:spPr>
        <p:txBody>
          <a:bodyPr rtlCol="0" anchor="ctr"/>
          <a:lstStyle/>
          <a:p>
            <a:pPr algn="ctr"/>
          </a:p>
        </p:txBody>
      </p:sp>
      <p:sp>
        <p:nvSpPr>
          <p:cNvPr id="36" name="TextBox 35"/>
          <p:cNvSpPr txBox="1"/>
          <p:nvPr/>
        </p:nvSpPr>
        <p:spPr>
          <a:xfrm>
            <a:off x="676656" y="5120640"/>
            <a:ext cx="777240" cy="822960"/>
          </a:xfrm>
          <a:prstGeom prst="rect">
            <a:avLst/>
          </a:prstGeom>
          <a:noFill/>
        </p:spPr>
        <p:txBody>
          <a:bodyPr wrap="square" lIns="0" rIns="0" tIns="0" bIns="0" anchor="ctr">
            <a:spAutoFit/>
          </a:bodyPr>
          <a:lstStyle/>
          <a:p>
            <a:pPr algn="ctr">
              <a:lnSpc>
                <a:spcPct val="128000"/>
              </a:lnSpc>
            </a:pPr>
            <a:r>
              <a:rPr sz="1400" b="1" i="0">
                <a:solidFill>
                  <a:srgbClr val="4A35FF"/>
                </a:solidFill>
                <a:latin typeface="Montserrat"/>
              </a:rPr>
              <a:t>BB</a:t>
            </a:r>
          </a:p>
        </p:txBody>
      </p:sp>
      <p:sp>
        <p:nvSpPr>
          <p:cNvPr id="37" name="TextBox 36"/>
          <p:cNvSpPr txBox="1"/>
          <p:nvPr/>
        </p:nvSpPr>
        <p:spPr>
          <a:xfrm>
            <a:off x="1536192" y="4983480"/>
            <a:ext cx="1094171" cy="1097280"/>
          </a:xfrm>
          <a:prstGeom prst="rect">
            <a:avLst/>
          </a:prstGeom>
          <a:noFill/>
        </p:spPr>
        <p:txBody>
          <a:bodyPr wrap="square" lIns="0" rIns="0" tIns="0" bIns="0" anchor="ctr">
            <a:spAutoFit/>
          </a:bodyPr>
          <a:lstStyle/>
          <a:p>
            <a:pPr algn="l">
              <a:lnSpc>
                <a:spcPct val="112000"/>
              </a:lnSpc>
            </a:pPr>
            <a:r>
              <a:rPr sz="900" b="1" i="0">
                <a:solidFill>
                  <a:srgbClr val="16181D"/>
                </a:solidFill>
                <a:latin typeface="Montserrat"/>
              </a:rPr>
              <a:t>Balraj Bhanot</a:t>
            </a:r>
            <a:r>
              <a:rPr sz="750" b="0" i="0">
                <a:solidFill>
                  <a:srgbClr val="6E7180"/>
                </a:solidFill>
                <a:latin typeface="Montserrat"/>
              </a:rPr>
              <a:t>
Ex-Chairman, CMVR-TSC · ex-ARAI</a:t>
            </a:r>
          </a:p>
        </p:txBody>
      </p:sp>
      <p:sp>
        <p:nvSpPr>
          <p:cNvPr id="38" name="Rounded Rectangle 37"/>
          <p:cNvSpPr/>
          <p:nvPr/>
        </p:nvSpPr>
        <p:spPr>
          <a:xfrm>
            <a:off x="2794955" y="4983480"/>
            <a:ext cx="2145731" cy="1097280"/>
          </a:xfrm>
          <a:prstGeom prst="roundRect">
            <a:avLst>
              <a:gd name="adj" fmla="val 10000"/>
            </a:avLst>
          </a:prstGeom>
          <a:solidFill>
            <a:srgbClr val="F7F7FA"/>
          </a:solidFill>
          <a:ln>
            <a:noFill/>
          </a:ln>
          <a:effectLst/>
        </p:spPr>
        <p:txBody>
          <a:bodyPr rtlCol="0" anchor="ctr"/>
          <a:lstStyle/>
          <a:p>
            <a:pPr algn="ctr"/>
          </a:p>
        </p:txBody>
      </p:sp>
      <p:sp>
        <p:nvSpPr>
          <p:cNvPr id="39" name="Oval 38"/>
          <p:cNvSpPr/>
          <p:nvPr/>
        </p:nvSpPr>
        <p:spPr>
          <a:xfrm>
            <a:off x="2904683" y="5138928"/>
            <a:ext cx="777240" cy="777240"/>
          </a:xfrm>
          <a:prstGeom prst="ellipse">
            <a:avLst/>
          </a:prstGeom>
          <a:solidFill>
            <a:srgbClr val="EFEDFF"/>
          </a:solidFill>
          <a:ln>
            <a:noFill/>
          </a:ln>
          <a:effectLst/>
        </p:spPr>
        <p:txBody>
          <a:bodyPr rtlCol="0" anchor="ctr"/>
          <a:lstStyle/>
          <a:p>
            <a:pPr algn="ctr"/>
          </a:p>
        </p:txBody>
      </p:sp>
      <p:sp>
        <p:nvSpPr>
          <p:cNvPr id="40" name="TextBox 39"/>
          <p:cNvSpPr txBox="1"/>
          <p:nvPr/>
        </p:nvSpPr>
        <p:spPr>
          <a:xfrm>
            <a:off x="2904683" y="5120640"/>
            <a:ext cx="777240" cy="822960"/>
          </a:xfrm>
          <a:prstGeom prst="rect">
            <a:avLst/>
          </a:prstGeom>
          <a:noFill/>
        </p:spPr>
        <p:txBody>
          <a:bodyPr wrap="square" lIns="0" rIns="0" tIns="0" bIns="0" anchor="ctr">
            <a:spAutoFit/>
          </a:bodyPr>
          <a:lstStyle/>
          <a:p>
            <a:pPr algn="ctr">
              <a:lnSpc>
                <a:spcPct val="128000"/>
              </a:lnSpc>
            </a:pPr>
            <a:r>
              <a:rPr sz="1400" b="1" i="0">
                <a:solidFill>
                  <a:srgbClr val="4A35FF"/>
                </a:solidFill>
                <a:latin typeface="Montserrat"/>
              </a:rPr>
              <a:t>DS</a:t>
            </a:r>
          </a:p>
        </p:txBody>
      </p:sp>
      <p:sp>
        <p:nvSpPr>
          <p:cNvPr id="41" name="TextBox 40"/>
          <p:cNvSpPr txBox="1"/>
          <p:nvPr/>
        </p:nvSpPr>
        <p:spPr>
          <a:xfrm>
            <a:off x="3764219" y="4983480"/>
            <a:ext cx="1094171" cy="1097280"/>
          </a:xfrm>
          <a:prstGeom prst="rect">
            <a:avLst/>
          </a:prstGeom>
          <a:noFill/>
        </p:spPr>
        <p:txBody>
          <a:bodyPr wrap="square" lIns="0" rIns="0" tIns="0" bIns="0" anchor="ctr">
            <a:spAutoFit/>
          </a:bodyPr>
          <a:lstStyle/>
          <a:p>
            <a:pPr algn="l">
              <a:lnSpc>
                <a:spcPct val="112000"/>
              </a:lnSpc>
            </a:pPr>
            <a:r>
              <a:rPr sz="900" b="1" i="0">
                <a:solidFill>
                  <a:srgbClr val="16181D"/>
                </a:solidFill>
                <a:latin typeface="Montserrat"/>
              </a:rPr>
              <a:t>Dattatraya Saste</a:t>
            </a:r>
            <a:r>
              <a:rPr sz="750" b="0" i="0">
                <a:solidFill>
                  <a:srgbClr val="6E7180"/>
                </a:solidFill>
                <a:latin typeface="Montserrat"/>
              </a:rPr>
              <a:t>
Ex-MoRTH · Bus Code Convener</a:t>
            </a:r>
          </a:p>
        </p:txBody>
      </p:sp>
      <p:sp>
        <p:nvSpPr>
          <p:cNvPr id="42" name="Rounded Rectangle 41"/>
          <p:cNvSpPr/>
          <p:nvPr/>
        </p:nvSpPr>
        <p:spPr>
          <a:xfrm>
            <a:off x="5022982" y="4983480"/>
            <a:ext cx="2145731" cy="1097280"/>
          </a:xfrm>
          <a:prstGeom prst="roundRect">
            <a:avLst>
              <a:gd name="adj" fmla="val 10000"/>
            </a:avLst>
          </a:prstGeom>
          <a:solidFill>
            <a:srgbClr val="F7F7FA"/>
          </a:solidFill>
          <a:ln>
            <a:noFill/>
          </a:ln>
          <a:effectLst/>
        </p:spPr>
        <p:txBody>
          <a:bodyPr rtlCol="0" anchor="ctr"/>
          <a:lstStyle/>
          <a:p>
            <a:pPr algn="ctr"/>
          </a:p>
        </p:txBody>
      </p:sp>
      <p:pic>
        <p:nvPicPr>
          <p:cNvPr id="43" name="Picture 42" descr="x_gtiwari.png"/>
          <p:cNvPicPr>
            <a:picLocks noChangeAspect="1"/>
          </p:cNvPicPr>
          <p:nvPr/>
        </p:nvPicPr>
        <p:blipFill>
          <a:blip r:embed="rId5"/>
          <a:stretch>
            <a:fillRect/>
          </a:stretch>
        </p:blipFill>
        <p:spPr>
          <a:xfrm>
            <a:off x="5132710" y="5138928"/>
            <a:ext cx="777240" cy="777240"/>
          </a:xfrm>
          <a:prstGeom prst="rect">
            <a:avLst/>
          </a:prstGeom>
        </p:spPr>
      </p:pic>
      <p:sp>
        <p:nvSpPr>
          <p:cNvPr id="44" name="TextBox 43"/>
          <p:cNvSpPr txBox="1"/>
          <p:nvPr/>
        </p:nvSpPr>
        <p:spPr>
          <a:xfrm>
            <a:off x="5992246" y="4983480"/>
            <a:ext cx="1094171" cy="1097280"/>
          </a:xfrm>
          <a:prstGeom prst="rect">
            <a:avLst/>
          </a:prstGeom>
          <a:noFill/>
        </p:spPr>
        <p:txBody>
          <a:bodyPr wrap="square" lIns="0" rIns="0" tIns="0" bIns="0" anchor="ctr">
            <a:spAutoFit/>
          </a:bodyPr>
          <a:lstStyle/>
          <a:p>
            <a:pPr algn="l">
              <a:lnSpc>
                <a:spcPct val="112000"/>
              </a:lnSpc>
            </a:pPr>
            <a:r>
              <a:rPr sz="900" b="1" i="0">
                <a:solidFill>
                  <a:srgbClr val="16181D"/>
                </a:solidFill>
                <a:latin typeface="Montserrat"/>
              </a:rPr>
              <a:t>Prof. Geetam Tiwari</a:t>
            </a:r>
            <a:r>
              <a:rPr sz="750" b="0" i="0">
                <a:solidFill>
                  <a:srgbClr val="6E7180"/>
                </a:solidFill>
                <a:latin typeface="Montserrat"/>
              </a:rPr>
              <a:t>
TRIP Centre, IIT Delhi</a:t>
            </a:r>
          </a:p>
        </p:txBody>
      </p:sp>
      <p:sp>
        <p:nvSpPr>
          <p:cNvPr id="45" name="Rounded Rectangle 44"/>
          <p:cNvSpPr/>
          <p:nvPr/>
        </p:nvSpPr>
        <p:spPr>
          <a:xfrm>
            <a:off x="7251009" y="4983480"/>
            <a:ext cx="2145731" cy="1097280"/>
          </a:xfrm>
          <a:prstGeom prst="roundRect">
            <a:avLst>
              <a:gd name="adj" fmla="val 10000"/>
            </a:avLst>
          </a:prstGeom>
          <a:solidFill>
            <a:srgbClr val="F7F7FA"/>
          </a:solidFill>
          <a:ln>
            <a:noFill/>
          </a:ln>
          <a:effectLst/>
        </p:spPr>
        <p:txBody>
          <a:bodyPr rtlCol="0" anchor="ctr"/>
          <a:lstStyle/>
          <a:p>
            <a:pPr algn="ctr"/>
          </a:p>
        </p:txBody>
      </p:sp>
      <p:pic>
        <p:nvPicPr>
          <p:cNvPr id="46" name="Picture 45" descr="x_richa.png"/>
          <p:cNvPicPr>
            <a:picLocks noChangeAspect="1"/>
          </p:cNvPicPr>
          <p:nvPr/>
        </p:nvPicPr>
        <p:blipFill>
          <a:blip r:embed="rId6"/>
          <a:stretch>
            <a:fillRect/>
          </a:stretch>
        </p:blipFill>
        <p:spPr>
          <a:xfrm>
            <a:off x="7360737" y="5138928"/>
            <a:ext cx="777240" cy="777240"/>
          </a:xfrm>
          <a:prstGeom prst="rect">
            <a:avLst/>
          </a:prstGeom>
        </p:spPr>
      </p:pic>
      <p:sp>
        <p:nvSpPr>
          <p:cNvPr id="47" name="TextBox 46"/>
          <p:cNvSpPr txBox="1"/>
          <p:nvPr/>
        </p:nvSpPr>
        <p:spPr>
          <a:xfrm>
            <a:off x="8220273" y="4983480"/>
            <a:ext cx="1094171" cy="1097280"/>
          </a:xfrm>
          <a:prstGeom prst="rect">
            <a:avLst/>
          </a:prstGeom>
          <a:noFill/>
        </p:spPr>
        <p:txBody>
          <a:bodyPr wrap="square" lIns="0" rIns="0" tIns="0" bIns="0" anchor="ctr">
            <a:spAutoFit/>
          </a:bodyPr>
          <a:lstStyle/>
          <a:p>
            <a:pPr algn="l">
              <a:lnSpc>
                <a:spcPct val="112000"/>
              </a:lnSpc>
            </a:pPr>
            <a:r>
              <a:rPr sz="900" b="1" i="0">
                <a:solidFill>
                  <a:srgbClr val="16181D"/>
                </a:solidFill>
                <a:latin typeface="Montserrat"/>
              </a:rPr>
              <a:t>Dr. Richa Ahuja</a:t>
            </a:r>
            <a:r>
              <a:rPr sz="750" b="0" i="0">
                <a:solidFill>
                  <a:srgbClr val="6E7180"/>
                </a:solidFill>
                <a:latin typeface="Montserrat"/>
              </a:rPr>
              <a:t>
Asst Professor, IIT Kharagpur</a:t>
            </a:r>
          </a:p>
        </p:txBody>
      </p:sp>
      <p:sp>
        <p:nvSpPr>
          <p:cNvPr id="48" name="Rounded Rectangle 47"/>
          <p:cNvSpPr/>
          <p:nvPr/>
        </p:nvSpPr>
        <p:spPr>
          <a:xfrm>
            <a:off x="9479036" y="4983480"/>
            <a:ext cx="2145731" cy="1097280"/>
          </a:xfrm>
          <a:prstGeom prst="roundRect">
            <a:avLst>
              <a:gd name="adj" fmla="val 10000"/>
            </a:avLst>
          </a:prstGeom>
          <a:solidFill>
            <a:srgbClr val="F7F7FA"/>
          </a:solidFill>
          <a:ln>
            <a:noFill/>
          </a:ln>
          <a:effectLst/>
        </p:spPr>
        <p:txBody>
          <a:bodyPr rtlCol="0" anchor="ctr"/>
          <a:lstStyle/>
          <a:p>
            <a:pPr algn="ctr"/>
          </a:p>
        </p:txBody>
      </p:sp>
      <p:pic>
        <p:nvPicPr>
          <p:cNvPr id="49" name="Picture 48" descr="x_asrivastava.png"/>
          <p:cNvPicPr>
            <a:picLocks noChangeAspect="1"/>
          </p:cNvPicPr>
          <p:nvPr/>
        </p:nvPicPr>
        <p:blipFill>
          <a:blip r:embed="rId7"/>
          <a:stretch>
            <a:fillRect/>
          </a:stretch>
        </p:blipFill>
        <p:spPr>
          <a:xfrm>
            <a:off x="9588764" y="5138928"/>
            <a:ext cx="777240" cy="777240"/>
          </a:xfrm>
          <a:prstGeom prst="rect">
            <a:avLst/>
          </a:prstGeom>
        </p:spPr>
      </p:pic>
      <p:sp>
        <p:nvSpPr>
          <p:cNvPr id="50" name="TextBox 49"/>
          <p:cNvSpPr txBox="1"/>
          <p:nvPr/>
        </p:nvSpPr>
        <p:spPr>
          <a:xfrm>
            <a:off x="10448300" y="4983480"/>
            <a:ext cx="1094171" cy="1097280"/>
          </a:xfrm>
          <a:prstGeom prst="rect">
            <a:avLst/>
          </a:prstGeom>
          <a:noFill/>
        </p:spPr>
        <p:txBody>
          <a:bodyPr wrap="square" lIns="0" rIns="0" tIns="0" bIns="0" anchor="ctr">
            <a:spAutoFit/>
          </a:bodyPr>
          <a:lstStyle/>
          <a:p>
            <a:pPr algn="l">
              <a:lnSpc>
                <a:spcPct val="112000"/>
              </a:lnSpc>
            </a:pPr>
            <a:r>
              <a:rPr sz="900" b="1" i="0">
                <a:solidFill>
                  <a:srgbClr val="16181D"/>
                </a:solidFill>
                <a:latin typeface="Montserrat"/>
              </a:rPr>
              <a:t>Akhilesh Srivastava</a:t>
            </a:r>
            <a:r>
              <a:rPr sz="750" b="0" i="0">
                <a:solidFill>
                  <a:srgbClr val="6E7180"/>
                </a:solidFill>
                <a:latin typeface="Montserrat"/>
              </a:rPr>
              <a:t>
ITS India · IRF</a:t>
            </a:r>
          </a:p>
        </p:txBody>
      </p:sp>
      <p:cxnSp>
        <p:nvCxnSpPr>
          <p:cNvPr id="51" name="Connector 50"/>
          <p:cNvCxnSpPr/>
          <p:nvPr/>
        </p:nvCxnSpPr>
        <p:spPr>
          <a:xfrm>
            <a:off x="566928" y="6455664"/>
            <a:ext cx="11057839" cy="0"/>
          </a:xfrm>
          <a:prstGeom prst="line">
            <a:avLst/>
          </a:prstGeom>
          <a:ln w="9525">
            <a:solidFill>
              <a:srgbClr val="E8E9EE"/>
            </a:solidFill>
          </a:ln>
          <a:effectLst/>
        </p:spPr>
      </p:cxnSp>
      <p:sp>
        <p:nvSpPr>
          <p:cNvPr id="52" name="TextBox 51"/>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3</a:t>
            </a:r>
          </a:p>
        </p:txBody>
      </p:sp>
      <p:sp>
        <p:nvSpPr>
          <p:cNvPr id="53" name="TextBox 52"/>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06 / 26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2 OF 5  ·  WHAT WE HAVE BUILT</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02 · WHAT WE HAVE BUILT</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Six lines of work, </a:t>
            </a:r>
            <a:r>
              <a:rPr sz="2250" b="1" i="0">
                <a:solidFill>
                  <a:srgbClr val="4A35FF"/>
                </a:solidFill>
                <a:latin typeface="Montserrat"/>
              </a:rPr>
              <a:t>one connected system</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Audits create data · data supports policy · policy guides the field. Everything below is live today.</a:t>
            </a:r>
          </a:p>
        </p:txBody>
      </p:sp>
      <p:sp>
        <p:nvSpPr>
          <p:cNvPr id="8" name="Rounded Rectangle 7"/>
          <p:cNvSpPr/>
          <p:nvPr/>
        </p:nvSpPr>
        <p:spPr>
          <a:xfrm>
            <a:off x="566928" y="1938528"/>
            <a:ext cx="3611880" cy="2121408"/>
          </a:xfrm>
          <a:prstGeom prst="roundRect">
            <a:avLst>
              <a:gd name="adj" fmla="val 6000"/>
            </a:avLst>
          </a:prstGeom>
          <a:solidFill>
            <a:srgbClr val="FFFFFF"/>
          </a:solidFill>
          <a:ln w="9525">
            <a:solidFill>
              <a:srgbClr val="E8E9EE"/>
            </a:solidFill>
          </a:ln>
          <a:effectLst/>
        </p:spPr>
        <p:txBody>
          <a:bodyPr rtlCol="0" anchor="ctr"/>
          <a:lstStyle/>
          <a:p>
            <a:pPr algn="ctr"/>
          </a:p>
        </p:txBody>
      </p:sp>
      <p:pic>
        <p:nvPicPr>
          <p:cNvPr id="9" name="Picture 8" descr="implementation_work.jpg_3.95x1.28_0.30.jpg"/>
          <p:cNvPicPr>
            <a:picLocks noChangeAspect="1"/>
          </p:cNvPicPr>
          <p:nvPr/>
        </p:nvPicPr>
        <p:blipFill>
          <a:blip r:embed="rId2"/>
          <a:stretch>
            <a:fillRect/>
          </a:stretch>
        </p:blipFill>
        <p:spPr>
          <a:xfrm>
            <a:off x="566928" y="1938528"/>
            <a:ext cx="3611880" cy="1170432"/>
          </a:xfrm>
          <a:prstGeom prst="rect">
            <a:avLst/>
          </a:prstGeom>
        </p:spPr>
      </p:pic>
      <p:sp>
        <p:nvSpPr>
          <p:cNvPr id="10" name="Rectangle 9"/>
          <p:cNvSpPr/>
          <p:nvPr/>
        </p:nvSpPr>
        <p:spPr>
          <a:xfrm>
            <a:off x="566928" y="1938528"/>
            <a:ext cx="3611880" cy="1170432"/>
          </a:xfrm>
          <a:prstGeom prst="rect">
            <a:avLst/>
          </a:prstGeom>
          <a:noFill/>
          <a:ln w="12700">
            <a:solidFill>
              <a:srgbClr val="E8E9EE"/>
            </a:solidFill>
          </a:ln>
          <a:effectLst/>
        </p:spPr>
        <p:txBody>
          <a:bodyPr rtlCol="0" anchor="ctr"/>
          <a:lstStyle/>
          <a:p>
            <a:pPr algn="ctr"/>
          </a:p>
        </p:txBody>
      </p:sp>
      <p:sp>
        <p:nvSpPr>
          <p:cNvPr id="11" name="TextBox 10"/>
          <p:cNvSpPr txBox="1"/>
          <p:nvPr/>
        </p:nvSpPr>
        <p:spPr>
          <a:xfrm>
            <a:off x="694944" y="3182112"/>
            <a:ext cx="3355848" cy="274320"/>
          </a:xfrm>
          <a:prstGeom prst="rect">
            <a:avLst/>
          </a:prstGeom>
          <a:noFill/>
        </p:spPr>
        <p:txBody>
          <a:bodyPr wrap="square" lIns="0" rIns="0" tIns="0" bIns="0" anchor="t">
            <a:spAutoFit/>
          </a:bodyPr>
          <a:lstStyle/>
          <a:p>
            <a:pPr algn="l">
              <a:lnSpc>
                <a:spcPct val="100000"/>
              </a:lnSpc>
            </a:pPr>
            <a:r>
              <a:rPr sz="1150" b="1" i="0">
                <a:solidFill>
                  <a:srgbClr val="16181D"/>
                </a:solidFill>
                <a:latin typeface="Montserrat"/>
              </a:rPr>
              <a:t>Project Rakshak</a:t>
            </a:r>
          </a:p>
        </p:txBody>
      </p:sp>
      <p:sp>
        <p:nvSpPr>
          <p:cNvPr id="12" name="TextBox 11"/>
          <p:cNvSpPr txBox="1"/>
          <p:nvPr/>
        </p:nvSpPr>
        <p:spPr>
          <a:xfrm>
            <a:off x="694944" y="3419856"/>
            <a:ext cx="3355848" cy="320040"/>
          </a:xfrm>
          <a:prstGeom prst="rect">
            <a:avLst/>
          </a:prstGeom>
          <a:noFill/>
        </p:spPr>
        <p:txBody>
          <a:bodyPr wrap="square" lIns="0" rIns="0" tIns="0" bIns="0" anchor="t">
            <a:spAutoFit/>
          </a:bodyPr>
          <a:lstStyle/>
          <a:p>
            <a:pPr algn="l">
              <a:lnSpc>
                <a:spcPct val="112000"/>
              </a:lnSpc>
            </a:pPr>
            <a:r>
              <a:rPr sz="900" b="0" i="0">
                <a:solidFill>
                  <a:srgbClr val="6E7180"/>
                </a:solidFill>
                <a:latin typeface="Geist"/>
              </a:rPr>
              <a:t>Student-led road audits, fixed with authorities</a:t>
            </a:r>
          </a:p>
        </p:txBody>
      </p:sp>
      <p:sp>
        <p:nvSpPr>
          <p:cNvPr id="13" name="TextBox 12"/>
          <p:cNvSpPr txBox="1"/>
          <p:nvPr/>
        </p:nvSpPr>
        <p:spPr>
          <a:xfrm>
            <a:off x="694944" y="3785616"/>
            <a:ext cx="3355848" cy="237744"/>
          </a:xfrm>
          <a:prstGeom prst="rect">
            <a:avLst/>
          </a:prstGeom>
          <a:noFill/>
        </p:spPr>
        <p:txBody>
          <a:bodyPr wrap="square" lIns="0" rIns="0" tIns="0" bIns="0" anchor="t">
            <a:spAutoFit/>
          </a:bodyPr>
          <a:lstStyle/>
          <a:p>
            <a:pPr algn="l">
              <a:lnSpc>
                <a:spcPct val="100000"/>
              </a:lnSpc>
            </a:pPr>
            <a:r>
              <a:rPr sz="900" b="1" i="0">
                <a:solidFill>
                  <a:srgbClr val="4A35FF"/>
                </a:solidFill>
                <a:latin typeface="Montserrat"/>
              </a:rPr>
              <a:t>31 sites · 7 fixes fully built</a:t>
            </a:r>
          </a:p>
        </p:txBody>
      </p:sp>
      <p:sp>
        <p:nvSpPr>
          <p:cNvPr id="14" name="Rounded Rectangle 13"/>
          <p:cNvSpPr/>
          <p:nvPr/>
        </p:nvSpPr>
        <p:spPr>
          <a:xfrm>
            <a:off x="4288536" y="1938528"/>
            <a:ext cx="3611880" cy="2121408"/>
          </a:xfrm>
          <a:prstGeom prst="roundRect">
            <a:avLst>
              <a:gd name="adj" fmla="val 6000"/>
            </a:avLst>
          </a:prstGeom>
          <a:solidFill>
            <a:srgbClr val="FFFFFF"/>
          </a:solidFill>
          <a:ln w="9525">
            <a:solidFill>
              <a:srgbClr val="E8E9EE"/>
            </a:solidFill>
          </a:ln>
          <a:effectLst/>
        </p:spPr>
        <p:txBody>
          <a:bodyPr rtlCol="0" anchor="ctr"/>
          <a:lstStyle/>
          <a:p>
            <a:pPr algn="ctr"/>
          </a:p>
        </p:txBody>
      </p:sp>
      <p:pic>
        <p:nvPicPr>
          <p:cNvPr id="15" name="Picture 14" descr="satark_billboard.jpg_3.95x1.28_0.42.jpg"/>
          <p:cNvPicPr>
            <a:picLocks noChangeAspect="1"/>
          </p:cNvPicPr>
          <p:nvPr/>
        </p:nvPicPr>
        <p:blipFill>
          <a:blip r:embed="rId3"/>
          <a:stretch>
            <a:fillRect/>
          </a:stretch>
        </p:blipFill>
        <p:spPr>
          <a:xfrm>
            <a:off x="4288536" y="1938528"/>
            <a:ext cx="3611880" cy="1170432"/>
          </a:xfrm>
          <a:prstGeom prst="rect">
            <a:avLst/>
          </a:prstGeom>
        </p:spPr>
      </p:pic>
      <p:sp>
        <p:nvSpPr>
          <p:cNvPr id="16" name="Rectangle 15"/>
          <p:cNvSpPr/>
          <p:nvPr/>
        </p:nvSpPr>
        <p:spPr>
          <a:xfrm>
            <a:off x="4288536" y="1938528"/>
            <a:ext cx="3611880" cy="1170432"/>
          </a:xfrm>
          <a:prstGeom prst="rect">
            <a:avLst/>
          </a:prstGeom>
          <a:noFill/>
          <a:ln w="12700">
            <a:solidFill>
              <a:srgbClr val="E8E9EE"/>
            </a:solidFill>
          </a:ln>
          <a:effectLst/>
        </p:spPr>
        <p:txBody>
          <a:bodyPr rtlCol="0" anchor="ctr"/>
          <a:lstStyle/>
          <a:p>
            <a:pPr algn="ctr"/>
          </a:p>
        </p:txBody>
      </p:sp>
      <p:sp>
        <p:nvSpPr>
          <p:cNvPr id="17" name="TextBox 16"/>
          <p:cNvSpPr txBox="1"/>
          <p:nvPr/>
        </p:nvSpPr>
        <p:spPr>
          <a:xfrm>
            <a:off x="4416552" y="3182112"/>
            <a:ext cx="3355848" cy="274320"/>
          </a:xfrm>
          <a:prstGeom prst="rect">
            <a:avLst/>
          </a:prstGeom>
          <a:noFill/>
        </p:spPr>
        <p:txBody>
          <a:bodyPr wrap="square" lIns="0" rIns="0" tIns="0" bIns="0" anchor="t">
            <a:spAutoFit/>
          </a:bodyPr>
          <a:lstStyle/>
          <a:p>
            <a:pPr algn="l">
              <a:lnSpc>
                <a:spcPct val="100000"/>
              </a:lnSpc>
            </a:pPr>
            <a:r>
              <a:rPr sz="1150" b="1" i="0">
                <a:solidFill>
                  <a:srgbClr val="16181D"/>
                </a:solidFill>
                <a:latin typeface="Montserrat"/>
              </a:rPr>
              <a:t>SATARK enforcement</a:t>
            </a:r>
          </a:p>
        </p:txBody>
      </p:sp>
      <p:sp>
        <p:nvSpPr>
          <p:cNvPr id="18" name="TextBox 17"/>
          <p:cNvSpPr txBox="1"/>
          <p:nvPr/>
        </p:nvSpPr>
        <p:spPr>
          <a:xfrm>
            <a:off x="4416552" y="3419856"/>
            <a:ext cx="3355848" cy="320040"/>
          </a:xfrm>
          <a:prstGeom prst="rect">
            <a:avLst/>
          </a:prstGeom>
          <a:noFill/>
        </p:spPr>
        <p:txBody>
          <a:bodyPr wrap="square" lIns="0" rIns="0" tIns="0" bIns="0" anchor="t">
            <a:spAutoFit/>
          </a:bodyPr>
          <a:lstStyle/>
          <a:p>
            <a:pPr algn="l">
              <a:lnSpc>
                <a:spcPct val="112000"/>
              </a:lnSpc>
            </a:pPr>
            <a:r>
              <a:rPr sz="900" b="0" i="0">
                <a:solidFill>
                  <a:srgbClr val="6E7180"/>
                </a:solidFill>
                <a:latin typeface="Geist"/>
              </a:rPr>
              <a:t>AI support that helps police find high-risk vehicles</a:t>
            </a:r>
          </a:p>
        </p:txBody>
      </p:sp>
      <p:sp>
        <p:nvSpPr>
          <p:cNvPr id="19" name="TextBox 18"/>
          <p:cNvSpPr txBox="1"/>
          <p:nvPr/>
        </p:nvSpPr>
        <p:spPr>
          <a:xfrm>
            <a:off x="4416552" y="3785616"/>
            <a:ext cx="3355848" cy="237744"/>
          </a:xfrm>
          <a:prstGeom prst="rect">
            <a:avLst/>
          </a:prstGeom>
          <a:noFill/>
        </p:spPr>
        <p:txBody>
          <a:bodyPr wrap="square" lIns="0" rIns="0" tIns="0" bIns="0" anchor="t">
            <a:spAutoFit/>
          </a:bodyPr>
          <a:lstStyle/>
          <a:p>
            <a:pPr algn="l">
              <a:lnSpc>
                <a:spcPct val="100000"/>
              </a:lnSpc>
            </a:pPr>
            <a:r>
              <a:rPr sz="900" b="1" i="0">
                <a:solidFill>
                  <a:srgbClr val="4A35FF"/>
                </a:solidFill>
                <a:latin typeface="Montserrat"/>
              </a:rPr>
              <a:t>3,00,000+ vehicles screened</a:t>
            </a:r>
          </a:p>
        </p:txBody>
      </p:sp>
      <p:sp>
        <p:nvSpPr>
          <p:cNvPr id="20" name="Rounded Rectangle 19"/>
          <p:cNvSpPr/>
          <p:nvPr/>
        </p:nvSpPr>
        <p:spPr>
          <a:xfrm>
            <a:off x="8010144" y="1938528"/>
            <a:ext cx="3611880" cy="2121408"/>
          </a:xfrm>
          <a:prstGeom prst="roundRect">
            <a:avLst>
              <a:gd name="adj" fmla="val 6000"/>
            </a:avLst>
          </a:prstGeom>
          <a:solidFill>
            <a:srgbClr val="FFFFFF"/>
          </a:solidFill>
          <a:ln w="9525">
            <a:solidFill>
              <a:srgbClr val="E8E9EE"/>
            </a:solidFill>
          </a:ln>
          <a:effectLst/>
        </p:spPr>
        <p:txBody>
          <a:bodyPr rtlCol="0" anchor="ctr"/>
          <a:lstStyle/>
          <a:p>
            <a:pPr algn="ctr"/>
          </a:p>
        </p:txBody>
      </p:sp>
      <p:pic>
        <p:nvPicPr>
          <p:cNvPr id="21" name="Picture 20" descr="ph_helpdesk_desk.jpg_3.95x1.28_0.25.jpg"/>
          <p:cNvPicPr>
            <a:picLocks noChangeAspect="1"/>
          </p:cNvPicPr>
          <p:nvPr/>
        </p:nvPicPr>
        <p:blipFill>
          <a:blip r:embed="rId4"/>
          <a:stretch>
            <a:fillRect/>
          </a:stretch>
        </p:blipFill>
        <p:spPr>
          <a:xfrm>
            <a:off x="8010144" y="1938528"/>
            <a:ext cx="3611880" cy="1170432"/>
          </a:xfrm>
          <a:prstGeom prst="rect">
            <a:avLst/>
          </a:prstGeom>
        </p:spPr>
      </p:pic>
      <p:sp>
        <p:nvSpPr>
          <p:cNvPr id="22" name="Rectangle 21"/>
          <p:cNvSpPr/>
          <p:nvPr/>
        </p:nvSpPr>
        <p:spPr>
          <a:xfrm>
            <a:off x="8010144" y="1938528"/>
            <a:ext cx="3611880" cy="1170432"/>
          </a:xfrm>
          <a:prstGeom prst="rect">
            <a:avLst/>
          </a:prstGeom>
          <a:noFill/>
          <a:ln w="12700">
            <a:solidFill>
              <a:srgbClr val="E8E9EE"/>
            </a:solidFill>
          </a:ln>
          <a:effectLst/>
        </p:spPr>
        <p:txBody>
          <a:bodyPr rtlCol="0" anchor="ctr"/>
          <a:lstStyle/>
          <a:p>
            <a:pPr algn="ctr"/>
          </a:p>
        </p:txBody>
      </p:sp>
      <p:sp>
        <p:nvSpPr>
          <p:cNvPr id="23" name="TextBox 22"/>
          <p:cNvSpPr txBox="1"/>
          <p:nvPr/>
        </p:nvSpPr>
        <p:spPr>
          <a:xfrm>
            <a:off x="8138160" y="3182112"/>
            <a:ext cx="3355848" cy="274320"/>
          </a:xfrm>
          <a:prstGeom prst="rect">
            <a:avLst/>
          </a:prstGeom>
          <a:noFill/>
        </p:spPr>
        <p:txBody>
          <a:bodyPr wrap="square" lIns="0" rIns="0" tIns="0" bIns="0" anchor="t">
            <a:spAutoFit/>
          </a:bodyPr>
          <a:lstStyle/>
          <a:p>
            <a:pPr algn="l">
              <a:lnSpc>
                <a:spcPct val="100000"/>
              </a:lnSpc>
            </a:pPr>
            <a:r>
              <a:rPr sz="1150" b="1" i="0">
                <a:solidFill>
                  <a:srgbClr val="16181D"/>
                </a:solidFill>
                <a:latin typeface="Montserrat"/>
              </a:rPr>
              <a:t>Victim support</a:t>
            </a:r>
          </a:p>
        </p:txBody>
      </p:sp>
      <p:sp>
        <p:nvSpPr>
          <p:cNvPr id="24" name="TextBox 23"/>
          <p:cNvSpPr txBox="1"/>
          <p:nvPr/>
        </p:nvSpPr>
        <p:spPr>
          <a:xfrm>
            <a:off x="8138160" y="3419856"/>
            <a:ext cx="3355848" cy="320040"/>
          </a:xfrm>
          <a:prstGeom prst="rect">
            <a:avLst/>
          </a:prstGeom>
          <a:noFill/>
        </p:spPr>
        <p:txBody>
          <a:bodyPr wrap="square" lIns="0" rIns="0" tIns="0" bIns="0" anchor="t">
            <a:spAutoFit/>
          </a:bodyPr>
          <a:lstStyle/>
          <a:p>
            <a:pPr algn="l">
              <a:lnSpc>
                <a:spcPct val="112000"/>
              </a:lnSpc>
            </a:pPr>
            <a:r>
              <a:rPr sz="900" b="0" i="0">
                <a:solidFill>
                  <a:srgbClr val="6E7180"/>
                </a:solidFill>
                <a:latin typeface="Geist"/>
              </a:rPr>
              <a:t>Aasha chatbot, calculator, hospital helpdesks</a:t>
            </a:r>
          </a:p>
        </p:txBody>
      </p:sp>
      <p:sp>
        <p:nvSpPr>
          <p:cNvPr id="25" name="TextBox 24"/>
          <p:cNvSpPr txBox="1"/>
          <p:nvPr/>
        </p:nvSpPr>
        <p:spPr>
          <a:xfrm>
            <a:off x="8138160" y="3785616"/>
            <a:ext cx="3355848" cy="237744"/>
          </a:xfrm>
          <a:prstGeom prst="rect">
            <a:avLst/>
          </a:prstGeom>
          <a:noFill/>
        </p:spPr>
        <p:txBody>
          <a:bodyPr wrap="square" lIns="0" rIns="0" tIns="0" bIns="0" anchor="t">
            <a:spAutoFit/>
          </a:bodyPr>
          <a:lstStyle/>
          <a:p>
            <a:pPr algn="l">
              <a:lnSpc>
                <a:spcPct val="100000"/>
              </a:lnSpc>
            </a:pPr>
            <a:r>
              <a:rPr sz="900" b="1" i="0">
                <a:solidFill>
                  <a:srgbClr val="4A35FF"/>
                </a:solidFill>
                <a:latin typeface="Montserrat"/>
              </a:rPr>
              <a:t>100+ victims helped in first 4 days</a:t>
            </a:r>
          </a:p>
        </p:txBody>
      </p:sp>
      <p:sp>
        <p:nvSpPr>
          <p:cNvPr id="26" name="Rounded Rectangle 25"/>
          <p:cNvSpPr/>
          <p:nvPr/>
        </p:nvSpPr>
        <p:spPr>
          <a:xfrm>
            <a:off x="566928" y="4206240"/>
            <a:ext cx="3611880" cy="2121408"/>
          </a:xfrm>
          <a:prstGeom prst="roundRect">
            <a:avLst>
              <a:gd name="adj" fmla="val 6000"/>
            </a:avLst>
          </a:prstGeom>
          <a:solidFill>
            <a:srgbClr val="FFFFFF"/>
          </a:solidFill>
          <a:ln w="9525">
            <a:solidFill>
              <a:srgbClr val="E8E9EE"/>
            </a:solidFill>
          </a:ln>
          <a:effectLst/>
        </p:spPr>
        <p:txBody>
          <a:bodyPr rtlCol="0" anchor="ctr"/>
          <a:lstStyle/>
          <a:p>
            <a:pPr algn="ctr"/>
          </a:p>
        </p:txBody>
      </p:sp>
      <p:pic>
        <p:nvPicPr>
          <p:cNvPr id="27" name="Picture 26" descr="sctracker.png_3.95x1.28_0.05.jpg"/>
          <p:cNvPicPr>
            <a:picLocks noChangeAspect="1"/>
          </p:cNvPicPr>
          <p:nvPr/>
        </p:nvPicPr>
        <p:blipFill>
          <a:blip r:embed="rId5"/>
          <a:stretch>
            <a:fillRect/>
          </a:stretch>
        </p:blipFill>
        <p:spPr>
          <a:xfrm>
            <a:off x="566928" y="4206240"/>
            <a:ext cx="3611880" cy="1170432"/>
          </a:xfrm>
          <a:prstGeom prst="rect">
            <a:avLst/>
          </a:prstGeom>
        </p:spPr>
      </p:pic>
      <p:sp>
        <p:nvSpPr>
          <p:cNvPr id="28" name="Rectangle 27"/>
          <p:cNvSpPr/>
          <p:nvPr/>
        </p:nvSpPr>
        <p:spPr>
          <a:xfrm>
            <a:off x="566928" y="4206240"/>
            <a:ext cx="3611880" cy="1170432"/>
          </a:xfrm>
          <a:prstGeom prst="rect">
            <a:avLst/>
          </a:prstGeom>
          <a:noFill/>
          <a:ln w="12700">
            <a:solidFill>
              <a:srgbClr val="E8E9EE"/>
            </a:solidFill>
          </a:ln>
          <a:effectLst/>
        </p:spPr>
        <p:txBody>
          <a:bodyPr rtlCol="0" anchor="ctr"/>
          <a:lstStyle/>
          <a:p>
            <a:pPr algn="ctr"/>
          </a:p>
        </p:txBody>
      </p:sp>
      <p:sp>
        <p:nvSpPr>
          <p:cNvPr id="29" name="TextBox 28"/>
          <p:cNvSpPr txBox="1"/>
          <p:nvPr/>
        </p:nvSpPr>
        <p:spPr>
          <a:xfrm>
            <a:off x="694944" y="5449824"/>
            <a:ext cx="3355848" cy="274320"/>
          </a:xfrm>
          <a:prstGeom prst="rect">
            <a:avLst/>
          </a:prstGeom>
          <a:noFill/>
        </p:spPr>
        <p:txBody>
          <a:bodyPr wrap="square" lIns="0" rIns="0" tIns="0" bIns="0" anchor="t">
            <a:spAutoFit/>
          </a:bodyPr>
          <a:lstStyle/>
          <a:p>
            <a:pPr algn="l">
              <a:lnSpc>
                <a:spcPct val="100000"/>
              </a:lnSpc>
            </a:pPr>
            <a:r>
              <a:rPr sz="1150" b="1" i="0">
                <a:solidFill>
                  <a:srgbClr val="16181D"/>
                </a:solidFill>
                <a:latin typeface="Montserrat"/>
              </a:rPr>
              <a:t>Open public data</a:t>
            </a:r>
          </a:p>
        </p:txBody>
      </p:sp>
      <p:sp>
        <p:nvSpPr>
          <p:cNvPr id="30" name="TextBox 29"/>
          <p:cNvSpPr txBox="1"/>
          <p:nvPr/>
        </p:nvSpPr>
        <p:spPr>
          <a:xfrm>
            <a:off x="694944" y="5687568"/>
            <a:ext cx="3355848" cy="320040"/>
          </a:xfrm>
          <a:prstGeom prst="rect">
            <a:avLst/>
          </a:prstGeom>
          <a:noFill/>
        </p:spPr>
        <p:txBody>
          <a:bodyPr wrap="square" lIns="0" rIns="0" tIns="0" bIns="0" anchor="t">
            <a:spAutoFit/>
          </a:bodyPr>
          <a:lstStyle/>
          <a:p>
            <a:pPr algn="l">
              <a:lnSpc>
                <a:spcPct val="112000"/>
              </a:lnSpc>
            </a:pPr>
            <a:r>
              <a:rPr sz="900" b="0" i="0">
                <a:solidFill>
                  <a:srgbClr val="6E7180"/>
                </a:solidFill>
                <a:latin typeface="Geist"/>
              </a:rPr>
              <a:t>Four self-updating data platforms, free to use</a:t>
            </a:r>
          </a:p>
        </p:txBody>
      </p:sp>
      <p:sp>
        <p:nvSpPr>
          <p:cNvPr id="31" name="TextBox 30"/>
          <p:cNvSpPr txBox="1"/>
          <p:nvPr/>
        </p:nvSpPr>
        <p:spPr>
          <a:xfrm>
            <a:off x="694944" y="6053328"/>
            <a:ext cx="3355848" cy="237744"/>
          </a:xfrm>
          <a:prstGeom prst="rect">
            <a:avLst/>
          </a:prstGeom>
          <a:noFill/>
        </p:spPr>
        <p:txBody>
          <a:bodyPr wrap="square" lIns="0" rIns="0" tIns="0" bIns="0" anchor="t">
            <a:spAutoFit/>
          </a:bodyPr>
          <a:lstStyle/>
          <a:p>
            <a:pPr algn="l">
              <a:lnSpc>
                <a:spcPct val="100000"/>
              </a:lnSpc>
            </a:pPr>
            <a:r>
              <a:rPr sz="900" b="1" i="0">
                <a:solidFill>
                  <a:srgbClr val="4A35FF"/>
                </a:solidFill>
                <a:latin typeface="Montserrat"/>
              </a:rPr>
              <a:t>36 states &amp; 50 cities covered</a:t>
            </a:r>
          </a:p>
        </p:txBody>
      </p:sp>
      <p:sp>
        <p:nvSpPr>
          <p:cNvPr id="32" name="Rounded Rectangle 31"/>
          <p:cNvSpPr/>
          <p:nvPr/>
        </p:nvSpPr>
        <p:spPr>
          <a:xfrm>
            <a:off x="4288536" y="4206240"/>
            <a:ext cx="3611880" cy="2121408"/>
          </a:xfrm>
          <a:prstGeom prst="roundRect">
            <a:avLst>
              <a:gd name="adj" fmla="val 6000"/>
            </a:avLst>
          </a:prstGeom>
          <a:solidFill>
            <a:srgbClr val="FFFFFF"/>
          </a:solidFill>
          <a:ln w="9525">
            <a:solidFill>
              <a:srgbClr val="E8E9EE"/>
            </a:solidFill>
          </a:ln>
          <a:effectLst/>
        </p:spPr>
        <p:txBody>
          <a:bodyPr rtlCol="0" anchor="ctr"/>
          <a:lstStyle/>
          <a:p>
            <a:pPr algn="ctr"/>
          </a:p>
        </p:txBody>
      </p:sp>
      <p:pic>
        <p:nvPicPr>
          <p:cNvPr id="33" name="Picture 32" descr="ph_ideathon_winners.jpg_3.95x1.28_0.25.jpg"/>
          <p:cNvPicPr>
            <a:picLocks noChangeAspect="1"/>
          </p:cNvPicPr>
          <p:nvPr/>
        </p:nvPicPr>
        <p:blipFill>
          <a:blip r:embed="rId6"/>
          <a:stretch>
            <a:fillRect/>
          </a:stretch>
        </p:blipFill>
        <p:spPr>
          <a:xfrm>
            <a:off x="4288536" y="4206240"/>
            <a:ext cx="3611880" cy="1170432"/>
          </a:xfrm>
          <a:prstGeom prst="rect">
            <a:avLst/>
          </a:prstGeom>
        </p:spPr>
      </p:pic>
      <p:sp>
        <p:nvSpPr>
          <p:cNvPr id="34" name="Rectangle 33"/>
          <p:cNvSpPr/>
          <p:nvPr/>
        </p:nvSpPr>
        <p:spPr>
          <a:xfrm>
            <a:off x="4288536" y="4206240"/>
            <a:ext cx="3611880" cy="1170432"/>
          </a:xfrm>
          <a:prstGeom prst="rect">
            <a:avLst/>
          </a:prstGeom>
          <a:noFill/>
          <a:ln w="12700">
            <a:solidFill>
              <a:srgbClr val="E8E9EE"/>
            </a:solidFill>
          </a:ln>
          <a:effectLst/>
        </p:spPr>
        <p:txBody>
          <a:bodyPr rtlCol="0" anchor="ctr"/>
          <a:lstStyle/>
          <a:p>
            <a:pPr algn="ctr"/>
          </a:p>
        </p:txBody>
      </p:sp>
      <p:sp>
        <p:nvSpPr>
          <p:cNvPr id="35" name="TextBox 34"/>
          <p:cNvSpPr txBox="1"/>
          <p:nvPr/>
        </p:nvSpPr>
        <p:spPr>
          <a:xfrm>
            <a:off x="4416552" y="5449824"/>
            <a:ext cx="3355848" cy="274320"/>
          </a:xfrm>
          <a:prstGeom prst="rect">
            <a:avLst/>
          </a:prstGeom>
          <a:noFill/>
        </p:spPr>
        <p:txBody>
          <a:bodyPr wrap="square" lIns="0" rIns="0" tIns="0" bIns="0" anchor="t">
            <a:spAutoFit/>
          </a:bodyPr>
          <a:lstStyle/>
          <a:p>
            <a:pPr algn="l">
              <a:lnSpc>
                <a:spcPct val="100000"/>
              </a:lnSpc>
            </a:pPr>
            <a:r>
              <a:rPr sz="1150" b="1" i="0">
                <a:solidFill>
                  <a:srgbClr val="16181D"/>
                </a:solidFill>
                <a:latin typeface="Montserrat"/>
              </a:rPr>
              <a:t>Youth &amp; policy</a:t>
            </a:r>
          </a:p>
        </p:txBody>
      </p:sp>
      <p:sp>
        <p:nvSpPr>
          <p:cNvPr id="36" name="TextBox 35"/>
          <p:cNvSpPr txBox="1"/>
          <p:nvPr/>
        </p:nvSpPr>
        <p:spPr>
          <a:xfrm>
            <a:off x="4416552" y="5687568"/>
            <a:ext cx="3355848" cy="320040"/>
          </a:xfrm>
          <a:prstGeom prst="rect">
            <a:avLst/>
          </a:prstGeom>
          <a:noFill/>
        </p:spPr>
        <p:txBody>
          <a:bodyPr wrap="square" lIns="0" rIns="0" tIns="0" bIns="0" anchor="t">
            <a:spAutoFit/>
          </a:bodyPr>
          <a:lstStyle/>
          <a:p>
            <a:pPr algn="l">
              <a:lnSpc>
                <a:spcPct val="112000"/>
              </a:lnSpc>
            </a:pPr>
            <a:r>
              <a:rPr sz="900" b="0" i="0">
                <a:solidFill>
                  <a:srgbClr val="6E7180"/>
                </a:solidFill>
                <a:latin typeface="Geist"/>
              </a:rPr>
              <a:t>NextMile ideathon and national dialogue series</a:t>
            </a:r>
          </a:p>
        </p:txBody>
      </p:sp>
      <p:sp>
        <p:nvSpPr>
          <p:cNvPr id="37" name="TextBox 36"/>
          <p:cNvSpPr txBox="1"/>
          <p:nvPr/>
        </p:nvSpPr>
        <p:spPr>
          <a:xfrm>
            <a:off x="4416552" y="6053328"/>
            <a:ext cx="3355848" cy="237744"/>
          </a:xfrm>
          <a:prstGeom prst="rect">
            <a:avLst/>
          </a:prstGeom>
          <a:noFill/>
        </p:spPr>
        <p:txBody>
          <a:bodyPr wrap="square" lIns="0" rIns="0" tIns="0" bIns="0" anchor="t">
            <a:spAutoFit/>
          </a:bodyPr>
          <a:lstStyle/>
          <a:p>
            <a:pPr algn="l">
              <a:lnSpc>
                <a:spcPct val="100000"/>
              </a:lnSpc>
            </a:pPr>
            <a:r>
              <a:rPr sz="900" b="1" i="0">
                <a:solidFill>
                  <a:srgbClr val="4A35FF"/>
                </a:solidFill>
                <a:latin typeface="Montserrat"/>
              </a:rPr>
              <a:t>2,000+ participants engaged</a:t>
            </a:r>
          </a:p>
        </p:txBody>
      </p:sp>
      <p:sp>
        <p:nvSpPr>
          <p:cNvPr id="38" name="Rounded Rectangle 37"/>
          <p:cNvSpPr/>
          <p:nvPr/>
        </p:nvSpPr>
        <p:spPr>
          <a:xfrm>
            <a:off x="8010144" y="4206240"/>
            <a:ext cx="3611880" cy="2121408"/>
          </a:xfrm>
          <a:prstGeom prst="roundRect">
            <a:avLst>
              <a:gd name="adj" fmla="val 6000"/>
            </a:avLst>
          </a:prstGeom>
          <a:solidFill>
            <a:srgbClr val="FFFFFF"/>
          </a:solidFill>
          <a:ln w="9525">
            <a:solidFill>
              <a:srgbClr val="E8E9EE"/>
            </a:solidFill>
          </a:ln>
          <a:effectLst/>
        </p:spPr>
        <p:txBody>
          <a:bodyPr rtlCol="0" anchor="ctr"/>
          <a:lstStyle/>
          <a:p>
            <a:pPr algn="ctr"/>
          </a:p>
        </p:txBody>
      </p:sp>
      <p:pic>
        <p:nvPicPr>
          <p:cNvPr id="39" name="Picture 38" descr="ph_police_rally.jpg_3.95x1.28_0.35.jpg"/>
          <p:cNvPicPr>
            <a:picLocks noChangeAspect="1"/>
          </p:cNvPicPr>
          <p:nvPr/>
        </p:nvPicPr>
        <p:blipFill>
          <a:blip r:embed="rId7"/>
          <a:stretch>
            <a:fillRect/>
          </a:stretch>
        </p:blipFill>
        <p:spPr>
          <a:xfrm>
            <a:off x="8010144" y="4206240"/>
            <a:ext cx="3611880" cy="1170432"/>
          </a:xfrm>
          <a:prstGeom prst="rect">
            <a:avLst/>
          </a:prstGeom>
        </p:spPr>
      </p:pic>
      <p:sp>
        <p:nvSpPr>
          <p:cNvPr id="40" name="Rectangle 39"/>
          <p:cNvSpPr/>
          <p:nvPr/>
        </p:nvSpPr>
        <p:spPr>
          <a:xfrm>
            <a:off x="8010144" y="4206240"/>
            <a:ext cx="3611880" cy="1170432"/>
          </a:xfrm>
          <a:prstGeom prst="rect">
            <a:avLst/>
          </a:prstGeom>
          <a:noFill/>
          <a:ln w="12700">
            <a:solidFill>
              <a:srgbClr val="E8E9EE"/>
            </a:solidFill>
          </a:ln>
          <a:effectLst/>
        </p:spPr>
        <p:txBody>
          <a:bodyPr rtlCol="0" anchor="ctr"/>
          <a:lstStyle/>
          <a:p>
            <a:pPr algn="ctr"/>
          </a:p>
        </p:txBody>
      </p:sp>
      <p:sp>
        <p:nvSpPr>
          <p:cNvPr id="41" name="TextBox 40"/>
          <p:cNvSpPr txBox="1"/>
          <p:nvPr/>
        </p:nvSpPr>
        <p:spPr>
          <a:xfrm>
            <a:off x="8138160" y="5449824"/>
            <a:ext cx="3355848" cy="274320"/>
          </a:xfrm>
          <a:prstGeom prst="rect">
            <a:avLst/>
          </a:prstGeom>
          <a:noFill/>
        </p:spPr>
        <p:txBody>
          <a:bodyPr wrap="square" lIns="0" rIns="0" tIns="0" bIns="0" anchor="t">
            <a:spAutoFit/>
          </a:bodyPr>
          <a:lstStyle/>
          <a:p>
            <a:pPr algn="l">
              <a:lnSpc>
                <a:spcPct val="100000"/>
              </a:lnSpc>
            </a:pPr>
            <a:r>
              <a:rPr sz="1150" b="1" i="0">
                <a:solidFill>
                  <a:srgbClr val="16181D"/>
                </a:solidFill>
                <a:latin typeface="Montserrat"/>
              </a:rPr>
              <a:t>Public campaigns</a:t>
            </a:r>
          </a:p>
        </p:txBody>
      </p:sp>
      <p:sp>
        <p:nvSpPr>
          <p:cNvPr id="42" name="TextBox 41"/>
          <p:cNvSpPr txBox="1"/>
          <p:nvPr/>
        </p:nvSpPr>
        <p:spPr>
          <a:xfrm>
            <a:off x="8138160" y="5687568"/>
            <a:ext cx="3355848" cy="320040"/>
          </a:xfrm>
          <a:prstGeom prst="rect">
            <a:avLst/>
          </a:prstGeom>
          <a:noFill/>
        </p:spPr>
        <p:txBody>
          <a:bodyPr wrap="square" lIns="0" rIns="0" tIns="0" bIns="0" anchor="t">
            <a:spAutoFit/>
          </a:bodyPr>
          <a:lstStyle/>
          <a:p>
            <a:pPr algn="l">
              <a:lnSpc>
                <a:spcPct val="112000"/>
              </a:lnSpc>
            </a:pPr>
            <a:r>
              <a:rPr sz="900" b="0" i="0">
                <a:solidFill>
                  <a:srgbClr val="6E7180"/>
                </a:solidFill>
                <a:latin typeface="Geist"/>
              </a:rPr>
              <a:t>Road Safety Month with police &amp; schools; MS Dhoni</a:t>
            </a:r>
          </a:p>
        </p:txBody>
      </p:sp>
      <p:sp>
        <p:nvSpPr>
          <p:cNvPr id="43" name="TextBox 42"/>
          <p:cNvSpPr txBox="1"/>
          <p:nvPr/>
        </p:nvSpPr>
        <p:spPr>
          <a:xfrm>
            <a:off x="8138160" y="6053328"/>
            <a:ext cx="3355848" cy="237744"/>
          </a:xfrm>
          <a:prstGeom prst="rect">
            <a:avLst/>
          </a:prstGeom>
          <a:noFill/>
        </p:spPr>
        <p:txBody>
          <a:bodyPr wrap="square" lIns="0" rIns="0" tIns="0" bIns="0" anchor="t">
            <a:spAutoFit/>
          </a:bodyPr>
          <a:lstStyle/>
          <a:p>
            <a:pPr algn="l">
              <a:lnSpc>
                <a:spcPct val="100000"/>
              </a:lnSpc>
            </a:pPr>
            <a:r>
              <a:rPr sz="900" b="1" i="0">
                <a:solidFill>
                  <a:srgbClr val="4A35FF"/>
                </a:solidFill>
                <a:latin typeface="Montserrat"/>
              </a:rPr>
              <a:t>1M+ citizens reached</a:t>
            </a:r>
          </a:p>
        </p:txBody>
      </p:sp>
      <p:cxnSp>
        <p:nvCxnSpPr>
          <p:cNvPr id="44" name="Connector 43"/>
          <p:cNvCxnSpPr/>
          <p:nvPr/>
        </p:nvCxnSpPr>
        <p:spPr>
          <a:xfrm>
            <a:off x="566928" y="6455664"/>
            <a:ext cx="11057839" cy="0"/>
          </a:xfrm>
          <a:prstGeom prst="line">
            <a:avLst/>
          </a:prstGeom>
          <a:ln w="9525">
            <a:solidFill>
              <a:srgbClr val="E8E9EE"/>
            </a:solidFill>
          </a:ln>
          <a:effectLst/>
        </p:spPr>
      </p:cxnSp>
      <p:sp>
        <p:nvSpPr>
          <p:cNvPr id="45" name="TextBox 44"/>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3</a:t>
            </a:r>
          </a:p>
        </p:txBody>
      </p:sp>
      <p:sp>
        <p:nvSpPr>
          <p:cNvPr id="46" name="TextBox 45"/>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07 / 26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2 OF 5  ·  WHAT WE HAVE BUILT</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02 · WHAT WE HAVE BUILT, ENFORCEMENT TECHNOLOGY</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SATARK: AI that helps police stop </a:t>
            </a:r>
            <a:r>
              <a:rPr sz="2250" b="1" i="0">
                <a:solidFill>
                  <a:srgbClr val="4A35FF"/>
                </a:solidFill>
                <a:latin typeface="Montserrat"/>
              </a:rPr>
              <a:t>the right vehicle</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Built with Cars24 engineers. Reads number plates, checks government records, and alerts officers to repeat offenders, in real time.</a:t>
            </a:r>
          </a:p>
        </p:txBody>
      </p:sp>
      <p:pic>
        <p:nvPicPr>
          <p:cNvPr id="8" name="Picture 7" descr="satark_billboard.jpg_4.35x2.65_0.42.jpg"/>
          <p:cNvPicPr>
            <a:picLocks noChangeAspect="1"/>
          </p:cNvPicPr>
          <p:nvPr/>
        </p:nvPicPr>
        <p:blipFill>
          <a:blip r:embed="rId2"/>
          <a:stretch>
            <a:fillRect/>
          </a:stretch>
        </p:blipFill>
        <p:spPr>
          <a:xfrm>
            <a:off x="566928" y="1965960"/>
            <a:ext cx="3977639" cy="2423160"/>
          </a:xfrm>
          <a:prstGeom prst="rect">
            <a:avLst/>
          </a:prstGeom>
        </p:spPr>
      </p:pic>
      <p:sp>
        <p:nvSpPr>
          <p:cNvPr id="9" name="Rectangle 8"/>
          <p:cNvSpPr/>
          <p:nvPr/>
        </p:nvSpPr>
        <p:spPr>
          <a:xfrm>
            <a:off x="566928" y="1965960"/>
            <a:ext cx="3977639" cy="2423160"/>
          </a:xfrm>
          <a:prstGeom prst="rect">
            <a:avLst/>
          </a:prstGeom>
          <a:noFill/>
          <a:ln w="12700">
            <a:solidFill>
              <a:srgbClr val="E8E9EE"/>
            </a:solidFill>
          </a:ln>
          <a:effectLst/>
        </p:spPr>
        <p:txBody>
          <a:bodyPr rtlCol="0" anchor="ctr"/>
          <a:lstStyle/>
          <a:p>
            <a:pPr algn="ctr"/>
          </a:p>
        </p:txBody>
      </p:sp>
      <p:sp>
        <p:nvSpPr>
          <p:cNvPr id="10" name="TextBox 9"/>
          <p:cNvSpPr txBox="1"/>
          <p:nvPr/>
        </p:nvSpPr>
        <p:spPr>
          <a:xfrm>
            <a:off x="566928" y="4434840"/>
            <a:ext cx="3977639"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Rambagh Circle, Jaipur, live plate, pending challans and dues on a public billboard.</a:t>
            </a:r>
          </a:p>
        </p:txBody>
      </p:sp>
      <p:pic>
        <p:nvPicPr>
          <p:cNvPr id="11" name="Picture 10" descr="satark_officer_app.jpg"/>
          <p:cNvPicPr>
            <a:picLocks noChangeAspect="1"/>
          </p:cNvPicPr>
          <p:nvPr/>
        </p:nvPicPr>
        <p:blipFill>
          <a:blip r:embed="rId3"/>
          <a:stretch>
            <a:fillRect/>
          </a:stretch>
        </p:blipFill>
        <p:spPr>
          <a:xfrm>
            <a:off x="4709160" y="1965960"/>
            <a:ext cx="1828800" cy="2150283"/>
          </a:xfrm>
          <a:prstGeom prst="rect">
            <a:avLst/>
          </a:prstGeom>
        </p:spPr>
      </p:pic>
      <p:sp>
        <p:nvSpPr>
          <p:cNvPr id="12" name="Rectangle 11"/>
          <p:cNvSpPr/>
          <p:nvPr/>
        </p:nvSpPr>
        <p:spPr>
          <a:xfrm>
            <a:off x="4709160" y="1965960"/>
            <a:ext cx="1828800" cy="2150283"/>
          </a:xfrm>
          <a:prstGeom prst="rect">
            <a:avLst/>
          </a:prstGeom>
          <a:noFill/>
          <a:ln w="12700">
            <a:solidFill>
              <a:srgbClr val="E8E9EE"/>
            </a:solidFill>
          </a:ln>
          <a:effectLst/>
        </p:spPr>
        <p:txBody>
          <a:bodyPr rtlCol="0" anchor="ctr"/>
          <a:lstStyle/>
          <a:p>
            <a:pPr algn="ctr"/>
          </a:p>
        </p:txBody>
      </p:sp>
      <p:sp>
        <p:nvSpPr>
          <p:cNvPr id="13" name="TextBox 12"/>
          <p:cNvSpPr txBox="1"/>
          <p:nvPr/>
        </p:nvSpPr>
        <p:spPr>
          <a:xfrm>
            <a:off x="4709160" y="4161963"/>
            <a:ext cx="1828800" cy="274320"/>
          </a:xfrm>
          <a:prstGeom prst="rect">
            <a:avLst/>
          </a:prstGeom>
          <a:noFill/>
        </p:spPr>
        <p:txBody>
          <a:bodyPr wrap="square" lIns="0" rIns="0" tIns="0" bIns="0" anchor="t">
            <a:spAutoFit/>
          </a:bodyPr>
          <a:lstStyle/>
          <a:p>
            <a:pPr algn="l">
              <a:lnSpc>
                <a:spcPct val="112000"/>
              </a:lnSpc>
            </a:pPr>
            <a:r>
              <a:rPr sz="850" b="0" i="0">
                <a:solidFill>
                  <a:srgbClr val="6E7180"/>
                </a:solidFill>
                <a:latin typeface="Geist"/>
              </a:rPr>
              <a:t>Officer view, challans,</a:t>
            </a:r>
          </a:p>
          <a:p>
            <a:pPr algn="l">
              <a:lnSpc>
                <a:spcPct val="112000"/>
              </a:lnSpc>
            </a:pPr>
            <a:r>
              <a:rPr sz="850" b="0" i="0">
                <a:solidFill>
                  <a:srgbClr val="6E7180"/>
                </a:solidFill>
                <a:latin typeface="Geist"/>
              </a:rPr>
              <a:t>RC &amp; compliance status.</a:t>
            </a:r>
          </a:p>
        </p:txBody>
      </p:sp>
      <p:sp>
        <p:nvSpPr>
          <p:cNvPr id="14" name="TextBox 13"/>
          <p:cNvSpPr txBox="1"/>
          <p:nvPr/>
        </p:nvSpPr>
        <p:spPr>
          <a:xfrm>
            <a:off x="6784848" y="1920240"/>
            <a:ext cx="2331720" cy="502920"/>
          </a:xfrm>
          <a:prstGeom prst="rect">
            <a:avLst/>
          </a:prstGeom>
          <a:noFill/>
        </p:spPr>
        <p:txBody>
          <a:bodyPr wrap="square" lIns="0" rIns="0" tIns="0" bIns="0" anchor="t">
            <a:spAutoFit/>
          </a:bodyPr>
          <a:lstStyle/>
          <a:p>
            <a:pPr algn="l">
              <a:lnSpc>
                <a:spcPct val="100000"/>
              </a:lnSpc>
            </a:pPr>
            <a:r>
              <a:rPr sz="2100" b="1" i="0">
                <a:solidFill>
                  <a:srgbClr val="4A35FF"/>
                </a:solidFill>
                <a:latin typeface="Montserrat"/>
              </a:rPr>
              <a:t>3,00,000+</a:t>
            </a:r>
          </a:p>
        </p:txBody>
      </p:sp>
      <p:sp>
        <p:nvSpPr>
          <p:cNvPr id="15" name="TextBox 14"/>
          <p:cNvSpPr txBox="1"/>
          <p:nvPr/>
        </p:nvSpPr>
        <p:spPr>
          <a:xfrm>
            <a:off x="6784848" y="2377440"/>
            <a:ext cx="2331720" cy="411480"/>
          </a:xfrm>
          <a:prstGeom prst="rect">
            <a:avLst/>
          </a:prstGeom>
          <a:noFill/>
        </p:spPr>
        <p:txBody>
          <a:bodyPr wrap="square" lIns="0" rIns="0" tIns="0" bIns="0" anchor="t">
            <a:spAutoFit/>
          </a:bodyPr>
          <a:lstStyle/>
          <a:p>
            <a:pPr algn="l">
              <a:lnSpc>
                <a:spcPct val="112000"/>
              </a:lnSpc>
            </a:pPr>
            <a:r>
              <a:rPr sz="950" b="0" i="0">
                <a:solidFill>
                  <a:srgbClr val="6E7180"/>
                </a:solidFill>
                <a:latin typeface="Geist"/>
              </a:rPr>
              <a:t>vehicles screened</a:t>
            </a:r>
          </a:p>
        </p:txBody>
      </p:sp>
      <p:sp>
        <p:nvSpPr>
          <p:cNvPr id="16" name="TextBox 15"/>
          <p:cNvSpPr txBox="1"/>
          <p:nvPr/>
        </p:nvSpPr>
        <p:spPr>
          <a:xfrm>
            <a:off x="9235440" y="1920240"/>
            <a:ext cx="2331720" cy="502920"/>
          </a:xfrm>
          <a:prstGeom prst="rect">
            <a:avLst/>
          </a:prstGeom>
          <a:noFill/>
        </p:spPr>
        <p:txBody>
          <a:bodyPr wrap="square" lIns="0" rIns="0" tIns="0" bIns="0" anchor="t">
            <a:spAutoFit/>
          </a:bodyPr>
          <a:lstStyle/>
          <a:p>
            <a:pPr algn="l">
              <a:lnSpc>
                <a:spcPct val="100000"/>
              </a:lnSpc>
            </a:pPr>
            <a:r>
              <a:rPr sz="2100" b="1" i="0">
                <a:solidFill>
                  <a:srgbClr val="4A35FF"/>
                </a:solidFill>
                <a:latin typeface="Montserrat"/>
              </a:rPr>
              <a:t>₹30 Cr+</a:t>
            </a:r>
          </a:p>
        </p:txBody>
      </p:sp>
      <p:sp>
        <p:nvSpPr>
          <p:cNvPr id="17" name="TextBox 16"/>
          <p:cNvSpPr txBox="1"/>
          <p:nvPr/>
        </p:nvSpPr>
        <p:spPr>
          <a:xfrm>
            <a:off x="9235440" y="2377440"/>
            <a:ext cx="2331720" cy="411480"/>
          </a:xfrm>
          <a:prstGeom prst="rect">
            <a:avLst/>
          </a:prstGeom>
          <a:noFill/>
        </p:spPr>
        <p:txBody>
          <a:bodyPr wrap="square" lIns="0" rIns="0" tIns="0" bIns="0" anchor="t">
            <a:spAutoFit/>
          </a:bodyPr>
          <a:lstStyle/>
          <a:p>
            <a:pPr algn="l">
              <a:lnSpc>
                <a:spcPct val="112000"/>
              </a:lnSpc>
            </a:pPr>
            <a:r>
              <a:rPr sz="950" b="0" i="0">
                <a:solidFill>
                  <a:srgbClr val="6E7180"/>
                </a:solidFill>
                <a:latin typeface="Geist"/>
              </a:rPr>
              <a:t>pending challan value identified</a:t>
            </a:r>
          </a:p>
        </p:txBody>
      </p:sp>
      <p:sp>
        <p:nvSpPr>
          <p:cNvPr id="18" name="TextBox 17"/>
          <p:cNvSpPr txBox="1"/>
          <p:nvPr/>
        </p:nvSpPr>
        <p:spPr>
          <a:xfrm>
            <a:off x="6784848" y="2816352"/>
            <a:ext cx="2331720" cy="502920"/>
          </a:xfrm>
          <a:prstGeom prst="rect">
            <a:avLst/>
          </a:prstGeom>
          <a:noFill/>
        </p:spPr>
        <p:txBody>
          <a:bodyPr wrap="square" lIns="0" rIns="0" tIns="0" bIns="0" anchor="t">
            <a:spAutoFit/>
          </a:bodyPr>
          <a:lstStyle/>
          <a:p>
            <a:pPr algn="l">
              <a:lnSpc>
                <a:spcPct val="100000"/>
              </a:lnSpc>
            </a:pPr>
            <a:r>
              <a:rPr sz="2100" b="1" i="0">
                <a:solidFill>
                  <a:srgbClr val="4A35FF"/>
                </a:solidFill>
                <a:latin typeface="Montserrat"/>
              </a:rPr>
              <a:t>350+</a:t>
            </a:r>
          </a:p>
        </p:txBody>
      </p:sp>
      <p:sp>
        <p:nvSpPr>
          <p:cNvPr id="19" name="TextBox 18"/>
          <p:cNvSpPr txBox="1"/>
          <p:nvPr/>
        </p:nvSpPr>
        <p:spPr>
          <a:xfrm>
            <a:off x="6784848" y="3273552"/>
            <a:ext cx="2331720" cy="411480"/>
          </a:xfrm>
          <a:prstGeom prst="rect">
            <a:avLst/>
          </a:prstGeom>
          <a:noFill/>
        </p:spPr>
        <p:txBody>
          <a:bodyPr wrap="square" lIns="0" rIns="0" tIns="0" bIns="0" anchor="t">
            <a:spAutoFit/>
          </a:bodyPr>
          <a:lstStyle/>
          <a:p>
            <a:pPr algn="l">
              <a:lnSpc>
                <a:spcPct val="112000"/>
              </a:lnSpc>
            </a:pPr>
            <a:r>
              <a:rPr sz="950" b="0" i="0">
                <a:solidFill>
                  <a:srgbClr val="6E7180"/>
                </a:solidFill>
                <a:latin typeface="Geist"/>
              </a:rPr>
              <a:t>high-risk vehicles intercepted</a:t>
            </a:r>
          </a:p>
        </p:txBody>
      </p:sp>
      <p:sp>
        <p:nvSpPr>
          <p:cNvPr id="20" name="TextBox 19"/>
          <p:cNvSpPr txBox="1"/>
          <p:nvPr/>
        </p:nvSpPr>
        <p:spPr>
          <a:xfrm>
            <a:off x="9235440" y="2816352"/>
            <a:ext cx="2331720" cy="502920"/>
          </a:xfrm>
          <a:prstGeom prst="rect">
            <a:avLst/>
          </a:prstGeom>
          <a:noFill/>
        </p:spPr>
        <p:txBody>
          <a:bodyPr wrap="square" lIns="0" rIns="0" tIns="0" bIns="0" anchor="t">
            <a:spAutoFit/>
          </a:bodyPr>
          <a:lstStyle/>
          <a:p>
            <a:pPr algn="l">
              <a:lnSpc>
                <a:spcPct val="100000"/>
              </a:lnSpc>
            </a:pPr>
            <a:r>
              <a:rPr sz="2100" b="1" i="0">
                <a:solidFill>
                  <a:srgbClr val="4A35FF"/>
                </a:solidFill>
                <a:latin typeface="Montserrat"/>
              </a:rPr>
              <a:t>70,019</a:t>
            </a:r>
          </a:p>
        </p:txBody>
      </p:sp>
      <p:sp>
        <p:nvSpPr>
          <p:cNvPr id="21" name="TextBox 20"/>
          <p:cNvSpPr txBox="1"/>
          <p:nvPr/>
        </p:nvSpPr>
        <p:spPr>
          <a:xfrm>
            <a:off x="9235440" y="3273552"/>
            <a:ext cx="2331720" cy="411480"/>
          </a:xfrm>
          <a:prstGeom prst="rect">
            <a:avLst/>
          </a:prstGeom>
          <a:noFill/>
        </p:spPr>
        <p:txBody>
          <a:bodyPr wrap="square" lIns="0" rIns="0" tIns="0" bIns="0" anchor="t">
            <a:spAutoFit/>
          </a:bodyPr>
          <a:lstStyle/>
          <a:p>
            <a:pPr algn="l">
              <a:lnSpc>
                <a:spcPct val="112000"/>
              </a:lnSpc>
            </a:pPr>
            <a:r>
              <a:rPr sz="950" b="0" i="0">
                <a:solidFill>
                  <a:srgbClr val="6E7180"/>
                </a:solidFill>
                <a:latin typeface="Geist"/>
              </a:rPr>
              <a:t>vehicles found with pending challans</a:t>
            </a:r>
          </a:p>
        </p:txBody>
      </p:sp>
      <p:sp>
        <p:nvSpPr>
          <p:cNvPr id="22" name="Rounded Rectangle 21"/>
          <p:cNvSpPr/>
          <p:nvPr/>
        </p:nvSpPr>
        <p:spPr>
          <a:xfrm>
            <a:off x="6784848" y="3767328"/>
            <a:ext cx="2240280" cy="384048"/>
          </a:xfrm>
          <a:prstGeom prst="roundRect">
            <a:avLst>
              <a:gd name="adj" fmla="val 50000"/>
            </a:avLst>
          </a:prstGeom>
          <a:solidFill>
            <a:srgbClr val="E9F7F0"/>
          </a:solidFill>
          <a:ln>
            <a:noFill/>
          </a:ln>
          <a:effectLst/>
        </p:spPr>
        <p:txBody>
          <a:bodyPr rtlCol="0" anchor="ctr"/>
          <a:lstStyle/>
          <a:p>
            <a:pPr algn="ctr"/>
          </a:p>
        </p:txBody>
      </p:sp>
      <p:sp>
        <p:nvSpPr>
          <p:cNvPr id="23" name="TextBox 22"/>
          <p:cNvSpPr txBox="1"/>
          <p:nvPr/>
        </p:nvSpPr>
        <p:spPr>
          <a:xfrm>
            <a:off x="6803136" y="3767328"/>
            <a:ext cx="2203704" cy="384048"/>
          </a:xfrm>
          <a:prstGeom prst="rect">
            <a:avLst/>
          </a:prstGeom>
          <a:noFill/>
        </p:spPr>
        <p:txBody>
          <a:bodyPr wrap="square" lIns="0" rIns="0" tIns="0" bIns="0" anchor="ctr">
            <a:spAutoFit/>
          </a:bodyPr>
          <a:lstStyle/>
          <a:p>
            <a:pPr algn="ctr">
              <a:lnSpc>
                <a:spcPct val="100000"/>
              </a:lnSpc>
            </a:pPr>
            <a:r>
              <a:rPr sz="950" b="1" i="0">
                <a:solidFill>
                  <a:srgbClr val="0A9955"/>
                </a:solidFill>
                <a:latin typeface="Montserrat"/>
              </a:rPr>
              <a:t>LIVE · Jaipur &amp; Bengaluru</a:t>
            </a:r>
          </a:p>
        </p:txBody>
      </p:sp>
      <p:sp>
        <p:nvSpPr>
          <p:cNvPr id="24" name="Rounded Rectangle 23"/>
          <p:cNvSpPr/>
          <p:nvPr/>
        </p:nvSpPr>
        <p:spPr>
          <a:xfrm>
            <a:off x="9144000" y="3767328"/>
            <a:ext cx="1600200" cy="384048"/>
          </a:xfrm>
          <a:prstGeom prst="roundRect">
            <a:avLst>
              <a:gd name="adj" fmla="val 50000"/>
            </a:avLst>
          </a:prstGeom>
          <a:solidFill>
            <a:srgbClr val="EFEDFF"/>
          </a:solidFill>
          <a:ln>
            <a:noFill/>
          </a:ln>
          <a:effectLst/>
        </p:spPr>
        <p:txBody>
          <a:bodyPr rtlCol="0" anchor="ctr"/>
          <a:lstStyle/>
          <a:p>
            <a:pPr algn="ctr"/>
          </a:p>
        </p:txBody>
      </p:sp>
      <p:sp>
        <p:nvSpPr>
          <p:cNvPr id="25" name="TextBox 24"/>
          <p:cNvSpPr txBox="1"/>
          <p:nvPr/>
        </p:nvSpPr>
        <p:spPr>
          <a:xfrm>
            <a:off x="9162288" y="3767328"/>
            <a:ext cx="1563624" cy="384048"/>
          </a:xfrm>
          <a:prstGeom prst="rect">
            <a:avLst/>
          </a:prstGeom>
          <a:noFill/>
        </p:spPr>
        <p:txBody>
          <a:bodyPr wrap="square" lIns="0" rIns="0" tIns="0" bIns="0" anchor="ctr">
            <a:spAutoFit/>
          </a:bodyPr>
          <a:lstStyle/>
          <a:p>
            <a:pPr algn="ctr">
              <a:lnSpc>
                <a:spcPct val="100000"/>
              </a:lnSpc>
            </a:pPr>
            <a:r>
              <a:rPr sz="950" b="1" i="0">
                <a:solidFill>
                  <a:srgbClr val="4A35FF"/>
                </a:solidFill>
                <a:latin typeface="Montserrat"/>
              </a:rPr>
              <a:t>NEW · Gurugram</a:t>
            </a:r>
          </a:p>
        </p:txBody>
      </p:sp>
      <p:sp>
        <p:nvSpPr>
          <p:cNvPr id="26" name="TextBox 25"/>
          <p:cNvSpPr txBox="1"/>
          <p:nvPr/>
        </p:nvSpPr>
        <p:spPr>
          <a:xfrm>
            <a:off x="6784848" y="4261104"/>
            <a:ext cx="4754880" cy="274320"/>
          </a:xfrm>
          <a:prstGeom prst="rect">
            <a:avLst/>
          </a:prstGeom>
          <a:noFill/>
        </p:spPr>
        <p:txBody>
          <a:bodyPr wrap="square" lIns="0" rIns="0" tIns="0" bIns="0" anchor="t">
            <a:spAutoFit/>
          </a:bodyPr>
          <a:lstStyle/>
          <a:p>
            <a:pPr algn="l">
              <a:lnSpc>
                <a:spcPct val="125000"/>
              </a:lnSpc>
            </a:pPr>
            <a:r>
              <a:rPr sz="950" b="0" i="0">
                <a:solidFill>
                  <a:srgbClr val="6E7180"/>
                </a:solidFill>
                <a:latin typeface="Geist"/>
              </a:rPr>
              <a:t>Bengaluru's Trinity Circle billboard was India's first, covered by Deccan Herald and national press. Pune and Ahmedabad are next.</a:t>
            </a:r>
          </a:p>
        </p:txBody>
      </p:sp>
      <p:cxnSp>
        <p:nvCxnSpPr>
          <p:cNvPr id="27" name="Connector 26"/>
          <p:cNvCxnSpPr/>
          <p:nvPr/>
        </p:nvCxnSpPr>
        <p:spPr>
          <a:xfrm>
            <a:off x="932688" y="5358384"/>
            <a:ext cx="10326319" cy="0"/>
          </a:xfrm>
          <a:prstGeom prst="line">
            <a:avLst/>
          </a:prstGeom>
          <a:ln w="12700">
            <a:solidFill>
              <a:srgbClr val="E8E9EE"/>
            </a:solidFill>
          </a:ln>
          <a:effectLst/>
        </p:spPr>
      </p:cxnSp>
      <p:sp>
        <p:nvSpPr>
          <p:cNvPr id="28" name="Oval 27"/>
          <p:cNvSpPr/>
          <p:nvPr/>
        </p:nvSpPr>
        <p:spPr>
          <a:xfrm>
            <a:off x="1038586" y="5138928"/>
            <a:ext cx="438912" cy="438912"/>
          </a:xfrm>
          <a:prstGeom prst="ellipse">
            <a:avLst/>
          </a:prstGeom>
          <a:solidFill>
            <a:srgbClr val="F7F7FA"/>
          </a:solidFill>
          <a:ln>
            <a:noFill/>
          </a:ln>
          <a:effectLst/>
        </p:spPr>
        <p:txBody>
          <a:bodyPr rtlCol="0" anchor="ctr"/>
          <a:lstStyle/>
          <a:p>
            <a:pPr algn="ctr"/>
          </a:p>
        </p:txBody>
      </p:sp>
      <p:pic>
        <p:nvPicPr>
          <p:cNvPr id="29" name="Picture 28" descr="camera_4A35FF_256_2.0.png"/>
          <p:cNvPicPr>
            <a:picLocks noChangeAspect="1"/>
          </p:cNvPicPr>
          <p:nvPr/>
        </p:nvPicPr>
        <p:blipFill>
          <a:blip r:embed="rId4"/>
          <a:stretch>
            <a:fillRect/>
          </a:stretch>
        </p:blipFill>
        <p:spPr>
          <a:xfrm>
            <a:off x="1143924" y="5244266"/>
            <a:ext cx="228234" cy="228234"/>
          </a:xfrm>
          <a:prstGeom prst="rect">
            <a:avLst/>
          </a:prstGeom>
        </p:spPr>
      </p:pic>
      <p:sp>
        <p:nvSpPr>
          <p:cNvPr id="30" name="TextBox 29"/>
          <p:cNvSpPr txBox="1"/>
          <p:nvPr/>
        </p:nvSpPr>
        <p:spPr>
          <a:xfrm>
            <a:off x="566928" y="5650992"/>
            <a:ext cx="1382229" cy="274320"/>
          </a:xfrm>
          <a:prstGeom prst="rect">
            <a:avLst/>
          </a:prstGeom>
          <a:noFill/>
        </p:spPr>
        <p:txBody>
          <a:bodyPr wrap="square" lIns="0" rIns="0" tIns="0" bIns="0" anchor="t">
            <a:spAutoFit/>
          </a:bodyPr>
          <a:lstStyle/>
          <a:p>
            <a:pPr algn="ctr">
              <a:lnSpc>
                <a:spcPct val="100000"/>
              </a:lnSpc>
            </a:pPr>
            <a:r>
              <a:rPr sz="850" b="0" i="0">
                <a:solidFill>
                  <a:srgbClr val="6E7180"/>
                </a:solidFill>
                <a:latin typeface="Geist"/>
              </a:rPr>
              <a:t>ANPR camera</a:t>
            </a:r>
          </a:p>
        </p:txBody>
      </p:sp>
      <p:sp>
        <p:nvSpPr>
          <p:cNvPr id="31" name="Oval 30"/>
          <p:cNvSpPr/>
          <p:nvPr/>
        </p:nvSpPr>
        <p:spPr>
          <a:xfrm>
            <a:off x="2420815" y="5138928"/>
            <a:ext cx="438912" cy="438912"/>
          </a:xfrm>
          <a:prstGeom prst="ellipse">
            <a:avLst/>
          </a:prstGeom>
          <a:solidFill>
            <a:srgbClr val="F7F7FA"/>
          </a:solidFill>
          <a:ln>
            <a:noFill/>
          </a:ln>
          <a:effectLst/>
        </p:spPr>
        <p:txBody>
          <a:bodyPr rtlCol="0" anchor="ctr"/>
          <a:lstStyle/>
          <a:p>
            <a:pPr algn="ctr"/>
          </a:p>
        </p:txBody>
      </p:sp>
      <p:pic>
        <p:nvPicPr>
          <p:cNvPr id="32" name="Picture 31" descr="scan-line_4A35FF_256_2.0.png"/>
          <p:cNvPicPr>
            <a:picLocks noChangeAspect="1"/>
          </p:cNvPicPr>
          <p:nvPr/>
        </p:nvPicPr>
        <p:blipFill>
          <a:blip r:embed="rId5"/>
          <a:stretch>
            <a:fillRect/>
          </a:stretch>
        </p:blipFill>
        <p:spPr>
          <a:xfrm>
            <a:off x="2526153" y="5244266"/>
            <a:ext cx="228234" cy="228234"/>
          </a:xfrm>
          <a:prstGeom prst="rect">
            <a:avLst/>
          </a:prstGeom>
        </p:spPr>
      </p:pic>
      <p:sp>
        <p:nvSpPr>
          <p:cNvPr id="33" name="TextBox 32"/>
          <p:cNvSpPr txBox="1"/>
          <p:nvPr/>
        </p:nvSpPr>
        <p:spPr>
          <a:xfrm>
            <a:off x="1949157" y="5650992"/>
            <a:ext cx="1382229" cy="274320"/>
          </a:xfrm>
          <a:prstGeom prst="rect">
            <a:avLst/>
          </a:prstGeom>
          <a:noFill/>
        </p:spPr>
        <p:txBody>
          <a:bodyPr wrap="square" lIns="0" rIns="0" tIns="0" bIns="0" anchor="t">
            <a:spAutoFit/>
          </a:bodyPr>
          <a:lstStyle/>
          <a:p>
            <a:pPr algn="ctr">
              <a:lnSpc>
                <a:spcPct val="100000"/>
              </a:lnSpc>
            </a:pPr>
            <a:r>
              <a:rPr sz="850" b="0" i="0">
                <a:solidFill>
                  <a:srgbClr val="6E7180"/>
                </a:solidFill>
                <a:latin typeface="Geist"/>
              </a:rPr>
              <a:t>Plate read</a:t>
            </a:r>
          </a:p>
        </p:txBody>
      </p:sp>
      <p:sp>
        <p:nvSpPr>
          <p:cNvPr id="34" name="Oval 33"/>
          <p:cNvSpPr/>
          <p:nvPr/>
        </p:nvSpPr>
        <p:spPr>
          <a:xfrm>
            <a:off x="3803045" y="5138928"/>
            <a:ext cx="438912" cy="438912"/>
          </a:xfrm>
          <a:prstGeom prst="ellipse">
            <a:avLst/>
          </a:prstGeom>
          <a:solidFill>
            <a:srgbClr val="F7F7FA"/>
          </a:solidFill>
          <a:ln>
            <a:noFill/>
          </a:ln>
          <a:effectLst/>
        </p:spPr>
        <p:txBody>
          <a:bodyPr rtlCol="0" anchor="ctr"/>
          <a:lstStyle/>
          <a:p>
            <a:pPr algn="ctr"/>
          </a:p>
        </p:txBody>
      </p:sp>
      <p:pic>
        <p:nvPicPr>
          <p:cNvPr id="35" name="Picture 34" descr="database_4A35FF_256_2.0.png"/>
          <p:cNvPicPr>
            <a:picLocks noChangeAspect="1"/>
          </p:cNvPicPr>
          <p:nvPr/>
        </p:nvPicPr>
        <p:blipFill>
          <a:blip r:embed="rId6"/>
          <a:stretch>
            <a:fillRect/>
          </a:stretch>
        </p:blipFill>
        <p:spPr>
          <a:xfrm>
            <a:off x="3908383" y="5244266"/>
            <a:ext cx="228234" cy="228234"/>
          </a:xfrm>
          <a:prstGeom prst="rect">
            <a:avLst/>
          </a:prstGeom>
        </p:spPr>
      </p:pic>
      <p:sp>
        <p:nvSpPr>
          <p:cNvPr id="36" name="TextBox 35"/>
          <p:cNvSpPr txBox="1"/>
          <p:nvPr/>
        </p:nvSpPr>
        <p:spPr>
          <a:xfrm>
            <a:off x="3331387" y="5650992"/>
            <a:ext cx="1382229" cy="274320"/>
          </a:xfrm>
          <a:prstGeom prst="rect">
            <a:avLst/>
          </a:prstGeom>
          <a:noFill/>
        </p:spPr>
        <p:txBody>
          <a:bodyPr wrap="square" lIns="0" rIns="0" tIns="0" bIns="0" anchor="t">
            <a:spAutoFit/>
          </a:bodyPr>
          <a:lstStyle/>
          <a:p>
            <a:pPr algn="ctr">
              <a:lnSpc>
                <a:spcPct val="100000"/>
              </a:lnSpc>
            </a:pPr>
            <a:r>
              <a:rPr sz="850" b="0" i="0">
                <a:solidFill>
                  <a:srgbClr val="6E7180"/>
                </a:solidFill>
                <a:latin typeface="Geist"/>
              </a:rPr>
              <a:t>Records check</a:t>
            </a:r>
          </a:p>
        </p:txBody>
      </p:sp>
      <p:sp>
        <p:nvSpPr>
          <p:cNvPr id="37" name="Oval 36"/>
          <p:cNvSpPr/>
          <p:nvPr/>
        </p:nvSpPr>
        <p:spPr>
          <a:xfrm>
            <a:off x="5185275" y="5138928"/>
            <a:ext cx="438912" cy="438912"/>
          </a:xfrm>
          <a:prstGeom prst="ellipse">
            <a:avLst/>
          </a:prstGeom>
          <a:solidFill>
            <a:srgbClr val="F7F7FA"/>
          </a:solidFill>
          <a:ln>
            <a:noFill/>
          </a:ln>
          <a:effectLst/>
        </p:spPr>
        <p:txBody>
          <a:bodyPr rtlCol="0" anchor="ctr"/>
          <a:lstStyle/>
          <a:p>
            <a:pPr algn="ctr"/>
          </a:p>
        </p:txBody>
      </p:sp>
      <p:pic>
        <p:nvPicPr>
          <p:cNvPr id="38" name="Picture 37" descr="alert-triangle_4A35FF_256_2.0.png"/>
          <p:cNvPicPr>
            <a:picLocks noChangeAspect="1"/>
          </p:cNvPicPr>
          <p:nvPr/>
        </p:nvPicPr>
        <p:blipFill>
          <a:blip r:embed="rId7"/>
          <a:stretch>
            <a:fillRect/>
          </a:stretch>
        </p:blipFill>
        <p:spPr>
          <a:xfrm>
            <a:off x="5290613" y="5244266"/>
            <a:ext cx="228234" cy="228234"/>
          </a:xfrm>
          <a:prstGeom prst="rect">
            <a:avLst/>
          </a:prstGeom>
        </p:spPr>
      </p:pic>
      <p:sp>
        <p:nvSpPr>
          <p:cNvPr id="39" name="TextBox 38"/>
          <p:cNvSpPr txBox="1"/>
          <p:nvPr/>
        </p:nvSpPr>
        <p:spPr>
          <a:xfrm>
            <a:off x="4713617" y="5650992"/>
            <a:ext cx="1382229" cy="274320"/>
          </a:xfrm>
          <a:prstGeom prst="rect">
            <a:avLst/>
          </a:prstGeom>
          <a:noFill/>
        </p:spPr>
        <p:txBody>
          <a:bodyPr wrap="square" lIns="0" rIns="0" tIns="0" bIns="0" anchor="t">
            <a:spAutoFit/>
          </a:bodyPr>
          <a:lstStyle/>
          <a:p>
            <a:pPr algn="ctr">
              <a:lnSpc>
                <a:spcPct val="100000"/>
              </a:lnSpc>
            </a:pPr>
            <a:r>
              <a:rPr sz="850" b="0" i="0">
                <a:solidFill>
                  <a:srgbClr val="6E7180"/>
                </a:solidFill>
                <a:latin typeface="Geist"/>
              </a:rPr>
              <a:t>Risk flag</a:t>
            </a:r>
          </a:p>
        </p:txBody>
      </p:sp>
      <p:sp>
        <p:nvSpPr>
          <p:cNvPr id="40" name="Oval 39"/>
          <p:cNvSpPr/>
          <p:nvPr/>
        </p:nvSpPr>
        <p:spPr>
          <a:xfrm>
            <a:off x="6567505" y="5138928"/>
            <a:ext cx="438912" cy="438912"/>
          </a:xfrm>
          <a:prstGeom prst="ellipse">
            <a:avLst/>
          </a:prstGeom>
          <a:solidFill>
            <a:srgbClr val="F7F7FA"/>
          </a:solidFill>
          <a:ln>
            <a:noFill/>
          </a:ln>
          <a:effectLst/>
        </p:spPr>
        <p:txBody>
          <a:bodyPr rtlCol="0" anchor="ctr"/>
          <a:lstStyle/>
          <a:p>
            <a:pPr algn="ctr"/>
          </a:p>
        </p:txBody>
      </p:sp>
      <p:pic>
        <p:nvPicPr>
          <p:cNvPr id="41" name="Picture 40" descr="bell-ring_4A35FF_256_2.0.png"/>
          <p:cNvPicPr>
            <a:picLocks noChangeAspect="1"/>
          </p:cNvPicPr>
          <p:nvPr/>
        </p:nvPicPr>
        <p:blipFill>
          <a:blip r:embed="rId8"/>
          <a:stretch>
            <a:fillRect/>
          </a:stretch>
        </p:blipFill>
        <p:spPr>
          <a:xfrm>
            <a:off x="6672843" y="5244266"/>
            <a:ext cx="228234" cy="228234"/>
          </a:xfrm>
          <a:prstGeom prst="rect">
            <a:avLst/>
          </a:prstGeom>
        </p:spPr>
      </p:pic>
      <p:sp>
        <p:nvSpPr>
          <p:cNvPr id="42" name="TextBox 41"/>
          <p:cNvSpPr txBox="1"/>
          <p:nvPr/>
        </p:nvSpPr>
        <p:spPr>
          <a:xfrm>
            <a:off x="6095847" y="5650992"/>
            <a:ext cx="1382229" cy="274320"/>
          </a:xfrm>
          <a:prstGeom prst="rect">
            <a:avLst/>
          </a:prstGeom>
          <a:noFill/>
        </p:spPr>
        <p:txBody>
          <a:bodyPr wrap="square" lIns="0" rIns="0" tIns="0" bIns="0" anchor="t">
            <a:spAutoFit/>
          </a:bodyPr>
          <a:lstStyle/>
          <a:p>
            <a:pPr algn="ctr">
              <a:lnSpc>
                <a:spcPct val="100000"/>
              </a:lnSpc>
            </a:pPr>
            <a:r>
              <a:rPr sz="850" b="0" i="0">
                <a:solidFill>
                  <a:srgbClr val="6E7180"/>
                </a:solidFill>
                <a:latin typeface="Geist"/>
              </a:rPr>
              <a:t>Officer alert</a:t>
            </a:r>
          </a:p>
        </p:txBody>
      </p:sp>
      <p:sp>
        <p:nvSpPr>
          <p:cNvPr id="43" name="Oval 42"/>
          <p:cNvSpPr/>
          <p:nvPr/>
        </p:nvSpPr>
        <p:spPr>
          <a:xfrm>
            <a:off x="7949735" y="5138928"/>
            <a:ext cx="438912" cy="438912"/>
          </a:xfrm>
          <a:prstGeom prst="ellipse">
            <a:avLst/>
          </a:prstGeom>
          <a:solidFill>
            <a:srgbClr val="F7F7FA"/>
          </a:solidFill>
          <a:ln>
            <a:noFill/>
          </a:ln>
          <a:effectLst/>
        </p:spPr>
        <p:txBody>
          <a:bodyPr rtlCol="0" anchor="ctr"/>
          <a:lstStyle/>
          <a:p>
            <a:pPr algn="ctr"/>
          </a:p>
        </p:txBody>
      </p:sp>
      <p:pic>
        <p:nvPicPr>
          <p:cNvPr id="44" name="Picture 43" descr="monitor_4A35FF_256_2.0.png"/>
          <p:cNvPicPr>
            <a:picLocks noChangeAspect="1"/>
          </p:cNvPicPr>
          <p:nvPr/>
        </p:nvPicPr>
        <p:blipFill>
          <a:blip r:embed="rId9"/>
          <a:stretch>
            <a:fillRect/>
          </a:stretch>
        </p:blipFill>
        <p:spPr>
          <a:xfrm>
            <a:off x="8055073" y="5244266"/>
            <a:ext cx="228234" cy="228234"/>
          </a:xfrm>
          <a:prstGeom prst="rect">
            <a:avLst/>
          </a:prstGeom>
        </p:spPr>
      </p:pic>
      <p:sp>
        <p:nvSpPr>
          <p:cNvPr id="45" name="TextBox 44"/>
          <p:cNvSpPr txBox="1"/>
          <p:nvPr/>
        </p:nvSpPr>
        <p:spPr>
          <a:xfrm>
            <a:off x="7478077" y="5650992"/>
            <a:ext cx="1382229" cy="274320"/>
          </a:xfrm>
          <a:prstGeom prst="rect">
            <a:avLst/>
          </a:prstGeom>
          <a:noFill/>
        </p:spPr>
        <p:txBody>
          <a:bodyPr wrap="square" lIns="0" rIns="0" tIns="0" bIns="0" anchor="t">
            <a:spAutoFit/>
          </a:bodyPr>
          <a:lstStyle/>
          <a:p>
            <a:pPr algn="ctr">
              <a:lnSpc>
                <a:spcPct val="100000"/>
              </a:lnSpc>
            </a:pPr>
            <a:r>
              <a:rPr sz="850" b="0" i="0">
                <a:solidFill>
                  <a:srgbClr val="6E7180"/>
                </a:solidFill>
                <a:latin typeface="Geist"/>
              </a:rPr>
              <a:t>Billboard</a:t>
            </a:r>
          </a:p>
        </p:txBody>
      </p:sp>
      <p:sp>
        <p:nvSpPr>
          <p:cNvPr id="46" name="Oval 45"/>
          <p:cNvSpPr/>
          <p:nvPr/>
        </p:nvSpPr>
        <p:spPr>
          <a:xfrm>
            <a:off x="9331965" y="5138928"/>
            <a:ext cx="438912" cy="438912"/>
          </a:xfrm>
          <a:prstGeom prst="ellipse">
            <a:avLst/>
          </a:prstGeom>
          <a:solidFill>
            <a:srgbClr val="F7F7FA"/>
          </a:solidFill>
          <a:ln>
            <a:noFill/>
          </a:ln>
          <a:effectLst/>
        </p:spPr>
        <p:txBody>
          <a:bodyPr rtlCol="0" anchor="ctr"/>
          <a:lstStyle/>
          <a:p>
            <a:pPr algn="ctr"/>
          </a:p>
        </p:txBody>
      </p:sp>
      <p:pic>
        <p:nvPicPr>
          <p:cNvPr id="47" name="Picture 46" descr="hand_4A35FF_256_2.0.png"/>
          <p:cNvPicPr>
            <a:picLocks noChangeAspect="1"/>
          </p:cNvPicPr>
          <p:nvPr/>
        </p:nvPicPr>
        <p:blipFill>
          <a:blip r:embed="rId10"/>
          <a:stretch>
            <a:fillRect/>
          </a:stretch>
        </p:blipFill>
        <p:spPr>
          <a:xfrm>
            <a:off x="9437303" y="5244266"/>
            <a:ext cx="228234" cy="228234"/>
          </a:xfrm>
          <a:prstGeom prst="rect">
            <a:avLst/>
          </a:prstGeom>
        </p:spPr>
      </p:pic>
      <p:sp>
        <p:nvSpPr>
          <p:cNvPr id="48" name="TextBox 47"/>
          <p:cNvSpPr txBox="1"/>
          <p:nvPr/>
        </p:nvSpPr>
        <p:spPr>
          <a:xfrm>
            <a:off x="8860307" y="5650992"/>
            <a:ext cx="1382229" cy="274320"/>
          </a:xfrm>
          <a:prstGeom prst="rect">
            <a:avLst/>
          </a:prstGeom>
          <a:noFill/>
        </p:spPr>
        <p:txBody>
          <a:bodyPr wrap="square" lIns="0" rIns="0" tIns="0" bIns="0" anchor="t">
            <a:spAutoFit/>
          </a:bodyPr>
          <a:lstStyle/>
          <a:p>
            <a:pPr algn="ctr">
              <a:lnSpc>
                <a:spcPct val="100000"/>
              </a:lnSpc>
            </a:pPr>
            <a:r>
              <a:rPr sz="850" b="0" i="0">
                <a:solidFill>
                  <a:srgbClr val="6E7180"/>
                </a:solidFill>
                <a:latin typeface="Geist"/>
              </a:rPr>
              <a:t>Interception</a:t>
            </a:r>
          </a:p>
        </p:txBody>
      </p:sp>
      <p:sp>
        <p:nvSpPr>
          <p:cNvPr id="49" name="Oval 48"/>
          <p:cNvSpPr/>
          <p:nvPr/>
        </p:nvSpPr>
        <p:spPr>
          <a:xfrm>
            <a:off x="10714195" y="5138928"/>
            <a:ext cx="438912" cy="438912"/>
          </a:xfrm>
          <a:prstGeom prst="ellipse">
            <a:avLst/>
          </a:prstGeom>
          <a:solidFill>
            <a:srgbClr val="F7F7FA"/>
          </a:solidFill>
          <a:ln>
            <a:noFill/>
          </a:ln>
          <a:effectLst/>
        </p:spPr>
        <p:txBody>
          <a:bodyPr rtlCol="0" anchor="ctr"/>
          <a:lstStyle/>
          <a:p>
            <a:pPr algn="ctr"/>
          </a:p>
        </p:txBody>
      </p:sp>
      <p:pic>
        <p:nvPicPr>
          <p:cNvPr id="50" name="Picture 49" descr="shield-check_4A35FF_256_2.0.png"/>
          <p:cNvPicPr>
            <a:picLocks noChangeAspect="1"/>
          </p:cNvPicPr>
          <p:nvPr/>
        </p:nvPicPr>
        <p:blipFill>
          <a:blip r:embed="rId11"/>
          <a:stretch>
            <a:fillRect/>
          </a:stretch>
        </p:blipFill>
        <p:spPr>
          <a:xfrm>
            <a:off x="10819533" y="5244266"/>
            <a:ext cx="228234" cy="228234"/>
          </a:xfrm>
          <a:prstGeom prst="rect">
            <a:avLst/>
          </a:prstGeom>
        </p:spPr>
      </p:pic>
      <p:sp>
        <p:nvSpPr>
          <p:cNvPr id="51" name="TextBox 50"/>
          <p:cNvSpPr txBox="1"/>
          <p:nvPr/>
        </p:nvSpPr>
        <p:spPr>
          <a:xfrm>
            <a:off x="10242537" y="5650992"/>
            <a:ext cx="1382229" cy="274320"/>
          </a:xfrm>
          <a:prstGeom prst="rect">
            <a:avLst/>
          </a:prstGeom>
          <a:noFill/>
        </p:spPr>
        <p:txBody>
          <a:bodyPr wrap="square" lIns="0" rIns="0" tIns="0" bIns="0" anchor="t">
            <a:spAutoFit/>
          </a:bodyPr>
          <a:lstStyle/>
          <a:p>
            <a:pPr algn="ctr">
              <a:lnSpc>
                <a:spcPct val="100000"/>
              </a:lnSpc>
            </a:pPr>
            <a:r>
              <a:rPr sz="850" b="0" i="0">
                <a:solidFill>
                  <a:srgbClr val="6E7180"/>
                </a:solidFill>
                <a:latin typeface="Geist"/>
              </a:rPr>
              <a:t>Enforcement</a:t>
            </a:r>
          </a:p>
        </p:txBody>
      </p:sp>
      <p:cxnSp>
        <p:nvCxnSpPr>
          <p:cNvPr id="52" name="Connector 51"/>
          <p:cNvCxnSpPr/>
          <p:nvPr/>
        </p:nvCxnSpPr>
        <p:spPr>
          <a:xfrm>
            <a:off x="566928" y="6455664"/>
            <a:ext cx="11057839" cy="0"/>
          </a:xfrm>
          <a:prstGeom prst="line">
            <a:avLst/>
          </a:prstGeom>
          <a:ln w="9525">
            <a:solidFill>
              <a:srgbClr val="E8E9EE"/>
            </a:solidFill>
          </a:ln>
          <a:effectLst/>
        </p:spPr>
      </p:cxnSp>
      <p:sp>
        <p:nvSpPr>
          <p:cNvPr id="53" name="TextBox 52"/>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3</a:t>
            </a:r>
          </a:p>
        </p:txBody>
      </p:sp>
      <p:sp>
        <p:nvSpPr>
          <p:cNvPr id="54" name="TextBox 53"/>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08 / 26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2 OF 5  ·  WHAT WE HAVE BUILT</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02 · WHAT WE HAVE BUILT, OPEN PUBLIC DATA</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Live public data platforms, </a:t>
            </a:r>
            <a:r>
              <a:rPr sz="2250" b="1" i="0">
                <a:solidFill>
                  <a:srgbClr val="4A35FF"/>
                </a:solidFill>
                <a:latin typeface="Montserrat"/>
              </a:rPr>
              <a:t>free for any authority</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Four platforms, each turning a scattered public record into structured, citable evidence. The Parliament tracker is shown live, as captured this week.</a:t>
            </a:r>
          </a:p>
        </p:txBody>
      </p:sp>
      <p:pic>
        <p:nvPicPr>
          <p:cNvPr id="8" name="Picture 7" descr="parliament_live.png_6.00x2.62_0.00.jpg"/>
          <p:cNvPicPr>
            <a:picLocks noChangeAspect="1"/>
          </p:cNvPicPr>
          <p:nvPr/>
        </p:nvPicPr>
        <p:blipFill>
          <a:blip r:embed="rId2"/>
          <a:stretch>
            <a:fillRect/>
          </a:stretch>
        </p:blipFill>
        <p:spPr>
          <a:xfrm>
            <a:off x="566928" y="1938528"/>
            <a:ext cx="5486400" cy="2395728"/>
          </a:xfrm>
          <a:prstGeom prst="rect">
            <a:avLst/>
          </a:prstGeom>
        </p:spPr>
      </p:pic>
      <p:sp>
        <p:nvSpPr>
          <p:cNvPr id="9" name="Rectangle 8"/>
          <p:cNvSpPr/>
          <p:nvPr/>
        </p:nvSpPr>
        <p:spPr>
          <a:xfrm>
            <a:off x="566928" y="1938528"/>
            <a:ext cx="5486400" cy="2395728"/>
          </a:xfrm>
          <a:prstGeom prst="rect">
            <a:avLst/>
          </a:prstGeom>
          <a:noFill/>
          <a:ln w="12700">
            <a:solidFill>
              <a:srgbClr val="E8E9EE"/>
            </a:solidFill>
          </a:ln>
          <a:effectLst/>
        </p:spPr>
        <p:txBody>
          <a:bodyPr rtlCol="0" anchor="ctr"/>
          <a:lstStyle/>
          <a:p>
            <a:pPr algn="ctr"/>
          </a:p>
        </p:txBody>
      </p:sp>
      <p:sp>
        <p:nvSpPr>
          <p:cNvPr id="10" name="TextBox 9"/>
          <p:cNvSpPr txBox="1"/>
          <p:nvPr/>
        </p:nvSpPr>
        <p:spPr>
          <a:xfrm>
            <a:off x="566928" y="4379976"/>
            <a:ext cx="548640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Road Safety in Parliament: all 1,444 questions since 2014 across four ministries; 275 of 540 sitting Lok Sabha MPs have never asked one.</a:t>
            </a:r>
          </a:p>
        </p:txBody>
      </p:sp>
      <p:sp>
        <p:nvSpPr>
          <p:cNvPr id="11" name="Rounded Rectangle 10"/>
          <p:cNvSpPr/>
          <p:nvPr/>
        </p:nvSpPr>
        <p:spPr>
          <a:xfrm>
            <a:off x="6144768" y="1938528"/>
            <a:ext cx="5486400" cy="2395728"/>
          </a:xfrm>
          <a:prstGeom prst="roundRect">
            <a:avLst>
              <a:gd name="adj" fmla="val 6000"/>
            </a:avLst>
          </a:prstGeom>
          <a:solidFill>
            <a:srgbClr val="FFFFFF"/>
          </a:solidFill>
          <a:ln w="9525">
            <a:solidFill>
              <a:srgbClr val="E8E9EE"/>
            </a:solidFill>
          </a:ln>
          <a:effectLst/>
        </p:spPr>
        <p:txBody>
          <a:bodyPr rtlCol="0" anchor="ctr"/>
          <a:lstStyle/>
          <a:p>
            <a:pPr algn="ctr"/>
          </a:p>
        </p:txBody>
      </p:sp>
      <p:sp>
        <p:nvSpPr>
          <p:cNvPr id="12" name="Oval 11"/>
          <p:cNvSpPr/>
          <p:nvPr/>
        </p:nvSpPr>
        <p:spPr>
          <a:xfrm>
            <a:off x="6327648" y="2121408"/>
            <a:ext cx="420624" cy="420624"/>
          </a:xfrm>
          <a:prstGeom prst="ellipse">
            <a:avLst/>
          </a:prstGeom>
          <a:solidFill>
            <a:srgbClr val="E7F4F4"/>
          </a:solidFill>
          <a:ln>
            <a:noFill/>
          </a:ln>
          <a:effectLst/>
        </p:spPr>
        <p:txBody>
          <a:bodyPr rtlCol="0" anchor="ctr"/>
          <a:lstStyle/>
          <a:p>
            <a:pPr algn="ctr"/>
          </a:p>
        </p:txBody>
      </p:sp>
      <p:pic>
        <p:nvPicPr>
          <p:cNvPr id="13" name="Picture 12" descr="database_0E8A8A_256_2.0.png"/>
          <p:cNvPicPr>
            <a:picLocks noChangeAspect="1"/>
          </p:cNvPicPr>
          <p:nvPr/>
        </p:nvPicPr>
        <p:blipFill>
          <a:blip r:embed="rId3"/>
          <a:stretch>
            <a:fillRect/>
          </a:stretch>
        </p:blipFill>
        <p:spPr>
          <a:xfrm>
            <a:off x="6428597" y="2222357"/>
            <a:ext cx="218724" cy="218724"/>
          </a:xfrm>
          <a:prstGeom prst="rect">
            <a:avLst/>
          </a:prstGeom>
        </p:spPr>
      </p:pic>
      <p:sp>
        <p:nvSpPr>
          <p:cNvPr id="14" name="TextBox 13"/>
          <p:cNvSpPr txBox="1"/>
          <p:nvPr/>
        </p:nvSpPr>
        <p:spPr>
          <a:xfrm>
            <a:off x="6876288" y="2103120"/>
            <a:ext cx="3840480" cy="502920"/>
          </a:xfrm>
          <a:prstGeom prst="rect">
            <a:avLst/>
          </a:prstGeom>
          <a:noFill/>
        </p:spPr>
        <p:txBody>
          <a:bodyPr wrap="square" lIns="0" rIns="0" tIns="0" bIns="0" anchor="t">
            <a:spAutoFit/>
          </a:bodyPr>
          <a:lstStyle/>
          <a:p>
            <a:pPr algn="l">
              <a:lnSpc>
                <a:spcPct val="110000"/>
              </a:lnSpc>
            </a:pPr>
            <a:r>
              <a:rPr sz="1250" b="1" i="0">
                <a:solidFill>
                  <a:srgbClr val="16181D"/>
                </a:solidFill>
                <a:latin typeface="Montserrat"/>
              </a:rPr>
              <a:t>National Road-Infrastructure</a:t>
            </a:r>
          </a:p>
          <a:p>
            <a:pPr algn="l">
              <a:lnSpc>
                <a:spcPct val="110000"/>
              </a:lnSpc>
            </a:pPr>
            <a:r>
              <a:rPr sz="1250" b="1" i="0">
                <a:solidFill>
                  <a:srgbClr val="16181D"/>
                </a:solidFill>
                <a:latin typeface="Montserrat"/>
              </a:rPr>
              <a:t>Defect Repository</a:t>
            </a:r>
          </a:p>
        </p:txBody>
      </p:sp>
      <p:sp>
        <p:nvSpPr>
          <p:cNvPr id="15" name="Rounded Rectangle 14"/>
          <p:cNvSpPr/>
          <p:nvPr/>
        </p:nvSpPr>
        <p:spPr>
          <a:xfrm>
            <a:off x="10213848" y="2139696"/>
            <a:ext cx="1261872" cy="310896"/>
          </a:xfrm>
          <a:prstGeom prst="roundRect">
            <a:avLst>
              <a:gd name="adj" fmla="val 50000"/>
            </a:avLst>
          </a:prstGeom>
          <a:solidFill>
            <a:srgbClr val="E7F4F4"/>
          </a:solidFill>
          <a:ln>
            <a:noFill/>
          </a:ln>
          <a:effectLst/>
        </p:spPr>
        <p:txBody>
          <a:bodyPr rtlCol="0" anchor="ctr"/>
          <a:lstStyle/>
          <a:p>
            <a:pPr algn="ctr"/>
          </a:p>
        </p:txBody>
      </p:sp>
      <p:sp>
        <p:nvSpPr>
          <p:cNvPr id="16" name="TextBox 15"/>
          <p:cNvSpPr txBox="1"/>
          <p:nvPr/>
        </p:nvSpPr>
        <p:spPr>
          <a:xfrm>
            <a:off x="10232136" y="2139696"/>
            <a:ext cx="1225296" cy="310896"/>
          </a:xfrm>
          <a:prstGeom prst="rect">
            <a:avLst/>
          </a:prstGeom>
          <a:noFill/>
        </p:spPr>
        <p:txBody>
          <a:bodyPr wrap="square" lIns="0" rIns="0" tIns="0" bIns="0" anchor="ctr">
            <a:spAutoFit/>
          </a:bodyPr>
          <a:lstStyle/>
          <a:p>
            <a:pPr algn="ctr">
              <a:lnSpc>
                <a:spcPct val="100000"/>
              </a:lnSpc>
            </a:pPr>
            <a:r>
              <a:rPr sz="700" b="1" i="0">
                <a:solidFill>
                  <a:srgbClr val="0E8A8A"/>
                </a:solidFill>
                <a:latin typeface="Montserrat"/>
              </a:rPr>
              <a:t>DAILY · 07:00 IST</a:t>
            </a:r>
          </a:p>
        </p:txBody>
      </p:sp>
      <p:sp>
        <p:nvSpPr>
          <p:cNvPr id="17" name="TextBox 16"/>
          <p:cNvSpPr txBox="1"/>
          <p:nvPr/>
        </p:nvSpPr>
        <p:spPr>
          <a:xfrm>
            <a:off x="6327648" y="2798064"/>
            <a:ext cx="5120640" cy="457200"/>
          </a:xfrm>
          <a:prstGeom prst="rect">
            <a:avLst/>
          </a:prstGeom>
          <a:noFill/>
        </p:spPr>
        <p:txBody>
          <a:bodyPr wrap="square" lIns="0" rIns="0" tIns="0" bIns="0" anchor="t">
            <a:spAutoFit/>
          </a:bodyPr>
          <a:lstStyle/>
          <a:p>
            <a:pPr algn="l">
              <a:lnSpc>
                <a:spcPct val="120000"/>
              </a:lnSpc>
            </a:pPr>
            <a:r>
              <a:rPr sz="850" b="0" i="0">
                <a:solidFill>
                  <a:srgbClr val="6E7180"/>
                </a:solidFill>
                <a:latin typeface="Geist"/>
              </a:rPr>
              <a:t>An AI pipeline reads local-language news every morning and turns road-defect reports into structured, mapped, ranked evidence, each entry carrying its verbatim source.</a:t>
            </a:r>
          </a:p>
        </p:txBody>
      </p:sp>
      <p:sp>
        <p:nvSpPr>
          <p:cNvPr id="18" name="Rounded Rectangle 17"/>
          <p:cNvSpPr/>
          <p:nvPr/>
        </p:nvSpPr>
        <p:spPr>
          <a:xfrm>
            <a:off x="6327648" y="3310128"/>
            <a:ext cx="969264" cy="274320"/>
          </a:xfrm>
          <a:prstGeom prst="roundRect">
            <a:avLst>
              <a:gd name="adj" fmla="val 50000"/>
            </a:avLst>
          </a:prstGeom>
          <a:solidFill>
            <a:srgbClr val="F7F7FA"/>
          </a:solidFill>
          <a:ln>
            <a:noFill/>
          </a:ln>
          <a:effectLst/>
        </p:spPr>
        <p:txBody>
          <a:bodyPr rtlCol="0" anchor="ctr"/>
          <a:lstStyle/>
          <a:p>
            <a:pPr algn="ctr"/>
          </a:p>
        </p:txBody>
      </p:sp>
      <p:sp>
        <p:nvSpPr>
          <p:cNvPr id="19" name="TextBox 18"/>
          <p:cNvSpPr txBox="1"/>
          <p:nvPr/>
        </p:nvSpPr>
        <p:spPr>
          <a:xfrm>
            <a:off x="6345936" y="3310128"/>
            <a:ext cx="932688" cy="274320"/>
          </a:xfrm>
          <a:prstGeom prst="rect">
            <a:avLst/>
          </a:prstGeom>
          <a:noFill/>
        </p:spPr>
        <p:txBody>
          <a:bodyPr wrap="square" lIns="0" rIns="0" tIns="0" bIns="0" anchor="ctr">
            <a:spAutoFit/>
          </a:bodyPr>
          <a:lstStyle/>
          <a:p>
            <a:pPr algn="ctr">
              <a:lnSpc>
                <a:spcPct val="100000"/>
              </a:lnSpc>
            </a:pPr>
            <a:r>
              <a:rPr sz="650" b="0" i="0">
                <a:solidFill>
                  <a:srgbClr val="16181D"/>
                </a:solidFill>
                <a:latin typeface="Montserrat"/>
              </a:rPr>
              <a:t>Potholes</a:t>
            </a:r>
          </a:p>
        </p:txBody>
      </p:sp>
      <p:sp>
        <p:nvSpPr>
          <p:cNvPr id="20" name="Rounded Rectangle 19"/>
          <p:cNvSpPr/>
          <p:nvPr/>
        </p:nvSpPr>
        <p:spPr>
          <a:xfrm>
            <a:off x="7370063" y="3310128"/>
            <a:ext cx="969264" cy="274320"/>
          </a:xfrm>
          <a:prstGeom prst="roundRect">
            <a:avLst>
              <a:gd name="adj" fmla="val 50000"/>
            </a:avLst>
          </a:prstGeom>
          <a:solidFill>
            <a:srgbClr val="F7F7FA"/>
          </a:solidFill>
          <a:ln>
            <a:noFill/>
          </a:ln>
          <a:effectLst/>
        </p:spPr>
        <p:txBody>
          <a:bodyPr rtlCol="0" anchor="ctr"/>
          <a:lstStyle/>
          <a:p>
            <a:pPr algn="ctr"/>
          </a:p>
        </p:txBody>
      </p:sp>
      <p:sp>
        <p:nvSpPr>
          <p:cNvPr id="21" name="TextBox 20"/>
          <p:cNvSpPr txBox="1"/>
          <p:nvPr/>
        </p:nvSpPr>
        <p:spPr>
          <a:xfrm>
            <a:off x="7388351" y="3310128"/>
            <a:ext cx="932688" cy="274320"/>
          </a:xfrm>
          <a:prstGeom prst="rect">
            <a:avLst/>
          </a:prstGeom>
          <a:noFill/>
        </p:spPr>
        <p:txBody>
          <a:bodyPr wrap="square" lIns="0" rIns="0" tIns="0" bIns="0" anchor="ctr">
            <a:spAutoFit/>
          </a:bodyPr>
          <a:lstStyle/>
          <a:p>
            <a:pPr algn="ctr">
              <a:lnSpc>
                <a:spcPct val="100000"/>
              </a:lnSpc>
            </a:pPr>
            <a:r>
              <a:rPr sz="650" b="0" i="0">
                <a:solidFill>
                  <a:srgbClr val="16181D"/>
                </a:solidFill>
                <a:latin typeface="Montserrat"/>
              </a:rPr>
              <a:t>Missing signage</a:t>
            </a:r>
          </a:p>
        </p:txBody>
      </p:sp>
      <p:sp>
        <p:nvSpPr>
          <p:cNvPr id="22" name="Rounded Rectangle 21"/>
          <p:cNvSpPr/>
          <p:nvPr/>
        </p:nvSpPr>
        <p:spPr>
          <a:xfrm>
            <a:off x="8412478" y="3310128"/>
            <a:ext cx="969264" cy="274320"/>
          </a:xfrm>
          <a:prstGeom prst="roundRect">
            <a:avLst>
              <a:gd name="adj" fmla="val 50000"/>
            </a:avLst>
          </a:prstGeom>
          <a:solidFill>
            <a:srgbClr val="F7F7FA"/>
          </a:solidFill>
          <a:ln>
            <a:noFill/>
          </a:ln>
          <a:effectLst/>
        </p:spPr>
        <p:txBody>
          <a:bodyPr rtlCol="0" anchor="ctr"/>
          <a:lstStyle/>
          <a:p>
            <a:pPr algn="ctr"/>
          </a:p>
        </p:txBody>
      </p:sp>
      <p:sp>
        <p:nvSpPr>
          <p:cNvPr id="23" name="TextBox 22"/>
          <p:cNvSpPr txBox="1"/>
          <p:nvPr/>
        </p:nvSpPr>
        <p:spPr>
          <a:xfrm>
            <a:off x="8430766" y="3310128"/>
            <a:ext cx="932688" cy="274320"/>
          </a:xfrm>
          <a:prstGeom prst="rect">
            <a:avLst/>
          </a:prstGeom>
          <a:noFill/>
        </p:spPr>
        <p:txBody>
          <a:bodyPr wrap="square" lIns="0" rIns="0" tIns="0" bIns="0" anchor="ctr">
            <a:spAutoFit/>
          </a:bodyPr>
          <a:lstStyle/>
          <a:p>
            <a:pPr algn="ctr">
              <a:lnSpc>
                <a:spcPct val="100000"/>
              </a:lnSpc>
            </a:pPr>
            <a:r>
              <a:rPr sz="650" b="0" i="0">
                <a:solidFill>
                  <a:srgbClr val="16181D"/>
                </a:solidFill>
                <a:latin typeface="Montserrat"/>
              </a:rPr>
              <a:t>Unlit stretches</a:t>
            </a:r>
          </a:p>
        </p:txBody>
      </p:sp>
      <p:sp>
        <p:nvSpPr>
          <p:cNvPr id="24" name="Rounded Rectangle 23"/>
          <p:cNvSpPr/>
          <p:nvPr/>
        </p:nvSpPr>
        <p:spPr>
          <a:xfrm>
            <a:off x="9454893" y="3310128"/>
            <a:ext cx="969264" cy="274320"/>
          </a:xfrm>
          <a:prstGeom prst="roundRect">
            <a:avLst>
              <a:gd name="adj" fmla="val 50000"/>
            </a:avLst>
          </a:prstGeom>
          <a:solidFill>
            <a:srgbClr val="F7F7FA"/>
          </a:solidFill>
          <a:ln>
            <a:noFill/>
          </a:ln>
          <a:effectLst/>
        </p:spPr>
        <p:txBody>
          <a:bodyPr rtlCol="0" anchor="ctr"/>
          <a:lstStyle/>
          <a:p>
            <a:pPr algn="ctr"/>
          </a:p>
        </p:txBody>
      </p:sp>
      <p:sp>
        <p:nvSpPr>
          <p:cNvPr id="25" name="TextBox 24"/>
          <p:cNvSpPr txBox="1"/>
          <p:nvPr/>
        </p:nvSpPr>
        <p:spPr>
          <a:xfrm>
            <a:off x="9473181" y="3310128"/>
            <a:ext cx="932688" cy="274320"/>
          </a:xfrm>
          <a:prstGeom prst="rect">
            <a:avLst/>
          </a:prstGeom>
          <a:noFill/>
        </p:spPr>
        <p:txBody>
          <a:bodyPr wrap="square" lIns="0" rIns="0" tIns="0" bIns="0" anchor="ctr">
            <a:spAutoFit/>
          </a:bodyPr>
          <a:lstStyle/>
          <a:p>
            <a:pPr algn="ctr">
              <a:lnSpc>
                <a:spcPct val="100000"/>
              </a:lnSpc>
            </a:pPr>
            <a:r>
              <a:rPr sz="650" b="0" i="0">
                <a:solidFill>
                  <a:srgbClr val="16181D"/>
                </a:solidFill>
                <a:latin typeface="Montserrat"/>
              </a:rPr>
              <a:t>Blind curves</a:t>
            </a:r>
          </a:p>
        </p:txBody>
      </p:sp>
      <p:sp>
        <p:nvSpPr>
          <p:cNvPr id="26" name="Rounded Rectangle 25"/>
          <p:cNvSpPr/>
          <p:nvPr/>
        </p:nvSpPr>
        <p:spPr>
          <a:xfrm>
            <a:off x="10497308" y="3310128"/>
            <a:ext cx="969264" cy="274320"/>
          </a:xfrm>
          <a:prstGeom prst="roundRect">
            <a:avLst>
              <a:gd name="adj" fmla="val 50000"/>
            </a:avLst>
          </a:prstGeom>
          <a:solidFill>
            <a:srgbClr val="F7F7FA"/>
          </a:solidFill>
          <a:ln>
            <a:noFill/>
          </a:ln>
          <a:effectLst/>
        </p:spPr>
        <p:txBody>
          <a:bodyPr rtlCol="0" anchor="ctr"/>
          <a:lstStyle/>
          <a:p>
            <a:pPr algn="ctr"/>
          </a:p>
        </p:txBody>
      </p:sp>
      <p:sp>
        <p:nvSpPr>
          <p:cNvPr id="27" name="TextBox 26"/>
          <p:cNvSpPr txBox="1"/>
          <p:nvPr/>
        </p:nvSpPr>
        <p:spPr>
          <a:xfrm>
            <a:off x="10515596" y="3310128"/>
            <a:ext cx="932688" cy="274320"/>
          </a:xfrm>
          <a:prstGeom prst="rect">
            <a:avLst/>
          </a:prstGeom>
          <a:noFill/>
        </p:spPr>
        <p:txBody>
          <a:bodyPr wrap="square" lIns="0" rIns="0" tIns="0" bIns="0" anchor="ctr">
            <a:spAutoFit/>
          </a:bodyPr>
          <a:lstStyle/>
          <a:p>
            <a:pPr algn="ctr">
              <a:lnSpc>
                <a:spcPct val="100000"/>
              </a:lnSpc>
            </a:pPr>
            <a:r>
              <a:rPr sz="650" b="0" i="0">
                <a:solidFill>
                  <a:srgbClr val="16181D"/>
                </a:solidFill>
                <a:latin typeface="Montserrat"/>
              </a:rPr>
              <a:t>Broken dividers</a:t>
            </a:r>
          </a:p>
        </p:txBody>
      </p:sp>
      <p:sp>
        <p:nvSpPr>
          <p:cNvPr id="28" name="Rounded Rectangle 27"/>
          <p:cNvSpPr/>
          <p:nvPr/>
        </p:nvSpPr>
        <p:spPr>
          <a:xfrm>
            <a:off x="6327648" y="3694176"/>
            <a:ext cx="1645920" cy="512064"/>
          </a:xfrm>
          <a:prstGeom prst="roundRect">
            <a:avLst>
              <a:gd name="adj" fmla="val 12000"/>
            </a:avLst>
          </a:prstGeom>
          <a:solidFill>
            <a:srgbClr val="E7F4F4"/>
          </a:solidFill>
          <a:ln>
            <a:noFill/>
          </a:ln>
          <a:effectLst/>
        </p:spPr>
        <p:txBody>
          <a:bodyPr rtlCol="0" anchor="ctr"/>
          <a:lstStyle/>
          <a:p>
            <a:pPr algn="ctr"/>
          </a:p>
        </p:txBody>
      </p:sp>
      <p:sp>
        <p:nvSpPr>
          <p:cNvPr id="29" name="TextBox 28"/>
          <p:cNvSpPr txBox="1"/>
          <p:nvPr/>
        </p:nvSpPr>
        <p:spPr>
          <a:xfrm>
            <a:off x="6419088" y="3749039"/>
            <a:ext cx="475488" cy="274320"/>
          </a:xfrm>
          <a:prstGeom prst="rect">
            <a:avLst/>
          </a:prstGeom>
          <a:noFill/>
        </p:spPr>
        <p:txBody>
          <a:bodyPr wrap="square" lIns="0" rIns="0" tIns="0" bIns="0" anchor="t">
            <a:spAutoFit/>
          </a:bodyPr>
          <a:lstStyle/>
          <a:p>
            <a:pPr algn="l">
              <a:lnSpc>
                <a:spcPct val="100000"/>
              </a:lnSpc>
            </a:pPr>
            <a:r>
              <a:rPr sz="1200" b="1" i="0">
                <a:solidFill>
                  <a:srgbClr val="0E8A8A"/>
                </a:solidFill>
                <a:latin typeface="Montserrat"/>
              </a:rPr>
              <a:t>146</a:t>
            </a:r>
          </a:p>
        </p:txBody>
      </p:sp>
      <p:sp>
        <p:nvSpPr>
          <p:cNvPr id="30" name="TextBox 29"/>
          <p:cNvSpPr txBox="1"/>
          <p:nvPr/>
        </p:nvSpPr>
        <p:spPr>
          <a:xfrm>
            <a:off x="6894576" y="3739896"/>
            <a:ext cx="1051560" cy="402336"/>
          </a:xfrm>
          <a:prstGeom prst="rect">
            <a:avLst/>
          </a:prstGeom>
          <a:noFill/>
        </p:spPr>
        <p:txBody>
          <a:bodyPr wrap="square" lIns="0" rIns="0" tIns="0" bIns="0" anchor="t">
            <a:spAutoFit/>
          </a:bodyPr>
          <a:lstStyle/>
          <a:p>
            <a:pPr algn="l">
              <a:lnSpc>
                <a:spcPct val="108000"/>
              </a:lnSpc>
            </a:pPr>
            <a:r>
              <a:rPr sz="650" b="0" i="0">
                <a:solidFill>
                  <a:srgbClr val="6E7180"/>
                </a:solidFill>
                <a:latin typeface="Geist"/>
              </a:rPr>
              <a:t>districts scanned daily</a:t>
            </a:r>
          </a:p>
        </p:txBody>
      </p:sp>
      <p:sp>
        <p:nvSpPr>
          <p:cNvPr id="31" name="Rounded Rectangle 30"/>
          <p:cNvSpPr/>
          <p:nvPr/>
        </p:nvSpPr>
        <p:spPr>
          <a:xfrm>
            <a:off x="8083296" y="3694176"/>
            <a:ext cx="1645920" cy="512064"/>
          </a:xfrm>
          <a:prstGeom prst="roundRect">
            <a:avLst>
              <a:gd name="adj" fmla="val 12000"/>
            </a:avLst>
          </a:prstGeom>
          <a:solidFill>
            <a:srgbClr val="E7F4F4"/>
          </a:solidFill>
          <a:ln>
            <a:noFill/>
          </a:ln>
          <a:effectLst/>
        </p:spPr>
        <p:txBody>
          <a:bodyPr rtlCol="0" anchor="ctr"/>
          <a:lstStyle/>
          <a:p>
            <a:pPr algn="ctr"/>
          </a:p>
        </p:txBody>
      </p:sp>
      <p:sp>
        <p:nvSpPr>
          <p:cNvPr id="32" name="TextBox 31"/>
          <p:cNvSpPr txBox="1"/>
          <p:nvPr/>
        </p:nvSpPr>
        <p:spPr>
          <a:xfrm>
            <a:off x="8174736" y="3749039"/>
            <a:ext cx="475488" cy="274320"/>
          </a:xfrm>
          <a:prstGeom prst="rect">
            <a:avLst/>
          </a:prstGeom>
          <a:noFill/>
        </p:spPr>
        <p:txBody>
          <a:bodyPr wrap="square" lIns="0" rIns="0" tIns="0" bIns="0" anchor="t">
            <a:spAutoFit/>
          </a:bodyPr>
          <a:lstStyle/>
          <a:p>
            <a:pPr algn="l">
              <a:lnSpc>
                <a:spcPct val="100000"/>
              </a:lnSpc>
            </a:pPr>
            <a:r>
              <a:rPr sz="1200" b="1" i="0">
                <a:solidFill>
                  <a:srgbClr val="0E8A8A"/>
                </a:solidFill>
                <a:latin typeface="Montserrat"/>
              </a:rPr>
              <a:t>13</a:t>
            </a:r>
          </a:p>
        </p:txBody>
      </p:sp>
      <p:sp>
        <p:nvSpPr>
          <p:cNvPr id="33" name="TextBox 32"/>
          <p:cNvSpPr txBox="1"/>
          <p:nvPr/>
        </p:nvSpPr>
        <p:spPr>
          <a:xfrm>
            <a:off x="8650224" y="3739896"/>
            <a:ext cx="1051560" cy="402336"/>
          </a:xfrm>
          <a:prstGeom prst="rect">
            <a:avLst/>
          </a:prstGeom>
          <a:noFill/>
        </p:spPr>
        <p:txBody>
          <a:bodyPr wrap="square" lIns="0" rIns="0" tIns="0" bIns="0" anchor="t">
            <a:spAutoFit/>
          </a:bodyPr>
          <a:lstStyle/>
          <a:p>
            <a:pPr algn="l">
              <a:lnSpc>
                <a:spcPct val="108000"/>
              </a:lnSpc>
            </a:pPr>
            <a:r>
              <a:rPr sz="650" b="0" i="0">
                <a:solidFill>
                  <a:srgbClr val="6E7180"/>
                </a:solidFill>
                <a:latin typeface="Geist"/>
              </a:rPr>
              <a:t>languages read</a:t>
            </a:r>
          </a:p>
        </p:txBody>
      </p:sp>
      <p:sp>
        <p:nvSpPr>
          <p:cNvPr id="34" name="Rounded Rectangle 33"/>
          <p:cNvSpPr/>
          <p:nvPr/>
        </p:nvSpPr>
        <p:spPr>
          <a:xfrm>
            <a:off x="9838944" y="3694176"/>
            <a:ext cx="1645920" cy="512064"/>
          </a:xfrm>
          <a:prstGeom prst="roundRect">
            <a:avLst>
              <a:gd name="adj" fmla="val 12000"/>
            </a:avLst>
          </a:prstGeom>
          <a:solidFill>
            <a:srgbClr val="E7F4F4"/>
          </a:solidFill>
          <a:ln>
            <a:noFill/>
          </a:ln>
          <a:effectLst/>
        </p:spPr>
        <p:txBody>
          <a:bodyPr rtlCol="0" anchor="ctr"/>
          <a:lstStyle/>
          <a:p>
            <a:pPr algn="ctr"/>
          </a:p>
        </p:txBody>
      </p:sp>
      <p:sp>
        <p:nvSpPr>
          <p:cNvPr id="35" name="TextBox 34"/>
          <p:cNvSpPr txBox="1"/>
          <p:nvPr/>
        </p:nvSpPr>
        <p:spPr>
          <a:xfrm>
            <a:off x="9930384" y="3749039"/>
            <a:ext cx="475488" cy="274320"/>
          </a:xfrm>
          <a:prstGeom prst="rect">
            <a:avLst/>
          </a:prstGeom>
          <a:noFill/>
        </p:spPr>
        <p:txBody>
          <a:bodyPr wrap="square" lIns="0" rIns="0" tIns="0" bIns="0" anchor="t">
            <a:spAutoFit/>
          </a:bodyPr>
          <a:lstStyle/>
          <a:p>
            <a:pPr algn="l">
              <a:lnSpc>
                <a:spcPct val="100000"/>
              </a:lnSpc>
            </a:pPr>
            <a:r>
              <a:rPr sz="1200" b="1" i="0">
                <a:solidFill>
                  <a:srgbClr val="0E8A8A"/>
                </a:solidFill>
                <a:latin typeface="Montserrat"/>
              </a:rPr>
              <a:t>21</a:t>
            </a:r>
          </a:p>
        </p:txBody>
      </p:sp>
      <p:sp>
        <p:nvSpPr>
          <p:cNvPr id="36" name="TextBox 35"/>
          <p:cNvSpPr txBox="1"/>
          <p:nvPr/>
        </p:nvSpPr>
        <p:spPr>
          <a:xfrm>
            <a:off x="10405872" y="3739896"/>
            <a:ext cx="1051560" cy="402336"/>
          </a:xfrm>
          <a:prstGeom prst="rect">
            <a:avLst/>
          </a:prstGeom>
          <a:noFill/>
        </p:spPr>
        <p:txBody>
          <a:bodyPr wrap="square" lIns="0" rIns="0" tIns="0" bIns="0" anchor="t">
            <a:spAutoFit/>
          </a:bodyPr>
          <a:lstStyle/>
          <a:p>
            <a:pPr algn="l">
              <a:lnSpc>
                <a:spcPct val="108000"/>
              </a:lnSpc>
            </a:pPr>
            <a:r>
              <a:rPr sz="650" b="0" i="0">
                <a:solidFill>
                  <a:srgbClr val="6E7180"/>
                </a:solidFill>
                <a:latin typeface="Geist"/>
              </a:rPr>
              <a:t>defect codes tracked</a:t>
            </a:r>
          </a:p>
        </p:txBody>
      </p:sp>
      <p:sp>
        <p:nvSpPr>
          <p:cNvPr id="37" name="TextBox 36"/>
          <p:cNvSpPr txBox="1"/>
          <p:nvPr/>
        </p:nvSpPr>
        <p:spPr>
          <a:xfrm>
            <a:off x="6144768" y="4379976"/>
            <a:ext cx="5486400" cy="27432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Local news → AI extraction → confidence gate → human review → public map. Live across Bihar, UP and Rajasthan districts today.</a:t>
            </a:r>
          </a:p>
        </p:txBody>
      </p:sp>
      <p:sp>
        <p:nvSpPr>
          <p:cNvPr id="38" name="Rounded Rectangle 37"/>
          <p:cNvSpPr/>
          <p:nvPr/>
        </p:nvSpPr>
        <p:spPr>
          <a:xfrm>
            <a:off x="566928" y="4956048"/>
            <a:ext cx="5486400" cy="1298448"/>
          </a:xfrm>
          <a:prstGeom prst="roundRect">
            <a:avLst>
              <a:gd name="adj" fmla="val 8000"/>
            </a:avLst>
          </a:prstGeom>
          <a:solidFill>
            <a:srgbClr val="FFFFFF"/>
          </a:solidFill>
          <a:ln w="9525">
            <a:solidFill>
              <a:srgbClr val="E8E9EE"/>
            </a:solidFill>
          </a:ln>
          <a:effectLst/>
        </p:spPr>
        <p:txBody>
          <a:bodyPr rtlCol="0" anchor="ctr"/>
          <a:lstStyle/>
          <a:p>
            <a:pPr algn="ctr"/>
          </a:p>
        </p:txBody>
      </p:sp>
      <p:sp>
        <p:nvSpPr>
          <p:cNvPr id="39" name="Oval 38"/>
          <p:cNvSpPr/>
          <p:nvPr/>
        </p:nvSpPr>
        <p:spPr>
          <a:xfrm>
            <a:off x="713232" y="5102352"/>
            <a:ext cx="365760" cy="365760"/>
          </a:xfrm>
          <a:prstGeom prst="ellipse">
            <a:avLst/>
          </a:prstGeom>
          <a:solidFill>
            <a:srgbClr val="EFEDFF"/>
          </a:solidFill>
          <a:ln>
            <a:noFill/>
          </a:ln>
          <a:effectLst/>
        </p:spPr>
        <p:txBody>
          <a:bodyPr rtlCol="0" anchor="ctr"/>
          <a:lstStyle/>
          <a:p>
            <a:pPr algn="ctr"/>
          </a:p>
        </p:txBody>
      </p:sp>
      <p:pic>
        <p:nvPicPr>
          <p:cNvPr id="40" name="Picture 39" descr="scale_4A35FF_256_2.0.png"/>
          <p:cNvPicPr>
            <a:picLocks noChangeAspect="1"/>
          </p:cNvPicPr>
          <p:nvPr/>
        </p:nvPicPr>
        <p:blipFill>
          <a:blip r:embed="rId4"/>
          <a:stretch>
            <a:fillRect/>
          </a:stretch>
        </p:blipFill>
        <p:spPr>
          <a:xfrm>
            <a:off x="801014" y="5190134"/>
            <a:ext cx="190195" cy="190195"/>
          </a:xfrm>
          <a:prstGeom prst="rect">
            <a:avLst/>
          </a:prstGeom>
        </p:spPr>
      </p:pic>
      <p:sp>
        <p:nvSpPr>
          <p:cNvPr id="41" name="TextBox 40"/>
          <p:cNvSpPr txBox="1"/>
          <p:nvPr/>
        </p:nvSpPr>
        <p:spPr>
          <a:xfrm>
            <a:off x="1188720" y="5074920"/>
            <a:ext cx="3291840" cy="274320"/>
          </a:xfrm>
          <a:prstGeom prst="rect">
            <a:avLst/>
          </a:prstGeom>
          <a:noFill/>
        </p:spPr>
        <p:txBody>
          <a:bodyPr wrap="square" lIns="0" rIns="0" tIns="0" bIns="0" anchor="t">
            <a:spAutoFit/>
          </a:bodyPr>
          <a:lstStyle/>
          <a:p>
            <a:pPr algn="l">
              <a:lnSpc>
                <a:spcPct val="100000"/>
              </a:lnSpc>
            </a:pPr>
            <a:r>
              <a:rPr sz="1000" b="1" i="0">
                <a:solidFill>
                  <a:srgbClr val="16181D"/>
                </a:solidFill>
                <a:latin typeface="Montserrat"/>
              </a:rPr>
              <a:t>Supreme Court Litigation Tracker</a:t>
            </a:r>
          </a:p>
        </p:txBody>
      </p:sp>
      <p:sp>
        <p:nvSpPr>
          <p:cNvPr id="42" name="Rounded Rectangle 41"/>
          <p:cNvSpPr/>
          <p:nvPr/>
        </p:nvSpPr>
        <p:spPr>
          <a:xfrm>
            <a:off x="4572000" y="5093208"/>
            <a:ext cx="1353312" cy="292608"/>
          </a:xfrm>
          <a:prstGeom prst="roundRect">
            <a:avLst>
              <a:gd name="adj" fmla="val 50000"/>
            </a:avLst>
          </a:prstGeom>
          <a:solidFill>
            <a:srgbClr val="EFEDFF"/>
          </a:solidFill>
          <a:ln>
            <a:noFill/>
          </a:ln>
          <a:effectLst/>
        </p:spPr>
        <p:txBody>
          <a:bodyPr rtlCol="0" anchor="ctr"/>
          <a:lstStyle/>
          <a:p>
            <a:pPr algn="ctr"/>
          </a:p>
        </p:txBody>
      </p:sp>
      <p:sp>
        <p:nvSpPr>
          <p:cNvPr id="43" name="TextBox 42"/>
          <p:cNvSpPr txBox="1"/>
          <p:nvPr/>
        </p:nvSpPr>
        <p:spPr>
          <a:xfrm>
            <a:off x="4590288" y="5093208"/>
            <a:ext cx="1316736" cy="292608"/>
          </a:xfrm>
          <a:prstGeom prst="rect">
            <a:avLst/>
          </a:prstGeom>
          <a:noFill/>
        </p:spPr>
        <p:txBody>
          <a:bodyPr wrap="square" lIns="0" rIns="0" tIns="0" bIns="0" anchor="ctr">
            <a:spAutoFit/>
          </a:bodyPr>
          <a:lstStyle/>
          <a:p>
            <a:pPr algn="ctr">
              <a:lnSpc>
                <a:spcPct val="100000"/>
              </a:lnSpc>
            </a:pPr>
            <a:r>
              <a:rPr sz="700" b="1" i="0">
                <a:solidFill>
                  <a:srgbClr val="4A35FF"/>
                </a:solidFill>
                <a:latin typeface="Montserrat"/>
              </a:rPr>
              <a:t>WEEKLY · LIVE</a:t>
            </a:r>
          </a:p>
        </p:txBody>
      </p:sp>
      <p:sp>
        <p:nvSpPr>
          <p:cNvPr id="44" name="TextBox 43"/>
          <p:cNvSpPr txBox="1"/>
          <p:nvPr/>
        </p:nvSpPr>
        <p:spPr>
          <a:xfrm>
            <a:off x="713232" y="5522976"/>
            <a:ext cx="3246120" cy="658368"/>
          </a:xfrm>
          <a:prstGeom prst="rect">
            <a:avLst/>
          </a:prstGeom>
          <a:noFill/>
        </p:spPr>
        <p:txBody>
          <a:bodyPr wrap="square" lIns="0" rIns="0" tIns="0" bIns="0" anchor="t">
            <a:spAutoFit/>
          </a:bodyPr>
          <a:lstStyle/>
          <a:p>
            <a:pPr algn="l">
              <a:lnSpc>
                <a:spcPct val="116000"/>
              </a:lnSpc>
            </a:pPr>
            <a:r>
              <a:rPr sz="800" b="0" i="0">
                <a:solidFill>
                  <a:srgbClr val="6E7180"/>
                </a:solidFill>
                <a:latin typeface="Geist"/>
              </a:rPr>
              <a:t>Every systemic road-safety matter before the Supreme Court, orders indexed, precedent judgments digested, refreshed every Tuesday.</a:t>
            </a:r>
          </a:p>
        </p:txBody>
      </p:sp>
      <p:pic>
        <p:nvPicPr>
          <p:cNvPr id="45" name="Picture 44" descr="strip_sctracker.png"/>
          <p:cNvPicPr>
            <a:picLocks noChangeAspect="1"/>
          </p:cNvPicPr>
          <p:nvPr/>
        </p:nvPicPr>
        <p:blipFill>
          <a:blip r:embed="rId5"/>
          <a:stretch>
            <a:fillRect/>
          </a:stretch>
        </p:blipFill>
        <p:spPr>
          <a:xfrm>
            <a:off x="4059936" y="5522976"/>
            <a:ext cx="1847088" cy="362006"/>
          </a:xfrm>
          <a:prstGeom prst="rect">
            <a:avLst/>
          </a:prstGeom>
        </p:spPr>
      </p:pic>
      <p:sp>
        <p:nvSpPr>
          <p:cNvPr id="46" name="Rounded Rectangle 45"/>
          <p:cNvSpPr/>
          <p:nvPr/>
        </p:nvSpPr>
        <p:spPr>
          <a:xfrm>
            <a:off x="6144768" y="4956048"/>
            <a:ext cx="5486400" cy="1298448"/>
          </a:xfrm>
          <a:prstGeom prst="roundRect">
            <a:avLst>
              <a:gd name="adj" fmla="val 8000"/>
            </a:avLst>
          </a:prstGeom>
          <a:solidFill>
            <a:srgbClr val="FFFFFF"/>
          </a:solidFill>
          <a:ln w="9525">
            <a:solidFill>
              <a:srgbClr val="E8E9EE"/>
            </a:solidFill>
          </a:ln>
          <a:effectLst/>
        </p:spPr>
        <p:txBody>
          <a:bodyPr rtlCol="0" anchor="ctr"/>
          <a:lstStyle/>
          <a:p>
            <a:pPr algn="ctr"/>
          </a:p>
        </p:txBody>
      </p:sp>
      <p:sp>
        <p:nvSpPr>
          <p:cNvPr id="47" name="Oval 46"/>
          <p:cNvSpPr/>
          <p:nvPr/>
        </p:nvSpPr>
        <p:spPr>
          <a:xfrm>
            <a:off x="6291072" y="5102352"/>
            <a:ext cx="365760" cy="365760"/>
          </a:xfrm>
          <a:prstGeom prst="ellipse">
            <a:avLst/>
          </a:prstGeom>
          <a:solidFill>
            <a:srgbClr val="FDF3E3"/>
          </a:solidFill>
          <a:ln>
            <a:noFill/>
          </a:ln>
          <a:effectLst/>
        </p:spPr>
        <p:txBody>
          <a:bodyPr rtlCol="0" anchor="ctr"/>
          <a:lstStyle/>
          <a:p>
            <a:pPr algn="ctr"/>
          </a:p>
        </p:txBody>
      </p:sp>
      <p:pic>
        <p:nvPicPr>
          <p:cNvPr id="48" name="Picture 47" descr="bar-chart-3_E58900_256_2.0.png"/>
          <p:cNvPicPr>
            <a:picLocks noChangeAspect="1"/>
          </p:cNvPicPr>
          <p:nvPr/>
        </p:nvPicPr>
        <p:blipFill>
          <a:blip r:embed="rId6"/>
          <a:stretch>
            <a:fillRect/>
          </a:stretch>
        </p:blipFill>
        <p:spPr>
          <a:xfrm>
            <a:off x="6378854" y="5190134"/>
            <a:ext cx="190195" cy="190195"/>
          </a:xfrm>
          <a:prstGeom prst="rect">
            <a:avLst/>
          </a:prstGeom>
        </p:spPr>
      </p:pic>
      <p:sp>
        <p:nvSpPr>
          <p:cNvPr id="49" name="TextBox 48"/>
          <p:cNvSpPr txBox="1"/>
          <p:nvPr/>
        </p:nvSpPr>
        <p:spPr>
          <a:xfrm>
            <a:off x="6766560" y="5074920"/>
            <a:ext cx="3291840" cy="274320"/>
          </a:xfrm>
          <a:prstGeom prst="rect">
            <a:avLst/>
          </a:prstGeom>
          <a:noFill/>
        </p:spPr>
        <p:txBody>
          <a:bodyPr wrap="square" lIns="0" rIns="0" tIns="0" bIns="0" anchor="t">
            <a:spAutoFit/>
          </a:bodyPr>
          <a:lstStyle/>
          <a:p>
            <a:pPr algn="l">
              <a:lnSpc>
                <a:spcPct val="100000"/>
              </a:lnSpc>
            </a:pPr>
            <a:r>
              <a:rPr sz="1000" b="1" i="0">
                <a:solidFill>
                  <a:srgbClr val="16181D"/>
                </a:solidFill>
                <a:latin typeface="Montserrat"/>
              </a:rPr>
              <a:t>Crash Data Dashboard</a:t>
            </a:r>
          </a:p>
        </p:txBody>
      </p:sp>
      <p:sp>
        <p:nvSpPr>
          <p:cNvPr id="50" name="Rounded Rectangle 49"/>
          <p:cNvSpPr/>
          <p:nvPr/>
        </p:nvSpPr>
        <p:spPr>
          <a:xfrm>
            <a:off x="10149840" y="5093208"/>
            <a:ext cx="1353312" cy="292608"/>
          </a:xfrm>
          <a:prstGeom prst="roundRect">
            <a:avLst>
              <a:gd name="adj" fmla="val 50000"/>
            </a:avLst>
          </a:prstGeom>
          <a:solidFill>
            <a:srgbClr val="FDF3E3"/>
          </a:solidFill>
          <a:ln>
            <a:noFill/>
          </a:ln>
          <a:effectLst/>
        </p:spPr>
        <p:txBody>
          <a:bodyPr rtlCol="0" anchor="ctr"/>
          <a:lstStyle/>
          <a:p>
            <a:pPr algn="ctr"/>
          </a:p>
        </p:txBody>
      </p:sp>
      <p:sp>
        <p:nvSpPr>
          <p:cNvPr id="51" name="TextBox 50"/>
          <p:cNvSpPr txBox="1"/>
          <p:nvPr/>
        </p:nvSpPr>
        <p:spPr>
          <a:xfrm>
            <a:off x="10168128" y="5093208"/>
            <a:ext cx="1316736" cy="292608"/>
          </a:xfrm>
          <a:prstGeom prst="rect">
            <a:avLst/>
          </a:prstGeom>
          <a:noFill/>
        </p:spPr>
        <p:txBody>
          <a:bodyPr wrap="square" lIns="0" rIns="0" tIns="0" bIns="0" anchor="ctr">
            <a:spAutoFit/>
          </a:bodyPr>
          <a:lstStyle/>
          <a:p>
            <a:pPr algn="ctr">
              <a:lnSpc>
                <a:spcPct val="100000"/>
              </a:lnSpc>
            </a:pPr>
            <a:r>
              <a:rPr sz="700" b="1" i="0">
                <a:solidFill>
                  <a:srgbClr val="E58900"/>
                </a:solidFill>
                <a:latin typeface="Montserrat"/>
              </a:rPr>
              <a:t>ANNUAL · OPEN DATA</a:t>
            </a:r>
          </a:p>
        </p:txBody>
      </p:sp>
      <p:sp>
        <p:nvSpPr>
          <p:cNvPr id="52" name="TextBox 51"/>
          <p:cNvSpPr txBox="1"/>
          <p:nvPr/>
        </p:nvSpPr>
        <p:spPr>
          <a:xfrm>
            <a:off x="6291072" y="5522976"/>
            <a:ext cx="3246120" cy="658368"/>
          </a:xfrm>
          <a:prstGeom prst="rect">
            <a:avLst/>
          </a:prstGeom>
          <a:noFill/>
        </p:spPr>
        <p:txBody>
          <a:bodyPr wrap="square" lIns="0" rIns="0" tIns="0" bIns="0" anchor="t">
            <a:spAutoFit/>
          </a:bodyPr>
          <a:lstStyle/>
          <a:p>
            <a:pPr algn="l">
              <a:lnSpc>
                <a:spcPct val="116000"/>
              </a:lnSpc>
            </a:pPr>
            <a:r>
              <a:rPr sz="800" b="0" i="0">
                <a:solidFill>
                  <a:srgbClr val="6E7180"/>
                </a:solidFill>
                <a:latin typeface="Geist"/>
              </a:rPr>
              <a:t>MoRTH's annual 'Road Accidents in India' books as a usable product: report cards for 36 states and 50 cities, every number reconciled against the printed books, open licence (CC-BY).</a:t>
            </a:r>
          </a:p>
        </p:txBody>
      </p:sp>
      <p:pic>
        <p:nvPicPr>
          <p:cNvPr id="53" name="Picture 52" descr="strip_crash.png"/>
          <p:cNvPicPr>
            <a:picLocks noChangeAspect="1"/>
          </p:cNvPicPr>
          <p:nvPr/>
        </p:nvPicPr>
        <p:blipFill>
          <a:blip r:embed="rId7"/>
          <a:stretch>
            <a:fillRect/>
          </a:stretch>
        </p:blipFill>
        <p:spPr>
          <a:xfrm>
            <a:off x="9637776" y="5522976"/>
            <a:ext cx="1847088" cy="362006"/>
          </a:xfrm>
          <a:prstGeom prst="rect">
            <a:avLst/>
          </a:prstGeom>
        </p:spPr>
      </p:pic>
      <p:cxnSp>
        <p:nvCxnSpPr>
          <p:cNvPr id="54" name="Connector 53"/>
          <p:cNvCxnSpPr/>
          <p:nvPr/>
        </p:nvCxnSpPr>
        <p:spPr>
          <a:xfrm>
            <a:off x="566928" y="6455664"/>
            <a:ext cx="11057839" cy="0"/>
          </a:xfrm>
          <a:prstGeom prst="line">
            <a:avLst/>
          </a:prstGeom>
          <a:ln w="9525">
            <a:solidFill>
              <a:srgbClr val="E8E9EE"/>
            </a:solidFill>
          </a:ln>
          <a:effectLst/>
        </p:spPr>
      </p:cxnSp>
      <p:sp>
        <p:nvSpPr>
          <p:cNvPr id="55" name="TextBox 54"/>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3</a:t>
            </a:r>
          </a:p>
        </p:txBody>
      </p:sp>
      <p:sp>
        <p:nvSpPr>
          <p:cNvPr id="56" name="TextBox 55"/>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09 / 26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2 OF 5  ·  WHAT WE HAVE BUILT</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02 · WHAT WE HAVE BUILT, VICTIM SUPPORT</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Help a family can actually use, </a:t>
            </a:r>
            <a:r>
              <a:rPr sz="2250" b="1" i="0">
                <a:solidFill>
                  <a:srgbClr val="4A35FF"/>
                </a:solidFill>
                <a:latin typeface="Montserrat"/>
              </a:rPr>
              <a:t>in their language</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From the first hours after a crash to the final compensation order, on WhatsApp, on paper, and in person.</a:t>
            </a:r>
          </a:p>
        </p:txBody>
      </p:sp>
      <p:sp>
        <p:nvSpPr>
          <p:cNvPr id="8" name="Rounded Rectangle 7"/>
          <p:cNvSpPr/>
          <p:nvPr/>
        </p:nvSpPr>
        <p:spPr>
          <a:xfrm>
            <a:off x="566928" y="1920240"/>
            <a:ext cx="2679192" cy="3794760"/>
          </a:xfrm>
          <a:prstGeom prst="roundRect">
            <a:avLst>
              <a:gd name="adj" fmla="val 6000"/>
            </a:avLst>
          </a:prstGeom>
          <a:solidFill>
            <a:srgbClr val="FFFFFF"/>
          </a:solidFill>
          <a:ln w="9525">
            <a:solidFill>
              <a:srgbClr val="E8E9EE"/>
            </a:solidFill>
          </a:ln>
          <a:effectLst/>
        </p:spPr>
        <p:txBody>
          <a:bodyPr rtlCol="0" anchor="ctr"/>
          <a:lstStyle/>
          <a:p>
            <a:pPr algn="ctr"/>
          </a:p>
        </p:txBody>
      </p:sp>
      <p:pic>
        <p:nvPicPr>
          <p:cNvPr id="9" name="Picture 8" descr="ui_aasha_chat.png"/>
          <p:cNvPicPr>
            <a:picLocks noChangeAspect="1"/>
          </p:cNvPicPr>
          <p:nvPr/>
        </p:nvPicPr>
        <p:blipFill>
          <a:blip r:embed="rId2"/>
          <a:stretch>
            <a:fillRect/>
          </a:stretch>
        </p:blipFill>
        <p:spPr>
          <a:xfrm>
            <a:off x="676656" y="2048256"/>
            <a:ext cx="2459736" cy="1810774"/>
          </a:xfrm>
          <a:prstGeom prst="rect">
            <a:avLst/>
          </a:prstGeom>
        </p:spPr>
      </p:pic>
      <p:sp>
        <p:nvSpPr>
          <p:cNvPr id="10" name="Oval 9"/>
          <p:cNvSpPr/>
          <p:nvPr/>
        </p:nvSpPr>
        <p:spPr>
          <a:xfrm>
            <a:off x="694944" y="4526280"/>
            <a:ext cx="347472" cy="347472"/>
          </a:xfrm>
          <a:prstGeom prst="ellipse">
            <a:avLst/>
          </a:prstGeom>
          <a:solidFill>
            <a:srgbClr val="EFEDFF"/>
          </a:solidFill>
          <a:ln>
            <a:noFill/>
          </a:ln>
          <a:effectLst/>
        </p:spPr>
        <p:txBody>
          <a:bodyPr rtlCol="0" anchor="ctr"/>
          <a:lstStyle/>
          <a:p>
            <a:pPr algn="ctr"/>
          </a:p>
        </p:txBody>
      </p:sp>
      <p:pic>
        <p:nvPicPr>
          <p:cNvPr id="11" name="Picture 10" descr="bot_4A35FF_256_2.0.png"/>
          <p:cNvPicPr>
            <a:picLocks noChangeAspect="1"/>
          </p:cNvPicPr>
          <p:nvPr/>
        </p:nvPicPr>
        <p:blipFill>
          <a:blip r:embed="rId3"/>
          <a:stretch>
            <a:fillRect/>
          </a:stretch>
        </p:blipFill>
        <p:spPr>
          <a:xfrm>
            <a:off x="778337" y="4609673"/>
            <a:ext cx="180685" cy="180685"/>
          </a:xfrm>
          <a:prstGeom prst="rect">
            <a:avLst/>
          </a:prstGeom>
        </p:spPr>
      </p:pic>
      <p:sp>
        <p:nvSpPr>
          <p:cNvPr id="12" name="TextBox 11"/>
          <p:cNvSpPr txBox="1"/>
          <p:nvPr/>
        </p:nvSpPr>
        <p:spPr>
          <a:xfrm>
            <a:off x="1133856" y="4562856"/>
            <a:ext cx="2002536" cy="292608"/>
          </a:xfrm>
          <a:prstGeom prst="rect">
            <a:avLst/>
          </a:prstGeom>
          <a:noFill/>
        </p:spPr>
        <p:txBody>
          <a:bodyPr wrap="square" lIns="0" rIns="0" tIns="0" bIns="0" anchor="t">
            <a:spAutoFit/>
          </a:bodyPr>
          <a:lstStyle/>
          <a:p>
            <a:pPr algn="l">
              <a:lnSpc>
                <a:spcPct val="100000"/>
              </a:lnSpc>
            </a:pPr>
            <a:r>
              <a:rPr sz="1050" b="1" i="0">
                <a:solidFill>
                  <a:srgbClr val="16181D"/>
                </a:solidFill>
                <a:latin typeface="Montserrat"/>
              </a:rPr>
              <a:t>Aasha chatbot</a:t>
            </a:r>
          </a:p>
        </p:txBody>
      </p:sp>
      <p:sp>
        <p:nvSpPr>
          <p:cNvPr id="13" name="TextBox 12"/>
          <p:cNvSpPr txBox="1"/>
          <p:nvPr/>
        </p:nvSpPr>
        <p:spPr>
          <a:xfrm>
            <a:off x="694944" y="4956048"/>
            <a:ext cx="2423160" cy="685800"/>
          </a:xfrm>
          <a:prstGeom prst="rect">
            <a:avLst/>
          </a:prstGeom>
          <a:noFill/>
        </p:spPr>
        <p:txBody>
          <a:bodyPr wrap="square" lIns="0" rIns="0" tIns="0" bIns="0" anchor="t">
            <a:spAutoFit/>
          </a:bodyPr>
          <a:lstStyle/>
          <a:p>
            <a:pPr algn="l">
              <a:lnSpc>
                <a:spcPct val="122000"/>
              </a:lnSpc>
            </a:pPr>
            <a:r>
              <a:rPr sz="850" b="0" i="0">
                <a:solidFill>
                  <a:srgbClr val="6E7180"/>
                </a:solidFill>
                <a:latin typeface="Geist"/>
              </a:rPr>
              <a:t>India's first AI legal companion for crash victims, on WhatsApp and voice, no app needed.</a:t>
            </a:r>
          </a:p>
        </p:txBody>
      </p:sp>
      <p:sp>
        <p:nvSpPr>
          <p:cNvPr id="14" name="Rounded Rectangle 13"/>
          <p:cNvSpPr/>
          <p:nvPr/>
        </p:nvSpPr>
        <p:spPr>
          <a:xfrm>
            <a:off x="3355848" y="1920240"/>
            <a:ext cx="2679192" cy="3794760"/>
          </a:xfrm>
          <a:prstGeom prst="roundRect">
            <a:avLst>
              <a:gd name="adj" fmla="val 6000"/>
            </a:avLst>
          </a:prstGeom>
          <a:solidFill>
            <a:srgbClr val="FFFFFF"/>
          </a:solidFill>
          <a:ln w="9525">
            <a:solidFill>
              <a:srgbClr val="E8E9EE"/>
            </a:solidFill>
          </a:ln>
          <a:effectLst/>
        </p:spPr>
        <p:txBody>
          <a:bodyPr rtlCol="0" anchor="ctr"/>
          <a:lstStyle/>
          <a:p>
            <a:pPr algn="ctr"/>
          </a:p>
        </p:txBody>
      </p:sp>
      <p:pic>
        <p:nvPicPr>
          <p:cNvPr id="15" name="Picture 14" descr="ui_mact_calc.png"/>
          <p:cNvPicPr>
            <a:picLocks noChangeAspect="1"/>
          </p:cNvPicPr>
          <p:nvPr/>
        </p:nvPicPr>
        <p:blipFill>
          <a:blip r:embed="rId4"/>
          <a:stretch>
            <a:fillRect/>
          </a:stretch>
        </p:blipFill>
        <p:spPr>
          <a:xfrm>
            <a:off x="3537522" y="2048256"/>
            <a:ext cx="2315843" cy="2286000"/>
          </a:xfrm>
          <a:prstGeom prst="rect">
            <a:avLst/>
          </a:prstGeom>
        </p:spPr>
      </p:pic>
      <p:sp>
        <p:nvSpPr>
          <p:cNvPr id="16" name="Oval 15"/>
          <p:cNvSpPr/>
          <p:nvPr/>
        </p:nvSpPr>
        <p:spPr>
          <a:xfrm>
            <a:off x="3483864" y="4526280"/>
            <a:ext cx="347472" cy="347472"/>
          </a:xfrm>
          <a:prstGeom prst="ellipse">
            <a:avLst/>
          </a:prstGeom>
          <a:solidFill>
            <a:srgbClr val="E7F4F4"/>
          </a:solidFill>
          <a:ln>
            <a:noFill/>
          </a:ln>
          <a:effectLst/>
        </p:spPr>
        <p:txBody>
          <a:bodyPr rtlCol="0" anchor="ctr"/>
          <a:lstStyle/>
          <a:p>
            <a:pPr algn="ctr"/>
          </a:p>
        </p:txBody>
      </p:sp>
      <p:pic>
        <p:nvPicPr>
          <p:cNvPr id="17" name="Picture 16" descr="calculator_0E8A8A_256_2.0.png"/>
          <p:cNvPicPr>
            <a:picLocks noChangeAspect="1"/>
          </p:cNvPicPr>
          <p:nvPr/>
        </p:nvPicPr>
        <p:blipFill>
          <a:blip r:embed="rId5"/>
          <a:stretch>
            <a:fillRect/>
          </a:stretch>
        </p:blipFill>
        <p:spPr>
          <a:xfrm>
            <a:off x="3567257" y="4609673"/>
            <a:ext cx="180685" cy="180685"/>
          </a:xfrm>
          <a:prstGeom prst="rect">
            <a:avLst/>
          </a:prstGeom>
        </p:spPr>
      </p:pic>
      <p:sp>
        <p:nvSpPr>
          <p:cNvPr id="18" name="TextBox 17"/>
          <p:cNvSpPr txBox="1"/>
          <p:nvPr/>
        </p:nvSpPr>
        <p:spPr>
          <a:xfrm>
            <a:off x="3922776" y="4562856"/>
            <a:ext cx="2002536" cy="292608"/>
          </a:xfrm>
          <a:prstGeom prst="rect">
            <a:avLst/>
          </a:prstGeom>
          <a:noFill/>
        </p:spPr>
        <p:txBody>
          <a:bodyPr wrap="square" lIns="0" rIns="0" tIns="0" bIns="0" anchor="t">
            <a:spAutoFit/>
          </a:bodyPr>
          <a:lstStyle/>
          <a:p>
            <a:pPr algn="l">
              <a:lnSpc>
                <a:spcPct val="100000"/>
              </a:lnSpc>
            </a:pPr>
            <a:r>
              <a:rPr sz="1050" b="1" i="0">
                <a:solidFill>
                  <a:srgbClr val="16181D"/>
                </a:solidFill>
                <a:latin typeface="Montserrat"/>
              </a:rPr>
              <a:t>Compensation Calculator</a:t>
            </a:r>
          </a:p>
        </p:txBody>
      </p:sp>
      <p:sp>
        <p:nvSpPr>
          <p:cNvPr id="19" name="TextBox 18"/>
          <p:cNvSpPr txBox="1"/>
          <p:nvPr/>
        </p:nvSpPr>
        <p:spPr>
          <a:xfrm>
            <a:off x="3483864" y="4956048"/>
            <a:ext cx="2423160" cy="685800"/>
          </a:xfrm>
          <a:prstGeom prst="rect">
            <a:avLst/>
          </a:prstGeom>
          <a:noFill/>
        </p:spPr>
        <p:txBody>
          <a:bodyPr wrap="square" lIns="0" rIns="0" tIns="0" bIns="0" anchor="t">
            <a:spAutoFit/>
          </a:bodyPr>
          <a:lstStyle/>
          <a:p>
            <a:pPr algn="l">
              <a:lnSpc>
                <a:spcPct val="122000"/>
              </a:lnSpc>
            </a:pPr>
            <a:r>
              <a:rPr sz="850" b="0" i="0">
                <a:solidFill>
                  <a:srgbClr val="6E7180"/>
                </a:solidFill>
                <a:latin typeface="Geist"/>
              </a:rPr>
              <a:t>Free instant estimates computed on Supreme Court principles (Sarla Verma, Pranay Sethi).</a:t>
            </a:r>
          </a:p>
        </p:txBody>
      </p:sp>
      <p:sp>
        <p:nvSpPr>
          <p:cNvPr id="20" name="Rounded Rectangle 19"/>
          <p:cNvSpPr/>
          <p:nvPr/>
        </p:nvSpPr>
        <p:spPr>
          <a:xfrm>
            <a:off x="6144768" y="1920240"/>
            <a:ext cx="2679192" cy="3794760"/>
          </a:xfrm>
          <a:prstGeom prst="roundRect">
            <a:avLst>
              <a:gd name="adj" fmla="val 6000"/>
            </a:avLst>
          </a:prstGeom>
          <a:solidFill>
            <a:srgbClr val="FFFFFF"/>
          </a:solidFill>
          <a:ln w="9525">
            <a:solidFill>
              <a:srgbClr val="E8E9EE"/>
            </a:solidFill>
          </a:ln>
          <a:effectLst/>
        </p:spPr>
        <p:txBody>
          <a:bodyPr rtlCol="0" anchor="ctr"/>
          <a:lstStyle/>
          <a:p>
            <a:pPr algn="ctr"/>
          </a:p>
        </p:txBody>
      </p:sp>
      <p:pic>
        <p:nvPicPr>
          <p:cNvPr id="21" name="Picture 20" descr="comic_aasha_page.png"/>
          <p:cNvPicPr>
            <a:picLocks noChangeAspect="1"/>
          </p:cNvPicPr>
          <p:nvPr/>
        </p:nvPicPr>
        <p:blipFill>
          <a:blip r:embed="rId6"/>
          <a:stretch>
            <a:fillRect/>
          </a:stretch>
        </p:blipFill>
        <p:spPr>
          <a:xfrm>
            <a:off x="6620503" y="2048256"/>
            <a:ext cx="1727722" cy="2286000"/>
          </a:xfrm>
          <a:prstGeom prst="rect">
            <a:avLst/>
          </a:prstGeom>
        </p:spPr>
      </p:pic>
      <p:sp>
        <p:nvSpPr>
          <p:cNvPr id="22" name="Oval 21"/>
          <p:cNvSpPr/>
          <p:nvPr/>
        </p:nvSpPr>
        <p:spPr>
          <a:xfrm>
            <a:off x="6272784" y="4526280"/>
            <a:ext cx="347472" cy="347472"/>
          </a:xfrm>
          <a:prstGeom prst="ellipse">
            <a:avLst/>
          </a:prstGeom>
          <a:solidFill>
            <a:srgbClr val="FDF3E3"/>
          </a:solidFill>
          <a:ln>
            <a:noFill/>
          </a:ln>
          <a:effectLst/>
        </p:spPr>
        <p:txBody>
          <a:bodyPr rtlCol="0" anchor="ctr"/>
          <a:lstStyle/>
          <a:p>
            <a:pPr algn="ctr"/>
          </a:p>
        </p:txBody>
      </p:sp>
      <p:pic>
        <p:nvPicPr>
          <p:cNvPr id="23" name="Picture 22" descr="book-open_E58900_256_2.0.png"/>
          <p:cNvPicPr>
            <a:picLocks noChangeAspect="1"/>
          </p:cNvPicPr>
          <p:nvPr/>
        </p:nvPicPr>
        <p:blipFill>
          <a:blip r:embed="rId7"/>
          <a:stretch>
            <a:fillRect/>
          </a:stretch>
        </p:blipFill>
        <p:spPr>
          <a:xfrm>
            <a:off x="6356177" y="4609673"/>
            <a:ext cx="180685" cy="180685"/>
          </a:xfrm>
          <a:prstGeom prst="rect">
            <a:avLst/>
          </a:prstGeom>
        </p:spPr>
      </p:pic>
      <p:sp>
        <p:nvSpPr>
          <p:cNvPr id="24" name="TextBox 23"/>
          <p:cNvSpPr txBox="1"/>
          <p:nvPr/>
        </p:nvSpPr>
        <p:spPr>
          <a:xfrm>
            <a:off x="6711696" y="4562856"/>
            <a:ext cx="2002536" cy="292608"/>
          </a:xfrm>
          <a:prstGeom prst="rect">
            <a:avLst/>
          </a:prstGeom>
          <a:noFill/>
        </p:spPr>
        <p:txBody>
          <a:bodyPr wrap="square" lIns="0" rIns="0" tIns="0" bIns="0" anchor="t">
            <a:spAutoFit/>
          </a:bodyPr>
          <a:lstStyle/>
          <a:p>
            <a:pPr algn="l">
              <a:lnSpc>
                <a:spcPct val="100000"/>
              </a:lnSpc>
            </a:pPr>
            <a:r>
              <a:rPr sz="1050" b="1" i="0">
                <a:solidFill>
                  <a:srgbClr val="16181D"/>
                </a:solidFill>
                <a:latin typeface="Montserrat"/>
              </a:rPr>
              <a:t>'Meet Aasha' comics</a:t>
            </a:r>
          </a:p>
        </p:txBody>
      </p:sp>
      <p:sp>
        <p:nvSpPr>
          <p:cNvPr id="25" name="TextBox 24"/>
          <p:cNvSpPr txBox="1"/>
          <p:nvPr/>
        </p:nvSpPr>
        <p:spPr>
          <a:xfrm>
            <a:off x="6272784" y="4956048"/>
            <a:ext cx="2423160" cy="685800"/>
          </a:xfrm>
          <a:prstGeom prst="rect">
            <a:avLst/>
          </a:prstGeom>
          <a:noFill/>
        </p:spPr>
        <p:txBody>
          <a:bodyPr wrap="square" lIns="0" rIns="0" tIns="0" bIns="0" anchor="t">
            <a:spAutoFit/>
          </a:bodyPr>
          <a:lstStyle/>
          <a:p>
            <a:pPr algn="l">
              <a:lnSpc>
                <a:spcPct val="122000"/>
              </a:lnSpc>
            </a:pPr>
            <a:r>
              <a:rPr sz="850" b="0" i="0">
                <a:solidFill>
                  <a:srgbClr val="6E7180"/>
                </a:solidFill>
                <a:latin typeface="Geist"/>
              </a:rPr>
              <a:t>Plain-language legal education that families actually read, at desks and in schools.</a:t>
            </a:r>
          </a:p>
        </p:txBody>
      </p:sp>
      <p:sp>
        <p:nvSpPr>
          <p:cNvPr id="26" name="Rounded Rectangle 25"/>
          <p:cNvSpPr/>
          <p:nvPr/>
        </p:nvSpPr>
        <p:spPr>
          <a:xfrm>
            <a:off x="8933688" y="1920240"/>
            <a:ext cx="2679192" cy="3794760"/>
          </a:xfrm>
          <a:prstGeom prst="roundRect">
            <a:avLst>
              <a:gd name="adj" fmla="val 6000"/>
            </a:avLst>
          </a:prstGeom>
          <a:solidFill>
            <a:srgbClr val="FFFFFF"/>
          </a:solidFill>
          <a:ln w="9525">
            <a:solidFill>
              <a:srgbClr val="E8E9EE"/>
            </a:solidFill>
          </a:ln>
          <a:effectLst/>
        </p:spPr>
        <p:txBody>
          <a:bodyPr rtlCol="0" anchor="ctr"/>
          <a:lstStyle/>
          <a:p>
            <a:pPr algn="ctr"/>
          </a:p>
        </p:txBody>
      </p:sp>
      <p:pic>
        <p:nvPicPr>
          <p:cNvPr id="27" name="Picture 26" descr="opt_guide_p1_1500.jpg"/>
          <p:cNvPicPr>
            <a:picLocks noChangeAspect="1"/>
          </p:cNvPicPr>
          <p:nvPr/>
        </p:nvPicPr>
        <p:blipFill>
          <a:blip r:embed="rId8"/>
          <a:stretch>
            <a:fillRect/>
          </a:stretch>
        </p:blipFill>
        <p:spPr>
          <a:xfrm>
            <a:off x="9438979" y="2048256"/>
            <a:ext cx="1668610" cy="2286000"/>
          </a:xfrm>
          <a:prstGeom prst="rect">
            <a:avLst/>
          </a:prstGeom>
        </p:spPr>
      </p:pic>
      <p:sp>
        <p:nvSpPr>
          <p:cNvPr id="28" name="Oval 27"/>
          <p:cNvSpPr/>
          <p:nvPr/>
        </p:nvSpPr>
        <p:spPr>
          <a:xfrm>
            <a:off x="9061704" y="4526280"/>
            <a:ext cx="347472" cy="347472"/>
          </a:xfrm>
          <a:prstGeom prst="ellipse">
            <a:avLst/>
          </a:prstGeom>
          <a:solidFill>
            <a:srgbClr val="E9F7F0"/>
          </a:solidFill>
          <a:ln>
            <a:noFill/>
          </a:ln>
          <a:effectLst/>
        </p:spPr>
        <p:txBody>
          <a:bodyPr rtlCol="0" anchor="ctr"/>
          <a:lstStyle/>
          <a:p>
            <a:pPr algn="ctr"/>
          </a:p>
        </p:txBody>
      </p:sp>
      <p:pic>
        <p:nvPicPr>
          <p:cNvPr id="29" name="Picture 28" descr="languages_0A9955_256_2.0.png"/>
          <p:cNvPicPr>
            <a:picLocks noChangeAspect="1"/>
          </p:cNvPicPr>
          <p:nvPr/>
        </p:nvPicPr>
        <p:blipFill>
          <a:blip r:embed="rId9"/>
          <a:stretch>
            <a:fillRect/>
          </a:stretch>
        </p:blipFill>
        <p:spPr>
          <a:xfrm>
            <a:off x="9145097" y="4609673"/>
            <a:ext cx="180685" cy="180685"/>
          </a:xfrm>
          <a:prstGeom prst="rect">
            <a:avLst/>
          </a:prstGeom>
        </p:spPr>
      </p:pic>
      <p:sp>
        <p:nvSpPr>
          <p:cNvPr id="30" name="TextBox 29"/>
          <p:cNvSpPr txBox="1"/>
          <p:nvPr/>
        </p:nvSpPr>
        <p:spPr>
          <a:xfrm>
            <a:off x="9500616" y="4562856"/>
            <a:ext cx="2002536" cy="292608"/>
          </a:xfrm>
          <a:prstGeom prst="rect">
            <a:avLst/>
          </a:prstGeom>
          <a:noFill/>
        </p:spPr>
        <p:txBody>
          <a:bodyPr wrap="square" lIns="0" rIns="0" tIns="0" bIns="0" anchor="t">
            <a:spAutoFit/>
          </a:bodyPr>
          <a:lstStyle/>
          <a:p>
            <a:pPr algn="l">
              <a:lnSpc>
                <a:spcPct val="100000"/>
              </a:lnSpc>
            </a:pPr>
            <a:r>
              <a:rPr sz="1050" b="1" i="0">
                <a:solidFill>
                  <a:srgbClr val="16181D"/>
                </a:solidFill>
                <a:latin typeface="Montserrat"/>
              </a:rPr>
              <a:t>Hindi rights guide</a:t>
            </a:r>
          </a:p>
        </p:txBody>
      </p:sp>
      <p:sp>
        <p:nvSpPr>
          <p:cNvPr id="31" name="TextBox 30"/>
          <p:cNvSpPr txBox="1"/>
          <p:nvPr/>
        </p:nvSpPr>
        <p:spPr>
          <a:xfrm>
            <a:off x="9061704" y="4956048"/>
            <a:ext cx="2423160" cy="685800"/>
          </a:xfrm>
          <a:prstGeom prst="rect">
            <a:avLst/>
          </a:prstGeom>
          <a:noFill/>
        </p:spPr>
        <p:txBody>
          <a:bodyPr wrap="square" lIns="0" rIns="0" tIns="0" bIns="0" anchor="t">
            <a:spAutoFit/>
          </a:bodyPr>
          <a:lstStyle/>
          <a:p>
            <a:pPr algn="l">
              <a:lnSpc>
                <a:spcPct val="122000"/>
              </a:lnSpc>
            </a:pPr>
            <a:r>
              <a:rPr sz="850" b="0" i="0">
                <a:solidFill>
                  <a:srgbClr val="6E7180"/>
                </a:solidFill>
                <a:latin typeface="Geist"/>
              </a:rPr>
              <a:t>All three compensation routes, NALSA 15100 and the Cashless Treatment Scheme 2025.</a:t>
            </a:r>
          </a:p>
        </p:txBody>
      </p:sp>
      <p:sp>
        <p:nvSpPr>
          <p:cNvPr id="32" name="Rounded Rectangle 31"/>
          <p:cNvSpPr/>
          <p:nvPr/>
        </p:nvSpPr>
        <p:spPr>
          <a:xfrm>
            <a:off x="566928" y="5870448"/>
            <a:ext cx="11057839" cy="457200"/>
          </a:xfrm>
          <a:prstGeom prst="roundRect">
            <a:avLst>
              <a:gd name="adj" fmla="val 14000"/>
            </a:avLst>
          </a:prstGeom>
          <a:solidFill>
            <a:srgbClr val="E9F7F0"/>
          </a:solidFill>
          <a:ln>
            <a:noFill/>
          </a:ln>
          <a:effectLst/>
        </p:spPr>
        <p:txBody>
          <a:bodyPr rtlCol="0" anchor="ctr"/>
          <a:lstStyle/>
          <a:p>
            <a:pPr algn="ctr"/>
          </a:p>
        </p:txBody>
      </p:sp>
      <p:sp>
        <p:nvSpPr>
          <p:cNvPr id="33" name="TextBox 32"/>
          <p:cNvSpPr txBox="1"/>
          <p:nvPr/>
        </p:nvSpPr>
        <p:spPr>
          <a:xfrm>
            <a:off x="768096" y="5943600"/>
            <a:ext cx="10646359" cy="329184"/>
          </a:xfrm>
          <a:prstGeom prst="rect">
            <a:avLst/>
          </a:prstGeom>
          <a:noFill/>
        </p:spPr>
        <p:txBody>
          <a:bodyPr wrap="square" lIns="0" rIns="0" tIns="0" bIns="0" anchor="t">
            <a:spAutoFit/>
          </a:bodyPr>
          <a:lstStyle/>
          <a:p>
            <a:pPr algn="l">
              <a:lnSpc>
                <a:spcPct val="120000"/>
              </a:lnSpc>
            </a:pPr>
            <a:r>
              <a:rPr sz="950" b="1" i="0">
                <a:solidFill>
                  <a:srgbClr val="0A9955"/>
                </a:solidFill>
                <a:latin typeface="Geist"/>
              </a:rPr>
              <a:t>Hospital helpdesks bring all of this to the trauma-ward bedside </a:t>
            </a:r>
            <a:r>
              <a:rPr sz="950" b="0" i="0">
                <a:solidFill>
                  <a:srgbClr val="0A9955"/>
                </a:solidFill>
                <a:latin typeface="Geist"/>
              </a:rPr>
              <a:t>, 100+ victims supported in the first four days, run with DLSA and Neev Foundation.</a:t>
            </a:r>
          </a:p>
        </p:txBody>
      </p:sp>
      <p:cxnSp>
        <p:nvCxnSpPr>
          <p:cNvPr id="34" name="Connector 33"/>
          <p:cNvCxnSpPr/>
          <p:nvPr/>
        </p:nvCxnSpPr>
        <p:spPr>
          <a:xfrm>
            <a:off x="566928" y="6455664"/>
            <a:ext cx="11057839" cy="0"/>
          </a:xfrm>
          <a:prstGeom prst="line">
            <a:avLst/>
          </a:prstGeom>
          <a:ln w="9525">
            <a:solidFill>
              <a:srgbClr val="E8E9EE"/>
            </a:solidFill>
          </a:ln>
          <a:effectLst/>
        </p:spPr>
      </p:cxnSp>
      <p:sp>
        <p:nvSpPr>
          <p:cNvPr id="35" name="TextBox 34"/>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3</a:t>
            </a:r>
          </a:p>
        </p:txBody>
      </p:sp>
      <p:sp>
        <p:nvSpPr>
          <p:cNvPr id="36" name="TextBox 35"/>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10 / 26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2 OF 5  ·  WHAT WE HAVE BUILT</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02 · WHAT WE HAVE BUILT, YOUTH &amp; POLICY</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Young talent and senior experts, </a:t>
            </a:r>
            <a:r>
              <a:rPr sz="2250" b="1" i="0">
                <a:solidFill>
                  <a:srgbClr val="4A35FF"/>
                </a:solidFill>
                <a:latin typeface="Montserrat"/>
              </a:rPr>
              <a:t>working the same problem</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A steady pipeline of engineers and policy minds, so road safety work never runs out of hands.</a:t>
            </a:r>
          </a:p>
        </p:txBody>
      </p:sp>
      <p:pic>
        <p:nvPicPr>
          <p:cNvPr id="8" name="Picture 7" descr="ph_ideathon_winners.jpg_4.05x2.50_0.20.jpg"/>
          <p:cNvPicPr>
            <a:picLocks noChangeAspect="1"/>
          </p:cNvPicPr>
          <p:nvPr/>
        </p:nvPicPr>
        <p:blipFill>
          <a:blip r:embed="rId2"/>
          <a:stretch>
            <a:fillRect/>
          </a:stretch>
        </p:blipFill>
        <p:spPr>
          <a:xfrm>
            <a:off x="566928" y="1938528"/>
            <a:ext cx="3703320" cy="2286000"/>
          </a:xfrm>
          <a:prstGeom prst="rect">
            <a:avLst/>
          </a:prstGeom>
        </p:spPr>
      </p:pic>
      <p:sp>
        <p:nvSpPr>
          <p:cNvPr id="9" name="Rectangle 8"/>
          <p:cNvSpPr/>
          <p:nvPr/>
        </p:nvSpPr>
        <p:spPr>
          <a:xfrm>
            <a:off x="566928" y="1938528"/>
            <a:ext cx="3703320" cy="2286000"/>
          </a:xfrm>
          <a:prstGeom prst="rect">
            <a:avLst/>
          </a:prstGeom>
          <a:noFill/>
          <a:ln w="12700">
            <a:solidFill>
              <a:srgbClr val="E8E9EE"/>
            </a:solidFill>
          </a:ln>
          <a:effectLst/>
        </p:spPr>
        <p:txBody>
          <a:bodyPr rtlCol="0" anchor="ctr"/>
          <a:lstStyle/>
          <a:p>
            <a:pPr algn="ctr"/>
          </a:p>
        </p:txBody>
      </p:sp>
      <p:sp>
        <p:nvSpPr>
          <p:cNvPr id="10" name="TextBox 9"/>
          <p:cNvSpPr txBox="1"/>
          <p:nvPr/>
        </p:nvSpPr>
        <p:spPr>
          <a:xfrm>
            <a:off x="566928" y="4270248"/>
            <a:ext cx="370332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NextMile: Road Safety Policy Ideathon, grand finale, 28 Sep 2025, New Delhi.</a:t>
            </a:r>
          </a:p>
        </p:txBody>
      </p:sp>
      <p:sp>
        <p:nvSpPr>
          <p:cNvPr id="11" name="TextBox 10"/>
          <p:cNvSpPr txBox="1"/>
          <p:nvPr/>
        </p:nvSpPr>
        <p:spPr>
          <a:xfrm>
            <a:off x="566928" y="4846320"/>
            <a:ext cx="914400" cy="502920"/>
          </a:xfrm>
          <a:prstGeom prst="rect">
            <a:avLst/>
          </a:prstGeom>
          <a:noFill/>
        </p:spPr>
        <p:txBody>
          <a:bodyPr wrap="square" lIns="0" rIns="0" tIns="0" bIns="0" anchor="t">
            <a:spAutoFit/>
          </a:bodyPr>
          <a:lstStyle/>
          <a:p>
            <a:pPr algn="l">
              <a:lnSpc>
                <a:spcPct val="100000"/>
              </a:lnSpc>
            </a:pPr>
            <a:r>
              <a:rPr sz="1400" b="1" i="0">
                <a:solidFill>
                  <a:srgbClr val="4A35FF"/>
                </a:solidFill>
                <a:latin typeface="Montserrat"/>
              </a:rPr>
              <a:t>2,000+</a:t>
            </a:r>
          </a:p>
        </p:txBody>
      </p:sp>
      <p:sp>
        <p:nvSpPr>
          <p:cNvPr id="12" name="TextBox 11"/>
          <p:cNvSpPr txBox="1"/>
          <p:nvPr/>
        </p:nvSpPr>
        <p:spPr>
          <a:xfrm>
            <a:off x="566928" y="5303520"/>
            <a:ext cx="914400" cy="411480"/>
          </a:xfrm>
          <a:prstGeom prst="rect">
            <a:avLst/>
          </a:prstGeom>
          <a:noFill/>
        </p:spPr>
        <p:txBody>
          <a:bodyPr wrap="square" lIns="0" rIns="0" tIns="0" bIns="0" anchor="t">
            <a:spAutoFit/>
          </a:bodyPr>
          <a:lstStyle/>
          <a:p>
            <a:pPr algn="l">
              <a:lnSpc>
                <a:spcPct val="112000"/>
              </a:lnSpc>
            </a:pPr>
            <a:r>
              <a:rPr sz="800" b="0" i="0">
                <a:solidFill>
                  <a:srgbClr val="6E7180"/>
                </a:solidFill>
                <a:latin typeface="Geist"/>
              </a:rPr>
              <a:t>participants</a:t>
            </a:r>
          </a:p>
        </p:txBody>
      </p:sp>
      <p:sp>
        <p:nvSpPr>
          <p:cNvPr id="13" name="TextBox 12"/>
          <p:cNvSpPr txBox="1"/>
          <p:nvPr/>
        </p:nvSpPr>
        <p:spPr>
          <a:xfrm>
            <a:off x="1527048" y="4846320"/>
            <a:ext cx="914400" cy="502920"/>
          </a:xfrm>
          <a:prstGeom prst="rect">
            <a:avLst/>
          </a:prstGeom>
          <a:noFill/>
        </p:spPr>
        <p:txBody>
          <a:bodyPr wrap="square" lIns="0" rIns="0" tIns="0" bIns="0" anchor="t">
            <a:spAutoFit/>
          </a:bodyPr>
          <a:lstStyle/>
          <a:p>
            <a:pPr algn="l">
              <a:lnSpc>
                <a:spcPct val="100000"/>
              </a:lnSpc>
            </a:pPr>
            <a:r>
              <a:rPr sz="1400" b="1" i="0">
                <a:solidFill>
                  <a:srgbClr val="4A35FF"/>
                </a:solidFill>
                <a:latin typeface="Montserrat"/>
              </a:rPr>
              <a:t>250+</a:t>
            </a:r>
          </a:p>
        </p:txBody>
      </p:sp>
      <p:sp>
        <p:nvSpPr>
          <p:cNvPr id="14" name="TextBox 13"/>
          <p:cNvSpPr txBox="1"/>
          <p:nvPr/>
        </p:nvSpPr>
        <p:spPr>
          <a:xfrm>
            <a:off x="1527048" y="5303520"/>
            <a:ext cx="914400" cy="411480"/>
          </a:xfrm>
          <a:prstGeom prst="rect">
            <a:avLst/>
          </a:prstGeom>
          <a:noFill/>
        </p:spPr>
        <p:txBody>
          <a:bodyPr wrap="square" lIns="0" rIns="0" tIns="0" bIns="0" anchor="t">
            <a:spAutoFit/>
          </a:bodyPr>
          <a:lstStyle/>
          <a:p>
            <a:pPr algn="l">
              <a:lnSpc>
                <a:spcPct val="112000"/>
              </a:lnSpc>
            </a:pPr>
            <a:r>
              <a:rPr sz="800" b="0" i="0">
                <a:solidFill>
                  <a:srgbClr val="6E7180"/>
                </a:solidFill>
                <a:latin typeface="Geist"/>
              </a:rPr>
              <a:t>concept notes</a:t>
            </a:r>
          </a:p>
        </p:txBody>
      </p:sp>
      <p:sp>
        <p:nvSpPr>
          <p:cNvPr id="15" name="TextBox 14"/>
          <p:cNvSpPr txBox="1"/>
          <p:nvPr/>
        </p:nvSpPr>
        <p:spPr>
          <a:xfrm>
            <a:off x="2487168" y="4846320"/>
            <a:ext cx="914400" cy="502920"/>
          </a:xfrm>
          <a:prstGeom prst="rect">
            <a:avLst/>
          </a:prstGeom>
          <a:noFill/>
        </p:spPr>
        <p:txBody>
          <a:bodyPr wrap="square" lIns="0" rIns="0" tIns="0" bIns="0" anchor="t">
            <a:spAutoFit/>
          </a:bodyPr>
          <a:lstStyle/>
          <a:p>
            <a:pPr algn="l">
              <a:lnSpc>
                <a:spcPct val="100000"/>
              </a:lnSpc>
            </a:pPr>
            <a:r>
              <a:rPr sz="1400" b="1" i="0">
                <a:solidFill>
                  <a:srgbClr val="4A35FF"/>
                </a:solidFill>
                <a:latin typeface="Montserrat"/>
              </a:rPr>
              <a:t>700+</a:t>
            </a:r>
          </a:p>
        </p:txBody>
      </p:sp>
      <p:sp>
        <p:nvSpPr>
          <p:cNvPr id="16" name="TextBox 15"/>
          <p:cNvSpPr txBox="1"/>
          <p:nvPr/>
        </p:nvSpPr>
        <p:spPr>
          <a:xfrm>
            <a:off x="2487168" y="5303520"/>
            <a:ext cx="914400" cy="411480"/>
          </a:xfrm>
          <a:prstGeom prst="rect">
            <a:avLst/>
          </a:prstGeom>
          <a:noFill/>
        </p:spPr>
        <p:txBody>
          <a:bodyPr wrap="square" lIns="0" rIns="0" tIns="0" bIns="0" anchor="t">
            <a:spAutoFit/>
          </a:bodyPr>
          <a:lstStyle/>
          <a:p>
            <a:pPr algn="l">
              <a:lnSpc>
                <a:spcPct val="112000"/>
              </a:lnSpc>
            </a:pPr>
            <a:r>
              <a:rPr sz="800" b="0" i="0">
                <a:solidFill>
                  <a:srgbClr val="6E7180"/>
                </a:solidFill>
                <a:latin typeface="Geist"/>
              </a:rPr>
              <a:t>teams</a:t>
            </a:r>
          </a:p>
        </p:txBody>
      </p:sp>
      <p:sp>
        <p:nvSpPr>
          <p:cNvPr id="17" name="TextBox 16"/>
          <p:cNvSpPr txBox="1"/>
          <p:nvPr/>
        </p:nvSpPr>
        <p:spPr>
          <a:xfrm>
            <a:off x="3447288" y="4846320"/>
            <a:ext cx="914400" cy="502920"/>
          </a:xfrm>
          <a:prstGeom prst="rect">
            <a:avLst/>
          </a:prstGeom>
          <a:noFill/>
        </p:spPr>
        <p:txBody>
          <a:bodyPr wrap="square" lIns="0" rIns="0" tIns="0" bIns="0" anchor="t">
            <a:spAutoFit/>
          </a:bodyPr>
          <a:lstStyle/>
          <a:p>
            <a:pPr algn="l">
              <a:lnSpc>
                <a:spcPct val="100000"/>
              </a:lnSpc>
            </a:pPr>
            <a:r>
              <a:rPr sz="1400" b="1" i="0">
                <a:solidFill>
                  <a:srgbClr val="4A35FF"/>
                </a:solidFill>
                <a:latin typeface="Montserrat"/>
              </a:rPr>
              <a:t>10</a:t>
            </a:r>
          </a:p>
        </p:txBody>
      </p:sp>
      <p:sp>
        <p:nvSpPr>
          <p:cNvPr id="18" name="TextBox 17"/>
          <p:cNvSpPr txBox="1"/>
          <p:nvPr/>
        </p:nvSpPr>
        <p:spPr>
          <a:xfrm>
            <a:off x="3447288" y="5303520"/>
            <a:ext cx="914400" cy="411480"/>
          </a:xfrm>
          <a:prstGeom prst="rect">
            <a:avLst/>
          </a:prstGeom>
          <a:noFill/>
        </p:spPr>
        <p:txBody>
          <a:bodyPr wrap="square" lIns="0" rIns="0" tIns="0" bIns="0" anchor="t">
            <a:spAutoFit/>
          </a:bodyPr>
          <a:lstStyle/>
          <a:p>
            <a:pPr algn="l">
              <a:lnSpc>
                <a:spcPct val="112000"/>
              </a:lnSpc>
            </a:pPr>
            <a:r>
              <a:rPr sz="800" b="0" i="0">
                <a:solidFill>
                  <a:srgbClr val="6E7180"/>
                </a:solidFill>
                <a:latin typeface="Geist"/>
              </a:rPr>
              <a:t>finalist teams</a:t>
            </a:r>
          </a:p>
        </p:txBody>
      </p:sp>
      <p:pic>
        <p:nvPicPr>
          <p:cNvPr id="19" name="Picture 18" descr="ph_forum_stage2.jpg_3.70x2.50_0.30.jpg"/>
          <p:cNvPicPr>
            <a:picLocks noChangeAspect="1"/>
          </p:cNvPicPr>
          <p:nvPr/>
        </p:nvPicPr>
        <p:blipFill>
          <a:blip r:embed="rId3"/>
          <a:stretch>
            <a:fillRect/>
          </a:stretch>
        </p:blipFill>
        <p:spPr>
          <a:xfrm>
            <a:off x="4434840" y="1938528"/>
            <a:ext cx="3383280" cy="2286000"/>
          </a:xfrm>
          <a:prstGeom prst="rect">
            <a:avLst/>
          </a:prstGeom>
        </p:spPr>
      </p:pic>
      <p:sp>
        <p:nvSpPr>
          <p:cNvPr id="20" name="Rectangle 19"/>
          <p:cNvSpPr/>
          <p:nvPr/>
        </p:nvSpPr>
        <p:spPr>
          <a:xfrm>
            <a:off x="4434840" y="1938528"/>
            <a:ext cx="3383280" cy="2286000"/>
          </a:xfrm>
          <a:prstGeom prst="rect">
            <a:avLst/>
          </a:prstGeom>
          <a:noFill/>
          <a:ln w="12700">
            <a:solidFill>
              <a:srgbClr val="E8E9EE"/>
            </a:solidFill>
          </a:ln>
          <a:effectLst/>
        </p:spPr>
        <p:txBody>
          <a:bodyPr rtlCol="0" anchor="ctr"/>
          <a:lstStyle/>
          <a:p>
            <a:pPr algn="ctr"/>
          </a:p>
        </p:txBody>
      </p:sp>
      <p:sp>
        <p:nvSpPr>
          <p:cNvPr id="21" name="TextBox 20"/>
          <p:cNvSpPr txBox="1"/>
          <p:nvPr/>
        </p:nvSpPr>
        <p:spPr>
          <a:xfrm>
            <a:off x="4434840" y="4270248"/>
            <a:ext cx="338328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National Road Safety Implementation Forum, IIT Delhi: 60+ experts from MoRTH, WHO, UNICEF, iRAP and CSIR-CRRI reviewed the work.</a:t>
            </a:r>
          </a:p>
        </p:txBody>
      </p:sp>
      <p:sp>
        <p:nvSpPr>
          <p:cNvPr id="22" name="TextBox 21"/>
          <p:cNvSpPr txBox="1"/>
          <p:nvPr/>
        </p:nvSpPr>
        <p:spPr>
          <a:xfrm>
            <a:off x="4434840" y="4828032"/>
            <a:ext cx="3383280" cy="731520"/>
          </a:xfrm>
          <a:prstGeom prst="rect">
            <a:avLst/>
          </a:prstGeom>
          <a:noFill/>
        </p:spPr>
        <p:txBody>
          <a:bodyPr wrap="square" lIns="0" rIns="0" tIns="0" bIns="0" anchor="t">
            <a:spAutoFit/>
          </a:bodyPr>
          <a:lstStyle/>
          <a:p>
            <a:pPr algn="l">
              <a:lnSpc>
                <a:spcPct val="125000"/>
              </a:lnSpc>
            </a:pPr>
            <a:r>
              <a:rPr sz="950" b="0" i="0">
                <a:solidFill>
                  <a:srgbClr val="6E7180"/>
                </a:solidFill>
                <a:latin typeface="Geist"/>
              </a:rPr>
              <a:t>Mentors and jury from the Government of Rajasthan, NIUA, OMI, NASSCOM and CSEP judged the student teams; winning tracks now feed our audit and research pipeline.</a:t>
            </a:r>
          </a:p>
        </p:txBody>
      </p:sp>
      <p:sp>
        <p:nvSpPr>
          <p:cNvPr id="23" name="Oval 22"/>
          <p:cNvSpPr/>
          <p:nvPr/>
        </p:nvSpPr>
        <p:spPr>
          <a:xfrm>
            <a:off x="8229600" y="1938528"/>
            <a:ext cx="384048" cy="384048"/>
          </a:xfrm>
          <a:prstGeom prst="ellipse">
            <a:avLst/>
          </a:prstGeom>
          <a:solidFill>
            <a:srgbClr val="EFEDFF"/>
          </a:solidFill>
          <a:ln>
            <a:noFill/>
          </a:ln>
          <a:effectLst/>
        </p:spPr>
        <p:txBody>
          <a:bodyPr rtlCol="0" anchor="ctr"/>
          <a:lstStyle/>
          <a:p>
            <a:pPr algn="ctr"/>
          </a:p>
        </p:txBody>
      </p:sp>
      <p:pic>
        <p:nvPicPr>
          <p:cNvPr id="24" name="Picture 23" descr="mic_4A35FF_256_2.0.png"/>
          <p:cNvPicPr>
            <a:picLocks noChangeAspect="1"/>
          </p:cNvPicPr>
          <p:nvPr/>
        </p:nvPicPr>
        <p:blipFill>
          <a:blip r:embed="rId4"/>
          <a:stretch>
            <a:fillRect/>
          </a:stretch>
        </p:blipFill>
        <p:spPr>
          <a:xfrm>
            <a:off x="8321771" y="2030699"/>
            <a:ext cx="199704" cy="199704"/>
          </a:xfrm>
          <a:prstGeom prst="rect">
            <a:avLst/>
          </a:prstGeom>
        </p:spPr>
      </p:pic>
      <p:sp>
        <p:nvSpPr>
          <p:cNvPr id="25" name="TextBox 24"/>
          <p:cNvSpPr txBox="1"/>
          <p:nvPr/>
        </p:nvSpPr>
        <p:spPr>
          <a:xfrm>
            <a:off x="8759952" y="1911096"/>
            <a:ext cx="2880360" cy="502920"/>
          </a:xfrm>
          <a:prstGeom prst="rect">
            <a:avLst/>
          </a:prstGeom>
          <a:noFill/>
        </p:spPr>
        <p:txBody>
          <a:bodyPr wrap="square" lIns="0" rIns="0" tIns="0" bIns="0" anchor="t">
            <a:spAutoFit/>
          </a:bodyPr>
          <a:lstStyle/>
          <a:p>
            <a:pPr algn="l">
              <a:lnSpc>
                <a:spcPct val="108000"/>
              </a:lnSpc>
            </a:pPr>
            <a:r>
              <a:rPr sz="1050" b="1" i="0">
                <a:solidFill>
                  <a:srgbClr val="16181D"/>
                </a:solidFill>
                <a:latin typeface="Montserrat"/>
              </a:rPr>
              <a:t>National Road Safety Dialogue Series</a:t>
            </a:r>
          </a:p>
        </p:txBody>
      </p:sp>
      <p:sp>
        <p:nvSpPr>
          <p:cNvPr id="26" name="TextBox 25"/>
          <p:cNvSpPr txBox="1"/>
          <p:nvPr/>
        </p:nvSpPr>
        <p:spPr>
          <a:xfrm>
            <a:off x="8759952" y="2267712"/>
            <a:ext cx="2880360" cy="77724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200+ live attendees; speakers from MoRTH, CIRT, AIIMS Trauma Centre, CSIR-CRRI and ARAI.</a:t>
            </a:r>
          </a:p>
        </p:txBody>
      </p:sp>
      <p:sp>
        <p:nvSpPr>
          <p:cNvPr id="27" name="Oval 26"/>
          <p:cNvSpPr/>
          <p:nvPr/>
        </p:nvSpPr>
        <p:spPr>
          <a:xfrm>
            <a:off x="8229600" y="3108960"/>
            <a:ext cx="384048" cy="384048"/>
          </a:xfrm>
          <a:prstGeom prst="ellipse">
            <a:avLst/>
          </a:prstGeom>
          <a:solidFill>
            <a:srgbClr val="E7F4F4"/>
          </a:solidFill>
          <a:ln>
            <a:noFill/>
          </a:ln>
          <a:effectLst/>
        </p:spPr>
        <p:txBody>
          <a:bodyPr rtlCol="0" anchor="ctr"/>
          <a:lstStyle/>
          <a:p>
            <a:pPr algn="ctr"/>
          </a:p>
        </p:txBody>
      </p:sp>
      <p:pic>
        <p:nvPicPr>
          <p:cNvPr id="28" name="Picture 27" descr="message-square_0E8A8A_256_2.0.png"/>
          <p:cNvPicPr>
            <a:picLocks noChangeAspect="1"/>
          </p:cNvPicPr>
          <p:nvPr/>
        </p:nvPicPr>
        <p:blipFill>
          <a:blip r:embed="rId5"/>
          <a:stretch>
            <a:fillRect/>
          </a:stretch>
        </p:blipFill>
        <p:spPr>
          <a:xfrm>
            <a:off x="8321771" y="3201131"/>
            <a:ext cx="199704" cy="199704"/>
          </a:xfrm>
          <a:prstGeom prst="rect">
            <a:avLst/>
          </a:prstGeom>
        </p:spPr>
      </p:pic>
      <p:sp>
        <p:nvSpPr>
          <p:cNvPr id="29" name="TextBox 28"/>
          <p:cNvSpPr txBox="1"/>
          <p:nvPr/>
        </p:nvSpPr>
        <p:spPr>
          <a:xfrm>
            <a:off x="8759952" y="3081528"/>
            <a:ext cx="2880360" cy="502920"/>
          </a:xfrm>
          <a:prstGeom prst="rect">
            <a:avLst/>
          </a:prstGeom>
          <a:noFill/>
        </p:spPr>
        <p:txBody>
          <a:bodyPr wrap="square" lIns="0" rIns="0" tIns="0" bIns="0" anchor="t">
            <a:spAutoFit/>
          </a:bodyPr>
          <a:lstStyle/>
          <a:p>
            <a:pPr algn="l">
              <a:lnSpc>
                <a:spcPct val="108000"/>
              </a:lnSpc>
            </a:pPr>
            <a:r>
              <a:rPr sz="1050" b="1" i="0">
                <a:solidFill>
                  <a:srgbClr val="16181D"/>
                </a:solidFill>
                <a:latin typeface="Montserrat"/>
              </a:rPr>
              <a:t>Three sessions so far</a:t>
            </a:r>
          </a:p>
        </p:txBody>
      </p:sp>
      <p:sp>
        <p:nvSpPr>
          <p:cNvPr id="30" name="TextBox 29"/>
          <p:cNvSpPr txBox="1"/>
          <p:nvPr/>
        </p:nvSpPr>
        <p:spPr>
          <a:xfrm>
            <a:off x="8759952" y="3438144"/>
            <a:ext cx="2880360" cy="77724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Bus safety · Delivery rider safety · Good Samaritan law &amp; the Cashless Treatment Scheme.</a:t>
            </a:r>
          </a:p>
        </p:txBody>
      </p:sp>
      <p:sp>
        <p:nvSpPr>
          <p:cNvPr id="31" name="Oval 30"/>
          <p:cNvSpPr/>
          <p:nvPr/>
        </p:nvSpPr>
        <p:spPr>
          <a:xfrm>
            <a:off x="8229600" y="4279392"/>
            <a:ext cx="384048" cy="384048"/>
          </a:xfrm>
          <a:prstGeom prst="ellipse">
            <a:avLst/>
          </a:prstGeom>
          <a:solidFill>
            <a:srgbClr val="FDEFEC"/>
          </a:solidFill>
          <a:ln>
            <a:noFill/>
          </a:ln>
          <a:effectLst/>
        </p:spPr>
        <p:txBody>
          <a:bodyPr rtlCol="0" anchor="ctr"/>
          <a:lstStyle/>
          <a:p>
            <a:pPr algn="ctr"/>
          </a:p>
        </p:txBody>
      </p:sp>
      <p:pic>
        <p:nvPicPr>
          <p:cNvPr id="32" name="Picture 31" descr="monitor-play_E11900_256_2.0.png"/>
          <p:cNvPicPr>
            <a:picLocks noChangeAspect="1"/>
          </p:cNvPicPr>
          <p:nvPr/>
        </p:nvPicPr>
        <p:blipFill>
          <a:blip r:embed="rId6"/>
          <a:stretch>
            <a:fillRect/>
          </a:stretch>
        </p:blipFill>
        <p:spPr>
          <a:xfrm>
            <a:off x="8321771" y="4371563"/>
            <a:ext cx="199704" cy="199704"/>
          </a:xfrm>
          <a:prstGeom prst="rect">
            <a:avLst/>
          </a:prstGeom>
        </p:spPr>
      </p:pic>
      <p:sp>
        <p:nvSpPr>
          <p:cNvPr id="33" name="TextBox 32"/>
          <p:cNvSpPr txBox="1"/>
          <p:nvPr/>
        </p:nvSpPr>
        <p:spPr>
          <a:xfrm>
            <a:off x="8759952" y="4251960"/>
            <a:ext cx="2880360" cy="502920"/>
          </a:xfrm>
          <a:prstGeom prst="rect">
            <a:avLst/>
          </a:prstGeom>
          <a:noFill/>
        </p:spPr>
        <p:txBody>
          <a:bodyPr wrap="square" lIns="0" rIns="0" tIns="0" bIns="0" anchor="t">
            <a:spAutoFit/>
          </a:bodyPr>
          <a:lstStyle/>
          <a:p>
            <a:pPr algn="l">
              <a:lnSpc>
                <a:spcPct val="108000"/>
              </a:lnSpc>
            </a:pPr>
            <a:r>
              <a:rPr sz="1050" b="1" i="0">
                <a:solidFill>
                  <a:srgbClr val="16181D"/>
                </a:solidFill>
                <a:latin typeface="Montserrat"/>
              </a:rPr>
              <a:t>Advocacy on video</a:t>
            </a:r>
          </a:p>
        </p:txBody>
      </p:sp>
      <p:sp>
        <p:nvSpPr>
          <p:cNvPr id="34" name="TextBox 33"/>
          <p:cNvSpPr txBox="1"/>
          <p:nvPr/>
        </p:nvSpPr>
        <p:spPr>
          <a:xfrm>
            <a:off x="8759952" y="4608576"/>
            <a:ext cx="2880360" cy="77724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Our YouTube channel documents hazards and fixes on camera: ground-audit walkthroughs, Dialogue Series recordings and victim-education explainers. A public record any authority can cite.</a:t>
            </a:r>
          </a:p>
        </p:txBody>
      </p:sp>
      <p:sp>
        <p:nvSpPr>
          <p:cNvPr id="35" name="Rounded Rectangle 34"/>
          <p:cNvSpPr/>
          <p:nvPr/>
        </p:nvSpPr>
        <p:spPr>
          <a:xfrm>
            <a:off x="8229600" y="5486400"/>
            <a:ext cx="3383280" cy="658368"/>
          </a:xfrm>
          <a:prstGeom prst="roundRect">
            <a:avLst>
              <a:gd name="adj" fmla="val 14000"/>
            </a:avLst>
          </a:prstGeom>
          <a:solidFill>
            <a:srgbClr val="F7F7FA"/>
          </a:solidFill>
          <a:ln>
            <a:noFill/>
          </a:ln>
          <a:effectLst/>
        </p:spPr>
        <p:txBody>
          <a:bodyPr rtlCol="0" anchor="ctr"/>
          <a:lstStyle/>
          <a:p>
            <a:pPr algn="ctr"/>
          </a:p>
        </p:txBody>
      </p:sp>
      <p:sp>
        <p:nvSpPr>
          <p:cNvPr id="36" name="TextBox 35"/>
          <p:cNvSpPr txBox="1"/>
          <p:nvPr/>
        </p:nvSpPr>
        <p:spPr>
          <a:xfrm>
            <a:off x="8394192" y="5559552"/>
            <a:ext cx="3108960" cy="548640"/>
          </a:xfrm>
          <a:prstGeom prst="rect">
            <a:avLst/>
          </a:prstGeom>
          <a:noFill/>
        </p:spPr>
        <p:txBody>
          <a:bodyPr wrap="square" lIns="0" rIns="0" tIns="0" bIns="0" anchor="t">
            <a:spAutoFit/>
          </a:bodyPr>
          <a:lstStyle/>
          <a:p>
            <a:pPr algn="l">
              <a:lnSpc>
                <a:spcPct val="125000"/>
              </a:lnSpc>
            </a:pPr>
            <a:r>
              <a:rPr sz="950" b="1" i="0">
                <a:solidFill>
                  <a:srgbClr val="16181D"/>
                </a:solidFill>
                <a:latin typeface="Geist"/>
              </a:rPr>
              <a:t>Next: </a:t>
            </a:r>
            <a:r>
              <a:rPr sz="950" b="0" i="0">
                <a:solidFill>
                  <a:srgbClr val="6E7180"/>
                </a:solidFill>
                <a:latin typeface="Geist"/>
              </a:rPr>
              <a:t>'Be a Rakshak' university chapters at IITs, NITs and SPAs.</a:t>
            </a:r>
          </a:p>
        </p:txBody>
      </p:sp>
      <p:cxnSp>
        <p:nvCxnSpPr>
          <p:cNvPr id="37" name="Connector 36"/>
          <p:cNvCxnSpPr/>
          <p:nvPr/>
        </p:nvCxnSpPr>
        <p:spPr>
          <a:xfrm>
            <a:off x="566928" y="6455664"/>
            <a:ext cx="11057839" cy="0"/>
          </a:xfrm>
          <a:prstGeom prst="line">
            <a:avLst/>
          </a:prstGeom>
          <a:ln w="9525">
            <a:solidFill>
              <a:srgbClr val="E8E9EE"/>
            </a:solidFill>
          </a:ln>
          <a:effectLst/>
        </p:spPr>
      </p:cxnSp>
      <p:sp>
        <p:nvSpPr>
          <p:cNvPr id="38" name="TextBox 37"/>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3</a:t>
            </a:r>
          </a:p>
        </p:txBody>
      </p:sp>
      <p:sp>
        <p:nvSpPr>
          <p:cNvPr id="39" name="TextBox 38"/>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11 / 26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2 OF 5  ·  WHAT WE HAVE BUILT</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02 · WHAT WE HAVE BUILT, ON THE GROUND</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Road Safety Month 2026, run </a:t>
            </a:r>
            <a:r>
              <a:rPr sz="2250" b="1" i="0">
                <a:solidFill>
                  <a:srgbClr val="4A35FF"/>
                </a:solidFill>
                <a:latin typeface="Montserrat"/>
              </a:rPr>
              <a:t>with the system</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With district police, schools, hospitals and delivery platforms, in Hindi and local languages.</a:t>
            </a:r>
          </a:p>
        </p:txBody>
      </p:sp>
      <p:pic>
        <p:nvPicPr>
          <p:cNvPr id="8" name="Picture 7" descr="ph_police_rally.jpg_4.70x3.55_0.35.jpg"/>
          <p:cNvPicPr>
            <a:picLocks noChangeAspect="1"/>
          </p:cNvPicPr>
          <p:nvPr/>
        </p:nvPicPr>
        <p:blipFill>
          <a:blip r:embed="rId2"/>
          <a:stretch>
            <a:fillRect/>
          </a:stretch>
        </p:blipFill>
        <p:spPr>
          <a:xfrm>
            <a:off x="566928" y="1938528"/>
            <a:ext cx="4297680" cy="3246120"/>
          </a:xfrm>
          <a:prstGeom prst="rect">
            <a:avLst/>
          </a:prstGeom>
        </p:spPr>
      </p:pic>
      <p:sp>
        <p:nvSpPr>
          <p:cNvPr id="9" name="Rectangle 8"/>
          <p:cNvSpPr/>
          <p:nvPr/>
        </p:nvSpPr>
        <p:spPr>
          <a:xfrm>
            <a:off x="566928" y="1938528"/>
            <a:ext cx="4297680" cy="3246120"/>
          </a:xfrm>
          <a:prstGeom prst="rect">
            <a:avLst/>
          </a:prstGeom>
          <a:noFill/>
          <a:ln w="12700">
            <a:solidFill>
              <a:srgbClr val="E8E9EE"/>
            </a:solidFill>
          </a:ln>
          <a:effectLst/>
        </p:spPr>
        <p:txBody>
          <a:bodyPr rtlCol="0" anchor="ctr"/>
          <a:lstStyle/>
          <a:p>
            <a:pPr algn="ctr"/>
          </a:p>
        </p:txBody>
      </p:sp>
      <p:sp>
        <p:nvSpPr>
          <p:cNvPr id="10" name="TextBox 9"/>
          <p:cNvSpPr txBox="1"/>
          <p:nvPr/>
        </p:nvSpPr>
        <p:spPr>
          <a:xfrm>
            <a:off x="566928" y="5230368"/>
            <a:ext cx="429768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National Road Safety Month rally, on the road with district traffic police, Jan 2026.</a:t>
            </a:r>
          </a:p>
        </p:txBody>
      </p:sp>
      <p:pic>
        <p:nvPicPr>
          <p:cNvPr id="11" name="Picture 10" descr="ph_stall.jpg_3.55x1.72_0.45.jpg"/>
          <p:cNvPicPr>
            <a:picLocks noChangeAspect="1"/>
          </p:cNvPicPr>
          <p:nvPr/>
        </p:nvPicPr>
        <p:blipFill>
          <a:blip r:embed="rId3"/>
          <a:stretch>
            <a:fillRect/>
          </a:stretch>
        </p:blipFill>
        <p:spPr>
          <a:xfrm>
            <a:off x="5074920" y="1938528"/>
            <a:ext cx="3246120" cy="1572768"/>
          </a:xfrm>
          <a:prstGeom prst="rect">
            <a:avLst/>
          </a:prstGeom>
        </p:spPr>
      </p:pic>
      <p:sp>
        <p:nvSpPr>
          <p:cNvPr id="12" name="Rectangle 11"/>
          <p:cNvSpPr/>
          <p:nvPr/>
        </p:nvSpPr>
        <p:spPr>
          <a:xfrm>
            <a:off x="5074920" y="1938528"/>
            <a:ext cx="3246120" cy="1572768"/>
          </a:xfrm>
          <a:prstGeom prst="rect">
            <a:avLst/>
          </a:prstGeom>
          <a:noFill/>
          <a:ln w="12700">
            <a:solidFill>
              <a:srgbClr val="E8E9EE"/>
            </a:solidFill>
          </a:ln>
          <a:effectLst/>
        </p:spPr>
        <p:txBody>
          <a:bodyPr rtlCol="0" anchor="ctr"/>
          <a:lstStyle/>
          <a:p>
            <a:pPr algn="ctr"/>
          </a:p>
        </p:txBody>
      </p:sp>
      <p:sp>
        <p:nvSpPr>
          <p:cNvPr id="13" name="TextBox 12"/>
          <p:cNvSpPr txBox="1"/>
          <p:nvPr/>
        </p:nvSpPr>
        <p:spPr>
          <a:xfrm>
            <a:off x="5074920" y="3557016"/>
            <a:ext cx="324612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CFI stall at a government office</a:t>
            </a:r>
          </a:p>
        </p:txBody>
      </p:sp>
      <p:pic>
        <p:nvPicPr>
          <p:cNvPr id="14" name="Picture 13" descr="ph_police_station.jpg_3.55x1.72_0.35.jpg"/>
          <p:cNvPicPr>
            <a:picLocks noChangeAspect="1"/>
          </p:cNvPicPr>
          <p:nvPr/>
        </p:nvPicPr>
        <p:blipFill>
          <a:blip r:embed="rId4"/>
          <a:stretch>
            <a:fillRect/>
          </a:stretch>
        </p:blipFill>
        <p:spPr>
          <a:xfrm>
            <a:off x="8412480" y="1938528"/>
            <a:ext cx="3246120" cy="1572768"/>
          </a:xfrm>
          <a:prstGeom prst="rect">
            <a:avLst/>
          </a:prstGeom>
        </p:spPr>
      </p:pic>
      <p:sp>
        <p:nvSpPr>
          <p:cNvPr id="15" name="Rectangle 14"/>
          <p:cNvSpPr/>
          <p:nvPr/>
        </p:nvSpPr>
        <p:spPr>
          <a:xfrm>
            <a:off x="8412480" y="1938528"/>
            <a:ext cx="3246120" cy="1572768"/>
          </a:xfrm>
          <a:prstGeom prst="rect">
            <a:avLst/>
          </a:prstGeom>
          <a:noFill/>
          <a:ln w="12700">
            <a:solidFill>
              <a:srgbClr val="E8E9EE"/>
            </a:solidFill>
          </a:ln>
          <a:effectLst/>
        </p:spPr>
        <p:txBody>
          <a:bodyPr rtlCol="0" anchor="ctr"/>
          <a:lstStyle/>
          <a:p>
            <a:pPr algn="ctr"/>
          </a:p>
        </p:txBody>
      </p:sp>
      <p:sp>
        <p:nvSpPr>
          <p:cNvPr id="16" name="TextBox 15"/>
          <p:cNvSpPr txBox="1"/>
          <p:nvPr/>
        </p:nvSpPr>
        <p:spPr>
          <a:xfrm>
            <a:off x="8412480" y="3557016"/>
            <a:ext cx="324612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Materials briefing with police staff</a:t>
            </a:r>
          </a:p>
        </p:txBody>
      </p:sp>
      <p:pic>
        <p:nvPicPr>
          <p:cNvPr id="17" name="Picture 16" descr="ph_school_kids.jpg_3.55x1.72_0.30.jpg"/>
          <p:cNvPicPr>
            <a:picLocks noChangeAspect="1"/>
          </p:cNvPicPr>
          <p:nvPr/>
        </p:nvPicPr>
        <p:blipFill>
          <a:blip r:embed="rId5"/>
          <a:stretch>
            <a:fillRect/>
          </a:stretch>
        </p:blipFill>
        <p:spPr>
          <a:xfrm>
            <a:off x="5074920" y="3904488"/>
            <a:ext cx="3246120" cy="1572768"/>
          </a:xfrm>
          <a:prstGeom prst="rect">
            <a:avLst/>
          </a:prstGeom>
        </p:spPr>
      </p:pic>
      <p:sp>
        <p:nvSpPr>
          <p:cNvPr id="18" name="Rectangle 17"/>
          <p:cNvSpPr/>
          <p:nvPr/>
        </p:nvSpPr>
        <p:spPr>
          <a:xfrm>
            <a:off x="5074920" y="3904488"/>
            <a:ext cx="3246120" cy="1572768"/>
          </a:xfrm>
          <a:prstGeom prst="rect">
            <a:avLst/>
          </a:prstGeom>
          <a:noFill/>
          <a:ln w="12700">
            <a:solidFill>
              <a:srgbClr val="E8E9EE"/>
            </a:solidFill>
          </a:ln>
          <a:effectLst/>
        </p:spPr>
        <p:txBody>
          <a:bodyPr rtlCol="0" anchor="ctr"/>
          <a:lstStyle/>
          <a:p>
            <a:pPr algn="ctr"/>
          </a:p>
        </p:txBody>
      </p:sp>
      <p:sp>
        <p:nvSpPr>
          <p:cNvPr id="19" name="TextBox 18"/>
          <p:cNvSpPr txBox="1"/>
          <p:nvPr/>
        </p:nvSpPr>
        <p:spPr>
          <a:xfrm>
            <a:off x="5074920" y="5522976"/>
            <a:ext cx="324612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School programme with certificates</a:t>
            </a:r>
          </a:p>
        </p:txBody>
      </p:sp>
      <p:pic>
        <p:nvPicPr>
          <p:cNvPr id="20" name="Picture 19" descr="ph_gig_riders.jpg_3.55x1.72_0.40.jpg"/>
          <p:cNvPicPr>
            <a:picLocks noChangeAspect="1"/>
          </p:cNvPicPr>
          <p:nvPr/>
        </p:nvPicPr>
        <p:blipFill>
          <a:blip r:embed="rId6"/>
          <a:stretch>
            <a:fillRect/>
          </a:stretch>
        </p:blipFill>
        <p:spPr>
          <a:xfrm>
            <a:off x="8412480" y="3904488"/>
            <a:ext cx="3246120" cy="1572768"/>
          </a:xfrm>
          <a:prstGeom prst="rect">
            <a:avLst/>
          </a:prstGeom>
        </p:spPr>
      </p:pic>
      <p:sp>
        <p:nvSpPr>
          <p:cNvPr id="21" name="Rectangle 20"/>
          <p:cNvSpPr/>
          <p:nvPr/>
        </p:nvSpPr>
        <p:spPr>
          <a:xfrm>
            <a:off x="8412480" y="3904488"/>
            <a:ext cx="3246120" cy="1572768"/>
          </a:xfrm>
          <a:prstGeom prst="rect">
            <a:avLst/>
          </a:prstGeom>
          <a:noFill/>
          <a:ln w="12700">
            <a:solidFill>
              <a:srgbClr val="E8E9EE"/>
            </a:solidFill>
          </a:ln>
          <a:effectLst/>
        </p:spPr>
        <p:txBody>
          <a:bodyPr rtlCol="0" anchor="ctr"/>
          <a:lstStyle/>
          <a:p>
            <a:pPr algn="ctr"/>
          </a:p>
        </p:txBody>
      </p:sp>
      <p:sp>
        <p:nvSpPr>
          <p:cNvPr id="22" name="TextBox 21"/>
          <p:cNvSpPr txBox="1"/>
          <p:nvPr/>
        </p:nvSpPr>
        <p:spPr>
          <a:xfrm>
            <a:off x="8412480" y="5522976"/>
            <a:ext cx="324612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Delivery-rider outreach, Swiggy &amp; Instamart</a:t>
            </a:r>
          </a:p>
        </p:txBody>
      </p:sp>
      <p:sp>
        <p:nvSpPr>
          <p:cNvPr id="23" name="Rounded Rectangle 22"/>
          <p:cNvSpPr/>
          <p:nvPr/>
        </p:nvSpPr>
        <p:spPr>
          <a:xfrm>
            <a:off x="566928" y="5623560"/>
            <a:ext cx="4297680" cy="566928"/>
          </a:xfrm>
          <a:prstGeom prst="roundRect">
            <a:avLst>
              <a:gd name="adj" fmla="val 16000"/>
            </a:avLst>
          </a:prstGeom>
          <a:solidFill>
            <a:srgbClr val="E9F7F0"/>
          </a:solidFill>
          <a:ln>
            <a:noFill/>
          </a:ln>
          <a:effectLst/>
        </p:spPr>
        <p:txBody>
          <a:bodyPr rtlCol="0" anchor="ctr"/>
          <a:lstStyle/>
          <a:p>
            <a:pPr algn="ctr"/>
          </a:p>
        </p:txBody>
      </p:sp>
      <p:sp>
        <p:nvSpPr>
          <p:cNvPr id="24" name="TextBox 23"/>
          <p:cNvSpPr txBox="1"/>
          <p:nvPr/>
        </p:nvSpPr>
        <p:spPr>
          <a:xfrm>
            <a:off x="749808" y="5705856"/>
            <a:ext cx="4023360" cy="457200"/>
          </a:xfrm>
          <a:prstGeom prst="rect">
            <a:avLst/>
          </a:prstGeom>
          <a:noFill/>
        </p:spPr>
        <p:txBody>
          <a:bodyPr wrap="square" lIns="0" rIns="0" tIns="0" bIns="0" anchor="t">
            <a:spAutoFit/>
          </a:bodyPr>
          <a:lstStyle/>
          <a:p>
            <a:pPr algn="l">
              <a:lnSpc>
                <a:spcPct val="120000"/>
              </a:lnSpc>
            </a:pPr>
            <a:r>
              <a:rPr sz="1050" b="1" i="0">
                <a:solidFill>
                  <a:srgbClr val="0A9955"/>
                </a:solidFill>
                <a:latin typeface="Geist"/>
              </a:rPr>
              <a:t>1M+ citizens reached </a:t>
            </a:r>
            <a:r>
              <a:rPr sz="1050" b="0" i="0">
                <a:solidFill>
                  <a:srgbClr val="0A9955"/>
                </a:solidFill>
                <a:latin typeface="Geist"/>
              </a:rPr>
              <a:t>across campaigns in year one.</a:t>
            </a:r>
          </a:p>
        </p:txBody>
      </p:sp>
      <p:cxnSp>
        <p:nvCxnSpPr>
          <p:cNvPr id="25" name="Connector 24"/>
          <p:cNvCxnSpPr/>
          <p:nvPr/>
        </p:nvCxnSpPr>
        <p:spPr>
          <a:xfrm>
            <a:off x="566928" y="6455664"/>
            <a:ext cx="11057839" cy="0"/>
          </a:xfrm>
          <a:prstGeom prst="line">
            <a:avLst/>
          </a:prstGeom>
          <a:ln w="9525">
            <a:solidFill>
              <a:srgbClr val="E8E9EE"/>
            </a:solidFill>
          </a:ln>
          <a:effectLst/>
        </p:spPr>
      </p:cxnSp>
      <p:sp>
        <p:nvSpPr>
          <p:cNvPr id="26" name="TextBox 25"/>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3</a:t>
            </a:r>
          </a:p>
        </p:txBody>
      </p:sp>
      <p:sp>
        <p:nvSpPr>
          <p:cNvPr id="27" name="TextBox 26"/>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12 / 26</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2 OF 5  ·  WHAT WE HAVE BUILT</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02 · WHAT WE HAVE BUILT, PUBLIC VOICE</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MS Dhoni gives road safety </a:t>
            </a:r>
            <a:r>
              <a:rPr sz="2250" b="1" i="0">
                <a:solidFill>
                  <a:srgbClr val="4A35FF"/>
                </a:solidFill>
                <a:latin typeface="Montserrat"/>
              </a:rPr>
              <a:t>a national voice</a:t>
            </a:r>
          </a:p>
        </p:txBody>
      </p:sp>
      <p:pic>
        <p:nvPicPr>
          <p:cNvPr id="7" name="Picture 6" descr="ph_dhoni_helmet.jpg_2.85x3.60_0.10.jpg"/>
          <p:cNvPicPr>
            <a:picLocks noChangeAspect="1"/>
          </p:cNvPicPr>
          <p:nvPr/>
        </p:nvPicPr>
        <p:blipFill>
          <a:blip r:embed="rId2"/>
          <a:stretch>
            <a:fillRect/>
          </a:stretch>
        </p:blipFill>
        <p:spPr>
          <a:xfrm>
            <a:off x="566928" y="1783080"/>
            <a:ext cx="2606040" cy="3291840"/>
          </a:xfrm>
          <a:prstGeom prst="rect">
            <a:avLst/>
          </a:prstGeom>
        </p:spPr>
      </p:pic>
      <p:sp>
        <p:nvSpPr>
          <p:cNvPr id="8" name="Rectangle 7"/>
          <p:cNvSpPr/>
          <p:nvPr/>
        </p:nvSpPr>
        <p:spPr>
          <a:xfrm>
            <a:off x="566928" y="1783080"/>
            <a:ext cx="2606040" cy="3291840"/>
          </a:xfrm>
          <a:prstGeom prst="rect">
            <a:avLst/>
          </a:prstGeom>
          <a:noFill/>
          <a:ln w="12700">
            <a:solidFill>
              <a:srgbClr val="E8E9EE"/>
            </a:solidFill>
          </a:ln>
          <a:effectLst/>
        </p:spPr>
        <p:txBody>
          <a:bodyPr rtlCol="0" anchor="ctr"/>
          <a:lstStyle/>
          <a:p>
            <a:pPr algn="ctr"/>
          </a:p>
        </p:txBody>
      </p:sp>
      <p:sp>
        <p:nvSpPr>
          <p:cNvPr id="9" name="TextBox 8"/>
          <p:cNvSpPr txBox="1"/>
          <p:nvPr/>
        </p:nvSpPr>
        <p:spPr>
          <a:xfrm>
            <a:off x="566928" y="5120640"/>
            <a:ext cx="260604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MS Dhoni, Goodwill Ambassador, announced April 2026.</a:t>
            </a:r>
          </a:p>
        </p:txBody>
      </p:sp>
      <p:sp>
        <p:nvSpPr>
          <p:cNvPr id="10" name="Rounded Rectangle 9"/>
          <p:cNvSpPr/>
          <p:nvPr/>
        </p:nvSpPr>
        <p:spPr>
          <a:xfrm>
            <a:off x="3429000" y="1783080"/>
            <a:ext cx="3063240" cy="3291840"/>
          </a:xfrm>
          <a:prstGeom prst="roundRect">
            <a:avLst>
              <a:gd name="adj" fmla="val 8000"/>
            </a:avLst>
          </a:prstGeom>
          <a:solidFill>
            <a:srgbClr val="F7F7FA"/>
          </a:solidFill>
          <a:ln>
            <a:noFill/>
          </a:ln>
          <a:effectLst/>
        </p:spPr>
        <p:txBody>
          <a:bodyPr rtlCol="0" anchor="ctr"/>
          <a:lstStyle/>
          <a:p>
            <a:pPr algn="ctr"/>
          </a:p>
        </p:txBody>
      </p:sp>
      <p:sp>
        <p:nvSpPr>
          <p:cNvPr id="11" name="TextBox 10"/>
          <p:cNvSpPr txBox="1"/>
          <p:nvPr/>
        </p:nvSpPr>
        <p:spPr>
          <a:xfrm>
            <a:off x="3657600" y="2057400"/>
            <a:ext cx="2606040" cy="2011680"/>
          </a:xfrm>
          <a:prstGeom prst="rect">
            <a:avLst/>
          </a:prstGeom>
          <a:noFill/>
        </p:spPr>
        <p:txBody>
          <a:bodyPr wrap="square" lIns="0" rIns="0" tIns="0" bIns="0" anchor="t">
            <a:spAutoFit/>
          </a:bodyPr>
          <a:lstStyle/>
          <a:p>
            <a:pPr algn="l">
              <a:lnSpc>
                <a:spcPct val="135000"/>
              </a:lnSpc>
            </a:pPr>
            <a:r>
              <a:rPr sz="1300" b="1" i="1">
                <a:solidFill>
                  <a:srgbClr val="16181D"/>
                </a:solidFill>
                <a:latin typeface="Montserrat"/>
              </a:rPr>
              <a:t>"We already know what is going wrong. What we need now is more responsibility, more discipline, more respect for life."</a:t>
            </a:r>
          </a:p>
        </p:txBody>
      </p:sp>
      <p:sp>
        <p:nvSpPr>
          <p:cNvPr id="12" name="TextBox 11"/>
          <p:cNvSpPr txBox="1"/>
          <p:nvPr/>
        </p:nvSpPr>
        <p:spPr>
          <a:xfrm>
            <a:off x="3657600" y="4206240"/>
            <a:ext cx="2606040" cy="548640"/>
          </a:xfrm>
          <a:prstGeom prst="rect">
            <a:avLst/>
          </a:prstGeom>
          <a:noFill/>
        </p:spPr>
        <p:txBody>
          <a:bodyPr wrap="square" lIns="0" rIns="0" tIns="0" bIns="0" anchor="t">
            <a:spAutoFit/>
          </a:bodyPr>
          <a:lstStyle/>
          <a:p>
            <a:pPr algn="l">
              <a:lnSpc>
                <a:spcPct val="125000"/>
              </a:lnSpc>
            </a:pPr>
            <a:r>
              <a:rPr sz="900" b="0" i="0">
                <a:solidFill>
                  <a:srgbClr val="6E7180"/>
                </a:solidFill>
                <a:latin typeface="Geist"/>
              </a:rPr>
              <a:t>MS Dhoni, at the National Road Safety</a:t>
            </a:r>
          </a:p>
          <a:p>
            <a:pPr algn="l">
              <a:lnSpc>
                <a:spcPct val="125000"/>
              </a:lnSpc>
            </a:pPr>
            <a:r>
              <a:rPr sz="900" b="0" i="0">
                <a:solidFill>
                  <a:srgbClr val="6E7180"/>
                </a:solidFill>
                <a:latin typeface="Geist"/>
              </a:rPr>
              <a:t>Implementation Forum, IIT Delhi</a:t>
            </a:r>
          </a:p>
        </p:txBody>
      </p:sp>
      <p:sp>
        <p:nvSpPr>
          <p:cNvPr id="13" name="TextBox 12"/>
          <p:cNvSpPr txBox="1"/>
          <p:nvPr/>
        </p:nvSpPr>
        <p:spPr>
          <a:xfrm>
            <a:off x="6766560" y="1783080"/>
            <a:ext cx="4846320" cy="237744"/>
          </a:xfrm>
          <a:prstGeom prst="rect">
            <a:avLst/>
          </a:prstGeom>
          <a:noFill/>
        </p:spPr>
        <p:txBody>
          <a:bodyPr wrap="square" lIns="0" rIns="0" tIns="0" bIns="0" anchor="t">
            <a:spAutoFit/>
          </a:bodyPr>
          <a:lstStyle/>
          <a:p>
            <a:pPr algn="l">
              <a:lnSpc>
                <a:spcPct val="128000"/>
              </a:lnSpc>
            </a:pPr>
            <a:r>
              <a:rPr sz="800" b="1" i="0" spc="160">
                <a:solidFill>
                  <a:srgbClr val="6E7180"/>
                </a:solidFill>
                <a:latin typeface="Montserrat"/>
              </a:rPr>
              <a:t>AS SEEN IN THE PRESS</a:t>
            </a:r>
          </a:p>
        </p:txBody>
      </p:sp>
      <p:pic>
        <p:nvPicPr>
          <p:cNvPr id="14" name="Picture 13" descr="opt_press_ht_primer_1500.jpg"/>
          <p:cNvPicPr>
            <a:picLocks noChangeAspect="1"/>
          </p:cNvPicPr>
          <p:nvPr/>
        </p:nvPicPr>
        <p:blipFill>
          <a:blip r:embed="rId3"/>
          <a:stretch>
            <a:fillRect/>
          </a:stretch>
        </p:blipFill>
        <p:spPr>
          <a:xfrm>
            <a:off x="6766560" y="2084831"/>
            <a:ext cx="2313584" cy="1965960"/>
          </a:xfrm>
          <a:prstGeom prst="rect">
            <a:avLst/>
          </a:prstGeom>
        </p:spPr>
      </p:pic>
      <p:sp>
        <p:nvSpPr>
          <p:cNvPr id="15" name="Rectangle 14"/>
          <p:cNvSpPr/>
          <p:nvPr/>
        </p:nvSpPr>
        <p:spPr>
          <a:xfrm>
            <a:off x="6766560" y="2084831"/>
            <a:ext cx="2313584" cy="1965960"/>
          </a:xfrm>
          <a:prstGeom prst="rect">
            <a:avLst/>
          </a:prstGeom>
          <a:noFill/>
          <a:ln w="12700">
            <a:solidFill>
              <a:srgbClr val="E8E9EE"/>
            </a:solidFill>
          </a:ln>
          <a:effectLst/>
        </p:spPr>
        <p:txBody>
          <a:bodyPr rtlCol="0" anchor="ctr"/>
          <a:lstStyle/>
          <a:p>
            <a:pPr algn="ctr"/>
          </a:p>
        </p:txBody>
      </p:sp>
      <p:sp>
        <p:nvSpPr>
          <p:cNvPr id="16" name="TextBox 15"/>
          <p:cNvSpPr txBox="1"/>
          <p:nvPr/>
        </p:nvSpPr>
        <p:spPr>
          <a:xfrm>
            <a:off x="6766560" y="4096511"/>
            <a:ext cx="2313584" cy="274320"/>
          </a:xfrm>
          <a:prstGeom prst="rect">
            <a:avLst/>
          </a:prstGeom>
          <a:noFill/>
        </p:spPr>
        <p:txBody>
          <a:bodyPr wrap="square" lIns="0" rIns="0" tIns="0" bIns="0" anchor="t">
            <a:spAutoFit/>
          </a:bodyPr>
          <a:lstStyle/>
          <a:p>
            <a:pPr algn="l">
              <a:lnSpc>
                <a:spcPct val="112000"/>
              </a:lnSpc>
            </a:pPr>
            <a:r>
              <a:rPr sz="850" b="0" i="0">
                <a:solidFill>
                  <a:srgbClr val="6E7180"/>
                </a:solidFill>
                <a:latin typeface="Geist"/>
              </a:rPr>
              <a:t>Hindustan Times, on our</a:t>
            </a:r>
          </a:p>
          <a:p>
            <a:pPr algn="l">
              <a:lnSpc>
                <a:spcPct val="112000"/>
              </a:lnSpc>
            </a:pPr>
            <a:r>
              <a:rPr sz="850" b="0" i="0">
                <a:solidFill>
                  <a:srgbClr val="6E7180"/>
                </a:solidFill>
                <a:latin typeface="Geist"/>
              </a:rPr>
              <a:t>Pre-Hospital Care Primer.</a:t>
            </a:r>
          </a:p>
        </p:txBody>
      </p:sp>
      <p:pic>
        <p:nvPicPr>
          <p:cNvPr id="17" name="Picture 16" descr="opt_press_print_ideathon_1500.jpg"/>
          <p:cNvPicPr>
            <a:picLocks noChangeAspect="1"/>
          </p:cNvPicPr>
          <p:nvPr/>
        </p:nvPicPr>
        <p:blipFill>
          <a:blip r:embed="rId4"/>
          <a:stretch>
            <a:fillRect/>
          </a:stretch>
        </p:blipFill>
        <p:spPr>
          <a:xfrm>
            <a:off x="9281160" y="2084831"/>
            <a:ext cx="2331720" cy="1600567"/>
          </a:xfrm>
          <a:prstGeom prst="rect">
            <a:avLst/>
          </a:prstGeom>
        </p:spPr>
      </p:pic>
      <p:sp>
        <p:nvSpPr>
          <p:cNvPr id="18" name="Rectangle 17"/>
          <p:cNvSpPr/>
          <p:nvPr/>
        </p:nvSpPr>
        <p:spPr>
          <a:xfrm>
            <a:off x="9281160" y="2084831"/>
            <a:ext cx="2331720" cy="1600567"/>
          </a:xfrm>
          <a:prstGeom prst="rect">
            <a:avLst/>
          </a:prstGeom>
          <a:noFill/>
          <a:ln w="12700">
            <a:solidFill>
              <a:srgbClr val="E8E9EE"/>
            </a:solidFill>
          </a:ln>
          <a:effectLst/>
        </p:spPr>
        <p:txBody>
          <a:bodyPr rtlCol="0" anchor="ctr"/>
          <a:lstStyle/>
          <a:p>
            <a:pPr algn="ctr"/>
          </a:p>
        </p:txBody>
      </p:sp>
      <p:sp>
        <p:nvSpPr>
          <p:cNvPr id="19" name="TextBox 18"/>
          <p:cNvSpPr txBox="1"/>
          <p:nvPr/>
        </p:nvSpPr>
        <p:spPr>
          <a:xfrm>
            <a:off x="9281160" y="3731118"/>
            <a:ext cx="2331720" cy="274320"/>
          </a:xfrm>
          <a:prstGeom prst="rect">
            <a:avLst/>
          </a:prstGeom>
          <a:noFill/>
        </p:spPr>
        <p:txBody>
          <a:bodyPr wrap="square" lIns="0" rIns="0" tIns="0" bIns="0" anchor="t">
            <a:spAutoFit/>
          </a:bodyPr>
          <a:lstStyle/>
          <a:p>
            <a:pPr algn="l">
              <a:lnSpc>
                <a:spcPct val="112000"/>
              </a:lnSpc>
            </a:pPr>
            <a:r>
              <a:rPr sz="850" b="0" i="0">
                <a:solidFill>
                  <a:srgbClr val="6E7180"/>
                </a:solidFill>
                <a:latin typeface="Geist"/>
              </a:rPr>
              <a:t>ThePrint, on the NextMile</a:t>
            </a:r>
          </a:p>
          <a:p>
            <a:pPr algn="l">
              <a:lnSpc>
                <a:spcPct val="112000"/>
              </a:lnSpc>
            </a:pPr>
            <a:r>
              <a:rPr sz="850" b="0" i="0">
                <a:solidFill>
                  <a:srgbClr val="6E7180"/>
                </a:solidFill>
                <a:latin typeface="Geist"/>
              </a:rPr>
              <a:t>ideathon finale.</a:t>
            </a:r>
          </a:p>
        </p:txBody>
      </p:sp>
      <p:sp>
        <p:nvSpPr>
          <p:cNvPr id="20" name="Rounded Rectangle 19"/>
          <p:cNvSpPr/>
          <p:nvPr/>
        </p:nvSpPr>
        <p:spPr>
          <a:xfrm>
            <a:off x="6766560" y="4709160"/>
            <a:ext cx="1463040" cy="548640"/>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21" name="Picture 20" descr="lg_bloomberg.png"/>
          <p:cNvPicPr>
            <a:picLocks noChangeAspect="1"/>
          </p:cNvPicPr>
          <p:nvPr/>
        </p:nvPicPr>
        <p:blipFill>
          <a:blip r:embed="rId5"/>
          <a:stretch>
            <a:fillRect/>
          </a:stretch>
        </p:blipFill>
        <p:spPr>
          <a:xfrm>
            <a:off x="6876288" y="4867715"/>
            <a:ext cx="1243584" cy="231530"/>
          </a:xfrm>
          <a:prstGeom prst="rect">
            <a:avLst/>
          </a:prstGeom>
        </p:spPr>
      </p:pic>
      <p:sp>
        <p:nvSpPr>
          <p:cNvPr id="22" name="Rounded Rectangle 21"/>
          <p:cNvSpPr/>
          <p:nvPr/>
        </p:nvSpPr>
        <p:spPr>
          <a:xfrm>
            <a:off x="8339327" y="4709160"/>
            <a:ext cx="1078992" cy="256032"/>
          </a:xfrm>
          <a:prstGeom prst="roundRect">
            <a:avLst>
              <a:gd name="adj" fmla="val 50000"/>
            </a:avLst>
          </a:prstGeom>
          <a:solidFill>
            <a:srgbClr val="FFFFFF"/>
          </a:solidFill>
          <a:ln w="9525">
            <a:solidFill>
              <a:srgbClr val="E8E9EE"/>
            </a:solidFill>
          </a:ln>
          <a:effectLst/>
        </p:spPr>
        <p:txBody>
          <a:bodyPr rtlCol="0" anchor="ctr"/>
          <a:lstStyle/>
          <a:p>
            <a:pPr algn="ctr"/>
          </a:p>
        </p:txBody>
      </p:sp>
      <p:sp>
        <p:nvSpPr>
          <p:cNvPr id="23" name="TextBox 22"/>
          <p:cNvSpPr txBox="1"/>
          <p:nvPr/>
        </p:nvSpPr>
        <p:spPr>
          <a:xfrm>
            <a:off x="8357615" y="4709160"/>
            <a:ext cx="1042416" cy="256032"/>
          </a:xfrm>
          <a:prstGeom prst="rect">
            <a:avLst/>
          </a:prstGeom>
          <a:noFill/>
        </p:spPr>
        <p:txBody>
          <a:bodyPr wrap="square" lIns="0" rIns="0" tIns="0" bIns="0" anchor="ctr">
            <a:spAutoFit/>
          </a:bodyPr>
          <a:lstStyle/>
          <a:p>
            <a:pPr algn="ctr">
              <a:lnSpc>
                <a:spcPct val="100000"/>
              </a:lnSpc>
            </a:pPr>
            <a:r>
              <a:rPr sz="650" b="0" i="0">
                <a:solidFill>
                  <a:srgbClr val="16181D"/>
                </a:solidFill>
                <a:latin typeface="Montserrat"/>
              </a:rPr>
              <a:t>Deccan Herald</a:t>
            </a:r>
          </a:p>
        </p:txBody>
      </p:sp>
      <p:sp>
        <p:nvSpPr>
          <p:cNvPr id="24" name="Rounded Rectangle 23"/>
          <p:cNvSpPr/>
          <p:nvPr/>
        </p:nvSpPr>
        <p:spPr>
          <a:xfrm>
            <a:off x="9473183" y="4709160"/>
            <a:ext cx="1078992" cy="256032"/>
          </a:xfrm>
          <a:prstGeom prst="roundRect">
            <a:avLst>
              <a:gd name="adj" fmla="val 50000"/>
            </a:avLst>
          </a:prstGeom>
          <a:solidFill>
            <a:srgbClr val="FFFFFF"/>
          </a:solidFill>
          <a:ln w="9525">
            <a:solidFill>
              <a:srgbClr val="E8E9EE"/>
            </a:solidFill>
          </a:ln>
          <a:effectLst/>
        </p:spPr>
        <p:txBody>
          <a:bodyPr rtlCol="0" anchor="ctr"/>
          <a:lstStyle/>
          <a:p>
            <a:pPr algn="ctr"/>
          </a:p>
        </p:txBody>
      </p:sp>
      <p:sp>
        <p:nvSpPr>
          <p:cNvPr id="25" name="TextBox 24"/>
          <p:cNvSpPr txBox="1"/>
          <p:nvPr/>
        </p:nvSpPr>
        <p:spPr>
          <a:xfrm>
            <a:off x="9491471" y="4709160"/>
            <a:ext cx="1042416" cy="256032"/>
          </a:xfrm>
          <a:prstGeom prst="rect">
            <a:avLst/>
          </a:prstGeom>
          <a:noFill/>
        </p:spPr>
        <p:txBody>
          <a:bodyPr wrap="square" lIns="0" rIns="0" tIns="0" bIns="0" anchor="ctr">
            <a:spAutoFit/>
          </a:bodyPr>
          <a:lstStyle/>
          <a:p>
            <a:pPr algn="ctr">
              <a:lnSpc>
                <a:spcPct val="100000"/>
              </a:lnSpc>
            </a:pPr>
            <a:r>
              <a:rPr sz="650" b="0" i="0">
                <a:solidFill>
                  <a:srgbClr val="16181D"/>
                </a:solidFill>
                <a:latin typeface="Montserrat"/>
              </a:rPr>
              <a:t>Economic Times</a:t>
            </a:r>
          </a:p>
        </p:txBody>
      </p:sp>
      <p:sp>
        <p:nvSpPr>
          <p:cNvPr id="26" name="Rounded Rectangle 25"/>
          <p:cNvSpPr/>
          <p:nvPr/>
        </p:nvSpPr>
        <p:spPr>
          <a:xfrm>
            <a:off x="10607039" y="4709160"/>
            <a:ext cx="1078992" cy="256032"/>
          </a:xfrm>
          <a:prstGeom prst="roundRect">
            <a:avLst>
              <a:gd name="adj" fmla="val 50000"/>
            </a:avLst>
          </a:prstGeom>
          <a:solidFill>
            <a:srgbClr val="FFFFFF"/>
          </a:solidFill>
          <a:ln w="9525">
            <a:solidFill>
              <a:srgbClr val="E8E9EE"/>
            </a:solidFill>
          </a:ln>
          <a:effectLst/>
        </p:spPr>
        <p:txBody>
          <a:bodyPr rtlCol="0" anchor="ctr"/>
          <a:lstStyle/>
          <a:p>
            <a:pPr algn="ctr"/>
          </a:p>
        </p:txBody>
      </p:sp>
      <p:sp>
        <p:nvSpPr>
          <p:cNvPr id="27" name="TextBox 26"/>
          <p:cNvSpPr txBox="1"/>
          <p:nvPr/>
        </p:nvSpPr>
        <p:spPr>
          <a:xfrm>
            <a:off x="10625327" y="4709160"/>
            <a:ext cx="1042416" cy="256032"/>
          </a:xfrm>
          <a:prstGeom prst="rect">
            <a:avLst/>
          </a:prstGeom>
          <a:noFill/>
        </p:spPr>
        <p:txBody>
          <a:bodyPr wrap="square" lIns="0" rIns="0" tIns="0" bIns="0" anchor="ctr">
            <a:spAutoFit/>
          </a:bodyPr>
          <a:lstStyle/>
          <a:p>
            <a:pPr algn="ctr">
              <a:lnSpc>
                <a:spcPct val="100000"/>
              </a:lnSpc>
            </a:pPr>
            <a:r>
              <a:rPr sz="650" b="0" i="0">
                <a:solidFill>
                  <a:srgbClr val="16181D"/>
                </a:solidFill>
                <a:latin typeface="Montserrat"/>
              </a:rPr>
              <a:t>Fortune India</a:t>
            </a:r>
          </a:p>
        </p:txBody>
      </p:sp>
      <p:sp>
        <p:nvSpPr>
          <p:cNvPr id="28" name="Rounded Rectangle 27"/>
          <p:cNvSpPr/>
          <p:nvPr/>
        </p:nvSpPr>
        <p:spPr>
          <a:xfrm>
            <a:off x="8339327" y="5020056"/>
            <a:ext cx="1078992" cy="256032"/>
          </a:xfrm>
          <a:prstGeom prst="roundRect">
            <a:avLst>
              <a:gd name="adj" fmla="val 50000"/>
            </a:avLst>
          </a:prstGeom>
          <a:solidFill>
            <a:srgbClr val="FFFFFF"/>
          </a:solidFill>
          <a:ln w="9525">
            <a:solidFill>
              <a:srgbClr val="E8E9EE"/>
            </a:solidFill>
          </a:ln>
          <a:effectLst/>
        </p:spPr>
        <p:txBody>
          <a:bodyPr rtlCol="0" anchor="ctr"/>
          <a:lstStyle/>
          <a:p>
            <a:pPr algn="ctr"/>
          </a:p>
        </p:txBody>
      </p:sp>
      <p:sp>
        <p:nvSpPr>
          <p:cNvPr id="29" name="TextBox 28"/>
          <p:cNvSpPr txBox="1"/>
          <p:nvPr/>
        </p:nvSpPr>
        <p:spPr>
          <a:xfrm>
            <a:off x="8357615" y="5020056"/>
            <a:ext cx="1042416" cy="256032"/>
          </a:xfrm>
          <a:prstGeom prst="rect">
            <a:avLst/>
          </a:prstGeom>
          <a:noFill/>
        </p:spPr>
        <p:txBody>
          <a:bodyPr wrap="square" lIns="0" rIns="0" tIns="0" bIns="0" anchor="ctr">
            <a:spAutoFit/>
          </a:bodyPr>
          <a:lstStyle/>
          <a:p>
            <a:pPr algn="ctr">
              <a:lnSpc>
                <a:spcPct val="100000"/>
              </a:lnSpc>
            </a:pPr>
            <a:r>
              <a:rPr sz="650" b="0" i="0">
                <a:solidFill>
                  <a:srgbClr val="16181D"/>
                </a:solidFill>
                <a:latin typeface="Montserrat"/>
              </a:rPr>
              <a:t>IndiaSpend</a:t>
            </a:r>
          </a:p>
        </p:txBody>
      </p:sp>
      <p:sp>
        <p:nvSpPr>
          <p:cNvPr id="30" name="Rounded Rectangle 29"/>
          <p:cNvSpPr/>
          <p:nvPr/>
        </p:nvSpPr>
        <p:spPr>
          <a:xfrm>
            <a:off x="9473183" y="5020056"/>
            <a:ext cx="1078992" cy="256032"/>
          </a:xfrm>
          <a:prstGeom prst="roundRect">
            <a:avLst>
              <a:gd name="adj" fmla="val 50000"/>
            </a:avLst>
          </a:prstGeom>
          <a:solidFill>
            <a:srgbClr val="FFFFFF"/>
          </a:solidFill>
          <a:ln w="9525">
            <a:solidFill>
              <a:srgbClr val="E8E9EE"/>
            </a:solidFill>
          </a:ln>
          <a:effectLst/>
        </p:spPr>
        <p:txBody>
          <a:bodyPr rtlCol="0" anchor="ctr"/>
          <a:lstStyle/>
          <a:p>
            <a:pPr algn="ctr"/>
          </a:p>
        </p:txBody>
      </p:sp>
      <p:sp>
        <p:nvSpPr>
          <p:cNvPr id="31" name="TextBox 30"/>
          <p:cNvSpPr txBox="1"/>
          <p:nvPr/>
        </p:nvSpPr>
        <p:spPr>
          <a:xfrm>
            <a:off x="9491471" y="5020056"/>
            <a:ext cx="1042416" cy="256032"/>
          </a:xfrm>
          <a:prstGeom prst="rect">
            <a:avLst/>
          </a:prstGeom>
          <a:noFill/>
        </p:spPr>
        <p:txBody>
          <a:bodyPr wrap="square" lIns="0" rIns="0" tIns="0" bIns="0" anchor="ctr">
            <a:spAutoFit/>
          </a:bodyPr>
          <a:lstStyle/>
          <a:p>
            <a:pPr algn="ctr">
              <a:lnSpc>
                <a:spcPct val="100000"/>
              </a:lnSpc>
            </a:pPr>
            <a:r>
              <a:rPr sz="650" b="0" i="0">
                <a:solidFill>
                  <a:srgbClr val="16181D"/>
                </a:solidFill>
                <a:latin typeface="Montserrat"/>
              </a:rPr>
              <a:t>Scroll.in</a:t>
            </a:r>
          </a:p>
        </p:txBody>
      </p:sp>
      <p:sp>
        <p:nvSpPr>
          <p:cNvPr id="32" name="Rounded Rectangle 31"/>
          <p:cNvSpPr/>
          <p:nvPr/>
        </p:nvSpPr>
        <p:spPr>
          <a:xfrm>
            <a:off x="10607039" y="5020056"/>
            <a:ext cx="1078992" cy="256032"/>
          </a:xfrm>
          <a:prstGeom prst="roundRect">
            <a:avLst>
              <a:gd name="adj" fmla="val 50000"/>
            </a:avLst>
          </a:prstGeom>
          <a:solidFill>
            <a:srgbClr val="FFFFFF"/>
          </a:solidFill>
          <a:ln w="9525">
            <a:solidFill>
              <a:srgbClr val="E8E9EE"/>
            </a:solidFill>
          </a:ln>
          <a:effectLst/>
        </p:spPr>
        <p:txBody>
          <a:bodyPr rtlCol="0" anchor="ctr"/>
          <a:lstStyle/>
          <a:p>
            <a:pPr algn="ctr"/>
          </a:p>
        </p:txBody>
      </p:sp>
      <p:sp>
        <p:nvSpPr>
          <p:cNvPr id="33" name="TextBox 32"/>
          <p:cNvSpPr txBox="1"/>
          <p:nvPr/>
        </p:nvSpPr>
        <p:spPr>
          <a:xfrm>
            <a:off x="10625327" y="5020056"/>
            <a:ext cx="1042416" cy="256032"/>
          </a:xfrm>
          <a:prstGeom prst="rect">
            <a:avLst/>
          </a:prstGeom>
          <a:noFill/>
        </p:spPr>
        <p:txBody>
          <a:bodyPr wrap="square" lIns="0" rIns="0" tIns="0" bIns="0" anchor="ctr">
            <a:spAutoFit/>
          </a:bodyPr>
          <a:lstStyle/>
          <a:p>
            <a:pPr algn="ctr">
              <a:lnSpc>
                <a:spcPct val="100000"/>
              </a:lnSpc>
            </a:pPr>
            <a:r>
              <a:rPr sz="650" b="0" i="0">
                <a:solidFill>
                  <a:srgbClr val="16181D"/>
                </a:solidFill>
                <a:latin typeface="Montserrat"/>
              </a:rPr>
              <a:t>The Wire</a:t>
            </a:r>
          </a:p>
        </p:txBody>
      </p:sp>
      <p:sp>
        <p:nvSpPr>
          <p:cNvPr id="34" name="Rounded Rectangle 33"/>
          <p:cNvSpPr/>
          <p:nvPr/>
        </p:nvSpPr>
        <p:spPr>
          <a:xfrm>
            <a:off x="8339327" y="5330952"/>
            <a:ext cx="1078992" cy="256032"/>
          </a:xfrm>
          <a:prstGeom prst="roundRect">
            <a:avLst>
              <a:gd name="adj" fmla="val 50000"/>
            </a:avLst>
          </a:prstGeom>
          <a:solidFill>
            <a:srgbClr val="FFFFFF"/>
          </a:solidFill>
          <a:ln w="9525">
            <a:solidFill>
              <a:srgbClr val="E8E9EE"/>
            </a:solidFill>
          </a:ln>
          <a:effectLst/>
        </p:spPr>
        <p:txBody>
          <a:bodyPr rtlCol="0" anchor="ctr"/>
          <a:lstStyle/>
          <a:p>
            <a:pPr algn="ctr"/>
          </a:p>
        </p:txBody>
      </p:sp>
      <p:sp>
        <p:nvSpPr>
          <p:cNvPr id="35" name="TextBox 34"/>
          <p:cNvSpPr txBox="1"/>
          <p:nvPr/>
        </p:nvSpPr>
        <p:spPr>
          <a:xfrm>
            <a:off x="8357615" y="5330952"/>
            <a:ext cx="1042416" cy="256032"/>
          </a:xfrm>
          <a:prstGeom prst="rect">
            <a:avLst/>
          </a:prstGeom>
          <a:noFill/>
        </p:spPr>
        <p:txBody>
          <a:bodyPr wrap="square" lIns="0" rIns="0" tIns="0" bIns="0" anchor="ctr">
            <a:spAutoFit/>
          </a:bodyPr>
          <a:lstStyle/>
          <a:p>
            <a:pPr algn="ctr">
              <a:lnSpc>
                <a:spcPct val="100000"/>
              </a:lnSpc>
            </a:pPr>
            <a:r>
              <a:rPr sz="650" b="0" i="0">
                <a:solidFill>
                  <a:srgbClr val="16181D"/>
                </a:solidFill>
                <a:latin typeface="Montserrat"/>
              </a:rPr>
              <a:t>Times of India</a:t>
            </a:r>
          </a:p>
        </p:txBody>
      </p:sp>
      <p:sp>
        <p:nvSpPr>
          <p:cNvPr id="36" name="Rounded Rectangle 35"/>
          <p:cNvSpPr/>
          <p:nvPr/>
        </p:nvSpPr>
        <p:spPr>
          <a:xfrm>
            <a:off x="9473183" y="5330952"/>
            <a:ext cx="1078992" cy="256032"/>
          </a:xfrm>
          <a:prstGeom prst="roundRect">
            <a:avLst>
              <a:gd name="adj" fmla="val 50000"/>
            </a:avLst>
          </a:prstGeom>
          <a:solidFill>
            <a:srgbClr val="FFFFFF"/>
          </a:solidFill>
          <a:ln w="9525">
            <a:solidFill>
              <a:srgbClr val="E8E9EE"/>
            </a:solidFill>
          </a:ln>
          <a:effectLst/>
        </p:spPr>
        <p:txBody>
          <a:bodyPr rtlCol="0" anchor="ctr"/>
          <a:lstStyle/>
          <a:p>
            <a:pPr algn="ctr"/>
          </a:p>
        </p:txBody>
      </p:sp>
      <p:sp>
        <p:nvSpPr>
          <p:cNvPr id="37" name="TextBox 36"/>
          <p:cNvSpPr txBox="1"/>
          <p:nvPr/>
        </p:nvSpPr>
        <p:spPr>
          <a:xfrm>
            <a:off x="9491471" y="5330952"/>
            <a:ext cx="1042416" cy="256032"/>
          </a:xfrm>
          <a:prstGeom prst="rect">
            <a:avLst/>
          </a:prstGeom>
          <a:noFill/>
        </p:spPr>
        <p:txBody>
          <a:bodyPr wrap="square" lIns="0" rIns="0" tIns="0" bIns="0" anchor="ctr">
            <a:spAutoFit/>
          </a:bodyPr>
          <a:lstStyle/>
          <a:p>
            <a:pPr algn="ctr">
              <a:lnSpc>
                <a:spcPct val="100000"/>
              </a:lnSpc>
            </a:pPr>
            <a:r>
              <a:rPr sz="650" b="0" i="0">
                <a:solidFill>
                  <a:srgbClr val="16181D"/>
                </a:solidFill>
                <a:latin typeface="Montserrat"/>
              </a:rPr>
              <a:t>Business Standard</a:t>
            </a:r>
          </a:p>
        </p:txBody>
      </p:sp>
      <p:sp>
        <p:nvSpPr>
          <p:cNvPr id="38" name="TextBox 37"/>
          <p:cNvSpPr txBox="1"/>
          <p:nvPr/>
        </p:nvSpPr>
        <p:spPr>
          <a:xfrm>
            <a:off x="566928" y="5440680"/>
            <a:ext cx="6035040" cy="502920"/>
          </a:xfrm>
          <a:prstGeom prst="rect">
            <a:avLst/>
          </a:prstGeom>
          <a:noFill/>
        </p:spPr>
        <p:txBody>
          <a:bodyPr wrap="square" lIns="0" rIns="0" tIns="0" bIns="0" anchor="t">
            <a:spAutoFit/>
          </a:bodyPr>
          <a:lstStyle/>
          <a:p>
            <a:pPr algn="l">
              <a:lnSpc>
                <a:spcPct val="130000"/>
              </a:lnSpc>
            </a:pPr>
            <a:r>
              <a:rPr sz="1000" b="0" i="0">
                <a:solidFill>
                  <a:srgbClr val="6E7180"/>
                </a:solidFill>
                <a:latin typeface="Geist"/>
              </a:rPr>
              <a:t>Dhoni's voice powers 'Be a Rakshak', school-zone safety and compensation-awareness campaigns.</a:t>
            </a:r>
          </a:p>
        </p:txBody>
      </p:sp>
      <p:cxnSp>
        <p:nvCxnSpPr>
          <p:cNvPr id="39" name="Connector 38"/>
          <p:cNvCxnSpPr/>
          <p:nvPr/>
        </p:nvCxnSpPr>
        <p:spPr>
          <a:xfrm>
            <a:off x="566928" y="6455664"/>
            <a:ext cx="11057839" cy="0"/>
          </a:xfrm>
          <a:prstGeom prst="line">
            <a:avLst/>
          </a:prstGeom>
          <a:ln w="9525">
            <a:solidFill>
              <a:srgbClr val="E8E9EE"/>
            </a:solidFill>
          </a:ln>
          <a:effectLst/>
        </p:spPr>
      </p:cxnSp>
      <p:sp>
        <p:nvSpPr>
          <p:cNvPr id="40" name="TextBox 39"/>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3</a:t>
            </a:r>
          </a:p>
        </p:txBody>
      </p:sp>
      <p:sp>
        <p:nvSpPr>
          <p:cNvPr id="41" name="TextBox 40"/>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13 / 26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2 OF 5  ·  WHAT WE HAVE BUILT</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02 · WHAT WE HAVE BUILT, THE NETWORK</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The institutions </a:t>
            </a:r>
            <a:r>
              <a:rPr sz="2250" b="1" i="0">
                <a:solidFill>
                  <a:srgbClr val="4A35FF"/>
                </a:solidFill>
                <a:latin typeface="Montserrat"/>
              </a:rPr>
              <a:t>around the work</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As they appear in our working decks, engagement ranges from formal MoUs and written approvals to jury, mentoring and research collaboration.</a:t>
            </a:r>
          </a:p>
        </p:txBody>
      </p:sp>
      <p:sp>
        <p:nvSpPr>
          <p:cNvPr id="8" name="TextBox 7"/>
          <p:cNvSpPr txBox="1"/>
          <p:nvPr/>
        </p:nvSpPr>
        <p:spPr>
          <a:xfrm>
            <a:off x="566928" y="1783080"/>
            <a:ext cx="10972800" cy="219456"/>
          </a:xfrm>
          <a:prstGeom prst="rect">
            <a:avLst/>
          </a:prstGeom>
          <a:noFill/>
        </p:spPr>
        <p:txBody>
          <a:bodyPr wrap="square" lIns="0" rIns="0" tIns="0" bIns="0" anchor="t">
            <a:spAutoFit/>
          </a:bodyPr>
          <a:lstStyle/>
          <a:p>
            <a:pPr algn="l">
              <a:lnSpc>
                <a:spcPct val="128000"/>
              </a:lnSpc>
            </a:pPr>
            <a:r>
              <a:rPr sz="850" b="1" i="0" spc="150">
                <a:solidFill>
                  <a:srgbClr val="6E7180"/>
                </a:solidFill>
                <a:latin typeface="Montserrat"/>
              </a:rPr>
              <a:t>AUTHORITIES &amp; PUBLIC BODIES WE WORK WITH</a:t>
            </a:r>
          </a:p>
        </p:txBody>
      </p:sp>
      <p:sp>
        <p:nvSpPr>
          <p:cNvPr id="9" name="Rounded Rectangle 8"/>
          <p:cNvSpPr/>
          <p:nvPr/>
        </p:nvSpPr>
        <p:spPr>
          <a:xfrm>
            <a:off x="566928" y="205740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10" name="Picture 9" descr="lg_nhai.png"/>
          <p:cNvPicPr>
            <a:picLocks noChangeAspect="1"/>
          </p:cNvPicPr>
          <p:nvPr/>
        </p:nvPicPr>
        <p:blipFill>
          <a:blip r:embed="rId2"/>
          <a:stretch>
            <a:fillRect/>
          </a:stretch>
        </p:blipFill>
        <p:spPr>
          <a:xfrm>
            <a:off x="841725" y="2167128"/>
            <a:ext cx="748854" cy="493776"/>
          </a:xfrm>
          <a:prstGeom prst="rect">
            <a:avLst/>
          </a:prstGeom>
        </p:spPr>
      </p:pic>
      <p:sp>
        <p:nvSpPr>
          <p:cNvPr id="11" name="Rounded Rectangle 10"/>
          <p:cNvSpPr/>
          <p:nvPr/>
        </p:nvSpPr>
        <p:spPr>
          <a:xfrm>
            <a:off x="1956816" y="205740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12" name="Picture 11" descr="lg_pwd.png"/>
          <p:cNvPicPr>
            <a:picLocks noChangeAspect="1"/>
          </p:cNvPicPr>
          <p:nvPr/>
        </p:nvPicPr>
        <p:blipFill>
          <a:blip r:embed="rId3"/>
          <a:stretch>
            <a:fillRect/>
          </a:stretch>
        </p:blipFill>
        <p:spPr>
          <a:xfrm>
            <a:off x="2234145" y="2167128"/>
            <a:ext cx="743789" cy="493776"/>
          </a:xfrm>
          <a:prstGeom prst="rect">
            <a:avLst/>
          </a:prstGeom>
        </p:spPr>
      </p:pic>
      <p:sp>
        <p:nvSpPr>
          <p:cNvPr id="13" name="Rounded Rectangle 12"/>
          <p:cNvSpPr/>
          <p:nvPr/>
        </p:nvSpPr>
        <p:spPr>
          <a:xfrm>
            <a:off x="3346704" y="205740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14" name="Picture 13" descr="lg_indore_nn.png"/>
          <p:cNvPicPr>
            <a:picLocks noChangeAspect="1"/>
          </p:cNvPicPr>
          <p:nvPr/>
        </p:nvPicPr>
        <p:blipFill>
          <a:blip r:embed="rId4"/>
          <a:stretch>
            <a:fillRect/>
          </a:stretch>
        </p:blipFill>
        <p:spPr>
          <a:xfrm>
            <a:off x="3784517" y="2167128"/>
            <a:ext cx="422822" cy="493776"/>
          </a:xfrm>
          <a:prstGeom prst="rect">
            <a:avLst/>
          </a:prstGeom>
        </p:spPr>
      </p:pic>
      <p:sp>
        <p:nvSpPr>
          <p:cNvPr id="15" name="Rounded Rectangle 14"/>
          <p:cNvSpPr/>
          <p:nvPr/>
        </p:nvSpPr>
        <p:spPr>
          <a:xfrm>
            <a:off x="4736592" y="205740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16" name="Picture 15" descr="lg_vijayawada_police.png"/>
          <p:cNvPicPr>
            <a:picLocks noChangeAspect="1"/>
          </p:cNvPicPr>
          <p:nvPr/>
        </p:nvPicPr>
        <p:blipFill>
          <a:blip r:embed="rId5"/>
          <a:stretch>
            <a:fillRect/>
          </a:stretch>
        </p:blipFill>
        <p:spPr>
          <a:xfrm>
            <a:off x="5138928" y="2167128"/>
            <a:ext cx="493776" cy="493776"/>
          </a:xfrm>
          <a:prstGeom prst="rect">
            <a:avLst/>
          </a:prstGeom>
        </p:spPr>
      </p:pic>
      <p:sp>
        <p:nvSpPr>
          <p:cNvPr id="17" name="Rounded Rectangle 16"/>
          <p:cNvSpPr/>
          <p:nvPr/>
        </p:nvSpPr>
        <p:spPr>
          <a:xfrm>
            <a:off x="6126480" y="205740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18" name="Picture 17" descr="lg_haryana_police.png"/>
          <p:cNvPicPr>
            <a:picLocks noChangeAspect="1"/>
          </p:cNvPicPr>
          <p:nvPr/>
        </p:nvPicPr>
        <p:blipFill>
          <a:blip r:embed="rId6"/>
          <a:stretch>
            <a:fillRect/>
          </a:stretch>
        </p:blipFill>
        <p:spPr>
          <a:xfrm>
            <a:off x="6528816" y="2167128"/>
            <a:ext cx="493776" cy="493776"/>
          </a:xfrm>
          <a:prstGeom prst="rect">
            <a:avLst/>
          </a:prstGeom>
        </p:spPr>
      </p:pic>
      <p:sp>
        <p:nvSpPr>
          <p:cNvPr id="19" name="Rounded Rectangle 18"/>
          <p:cNvSpPr/>
          <p:nvPr/>
        </p:nvSpPr>
        <p:spPr>
          <a:xfrm>
            <a:off x="7516368" y="205740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20" name="Picture 19" descr="lg_kolkata_police.png"/>
          <p:cNvPicPr>
            <a:picLocks noChangeAspect="1"/>
          </p:cNvPicPr>
          <p:nvPr/>
        </p:nvPicPr>
        <p:blipFill>
          <a:blip r:embed="rId7"/>
          <a:stretch>
            <a:fillRect/>
          </a:stretch>
        </p:blipFill>
        <p:spPr>
          <a:xfrm>
            <a:off x="7909726" y="2167128"/>
            <a:ext cx="511731" cy="493776"/>
          </a:xfrm>
          <a:prstGeom prst="rect">
            <a:avLst/>
          </a:prstGeom>
        </p:spPr>
      </p:pic>
      <p:sp>
        <p:nvSpPr>
          <p:cNvPr id="21" name="Rounded Rectangle 20"/>
          <p:cNvSpPr/>
          <p:nvPr/>
        </p:nvSpPr>
        <p:spPr>
          <a:xfrm>
            <a:off x="8906256" y="205740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22" name="Picture 21" descr="lg_kozhikode_tp.png"/>
          <p:cNvPicPr>
            <a:picLocks noChangeAspect="1"/>
          </p:cNvPicPr>
          <p:nvPr/>
        </p:nvPicPr>
        <p:blipFill>
          <a:blip r:embed="rId8"/>
          <a:stretch>
            <a:fillRect/>
          </a:stretch>
        </p:blipFill>
        <p:spPr>
          <a:xfrm>
            <a:off x="9307490" y="2167128"/>
            <a:ext cx="495980" cy="493776"/>
          </a:xfrm>
          <a:prstGeom prst="rect">
            <a:avLst/>
          </a:prstGeom>
        </p:spPr>
      </p:pic>
      <p:sp>
        <p:nvSpPr>
          <p:cNvPr id="23" name="Rounded Rectangle 22"/>
          <p:cNvSpPr/>
          <p:nvPr/>
        </p:nvSpPr>
        <p:spPr>
          <a:xfrm>
            <a:off x="10296144" y="205740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24" name="Picture 23" descr="lg_dlsa.png"/>
          <p:cNvPicPr>
            <a:picLocks noChangeAspect="1"/>
          </p:cNvPicPr>
          <p:nvPr/>
        </p:nvPicPr>
        <p:blipFill>
          <a:blip r:embed="rId9"/>
          <a:stretch>
            <a:fillRect/>
          </a:stretch>
        </p:blipFill>
        <p:spPr>
          <a:xfrm>
            <a:off x="10735297" y="2167128"/>
            <a:ext cx="420142" cy="493776"/>
          </a:xfrm>
          <a:prstGeom prst="rect">
            <a:avLst/>
          </a:prstGeom>
        </p:spPr>
      </p:pic>
      <p:sp>
        <p:nvSpPr>
          <p:cNvPr id="25" name="TextBox 24"/>
          <p:cNvSpPr txBox="1"/>
          <p:nvPr/>
        </p:nvSpPr>
        <p:spPr>
          <a:xfrm>
            <a:off x="566928" y="3063240"/>
            <a:ext cx="10972800" cy="219456"/>
          </a:xfrm>
          <a:prstGeom prst="rect">
            <a:avLst/>
          </a:prstGeom>
          <a:noFill/>
        </p:spPr>
        <p:txBody>
          <a:bodyPr wrap="square" lIns="0" rIns="0" tIns="0" bIns="0" anchor="t">
            <a:spAutoFit/>
          </a:bodyPr>
          <a:lstStyle/>
          <a:p>
            <a:pPr algn="l">
              <a:lnSpc>
                <a:spcPct val="128000"/>
              </a:lnSpc>
            </a:pPr>
            <a:r>
              <a:rPr sz="850" b="1" i="0" spc="150">
                <a:solidFill>
                  <a:srgbClr val="6E7180"/>
                </a:solidFill>
                <a:latin typeface="Montserrat"/>
              </a:rPr>
              <a:t>UNIVERSITIES &amp; INSTITUTES FIELDING AUDIT TEAMS</a:t>
            </a:r>
          </a:p>
        </p:txBody>
      </p:sp>
      <p:sp>
        <p:nvSpPr>
          <p:cNvPr id="26" name="Rounded Rectangle 25"/>
          <p:cNvSpPr/>
          <p:nvPr/>
        </p:nvSpPr>
        <p:spPr>
          <a:xfrm>
            <a:off x="566928" y="333756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27" name="Picture 26" descr="lg_iitm.png"/>
          <p:cNvPicPr>
            <a:picLocks noChangeAspect="1"/>
          </p:cNvPicPr>
          <p:nvPr/>
        </p:nvPicPr>
        <p:blipFill>
          <a:blip r:embed="rId10"/>
          <a:stretch>
            <a:fillRect/>
          </a:stretch>
        </p:blipFill>
        <p:spPr>
          <a:xfrm>
            <a:off x="969264" y="3447288"/>
            <a:ext cx="493776" cy="493776"/>
          </a:xfrm>
          <a:prstGeom prst="rect">
            <a:avLst/>
          </a:prstGeom>
        </p:spPr>
      </p:pic>
      <p:sp>
        <p:nvSpPr>
          <p:cNvPr id="28" name="Rounded Rectangle 27"/>
          <p:cNvSpPr/>
          <p:nvPr/>
        </p:nvSpPr>
        <p:spPr>
          <a:xfrm>
            <a:off x="1956816" y="333756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29" name="Picture 28" descr="lg_iitd.png"/>
          <p:cNvPicPr>
            <a:picLocks noChangeAspect="1"/>
          </p:cNvPicPr>
          <p:nvPr/>
        </p:nvPicPr>
        <p:blipFill>
          <a:blip r:embed="rId11"/>
          <a:stretch>
            <a:fillRect/>
          </a:stretch>
        </p:blipFill>
        <p:spPr>
          <a:xfrm>
            <a:off x="2361751" y="3447288"/>
            <a:ext cx="488578" cy="493776"/>
          </a:xfrm>
          <a:prstGeom prst="rect">
            <a:avLst/>
          </a:prstGeom>
        </p:spPr>
      </p:pic>
      <p:sp>
        <p:nvSpPr>
          <p:cNvPr id="30" name="Rounded Rectangle 29"/>
          <p:cNvSpPr/>
          <p:nvPr/>
        </p:nvSpPr>
        <p:spPr>
          <a:xfrm>
            <a:off x="3346704" y="333756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31" name="Picture 30" descr="lg_nitc.png"/>
          <p:cNvPicPr>
            <a:picLocks noChangeAspect="1"/>
          </p:cNvPicPr>
          <p:nvPr/>
        </p:nvPicPr>
        <p:blipFill>
          <a:blip r:embed="rId12"/>
          <a:stretch>
            <a:fillRect/>
          </a:stretch>
        </p:blipFill>
        <p:spPr>
          <a:xfrm>
            <a:off x="3784951" y="3447288"/>
            <a:ext cx="421954" cy="493776"/>
          </a:xfrm>
          <a:prstGeom prst="rect">
            <a:avLst/>
          </a:prstGeom>
        </p:spPr>
      </p:pic>
      <p:sp>
        <p:nvSpPr>
          <p:cNvPr id="32" name="Rounded Rectangle 31"/>
          <p:cNvSpPr/>
          <p:nvPr/>
        </p:nvSpPr>
        <p:spPr>
          <a:xfrm>
            <a:off x="4736592" y="333756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33" name="Picture 32" descr="lg_u29.png"/>
          <p:cNvPicPr>
            <a:picLocks noChangeAspect="1"/>
          </p:cNvPicPr>
          <p:nvPr/>
        </p:nvPicPr>
        <p:blipFill>
          <a:blip r:embed="rId13"/>
          <a:stretch>
            <a:fillRect/>
          </a:stretch>
        </p:blipFill>
        <p:spPr>
          <a:xfrm>
            <a:off x="5136329" y="3447288"/>
            <a:ext cx="498973" cy="493776"/>
          </a:xfrm>
          <a:prstGeom prst="rect">
            <a:avLst/>
          </a:prstGeom>
        </p:spPr>
      </p:pic>
      <p:sp>
        <p:nvSpPr>
          <p:cNvPr id="34" name="Rounded Rectangle 33"/>
          <p:cNvSpPr/>
          <p:nvPr/>
        </p:nvSpPr>
        <p:spPr>
          <a:xfrm>
            <a:off x="6126480" y="333756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35" name="Picture 34" descr="lg_u30.png"/>
          <p:cNvPicPr>
            <a:picLocks noChangeAspect="1"/>
          </p:cNvPicPr>
          <p:nvPr/>
        </p:nvPicPr>
        <p:blipFill>
          <a:blip r:embed="rId14"/>
          <a:stretch>
            <a:fillRect/>
          </a:stretch>
        </p:blipFill>
        <p:spPr>
          <a:xfrm>
            <a:off x="6453450" y="3447288"/>
            <a:ext cx="644507" cy="493776"/>
          </a:xfrm>
          <a:prstGeom prst="rect">
            <a:avLst/>
          </a:prstGeom>
        </p:spPr>
      </p:pic>
      <p:sp>
        <p:nvSpPr>
          <p:cNvPr id="36" name="Rounded Rectangle 35"/>
          <p:cNvSpPr/>
          <p:nvPr/>
        </p:nvSpPr>
        <p:spPr>
          <a:xfrm>
            <a:off x="7516368" y="333756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37" name="Picture 36" descr="lg_u25.png"/>
          <p:cNvPicPr>
            <a:picLocks noChangeAspect="1"/>
          </p:cNvPicPr>
          <p:nvPr/>
        </p:nvPicPr>
        <p:blipFill>
          <a:blip r:embed="rId15"/>
          <a:stretch>
            <a:fillRect/>
          </a:stretch>
        </p:blipFill>
        <p:spPr>
          <a:xfrm>
            <a:off x="7918704" y="3447288"/>
            <a:ext cx="493776" cy="493776"/>
          </a:xfrm>
          <a:prstGeom prst="rect">
            <a:avLst/>
          </a:prstGeom>
        </p:spPr>
      </p:pic>
      <p:sp>
        <p:nvSpPr>
          <p:cNvPr id="38" name="Rounded Rectangle 37"/>
          <p:cNvSpPr/>
          <p:nvPr/>
        </p:nvSpPr>
        <p:spPr>
          <a:xfrm>
            <a:off x="8906256" y="333756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39" name="Picture 38" descr="lg_u22.png"/>
          <p:cNvPicPr>
            <a:picLocks noChangeAspect="1"/>
          </p:cNvPicPr>
          <p:nvPr/>
        </p:nvPicPr>
        <p:blipFill>
          <a:blip r:embed="rId16"/>
          <a:stretch>
            <a:fillRect/>
          </a:stretch>
        </p:blipFill>
        <p:spPr>
          <a:xfrm>
            <a:off x="9308592" y="3447288"/>
            <a:ext cx="493776" cy="493776"/>
          </a:xfrm>
          <a:prstGeom prst="rect">
            <a:avLst/>
          </a:prstGeom>
        </p:spPr>
      </p:pic>
      <p:sp>
        <p:nvSpPr>
          <p:cNvPr id="40" name="Rounded Rectangle 39"/>
          <p:cNvSpPr/>
          <p:nvPr/>
        </p:nvSpPr>
        <p:spPr>
          <a:xfrm>
            <a:off x="10296144" y="333756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41" name="Picture 40" descr="lg_u105.png"/>
          <p:cNvPicPr>
            <a:picLocks noChangeAspect="1"/>
          </p:cNvPicPr>
          <p:nvPr/>
        </p:nvPicPr>
        <p:blipFill>
          <a:blip r:embed="rId17"/>
          <a:stretch>
            <a:fillRect/>
          </a:stretch>
        </p:blipFill>
        <p:spPr>
          <a:xfrm>
            <a:off x="10698480" y="3447288"/>
            <a:ext cx="493776" cy="493776"/>
          </a:xfrm>
          <a:prstGeom prst="rect">
            <a:avLst/>
          </a:prstGeom>
        </p:spPr>
      </p:pic>
      <p:sp>
        <p:nvSpPr>
          <p:cNvPr id="42" name="TextBox 41"/>
          <p:cNvSpPr txBox="1"/>
          <p:nvPr/>
        </p:nvSpPr>
        <p:spPr>
          <a:xfrm>
            <a:off x="566928" y="4343400"/>
            <a:ext cx="10972800" cy="219456"/>
          </a:xfrm>
          <a:prstGeom prst="rect">
            <a:avLst/>
          </a:prstGeom>
          <a:noFill/>
        </p:spPr>
        <p:txBody>
          <a:bodyPr wrap="square" lIns="0" rIns="0" tIns="0" bIns="0" anchor="t">
            <a:spAutoFit/>
          </a:bodyPr>
          <a:lstStyle/>
          <a:p>
            <a:pPr algn="l">
              <a:lnSpc>
                <a:spcPct val="128000"/>
              </a:lnSpc>
            </a:pPr>
            <a:r>
              <a:rPr sz="850" b="1" i="0" spc="150">
                <a:solidFill>
                  <a:srgbClr val="6E7180"/>
                </a:solidFill>
                <a:latin typeface="Montserrat"/>
              </a:rPr>
              <a:t>EXPERT &amp; ECOSYSTEM PARTNERS</a:t>
            </a:r>
          </a:p>
        </p:txBody>
      </p:sp>
      <p:sp>
        <p:nvSpPr>
          <p:cNvPr id="43" name="Rounded Rectangle 42"/>
          <p:cNvSpPr/>
          <p:nvPr/>
        </p:nvSpPr>
        <p:spPr>
          <a:xfrm>
            <a:off x="566928" y="461772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44" name="Picture 43" descr="lg_tripc.png"/>
          <p:cNvPicPr>
            <a:picLocks noChangeAspect="1"/>
          </p:cNvPicPr>
          <p:nvPr/>
        </p:nvPicPr>
        <p:blipFill>
          <a:blip r:embed="rId18"/>
          <a:stretch>
            <a:fillRect/>
          </a:stretch>
        </p:blipFill>
        <p:spPr>
          <a:xfrm>
            <a:off x="676656" y="4823014"/>
            <a:ext cx="1078992" cy="302644"/>
          </a:xfrm>
          <a:prstGeom prst="rect">
            <a:avLst/>
          </a:prstGeom>
        </p:spPr>
      </p:pic>
      <p:sp>
        <p:nvSpPr>
          <p:cNvPr id="45" name="Rounded Rectangle 44"/>
          <p:cNvSpPr/>
          <p:nvPr/>
        </p:nvSpPr>
        <p:spPr>
          <a:xfrm>
            <a:off x="1956816" y="461772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46" name="Picture 45" descr="lg_niua.png"/>
          <p:cNvPicPr>
            <a:picLocks noChangeAspect="1"/>
          </p:cNvPicPr>
          <p:nvPr/>
        </p:nvPicPr>
        <p:blipFill>
          <a:blip r:embed="rId19"/>
          <a:stretch>
            <a:fillRect/>
          </a:stretch>
        </p:blipFill>
        <p:spPr>
          <a:xfrm>
            <a:off x="2066544" y="4762204"/>
            <a:ext cx="1078992" cy="424263"/>
          </a:xfrm>
          <a:prstGeom prst="rect">
            <a:avLst/>
          </a:prstGeom>
        </p:spPr>
      </p:pic>
      <p:sp>
        <p:nvSpPr>
          <p:cNvPr id="47" name="Rounded Rectangle 46"/>
          <p:cNvSpPr/>
          <p:nvPr/>
        </p:nvSpPr>
        <p:spPr>
          <a:xfrm>
            <a:off x="3346704" y="461772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48" name="Picture 47" descr="lg_omi.png"/>
          <p:cNvPicPr>
            <a:picLocks noChangeAspect="1"/>
          </p:cNvPicPr>
          <p:nvPr/>
        </p:nvPicPr>
        <p:blipFill>
          <a:blip r:embed="rId20"/>
          <a:stretch>
            <a:fillRect/>
          </a:stretch>
        </p:blipFill>
        <p:spPr>
          <a:xfrm>
            <a:off x="3632379" y="4727448"/>
            <a:ext cx="727098" cy="493776"/>
          </a:xfrm>
          <a:prstGeom prst="rect">
            <a:avLst/>
          </a:prstGeom>
        </p:spPr>
      </p:pic>
      <p:sp>
        <p:nvSpPr>
          <p:cNvPr id="49" name="Rounded Rectangle 48"/>
          <p:cNvSpPr/>
          <p:nvPr/>
        </p:nvSpPr>
        <p:spPr>
          <a:xfrm>
            <a:off x="4736592" y="461772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50" name="Picture 49" descr="lg_wri.png"/>
          <p:cNvPicPr>
            <a:picLocks noChangeAspect="1"/>
          </p:cNvPicPr>
          <p:nvPr/>
        </p:nvPicPr>
        <p:blipFill>
          <a:blip r:embed="rId21"/>
          <a:stretch>
            <a:fillRect/>
          </a:stretch>
        </p:blipFill>
        <p:spPr>
          <a:xfrm>
            <a:off x="4846320" y="4781659"/>
            <a:ext cx="1078992" cy="385354"/>
          </a:xfrm>
          <a:prstGeom prst="rect">
            <a:avLst/>
          </a:prstGeom>
        </p:spPr>
      </p:pic>
      <p:sp>
        <p:nvSpPr>
          <p:cNvPr id="51" name="Rounded Rectangle 50"/>
          <p:cNvSpPr/>
          <p:nvPr/>
        </p:nvSpPr>
        <p:spPr>
          <a:xfrm>
            <a:off x="6126480" y="461772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52" name="Picture 51" descr="lg_cii.png"/>
          <p:cNvPicPr>
            <a:picLocks noChangeAspect="1"/>
          </p:cNvPicPr>
          <p:nvPr/>
        </p:nvPicPr>
        <p:blipFill>
          <a:blip r:embed="rId22"/>
          <a:stretch>
            <a:fillRect/>
          </a:stretch>
        </p:blipFill>
        <p:spPr>
          <a:xfrm>
            <a:off x="6236208" y="4809382"/>
            <a:ext cx="1078992" cy="329907"/>
          </a:xfrm>
          <a:prstGeom prst="rect">
            <a:avLst/>
          </a:prstGeom>
        </p:spPr>
      </p:pic>
      <p:sp>
        <p:nvSpPr>
          <p:cNvPr id="53" name="Rounded Rectangle 52"/>
          <p:cNvSpPr/>
          <p:nvPr/>
        </p:nvSpPr>
        <p:spPr>
          <a:xfrm>
            <a:off x="7516368" y="461772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54" name="Picture 53" descr="lg_gic.png"/>
          <p:cNvPicPr>
            <a:picLocks noChangeAspect="1"/>
          </p:cNvPicPr>
          <p:nvPr/>
        </p:nvPicPr>
        <p:blipFill>
          <a:blip r:embed="rId23"/>
          <a:stretch>
            <a:fillRect/>
          </a:stretch>
        </p:blipFill>
        <p:spPr>
          <a:xfrm>
            <a:off x="7705051" y="4727448"/>
            <a:ext cx="921082" cy="493776"/>
          </a:xfrm>
          <a:prstGeom prst="rect">
            <a:avLst/>
          </a:prstGeom>
        </p:spPr>
      </p:pic>
      <p:sp>
        <p:nvSpPr>
          <p:cNvPr id="55" name="Rounded Rectangle 54"/>
          <p:cNvSpPr/>
          <p:nvPr/>
        </p:nvSpPr>
        <p:spPr>
          <a:xfrm>
            <a:off x="8906256" y="461772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56" name="Picture 55" descr="lg_iffco.png"/>
          <p:cNvPicPr>
            <a:picLocks noChangeAspect="1"/>
          </p:cNvPicPr>
          <p:nvPr/>
        </p:nvPicPr>
        <p:blipFill>
          <a:blip r:embed="rId24"/>
          <a:stretch>
            <a:fillRect/>
          </a:stretch>
        </p:blipFill>
        <p:spPr>
          <a:xfrm>
            <a:off x="9116286" y="4727448"/>
            <a:ext cx="878388" cy="493776"/>
          </a:xfrm>
          <a:prstGeom prst="rect">
            <a:avLst/>
          </a:prstGeom>
        </p:spPr>
      </p:pic>
      <p:sp>
        <p:nvSpPr>
          <p:cNvPr id="57" name="Rounded Rectangle 56"/>
          <p:cNvSpPr/>
          <p:nvPr/>
        </p:nvSpPr>
        <p:spPr>
          <a:xfrm>
            <a:off x="10296144" y="461772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58" name="Picture 57" descr="lg_nia.png"/>
          <p:cNvPicPr>
            <a:picLocks noChangeAspect="1"/>
          </p:cNvPicPr>
          <p:nvPr/>
        </p:nvPicPr>
        <p:blipFill>
          <a:blip r:embed="rId25"/>
          <a:stretch>
            <a:fillRect/>
          </a:stretch>
        </p:blipFill>
        <p:spPr>
          <a:xfrm>
            <a:off x="10405872" y="4769184"/>
            <a:ext cx="1078992" cy="410304"/>
          </a:xfrm>
          <a:prstGeom prst="rect">
            <a:avLst/>
          </a:prstGeom>
        </p:spPr>
      </p:pic>
      <p:sp>
        <p:nvSpPr>
          <p:cNvPr id="59" name="Rounded Rectangle 58"/>
          <p:cNvSpPr/>
          <p:nvPr/>
        </p:nvSpPr>
        <p:spPr>
          <a:xfrm>
            <a:off x="566928" y="5623560"/>
            <a:ext cx="11057839" cy="548640"/>
          </a:xfrm>
          <a:prstGeom prst="roundRect">
            <a:avLst>
              <a:gd name="adj" fmla="val 14000"/>
            </a:avLst>
          </a:prstGeom>
          <a:solidFill>
            <a:srgbClr val="F7F7FA"/>
          </a:solidFill>
          <a:ln>
            <a:noFill/>
          </a:ln>
          <a:effectLst/>
        </p:spPr>
        <p:txBody>
          <a:bodyPr rtlCol="0" anchor="ctr"/>
          <a:lstStyle/>
          <a:p>
            <a:pPr algn="ctr"/>
          </a:p>
        </p:txBody>
      </p:sp>
      <p:sp>
        <p:nvSpPr>
          <p:cNvPr id="60" name="TextBox 59"/>
          <p:cNvSpPr txBox="1"/>
          <p:nvPr/>
        </p:nvSpPr>
        <p:spPr>
          <a:xfrm>
            <a:off x="768096" y="5715000"/>
            <a:ext cx="10646359" cy="384048"/>
          </a:xfrm>
          <a:prstGeom prst="rect">
            <a:avLst/>
          </a:prstGeom>
          <a:noFill/>
        </p:spPr>
        <p:txBody>
          <a:bodyPr wrap="square" lIns="0" rIns="0" tIns="0" bIns="0" anchor="t">
            <a:spAutoFit/>
          </a:bodyPr>
          <a:lstStyle/>
          <a:p>
            <a:pPr algn="l">
              <a:lnSpc>
                <a:spcPct val="120000"/>
              </a:lnSpc>
            </a:pPr>
            <a:r>
              <a:rPr sz="950" b="1" i="0">
                <a:solidFill>
                  <a:srgbClr val="16181D"/>
                </a:solidFill>
                <a:latin typeface="Geist"/>
              </a:rPr>
              <a:t>Plus: </a:t>
            </a:r>
            <a:r>
              <a:rPr sz="950" b="0" i="0">
                <a:solidFill>
                  <a:srgbClr val="6E7180"/>
                </a:solidFill>
                <a:latin typeface="Geist"/>
              </a:rPr>
              <a:t>Jaipur Traffic Police &amp; Gurugram Police (MoUs) · CPWD &amp; district administrations · Bloomberg, Johns Hopkins, Centre for Green Mobility and PwC experts on juries and reviews.</a:t>
            </a:r>
          </a:p>
        </p:txBody>
      </p:sp>
      <p:cxnSp>
        <p:nvCxnSpPr>
          <p:cNvPr id="61" name="Connector 60"/>
          <p:cNvCxnSpPr/>
          <p:nvPr/>
        </p:nvCxnSpPr>
        <p:spPr>
          <a:xfrm>
            <a:off x="566928" y="6455664"/>
            <a:ext cx="11057839" cy="0"/>
          </a:xfrm>
          <a:prstGeom prst="line">
            <a:avLst/>
          </a:prstGeom>
          <a:ln w="9525">
            <a:solidFill>
              <a:srgbClr val="E8E9EE"/>
            </a:solidFill>
          </a:ln>
          <a:effectLst/>
        </p:spPr>
      </p:cxnSp>
      <p:sp>
        <p:nvSpPr>
          <p:cNvPr id="62" name="TextBox 61"/>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3</a:t>
            </a:r>
          </a:p>
        </p:txBody>
      </p:sp>
      <p:sp>
        <p:nvSpPr>
          <p:cNvPr id="63" name="TextBox 62"/>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14 / 26</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3 OF 5  ·  OUR PEOPLE</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03 · OUR PEOPLE</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A full-time team </a:t>
            </a:r>
            <a:r>
              <a:rPr sz="2250" b="1" i="0">
                <a:solidFill>
                  <a:srgbClr val="4A35FF"/>
                </a:solidFill>
                <a:latin typeface="Montserrat"/>
              </a:rPr>
              <a:t>built for this work</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Engineering, law, policy, product and field operations, under trustees who have led Indian road safety for a decade.</a:t>
            </a:r>
          </a:p>
        </p:txBody>
      </p:sp>
      <p:sp>
        <p:nvSpPr>
          <p:cNvPr id="8" name="Rounded Rectangle 7"/>
          <p:cNvSpPr/>
          <p:nvPr/>
        </p:nvSpPr>
        <p:spPr>
          <a:xfrm>
            <a:off x="566928" y="1883664"/>
            <a:ext cx="3630168" cy="859536"/>
          </a:xfrm>
          <a:prstGeom prst="roundRect">
            <a:avLst>
              <a:gd name="adj" fmla="val 10000"/>
            </a:avLst>
          </a:prstGeom>
          <a:solidFill>
            <a:srgbClr val="F7F7FA"/>
          </a:solidFill>
          <a:ln>
            <a:noFill/>
          </a:ln>
          <a:effectLst/>
        </p:spPr>
        <p:txBody>
          <a:bodyPr rtlCol="0" anchor="ctr"/>
          <a:lstStyle/>
          <a:p>
            <a:pPr algn="ctr"/>
          </a:p>
        </p:txBody>
      </p:sp>
      <p:pic>
        <p:nvPicPr>
          <p:cNvPr id="9" name="Picture 8" descr="t_amar.png"/>
          <p:cNvPicPr>
            <a:picLocks noChangeAspect="1"/>
          </p:cNvPicPr>
          <p:nvPr/>
        </p:nvPicPr>
        <p:blipFill>
          <a:blip r:embed="rId2"/>
          <a:stretch>
            <a:fillRect/>
          </a:stretch>
        </p:blipFill>
        <p:spPr>
          <a:xfrm>
            <a:off x="685800" y="1993392"/>
            <a:ext cx="640080" cy="640080"/>
          </a:xfrm>
          <a:prstGeom prst="rect">
            <a:avLst/>
          </a:prstGeom>
        </p:spPr>
      </p:pic>
      <p:sp>
        <p:nvSpPr>
          <p:cNvPr id="10" name="TextBox 9"/>
          <p:cNvSpPr txBox="1"/>
          <p:nvPr/>
        </p:nvSpPr>
        <p:spPr>
          <a:xfrm>
            <a:off x="1463040" y="1965960"/>
            <a:ext cx="2651760" cy="292608"/>
          </a:xfrm>
          <a:prstGeom prst="rect">
            <a:avLst/>
          </a:prstGeom>
          <a:noFill/>
        </p:spPr>
        <p:txBody>
          <a:bodyPr wrap="square" lIns="0" rIns="0" tIns="0" bIns="0" anchor="t">
            <a:spAutoFit/>
          </a:bodyPr>
          <a:lstStyle/>
          <a:p>
            <a:pPr algn="l">
              <a:lnSpc>
                <a:spcPct val="128000"/>
              </a:lnSpc>
            </a:pPr>
            <a:r>
              <a:rPr sz="1050" b="1" i="0">
                <a:solidFill>
                  <a:srgbClr val="16181D"/>
                </a:solidFill>
                <a:latin typeface="Montserrat"/>
              </a:rPr>
              <a:t>Amar Srivastava</a:t>
            </a:r>
          </a:p>
        </p:txBody>
      </p:sp>
      <p:sp>
        <p:nvSpPr>
          <p:cNvPr id="11" name="TextBox 10"/>
          <p:cNvSpPr txBox="1"/>
          <p:nvPr/>
        </p:nvSpPr>
        <p:spPr>
          <a:xfrm>
            <a:off x="1463040" y="2240280"/>
            <a:ext cx="2651760" cy="502920"/>
          </a:xfrm>
          <a:prstGeom prst="rect">
            <a:avLst/>
          </a:prstGeom>
          <a:noFill/>
        </p:spPr>
        <p:txBody>
          <a:bodyPr wrap="square" lIns="0" rIns="0" tIns="0" bIns="0" anchor="t">
            <a:spAutoFit/>
          </a:bodyPr>
          <a:lstStyle/>
          <a:p>
            <a:pPr algn="l">
              <a:lnSpc>
                <a:spcPct val="115000"/>
              </a:lnSpc>
            </a:pPr>
            <a:r>
              <a:rPr sz="800" b="0" i="0">
                <a:solidFill>
                  <a:srgbClr val="6E7180"/>
                </a:solidFill>
                <a:latin typeface="Geist"/>
              </a:rPr>
              <a:t>President · Founder, Indian Road Safety Campaign · Member, National Road Safety Council</a:t>
            </a:r>
          </a:p>
        </p:txBody>
      </p:sp>
      <p:sp>
        <p:nvSpPr>
          <p:cNvPr id="12" name="Rounded Rectangle 11"/>
          <p:cNvSpPr/>
          <p:nvPr/>
        </p:nvSpPr>
        <p:spPr>
          <a:xfrm>
            <a:off x="4279391" y="1883664"/>
            <a:ext cx="3630168" cy="859536"/>
          </a:xfrm>
          <a:prstGeom prst="roundRect">
            <a:avLst>
              <a:gd name="adj" fmla="val 10000"/>
            </a:avLst>
          </a:prstGeom>
          <a:solidFill>
            <a:srgbClr val="F7F7FA"/>
          </a:solidFill>
          <a:ln>
            <a:noFill/>
          </a:ln>
          <a:effectLst/>
        </p:spPr>
        <p:txBody>
          <a:bodyPr rtlCol="0" anchor="ctr"/>
          <a:lstStyle/>
          <a:p>
            <a:pPr algn="ctr"/>
          </a:p>
        </p:txBody>
      </p:sp>
      <p:pic>
        <p:nvPicPr>
          <p:cNvPr id="13" name="Picture 12" descr="t_deepanshu.png"/>
          <p:cNvPicPr>
            <a:picLocks noChangeAspect="1"/>
          </p:cNvPicPr>
          <p:nvPr/>
        </p:nvPicPr>
        <p:blipFill>
          <a:blip r:embed="rId3"/>
          <a:stretch>
            <a:fillRect/>
          </a:stretch>
        </p:blipFill>
        <p:spPr>
          <a:xfrm>
            <a:off x="4398263" y="1993392"/>
            <a:ext cx="640080" cy="640080"/>
          </a:xfrm>
          <a:prstGeom prst="rect">
            <a:avLst/>
          </a:prstGeom>
        </p:spPr>
      </p:pic>
      <p:sp>
        <p:nvSpPr>
          <p:cNvPr id="14" name="TextBox 13"/>
          <p:cNvSpPr txBox="1"/>
          <p:nvPr/>
        </p:nvSpPr>
        <p:spPr>
          <a:xfrm>
            <a:off x="5175503" y="1965960"/>
            <a:ext cx="2651760" cy="292608"/>
          </a:xfrm>
          <a:prstGeom prst="rect">
            <a:avLst/>
          </a:prstGeom>
          <a:noFill/>
        </p:spPr>
        <p:txBody>
          <a:bodyPr wrap="square" lIns="0" rIns="0" tIns="0" bIns="0" anchor="t">
            <a:spAutoFit/>
          </a:bodyPr>
          <a:lstStyle/>
          <a:p>
            <a:pPr algn="l">
              <a:lnSpc>
                <a:spcPct val="128000"/>
              </a:lnSpc>
            </a:pPr>
            <a:r>
              <a:rPr sz="1050" b="1" i="0">
                <a:solidFill>
                  <a:srgbClr val="16181D"/>
                </a:solidFill>
                <a:latin typeface="Montserrat"/>
              </a:rPr>
              <a:t>Deepanshu Gupta</a:t>
            </a:r>
          </a:p>
        </p:txBody>
      </p:sp>
      <p:sp>
        <p:nvSpPr>
          <p:cNvPr id="15" name="TextBox 14"/>
          <p:cNvSpPr txBox="1"/>
          <p:nvPr/>
        </p:nvSpPr>
        <p:spPr>
          <a:xfrm>
            <a:off x="5175503" y="2240280"/>
            <a:ext cx="2651760" cy="502920"/>
          </a:xfrm>
          <a:prstGeom prst="rect">
            <a:avLst/>
          </a:prstGeom>
          <a:noFill/>
        </p:spPr>
        <p:txBody>
          <a:bodyPr wrap="square" lIns="0" rIns="0" tIns="0" bIns="0" anchor="t">
            <a:spAutoFit/>
          </a:bodyPr>
          <a:lstStyle/>
          <a:p>
            <a:pPr algn="l">
              <a:lnSpc>
                <a:spcPct val="115000"/>
              </a:lnSpc>
            </a:pPr>
            <a:r>
              <a:rPr sz="800" b="0" i="0">
                <a:solidFill>
                  <a:srgbClr val="6E7180"/>
                </a:solidFill>
                <a:latin typeface="Geist"/>
              </a:rPr>
              <a:t>Managing Trustee · Founder, IRSC · Global Youth Coalition for Road Safety</a:t>
            </a:r>
          </a:p>
        </p:txBody>
      </p:sp>
      <p:sp>
        <p:nvSpPr>
          <p:cNvPr id="16" name="Rounded Rectangle 15"/>
          <p:cNvSpPr/>
          <p:nvPr/>
        </p:nvSpPr>
        <p:spPr>
          <a:xfrm>
            <a:off x="7991854" y="1883664"/>
            <a:ext cx="3630168" cy="859536"/>
          </a:xfrm>
          <a:prstGeom prst="roundRect">
            <a:avLst>
              <a:gd name="adj" fmla="val 10000"/>
            </a:avLst>
          </a:prstGeom>
          <a:solidFill>
            <a:srgbClr val="F7F7FA"/>
          </a:solidFill>
          <a:ln>
            <a:noFill/>
          </a:ln>
          <a:effectLst/>
        </p:spPr>
        <p:txBody>
          <a:bodyPr rtlCol="0" anchor="ctr"/>
          <a:lstStyle/>
          <a:p>
            <a:pPr algn="ctr"/>
          </a:p>
        </p:txBody>
      </p:sp>
      <p:pic>
        <p:nvPicPr>
          <p:cNvPr id="17" name="Picture 16" descr="t_gajendra.png"/>
          <p:cNvPicPr>
            <a:picLocks noChangeAspect="1"/>
          </p:cNvPicPr>
          <p:nvPr/>
        </p:nvPicPr>
        <p:blipFill>
          <a:blip r:embed="rId4"/>
          <a:stretch>
            <a:fillRect/>
          </a:stretch>
        </p:blipFill>
        <p:spPr>
          <a:xfrm>
            <a:off x="8110726" y="1993392"/>
            <a:ext cx="640080" cy="640080"/>
          </a:xfrm>
          <a:prstGeom prst="rect">
            <a:avLst/>
          </a:prstGeom>
        </p:spPr>
      </p:pic>
      <p:sp>
        <p:nvSpPr>
          <p:cNvPr id="18" name="TextBox 17"/>
          <p:cNvSpPr txBox="1"/>
          <p:nvPr/>
        </p:nvSpPr>
        <p:spPr>
          <a:xfrm>
            <a:off x="8887966" y="1965960"/>
            <a:ext cx="2651760" cy="292608"/>
          </a:xfrm>
          <a:prstGeom prst="rect">
            <a:avLst/>
          </a:prstGeom>
          <a:noFill/>
        </p:spPr>
        <p:txBody>
          <a:bodyPr wrap="square" lIns="0" rIns="0" tIns="0" bIns="0" anchor="t">
            <a:spAutoFit/>
          </a:bodyPr>
          <a:lstStyle/>
          <a:p>
            <a:pPr algn="l">
              <a:lnSpc>
                <a:spcPct val="128000"/>
              </a:lnSpc>
            </a:pPr>
            <a:r>
              <a:rPr sz="1050" b="1" i="0">
                <a:solidFill>
                  <a:srgbClr val="16181D"/>
                </a:solidFill>
                <a:latin typeface="Montserrat"/>
              </a:rPr>
              <a:t>Gajendra Jangid</a:t>
            </a:r>
          </a:p>
        </p:txBody>
      </p:sp>
      <p:sp>
        <p:nvSpPr>
          <p:cNvPr id="19" name="TextBox 18"/>
          <p:cNvSpPr txBox="1"/>
          <p:nvPr/>
        </p:nvSpPr>
        <p:spPr>
          <a:xfrm>
            <a:off x="8887966" y="2240280"/>
            <a:ext cx="2651760" cy="502920"/>
          </a:xfrm>
          <a:prstGeom prst="rect">
            <a:avLst/>
          </a:prstGeom>
          <a:noFill/>
        </p:spPr>
        <p:txBody>
          <a:bodyPr wrap="square" lIns="0" rIns="0" tIns="0" bIns="0" anchor="t">
            <a:spAutoFit/>
          </a:bodyPr>
          <a:lstStyle/>
          <a:p>
            <a:pPr algn="l">
              <a:lnSpc>
                <a:spcPct val="115000"/>
              </a:lnSpc>
            </a:pPr>
            <a:r>
              <a:rPr sz="800" b="0" i="0">
                <a:solidFill>
                  <a:srgbClr val="6E7180"/>
                </a:solidFill>
                <a:latin typeface="Geist"/>
              </a:rPr>
              <a:t>General Secretary · Co-founder, Cars24</a:t>
            </a:r>
          </a:p>
        </p:txBody>
      </p:sp>
      <p:sp>
        <p:nvSpPr>
          <p:cNvPr id="20" name="TextBox 19"/>
          <p:cNvSpPr txBox="1"/>
          <p:nvPr/>
        </p:nvSpPr>
        <p:spPr>
          <a:xfrm>
            <a:off x="566928" y="2944368"/>
            <a:ext cx="10972800" cy="237744"/>
          </a:xfrm>
          <a:prstGeom prst="rect">
            <a:avLst/>
          </a:prstGeom>
          <a:noFill/>
        </p:spPr>
        <p:txBody>
          <a:bodyPr wrap="square" lIns="0" rIns="0" tIns="0" bIns="0" anchor="t">
            <a:spAutoFit/>
          </a:bodyPr>
          <a:lstStyle/>
          <a:p>
            <a:pPr algn="l">
              <a:lnSpc>
                <a:spcPct val="128000"/>
              </a:lnSpc>
            </a:pPr>
            <a:r>
              <a:rPr sz="850" b="1" i="0" spc="150">
                <a:solidFill>
                  <a:srgbClr val="6E7180"/>
                </a:solidFill>
                <a:latin typeface="Montserrat"/>
              </a:rPr>
              <a:t>THE FULL-TIME TEAM</a:t>
            </a:r>
          </a:p>
        </p:txBody>
      </p:sp>
      <p:pic>
        <p:nvPicPr>
          <p:cNvPr id="21" name="Picture 20" descr="t_akhtar.png"/>
          <p:cNvPicPr>
            <a:picLocks noChangeAspect="1"/>
          </p:cNvPicPr>
          <p:nvPr/>
        </p:nvPicPr>
        <p:blipFill>
          <a:blip r:embed="rId5"/>
          <a:stretch>
            <a:fillRect/>
          </a:stretch>
        </p:blipFill>
        <p:spPr>
          <a:xfrm>
            <a:off x="566928" y="3273552"/>
            <a:ext cx="530352" cy="530352"/>
          </a:xfrm>
          <a:prstGeom prst="rect">
            <a:avLst/>
          </a:prstGeom>
        </p:spPr>
      </p:pic>
      <p:sp>
        <p:nvSpPr>
          <p:cNvPr id="22" name="TextBox 21"/>
          <p:cNvSpPr txBox="1"/>
          <p:nvPr/>
        </p:nvSpPr>
        <p:spPr>
          <a:xfrm>
            <a:off x="1225296" y="3236976"/>
            <a:ext cx="2999232" cy="274320"/>
          </a:xfrm>
          <a:prstGeom prst="rect">
            <a:avLst/>
          </a:prstGeom>
          <a:noFill/>
        </p:spPr>
        <p:txBody>
          <a:bodyPr wrap="square" lIns="0" rIns="0" tIns="0" bIns="0" anchor="t">
            <a:spAutoFit/>
          </a:bodyPr>
          <a:lstStyle/>
          <a:p>
            <a:pPr algn="l">
              <a:lnSpc>
                <a:spcPct val="100000"/>
              </a:lnSpc>
            </a:pPr>
            <a:r>
              <a:rPr sz="950" b="1" i="0">
                <a:solidFill>
                  <a:srgbClr val="16181D"/>
                </a:solidFill>
                <a:latin typeface="Geist"/>
              </a:rPr>
              <a:t>Akhtar Hussain  </a:t>
            </a:r>
            <a:r>
              <a:rPr sz="800" b="1" i="0">
                <a:solidFill>
                  <a:srgbClr val="4A35FF"/>
                </a:solidFill>
                <a:latin typeface="Geist"/>
              </a:rPr>
              <a:t>Mission Lead</a:t>
            </a:r>
          </a:p>
        </p:txBody>
      </p:sp>
      <p:sp>
        <p:nvSpPr>
          <p:cNvPr id="23" name="TextBox 22"/>
          <p:cNvSpPr txBox="1"/>
          <p:nvPr/>
        </p:nvSpPr>
        <p:spPr>
          <a:xfrm>
            <a:off x="1225296" y="3456432"/>
            <a:ext cx="2999232" cy="457200"/>
          </a:xfrm>
          <a:prstGeom prst="rect">
            <a:avLst/>
          </a:prstGeom>
          <a:noFill/>
        </p:spPr>
        <p:txBody>
          <a:bodyPr wrap="square" lIns="0" rIns="0" tIns="0" bIns="0" anchor="t">
            <a:spAutoFit/>
          </a:bodyPr>
          <a:lstStyle/>
          <a:p>
            <a:pPr algn="l">
              <a:lnSpc>
                <a:spcPct val="112000"/>
              </a:lnSpc>
            </a:pPr>
            <a:r>
              <a:rPr sz="750" b="0" i="0">
                <a:solidFill>
                  <a:srgbClr val="6E7180"/>
                </a:solidFill>
                <a:latin typeface="Geist"/>
              </a:rPr>
              <a:t>IIT Delhi · ex-Bain · strategy, programmes, new initiatives, partnerships and product</a:t>
            </a:r>
          </a:p>
        </p:txBody>
      </p:sp>
      <p:pic>
        <p:nvPicPr>
          <p:cNvPr id="24" name="Picture 23" descr="t_shubham.png"/>
          <p:cNvPicPr>
            <a:picLocks noChangeAspect="1"/>
          </p:cNvPicPr>
          <p:nvPr/>
        </p:nvPicPr>
        <p:blipFill>
          <a:blip r:embed="rId6"/>
          <a:stretch>
            <a:fillRect/>
          </a:stretch>
        </p:blipFill>
        <p:spPr>
          <a:xfrm>
            <a:off x="4279391" y="3273552"/>
            <a:ext cx="530352" cy="530352"/>
          </a:xfrm>
          <a:prstGeom prst="rect">
            <a:avLst/>
          </a:prstGeom>
        </p:spPr>
      </p:pic>
      <p:sp>
        <p:nvSpPr>
          <p:cNvPr id="25" name="TextBox 24"/>
          <p:cNvSpPr txBox="1"/>
          <p:nvPr/>
        </p:nvSpPr>
        <p:spPr>
          <a:xfrm>
            <a:off x="4937759" y="3236976"/>
            <a:ext cx="2999232" cy="274320"/>
          </a:xfrm>
          <a:prstGeom prst="rect">
            <a:avLst/>
          </a:prstGeom>
          <a:noFill/>
        </p:spPr>
        <p:txBody>
          <a:bodyPr wrap="square" lIns="0" rIns="0" tIns="0" bIns="0" anchor="t">
            <a:spAutoFit/>
          </a:bodyPr>
          <a:lstStyle/>
          <a:p>
            <a:pPr algn="l">
              <a:lnSpc>
                <a:spcPct val="100000"/>
              </a:lnSpc>
            </a:pPr>
            <a:r>
              <a:rPr sz="950" b="1" i="0">
                <a:solidFill>
                  <a:srgbClr val="16181D"/>
                </a:solidFill>
                <a:latin typeface="Geist"/>
              </a:rPr>
              <a:t>Shubham Kumar  </a:t>
            </a:r>
            <a:r>
              <a:rPr sz="800" b="1" i="0">
                <a:solidFill>
                  <a:srgbClr val="4A35FF"/>
                </a:solidFill>
                <a:latin typeface="Geist"/>
              </a:rPr>
              <a:t>Policy &amp; Advocacy</a:t>
            </a:r>
          </a:p>
        </p:txBody>
      </p:sp>
      <p:sp>
        <p:nvSpPr>
          <p:cNvPr id="26" name="TextBox 25"/>
          <p:cNvSpPr txBox="1"/>
          <p:nvPr/>
        </p:nvSpPr>
        <p:spPr>
          <a:xfrm>
            <a:off x="4937759" y="3456432"/>
            <a:ext cx="2999232" cy="457200"/>
          </a:xfrm>
          <a:prstGeom prst="rect">
            <a:avLst/>
          </a:prstGeom>
          <a:noFill/>
        </p:spPr>
        <p:txBody>
          <a:bodyPr wrap="square" lIns="0" rIns="0" tIns="0" bIns="0" anchor="t">
            <a:spAutoFit/>
          </a:bodyPr>
          <a:lstStyle/>
          <a:p>
            <a:pPr algn="l">
              <a:lnSpc>
                <a:spcPct val="112000"/>
              </a:lnSpc>
            </a:pPr>
            <a:r>
              <a:rPr sz="750" b="0" i="0">
                <a:solidFill>
                  <a:srgbClr val="6E7180"/>
                </a:solidFill>
                <a:latin typeface="Geist"/>
              </a:rPr>
              <a:t>NALSAR Hyderabad · programmes, policy advocacy, legal research, government relations</a:t>
            </a:r>
          </a:p>
        </p:txBody>
      </p:sp>
      <p:pic>
        <p:nvPicPr>
          <p:cNvPr id="27" name="Picture 26" descr="t_muskan.png"/>
          <p:cNvPicPr>
            <a:picLocks noChangeAspect="1"/>
          </p:cNvPicPr>
          <p:nvPr/>
        </p:nvPicPr>
        <p:blipFill>
          <a:blip r:embed="rId7"/>
          <a:stretch>
            <a:fillRect/>
          </a:stretch>
        </p:blipFill>
        <p:spPr>
          <a:xfrm>
            <a:off x="7991854" y="3273552"/>
            <a:ext cx="530352" cy="530352"/>
          </a:xfrm>
          <a:prstGeom prst="rect">
            <a:avLst/>
          </a:prstGeom>
        </p:spPr>
      </p:pic>
      <p:sp>
        <p:nvSpPr>
          <p:cNvPr id="28" name="TextBox 27"/>
          <p:cNvSpPr txBox="1"/>
          <p:nvPr/>
        </p:nvSpPr>
        <p:spPr>
          <a:xfrm>
            <a:off x="8650222" y="3236976"/>
            <a:ext cx="2999232" cy="274320"/>
          </a:xfrm>
          <a:prstGeom prst="rect">
            <a:avLst/>
          </a:prstGeom>
          <a:noFill/>
        </p:spPr>
        <p:txBody>
          <a:bodyPr wrap="square" lIns="0" rIns="0" tIns="0" bIns="0" anchor="t">
            <a:spAutoFit/>
          </a:bodyPr>
          <a:lstStyle/>
          <a:p>
            <a:pPr algn="l">
              <a:lnSpc>
                <a:spcPct val="100000"/>
              </a:lnSpc>
            </a:pPr>
            <a:r>
              <a:rPr sz="950" b="1" i="0">
                <a:solidFill>
                  <a:srgbClr val="16181D"/>
                </a:solidFill>
                <a:latin typeface="Geist"/>
              </a:rPr>
              <a:t>Muskan Yadav  </a:t>
            </a:r>
            <a:r>
              <a:rPr sz="800" b="1" i="0">
                <a:solidFill>
                  <a:srgbClr val="4A35FF"/>
                </a:solidFill>
                <a:latin typeface="Geist"/>
              </a:rPr>
              <a:t>Programmes</a:t>
            </a:r>
          </a:p>
        </p:txBody>
      </p:sp>
      <p:sp>
        <p:nvSpPr>
          <p:cNvPr id="29" name="TextBox 28"/>
          <p:cNvSpPr txBox="1"/>
          <p:nvPr/>
        </p:nvSpPr>
        <p:spPr>
          <a:xfrm>
            <a:off x="8650222" y="3456432"/>
            <a:ext cx="2999232" cy="457200"/>
          </a:xfrm>
          <a:prstGeom prst="rect">
            <a:avLst/>
          </a:prstGeom>
          <a:noFill/>
        </p:spPr>
        <p:txBody>
          <a:bodyPr wrap="square" lIns="0" rIns="0" tIns="0" bIns="0" anchor="t">
            <a:spAutoFit/>
          </a:bodyPr>
          <a:lstStyle/>
          <a:p>
            <a:pPr algn="l">
              <a:lnSpc>
                <a:spcPct val="112000"/>
              </a:lnSpc>
            </a:pPr>
            <a:r>
              <a:rPr sz="750" b="0" i="0">
                <a:solidFill>
                  <a:srgbClr val="6E7180"/>
                </a:solidFill>
                <a:latin typeface="Geist"/>
              </a:rPr>
              <a:t>TISS · district programmes, Project Rakshak, infrastructure interventions, DRSC work</a:t>
            </a:r>
          </a:p>
        </p:txBody>
      </p:sp>
      <p:pic>
        <p:nvPicPr>
          <p:cNvPr id="30" name="Picture 29" descr="t_krishna.png"/>
          <p:cNvPicPr>
            <a:picLocks noChangeAspect="1"/>
          </p:cNvPicPr>
          <p:nvPr/>
        </p:nvPicPr>
        <p:blipFill>
          <a:blip r:embed="rId8"/>
          <a:stretch>
            <a:fillRect/>
          </a:stretch>
        </p:blipFill>
        <p:spPr>
          <a:xfrm>
            <a:off x="566928" y="3968496"/>
            <a:ext cx="530352" cy="530352"/>
          </a:xfrm>
          <a:prstGeom prst="rect">
            <a:avLst/>
          </a:prstGeom>
        </p:spPr>
      </p:pic>
      <p:sp>
        <p:nvSpPr>
          <p:cNvPr id="31" name="TextBox 30"/>
          <p:cNvSpPr txBox="1"/>
          <p:nvPr/>
        </p:nvSpPr>
        <p:spPr>
          <a:xfrm>
            <a:off x="1225296" y="3931920"/>
            <a:ext cx="2999232" cy="274320"/>
          </a:xfrm>
          <a:prstGeom prst="rect">
            <a:avLst/>
          </a:prstGeom>
          <a:noFill/>
        </p:spPr>
        <p:txBody>
          <a:bodyPr wrap="square" lIns="0" rIns="0" tIns="0" bIns="0" anchor="t">
            <a:spAutoFit/>
          </a:bodyPr>
          <a:lstStyle/>
          <a:p>
            <a:pPr algn="l">
              <a:lnSpc>
                <a:spcPct val="100000"/>
              </a:lnSpc>
            </a:pPr>
            <a:r>
              <a:rPr sz="950" b="1" i="0">
                <a:solidFill>
                  <a:srgbClr val="16181D"/>
                </a:solidFill>
                <a:latin typeface="Geist"/>
              </a:rPr>
              <a:t>Krishna Jain  </a:t>
            </a:r>
            <a:r>
              <a:rPr sz="800" b="1" i="0">
                <a:solidFill>
                  <a:srgbClr val="4A35FF"/>
                </a:solidFill>
                <a:latin typeface="Geist"/>
              </a:rPr>
              <a:t>Tech &amp; Product</a:t>
            </a:r>
          </a:p>
        </p:txBody>
      </p:sp>
      <p:sp>
        <p:nvSpPr>
          <p:cNvPr id="32" name="TextBox 31"/>
          <p:cNvSpPr txBox="1"/>
          <p:nvPr/>
        </p:nvSpPr>
        <p:spPr>
          <a:xfrm>
            <a:off x="1225296" y="4151376"/>
            <a:ext cx="2999232" cy="457200"/>
          </a:xfrm>
          <a:prstGeom prst="rect">
            <a:avLst/>
          </a:prstGeom>
          <a:noFill/>
        </p:spPr>
        <p:txBody>
          <a:bodyPr wrap="square" lIns="0" rIns="0" tIns="0" bIns="0" anchor="t">
            <a:spAutoFit/>
          </a:bodyPr>
          <a:lstStyle/>
          <a:p>
            <a:pPr algn="l">
              <a:lnSpc>
                <a:spcPct val="112000"/>
              </a:lnSpc>
            </a:pPr>
            <a:r>
              <a:rPr sz="750" b="0" i="0">
                <a:solidFill>
                  <a:srgbClr val="6E7180"/>
                </a:solidFill>
                <a:latin typeface="Geist"/>
              </a:rPr>
              <a:t>Builds and runs Aasha, SATARK and the open public data platforms</a:t>
            </a:r>
          </a:p>
        </p:txBody>
      </p:sp>
      <p:pic>
        <p:nvPicPr>
          <p:cNvPr id="33" name="Picture 32" descr="t_aastha.png"/>
          <p:cNvPicPr>
            <a:picLocks noChangeAspect="1"/>
          </p:cNvPicPr>
          <p:nvPr/>
        </p:nvPicPr>
        <p:blipFill>
          <a:blip r:embed="rId9"/>
          <a:stretch>
            <a:fillRect/>
          </a:stretch>
        </p:blipFill>
        <p:spPr>
          <a:xfrm>
            <a:off x="4279391" y="3968496"/>
            <a:ext cx="530352" cy="530352"/>
          </a:xfrm>
          <a:prstGeom prst="rect">
            <a:avLst/>
          </a:prstGeom>
        </p:spPr>
      </p:pic>
      <p:sp>
        <p:nvSpPr>
          <p:cNvPr id="34" name="TextBox 33"/>
          <p:cNvSpPr txBox="1"/>
          <p:nvPr/>
        </p:nvSpPr>
        <p:spPr>
          <a:xfrm>
            <a:off x="4937759" y="3931920"/>
            <a:ext cx="2999232" cy="274320"/>
          </a:xfrm>
          <a:prstGeom prst="rect">
            <a:avLst/>
          </a:prstGeom>
          <a:noFill/>
        </p:spPr>
        <p:txBody>
          <a:bodyPr wrap="square" lIns="0" rIns="0" tIns="0" bIns="0" anchor="t">
            <a:spAutoFit/>
          </a:bodyPr>
          <a:lstStyle/>
          <a:p>
            <a:pPr algn="l">
              <a:lnSpc>
                <a:spcPct val="100000"/>
              </a:lnSpc>
            </a:pPr>
            <a:r>
              <a:rPr sz="950" b="1" i="0">
                <a:solidFill>
                  <a:srgbClr val="16181D"/>
                </a:solidFill>
                <a:latin typeface="Geist"/>
              </a:rPr>
              <a:t>Aastha Shreeharsh  </a:t>
            </a:r>
            <a:r>
              <a:rPr sz="800" b="1" i="0">
                <a:solidFill>
                  <a:srgbClr val="4A35FF"/>
                </a:solidFill>
                <a:latin typeface="Geist"/>
              </a:rPr>
              <a:t>Development Communications</a:t>
            </a:r>
          </a:p>
        </p:txBody>
      </p:sp>
      <p:sp>
        <p:nvSpPr>
          <p:cNvPr id="35" name="TextBox 34"/>
          <p:cNvSpPr txBox="1"/>
          <p:nvPr/>
        </p:nvSpPr>
        <p:spPr>
          <a:xfrm>
            <a:off x="4937759" y="4151376"/>
            <a:ext cx="2999232" cy="457200"/>
          </a:xfrm>
          <a:prstGeom prst="rect">
            <a:avLst/>
          </a:prstGeom>
          <a:noFill/>
        </p:spPr>
        <p:txBody>
          <a:bodyPr wrap="square" lIns="0" rIns="0" tIns="0" bIns="0" anchor="t">
            <a:spAutoFit/>
          </a:bodyPr>
          <a:lstStyle/>
          <a:p>
            <a:pPr algn="l">
              <a:lnSpc>
                <a:spcPct val="112000"/>
              </a:lnSpc>
            </a:pPr>
            <a:r>
              <a:rPr sz="750" b="0" i="0">
                <a:solidFill>
                  <a:srgbClr val="6E7180"/>
                </a:solidFill>
                <a:latin typeface="Geist"/>
              </a:rPr>
              <a:t>HKUST · institutional communications, government relations</a:t>
            </a:r>
          </a:p>
        </p:txBody>
      </p:sp>
      <p:pic>
        <p:nvPicPr>
          <p:cNvPr id="36" name="Picture 35" descr="t_rohan.png"/>
          <p:cNvPicPr>
            <a:picLocks noChangeAspect="1"/>
          </p:cNvPicPr>
          <p:nvPr/>
        </p:nvPicPr>
        <p:blipFill>
          <a:blip r:embed="rId10"/>
          <a:stretch>
            <a:fillRect/>
          </a:stretch>
        </p:blipFill>
        <p:spPr>
          <a:xfrm>
            <a:off x="7991854" y="3968496"/>
            <a:ext cx="530352" cy="530352"/>
          </a:xfrm>
          <a:prstGeom prst="rect">
            <a:avLst/>
          </a:prstGeom>
        </p:spPr>
      </p:pic>
      <p:sp>
        <p:nvSpPr>
          <p:cNvPr id="37" name="TextBox 36"/>
          <p:cNvSpPr txBox="1"/>
          <p:nvPr/>
        </p:nvSpPr>
        <p:spPr>
          <a:xfrm>
            <a:off x="8650222" y="3931920"/>
            <a:ext cx="2999232" cy="274320"/>
          </a:xfrm>
          <a:prstGeom prst="rect">
            <a:avLst/>
          </a:prstGeom>
          <a:noFill/>
        </p:spPr>
        <p:txBody>
          <a:bodyPr wrap="square" lIns="0" rIns="0" tIns="0" bIns="0" anchor="t">
            <a:spAutoFit/>
          </a:bodyPr>
          <a:lstStyle/>
          <a:p>
            <a:pPr algn="l">
              <a:lnSpc>
                <a:spcPct val="100000"/>
              </a:lnSpc>
            </a:pPr>
            <a:r>
              <a:rPr sz="950" b="1" i="0">
                <a:solidFill>
                  <a:srgbClr val="16181D"/>
                </a:solidFill>
                <a:latin typeface="Geist"/>
              </a:rPr>
              <a:t>Rohan Sharma  </a:t>
            </a:r>
            <a:r>
              <a:rPr sz="800" b="1" i="0">
                <a:solidFill>
                  <a:srgbClr val="4A35FF"/>
                </a:solidFill>
                <a:latin typeface="Geist"/>
              </a:rPr>
              <a:t>Cause Marketing</a:t>
            </a:r>
          </a:p>
        </p:txBody>
      </p:sp>
      <p:sp>
        <p:nvSpPr>
          <p:cNvPr id="38" name="TextBox 37"/>
          <p:cNvSpPr txBox="1"/>
          <p:nvPr/>
        </p:nvSpPr>
        <p:spPr>
          <a:xfrm>
            <a:off x="8650222" y="4151376"/>
            <a:ext cx="2999232" cy="457200"/>
          </a:xfrm>
          <a:prstGeom prst="rect">
            <a:avLst/>
          </a:prstGeom>
          <a:noFill/>
        </p:spPr>
        <p:txBody>
          <a:bodyPr wrap="square" lIns="0" rIns="0" tIns="0" bIns="0" anchor="t">
            <a:spAutoFit/>
          </a:bodyPr>
          <a:lstStyle/>
          <a:p>
            <a:pPr algn="l">
              <a:lnSpc>
                <a:spcPct val="112000"/>
              </a:lnSpc>
            </a:pPr>
            <a:r>
              <a:rPr sz="750" b="0" i="0">
                <a:solidFill>
                  <a:srgbClr val="6E7180"/>
                </a:solidFill>
                <a:latin typeface="Geist"/>
              </a:rPr>
              <a:t>Awareness campaigns, digital advocacy, community mobilisation</a:t>
            </a:r>
          </a:p>
        </p:txBody>
      </p:sp>
      <p:pic>
        <p:nvPicPr>
          <p:cNvPr id="39" name="Picture 38" descr="t_ishita.png"/>
          <p:cNvPicPr>
            <a:picLocks noChangeAspect="1"/>
          </p:cNvPicPr>
          <p:nvPr/>
        </p:nvPicPr>
        <p:blipFill>
          <a:blip r:embed="rId11"/>
          <a:stretch>
            <a:fillRect/>
          </a:stretch>
        </p:blipFill>
        <p:spPr>
          <a:xfrm>
            <a:off x="566928" y="4663440"/>
            <a:ext cx="530352" cy="530352"/>
          </a:xfrm>
          <a:prstGeom prst="rect">
            <a:avLst/>
          </a:prstGeom>
        </p:spPr>
      </p:pic>
      <p:sp>
        <p:nvSpPr>
          <p:cNvPr id="40" name="TextBox 39"/>
          <p:cNvSpPr txBox="1"/>
          <p:nvPr/>
        </p:nvSpPr>
        <p:spPr>
          <a:xfrm>
            <a:off x="1225296" y="4626864"/>
            <a:ext cx="2999232" cy="274320"/>
          </a:xfrm>
          <a:prstGeom prst="rect">
            <a:avLst/>
          </a:prstGeom>
          <a:noFill/>
        </p:spPr>
        <p:txBody>
          <a:bodyPr wrap="square" lIns="0" rIns="0" tIns="0" bIns="0" anchor="t">
            <a:spAutoFit/>
          </a:bodyPr>
          <a:lstStyle/>
          <a:p>
            <a:pPr algn="l">
              <a:lnSpc>
                <a:spcPct val="100000"/>
              </a:lnSpc>
            </a:pPr>
            <a:r>
              <a:rPr sz="950" b="1" i="0">
                <a:solidFill>
                  <a:srgbClr val="16181D"/>
                </a:solidFill>
                <a:latin typeface="Geist"/>
              </a:rPr>
              <a:t>Ishita Rathore  </a:t>
            </a:r>
            <a:r>
              <a:rPr sz="800" b="1" i="0">
                <a:solidFill>
                  <a:srgbClr val="4A35FF"/>
                </a:solidFill>
                <a:latin typeface="Geist"/>
              </a:rPr>
              <a:t>People &amp; Culture</a:t>
            </a:r>
          </a:p>
        </p:txBody>
      </p:sp>
      <p:sp>
        <p:nvSpPr>
          <p:cNvPr id="41" name="TextBox 40"/>
          <p:cNvSpPr txBox="1"/>
          <p:nvPr/>
        </p:nvSpPr>
        <p:spPr>
          <a:xfrm>
            <a:off x="1225296" y="4846320"/>
            <a:ext cx="2999232" cy="457200"/>
          </a:xfrm>
          <a:prstGeom prst="rect">
            <a:avLst/>
          </a:prstGeom>
          <a:noFill/>
        </p:spPr>
        <p:txBody>
          <a:bodyPr wrap="square" lIns="0" rIns="0" tIns="0" bIns="0" anchor="t">
            <a:spAutoFit/>
          </a:bodyPr>
          <a:lstStyle/>
          <a:p>
            <a:pPr algn="l">
              <a:lnSpc>
                <a:spcPct val="112000"/>
              </a:lnSpc>
            </a:pPr>
            <a:r>
              <a:rPr sz="750" b="0" i="0">
                <a:solidFill>
                  <a:srgbClr val="6E7180"/>
                </a:solidFill>
                <a:latin typeface="Geist"/>
              </a:rPr>
              <a:t>Talent and hiring, volunteers, the 75+ intern engineering corps</a:t>
            </a:r>
          </a:p>
        </p:txBody>
      </p:sp>
      <p:pic>
        <p:nvPicPr>
          <p:cNvPr id="42" name="Picture 41" descr="t_yuvraj.png"/>
          <p:cNvPicPr>
            <a:picLocks noChangeAspect="1"/>
          </p:cNvPicPr>
          <p:nvPr/>
        </p:nvPicPr>
        <p:blipFill>
          <a:blip r:embed="rId12"/>
          <a:stretch>
            <a:fillRect/>
          </a:stretch>
        </p:blipFill>
        <p:spPr>
          <a:xfrm>
            <a:off x="4279391" y="4663440"/>
            <a:ext cx="530352" cy="530352"/>
          </a:xfrm>
          <a:prstGeom prst="rect">
            <a:avLst/>
          </a:prstGeom>
        </p:spPr>
      </p:pic>
      <p:sp>
        <p:nvSpPr>
          <p:cNvPr id="43" name="TextBox 42"/>
          <p:cNvSpPr txBox="1"/>
          <p:nvPr/>
        </p:nvSpPr>
        <p:spPr>
          <a:xfrm>
            <a:off x="4937759" y="4626864"/>
            <a:ext cx="2999232" cy="274320"/>
          </a:xfrm>
          <a:prstGeom prst="rect">
            <a:avLst/>
          </a:prstGeom>
          <a:noFill/>
        </p:spPr>
        <p:txBody>
          <a:bodyPr wrap="square" lIns="0" rIns="0" tIns="0" bIns="0" anchor="t">
            <a:spAutoFit/>
          </a:bodyPr>
          <a:lstStyle/>
          <a:p>
            <a:pPr algn="l">
              <a:lnSpc>
                <a:spcPct val="100000"/>
              </a:lnSpc>
            </a:pPr>
            <a:r>
              <a:rPr sz="950" b="1" i="0">
                <a:solidFill>
                  <a:srgbClr val="16181D"/>
                </a:solidFill>
                <a:latin typeface="Geist"/>
              </a:rPr>
              <a:t>Yuvraj Yadav  </a:t>
            </a:r>
            <a:r>
              <a:rPr sz="800" b="1" i="0">
                <a:solidFill>
                  <a:srgbClr val="4A35FF"/>
                </a:solidFill>
                <a:latin typeface="Geist"/>
              </a:rPr>
              <a:t>Operations</a:t>
            </a:r>
          </a:p>
        </p:txBody>
      </p:sp>
      <p:sp>
        <p:nvSpPr>
          <p:cNvPr id="44" name="TextBox 43"/>
          <p:cNvSpPr txBox="1"/>
          <p:nvPr/>
        </p:nvSpPr>
        <p:spPr>
          <a:xfrm>
            <a:off x="4937759" y="4846320"/>
            <a:ext cx="2999232" cy="457200"/>
          </a:xfrm>
          <a:prstGeom prst="rect">
            <a:avLst/>
          </a:prstGeom>
          <a:noFill/>
        </p:spPr>
        <p:txBody>
          <a:bodyPr wrap="square" lIns="0" rIns="0" tIns="0" bIns="0" anchor="t">
            <a:spAutoFit/>
          </a:bodyPr>
          <a:lstStyle/>
          <a:p>
            <a:pPr algn="l">
              <a:lnSpc>
                <a:spcPct val="112000"/>
              </a:lnSpc>
            </a:pPr>
            <a:r>
              <a:rPr sz="750" b="0" i="0">
                <a:solidFill>
                  <a:srgbClr val="6E7180"/>
                </a:solidFill>
                <a:latin typeface="Geist"/>
              </a:rPr>
              <a:t>Field operations across 18 cities · works with police on SATARK and enforcement rollouts</a:t>
            </a:r>
          </a:p>
        </p:txBody>
      </p:sp>
      <p:pic>
        <p:nvPicPr>
          <p:cNvPr id="45" name="Picture 44" descr="t_lovish.png"/>
          <p:cNvPicPr>
            <a:picLocks noChangeAspect="1"/>
          </p:cNvPicPr>
          <p:nvPr/>
        </p:nvPicPr>
        <p:blipFill>
          <a:blip r:embed="rId13"/>
          <a:stretch>
            <a:fillRect/>
          </a:stretch>
        </p:blipFill>
        <p:spPr>
          <a:xfrm>
            <a:off x="7991854" y="4663440"/>
            <a:ext cx="530352" cy="530352"/>
          </a:xfrm>
          <a:prstGeom prst="rect">
            <a:avLst/>
          </a:prstGeom>
        </p:spPr>
      </p:pic>
      <p:sp>
        <p:nvSpPr>
          <p:cNvPr id="46" name="TextBox 45"/>
          <p:cNvSpPr txBox="1"/>
          <p:nvPr/>
        </p:nvSpPr>
        <p:spPr>
          <a:xfrm>
            <a:off x="8650222" y="4626864"/>
            <a:ext cx="2999232" cy="274320"/>
          </a:xfrm>
          <a:prstGeom prst="rect">
            <a:avLst/>
          </a:prstGeom>
          <a:noFill/>
        </p:spPr>
        <p:txBody>
          <a:bodyPr wrap="square" lIns="0" rIns="0" tIns="0" bIns="0" anchor="t">
            <a:spAutoFit/>
          </a:bodyPr>
          <a:lstStyle/>
          <a:p>
            <a:pPr algn="l">
              <a:lnSpc>
                <a:spcPct val="100000"/>
              </a:lnSpc>
            </a:pPr>
            <a:r>
              <a:rPr sz="950" b="1" i="0">
                <a:solidFill>
                  <a:srgbClr val="16181D"/>
                </a:solidFill>
                <a:latin typeface="Geist"/>
              </a:rPr>
              <a:t>Lovish  </a:t>
            </a:r>
            <a:r>
              <a:rPr sz="800" b="1" i="0">
                <a:solidFill>
                  <a:srgbClr val="4A35FF"/>
                </a:solidFill>
                <a:latin typeface="Geist"/>
              </a:rPr>
              <a:t>Creative (Video)</a:t>
            </a:r>
          </a:p>
        </p:txBody>
      </p:sp>
      <p:sp>
        <p:nvSpPr>
          <p:cNvPr id="47" name="TextBox 46"/>
          <p:cNvSpPr txBox="1"/>
          <p:nvPr/>
        </p:nvSpPr>
        <p:spPr>
          <a:xfrm>
            <a:off x="8650222" y="4846320"/>
            <a:ext cx="2999232" cy="457200"/>
          </a:xfrm>
          <a:prstGeom prst="rect">
            <a:avLst/>
          </a:prstGeom>
          <a:noFill/>
        </p:spPr>
        <p:txBody>
          <a:bodyPr wrap="square" lIns="0" rIns="0" tIns="0" bIns="0" anchor="t">
            <a:spAutoFit/>
          </a:bodyPr>
          <a:lstStyle/>
          <a:p>
            <a:pPr algn="l">
              <a:lnSpc>
                <a:spcPct val="112000"/>
              </a:lnSpc>
            </a:pPr>
            <a:r>
              <a:rPr sz="750" b="0" i="0">
                <a:solidFill>
                  <a:srgbClr val="6E7180"/>
                </a:solidFill>
                <a:latin typeface="Geist"/>
              </a:rPr>
              <a:t>Video explainers, ground-audit films and the YouTube channel</a:t>
            </a:r>
          </a:p>
        </p:txBody>
      </p:sp>
      <p:pic>
        <p:nvPicPr>
          <p:cNvPr id="48" name="Picture 47" descr="t_shipra.png"/>
          <p:cNvPicPr>
            <a:picLocks noChangeAspect="1"/>
          </p:cNvPicPr>
          <p:nvPr/>
        </p:nvPicPr>
        <p:blipFill>
          <a:blip r:embed="rId14"/>
          <a:stretch>
            <a:fillRect/>
          </a:stretch>
        </p:blipFill>
        <p:spPr>
          <a:xfrm>
            <a:off x="566928" y="5358384"/>
            <a:ext cx="530352" cy="530352"/>
          </a:xfrm>
          <a:prstGeom prst="rect">
            <a:avLst/>
          </a:prstGeom>
        </p:spPr>
      </p:pic>
      <p:sp>
        <p:nvSpPr>
          <p:cNvPr id="49" name="TextBox 48"/>
          <p:cNvSpPr txBox="1"/>
          <p:nvPr/>
        </p:nvSpPr>
        <p:spPr>
          <a:xfrm>
            <a:off x="1225296" y="5321808"/>
            <a:ext cx="2999232" cy="274320"/>
          </a:xfrm>
          <a:prstGeom prst="rect">
            <a:avLst/>
          </a:prstGeom>
          <a:noFill/>
        </p:spPr>
        <p:txBody>
          <a:bodyPr wrap="square" lIns="0" rIns="0" tIns="0" bIns="0" anchor="t">
            <a:spAutoFit/>
          </a:bodyPr>
          <a:lstStyle/>
          <a:p>
            <a:pPr algn="l">
              <a:lnSpc>
                <a:spcPct val="100000"/>
              </a:lnSpc>
            </a:pPr>
            <a:r>
              <a:rPr sz="950" b="1" i="0">
                <a:solidFill>
                  <a:srgbClr val="16181D"/>
                </a:solidFill>
                <a:latin typeface="Geist"/>
              </a:rPr>
              <a:t>Shipra Kushwaha  </a:t>
            </a:r>
            <a:r>
              <a:rPr sz="800" b="1" i="0">
                <a:solidFill>
                  <a:srgbClr val="4A35FF"/>
                </a:solidFill>
                <a:latin typeface="Geist"/>
              </a:rPr>
              <a:t>Creative (Graphic)</a:t>
            </a:r>
          </a:p>
        </p:txBody>
      </p:sp>
      <p:sp>
        <p:nvSpPr>
          <p:cNvPr id="50" name="TextBox 49"/>
          <p:cNvSpPr txBox="1"/>
          <p:nvPr/>
        </p:nvSpPr>
        <p:spPr>
          <a:xfrm>
            <a:off x="1225296" y="5541264"/>
            <a:ext cx="2999232" cy="457200"/>
          </a:xfrm>
          <a:prstGeom prst="rect">
            <a:avLst/>
          </a:prstGeom>
          <a:noFill/>
        </p:spPr>
        <p:txBody>
          <a:bodyPr wrap="square" lIns="0" rIns="0" tIns="0" bIns="0" anchor="t">
            <a:spAutoFit/>
          </a:bodyPr>
          <a:lstStyle/>
          <a:p>
            <a:pPr algn="l">
              <a:lnSpc>
                <a:spcPct val="112000"/>
              </a:lnSpc>
            </a:pPr>
            <a:r>
              <a:rPr sz="750" b="0" i="0">
                <a:solidFill>
                  <a:srgbClr val="6E7180"/>
                </a:solidFill>
                <a:latin typeface="Geist"/>
              </a:rPr>
              <a:t>Guides, comics and bilingual campaign material families actually read</a:t>
            </a:r>
          </a:p>
        </p:txBody>
      </p:sp>
      <p:sp>
        <p:nvSpPr>
          <p:cNvPr id="51" name="Rounded Rectangle 50"/>
          <p:cNvSpPr/>
          <p:nvPr/>
        </p:nvSpPr>
        <p:spPr>
          <a:xfrm>
            <a:off x="4553712" y="5340096"/>
            <a:ext cx="5120640" cy="548640"/>
          </a:xfrm>
          <a:prstGeom prst="roundRect">
            <a:avLst>
              <a:gd name="adj" fmla="val 12000"/>
            </a:avLst>
          </a:prstGeom>
          <a:solidFill>
            <a:srgbClr val="EFEDFF"/>
          </a:solidFill>
          <a:ln>
            <a:noFill/>
          </a:ln>
          <a:effectLst/>
        </p:spPr>
        <p:txBody>
          <a:bodyPr rtlCol="0" anchor="ctr"/>
          <a:lstStyle/>
          <a:p>
            <a:pPr algn="ctr"/>
          </a:p>
        </p:txBody>
      </p:sp>
      <p:sp>
        <p:nvSpPr>
          <p:cNvPr id="52" name="TextBox 51"/>
          <p:cNvSpPr txBox="1"/>
          <p:nvPr/>
        </p:nvSpPr>
        <p:spPr>
          <a:xfrm>
            <a:off x="4754880" y="5340096"/>
            <a:ext cx="4754880" cy="548640"/>
          </a:xfrm>
          <a:prstGeom prst="rect">
            <a:avLst/>
          </a:prstGeom>
          <a:noFill/>
        </p:spPr>
        <p:txBody>
          <a:bodyPr wrap="square" lIns="0" rIns="0" tIns="0" bIns="0" anchor="ctr">
            <a:spAutoFit/>
          </a:bodyPr>
          <a:lstStyle/>
          <a:p>
            <a:pPr algn="l">
              <a:lnSpc>
                <a:spcPct val="115000"/>
              </a:lnSpc>
            </a:pPr>
            <a:r>
              <a:rPr sz="900" b="1" i="0">
                <a:solidFill>
                  <a:srgbClr val="4A35FF"/>
                </a:solidFill>
                <a:latin typeface="Geist"/>
              </a:rPr>
              <a:t>Plus 75+ engineering interns and 31 student audit teams.</a:t>
            </a:r>
          </a:p>
        </p:txBody>
      </p:sp>
      <p:sp>
        <p:nvSpPr>
          <p:cNvPr id="53" name="Rounded Rectangle 52"/>
          <p:cNvSpPr/>
          <p:nvPr/>
        </p:nvSpPr>
        <p:spPr>
          <a:xfrm>
            <a:off x="566928" y="5989320"/>
            <a:ext cx="11057839" cy="384048"/>
          </a:xfrm>
          <a:prstGeom prst="roundRect">
            <a:avLst>
              <a:gd name="adj" fmla="val 14000"/>
            </a:avLst>
          </a:prstGeom>
          <a:solidFill>
            <a:srgbClr val="F7F7FA"/>
          </a:solidFill>
          <a:ln>
            <a:noFill/>
          </a:ln>
          <a:effectLst/>
        </p:spPr>
        <p:txBody>
          <a:bodyPr rtlCol="0" anchor="ctr"/>
          <a:lstStyle/>
          <a:p>
            <a:pPr algn="ctr"/>
          </a:p>
        </p:txBody>
      </p:sp>
      <p:sp>
        <p:nvSpPr>
          <p:cNvPr id="54" name="TextBox 53"/>
          <p:cNvSpPr txBox="1"/>
          <p:nvPr/>
        </p:nvSpPr>
        <p:spPr>
          <a:xfrm>
            <a:off x="768096" y="6053328"/>
            <a:ext cx="10646359" cy="292608"/>
          </a:xfrm>
          <a:prstGeom prst="rect">
            <a:avLst/>
          </a:prstGeom>
          <a:noFill/>
        </p:spPr>
        <p:txBody>
          <a:bodyPr wrap="square" lIns="0" rIns="0" tIns="0" bIns="0" anchor="t">
            <a:spAutoFit/>
          </a:bodyPr>
          <a:lstStyle/>
          <a:p>
            <a:pPr algn="l">
              <a:lnSpc>
                <a:spcPct val="115000"/>
              </a:lnSpc>
            </a:pPr>
            <a:r>
              <a:rPr sz="900" b="1" i="0">
                <a:solidFill>
                  <a:srgbClr val="16181D"/>
                </a:solidFill>
                <a:latin typeface="Geist"/>
              </a:rPr>
              <a:t>In-house capabilities: </a:t>
            </a:r>
            <a:r>
              <a:rPr sz="900" b="0" i="0">
                <a:solidFill>
                  <a:srgbClr val="6E7180"/>
                </a:solidFill>
                <a:latin typeface="Geist"/>
              </a:rPr>
              <a:t>road-engineering audits · legal &amp; policy research · AI product development · district operations · behaviour-change communication</a:t>
            </a:r>
          </a:p>
        </p:txBody>
      </p:sp>
      <p:cxnSp>
        <p:nvCxnSpPr>
          <p:cNvPr id="55" name="Connector 54"/>
          <p:cNvCxnSpPr/>
          <p:nvPr/>
        </p:nvCxnSpPr>
        <p:spPr>
          <a:xfrm>
            <a:off x="566928" y="6455664"/>
            <a:ext cx="11057839" cy="0"/>
          </a:xfrm>
          <a:prstGeom prst="line">
            <a:avLst/>
          </a:prstGeom>
          <a:ln w="9525">
            <a:solidFill>
              <a:srgbClr val="E8E9EE"/>
            </a:solidFill>
          </a:ln>
          <a:effectLst/>
        </p:spPr>
      </p:cxnSp>
      <p:sp>
        <p:nvSpPr>
          <p:cNvPr id="56" name="TextBox 55"/>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3</a:t>
            </a:r>
          </a:p>
        </p:txBody>
      </p:sp>
      <p:sp>
        <p:nvSpPr>
          <p:cNvPr id="57" name="TextBox 56"/>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15 / 26</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3 OF 5  ·  OUR PEOPLE</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03 · OUR PEOPLE, THE EXPERT BENCH</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Advised by the people who </a:t>
            </a:r>
            <a:r>
              <a:rPr sz="2250" b="1" i="0">
                <a:solidFill>
                  <a:srgbClr val="4A35FF"/>
                </a:solidFill>
                <a:latin typeface="Montserrat"/>
              </a:rPr>
              <a:t>built India's road safety practice</a:t>
            </a:r>
          </a:p>
        </p:txBody>
      </p:sp>
      <p:sp>
        <p:nvSpPr>
          <p:cNvPr id="7" name="Rounded Rectangle 6"/>
          <p:cNvSpPr/>
          <p:nvPr/>
        </p:nvSpPr>
        <p:spPr>
          <a:xfrm>
            <a:off x="566928" y="1554480"/>
            <a:ext cx="5486400" cy="932688"/>
          </a:xfrm>
          <a:prstGeom prst="roundRect">
            <a:avLst>
              <a:gd name="adj" fmla="val 12000"/>
            </a:avLst>
          </a:prstGeom>
          <a:solidFill>
            <a:srgbClr val="F7F7FA"/>
          </a:solidFill>
          <a:ln>
            <a:noFill/>
          </a:ln>
          <a:effectLst/>
        </p:spPr>
        <p:txBody>
          <a:bodyPr rtlCol="0" anchor="ctr"/>
          <a:lstStyle/>
          <a:p>
            <a:pPr algn="ctr"/>
          </a:p>
        </p:txBody>
      </p:sp>
      <p:pic>
        <p:nvPicPr>
          <p:cNvPr id="8" name="Picture 7" descr="x_gtiwari.png"/>
          <p:cNvPicPr>
            <a:picLocks noChangeAspect="1"/>
          </p:cNvPicPr>
          <p:nvPr/>
        </p:nvPicPr>
        <p:blipFill>
          <a:blip r:embed="rId2"/>
          <a:stretch>
            <a:fillRect/>
          </a:stretch>
        </p:blipFill>
        <p:spPr>
          <a:xfrm>
            <a:off x="694944" y="1682496"/>
            <a:ext cx="676656" cy="676656"/>
          </a:xfrm>
          <a:prstGeom prst="rect">
            <a:avLst/>
          </a:prstGeom>
        </p:spPr>
      </p:pic>
      <p:sp>
        <p:nvSpPr>
          <p:cNvPr id="9" name="TextBox 8"/>
          <p:cNvSpPr txBox="1"/>
          <p:nvPr/>
        </p:nvSpPr>
        <p:spPr>
          <a:xfrm>
            <a:off x="1499616" y="1673352"/>
            <a:ext cx="4480560" cy="320040"/>
          </a:xfrm>
          <a:prstGeom prst="rect">
            <a:avLst/>
          </a:prstGeom>
          <a:noFill/>
        </p:spPr>
        <p:txBody>
          <a:bodyPr wrap="square" lIns="0" rIns="0" tIns="0" bIns="0" anchor="t">
            <a:spAutoFit/>
          </a:bodyPr>
          <a:lstStyle/>
          <a:p>
            <a:pPr algn="l">
              <a:lnSpc>
                <a:spcPct val="128000"/>
              </a:lnSpc>
            </a:pPr>
            <a:r>
              <a:rPr sz="1100" b="1" i="0">
                <a:solidFill>
                  <a:srgbClr val="16181D"/>
                </a:solidFill>
                <a:latin typeface="Montserrat"/>
              </a:rPr>
              <a:t>Prof. Geetam Tiwari, Board of Advisors</a:t>
            </a:r>
          </a:p>
        </p:txBody>
      </p:sp>
      <p:sp>
        <p:nvSpPr>
          <p:cNvPr id="10" name="TextBox 9"/>
          <p:cNvSpPr txBox="1"/>
          <p:nvPr/>
        </p:nvSpPr>
        <p:spPr>
          <a:xfrm>
            <a:off x="1499616" y="1965960"/>
            <a:ext cx="4480560" cy="50292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Professor Emerita &amp; Chair, TRIP Centre, IIT Delhi · four decades of transport safety research</a:t>
            </a:r>
          </a:p>
        </p:txBody>
      </p:sp>
      <p:sp>
        <p:nvSpPr>
          <p:cNvPr id="11" name="Rounded Rectangle 10"/>
          <p:cNvSpPr/>
          <p:nvPr/>
        </p:nvSpPr>
        <p:spPr>
          <a:xfrm>
            <a:off x="6263640" y="1554480"/>
            <a:ext cx="5349240" cy="932688"/>
          </a:xfrm>
          <a:prstGeom prst="roundRect">
            <a:avLst>
              <a:gd name="adj" fmla="val 12000"/>
            </a:avLst>
          </a:prstGeom>
          <a:solidFill>
            <a:srgbClr val="F7F7FA"/>
          </a:solidFill>
          <a:ln>
            <a:noFill/>
          </a:ln>
          <a:effectLst/>
        </p:spPr>
        <p:txBody>
          <a:bodyPr rtlCol="0" anchor="ctr"/>
          <a:lstStyle/>
          <a:p>
            <a:pPr algn="ctr"/>
          </a:p>
        </p:txBody>
      </p:sp>
      <p:pic>
        <p:nvPicPr>
          <p:cNvPr id="12" name="Picture 11" descr="x_tewari.png"/>
          <p:cNvPicPr>
            <a:picLocks noChangeAspect="1"/>
          </p:cNvPicPr>
          <p:nvPr/>
        </p:nvPicPr>
        <p:blipFill>
          <a:blip r:embed="rId3"/>
          <a:stretch>
            <a:fillRect/>
          </a:stretch>
        </p:blipFill>
        <p:spPr>
          <a:xfrm>
            <a:off x="6391656" y="1682496"/>
            <a:ext cx="676656" cy="676656"/>
          </a:xfrm>
          <a:prstGeom prst="rect">
            <a:avLst/>
          </a:prstGeom>
        </p:spPr>
      </p:pic>
      <p:sp>
        <p:nvSpPr>
          <p:cNvPr id="13" name="TextBox 12"/>
          <p:cNvSpPr txBox="1"/>
          <p:nvPr/>
        </p:nvSpPr>
        <p:spPr>
          <a:xfrm>
            <a:off x="7196328" y="1673352"/>
            <a:ext cx="4297680" cy="320040"/>
          </a:xfrm>
          <a:prstGeom prst="rect">
            <a:avLst/>
          </a:prstGeom>
          <a:noFill/>
        </p:spPr>
        <p:txBody>
          <a:bodyPr wrap="square" lIns="0" rIns="0" tIns="0" bIns="0" anchor="t">
            <a:spAutoFit/>
          </a:bodyPr>
          <a:lstStyle/>
          <a:p>
            <a:pPr algn="l">
              <a:lnSpc>
                <a:spcPct val="128000"/>
              </a:lnSpc>
            </a:pPr>
            <a:r>
              <a:rPr sz="1100" b="1" i="0">
                <a:solidFill>
                  <a:srgbClr val="16181D"/>
                </a:solidFill>
                <a:latin typeface="Montserrat"/>
              </a:rPr>
              <a:t>Piyush Tewari, Board of Advisors</a:t>
            </a:r>
          </a:p>
        </p:txBody>
      </p:sp>
      <p:sp>
        <p:nvSpPr>
          <p:cNvPr id="14" name="TextBox 13"/>
          <p:cNvSpPr txBox="1"/>
          <p:nvPr/>
        </p:nvSpPr>
        <p:spPr>
          <a:xfrm>
            <a:off x="7196328" y="1965960"/>
            <a:ext cx="4297680" cy="50292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Founder &amp; CEO, SaveLIFE Foundation · Architect of the Good Samaritan Law · Zero-Fatality Corridors</a:t>
            </a:r>
          </a:p>
        </p:txBody>
      </p:sp>
      <p:sp>
        <p:nvSpPr>
          <p:cNvPr id="15" name="TextBox 14"/>
          <p:cNvSpPr txBox="1"/>
          <p:nvPr/>
        </p:nvSpPr>
        <p:spPr>
          <a:xfrm>
            <a:off x="566928" y="2697480"/>
            <a:ext cx="10058400" cy="237744"/>
          </a:xfrm>
          <a:prstGeom prst="rect">
            <a:avLst/>
          </a:prstGeom>
          <a:noFill/>
        </p:spPr>
        <p:txBody>
          <a:bodyPr wrap="square" lIns="0" rIns="0" tIns="0" bIns="0" anchor="t">
            <a:spAutoFit/>
          </a:bodyPr>
          <a:lstStyle/>
          <a:p>
            <a:pPr algn="l">
              <a:lnSpc>
                <a:spcPct val="128000"/>
              </a:lnSpc>
            </a:pPr>
            <a:r>
              <a:rPr sz="850" b="1" i="0" spc="160">
                <a:solidFill>
                  <a:srgbClr val="6E7180"/>
                </a:solidFill>
                <a:latin typeface="Montserrat"/>
              </a:rPr>
              <a:t>JURY, MENTORS &amp; REVIEWERS AROUND OUR WORK</a:t>
            </a:r>
          </a:p>
        </p:txBody>
      </p:sp>
      <p:pic>
        <p:nvPicPr>
          <p:cNvPr id="16" name="Picture 15" descr="x_midha.png"/>
          <p:cNvPicPr>
            <a:picLocks noChangeAspect="1"/>
          </p:cNvPicPr>
          <p:nvPr/>
        </p:nvPicPr>
        <p:blipFill>
          <a:blip r:embed="rId4"/>
          <a:stretch>
            <a:fillRect/>
          </a:stretch>
        </p:blipFill>
        <p:spPr>
          <a:xfrm>
            <a:off x="1353312" y="2999232"/>
            <a:ext cx="640080" cy="640080"/>
          </a:xfrm>
          <a:prstGeom prst="rect">
            <a:avLst/>
          </a:prstGeom>
        </p:spPr>
      </p:pic>
      <p:sp>
        <p:nvSpPr>
          <p:cNvPr id="17" name="TextBox 16"/>
          <p:cNvSpPr txBox="1"/>
          <p:nvPr/>
        </p:nvSpPr>
        <p:spPr>
          <a:xfrm>
            <a:off x="566928" y="3675888"/>
            <a:ext cx="2121408" cy="274320"/>
          </a:xfrm>
          <a:prstGeom prst="rect">
            <a:avLst/>
          </a:prstGeom>
          <a:noFill/>
        </p:spPr>
        <p:txBody>
          <a:bodyPr wrap="square" lIns="0" rIns="0" tIns="0" bIns="0" anchor="t">
            <a:spAutoFit/>
          </a:bodyPr>
          <a:lstStyle/>
          <a:p>
            <a:pPr algn="ctr">
              <a:lnSpc>
                <a:spcPct val="100000"/>
              </a:lnSpc>
            </a:pPr>
            <a:r>
              <a:rPr sz="850" b="1" i="0">
                <a:solidFill>
                  <a:srgbClr val="16181D"/>
                </a:solidFill>
                <a:latin typeface="Montserrat"/>
              </a:rPr>
              <a:t>Justice J.R. Midha</a:t>
            </a:r>
          </a:p>
        </p:txBody>
      </p:sp>
      <p:sp>
        <p:nvSpPr>
          <p:cNvPr id="18" name="TextBox 17"/>
          <p:cNvSpPr txBox="1"/>
          <p:nvPr/>
        </p:nvSpPr>
        <p:spPr>
          <a:xfrm>
            <a:off x="566928" y="3867912"/>
            <a:ext cx="2121408" cy="274320"/>
          </a:xfrm>
          <a:prstGeom prst="rect">
            <a:avLst/>
          </a:prstGeom>
          <a:noFill/>
        </p:spPr>
        <p:txBody>
          <a:bodyPr wrap="square" lIns="0" rIns="0" tIns="0" bIns="0" anchor="t">
            <a:spAutoFit/>
          </a:bodyPr>
          <a:lstStyle/>
          <a:p>
            <a:pPr algn="ctr">
              <a:lnSpc>
                <a:spcPct val="100000"/>
              </a:lnSpc>
            </a:pPr>
            <a:r>
              <a:rPr sz="750" b="0" i="0">
                <a:solidFill>
                  <a:srgbClr val="6E7180"/>
                </a:solidFill>
                <a:latin typeface="Geist"/>
              </a:rPr>
              <a:t>Delhi High Court (Retd.)</a:t>
            </a:r>
          </a:p>
        </p:txBody>
      </p:sp>
      <p:pic>
        <p:nvPicPr>
          <p:cNvPr id="19" name="Picture 18" descr="x_damle.png"/>
          <p:cNvPicPr>
            <a:picLocks noChangeAspect="1"/>
          </p:cNvPicPr>
          <p:nvPr/>
        </p:nvPicPr>
        <p:blipFill>
          <a:blip r:embed="rId5"/>
          <a:stretch>
            <a:fillRect/>
          </a:stretch>
        </p:blipFill>
        <p:spPr>
          <a:xfrm>
            <a:off x="3566160" y="2999232"/>
            <a:ext cx="640080" cy="640080"/>
          </a:xfrm>
          <a:prstGeom prst="rect">
            <a:avLst/>
          </a:prstGeom>
        </p:spPr>
      </p:pic>
      <p:sp>
        <p:nvSpPr>
          <p:cNvPr id="20" name="TextBox 19"/>
          <p:cNvSpPr txBox="1"/>
          <p:nvPr/>
        </p:nvSpPr>
        <p:spPr>
          <a:xfrm>
            <a:off x="2779776" y="3675888"/>
            <a:ext cx="2121408" cy="274320"/>
          </a:xfrm>
          <a:prstGeom prst="rect">
            <a:avLst/>
          </a:prstGeom>
          <a:noFill/>
        </p:spPr>
        <p:txBody>
          <a:bodyPr wrap="square" lIns="0" rIns="0" tIns="0" bIns="0" anchor="t">
            <a:spAutoFit/>
          </a:bodyPr>
          <a:lstStyle/>
          <a:p>
            <a:pPr algn="ctr">
              <a:lnSpc>
                <a:spcPct val="100000"/>
              </a:lnSpc>
            </a:pPr>
            <a:r>
              <a:rPr sz="850" b="1" i="0">
                <a:solidFill>
                  <a:srgbClr val="16181D"/>
                </a:solidFill>
                <a:latin typeface="Montserrat"/>
              </a:rPr>
              <a:t>Abhay Damle</a:t>
            </a:r>
          </a:p>
        </p:txBody>
      </p:sp>
      <p:sp>
        <p:nvSpPr>
          <p:cNvPr id="21" name="TextBox 20"/>
          <p:cNvSpPr txBox="1"/>
          <p:nvPr/>
        </p:nvSpPr>
        <p:spPr>
          <a:xfrm>
            <a:off x="2779776" y="3867912"/>
            <a:ext cx="2121408" cy="274320"/>
          </a:xfrm>
          <a:prstGeom prst="rect">
            <a:avLst/>
          </a:prstGeom>
          <a:noFill/>
        </p:spPr>
        <p:txBody>
          <a:bodyPr wrap="square" lIns="0" rIns="0" tIns="0" bIns="0" anchor="t">
            <a:spAutoFit/>
          </a:bodyPr>
          <a:lstStyle/>
          <a:p>
            <a:pPr algn="ctr">
              <a:lnSpc>
                <a:spcPct val="100000"/>
              </a:lnSpc>
            </a:pPr>
            <a:r>
              <a:rPr sz="750" b="0" i="0">
                <a:solidFill>
                  <a:srgbClr val="6E7180"/>
                </a:solidFill>
                <a:latin typeface="Geist"/>
              </a:rPr>
              <a:t>Ex-JS, MoRTH</a:t>
            </a:r>
          </a:p>
        </p:txBody>
      </p:sp>
      <p:pic>
        <p:nvPicPr>
          <p:cNvPr id="22" name="Picture 21" descr="x_dange.png"/>
          <p:cNvPicPr>
            <a:picLocks noChangeAspect="1"/>
          </p:cNvPicPr>
          <p:nvPr/>
        </p:nvPicPr>
        <p:blipFill>
          <a:blip r:embed="rId6"/>
          <a:stretch>
            <a:fillRect/>
          </a:stretch>
        </p:blipFill>
        <p:spPr>
          <a:xfrm>
            <a:off x="5779008" y="2999232"/>
            <a:ext cx="640080" cy="640080"/>
          </a:xfrm>
          <a:prstGeom prst="rect">
            <a:avLst/>
          </a:prstGeom>
        </p:spPr>
      </p:pic>
      <p:sp>
        <p:nvSpPr>
          <p:cNvPr id="23" name="TextBox 22"/>
          <p:cNvSpPr txBox="1"/>
          <p:nvPr/>
        </p:nvSpPr>
        <p:spPr>
          <a:xfrm>
            <a:off x="4992624" y="3675888"/>
            <a:ext cx="2121408" cy="274320"/>
          </a:xfrm>
          <a:prstGeom prst="rect">
            <a:avLst/>
          </a:prstGeom>
          <a:noFill/>
        </p:spPr>
        <p:txBody>
          <a:bodyPr wrap="square" lIns="0" rIns="0" tIns="0" bIns="0" anchor="t">
            <a:spAutoFit/>
          </a:bodyPr>
          <a:lstStyle/>
          <a:p>
            <a:pPr algn="ctr">
              <a:lnSpc>
                <a:spcPct val="100000"/>
              </a:lnSpc>
            </a:pPr>
            <a:r>
              <a:rPr sz="850" b="1" i="0">
                <a:solidFill>
                  <a:srgbClr val="16181D"/>
                </a:solidFill>
                <a:latin typeface="Montserrat"/>
              </a:rPr>
              <a:t>Vaibhav Dange</a:t>
            </a:r>
          </a:p>
        </p:txBody>
      </p:sp>
      <p:sp>
        <p:nvSpPr>
          <p:cNvPr id="24" name="TextBox 23"/>
          <p:cNvSpPr txBox="1"/>
          <p:nvPr/>
        </p:nvSpPr>
        <p:spPr>
          <a:xfrm>
            <a:off x="4992624" y="3867912"/>
            <a:ext cx="2121408" cy="274320"/>
          </a:xfrm>
          <a:prstGeom prst="rect">
            <a:avLst/>
          </a:prstGeom>
          <a:noFill/>
        </p:spPr>
        <p:txBody>
          <a:bodyPr wrap="square" lIns="0" rIns="0" tIns="0" bIns="0" anchor="t">
            <a:spAutoFit/>
          </a:bodyPr>
          <a:lstStyle/>
          <a:p>
            <a:pPr algn="ctr">
              <a:lnSpc>
                <a:spcPct val="100000"/>
              </a:lnSpc>
            </a:pPr>
            <a:r>
              <a:rPr sz="750" b="0" i="0">
                <a:solidFill>
                  <a:srgbClr val="6E7180"/>
                </a:solidFill>
                <a:latin typeface="Geist"/>
              </a:rPr>
              <a:t>Ex-Advisor, MoRTH</a:t>
            </a:r>
          </a:p>
        </p:txBody>
      </p:sp>
      <p:pic>
        <p:nvPicPr>
          <p:cNvPr id="25" name="Picture 24" descr="x_tandon.png"/>
          <p:cNvPicPr>
            <a:picLocks noChangeAspect="1"/>
          </p:cNvPicPr>
          <p:nvPr/>
        </p:nvPicPr>
        <p:blipFill>
          <a:blip r:embed="rId7"/>
          <a:stretch>
            <a:fillRect/>
          </a:stretch>
        </p:blipFill>
        <p:spPr>
          <a:xfrm>
            <a:off x="7991856" y="2999232"/>
            <a:ext cx="640080" cy="640080"/>
          </a:xfrm>
          <a:prstGeom prst="rect">
            <a:avLst/>
          </a:prstGeom>
        </p:spPr>
      </p:pic>
      <p:sp>
        <p:nvSpPr>
          <p:cNvPr id="26" name="TextBox 25"/>
          <p:cNvSpPr txBox="1"/>
          <p:nvPr/>
        </p:nvSpPr>
        <p:spPr>
          <a:xfrm>
            <a:off x="7205472" y="3675888"/>
            <a:ext cx="2121408" cy="274320"/>
          </a:xfrm>
          <a:prstGeom prst="rect">
            <a:avLst/>
          </a:prstGeom>
          <a:noFill/>
        </p:spPr>
        <p:txBody>
          <a:bodyPr wrap="square" lIns="0" rIns="0" tIns="0" bIns="0" anchor="t">
            <a:spAutoFit/>
          </a:bodyPr>
          <a:lstStyle/>
          <a:p>
            <a:pPr algn="ctr">
              <a:lnSpc>
                <a:spcPct val="100000"/>
              </a:lnSpc>
            </a:pPr>
            <a:r>
              <a:rPr sz="850" b="1" i="0">
                <a:solidFill>
                  <a:srgbClr val="16181D"/>
                </a:solidFill>
                <a:latin typeface="Montserrat"/>
              </a:rPr>
              <a:t>Dr. Maya Tandon</a:t>
            </a:r>
          </a:p>
        </p:txBody>
      </p:sp>
      <p:sp>
        <p:nvSpPr>
          <p:cNvPr id="27" name="TextBox 26"/>
          <p:cNvSpPr txBox="1"/>
          <p:nvPr/>
        </p:nvSpPr>
        <p:spPr>
          <a:xfrm>
            <a:off x="7205472" y="3867912"/>
            <a:ext cx="2121408" cy="274320"/>
          </a:xfrm>
          <a:prstGeom prst="rect">
            <a:avLst/>
          </a:prstGeom>
          <a:noFill/>
        </p:spPr>
        <p:txBody>
          <a:bodyPr wrap="square" lIns="0" rIns="0" tIns="0" bIns="0" anchor="t">
            <a:spAutoFit/>
          </a:bodyPr>
          <a:lstStyle/>
          <a:p>
            <a:pPr algn="ctr">
              <a:lnSpc>
                <a:spcPct val="100000"/>
              </a:lnSpc>
            </a:pPr>
            <a:r>
              <a:rPr sz="750" b="0" i="0">
                <a:solidFill>
                  <a:srgbClr val="6E7180"/>
                </a:solidFill>
                <a:latin typeface="Geist"/>
              </a:rPr>
              <a:t>Sahayta Trust</a:t>
            </a:r>
          </a:p>
        </p:txBody>
      </p:sp>
      <p:pic>
        <p:nvPicPr>
          <p:cNvPr id="28" name="Picture 27" descr="x_ratnam.png"/>
          <p:cNvPicPr>
            <a:picLocks noChangeAspect="1"/>
          </p:cNvPicPr>
          <p:nvPr/>
        </p:nvPicPr>
        <p:blipFill>
          <a:blip r:embed="rId8"/>
          <a:stretch>
            <a:fillRect/>
          </a:stretch>
        </p:blipFill>
        <p:spPr>
          <a:xfrm>
            <a:off x="10204704" y="2999232"/>
            <a:ext cx="640080" cy="640080"/>
          </a:xfrm>
          <a:prstGeom prst="rect">
            <a:avLst/>
          </a:prstGeom>
        </p:spPr>
      </p:pic>
      <p:sp>
        <p:nvSpPr>
          <p:cNvPr id="29" name="TextBox 28"/>
          <p:cNvSpPr txBox="1"/>
          <p:nvPr/>
        </p:nvSpPr>
        <p:spPr>
          <a:xfrm>
            <a:off x="9418320" y="3675888"/>
            <a:ext cx="2121408" cy="274320"/>
          </a:xfrm>
          <a:prstGeom prst="rect">
            <a:avLst/>
          </a:prstGeom>
          <a:noFill/>
        </p:spPr>
        <p:txBody>
          <a:bodyPr wrap="square" lIns="0" rIns="0" tIns="0" bIns="0" anchor="t">
            <a:spAutoFit/>
          </a:bodyPr>
          <a:lstStyle/>
          <a:p>
            <a:pPr algn="ctr">
              <a:lnSpc>
                <a:spcPct val="100000"/>
              </a:lnSpc>
            </a:pPr>
            <a:r>
              <a:rPr sz="850" b="1" i="0">
                <a:solidFill>
                  <a:srgbClr val="16181D"/>
                </a:solidFill>
                <a:latin typeface="Montserrat"/>
              </a:rPr>
              <a:t>R. Venkat Ratnam</a:t>
            </a:r>
          </a:p>
        </p:txBody>
      </p:sp>
      <p:sp>
        <p:nvSpPr>
          <p:cNvPr id="30" name="TextBox 29"/>
          <p:cNvSpPr txBox="1"/>
          <p:nvPr/>
        </p:nvSpPr>
        <p:spPr>
          <a:xfrm>
            <a:off x="9418320" y="3867912"/>
            <a:ext cx="2121408" cy="274320"/>
          </a:xfrm>
          <a:prstGeom prst="rect">
            <a:avLst/>
          </a:prstGeom>
          <a:noFill/>
        </p:spPr>
        <p:txBody>
          <a:bodyPr wrap="square" lIns="0" rIns="0" tIns="0" bIns="0" anchor="t">
            <a:spAutoFit/>
          </a:bodyPr>
          <a:lstStyle/>
          <a:p>
            <a:pPr algn="ctr">
              <a:lnSpc>
                <a:spcPct val="100000"/>
              </a:lnSpc>
            </a:pPr>
            <a:r>
              <a:rPr sz="750" b="0" i="0">
                <a:solidFill>
                  <a:srgbClr val="6E7180"/>
                </a:solidFill>
                <a:latin typeface="Geist"/>
              </a:rPr>
              <a:t>Government of Punjab</a:t>
            </a:r>
          </a:p>
        </p:txBody>
      </p:sp>
      <p:pic>
        <p:nvPicPr>
          <p:cNvPr id="31" name="Picture 30" descr="x_asrivastava.png"/>
          <p:cNvPicPr>
            <a:picLocks noChangeAspect="1"/>
          </p:cNvPicPr>
          <p:nvPr/>
        </p:nvPicPr>
        <p:blipFill>
          <a:blip r:embed="rId9"/>
          <a:stretch>
            <a:fillRect/>
          </a:stretch>
        </p:blipFill>
        <p:spPr>
          <a:xfrm>
            <a:off x="1353312" y="4206240"/>
            <a:ext cx="640080" cy="640080"/>
          </a:xfrm>
          <a:prstGeom prst="rect">
            <a:avLst/>
          </a:prstGeom>
        </p:spPr>
      </p:pic>
      <p:sp>
        <p:nvSpPr>
          <p:cNvPr id="32" name="TextBox 31"/>
          <p:cNvSpPr txBox="1"/>
          <p:nvPr/>
        </p:nvSpPr>
        <p:spPr>
          <a:xfrm>
            <a:off x="566928" y="4882896"/>
            <a:ext cx="2121408" cy="274320"/>
          </a:xfrm>
          <a:prstGeom prst="rect">
            <a:avLst/>
          </a:prstGeom>
          <a:noFill/>
        </p:spPr>
        <p:txBody>
          <a:bodyPr wrap="square" lIns="0" rIns="0" tIns="0" bIns="0" anchor="t">
            <a:spAutoFit/>
          </a:bodyPr>
          <a:lstStyle/>
          <a:p>
            <a:pPr algn="ctr">
              <a:lnSpc>
                <a:spcPct val="100000"/>
              </a:lnSpc>
            </a:pPr>
            <a:r>
              <a:rPr sz="850" b="1" i="0">
                <a:solidFill>
                  <a:srgbClr val="16181D"/>
                </a:solidFill>
                <a:latin typeface="Montserrat"/>
              </a:rPr>
              <a:t>Akhilesh Srivastava</a:t>
            </a:r>
          </a:p>
        </p:txBody>
      </p:sp>
      <p:sp>
        <p:nvSpPr>
          <p:cNvPr id="33" name="TextBox 32"/>
          <p:cNvSpPr txBox="1"/>
          <p:nvPr/>
        </p:nvSpPr>
        <p:spPr>
          <a:xfrm>
            <a:off x="566928" y="5074920"/>
            <a:ext cx="2121408" cy="274320"/>
          </a:xfrm>
          <a:prstGeom prst="rect">
            <a:avLst/>
          </a:prstGeom>
          <a:noFill/>
        </p:spPr>
        <p:txBody>
          <a:bodyPr wrap="square" lIns="0" rIns="0" tIns="0" bIns="0" anchor="t">
            <a:spAutoFit/>
          </a:bodyPr>
          <a:lstStyle/>
          <a:p>
            <a:pPr algn="ctr">
              <a:lnSpc>
                <a:spcPct val="100000"/>
              </a:lnSpc>
            </a:pPr>
            <a:r>
              <a:rPr sz="750" b="0" i="0">
                <a:solidFill>
                  <a:srgbClr val="6E7180"/>
                </a:solidFill>
                <a:latin typeface="Geist"/>
              </a:rPr>
              <a:t>ITS India · IRF</a:t>
            </a:r>
          </a:p>
        </p:txBody>
      </p:sp>
      <p:pic>
        <p:nvPicPr>
          <p:cNvPr id="34" name="Picture 33" descr="x_raman.png"/>
          <p:cNvPicPr>
            <a:picLocks noChangeAspect="1"/>
          </p:cNvPicPr>
          <p:nvPr/>
        </p:nvPicPr>
        <p:blipFill>
          <a:blip r:embed="rId10"/>
          <a:stretch>
            <a:fillRect/>
          </a:stretch>
        </p:blipFill>
        <p:spPr>
          <a:xfrm>
            <a:off x="3566160" y="4206240"/>
            <a:ext cx="640080" cy="640080"/>
          </a:xfrm>
          <a:prstGeom prst="rect">
            <a:avLst/>
          </a:prstGeom>
        </p:spPr>
      </p:pic>
      <p:sp>
        <p:nvSpPr>
          <p:cNvPr id="35" name="TextBox 34"/>
          <p:cNvSpPr txBox="1"/>
          <p:nvPr/>
        </p:nvSpPr>
        <p:spPr>
          <a:xfrm>
            <a:off x="2779776" y="4882896"/>
            <a:ext cx="2121408" cy="274320"/>
          </a:xfrm>
          <a:prstGeom prst="rect">
            <a:avLst/>
          </a:prstGeom>
          <a:noFill/>
        </p:spPr>
        <p:txBody>
          <a:bodyPr wrap="square" lIns="0" rIns="0" tIns="0" bIns="0" anchor="t">
            <a:spAutoFit/>
          </a:bodyPr>
          <a:lstStyle/>
          <a:p>
            <a:pPr algn="ctr">
              <a:lnSpc>
                <a:spcPct val="100000"/>
              </a:lnSpc>
            </a:pPr>
            <a:r>
              <a:rPr sz="850" b="1" i="0">
                <a:solidFill>
                  <a:srgbClr val="16181D"/>
                </a:solidFill>
                <a:latin typeface="Montserrat"/>
              </a:rPr>
              <a:t>Aishwarya Raman</a:t>
            </a:r>
          </a:p>
        </p:txBody>
      </p:sp>
      <p:sp>
        <p:nvSpPr>
          <p:cNvPr id="36" name="TextBox 35"/>
          <p:cNvSpPr txBox="1"/>
          <p:nvPr/>
        </p:nvSpPr>
        <p:spPr>
          <a:xfrm>
            <a:off x="2779776" y="5074920"/>
            <a:ext cx="2121408" cy="274320"/>
          </a:xfrm>
          <a:prstGeom prst="rect">
            <a:avLst/>
          </a:prstGeom>
          <a:noFill/>
        </p:spPr>
        <p:txBody>
          <a:bodyPr wrap="square" lIns="0" rIns="0" tIns="0" bIns="0" anchor="t">
            <a:spAutoFit/>
          </a:bodyPr>
          <a:lstStyle/>
          <a:p>
            <a:pPr algn="ctr">
              <a:lnSpc>
                <a:spcPct val="100000"/>
              </a:lnSpc>
            </a:pPr>
            <a:r>
              <a:rPr sz="750" b="0" i="0">
                <a:solidFill>
                  <a:srgbClr val="6E7180"/>
                </a:solidFill>
                <a:latin typeface="Geist"/>
              </a:rPr>
              <a:t>OMI Foundation</a:t>
            </a:r>
          </a:p>
        </p:txBody>
      </p:sp>
      <p:pic>
        <p:nvPicPr>
          <p:cNvPr id="37" name="Picture 36" descr="x_nkumar.png"/>
          <p:cNvPicPr>
            <a:picLocks noChangeAspect="1"/>
          </p:cNvPicPr>
          <p:nvPr/>
        </p:nvPicPr>
        <p:blipFill>
          <a:blip r:embed="rId11"/>
          <a:stretch>
            <a:fillRect/>
          </a:stretch>
        </p:blipFill>
        <p:spPr>
          <a:xfrm>
            <a:off x="5779008" y="4206240"/>
            <a:ext cx="640080" cy="640080"/>
          </a:xfrm>
          <a:prstGeom prst="rect">
            <a:avLst/>
          </a:prstGeom>
        </p:spPr>
      </p:pic>
      <p:sp>
        <p:nvSpPr>
          <p:cNvPr id="38" name="TextBox 37"/>
          <p:cNvSpPr txBox="1"/>
          <p:nvPr/>
        </p:nvSpPr>
        <p:spPr>
          <a:xfrm>
            <a:off x="4992624" y="4882896"/>
            <a:ext cx="2121408" cy="274320"/>
          </a:xfrm>
          <a:prstGeom prst="rect">
            <a:avLst/>
          </a:prstGeom>
          <a:noFill/>
        </p:spPr>
        <p:txBody>
          <a:bodyPr wrap="square" lIns="0" rIns="0" tIns="0" bIns="0" anchor="t">
            <a:spAutoFit/>
          </a:bodyPr>
          <a:lstStyle/>
          <a:p>
            <a:pPr algn="ctr">
              <a:lnSpc>
                <a:spcPct val="100000"/>
              </a:lnSpc>
            </a:pPr>
            <a:r>
              <a:rPr sz="850" b="1" i="0">
                <a:solidFill>
                  <a:srgbClr val="16181D"/>
                </a:solidFill>
                <a:latin typeface="Montserrat"/>
              </a:rPr>
              <a:t>Neeraj Kumar</a:t>
            </a:r>
          </a:p>
        </p:txBody>
      </p:sp>
      <p:sp>
        <p:nvSpPr>
          <p:cNvPr id="39" name="TextBox 38"/>
          <p:cNvSpPr txBox="1"/>
          <p:nvPr/>
        </p:nvSpPr>
        <p:spPr>
          <a:xfrm>
            <a:off x="4992624" y="5074920"/>
            <a:ext cx="2121408" cy="274320"/>
          </a:xfrm>
          <a:prstGeom prst="rect">
            <a:avLst/>
          </a:prstGeom>
          <a:noFill/>
        </p:spPr>
        <p:txBody>
          <a:bodyPr wrap="square" lIns="0" rIns="0" tIns="0" bIns="0" anchor="t">
            <a:spAutoFit/>
          </a:bodyPr>
          <a:lstStyle/>
          <a:p>
            <a:pPr algn="ctr">
              <a:lnSpc>
                <a:spcPct val="100000"/>
              </a:lnSpc>
            </a:pPr>
            <a:r>
              <a:rPr sz="750" b="0" i="0">
                <a:solidFill>
                  <a:srgbClr val="6E7180"/>
                </a:solidFill>
                <a:latin typeface="Geist"/>
              </a:rPr>
              <a:t>Tata AIG</a:t>
            </a:r>
          </a:p>
        </p:txBody>
      </p:sp>
      <p:pic>
        <p:nvPicPr>
          <p:cNvPr id="40" name="Picture 39" descr="x_pandey.png"/>
          <p:cNvPicPr>
            <a:picLocks noChangeAspect="1"/>
          </p:cNvPicPr>
          <p:nvPr/>
        </p:nvPicPr>
        <p:blipFill>
          <a:blip r:embed="rId12"/>
          <a:stretch>
            <a:fillRect/>
          </a:stretch>
        </p:blipFill>
        <p:spPr>
          <a:xfrm>
            <a:off x="7991856" y="4206240"/>
            <a:ext cx="640080" cy="640080"/>
          </a:xfrm>
          <a:prstGeom prst="rect">
            <a:avLst/>
          </a:prstGeom>
        </p:spPr>
      </p:pic>
      <p:sp>
        <p:nvSpPr>
          <p:cNvPr id="41" name="TextBox 40"/>
          <p:cNvSpPr txBox="1"/>
          <p:nvPr/>
        </p:nvSpPr>
        <p:spPr>
          <a:xfrm>
            <a:off x="7205472" y="4882896"/>
            <a:ext cx="2121408" cy="274320"/>
          </a:xfrm>
          <a:prstGeom prst="rect">
            <a:avLst/>
          </a:prstGeom>
          <a:noFill/>
        </p:spPr>
        <p:txBody>
          <a:bodyPr wrap="square" lIns="0" rIns="0" tIns="0" bIns="0" anchor="t">
            <a:spAutoFit/>
          </a:bodyPr>
          <a:lstStyle/>
          <a:p>
            <a:pPr algn="ctr">
              <a:lnSpc>
                <a:spcPct val="100000"/>
              </a:lnSpc>
            </a:pPr>
            <a:r>
              <a:rPr sz="850" b="1" i="0">
                <a:solidFill>
                  <a:srgbClr val="16181D"/>
                </a:solidFill>
                <a:latin typeface="Montserrat"/>
              </a:rPr>
              <a:t>R.S. Pandey</a:t>
            </a:r>
          </a:p>
        </p:txBody>
      </p:sp>
      <p:sp>
        <p:nvSpPr>
          <p:cNvPr id="42" name="TextBox 41"/>
          <p:cNvSpPr txBox="1"/>
          <p:nvPr/>
        </p:nvSpPr>
        <p:spPr>
          <a:xfrm>
            <a:off x="7205472" y="5074920"/>
            <a:ext cx="2121408" cy="274320"/>
          </a:xfrm>
          <a:prstGeom prst="rect">
            <a:avLst/>
          </a:prstGeom>
          <a:noFill/>
        </p:spPr>
        <p:txBody>
          <a:bodyPr wrap="square" lIns="0" rIns="0" tIns="0" bIns="0" anchor="t">
            <a:spAutoFit/>
          </a:bodyPr>
          <a:lstStyle/>
          <a:p>
            <a:pPr algn="ctr">
              <a:lnSpc>
                <a:spcPct val="100000"/>
              </a:lnSpc>
            </a:pPr>
            <a:r>
              <a:rPr sz="750" b="0" i="0">
                <a:solidFill>
                  <a:srgbClr val="6E7180"/>
                </a:solidFill>
                <a:latin typeface="Geist"/>
              </a:rPr>
              <a:t>FICCI Road Safety</a:t>
            </a:r>
          </a:p>
        </p:txBody>
      </p:sp>
      <p:pic>
        <p:nvPicPr>
          <p:cNvPr id="43" name="Picture 42" descr="x_dash.png"/>
          <p:cNvPicPr>
            <a:picLocks noChangeAspect="1"/>
          </p:cNvPicPr>
          <p:nvPr/>
        </p:nvPicPr>
        <p:blipFill>
          <a:blip r:embed="rId13"/>
          <a:stretch>
            <a:fillRect/>
          </a:stretch>
        </p:blipFill>
        <p:spPr>
          <a:xfrm>
            <a:off x="10204704" y="4206240"/>
            <a:ext cx="640080" cy="640080"/>
          </a:xfrm>
          <a:prstGeom prst="rect">
            <a:avLst/>
          </a:prstGeom>
        </p:spPr>
      </p:pic>
      <p:sp>
        <p:nvSpPr>
          <p:cNvPr id="44" name="TextBox 43"/>
          <p:cNvSpPr txBox="1"/>
          <p:nvPr/>
        </p:nvSpPr>
        <p:spPr>
          <a:xfrm>
            <a:off x="9418320" y="4882896"/>
            <a:ext cx="2121408" cy="274320"/>
          </a:xfrm>
          <a:prstGeom prst="rect">
            <a:avLst/>
          </a:prstGeom>
          <a:noFill/>
        </p:spPr>
        <p:txBody>
          <a:bodyPr wrap="square" lIns="0" rIns="0" tIns="0" bIns="0" anchor="t">
            <a:spAutoFit/>
          </a:bodyPr>
          <a:lstStyle/>
          <a:p>
            <a:pPr algn="ctr">
              <a:lnSpc>
                <a:spcPct val="100000"/>
              </a:lnSpc>
            </a:pPr>
            <a:r>
              <a:rPr sz="850" b="1" i="0">
                <a:solidFill>
                  <a:srgbClr val="16181D"/>
                </a:solidFill>
                <a:latin typeface="Montserrat"/>
              </a:rPr>
              <a:t>Dipak K. Dash</a:t>
            </a:r>
          </a:p>
        </p:txBody>
      </p:sp>
      <p:sp>
        <p:nvSpPr>
          <p:cNvPr id="45" name="TextBox 44"/>
          <p:cNvSpPr txBox="1"/>
          <p:nvPr/>
        </p:nvSpPr>
        <p:spPr>
          <a:xfrm>
            <a:off x="9418320" y="5074920"/>
            <a:ext cx="2121408" cy="274320"/>
          </a:xfrm>
          <a:prstGeom prst="rect">
            <a:avLst/>
          </a:prstGeom>
          <a:noFill/>
        </p:spPr>
        <p:txBody>
          <a:bodyPr wrap="square" lIns="0" rIns="0" tIns="0" bIns="0" anchor="t">
            <a:spAutoFit/>
          </a:bodyPr>
          <a:lstStyle/>
          <a:p>
            <a:pPr algn="ctr">
              <a:lnSpc>
                <a:spcPct val="100000"/>
              </a:lnSpc>
            </a:pPr>
            <a:r>
              <a:rPr sz="750" b="0" i="0">
                <a:solidFill>
                  <a:srgbClr val="6E7180"/>
                </a:solidFill>
                <a:latin typeface="Geist"/>
              </a:rPr>
              <a:t>Times of India</a:t>
            </a:r>
          </a:p>
        </p:txBody>
      </p:sp>
      <p:sp>
        <p:nvSpPr>
          <p:cNvPr id="46" name="Rounded Rectangle 45"/>
          <p:cNvSpPr/>
          <p:nvPr/>
        </p:nvSpPr>
        <p:spPr>
          <a:xfrm>
            <a:off x="566928" y="5559552"/>
            <a:ext cx="11057839" cy="621792"/>
          </a:xfrm>
          <a:prstGeom prst="roundRect">
            <a:avLst>
              <a:gd name="adj" fmla="val 14000"/>
            </a:avLst>
          </a:prstGeom>
          <a:solidFill>
            <a:srgbClr val="F7F7FA"/>
          </a:solidFill>
          <a:ln>
            <a:noFill/>
          </a:ln>
          <a:effectLst/>
        </p:spPr>
        <p:txBody>
          <a:bodyPr rtlCol="0" anchor="ctr"/>
          <a:lstStyle/>
          <a:p>
            <a:pPr algn="ctr"/>
          </a:p>
        </p:txBody>
      </p:sp>
      <p:sp>
        <p:nvSpPr>
          <p:cNvPr id="47" name="TextBox 46"/>
          <p:cNvSpPr txBox="1"/>
          <p:nvPr/>
        </p:nvSpPr>
        <p:spPr>
          <a:xfrm>
            <a:off x="768096" y="5623560"/>
            <a:ext cx="10646359" cy="502920"/>
          </a:xfrm>
          <a:prstGeom prst="rect">
            <a:avLst/>
          </a:prstGeom>
          <a:noFill/>
        </p:spPr>
        <p:txBody>
          <a:bodyPr wrap="square" lIns="0" rIns="0" tIns="0" bIns="0" anchor="t">
            <a:spAutoFit/>
          </a:bodyPr>
          <a:lstStyle/>
          <a:p>
            <a:pPr algn="l">
              <a:lnSpc>
                <a:spcPct val="125000"/>
              </a:lnSpc>
            </a:pPr>
            <a:r>
              <a:rPr sz="900" b="1" i="0">
                <a:solidFill>
                  <a:srgbClr val="16181D"/>
                </a:solidFill>
                <a:latin typeface="Geist"/>
              </a:rPr>
              <a:t>Engaged through the National Road Safety Dialogue Series: </a:t>
            </a:r>
            <a:r>
              <a:rPr sz="900" b="0" i="0">
                <a:solidFill>
                  <a:srgbClr val="6E7180"/>
                </a:solidFill>
                <a:latin typeface="Geist"/>
              </a:rPr>
              <a:t>Balraj Bhanot (ex-Chair, CMVR-TSC) · I.V. Rao (TERI; ex-Maruti Suzuki) · D.P. Saste (CIRT / ex-MoRTH) · Dr. Sushma Sagar (AIIMS Trauma) · Dr. S. Velmurugan (CSIR-CRRI), and jurors from OMI, NIUA, WRI, CII and Tata AIG.</a:t>
            </a:r>
          </a:p>
        </p:txBody>
      </p:sp>
      <p:cxnSp>
        <p:nvCxnSpPr>
          <p:cNvPr id="48" name="Connector 47"/>
          <p:cNvCxnSpPr/>
          <p:nvPr/>
        </p:nvCxnSpPr>
        <p:spPr>
          <a:xfrm>
            <a:off x="566928" y="6455664"/>
            <a:ext cx="11057839" cy="0"/>
          </a:xfrm>
          <a:prstGeom prst="line">
            <a:avLst/>
          </a:prstGeom>
          <a:ln w="9525">
            <a:solidFill>
              <a:srgbClr val="E8E9EE"/>
            </a:solidFill>
          </a:ln>
          <a:effectLst/>
        </p:spPr>
      </p:cxnSp>
      <p:sp>
        <p:nvSpPr>
          <p:cNvPr id="49" name="TextBox 48"/>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3</a:t>
            </a:r>
          </a:p>
        </p:txBody>
      </p:sp>
      <p:sp>
        <p:nvSpPr>
          <p:cNvPr id="50" name="TextBox 49"/>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16 / 26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4 OF 5  ·  GIG &amp; TWO-WHEELER SAFETY</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04 · GIG &amp; TWO-WHEELER SAFETY, THE PROBLEM</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The fastest-growing risk on Indian roads </a:t>
            </a:r>
            <a:r>
              <a:rPr sz="2250" b="1" i="0">
                <a:solidFill>
                  <a:srgbClr val="4A35FF"/>
                </a:solidFill>
                <a:latin typeface="Montserrat"/>
              </a:rPr>
              <a:t>rides a two-wheeler</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Gig and delivery work concentrates the exposure: entire working days on the road, on vehicles and licences that see comparatively little scrutiny.</a:t>
            </a:r>
          </a:p>
        </p:txBody>
      </p:sp>
      <p:sp>
        <p:nvSpPr>
          <p:cNvPr id="8" name="Rounded Rectangle 7"/>
          <p:cNvSpPr/>
          <p:nvPr/>
        </p:nvSpPr>
        <p:spPr>
          <a:xfrm>
            <a:off x="566928" y="2148840"/>
            <a:ext cx="2377440" cy="1463040"/>
          </a:xfrm>
          <a:prstGeom prst="roundRect">
            <a:avLst>
              <a:gd name="adj" fmla="val 8000"/>
            </a:avLst>
          </a:prstGeom>
          <a:solidFill>
            <a:srgbClr val="F7F7FA"/>
          </a:solidFill>
          <a:ln>
            <a:noFill/>
          </a:ln>
          <a:effectLst/>
        </p:spPr>
        <p:txBody>
          <a:bodyPr rtlCol="0" anchor="ctr"/>
          <a:lstStyle/>
          <a:p>
            <a:pPr algn="ctr"/>
          </a:p>
        </p:txBody>
      </p:sp>
      <p:sp>
        <p:nvSpPr>
          <p:cNvPr id="9" name="TextBox 8"/>
          <p:cNvSpPr txBox="1"/>
          <p:nvPr/>
        </p:nvSpPr>
        <p:spPr>
          <a:xfrm>
            <a:off x="713232" y="2258568"/>
            <a:ext cx="2084832" cy="411480"/>
          </a:xfrm>
          <a:prstGeom prst="rect">
            <a:avLst/>
          </a:prstGeom>
          <a:noFill/>
        </p:spPr>
        <p:txBody>
          <a:bodyPr wrap="square" lIns="0" rIns="0" tIns="0" bIns="0" anchor="t">
            <a:spAutoFit/>
          </a:bodyPr>
          <a:lstStyle/>
          <a:p>
            <a:pPr algn="l">
              <a:lnSpc>
                <a:spcPct val="128000"/>
              </a:lnSpc>
            </a:pPr>
            <a:r>
              <a:rPr sz="2000" b="1" i="0">
                <a:solidFill>
                  <a:srgbClr val="4A35FF"/>
                </a:solidFill>
                <a:latin typeface="Montserrat"/>
              </a:rPr>
              <a:t>~45%</a:t>
            </a:r>
          </a:p>
        </p:txBody>
      </p:sp>
      <p:sp>
        <p:nvSpPr>
          <p:cNvPr id="10" name="TextBox 9"/>
          <p:cNvSpPr txBox="1"/>
          <p:nvPr/>
        </p:nvSpPr>
        <p:spPr>
          <a:xfrm>
            <a:off x="713232" y="2715768"/>
            <a:ext cx="2084832" cy="822960"/>
          </a:xfrm>
          <a:prstGeom prst="rect">
            <a:avLst/>
          </a:prstGeom>
          <a:noFill/>
        </p:spPr>
        <p:txBody>
          <a:bodyPr wrap="square" lIns="0" rIns="0" tIns="0" bIns="0" anchor="t">
            <a:spAutoFit/>
          </a:bodyPr>
          <a:lstStyle/>
          <a:p>
            <a:pPr algn="l">
              <a:lnSpc>
                <a:spcPct val="120000"/>
              </a:lnSpc>
            </a:pPr>
            <a:r>
              <a:rPr sz="850" b="0" i="0">
                <a:solidFill>
                  <a:srgbClr val="6E7180"/>
                </a:solidFill>
                <a:latin typeface="Geist"/>
              </a:rPr>
              <a:t>of India's crash fatalities are two-wheeler users, and the share rises year on year</a:t>
            </a:r>
          </a:p>
        </p:txBody>
      </p:sp>
      <p:sp>
        <p:nvSpPr>
          <p:cNvPr id="11" name="Rounded Rectangle 10"/>
          <p:cNvSpPr/>
          <p:nvPr/>
        </p:nvSpPr>
        <p:spPr>
          <a:xfrm>
            <a:off x="3054096" y="2148840"/>
            <a:ext cx="2377440" cy="1463040"/>
          </a:xfrm>
          <a:prstGeom prst="roundRect">
            <a:avLst>
              <a:gd name="adj" fmla="val 8000"/>
            </a:avLst>
          </a:prstGeom>
          <a:solidFill>
            <a:srgbClr val="F7F7FA"/>
          </a:solidFill>
          <a:ln>
            <a:noFill/>
          </a:ln>
          <a:effectLst/>
        </p:spPr>
        <p:txBody>
          <a:bodyPr rtlCol="0" anchor="ctr"/>
          <a:lstStyle/>
          <a:p>
            <a:pPr algn="ctr"/>
          </a:p>
        </p:txBody>
      </p:sp>
      <p:sp>
        <p:nvSpPr>
          <p:cNvPr id="12" name="TextBox 11"/>
          <p:cNvSpPr txBox="1"/>
          <p:nvPr/>
        </p:nvSpPr>
        <p:spPr>
          <a:xfrm>
            <a:off x="3200400" y="2258568"/>
            <a:ext cx="2084832" cy="411480"/>
          </a:xfrm>
          <a:prstGeom prst="rect">
            <a:avLst/>
          </a:prstGeom>
          <a:noFill/>
        </p:spPr>
        <p:txBody>
          <a:bodyPr wrap="square" lIns="0" rIns="0" tIns="0" bIns="0" anchor="t">
            <a:spAutoFit/>
          </a:bodyPr>
          <a:lstStyle/>
          <a:p>
            <a:pPr algn="l">
              <a:lnSpc>
                <a:spcPct val="128000"/>
              </a:lnSpc>
            </a:pPr>
            <a:r>
              <a:rPr sz="2000" b="1" i="0">
                <a:solidFill>
                  <a:srgbClr val="4A35FF"/>
                </a:solidFill>
                <a:latin typeface="Montserrat"/>
              </a:rPr>
              <a:t>23.5 M</a:t>
            </a:r>
          </a:p>
        </p:txBody>
      </p:sp>
      <p:sp>
        <p:nvSpPr>
          <p:cNvPr id="13" name="TextBox 12"/>
          <p:cNvSpPr txBox="1"/>
          <p:nvPr/>
        </p:nvSpPr>
        <p:spPr>
          <a:xfrm>
            <a:off x="3200400" y="2715768"/>
            <a:ext cx="2084832" cy="822960"/>
          </a:xfrm>
          <a:prstGeom prst="rect">
            <a:avLst/>
          </a:prstGeom>
          <a:noFill/>
        </p:spPr>
        <p:txBody>
          <a:bodyPr wrap="square" lIns="0" rIns="0" tIns="0" bIns="0" anchor="t">
            <a:spAutoFit/>
          </a:bodyPr>
          <a:lstStyle/>
          <a:p>
            <a:pPr algn="l">
              <a:lnSpc>
                <a:spcPct val="120000"/>
              </a:lnSpc>
            </a:pPr>
            <a:r>
              <a:rPr sz="850" b="0" i="0">
                <a:solidFill>
                  <a:srgbClr val="6E7180"/>
                </a:solidFill>
                <a:latin typeface="Geist"/>
              </a:rPr>
              <a:t>gig and platform workers projected by 2029-30 (NITI Aayog)</a:t>
            </a:r>
          </a:p>
        </p:txBody>
      </p:sp>
      <p:sp>
        <p:nvSpPr>
          <p:cNvPr id="14" name="Rounded Rectangle 13"/>
          <p:cNvSpPr/>
          <p:nvPr/>
        </p:nvSpPr>
        <p:spPr>
          <a:xfrm>
            <a:off x="5541264" y="2148840"/>
            <a:ext cx="2377440" cy="1463040"/>
          </a:xfrm>
          <a:prstGeom prst="roundRect">
            <a:avLst>
              <a:gd name="adj" fmla="val 8000"/>
            </a:avLst>
          </a:prstGeom>
          <a:solidFill>
            <a:srgbClr val="F7F7FA"/>
          </a:solidFill>
          <a:ln>
            <a:noFill/>
          </a:ln>
          <a:effectLst/>
        </p:spPr>
        <p:txBody>
          <a:bodyPr rtlCol="0" anchor="ctr"/>
          <a:lstStyle/>
          <a:p>
            <a:pPr algn="ctr"/>
          </a:p>
        </p:txBody>
      </p:sp>
      <p:sp>
        <p:nvSpPr>
          <p:cNvPr id="15" name="TextBox 14"/>
          <p:cNvSpPr txBox="1"/>
          <p:nvPr/>
        </p:nvSpPr>
        <p:spPr>
          <a:xfrm>
            <a:off x="5687568" y="2258568"/>
            <a:ext cx="2084832" cy="411480"/>
          </a:xfrm>
          <a:prstGeom prst="rect">
            <a:avLst/>
          </a:prstGeom>
          <a:noFill/>
        </p:spPr>
        <p:txBody>
          <a:bodyPr wrap="square" lIns="0" rIns="0" tIns="0" bIns="0" anchor="t">
            <a:spAutoFit/>
          </a:bodyPr>
          <a:lstStyle/>
          <a:p>
            <a:pPr algn="l">
              <a:lnSpc>
                <a:spcPct val="128000"/>
              </a:lnSpc>
            </a:pPr>
            <a:r>
              <a:rPr sz="2000" b="1" i="0">
                <a:solidFill>
                  <a:srgbClr val="4A35FF"/>
                </a:solidFill>
                <a:latin typeface="Montserrat"/>
              </a:rPr>
              <a:t>1 in 2</a:t>
            </a:r>
          </a:p>
        </p:txBody>
      </p:sp>
      <p:sp>
        <p:nvSpPr>
          <p:cNvPr id="16" name="TextBox 15"/>
          <p:cNvSpPr txBox="1"/>
          <p:nvPr/>
        </p:nvSpPr>
        <p:spPr>
          <a:xfrm>
            <a:off x="5687568" y="2715768"/>
            <a:ext cx="2084832" cy="822960"/>
          </a:xfrm>
          <a:prstGeom prst="rect">
            <a:avLst/>
          </a:prstGeom>
          <a:noFill/>
        </p:spPr>
        <p:txBody>
          <a:bodyPr wrap="square" lIns="0" rIns="0" tIns="0" bIns="0" anchor="t">
            <a:spAutoFit/>
          </a:bodyPr>
          <a:lstStyle/>
          <a:p>
            <a:pPr algn="l">
              <a:lnSpc>
                <a:spcPct val="120000"/>
              </a:lnSpc>
            </a:pPr>
            <a:r>
              <a:rPr sz="850" b="0" i="0">
                <a:solidFill>
                  <a:srgbClr val="6E7180"/>
                </a:solidFill>
                <a:latin typeface="Geist"/>
              </a:rPr>
              <a:t>delivery riders in a 431-rider Mumbai crash study had already been in a crash</a:t>
            </a:r>
          </a:p>
        </p:txBody>
      </p:sp>
      <p:sp>
        <p:nvSpPr>
          <p:cNvPr id="17" name="TextBox 16"/>
          <p:cNvSpPr txBox="1"/>
          <p:nvPr/>
        </p:nvSpPr>
        <p:spPr>
          <a:xfrm>
            <a:off x="566928" y="3886200"/>
            <a:ext cx="7315200" cy="1005840"/>
          </a:xfrm>
          <a:prstGeom prst="rect">
            <a:avLst/>
          </a:prstGeom>
          <a:noFill/>
        </p:spPr>
        <p:txBody>
          <a:bodyPr wrap="square" lIns="0" rIns="0" tIns="0" bIns="0" anchor="t">
            <a:spAutoFit/>
          </a:bodyPr>
          <a:lstStyle/>
          <a:p>
            <a:pPr algn="l">
              <a:lnSpc>
                <a:spcPct val="135000"/>
              </a:lnSpc>
            </a:pPr>
            <a:r>
              <a:rPr sz="1050" b="0" i="0">
                <a:solidFill>
                  <a:srgbClr val="16181D"/>
                </a:solidFill>
                <a:latin typeface="Geist"/>
              </a:rPr>
              <a:t>This is also where our road safety and compensation work meet: many gig riders injured on the job are unaware of the compensation they are entitled to. Roughly 70% of the families at our crash-compensation helpdesks are vulnerable road users. Our NextMile ideathon saw student teams working on delivery-rider safety and on compensation reform arrive, independently, at the same population.</a:t>
            </a:r>
          </a:p>
        </p:txBody>
      </p:sp>
      <p:sp>
        <p:nvSpPr>
          <p:cNvPr id="18" name="Rounded Rectangle 17"/>
          <p:cNvSpPr/>
          <p:nvPr/>
        </p:nvSpPr>
        <p:spPr>
          <a:xfrm>
            <a:off x="566928" y="5120640"/>
            <a:ext cx="7315200" cy="960120"/>
          </a:xfrm>
          <a:prstGeom prst="roundRect">
            <a:avLst>
              <a:gd name="adj" fmla="val 10000"/>
            </a:avLst>
          </a:prstGeom>
          <a:solidFill>
            <a:srgbClr val="FDF3E3"/>
          </a:solidFill>
          <a:ln>
            <a:noFill/>
          </a:ln>
          <a:effectLst/>
        </p:spPr>
        <p:txBody>
          <a:bodyPr rtlCol="0" anchor="ctr"/>
          <a:lstStyle/>
          <a:p>
            <a:pPr algn="ctr"/>
          </a:p>
        </p:txBody>
      </p:sp>
      <p:sp>
        <p:nvSpPr>
          <p:cNvPr id="19" name="TextBox 18"/>
          <p:cNvSpPr txBox="1"/>
          <p:nvPr/>
        </p:nvSpPr>
        <p:spPr>
          <a:xfrm>
            <a:off x="768096" y="5230368"/>
            <a:ext cx="6949440" cy="777240"/>
          </a:xfrm>
          <a:prstGeom prst="rect">
            <a:avLst/>
          </a:prstGeom>
          <a:noFill/>
        </p:spPr>
        <p:txBody>
          <a:bodyPr wrap="square" lIns="0" rIns="0" tIns="0" bIns="0" anchor="t">
            <a:spAutoFit/>
          </a:bodyPr>
          <a:lstStyle/>
          <a:p>
            <a:pPr algn="l">
              <a:lnSpc>
                <a:spcPct val="130000"/>
              </a:lnSpc>
            </a:pPr>
            <a:r>
              <a:rPr sz="1050" b="1" i="0">
                <a:solidFill>
                  <a:srgbClr val="E58900"/>
                </a:solidFill>
                <a:latin typeface="Geist"/>
              </a:rPr>
              <a:t>Enforcement sees the pressure too: </a:t>
            </a:r>
            <a:r>
              <a:rPr sz="1050" b="0" i="0">
                <a:solidFill>
                  <a:srgbClr val="E58900"/>
                </a:solidFill>
                <a:latin typeface="Geist"/>
              </a:rPr>
              <a:t>Bengaluru's challans against delivery riders rose from 30,968 in 2023 to 63,718 in the first nine months of 2025.</a:t>
            </a:r>
          </a:p>
        </p:txBody>
      </p:sp>
      <p:pic>
        <p:nvPicPr>
          <p:cNvPr id="20" name="Picture 19" descr="ph_gig_riders.jpg_3.75x3.50_0.35.jpg"/>
          <p:cNvPicPr>
            <a:picLocks noChangeAspect="1"/>
          </p:cNvPicPr>
          <p:nvPr/>
        </p:nvPicPr>
        <p:blipFill>
          <a:blip r:embed="rId2"/>
          <a:stretch>
            <a:fillRect/>
          </a:stretch>
        </p:blipFill>
        <p:spPr>
          <a:xfrm>
            <a:off x="8183879" y="2148840"/>
            <a:ext cx="3429000" cy="3200400"/>
          </a:xfrm>
          <a:prstGeom prst="rect">
            <a:avLst/>
          </a:prstGeom>
        </p:spPr>
      </p:pic>
      <p:sp>
        <p:nvSpPr>
          <p:cNvPr id="21" name="Rectangle 20"/>
          <p:cNvSpPr/>
          <p:nvPr/>
        </p:nvSpPr>
        <p:spPr>
          <a:xfrm>
            <a:off x="8183879" y="2148840"/>
            <a:ext cx="3429000" cy="3200400"/>
          </a:xfrm>
          <a:prstGeom prst="rect">
            <a:avLst/>
          </a:prstGeom>
          <a:noFill/>
          <a:ln w="12700">
            <a:solidFill>
              <a:srgbClr val="E8E9EE"/>
            </a:solidFill>
          </a:ln>
          <a:effectLst/>
        </p:spPr>
        <p:txBody>
          <a:bodyPr rtlCol="0" anchor="ctr"/>
          <a:lstStyle/>
          <a:p>
            <a:pPr algn="ctr"/>
          </a:p>
        </p:txBody>
      </p:sp>
      <p:sp>
        <p:nvSpPr>
          <p:cNvPr id="22" name="TextBox 21"/>
          <p:cNvSpPr txBox="1"/>
          <p:nvPr/>
        </p:nvSpPr>
        <p:spPr>
          <a:xfrm>
            <a:off x="8183879" y="5394960"/>
            <a:ext cx="342900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Delivery-rider outreach with Swiggy and Instamart riders, Road Safety Month 2026.</a:t>
            </a:r>
          </a:p>
        </p:txBody>
      </p:sp>
      <p:cxnSp>
        <p:nvCxnSpPr>
          <p:cNvPr id="23" name="Connector 22"/>
          <p:cNvCxnSpPr/>
          <p:nvPr/>
        </p:nvCxnSpPr>
        <p:spPr>
          <a:xfrm>
            <a:off x="566928" y="6455664"/>
            <a:ext cx="11057839" cy="0"/>
          </a:xfrm>
          <a:prstGeom prst="line">
            <a:avLst/>
          </a:prstGeom>
          <a:ln w="9525">
            <a:solidFill>
              <a:srgbClr val="E8E9EE"/>
            </a:solidFill>
          </a:ln>
          <a:effectLst/>
        </p:spPr>
      </p:cxnSp>
      <p:sp>
        <p:nvSpPr>
          <p:cNvPr id="24" name="TextBox 23"/>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3</a:t>
            </a:r>
          </a:p>
        </p:txBody>
      </p:sp>
      <p:sp>
        <p:nvSpPr>
          <p:cNvPr id="25" name="TextBox 24"/>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17 / 26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4 OF 5  ·  GIG &amp; TWO-WHEELER SAFETY</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04 · GIG &amp; TWO-WHEELER SAFETY, OUR RESEARCH</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'When Risks Become Routine', </a:t>
            </a:r>
            <a:r>
              <a:rPr sz="2250" b="1" i="0">
                <a:solidFill>
                  <a:srgbClr val="4A35FF"/>
                </a:solidFill>
                <a:latin typeface="Montserrat"/>
              </a:rPr>
              <a:t>published February 2026</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A study of the road risk produced by delivery and ride-hailing work: 40 pages, 87 references, fieldwork on the road with riders.</a:t>
            </a:r>
          </a:p>
        </p:txBody>
      </p:sp>
      <p:sp>
        <p:nvSpPr>
          <p:cNvPr id="8" name="Oval 7"/>
          <p:cNvSpPr/>
          <p:nvPr/>
        </p:nvSpPr>
        <p:spPr>
          <a:xfrm>
            <a:off x="566928" y="2103120"/>
            <a:ext cx="365760" cy="365760"/>
          </a:xfrm>
          <a:prstGeom prst="ellipse">
            <a:avLst/>
          </a:prstGeom>
          <a:solidFill>
            <a:srgbClr val="FDF3E3"/>
          </a:solidFill>
          <a:ln>
            <a:noFill/>
          </a:ln>
          <a:effectLst/>
        </p:spPr>
        <p:txBody>
          <a:bodyPr rtlCol="0" anchor="ctr"/>
          <a:lstStyle/>
          <a:p>
            <a:pPr algn="ctr"/>
          </a:p>
        </p:txBody>
      </p:sp>
      <p:pic>
        <p:nvPicPr>
          <p:cNvPr id="9" name="Picture 8" descr="banknote_E58900_256_2.0.png"/>
          <p:cNvPicPr>
            <a:picLocks noChangeAspect="1"/>
          </p:cNvPicPr>
          <p:nvPr/>
        </p:nvPicPr>
        <p:blipFill>
          <a:blip r:embed="rId2"/>
          <a:stretch>
            <a:fillRect/>
          </a:stretch>
        </p:blipFill>
        <p:spPr>
          <a:xfrm>
            <a:off x="654710" y="2190902"/>
            <a:ext cx="190195" cy="190195"/>
          </a:xfrm>
          <a:prstGeom prst="rect">
            <a:avLst/>
          </a:prstGeom>
        </p:spPr>
      </p:pic>
      <p:sp>
        <p:nvSpPr>
          <p:cNvPr id="10" name="TextBox 9"/>
          <p:cNvSpPr txBox="1"/>
          <p:nvPr/>
        </p:nvSpPr>
        <p:spPr>
          <a:xfrm>
            <a:off x="1097280" y="2084832"/>
            <a:ext cx="2377440" cy="457200"/>
          </a:xfrm>
          <a:prstGeom prst="rect">
            <a:avLst/>
          </a:prstGeom>
          <a:noFill/>
        </p:spPr>
        <p:txBody>
          <a:bodyPr wrap="square" lIns="0" rIns="0" tIns="0" bIns="0" anchor="t">
            <a:spAutoFit/>
          </a:bodyPr>
          <a:lstStyle/>
          <a:p>
            <a:pPr algn="l">
              <a:lnSpc>
                <a:spcPct val="105000"/>
              </a:lnSpc>
            </a:pPr>
            <a:r>
              <a:rPr sz="1100" b="1" i="0">
                <a:solidFill>
                  <a:srgbClr val="16181D"/>
                </a:solidFill>
                <a:latin typeface="Montserrat"/>
              </a:rPr>
              <a:t>Structural &amp; occupational conditions</a:t>
            </a:r>
          </a:p>
        </p:txBody>
      </p:sp>
      <p:sp>
        <p:nvSpPr>
          <p:cNvPr id="11" name="TextBox 10"/>
          <p:cNvSpPr txBox="1"/>
          <p:nvPr/>
        </p:nvSpPr>
        <p:spPr>
          <a:xfrm>
            <a:off x="3566160" y="2084832"/>
            <a:ext cx="3977640" cy="685800"/>
          </a:xfrm>
          <a:prstGeom prst="rect">
            <a:avLst/>
          </a:prstGeom>
          <a:noFill/>
        </p:spPr>
        <p:txBody>
          <a:bodyPr wrap="square" lIns="0" rIns="0" tIns="0" bIns="0" anchor="t">
            <a:spAutoFit/>
          </a:bodyPr>
          <a:lstStyle/>
          <a:p>
            <a:pPr algn="l">
              <a:lnSpc>
                <a:spcPct val="122000"/>
              </a:lnSpc>
            </a:pPr>
            <a:r>
              <a:rPr sz="900" b="0" i="0">
                <a:solidFill>
                  <a:srgbClr val="6E7180"/>
                </a:solidFill>
                <a:latin typeface="Geist"/>
              </a:rPr>
              <a:t>Pay-per-piece incentive design and delivery timelines create sustained time pressure over long shifts.</a:t>
            </a:r>
          </a:p>
        </p:txBody>
      </p:sp>
      <p:sp>
        <p:nvSpPr>
          <p:cNvPr id="12" name="Oval 11"/>
          <p:cNvSpPr/>
          <p:nvPr/>
        </p:nvSpPr>
        <p:spPr>
          <a:xfrm>
            <a:off x="566928" y="2852928"/>
            <a:ext cx="365760" cy="365760"/>
          </a:xfrm>
          <a:prstGeom prst="ellipse">
            <a:avLst/>
          </a:prstGeom>
          <a:solidFill>
            <a:srgbClr val="FDEFEC"/>
          </a:solidFill>
          <a:ln>
            <a:noFill/>
          </a:ln>
          <a:effectLst/>
        </p:spPr>
        <p:txBody>
          <a:bodyPr rtlCol="0" anchor="ctr"/>
          <a:lstStyle/>
          <a:p>
            <a:pPr algn="ctr"/>
          </a:p>
        </p:txBody>
      </p:sp>
      <p:pic>
        <p:nvPicPr>
          <p:cNvPr id="13" name="Picture 12" descr="hard-hat_E11900_256_2.0.png"/>
          <p:cNvPicPr>
            <a:picLocks noChangeAspect="1"/>
          </p:cNvPicPr>
          <p:nvPr/>
        </p:nvPicPr>
        <p:blipFill>
          <a:blip r:embed="rId3"/>
          <a:stretch>
            <a:fillRect/>
          </a:stretch>
        </p:blipFill>
        <p:spPr>
          <a:xfrm>
            <a:off x="654710" y="2940710"/>
            <a:ext cx="190195" cy="190195"/>
          </a:xfrm>
          <a:prstGeom prst="rect">
            <a:avLst/>
          </a:prstGeom>
        </p:spPr>
      </p:pic>
      <p:sp>
        <p:nvSpPr>
          <p:cNvPr id="14" name="TextBox 13"/>
          <p:cNvSpPr txBox="1"/>
          <p:nvPr/>
        </p:nvSpPr>
        <p:spPr>
          <a:xfrm>
            <a:off x="1097280" y="2834640"/>
            <a:ext cx="2377440" cy="457200"/>
          </a:xfrm>
          <a:prstGeom prst="rect">
            <a:avLst/>
          </a:prstGeom>
          <a:noFill/>
        </p:spPr>
        <p:txBody>
          <a:bodyPr wrap="square" lIns="0" rIns="0" tIns="0" bIns="0" anchor="t">
            <a:spAutoFit/>
          </a:bodyPr>
          <a:lstStyle/>
          <a:p>
            <a:pPr algn="l">
              <a:lnSpc>
                <a:spcPct val="105000"/>
              </a:lnSpc>
            </a:pPr>
            <a:r>
              <a:rPr sz="1100" b="1" i="0">
                <a:solidFill>
                  <a:srgbClr val="16181D"/>
                </a:solidFill>
                <a:latin typeface="Montserrat"/>
              </a:rPr>
              <a:t>Operational &amp; behavioural risk</a:t>
            </a:r>
          </a:p>
        </p:txBody>
      </p:sp>
      <p:sp>
        <p:nvSpPr>
          <p:cNvPr id="15" name="TextBox 14"/>
          <p:cNvSpPr txBox="1"/>
          <p:nvPr/>
        </p:nvSpPr>
        <p:spPr>
          <a:xfrm>
            <a:off x="3566160" y="2834640"/>
            <a:ext cx="3977640" cy="685800"/>
          </a:xfrm>
          <a:prstGeom prst="rect">
            <a:avLst/>
          </a:prstGeom>
          <a:noFill/>
        </p:spPr>
        <p:txBody>
          <a:bodyPr wrap="square" lIns="0" rIns="0" tIns="0" bIns="0" anchor="t">
            <a:spAutoFit/>
          </a:bodyPr>
          <a:lstStyle/>
          <a:p>
            <a:pPr algn="l">
              <a:lnSpc>
                <a:spcPct val="122000"/>
              </a:lnSpc>
            </a:pPr>
            <a:r>
              <a:rPr sz="900" b="0" i="0">
                <a:solidFill>
                  <a:srgbClr val="6E7180"/>
                </a:solidFill>
                <a:latin typeface="Geist"/>
              </a:rPr>
              <a:t>Helmet non-compliance, largely self-taught rider training, and phone use while riding under app-driven time pressure.</a:t>
            </a:r>
          </a:p>
        </p:txBody>
      </p:sp>
      <p:sp>
        <p:nvSpPr>
          <p:cNvPr id="16" name="Oval 15"/>
          <p:cNvSpPr/>
          <p:nvPr/>
        </p:nvSpPr>
        <p:spPr>
          <a:xfrm>
            <a:off x="566928" y="3602736"/>
            <a:ext cx="365760" cy="365760"/>
          </a:xfrm>
          <a:prstGeom prst="ellipse">
            <a:avLst/>
          </a:prstGeom>
          <a:solidFill>
            <a:srgbClr val="EFEDFF"/>
          </a:solidFill>
          <a:ln>
            <a:noFill/>
          </a:ln>
          <a:effectLst/>
        </p:spPr>
        <p:txBody>
          <a:bodyPr rtlCol="0" anchor="ctr"/>
          <a:lstStyle/>
          <a:p>
            <a:pPr algn="ctr"/>
          </a:p>
        </p:txBody>
      </p:sp>
      <p:pic>
        <p:nvPicPr>
          <p:cNvPr id="17" name="Picture 16" descr="git-compare_4A35FF_256_2.0.png"/>
          <p:cNvPicPr>
            <a:picLocks noChangeAspect="1"/>
          </p:cNvPicPr>
          <p:nvPr/>
        </p:nvPicPr>
        <p:blipFill>
          <a:blip r:embed="rId4"/>
          <a:stretch>
            <a:fillRect/>
          </a:stretch>
        </p:blipFill>
        <p:spPr>
          <a:xfrm>
            <a:off x="654710" y="3690518"/>
            <a:ext cx="190195" cy="190195"/>
          </a:xfrm>
          <a:prstGeom prst="rect">
            <a:avLst/>
          </a:prstGeom>
        </p:spPr>
      </p:pic>
      <p:sp>
        <p:nvSpPr>
          <p:cNvPr id="18" name="TextBox 17"/>
          <p:cNvSpPr txBox="1"/>
          <p:nvPr/>
        </p:nvSpPr>
        <p:spPr>
          <a:xfrm>
            <a:off x="1097280" y="3584448"/>
            <a:ext cx="2377440" cy="457200"/>
          </a:xfrm>
          <a:prstGeom prst="rect">
            <a:avLst/>
          </a:prstGeom>
          <a:noFill/>
        </p:spPr>
        <p:txBody>
          <a:bodyPr wrap="square" lIns="0" rIns="0" tIns="0" bIns="0" anchor="t">
            <a:spAutoFit/>
          </a:bodyPr>
          <a:lstStyle/>
          <a:p>
            <a:pPr algn="l">
              <a:lnSpc>
                <a:spcPct val="105000"/>
              </a:lnSpc>
            </a:pPr>
            <a:r>
              <a:rPr sz="1100" b="1" i="0">
                <a:solidFill>
                  <a:srgbClr val="16181D"/>
                </a:solidFill>
                <a:latin typeface="Montserrat"/>
              </a:rPr>
              <a:t>Data fragmentation</a:t>
            </a:r>
          </a:p>
        </p:txBody>
      </p:sp>
      <p:sp>
        <p:nvSpPr>
          <p:cNvPr id="19" name="TextBox 18"/>
          <p:cNvSpPr txBox="1"/>
          <p:nvPr/>
        </p:nvSpPr>
        <p:spPr>
          <a:xfrm>
            <a:off x="3566160" y="3584448"/>
            <a:ext cx="3977640" cy="685800"/>
          </a:xfrm>
          <a:prstGeom prst="rect">
            <a:avLst/>
          </a:prstGeom>
          <a:noFill/>
        </p:spPr>
        <p:txBody>
          <a:bodyPr wrap="square" lIns="0" rIns="0" tIns="0" bIns="0" anchor="t">
            <a:spAutoFit/>
          </a:bodyPr>
          <a:lstStyle/>
          <a:p>
            <a:pPr algn="l">
              <a:lnSpc>
                <a:spcPct val="122000"/>
              </a:lnSpc>
            </a:pPr>
            <a:r>
              <a:rPr sz="900" b="0" i="0">
                <a:solidFill>
                  <a:srgbClr val="6E7180"/>
                </a:solidFill>
                <a:latin typeface="Geist"/>
              </a:rPr>
              <a:t>Crash and near-miss data sit separately with platforms, insurers and police; no one holds a shared view of rider-level risk.</a:t>
            </a:r>
          </a:p>
        </p:txBody>
      </p:sp>
      <p:sp>
        <p:nvSpPr>
          <p:cNvPr id="20" name="Oval 19"/>
          <p:cNvSpPr/>
          <p:nvPr/>
        </p:nvSpPr>
        <p:spPr>
          <a:xfrm>
            <a:off x="566928" y="4352544"/>
            <a:ext cx="365760" cy="365760"/>
          </a:xfrm>
          <a:prstGeom prst="ellipse">
            <a:avLst/>
          </a:prstGeom>
          <a:solidFill>
            <a:srgbClr val="E7F4F4"/>
          </a:solidFill>
          <a:ln>
            <a:noFill/>
          </a:ln>
          <a:effectLst/>
        </p:spPr>
        <p:txBody>
          <a:bodyPr rtlCol="0" anchor="ctr"/>
          <a:lstStyle/>
          <a:p>
            <a:pPr algn="ctr"/>
          </a:p>
        </p:txBody>
      </p:sp>
      <p:pic>
        <p:nvPicPr>
          <p:cNvPr id="21" name="Picture 20" descr="zap_0E8A8A_256_2.0.png"/>
          <p:cNvPicPr>
            <a:picLocks noChangeAspect="1"/>
          </p:cNvPicPr>
          <p:nvPr/>
        </p:nvPicPr>
        <p:blipFill>
          <a:blip r:embed="rId5"/>
          <a:stretch>
            <a:fillRect/>
          </a:stretch>
        </p:blipFill>
        <p:spPr>
          <a:xfrm>
            <a:off x="654710" y="4440326"/>
            <a:ext cx="190195" cy="190195"/>
          </a:xfrm>
          <a:prstGeom prst="rect">
            <a:avLst/>
          </a:prstGeom>
        </p:spPr>
      </p:pic>
      <p:sp>
        <p:nvSpPr>
          <p:cNvPr id="22" name="TextBox 21"/>
          <p:cNvSpPr txBox="1"/>
          <p:nvPr/>
        </p:nvSpPr>
        <p:spPr>
          <a:xfrm>
            <a:off x="1097280" y="4334256"/>
            <a:ext cx="2377440" cy="457200"/>
          </a:xfrm>
          <a:prstGeom prst="rect">
            <a:avLst/>
          </a:prstGeom>
          <a:noFill/>
        </p:spPr>
        <p:txBody>
          <a:bodyPr wrap="square" lIns="0" rIns="0" tIns="0" bIns="0" anchor="t">
            <a:spAutoFit/>
          </a:bodyPr>
          <a:lstStyle/>
          <a:p>
            <a:pPr algn="l">
              <a:lnSpc>
                <a:spcPct val="105000"/>
              </a:lnSpc>
            </a:pPr>
            <a:r>
              <a:rPr sz="1100" b="1" i="0">
                <a:solidFill>
                  <a:srgbClr val="16181D"/>
                </a:solidFill>
                <a:latin typeface="Montserrat"/>
              </a:rPr>
              <a:t>A regulatory blind spot</a:t>
            </a:r>
          </a:p>
        </p:txBody>
      </p:sp>
      <p:sp>
        <p:nvSpPr>
          <p:cNvPr id="23" name="TextBox 22"/>
          <p:cNvSpPr txBox="1"/>
          <p:nvPr/>
        </p:nvSpPr>
        <p:spPr>
          <a:xfrm>
            <a:off x="3566160" y="4334256"/>
            <a:ext cx="3977640" cy="685800"/>
          </a:xfrm>
          <a:prstGeom prst="rect">
            <a:avLst/>
          </a:prstGeom>
          <a:noFill/>
        </p:spPr>
        <p:txBody>
          <a:bodyPr wrap="square" lIns="0" rIns="0" tIns="0" bIns="0" anchor="t">
            <a:spAutoFit/>
          </a:bodyPr>
          <a:lstStyle/>
          <a:p>
            <a:pPr algn="l">
              <a:lnSpc>
                <a:spcPct val="122000"/>
              </a:lnSpc>
            </a:pPr>
            <a:r>
              <a:rPr sz="900" b="0" i="0">
                <a:solidFill>
                  <a:srgbClr val="6E7180"/>
                </a:solidFill>
                <a:latin typeface="Geist"/>
              </a:rPr>
              <a:t>Low-speed e-bikes under 250W / 25 km/h require no licence or registration, leaving a growing share of last-mile fleets outside routine enforcement.</a:t>
            </a:r>
          </a:p>
        </p:txBody>
      </p:sp>
      <p:sp>
        <p:nvSpPr>
          <p:cNvPr id="24" name="Oval 23"/>
          <p:cNvSpPr/>
          <p:nvPr/>
        </p:nvSpPr>
        <p:spPr>
          <a:xfrm>
            <a:off x="566928" y="5102352"/>
            <a:ext cx="365760" cy="365760"/>
          </a:xfrm>
          <a:prstGeom prst="ellipse">
            <a:avLst/>
          </a:prstGeom>
          <a:solidFill>
            <a:srgbClr val="E9F7F0"/>
          </a:solidFill>
          <a:ln>
            <a:noFill/>
          </a:ln>
          <a:effectLst/>
        </p:spPr>
        <p:txBody>
          <a:bodyPr rtlCol="0" anchor="ctr"/>
          <a:lstStyle/>
          <a:p>
            <a:pPr algn="ctr"/>
          </a:p>
        </p:txBody>
      </p:sp>
      <p:pic>
        <p:nvPicPr>
          <p:cNvPr id="25" name="Picture 24" descr="map-pin_0A9955_256_2.0.png"/>
          <p:cNvPicPr>
            <a:picLocks noChangeAspect="1"/>
          </p:cNvPicPr>
          <p:nvPr/>
        </p:nvPicPr>
        <p:blipFill>
          <a:blip r:embed="rId6"/>
          <a:stretch>
            <a:fillRect/>
          </a:stretch>
        </p:blipFill>
        <p:spPr>
          <a:xfrm>
            <a:off x="654710" y="5190134"/>
            <a:ext cx="190195" cy="190195"/>
          </a:xfrm>
          <a:prstGeom prst="rect">
            <a:avLst/>
          </a:prstGeom>
        </p:spPr>
      </p:pic>
      <p:sp>
        <p:nvSpPr>
          <p:cNvPr id="26" name="TextBox 25"/>
          <p:cNvSpPr txBox="1"/>
          <p:nvPr/>
        </p:nvSpPr>
        <p:spPr>
          <a:xfrm>
            <a:off x="1097280" y="5084064"/>
            <a:ext cx="2377440" cy="457200"/>
          </a:xfrm>
          <a:prstGeom prst="rect">
            <a:avLst/>
          </a:prstGeom>
          <a:noFill/>
        </p:spPr>
        <p:txBody>
          <a:bodyPr wrap="square" lIns="0" rIns="0" tIns="0" bIns="0" anchor="t">
            <a:spAutoFit/>
          </a:bodyPr>
          <a:lstStyle/>
          <a:p>
            <a:pPr algn="l">
              <a:lnSpc>
                <a:spcPct val="105000"/>
              </a:lnSpc>
            </a:pPr>
            <a:r>
              <a:rPr sz="1100" b="1" i="0">
                <a:solidFill>
                  <a:srgbClr val="16181D"/>
                </a:solidFill>
                <a:latin typeface="Montserrat"/>
              </a:rPr>
              <a:t>Infrastructure &amp; site design</a:t>
            </a:r>
          </a:p>
        </p:txBody>
      </p:sp>
      <p:sp>
        <p:nvSpPr>
          <p:cNvPr id="27" name="TextBox 26"/>
          <p:cNvSpPr txBox="1"/>
          <p:nvPr/>
        </p:nvSpPr>
        <p:spPr>
          <a:xfrm>
            <a:off x="3566160" y="5084064"/>
            <a:ext cx="3977640" cy="685800"/>
          </a:xfrm>
          <a:prstGeom prst="rect">
            <a:avLst/>
          </a:prstGeom>
          <a:noFill/>
        </p:spPr>
        <p:txBody>
          <a:bodyPr wrap="square" lIns="0" rIns="0" tIns="0" bIns="0" anchor="t">
            <a:spAutoFit/>
          </a:bodyPr>
          <a:lstStyle/>
          <a:p>
            <a:pPr algn="l">
              <a:lnSpc>
                <a:spcPct val="122000"/>
              </a:lnSpc>
            </a:pPr>
            <a:r>
              <a:rPr sz="900" b="0" i="0">
                <a:solidFill>
                  <a:srgbClr val="6E7180"/>
                </a:solidFill>
                <a:latin typeface="Geist"/>
              </a:rPr>
              <a:t>The layout of dark stores and delivery hubs can itself push riders into unsafe manoeuvres, through poorly designed access roads and pick-up zones.</a:t>
            </a:r>
          </a:p>
        </p:txBody>
      </p:sp>
      <p:sp>
        <p:nvSpPr>
          <p:cNvPr id="28" name="Rounded Rectangle 27"/>
          <p:cNvSpPr/>
          <p:nvPr/>
        </p:nvSpPr>
        <p:spPr>
          <a:xfrm>
            <a:off x="8001000" y="2103120"/>
            <a:ext cx="3611880" cy="1920240"/>
          </a:xfrm>
          <a:prstGeom prst="roundRect">
            <a:avLst>
              <a:gd name="adj" fmla="val 8000"/>
            </a:avLst>
          </a:prstGeom>
          <a:solidFill>
            <a:srgbClr val="F7F7FA"/>
          </a:solidFill>
          <a:ln>
            <a:noFill/>
          </a:ln>
          <a:effectLst/>
        </p:spPr>
        <p:txBody>
          <a:bodyPr rtlCol="0" anchor="ctr"/>
          <a:lstStyle/>
          <a:p>
            <a:pPr algn="ctr"/>
          </a:p>
        </p:txBody>
      </p:sp>
      <p:sp>
        <p:nvSpPr>
          <p:cNvPr id="29" name="TextBox 28"/>
          <p:cNvSpPr txBox="1"/>
          <p:nvPr/>
        </p:nvSpPr>
        <p:spPr>
          <a:xfrm>
            <a:off x="8183880" y="2240280"/>
            <a:ext cx="3246120" cy="237744"/>
          </a:xfrm>
          <a:prstGeom prst="rect">
            <a:avLst/>
          </a:prstGeom>
          <a:noFill/>
        </p:spPr>
        <p:txBody>
          <a:bodyPr wrap="square" lIns="0" rIns="0" tIns="0" bIns="0" anchor="t">
            <a:spAutoFit/>
          </a:bodyPr>
          <a:lstStyle/>
          <a:p>
            <a:pPr algn="l">
              <a:lnSpc>
                <a:spcPct val="128000"/>
              </a:lnSpc>
            </a:pPr>
            <a:r>
              <a:rPr sz="850" b="1" i="0" spc="120">
                <a:solidFill>
                  <a:srgbClr val="4A35FF"/>
                </a:solidFill>
                <a:latin typeface="Montserrat"/>
              </a:rPr>
              <a:t>FIELDWORK, NOT ONLY DESKWORK</a:t>
            </a:r>
          </a:p>
        </p:txBody>
      </p:sp>
      <p:sp>
        <p:nvSpPr>
          <p:cNvPr id="30" name="TextBox 29"/>
          <p:cNvSpPr txBox="1"/>
          <p:nvPr/>
        </p:nvSpPr>
        <p:spPr>
          <a:xfrm>
            <a:off x="8183880" y="2523744"/>
            <a:ext cx="3246120" cy="1371600"/>
          </a:xfrm>
          <a:prstGeom prst="rect">
            <a:avLst/>
          </a:prstGeom>
          <a:noFill/>
        </p:spPr>
        <p:txBody>
          <a:bodyPr wrap="square" lIns="0" rIns="0" tIns="0" bIns="0" anchor="t">
            <a:spAutoFit/>
          </a:bodyPr>
          <a:lstStyle/>
          <a:p>
            <a:pPr algn="l">
              <a:lnSpc>
                <a:spcPct val="130000"/>
              </a:lnSpc>
            </a:pPr>
            <a:r>
              <a:rPr sz="950" b="0" i="0">
                <a:solidFill>
                  <a:srgbClr val="16181D"/>
                </a:solidFill>
                <a:latin typeface="Geist"/>
              </a:rPr>
              <a:t>The study included shadowing a delivery rider through a full nine-hour shift, documented on video, to capture pacing, routing and time pressure directly.</a:t>
            </a:r>
          </a:p>
        </p:txBody>
      </p:sp>
      <p:sp>
        <p:nvSpPr>
          <p:cNvPr id="31" name="Rounded Rectangle 30"/>
          <p:cNvSpPr/>
          <p:nvPr/>
        </p:nvSpPr>
        <p:spPr>
          <a:xfrm>
            <a:off x="8001000" y="4206240"/>
            <a:ext cx="3611880" cy="1783080"/>
          </a:xfrm>
          <a:prstGeom prst="roundRect">
            <a:avLst>
              <a:gd name="adj" fmla="val 8000"/>
            </a:avLst>
          </a:prstGeom>
          <a:solidFill>
            <a:srgbClr val="FFFFFF"/>
          </a:solidFill>
          <a:ln w="9525">
            <a:solidFill>
              <a:srgbClr val="E8E9EE"/>
            </a:solidFill>
          </a:ln>
          <a:effectLst/>
        </p:spPr>
        <p:txBody>
          <a:bodyPr rtlCol="0" anchor="ctr"/>
          <a:lstStyle/>
          <a:p>
            <a:pPr algn="ctr"/>
          </a:p>
        </p:txBody>
      </p:sp>
      <p:sp>
        <p:nvSpPr>
          <p:cNvPr id="32" name="TextBox 31"/>
          <p:cNvSpPr txBox="1"/>
          <p:nvPr/>
        </p:nvSpPr>
        <p:spPr>
          <a:xfrm>
            <a:off x="8183880" y="4343400"/>
            <a:ext cx="3246120" cy="237744"/>
          </a:xfrm>
          <a:prstGeom prst="rect">
            <a:avLst/>
          </a:prstGeom>
          <a:noFill/>
        </p:spPr>
        <p:txBody>
          <a:bodyPr wrap="square" lIns="0" rIns="0" tIns="0" bIns="0" anchor="t">
            <a:spAutoFit/>
          </a:bodyPr>
          <a:lstStyle/>
          <a:p>
            <a:pPr algn="l">
              <a:lnSpc>
                <a:spcPct val="128000"/>
              </a:lnSpc>
            </a:pPr>
            <a:r>
              <a:rPr sz="850" b="1" i="0" spc="120">
                <a:solidFill>
                  <a:srgbClr val="6E7180"/>
                </a:solidFill>
                <a:latin typeface="Montserrat"/>
              </a:rPr>
              <a:t>INTERNATIONAL PRECEDENT</a:t>
            </a:r>
          </a:p>
        </p:txBody>
      </p:sp>
      <p:sp>
        <p:nvSpPr>
          <p:cNvPr id="33" name="TextBox 32"/>
          <p:cNvSpPr txBox="1"/>
          <p:nvPr/>
        </p:nvSpPr>
        <p:spPr>
          <a:xfrm>
            <a:off x="8183880" y="4626864"/>
            <a:ext cx="3246120" cy="1280160"/>
          </a:xfrm>
          <a:prstGeom prst="rect">
            <a:avLst/>
          </a:prstGeom>
          <a:noFill/>
        </p:spPr>
        <p:txBody>
          <a:bodyPr wrap="square" lIns="0" rIns="0" tIns="0" bIns="0" anchor="t">
            <a:spAutoFit/>
          </a:bodyPr>
          <a:lstStyle/>
          <a:p>
            <a:pPr algn="l">
              <a:lnSpc>
                <a:spcPct val="130000"/>
              </a:lnSpc>
            </a:pPr>
            <a:r>
              <a:rPr sz="950" b="0" i="0">
                <a:solidFill>
                  <a:srgbClr val="6E7180"/>
                </a:solidFill>
                <a:latin typeface="Geist"/>
              </a:rPr>
              <a:t>Spain's 2021 Riders' Law brought algorithmic transparency to dispatch systems; Australia maps delivery-rider risk as a system. India's conversation is only beginning.</a:t>
            </a:r>
          </a:p>
        </p:txBody>
      </p:sp>
      <p:cxnSp>
        <p:nvCxnSpPr>
          <p:cNvPr id="34" name="Connector 33"/>
          <p:cNvCxnSpPr/>
          <p:nvPr/>
        </p:nvCxnSpPr>
        <p:spPr>
          <a:xfrm>
            <a:off x="566928" y="6455664"/>
            <a:ext cx="11057839" cy="0"/>
          </a:xfrm>
          <a:prstGeom prst="line">
            <a:avLst/>
          </a:prstGeom>
          <a:ln w="9525">
            <a:solidFill>
              <a:srgbClr val="E8E9EE"/>
            </a:solidFill>
          </a:ln>
          <a:effectLst/>
        </p:spPr>
      </p:cxnSp>
      <p:sp>
        <p:nvSpPr>
          <p:cNvPr id="35" name="TextBox 34"/>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3</a:t>
            </a:r>
          </a:p>
        </p:txBody>
      </p:sp>
      <p:sp>
        <p:nvSpPr>
          <p:cNvPr id="36" name="TextBox 35"/>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18 / 26</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4 OF 5  ·  GIG &amp; TWO-WHEELER SAFETY</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04 · GIG &amp; TWO-WHEELER SAFETY, THE NEXT STEP</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A 300-rider study is now under way, </a:t>
            </a:r>
            <a:r>
              <a:rPr sz="2250" b="1" i="0">
                <a:solidFill>
                  <a:srgbClr val="4A35FF"/>
                </a:solidFill>
                <a:latin typeface="Montserrat"/>
              </a:rPr>
              <a:t>to quantify what we surfaced</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The published brief gives a clear qualitative picture. The study now in the field sizes it, by hearing directly from riders at scale.</a:t>
            </a:r>
          </a:p>
        </p:txBody>
      </p:sp>
      <p:sp>
        <p:nvSpPr>
          <p:cNvPr id="8" name="Rounded Rectangle 7"/>
          <p:cNvSpPr/>
          <p:nvPr/>
        </p:nvSpPr>
        <p:spPr>
          <a:xfrm>
            <a:off x="566928" y="2194560"/>
            <a:ext cx="3611880" cy="2286000"/>
          </a:xfrm>
          <a:prstGeom prst="roundRect">
            <a:avLst>
              <a:gd name="adj" fmla="val 8000"/>
            </a:avLst>
          </a:prstGeom>
          <a:solidFill>
            <a:srgbClr val="FFFFFF"/>
          </a:solidFill>
          <a:ln w="9525">
            <a:solidFill>
              <a:srgbClr val="E8E9EE"/>
            </a:solidFill>
          </a:ln>
          <a:effectLst/>
        </p:spPr>
        <p:txBody>
          <a:bodyPr rtlCol="0" anchor="ctr"/>
          <a:lstStyle/>
          <a:p>
            <a:pPr algn="ctr"/>
          </a:p>
        </p:txBody>
      </p:sp>
      <p:sp>
        <p:nvSpPr>
          <p:cNvPr id="9" name="Oval 8"/>
          <p:cNvSpPr/>
          <p:nvPr/>
        </p:nvSpPr>
        <p:spPr>
          <a:xfrm>
            <a:off x="749808" y="2395728"/>
            <a:ext cx="475488" cy="475488"/>
          </a:xfrm>
          <a:prstGeom prst="ellipse">
            <a:avLst/>
          </a:prstGeom>
          <a:solidFill>
            <a:srgbClr val="EFEDFF"/>
          </a:solidFill>
          <a:ln>
            <a:noFill/>
          </a:ln>
          <a:effectLst/>
        </p:spPr>
        <p:txBody>
          <a:bodyPr rtlCol="0" anchor="ctr"/>
          <a:lstStyle/>
          <a:p>
            <a:pPr algn="ctr"/>
          </a:p>
        </p:txBody>
      </p:sp>
      <p:pic>
        <p:nvPicPr>
          <p:cNvPr id="10" name="Picture 9" descr="gauge_4A35FF_256_2.0.png"/>
          <p:cNvPicPr>
            <a:picLocks noChangeAspect="1"/>
          </p:cNvPicPr>
          <p:nvPr/>
        </p:nvPicPr>
        <p:blipFill>
          <a:blip r:embed="rId2"/>
          <a:stretch>
            <a:fillRect/>
          </a:stretch>
        </p:blipFill>
        <p:spPr>
          <a:xfrm>
            <a:off x="863925" y="2509845"/>
            <a:ext cx="247253" cy="247253"/>
          </a:xfrm>
          <a:prstGeom prst="rect">
            <a:avLst/>
          </a:prstGeom>
        </p:spPr>
      </p:pic>
      <p:sp>
        <p:nvSpPr>
          <p:cNvPr id="11" name="TextBox 10"/>
          <p:cNvSpPr txBox="1"/>
          <p:nvPr/>
        </p:nvSpPr>
        <p:spPr>
          <a:xfrm>
            <a:off x="749808" y="3035808"/>
            <a:ext cx="3246120" cy="320040"/>
          </a:xfrm>
          <a:prstGeom prst="rect">
            <a:avLst/>
          </a:prstGeom>
          <a:noFill/>
        </p:spPr>
        <p:txBody>
          <a:bodyPr wrap="square" lIns="0" rIns="0" tIns="0" bIns="0" anchor="t">
            <a:spAutoFit/>
          </a:bodyPr>
          <a:lstStyle/>
          <a:p>
            <a:pPr algn="l">
              <a:lnSpc>
                <a:spcPct val="128000"/>
              </a:lnSpc>
            </a:pPr>
            <a:r>
              <a:rPr sz="1300" b="1" i="0">
                <a:solidFill>
                  <a:srgbClr val="16181D"/>
                </a:solidFill>
                <a:latin typeface="Montserrat"/>
              </a:rPr>
              <a:t>How often</a:t>
            </a:r>
          </a:p>
        </p:txBody>
      </p:sp>
      <p:sp>
        <p:nvSpPr>
          <p:cNvPr id="12" name="TextBox 11"/>
          <p:cNvSpPr txBox="1"/>
          <p:nvPr/>
        </p:nvSpPr>
        <p:spPr>
          <a:xfrm>
            <a:off x="749808" y="3401568"/>
            <a:ext cx="3246120" cy="960120"/>
          </a:xfrm>
          <a:prstGeom prst="rect">
            <a:avLst/>
          </a:prstGeom>
          <a:noFill/>
        </p:spPr>
        <p:txBody>
          <a:bodyPr wrap="square" lIns="0" rIns="0" tIns="0" bIns="0" anchor="t">
            <a:spAutoFit/>
          </a:bodyPr>
          <a:lstStyle/>
          <a:p>
            <a:pPr algn="l">
              <a:lnSpc>
                <a:spcPct val="128000"/>
              </a:lnSpc>
            </a:pPr>
            <a:r>
              <a:rPr sz="950" b="0" i="0">
                <a:solidFill>
                  <a:srgbClr val="6E7180"/>
                </a:solidFill>
                <a:latin typeface="Geist"/>
              </a:rPr>
              <a:t>How frequently riders actually experience near-misses and crashes, measured across a large sample rather than a handful of conversations.</a:t>
            </a:r>
          </a:p>
        </p:txBody>
      </p:sp>
      <p:sp>
        <p:nvSpPr>
          <p:cNvPr id="13" name="Rounded Rectangle 12"/>
          <p:cNvSpPr/>
          <p:nvPr/>
        </p:nvSpPr>
        <p:spPr>
          <a:xfrm>
            <a:off x="4288536" y="2194560"/>
            <a:ext cx="3611880" cy="2286000"/>
          </a:xfrm>
          <a:prstGeom prst="roundRect">
            <a:avLst>
              <a:gd name="adj" fmla="val 8000"/>
            </a:avLst>
          </a:prstGeom>
          <a:solidFill>
            <a:srgbClr val="FFFFFF"/>
          </a:solidFill>
          <a:ln w="9525">
            <a:solidFill>
              <a:srgbClr val="E8E9EE"/>
            </a:solidFill>
          </a:ln>
          <a:effectLst/>
        </p:spPr>
        <p:txBody>
          <a:bodyPr rtlCol="0" anchor="ctr"/>
          <a:lstStyle/>
          <a:p>
            <a:pPr algn="ctr"/>
          </a:p>
        </p:txBody>
      </p:sp>
      <p:sp>
        <p:nvSpPr>
          <p:cNvPr id="14" name="Oval 13"/>
          <p:cNvSpPr/>
          <p:nvPr/>
        </p:nvSpPr>
        <p:spPr>
          <a:xfrm>
            <a:off x="4471416" y="2395728"/>
            <a:ext cx="475488" cy="475488"/>
          </a:xfrm>
          <a:prstGeom prst="ellipse">
            <a:avLst/>
          </a:prstGeom>
          <a:solidFill>
            <a:srgbClr val="FDF3E3"/>
          </a:solidFill>
          <a:ln>
            <a:noFill/>
          </a:ln>
          <a:effectLst/>
        </p:spPr>
        <p:txBody>
          <a:bodyPr rtlCol="0" anchor="ctr"/>
          <a:lstStyle/>
          <a:p>
            <a:pPr algn="ctr"/>
          </a:p>
        </p:txBody>
      </p:sp>
      <p:pic>
        <p:nvPicPr>
          <p:cNvPr id="15" name="Picture 14" descr="list-checks_E58900_256_2.0.png"/>
          <p:cNvPicPr>
            <a:picLocks noChangeAspect="1"/>
          </p:cNvPicPr>
          <p:nvPr/>
        </p:nvPicPr>
        <p:blipFill>
          <a:blip r:embed="rId3"/>
          <a:stretch>
            <a:fillRect/>
          </a:stretch>
        </p:blipFill>
        <p:spPr>
          <a:xfrm>
            <a:off x="4585533" y="2509845"/>
            <a:ext cx="247253" cy="247253"/>
          </a:xfrm>
          <a:prstGeom prst="rect">
            <a:avLst/>
          </a:prstGeom>
        </p:spPr>
      </p:pic>
      <p:sp>
        <p:nvSpPr>
          <p:cNvPr id="16" name="TextBox 15"/>
          <p:cNvSpPr txBox="1"/>
          <p:nvPr/>
        </p:nvSpPr>
        <p:spPr>
          <a:xfrm>
            <a:off x="4471416" y="3035808"/>
            <a:ext cx="3246120" cy="320040"/>
          </a:xfrm>
          <a:prstGeom prst="rect">
            <a:avLst/>
          </a:prstGeom>
          <a:noFill/>
        </p:spPr>
        <p:txBody>
          <a:bodyPr wrap="square" lIns="0" rIns="0" tIns="0" bIns="0" anchor="t">
            <a:spAutoFit/>
          </a:bodyPr>
          <a:lstStyle/>
          <a:p>
            <a:pPr algn="l">
              <a:lnSpc>
                <a:spcPct val="128000"/>
              </a:lnSpc>
            </a:pPr>
            <a:r>
              <a:rPr sz="1300" b="1" i="0">
                <a:solidFill>
                  <a:srgbClr val="16181D"/>
                </a:solidFill>
                <a:latin typeface="Montserrat"/>
              </a:rPr>
              <a:t>Which factors</a:t>
            </a:r>
          </a:p>
        </p:txBody>
      </p:sp>
      <p:sp>
        <p:nvSpPr>
          <p:cNvPr id="17" name="TextBox 16"/>
          <p:cNvSpPr txBox="1"/>
          <p:nvPr/>
        </p:nvSpPr>
        <p:spPr>
          <a:xfrm>
            <a:off x="4471416" y="3401568"/>
            <a:ext cx="3246120" cy="960120"/>
          </a:xfrm>
          <a:prstGeom prst="rect">
            <a:avLst/>
          </a:prstGeom>
          <a:noFill/>
        </p:spPr>
        <p:txBody>
          <a:bodyPr wrap="square" lIns="0" rIns="0" tIns="0" bIns="0" anchor="t">
            <a:spAutoFit/>
          </a:bodyPr>
          <a:lstStyle/>
          <a:p>
            <a:pPr algn="l">
              <a:lnSpc>
                <a:spcPct val="128000"/>
              </a:lnSpc>
            </a:pPr>
            <a:r>
              <a:rPr sz="950" b="0" i="0">
                <a:solidFill>
                  <a:srgbClr val="6E7180"/>
                </a:solidFill>
                <a:latin typeface="Geist"/>
              </a:rPr>
              <a:t>Which risk factors matter most in practice: fatigue, incentive design, training gaps, so interventions start where the risk is.</a:t>
            </a:r>
          </a:p>
        </p:txBody>
      </p:sp>
      <p:sp>
        <p:nvSpPr>
          <p:cNvPr id="18" name="Rounded Rectangle 17"/>
          <p:cNvSpPr/>
          <p:nvPr/>
        </p:nvSpPr>
        <p:spPr>
          <a:xfrm>
            <a:off x="8010144" y="2194560"/>
            <a:ext cx="3611880" cy="2286000"/>
          </a:xfrm>
          <a:prstGeom prst="roundRect">
            <a:avLst>
              <a:gd name="adj" fmla="val 8000"/>
            </a:avLst>
          </a:prstGeom>
          <a:solidFill>
            <a:srgbClr val="FFFFFF"/>
          </a:solidFill>
          <a:ln w="9525">
            <a:solidFill>
              <a:srgbClr val="E8E9EE"/>
            </a:solidFill>
          </a:ln>
          <a:effectLst/>
        </p:spPr>
        <p:txBody>
          <a:bodyPr rtlCol="0" anchor="ctr"/>
          <a:lstStyle/>
          <a:p>
            <a:pPr algn="ctr"/>
          </a:p>
        </p:txBody>
      </p:sp>
      <p:sp>
        <p:nvSpPr>
          <p:cNvPr id="19" name="Oval 18"/>
          <p:cNvSpPr/>
          <p:nvPr/>
        </p:nvSpPr>
        <p:spPr>
          <a:xfrm>
            <a:off x="8193024" y="2395728"/>
            <a:ext cx="475488" cy="475488"/>
          </a:xfrm>
          <a:prstGeom prst="ellipse">
            <a:avLst/>
          </a:prstGeom>
          <a:solidFill>
            <a:srgbClr val="E7F4F4"/>
          </a:solidFill>
          <a:ln>
            <a:noFill/>
          </a:ln>
          <a:effectLst/>
        </p:spPr>
        <p:txBody>
          <a:bodyPr rtlCol="0" anchor="ctr"/>
          <a:lstStyle/>
          <a:p>
            <a:pPr algn="ctr"/>
          </a:p>
        </p:txBody>
      </p:sp>
      <p:pic>
        <p:nvPicPr>
          <p:cNvPr id="20" name="Picture 19" descr="users_0E8A8A_256_2.0.png"/>
          <p:cNvPicPr>
            <a:picLocks noChangeAspect="1"/>
          </p:cNvPicPr>
          <p:nvPr/>
        </p:nvPicPr>
        <p:blipFill>
          <a:blip r:embed="rId4"/>
          <a:stretch>
            <a:fillRect/>
          </a:stretch>
        </p:blipFill>
        <p:spPr>
          <a:xfrm>
            <a:off x="8307141" y="2509845"/>
            <a:ext cx="247253" cy="247253"/>
          </a:xfrm>
          <a:prstGeom prst="rect">
            <a:avLst/>
          </a:prstGeom>
        </p:spPr>
      </p:pic>
      <p:sp>
        <p:nvSpPr>
          <p:cNvPr id="21" name="TextBox 20"/>
          <p:cNvSpPr txBox="1"/>
          <p:nvPr/>
        </p:nvSpPr>
        <p:spPr>
          <a:xfrm>
            <a:off x="8193024" y="3035808"/>
            <a:ext cx="3246120" cy="320040"/>
          </a:xfrm>
          <a:prstGeom prst="rect">
            <a:avLst/>
          </a:prstGeom>
          <a:noFill/>
        </p:spPr>
        <p:txBody>
          <a:bodyPr wrap="square" lIns="0" rIns="0" tIns="0" bIns="0" anchor="t">
            <a:spAutoFit/>
          </a:bodyPr>
          <a:lstStyle/>
          <a:p>
            <a:pPr algn="l">
              <a:lnSpc>
                <a:spcPct val="128000"/>
              </a:lnSpc>
            </a:pPr>
            <a:r>
              <a:rPr sz="1300" b="1" i="0">
                <a:solidFill>
                  <a:srgbClr val="16181D"/>
                </a:solidFill>
                <a:latin typeface="Montserrat"/>
              </a:rPr>
              <a:t>Which riders</a:t>
            </a:r>
          </a:p>
        </p:txBody>
      </p:sp>
      <p:sp>
        <p:nvSpPr>
          <p:cNvPr id="22" name="TextBox 21"/>
          <p:cNvSpPr txBox="1"/>
          <p:nvPr/>
        </p:nvSpPr>
        <p:spPr>
          <a:xfrm>
            <a:off x="8193024" y="3401568"/>
            <a:ext cx="3246120" cy="960120"/>
          </a:xfrm>
          <a:prstGeom prst="rect">
            <a:avLst/>
          </a:prstGeom>
          <a:noFill/>
        </p:spPr>
        <p:txBody>
          <a:bodyPr wrap="square" lIns="0" rIns="0" tIns="0" bIns="0" anchor="t">
            <a:spAutoFit/>
          </a:bodyPr>
          <a:lstStyle/>
          <a:p>
            <a:pPr algn="l">
              <a:lnSpc>
                <a:spcPct val="128000"/>
              </a:lnSpc>
            </a:pPr>
            <a:r>
              <a:rPr sz="950" b="0" i="0">
                <a:solidFill>
                  <a:srgbClr val="6E7180"/>
                </a:solidFill>
                <a:latin typeface="Geist"/>
              </a:rPr>
              <a:t>What distinct rider profiles exist, so that training, equipment and platform changes can be targeted rather than generic.</a:t>
            </a:r>
          </a:p>
        </p:txBody>
      </p:sp>
      <p:sp>
        <p:nvSpPr>
          <p:cNvPr id="23" name="Rounded Rectangle 22"/>
          <p:cNvSpPr/>
          <p:nvPr/>
        </p:nvSpPr>
        <p:spPr>
          <a:xfrm>
            <a:off x="566928" y="4800600"/>
            <a:ext cx="2377440" cy="402336"/>
          </a:xfrm>
          <a:prstGeom prst="roundRect">
            <a:avLst>
              <a:gd name="adj" fmla="val 50000"/>
            </a:avLst>
          </a:prstGeom>
          <a:solidFill>
            <a:srgbClr val="E9F7F0"/>
          </a:solidFill>
          <a:ln>
            <a:noFill/>
          </a:ln>
          <a:effectLst/>
        </p:spPr>
        <p:txBody>
          <a:bodyPr rtlCol="0" anchor="ctr"/>
          <a:lstStyle/>
          <a:p>
            <a:pPr algn="ctr"/>
          </a:p>
        </p:txBody>
      </p:sp>
      <p:sp>
        <p:nvSpPr>
          <p:cNvPr id="24" name="TextBox 23"/>
          <p:cNvSpPr txBox="1"/>
          <p:nvPr/>
        </p:nvSpPr>
        <p:spPr>
          <a:xfrm>
            <a:off x="585216" y="4800600"/>
            <a:ext cx="2340864" cy="402336"/>
          </a:xfrm>
          <a:prstGeom prst="rect">
            <a:avLst/>
          </a:prstGeom>
          <a:noFill/>
        </p:spPr>
        <p:txBody>
          <a:bodyPr wrap="square" lIns="0" rIns="0" tIns="0" bIns="0" anchor="ctr">
            <a:spAutoFit/>
          </a:bodyPr>
          <a:lstStyle/>
          <a:p>
            <a:pPr algn="ctr">
              <a:lnSpc>
                <a:spcPct val="100000"/>
              </a:lnSpc>
            </a:pPr>
            <a:r>
              <a:rPr sz="950" b="1" i="0">
                <a:solidFill>
                  <a:srgbClr val="0A9955"/>
                </a:solidFill>
                <a:latin typeface="Montserrat"/>
              </a:rPr>
              <a:t>IN THE FIELD NOW · 2026</a:t>
            </a:r>
          </a:p>
        </p:txBody>
      </p:sp>
      <p:sp>
        <p:nvSpPr>
          <p:cNvPr id="25" name="TextBox 24"/>
          <p:cNvSpPr txBox="1"/>
          <p:nvPr/>
        </p:nvSpPr>
        <p:spPr>
          <a:xfrm>
            <a:off x="566928" y="5440680"/>
            <a:ext cx="11057839" cy="731520"/>
          </a:xfrm>
          <a:prstGeom prst="rect">
            <a:avLst/>
          </a:prstGeom>
          <a:noFill/>
        </p:spPr>
        <p:txBody>
          <a:bodyPr wrap="square" lIns="0" rIns="0" tIns="0" bIns="0" anchor="t">
            <a:spAutoFit/>
          </a:bodyPr>
          <a:lstStyle/>
          <a:p>
            <a:pPr algn="l">
              <a:lnSpc>
                <a:spcPct val="130000"/>
              </a:lnSpc>
            </a:pPr>
            <a:r>
              <a:rPr sz="1000" b="1" i="0">
                <a:solidFill>
                  <a:srgbClr val="16181D"/>
                </a:solidFill>
                <a:latin typeface="Geist"/>
              </a:rPr>
              <a:t>Reviewed by the people who know the terrain: </a:t>
            </a:r>
            <a:r>
              <a:rPr sz="1000" b="0" i="0">
                <a:solidFill>
                  <a:srgbClr val="6E7180"/>
                </a:solidFill>
                <a:latin typeface="Geist"/>
              </a:rPr>
              <a:t>research design reviewed by Dr. Richa Ahuja (IIT Kharagpur) · site-design dimension shaped with Dr. Deepty Jain and Prof. Geetam Tiwari (TRIP Centre, IIT Delhi) · enforcement realities from former traffic-police leadership of Delhi, Gurugram and Bengaluru.</a:t>
            </a:r>
          </a:p>
        </p:txBody>
      </p:sp>
      <p:cxnSp>
        <p:nvCxnSpPr>
          <p:cNvPr id="26" name="Connector 25"/>
          <p:cNvCxnSpPr/>
          <p:nvPr/>
        </p:nvCxnSpPr>
        <p:spPr>
          <a:xfrm>
            <a:off x="566928" y="6455664"/>
            <a:ext cx="11057839" cy="0"/>
          </a:xfrm>
          <a:prstGeom prst="line">
            <a:avLst/>
          </a:prstGeom>
          <a:ln w="9525">
            <a:solidFill>
              <a:srgbClr val="E8E9EE"/>
            </a:solidFill>
          </a:ln>
          <a:effectLst/>
        </p:spPr>
      </p:cxnSp>
      <p:sp>
        <p:nvSpPr>
          <p:cNvPr id="27" name="TextBox 26"/>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3</a:t>
            </a:r>
          </a:p>
        </p:txBody>
      </p:sp>
      <p:sp>
        <p:nvSpPr>
          <p:cNvPr id="28" name="TextBox 27"/>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19 / 26</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4 OF 5  ·  GIG &amp; TWO-WHEELER SAFETY</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04 · GIG &amp; TWO-WHEELER SAFETY, AGGREGATOR VEHICLES</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Vehicle compliance among aggregators, </a:t>
            </a:r>
            <a:r>
              <a:rPr sz="2250" b="1" i="0">
                <a:solidFill>
                  <a:srgbClr val="4A35FF"/>
                </a:solidFill>
                <a:latin typeface="Montserrat"/>
              </a:rPr>
              <a:t>an early look</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A February 2025 review of traffic challans against ride-hailing vehicles across four platforms, exploratory, and revealing.</a:t>
            </a:r>
          </a:p>
        </p:txBody>
      </p:sp>
      <p:sp>
        <p:nvSpPr>
          <p:cNvPr id="8" name="Rounded Rectangle 7"/>
          <p:cNvSpPr/>
          <p:nvPr/>
        </p:nvSpPr>
        <p:spPr>
          <a:xfrm>
            <a:off x="566928" y="2148840"/>
            <a:ext cx="3108960" cy="1234440"/>
          </a:xfrm>
          <a:prstGeom prst="roundRect">
            <a:avLst>
              <a:gd name="adj" fmla="val 14000"/>
            </a:avLst>
          </a:prstGeom>
          <a:solidFill>
            <a:srgbClr val="F7F7FA"/>
          </a:solidFill>
          <a:ln>
            <a:noFill/>
          </a:ln>
          <a:effectLst/>
        </p:spPr>
        <p:txBody>
          <a:bodyPr rtlCol="0" anchor="ctr"/>
          <a:lstStyle/>
          <a:p>
            <a:pPr algn="ctr"/>
          </a:p>
        </p:txBody>
      </p:sp>
      <p:sp>
        <p:nvSpPr>
          <p:cNvPr id="9" name="TextBox 8"/>
          <p:cNvSpPr txBox="1"/>
          <p:nvPr/>
        </p:nvSpPr>
        <p:spPr>
          <a:xfrm>
            <a:off x="694944" y="2240280"/>
            <a:ext cx="2852928" cy="502920"/>
          </a:xfrm>
          <a:prstGeom prst="rect">
            <a:avLst/>
          </a:prstGeom>
          <a:noFill/>
        </p:spPr>
        <p:txBody>
          <a:bodyPr wrap="square" lIns="0" rIns="0" tIns="0" bIns="0" anchor="t">
            <a:spAutoFit/>
          </a:bodyPr>
          <a:lstStyle/>
          <a:p>
            <a:pPr algn="l">
              <a:lnSpc>
                <a:spcPct val="100000"/>
              </a:lnSpc>
            </a:pPr>
            <a:r>
              <a:rPr sz="3000" b="1" i="0">
                <a:solidFill>
                  <a:srgbClr val="4A35FF"/>
                </a:solidFill>
                <a:latin typeface="Montserrat"/>
              </a:rPr>
              <a:t>56.8%</a:t>
            </a:r>
          </a:p>
        </p:txBody>
      </p:sp>
      <p:sp>
        <p:nvSpPr>
          <p:cNvPr id="10" name="TextBox 9"/>
          <p:cNvSpPr txBox="1"/>
          <p:nvPr/>
        </p:nvSpPr>
        <p:spPr>
          <a:xfrm>
            <a:off x="694944" y="2697480"/>
            <a:ext cx="2852928" cy="685800"/>
          </a:xfrm>
          <a:prstGeom prst="rect">
            <a:avLst/>
          </a:prstGeom>
          <a:noFill/>
        </p:spPr>
        <p:txBody>
          <a:bodyPr wrap="square" lIns="0" rIns="0" tIns="0" bIns="0" anchor="t">
            <a:spAutoFit/>
          </a:bodyPr>
          <a:lstStyle/>
          <a:p>
            <a:pPr algn="l">
              <a:lnSpc>
                <a:spcPct val="112000"/>
              </a:lnSpc>
            </a:pPr>
            <a:r>
              <a:rPr sz="950" b="0" i="0">
                <a:solidFill>
                  <a:srgbClr val="6E7180"/>
                </a:solidFill>
                <a:latin typeface="Geist"/>
              </a:rPr>
              <a:t>of ride-hailing vehicles reviewed carried more than three recorded challans</a:t>
            </a:r>
          </a:p>
        </p:txBody>
      </p:sp>
      <p:sp>
        <p:nvSpPr>
          <p:cNvPr id="11" name="Rounded Rectangle 10"/>
          <p:cNvSpPr/>
          <p:nvPr/>
        </p:nvSpPr>
        <p:spPr>
          <a:xfrm>
            <a:off x="3813048" y="2148840"/>
            <a:ext cx="3108960" cy="1234440"/>
          </a:xfrm>
          <a:prstGeom prst="roundRect">
            <a:avLst>
              <a:gd name="adj" fmla="val 14000"/>
            </a:avLst>
          </a:prstGeom>
          <a:solidFill>
            <a:srgbClr val="F7F7FA"/>
          </a:solidFill>
          <a:ln>
            <a:noFill/>
          </a:ln>
          <a:effectLst/>
        </p:spPr>
        <p:txBody>
          <a:bodyPr rtlCol="0" anchor="ctr"/>
          <a:lstStyle/>
          <a:p>
            <a:pPr algn="ctr"/>
          </a:p>
        </p:txBody>
      </p:sp>
      <p:sp>
        <p:nvSpPr>
          <p:cNvPr id="12" name="TextBox 11"/>
          <p:cNvSpPr txBox="1"/>
          <p:nvPr/>
        </p:nvSpPr>
        <p:spPr>
          <a:xfrm>
            <a:off x="3941064" y="2240280"/>
            <a:ext cx="2852928" cy="502920"/>
          </a:xfrm>
          <a:prstGeom prst="rect">
            <a:avLst/>
          </a:prstGeom>
          <a:noFill/>
        </p:spPr>
        <p:txBody>
          <a:bodyPr wrap="square" lIns="0" rIns="0" tIns="0" bIns="0" anchor="t">
            <a:spAutoFit/>
          </a:bodyPr>
          <a:lstStyle/>
          <a:p>
            <a:pPr algn="l">
              <a:lnSpc>
                <a:spcPct val="100000"/>
              </a:lnSpc>
            </a:pPr>
            <a:r>
              <a:rPr sz="3000" b="1" i="0">
                <a:solidFill>
                  <a:srgbClr val="E58900"/>
                </a:solidFill>
                <a:latin typeface="Montserrat"/>
              </a:rPr>
              <a:t>40+</a:t>
            </a:r>
          </a:p>
        </p:txBody>
      </p:sp>
      <p:sp>
        <p:nvSpPr>
          <p:cNvPr id="13" name="TextBox 12"/>
          <p:cNvSpPr txBox="1"/>
          <p:nvPr/>
        </p:nvSpPr>
        <p:spPr>
          <a:xfrm>
            <a:off x="3941064" y="2697480"/>
            <a:ext cx="2852928" cy="685800"/>
          </a:xfrm>
          <a:prstGeom prst="rect">
            <a:avLst/>
          </a:prstGeom>
          <a:noFill/>
        </p:spPr>
        <p:txBody>
          <a:bodyPr wrap="square" lIns="0" rIns="0" tIns="0" bIns="0" anchor="t">
            <a:spAutoFit/>
          </a:bodyPr>
          <a:lstStyle/>
          <a:p>
            <a:pPr algn="l">
              <a:lnSpc>
                <a:spcPct val="112000"/>
              </a:lnSpc>
            </a:pPr>
            <a:r>
              <a:rPr sz="950" b="0" i="0">
                <a:solidFill>
                  <a:srgbClr val="6E7180"/>
                </a:solidFill>
                <a:latin typeface="Geist"/>
              </a:rPr>
              <a:t>challans on a single vehicle, the outlier a per-vehicle view surfaces and an aggregate statistic hides</a:t>
            </a:r>
          </a:p>
        </p:txBody>
      </p:sp>
      <p:sp>
        <p:nvSpPr>
          <p:cNvPr id="14" name="Rounded Rectangle 13"/>
          <p:cNvSpPr/>
          <p:nvPr/>
        </p:nvSpPr>
        <p:spPr>
          <a:xfrm>
            <a:off x="7059168" y="2148840"/>
            <a:ext cx="3108960" cy="1234440"/>
          </a:xfrm>
          <a:prstGeom prst="roundRect">
            <a:avLst>
              <a:gd name="adj" fmla="val 14000"/>
            </a:avLst>
          </a:prstGeom>
          <a:solidFill>
            <a:srgbClr val="F7F7FA"/>
          </a:solidFill>
          <a:ln>
            <a:noFill/>
          </a:ln>
          <a:effectLst/>
        </p:spPr>
        <p:txBody>
          <a:bodyPr rtlCol="0" anchor="ctr"/>
          <a:lstStyle/>
          <a:p>
            <a:pPr algn="ctr"/>
          </a:p>
        </p:txBody>
      </p:sp>
      <p:sp>
        <p:nvSpPr>
          <p:cNvPr id="15" name="TextBox 14"/>
          <p:cNvSpPr txBox="1"/>
          <p:nvPr/>
        </p:nvSpPr>
        <p:spPr>
          <a:xfrm>
            <a:off x="7187184" y="2240280"/>
            <a:ext cx="2852928" cy="502920"/>
          </a:xfrm>
          <a:prstGeom prst="rect">
            <a:avLst/>
          </a:prstGeom>
          <a:noFill/>
        </p:spPr>
        <p:txBody>
          <a:bodyPr wrap="square" lIns="0" rIns="0" tIns="0" bIns="0" anchor="t">
            <a:spAutoFit/>
          </a:bodyPr>
          <a:lstStyle/>
          <a:p>
            <a:pPr algn="l">
              <a:lnSpc>
                <a:spcPct val="100000"/>
              </a:lnSpc>
            </a:pPr>
            <a:r>
              <a:rPr sz="3000" b="1" i="0">
                <a:solidFill>
                  <a:srgbClr val="0E8A8A"/>
                </a:solidFill>
                <a:latin typeface="Montserrat"/>
              </a:rPr>
              <a:t>2020</a:t>
            </a:r>
          </a:p>
        </p:txBody>
      </p:sp>
      <p:sp>
        <p:nvSpPr>
          <p:cNvPr id="16" name="TextBox 15"/>
          <p:cNvSpPr txBox="1"/>
          <p:nvPr/>
        </p:nvSpPr>
        <p:spPr>
          <a:xfrm>
            <a:off x="7187184" y="2697480"/>
            <a:ext cx="2852928" cy="685800"/>
          </a:xfrm>
          <a:prstGeom prst="rect">
            <a:avLst/>
          </a:prstGeom>
          <a:noFill/>
        </p:spPr>
        <p:txBody>
          <a:bodyPr wrap="square" lIns="0" rIns="0" tIns="0" bIns="0" anchor="t">
            <a:spAutoFit/>
          </a:bodyPr>
          <a:lstStyle/>
          <a:p>
            <a:pPr algn="l">
              <a:lnSpc>
                <a:spcPct val="112000"/>
              </a:lnSpc>
            </a:pPr>
            <a:r>
              <a:rPr sz="950" b="0" i="0">
                <a:solidFill>
                  <a:srgbClr val="6E7180"/>
                </a:solidFill>
                <a:latin typeface="Geist"/>
              </a:rPr>
              <a:t>the Aggregator Guidelines first required e-challan clearance records; the 2025 revision makes clearance a precondition</a:t>
            </a:r>
          </a:p>
        </p:txBody>
      </p:sp>
      <p:sp>
        <p:nvSpPr>
          <p:cNvPr id="17" name="TextBox 16"/>
          <p:cNvSpPr txBox="1"/>
          <p:nvPr/>
        </p:nvSpPr>
        <p:spPr>
          <a:xfrm>
            <a:off x="566928" y="3703320"/>
            <a:ext cx="10881360" cy="777240"/>
          </a:xfrm>
          <a:prstGeom prst="rect">
            <a:avLst/>
          </a:prstGeom>
          <a:noFill/>
        </p:spPr>
        <p:txBody>
          <a:bodyPr wrap="square" lIns="0" rIns="0" tIns="0" bIns="0" anchor="t">
            <a:spAutoFit/>
          </a:bodyPr>
          <a:lstStyle/>
          <a:p>
            <a:pPr algn="l">
              <a:lnSpc>
                <a:spcPct val="135000"/>
              </a:lnSpc>
            </a:pPr>
            <a:r>
              <a:rPr sz="1100" b="0" i="0">
                <a:solidFill>
                  <a:srgbClr val="16181D"/>
                </a:solidFill>
                <a:latin typeface="Geist"/>
              </a:rPr>
              <a:t>The rule already exists. A vehicle still carrying forty-plus outstanding challans, found well after the requirement took effect, points to a gap in verification and enforcement rather than in the rule itself. That is a technology and process problem, and it is one we have worked on before.</a:t>
            </a:r>
          </a:p>
        </p:txBody>
      </p:sp>
      <p:sp>
        <p:nvSpPr>
          <p:cNvPr id="18" name="Rounded Rectangle 17"/>
          <p:cNvSpPr/>
          <p:nvPr/>
        </p:nvSpPr>
        <p:spPr>
          <a:xfrm>
            <a:off x="566928" y="4709160"/>
            <a:ext cx="11057839" cy="1051560"/>
          </a:xfrm>
          <a:prstGeom prst="roundRect">
            <a:avLst>
              <a:gd name="adj" fmla="val 10000"/>
            </a:avLst>
          </a:prstGeom>
          <a:solidFill>
            <a:srgbClr val="EFEDFF"/>
          </a:solidFill>
          <a:ln>
            <a:noFill/>
          </a:ln>
          <a:effectLst/>
        </p:spPr>
        <p:txBody>
          <a:bodyPr rtlCol="0" anchor="ctr"/>
          <a:lstStyle/>
          <a:p>
            <a:pPr algn="ctr"/>
          </a:p>
        </p:txBody>
      </p:sp>
      <p:sp>
        <p:nvSpPr>
          <p:cNvPr id="19" name="Oval 18"/>
          <p:cNvSpPr/>
          <p:nvPr/>
        </p:nvSpPr>
        <p:spPr>
          <a:xfrm>
            <a:off x="768096" y="4892040"/>
            <a:ext cx="457200" cy="457200"/>
          </a:xfrm>
          <a:prstGeom prst="ellipse">
            <a:avLst/>
          </a:prstGeom>
          <a:solidFill>
            <a:srgbClr val="FFFFFF"/>
          </a:solidFill>
          <a:ln>
            <a:noFill/>
          </a:ln>
          <a:effectLst/>
        </p:spPr>
        <p:txBody>
          <a:bodyPr rtlCol="0" anchor="ctr"/>
          <a:lstStyle/>
          <a:p>
            <a:pPr algn="ctr"/>
          </a:p>
        </p:txBody>
      </p:sp>
      <p:pic>
        <p:nvPicPr>
          <p:cNvPr id="20" name="Picture 19" descr="cpu_4A35FF_256_2.0.png"/>
          <p:cNvPicPr>
            <a:picLocks noChangeAspect="1"/>
          </p:cNvPicPr>
          <p:nvPr/>
        </p:nvPicPr>
        <p:blipFill>
          <a:blip r:embed="rId2"/>
          <a:stretch>
            <a:fillRect/>
          </a:stretch>
        </p:blipFill>
        <p:spPr>
          <a:xfrm>
            <a:off x="877824" y="5001768"/>
            <a:ext cx="237744" cy="237744"/>
          </a:xfrm>
          <a:prstGeom prst="rect">
            <a:avLst/>
          </a:prstGeom>
        </p:spPr>
      </p:pic>
      <p:sp>
        <p:nvSpPr>
          <p:cNvPr id="21" name="TextBox 20"/>
          <p:cNvSpPr txBox="1"/>
          <p:nvPr/>
        </p:nvSpPr>
        <p:spPr>
          <a:xfrm>
            <a:off x="1408176" y="4846320"/>
            <a:ext cx="10241280" cy="822960"/>
          </a:xfrm>
          <a:prstGeom prst="rect">
            <a:avLst/>
          </a:prstGeom>
          <a:noFill/>
        </p:spPr>
        <p:txBody>
          <a:bodyPr wrap="square" lIns="0" rIns="0" tIns="0" bIns="0" anchor="t">
            <a:spAutoFit/>
          </a:bodyPr>
          <a:lstStyle/>
          <a:p>
            <a:pPr algn="l">
              <a:lnSpc>
                <a:spcPct val="130000"/>
              </a:lnSpc>
            </a:pPr>
            <a:r>
              <a:rPr sz="1050" b="1" i="0">
                <a:solidFill>
                  <a:srgbClr val="4A35FF"/>
                </a:solidFill>
                <a:latin typeface="Geist"/>
              </a:rPr>
              <a:t>SATARK shows per-vehicle verification working at scale: </a:t>
            </a:r>
            <a:r>
              <a:rPr sz="1050" b="0" i="0">
                <a:solidFill>
                  <a:srgbClr val="4A35FF"/>
                </a:solidFill>
                <a:latin typeface="Geist"/>
              </a:rPr>
              <a:t>over 3,00,000 vehicles screened with police in Jaipur, Bengaluru and Gurugram, surfacing exactly the repeat-offender vehicles an onboarding check needs to catch.</a:t>
            </a:r>
          </a:p>
        </p:txBody>
      </p:sp>
      <p:cxnSp>
        <p:nvCxnSpPr>
          <p:cNvPr id="22" name="Connector 21"/>
          <p:cNvCxnSpPr/>
          <p:nvPr/>
        </p:nvCxnSpPr>
        <p:spPr>
          <a:xfrm>
            <a:off x="566928" y="6455664"/>
            <a:ext cx="11057839" cy="0"/>
          </a:xfrm>
          <a:prstGeom prst="line">
            <a:avLst/>
          </a:prstGeom>
          <a:ln w="9525">
            <a:solidFill>
              <a:srgbClr val="E8E9EE"/>
            </a:solidFill>
          </a:ln>
          <a:effectLst/>
        </p:spPr>
      </p:cxnSp>
      <p:sp>
        <p:nvSpPr>
          <p:cNvPr id="23" name="TextBox 22"/>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3</a:t>
            </a:r>
          </a:p>
        </p:txBody>
      </p:sp>
      <p:sp>
        <p:nvSpPr>
          <p:cNvPr id="24" name="TextBox 23"/>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20 / 26</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4 OF 5  ·  GIG &amp; TWO-WHEELER SAFETY</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04 · VEHICLE STANDARDS, OUR ENGAGEMENT</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Working sessions with the people who </a:t>
            </a:r>
            <a:r>
              <a:rPr sz="2250" b="1" i="0">
                <a:solidFill>
                  <a:srgbClr val="4A35FF"/>
                </a:solidFill>
                <a:latin typeface="Montserrat"/>
              </a:rPr>
              <a:t>wrote the standards</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Two expert sessions pair the authors and auditors of India's vehicle-safety standards with newer technology and operational practice.</a:t>
            </a:r>
          </a:p>
        </p:txBody>
      </p:sp>
      <p:sp>
        <p:nvSpPr>
          <p:cNvPr id="8" name="Rounded Rectangle 7"/>
          <p:cNvSpPr/>
          <p:nvPr/>
        </p:nvSpPr>
        <p:spPr>
          <a:xfrm>
            <a:off x="566928" y="2148840"/>
            <a:ext cx="5468112" cy="2514600"/>
          </a:xfrm>
          <a:prstGeom prst="roundRect">
            <a:avLst>
              <a:gd name="adj" fmla="val 8000"/>
            </a:avLst>
          </a:prstGeom>
          <a:solidFill>
            <a:srgbClr val="FFFFFF"/>
          </a:solidFill>
          <a:ln w="9525">
            <a:solidFill>
              <a:srgbClr val="E8E9EE"/>
            </a:solidFill>
          </a:ln>
          <a:effectLst/>
        </p:spPr>
        <p:txBody>
          <a:bodyPr rtlCol="0" anchor="ctr"/>
          <a:lstStyle/>
          <a:p>
            <a:pPr algn="ctr"/>
          </a:p>
        </p:txBody>
      </p:sp>
      <p:sp>
        <p:nvSpPr>
          <p:cNvPr id="9" name="Oval 8"/>
          <p:cNvSpPr/>
          <p:nvPr/>
        </p:nvSpPr>
        <p:spPr>
          <a:xfrm>
            <a:off x="768096" y="2368296"/>
            <a:ext cx="475488" cy="475488"/>
          </a:xfrm>
          <a:prstGeom prst="ellipse">
            <a:avLst/>
          </a:prstGeom>
          <a:solidFill>
            <a:srgbClr val="EFEDFF"/>
          </a:solidFill>
          <a:ln>
            <a:noFill/>
          </a:ln>
          <a:effectLst/>
        </p:spPr>
        <p:txBody>
          <a:bodyPr rtlCol="0" anchor="ctr"/>
          <a:lstStyle/>
          <a:p>
            <a:pPr algn="ctr"/>
          </a:p>
        </p:txBody>
      </p:sp>
      <p:pic>
        <p:nvPicPr>
          <p:cNvPr id="10" name="Picture 9" descr="bike_4A35FF_256_2.0.png"/>
          <p:cNvPicPr>
            <a:picLocks noChangeAspect="1"/>
          </p:cNvPicPr>
          <p:nvPr/>
        </p:nvPicPr>
        <p:blipFill>
          <a:blip r:embed="rId2"/>
          <a:stretch>
            <a:fillRect/>
          </a:stretch>
        </p:blipFill>
        <p:spPr>
          <a:xfrm>
            <a:off x="882213" y="2482413"/>
            <a:ext cx="247253" cy="247253"/>
          </a:xfrm>
          <a:prstGeom prst="rect">
            <a:avLst/>
          </a:prstGeom>
        </p:spPr>
      </p:pic>
      <p:sp>
        <p:nvSpPr>
          <p:cNvPr id="11" name="TextBox 10"/>
          <p:cNvSpPr txBox="1"/>
          <p:nvPr/>
        </p:nvSpPr>
        <p:spPr>
          <a:xfrm>
            <a:off x="1389888" y="2441448"/>
            <a:ext cx="4462272" cy="320040"/>
          </a:xfrm>
          <a:prstGeom prst="rect">
            <a:avLst/>
          </a:prstGeom>
          <a:noFill/>
        </p:spPr>
        <p:txBody>
          <a:bodyPr wrap="square" lIns="0" rIns="0" tIns="0" bIns="0" anchor="t">
            <a:spAutoFit/>
          </a:bodyPr>
          <a:lstStyle/>
          <a:p>
            <a:pPr algn="l">
              <a:lnSpc>
                <a:spcPct val="128000"/>
              </a:lnSpc>
            </a:pPr>
            <a:r>
              <a:rPr sz="1350" b="1" i="0">
                <a:solidFill>
                  <a:srgbClr val="16181D"/>
                </a:solidFill>
                <a:latin typeface="Montserrat"/>
              </a:rPr>
              <a:t>Two-wheeler safety technology</a:t>
            </a:r>
          </a:p>
        </p:txBody>
      </p:sp>
      <p:sp>
        <p:nvSpPr>
          <p:cNvPr id="12" name="TextBox 11"/>
          <p:cNvSpPr txBox="1"/>
          <p:nvPr/>
        </p:nvSpPr>
        <p:spPr>
          <a:xfrm>
            <a:off x="768096" y="3017520"/>
            <a:ext cx="5065776" cy="548640"/>
          </a:xfrm>
          <a:prstGeom prst="rect">
            <a:avLst/>
          </a:prstGeom>
          <a:noFill/>
        </p:spPr>
        <p:txBody>
          <a:bodyPr wrap="square" lIns="0" rIns="0" tIns="0" bIns="0" anchor="t">
            <a:spAutoFit/>
          </a:bodyPr>
          <a:lstStyle/>
          <a:p>
            <a:pPr algn="l">
              <a:lnSpc>
                <a:spcPct val="128000"/>
              </a:lnSpc>
            </a:pPr>
            <a:r>
              <a:rPr sz="1000" b="0" i="0">
                <a:solidFill>
                  <a:srgbClr val="16181D"/>
                </a:solidFill>
                <a:latin typeface="Geist"/>
              </a:rPr>
              <a:t>ADAS for two-wheelers, and the case for a national two-wheeler safety stack.</a:t>
            </a:r>
          </a:p>
        </p:txBody>
      </p:sp>
      <p:cxnSp>
        <p:nvCxnSpPr>
          <p:cNvPr id="13" name="Connector 12"/>
          <p:cNvCxnSpPr/>
          <p:nvPr/>
        </p:nvCxnSpPr>
        <p:spPr>
          <a:xfrm>
            <a:off x="768096" y="3685032"/>
            <a:ext cx="5065776" cy="0"/>
          </a:xfrm>
          <a:prstGeom prst="line">
            <a:avLst/>
          </a:prstGeom>
          <a:ln w="9525">
            <a:solidFill>
              <a:srgbClr val="E8E9EE"/>
            </a:solidFill>
          </a:ln>
          <a:effectLst/>
        </p:spPr>
      </p:cxnSp>
      <p:sp>
        <p:nvSpPr>
          <p:cNvPr id="14" name="TextBox 13"/>
          <p:cNvSpPr txBox="1"/>
          <p:nvPr/>
        </p:nvSpPr>
        <p:spPr>
          <a:xfrm>
            <a:off x="768096" y="3794760"/>
            <a:ext cx="5065776" cy="777240"/>
          </a:xfrm>
          <a:prstGeom prst="rect">
            <a:avLst/>
          </a:prstGeom>
          <a:noFill/>
        </p:spPr>
        <p:txBody>
          <a:bodyPr wrap="square" lIns="0" rIns="0" tIns="0" bIns="0" anchor="t">
            <a:spAutoFit/>
          </a:bodyPr>
          <a:lstStyle/>
          <a:p>
            <a:pPr algn="l">
              <a:lnSpc>
                <a:spcPct val="125000"/>
              </a:lnSpc>
            </a:pPr>
            <a:r>
              <a:rPr sz="900" b="0" i="0">
                <a:solidFill>
                  <a:srgbClr val="6E7180"/>
                </a:solidFill>
                <a:latin typeface="Geist"/>
              </a:rPr>
              <a:t>Balraj Bhanot, former Director ARAI, former Chairman CMVR-TSC &amp; BIS TED-28, with Aayush Kumar, COO &amp; co-founder, BYTES (acquired by Cautio).</a:t>
            </a:r>
          </a:p>
        </p:txBody>
      </p:sp>
      <p:sp>
        <p:nvSpPr>
          <p:cNvPr id="15" name="Rounded Rectangle 14"/>
          <p:cNvSpPr/>
          <p:nvPr/>
        </p:nvSpPr>
        <p:spPr>
          <a:xfrm>
            <a:off x="6153912" y="2148840"/>
            <a:ext cx="5468112" cy="2514600"/>
          </a:xfrm>
          <a:prstGeom prst="roundRect">
            <a:avLst>
              <a:gd name="adj" fmla="val 8000"/>
            </a:avLst>
          </a:prstGeom>
          <a:solidFill>
            <a:srgbClr val="FFFFFF"/>
          </a:solidFill>
          <a:ln w="9525">
            <a:solidFill>
              <a:srgbClr val="E8E9EE"/>
            </a:solidFill>
          </a:ln>
          <a:effectLst/>
        </p:spPr>
        <p:txBody>
          <a:bodyPr rtlCol="0" anchor="ctr"/>
          <a:lstStyle/>
          <a:p>
            <a:pPr algn="ctr"/>
          </a:p>
        </p:txBody>
      </p:sp>
      <p:sp>
        <p:nvSpPr>
          <p:cNvPr id="16" name="Oval 15"/>
          <p:cNvSpPr/>
          <p:nvPr/>
        </p:nvSpPr>
        <p:spPr>
          <a:xfrm>
            <a:off x="6355080" y="2368296"/>
            <a:ext cx="475488" cy="475488"/>
          </a:xfrm>
          <a:prstGeom prst="ellipse">
            <a:avLst/>
          </a:prstGeom>
          <a:solidFill>
            <a:srgbClr val="E7F4F4"/>
          </a:solidFill>
          <a:ln>
            <a:noFill/>
          </a:ln>
          <a:effectLst/>
        </p:spPr>
        <p:txBody>
          <a:bodyPr rtlCol="0" anchor="ctr"/>
          <a:lstStyle/>
          <a:p>
            <a:pPr algn="ctr"/>
          </a:p>
        </p:txBody>
      </p:sp>
      <p:pic>
        <p:nvPicPr>
          <p:cNvPr id="17" name="Picture 16" descr="bus_0E8A8A_256_2.0.png"/>
          <p:cNvPicPr>
            <a:picLocks noChangeAspect="1"/>
          </p:cNvPicPr>
          <p:nvPr/>
        </p:nvPicPr>
        <p:blipFill>
          <a:blip r:embed="rId3"/>
          <a:stretch>
            <a:fillRect/>
          </a:stretch>
        </p:blipFill>
        <p:spPr>
          <a:xfrm>
            <a:off x="6469197" y="2482413"/>
            <a:ext cx="247253" cy="247253"/>
          </a:xfrm>
          <a:prstGeom prst="rect">
            <a:avLst/>
          </a:prstGeom>
        </p:spPr>
      </p:pic>
      <p:sp>
        <p:nvSpPr>
          <p:cNvPr id="18" name="TextBox 17"/>
          <p:cNvSpPr txBox="1"/>
          <p:nvPr/>
        </p:nvSpPr>
        <p:spPr>
          <a:xfrm>
            <a:off x="6976872" y="2441448"/>
            <a:ext cx="4462272" cy="320040"/>
          </a:xfrm>
          <a:prstGeom prst="rect">
            <a:avLst/>
          </a:prstGeom>
          <a:noFill/>
        </p:spPr>
        <p:txBody>
          <a:bodyPr wrap="square" lIns="0" rIns="0" tIns="0" bIns="0" anchor="t">
            <a:spAutoFit/>
          </a:bodyPr>
          <a:lstStyle/>
          <a:p>
            <a:pPr algn="l">
              <a:lnSpc>
                <a:spcPct val="128000"/>
              </a:lnSpc>
            </a:pPr>
            <a:r>
              <a:rPr sz="1350" b="1" i="0">
                <a:solidFill>
                  <a:srgbClr val="16181D"/>
                </a:solidFill>
                <a:latin typeface="Montserrat"/>
              </a:rPr>
              <a:t>Bus safety</a:t>
            </a:r>
          </a:p>
        </p:txBody>
      </p:sp>
      <p:sp>
        <p:nvSpPr>
          <p:cNvPr id="19" name="TextBox 18"/>
          <p:cNvSpPr txBox="1"/>
          <p:nvPr/>
        </p:nvSpPr>
        <p:spPr>
          <a:xfrm>
            <a:off x="6355080" y="3017520"/>
            <a:ext cx="5065776" cy="548640"/>
          </a:xfrm>
          <a:prstGeom prst="rect">
            <a:avLst/>
          </a:prstGeom>
          <a:noFill/>
        </p:spPr>
        <p:txBody>
          <a:bodyPr wrap="square" lIns="0" rIns="0" tIns="0" bIns="0" anchor="t">
            <a:spAutoFit/>
          </a:bodyPr>
          <a:lstStyle/>
          <a:p>
            <a:pPr algn="l">
              <a:lnSpc>
                <a:spcPct val="128000"/>
              </a:lnSpc>
            </a:pPr>
            <a:r>
              <a:rPr sz="1000" b="0" i="0">
                <a:solidFill>
                  <a:srgbClr val="16181D"/>
                </a:solidFill>
                <a:latin typeface="Geist"/>
              </a:rPr>
              <a:t>Fire detection and suppression systems, and the gap between code and ground-level compliance.</a:t>
            </a:r>
          </a:p>
        </p:txBody>
      </p:sp>
      <p:cxnSp>
        <p:nvCxnSpPr>
          <p:cNvPr id="20" name="Connector 19"/>
          <p:cNvCxnSpPr/>
          <p:nvPr/>
        </p:nvCxnSpPr>
        <p:spPr>
          <a:xfrm>
            <a:off x="6355080" y="3685032"/>
            <a:ext cx="5065776" cy="0"/>
          </a:xfrm>
          <a:prstGeom prst="line">
            <a:avLst/>
          </a:prstGeom>
          <a:ln w="9525">
            <a:solidFill>
              <a:srgbClr val="E8E9EE"/>
            </a:solidFill>
          </a:ln>
          <a:effectLst/>
        </p:spPr>
      </p:cxnSp>
      <p:sp>
        <p:nvSpPr>
          <p:cNvPr id="21" name="TextBox 20"/>
          <p:cNvSpPr txBox="1"/>
          <p:nvPr/>
        </p:nvSpPr>
        <p:spPr>
          <a:xfrm>
            <a:off x="6355080" y="3794760"/>
            <a:ext cx="5065776" cy="777240"/>
          </a:xfrm>
          <a:prstGeom prst="rect">
            <a:avLst/>
          </a:prstGeom>
          <a:noFill/>
        </p:spPr>
        <p:txBody>
          <a:bodyPr wrap="square" lIns="0" rIns="0" tIns="0" bIns="0" anchor="t">
            <a:spAutoFit/>
          </a:bodyPr>
          <a:lstStyle/>
          <a:p>
            <a:pPr algn="l">
              <a:lnSpc>
                <a:spcPct val="125000"/>
              </a:lnSpc>
            </a:pPr>
            <a:r>
              <a:rPr sz="900" b="0" i="0">
                <a:solidFill>
                  <a:srgbClr val="6E7180"/>
                </a:solidFill>
                <a:latin typeface="Geist"/>
              </a:rPr>
              <a:t>Dattatraya Saste, former Technical Consultant MoRTH and former Convener, Bus Code &amp; Safety Regulations, with Shekhar Dhole, Technical Secretariat in-charge, CIRT; Panel Convenor, AIS-052/119.</a:t>
            </a:r>
          </a:p>
        </p:txBody>
      </p:sp>
      <p:sp>
        <p:nvSpPr>
          <p:cNvPr id="22" name="Rounded Rectangle 21"/>
          <p:cNvSpPr/>
          <p:nvPr/>
        </p:nvSpPr>
        <p:spPr>
          <a:xfrm>
            <a:off x="566928" y="4983480"/>
            <a:ext cx="11057839" cy="868680"/>
          </a:xfrm>
          <a:prstGeom prst="roundRect">
            <a:avLst>
              <a:gd name="adj" fmla="val 10000"/>
            </a:avLst>
          </a:prstGeom>
          <a:solidFill>
            <a:srgbClr val="E9F7F0"/>
          </a:solidFill>
          <a:ln>
            <a:noFill/>
          </a:ln>
          <a:effectLst/>
        </p:spPr>
        <p:txBody>
          <a:bodyPr rtlCol="0" anchor="ctr"/>
          <a:lstStyle/>
          <a:p>
            <a:pPr algn="ctr"/>
          </a:p>
        </p:txBody>
      </p:sp>
      <p:sp>
        <p:nvSpPr>
          <p:cNvPr id="23" name="TextBox 22"/>
          <p:cNvSpPr txBox="1"/>
          <p:nvPr/>
        </p:nvSpPr>
        <p:spPr>
          <a:xfrm>
            <a:off x="768096" y="5093208"/>
            <a:ext cx="10646359" cy="685800"/>
          </a:xfrm>
          <a:prstGeom prst="rect">
            <a:avLst/>
          </a:prstGeom>
          <a:noFill/>
        </p:spPr>
        <p:txBody>
          <a:bodyPr wrap="square" lIns="0" rIns="0" tIns="0" bIns="0" anchor="t">
            <a:spAutoFit/>
          </a:bodyPr>
          <a:lstStyle/>
          <a:p>
            <a:pPr algn="l">
              <a:lnSpc>
                <a:spcPct val="130000"/>
              </a:lnSpc>
            </a:pPr>
            <a:r>
              <a:rPr sz="1050" b="1" i="0">
                <a:solidFill>
                  <a:srgbClr val="0A9955"/>
                </a:solidFill>
                <a:latin typeface="Geist"/>
              </a:rPr>
              <a:t>These sessions were a first step, and the relationships hold: </a:t>
            </a:r>
            <a:r>
              <a:rPr sz="1050" b="0" i="0">
                <a:solidFill>
                  <a:srgbClr val="0A9955"/>
                </a:solidFill>
                <a:latin typeface="Geist"/>
              </a:rPr>
              <a:t>with ARAI, CMVR-TSC and CIRT veterans, and with two-wheeler ADAS developers, all available to this Working Group.</a:t>
            </a:r>
          </a:p>
        </p:txBody>
      </p:sp>
      <p:cxnSp>
        <p:nvCxnSpPr>
          <p:cNvPr id="24" name="Connector 23"/>
          <p:cNvCxnSpPr/>
          <p:nvPr/>
        </p:nvCxnSpPr>
        <p:spPr>
          <a:xfrm>
            <a:off x="566928" y="6455664"/>
            <a:ext cx="11057839" cy="0"/>
          </a:xfrm>
          <a:prstGeom prst="line">
            <a:avLst/>
          </a:prstGeom>
          <a:ln w="9525">
            <a:solidFill>
              <a:srgbClr val="E8E9EE"/>
            </a:solidFill>
          </a:ln>
          <a:effectLst/>
        </p:spPr>
      </p:cxnSp>
      <p:sp>
        <p:nvSpPr>
          <p:cNvPr id="25" name="TextBox 24"/>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3</a:t>
            </a:r>
          </a:p>
        </p:txBody>
      </p:sp>
      <p:sp>
        <p:nvSpPr>
          <p:cNvPr id="26" name="TextBox 25"/>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21 / 26</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4 OF 5  ·  GIG &amp; TWO-WHEELER SAFETY</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04 · GIG &amp; TWO-WHEELER SAFETY, THE CONVERSATION AHEAD</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A safety conversation on gig work, </a:t>
            </a:r>
            <a:r>
              <a:rPr sz="2250" b="1" i="0">
                <a:solidFill>
                  <a:srgbClr val="4A35FF"/>
                </a:solidFill>
                <a:latin typeface="Montserrat"/>
              </a:rPr>
              <a:t>ready to begin</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Gig-work policy so far has been framed around social security and labour conditions. This Working Group can convene its road safety dimension.</a:t>
            </a:r>
          </a:p>
        </p:txBody>
      </p:sp>
      <p:sp>
        <p:nvSpPr>
          <p:cNvPr id="8" name="Oval 7"/>
          <p:cNvSpPr/>
          <p:nvPr/>
        </p:nvSpPr>
        <p:spPr>
          <a:xfrm>
            <a:off x="566928" y="2240280"/>
            <a:ext cx="365760" cy="365760"/>
          </a:xfrm>
          <a:prstGeom prst="ellipse">
            <a:avLst/>
          </a:prstGeom>
          <a:solidFill>
            <a:srgbClr val="EFEDFF"/>
          </a:solidFill>
          <a:ln>
            <a:noFill/>
          </a:ln>
          <a:effectLst/>
        </p:spPr>
        <p:txBody>
          <a:bodyPr rtlCol="0" anchor="ctr"/>
          <a:lstStyle/>
          <a:p>
            <a:pPr algn="ctr"/>
          </a:p>
        </p:txBody>
      </p:sp>
      <p:pic>
        <p:nvPicPr>
          <p:cNvPr id="9" name="Picture 8" descr="landmark_4A35FF_256_2.0.png"/>
          <p:cNvPicPr>
            <a:picLocks noChangeAspect="1"/>
          </p:cNvPicPr>
          <p:nvPr/>
        </p:nvPicPr>
        <p:blipFill>
          <a:blip r:embed="rId2"/>
          <a:stretch>
            <a:fillRect/>
          </a:stretch>
        </p:blipFill>
        <p:spPr>
          <a:xfrm>
            <a:off x="654710" y="2328062"/>
            <a:ext cx="190195" cy="190195"/>
          </a:xfrm>
          <a:prstGeom prst="rect">
            <a:avLst/>
          </a:prstGeom>
        </p:spPr>
      </p:pic>
      <p:sp>
        <p:nvSpPr>
          <p:cNvPr id="10" name="TextBox 9"/>
          <p:cNvSpPr txBox="1"/>
          <p:nvPr/>
        </p:nvSpPr>
        <p:spPr>
          <a:xfrm>
            <a:off x="1097280" y="2221992"/>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What we heard from the Ministry</a:t>
            </a:r>
          </a:p>
        </p:txBody>
      </p:sp>
      <p:sp>
        <p:nvSpPr>
          <p:cNvPr id="11" name="TextBox 10"/>
          <p:cNvSpPr txBox="1"/>
          <p:nvPr/>
        </p:nvSpPr>
        <p:spPr>
          <a:xfrm>
            <a:off x="3566160" y="2221992"/>
            <a:ext cx="790956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Our consultation with the Ministry of Labour and Employment confirmed the framing: platform-work policy centres on welfare boards, insurance and social security.</a:t>
            </a:r>
          </a:p>
        </p:txBody>
      </p:sp>
      <p:sp>
        <p:nvSpPr>
          <p:cNvPr id="12" name="Oval 11"/>
          <p:cNvSpPr/>
          <p:nvPr/>
        </p:nvSpPr>
        <p:spPr>
          <a:xfrm>
            <a:off x="566928" y="3154680"/>
            <a:ext cx="365760" cy="365760"/>
          </a:xfrm>
          <a:prstGeom prst="ellipse">
            <a:avLst/>
          </a:prstGeom>
          <a:solidFill>
            <a:srgbClr val="E7F4F4"/>
          </a:solidFill>
          <a:ln>
            <a:noFill/>
          </a:ln>
          <a:effectLst/>
        </p:spPr>
        <p:txBody>
          <a:bodyPr rtlCol="0" anchor="ctr"/>
          <a:lstStyle/>
          <a:p>
            <a:pPr algn="ctr"/>
          </a:p>
        </p:txBody>
      </p:sp>
      <p:pic>
        <p:nvPicPr>
          <p:cNvPr id="13" name="Picture 12" descr="globe_0E8A8A_256_2.0.png"/>
          <p:cNvPicPr>
            <a:picLocks noChangeAspect="1"/>
          </p:cNvPicPr>
          <p:nvPr/>
        </p:nvPicPr>
        <p:blipFill>
          <a:blip r:embed="rId3"/>
          <a:stretch>
            <a:fillRect/>
          </a:stretch>
        </p:blipFill>
        <p:spPr>
          <a:xfrm>
            <a:off x="654710" y="3242462"/>
            <a:ext cx="190195" cy="190195"/>
          </a:xfrm>
          <a:prstGeom prst="rect">
            <a:avLst/>
          </a:prstGeom>
        </p:spPr>
      </p:pic>
      <p:sp>
        <p:nvSpPr>
          <p:cNvPr id="14" name="TextBox 13"/>
          <p:cNvSpPr txBox="1"/>
          <p:nvPr/>
        </p:nvSpPr>
        <p:spPr>
          <a:xfrm>
            <a:off x="1097280" y="3136392"/>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What is happening elsewhere</a:t>
            </a:r>
          </a:p>
        </p:txBody>
      </p:sp>
      <p:sp>
        <p:nvSpPr>
          <p:cNvPr id="15" name="TextBox 14"/>
          <p:cNvSpPr txBox="1"/>
          <p:nvPr/>
        </p:nvSpPr>
        <p:spPr>
          <a:xfrm>
            <a:off x="3566160" y="3136392"/>
            <a:ext cx="790956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The road safety dimension of gig work has begun receiving dedicated attention in Vietnam and Taiwan; a comparable conversation in India is yet to take shape.</a:t>
            </a:r>
          </a:p>
        </p:txBody>
      </p:sp>
      <p:sp>
        <p:nvSpPr>
          <p:cNvPr id="16" name="Oval 15"/>
          <p:cNvSpPr/>
          <p:nvPr/>
        </p:nvSpPr>
        <p:spPr>
          <a:xfrm>
            <a:off x="566928" y="4069080"/>
            <a:ext cx="365760" cy="365760"/>
          </a:xfrm>
          <a:prstGeom prst="ellipse">
            <a:avLst/>
          </a:prstGeom>
          <a:solidFill>
            <a:srgbClr val="E9F7F0"/>
          </a:solidFill>
          <a:ln>
            <a:noFill/>
          </a:ln>
          <a:effectLst/>
        </p:spPr>
        <p:txBody>
          <a:bodyPr rtlCol="0" anchor="ctr"/>
          <a:lstStyle/>
          <a:p>
            <a:pPr algn="ctr"/>
          </a:p>
        </p:txBody>
      </p:sp>
      <p:pic>
        <p:nvPicPr>
          <p:cNvPr id="17" name="Picture 16" descr="users-round_0A9955_256_2.0.png"/>
          <p:cNvPicPr>
            <a:picLocks noChangeAspect="1"/>
          </p:cNvPicPr>
          <p:nvPr/>
        </p:nvPicPr>
        <p:blipFill>
          <a:blip r:embed="rId4"/>
          <a:stretch>
            <a:fillRect/>
          </a:stretch>
        </p:blipFill>
        <p:spPr>
          <a:xfrm>
            <a:off x="654710" y="4156862"/>
            <a:ext cx="190195" cy="190195"/>
          </a:xfrm>
          <a:prstGeom prst="rect">
            <a:avLst/>
          </a:prstGeom>
        </p:spPr>
      </p:pic>
      <p:sp>
        <p:nvSpPr>
          <p:cNvPr id="18" name="TextBox 17"/>
          <p:cNvSpPr txBox="1"/>
          <p:nvPr/>
        </p:nvSpPr>
        <p:spPr>
          <a:xfrm>
            <a:off x="1097280" y="4050792"/>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Who needs to sit together</a:t>
            </a:r>
          </a:p>
        </p:txBody>
      </p:sp>
      <p:sp>
        <p:nvSpPr>
          <p:cNvPr id="19" name="TextBox 18"/>
          <p:cNvSpPr txBox="1"/>
          <p:nvPr/>
        </p:nvSpPr>
        <p:spPr>
          <a:xfrm>
            <a:off x="3566160" y="4050792"/>
            <a:ext cx="790956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Platforms, police, insurers, regulators and researchers each hold a fragment of rider risk. No one holds the shared view; a Working Group table can.</a:t>
            </a:r>
          </a:p>
        </p:txBody>
      </p:sp>
      <p:sp>
        <p:nvSpPr>
          <p:cNvPr id="20" name="TextBox 19"/>
          <p:cNvSpPr txBox="1"/>
          <p:nvPr/>
        </p:nvSpPr>
        <p:spPr>
          <a:xfrm>
            <a:off x="566928" y="5120640"/>
            <a:ext cx="10972800" cy="237744"/>
          </a:xfrm>
          <a:prstGeom prst="rect">
            <a:avLst/>
          </a:prstGeom>
          <a:noFill/>
        </p:spPr>
        <p:txBody>
          <a:bodyPr wrap="square" lIns="0" rIns="0" tIns="0" bIns="0" anchor="t">
            <a:spAutoFit/>
          </a:bodyPr>
          <a:lstStyle/>
          <a:p>
            <a:pPr algn="l">
              <a:lnSpc>
                <a:spcPct val="128000"/>
              </a:lnSpc>
            </a:pPr>
            <a:r>
              <a:rPr sz="850" b="1" i="0" spc="140">
                <a:solidFill>
                  <a:srgbClr val="6E7180"/>
                </a:solidFill>
                <a:latin typeface="Montserrat"/>
              </a:rPr>
              <a:t>ALREADY CONSULTED FOR THIS WORK</a:t>
            </a:r>
          </a:p>
        </p:txBody>
      </p:sp>
      <p:sp>
        <p:nvSpPr>
          <p:cNvPr id="21" name="Rounded Rectangle 20"/>
          <p:cNvSpPr/>
          <p:nvPr/>
        </p:nvSpPr>
        <p:spPr>
          <a:xfrm>
            <a:off x="566928" y="5413248"/>
            <a:ext cx="3602736" cy="384048"/>
          </a:xfrm>
          <a:prstGeom prst="roundRect">
            <a:avLst>
              <a:gd name="adj" fmla="val 50000"/>
            </a:avLst>
          </a:prstGeom>
          <a:solidFill>
            <a:srgbClr val="EFEDFF"/>
          </a:solidFill>
          <a:ln>
            <a:noFill/>
          </a:ln>
          <a:effectLst/>
        </p:spPr>
        <p:txBody>
          <a:bodyPr rtlCol="0" anchor="ctr"/>
          <a:lstStyle/>
          <a:p>
            <a:pPr algn="ctr"/>
          </a:p>
        </p:txBody>
      </p:sp>
      <p:sp>
        <p:nvSpPr>
          <p:cNvPr id="22" name="TextBox 21"/>
          <p:cNvSpPr txBox="1"/>
          <p:nvPr/>
        </p:nvSpPr>
        <p:spPr>
          <a:xfrm>
            <a:off x="585216" y="5413248"/>
            <a:ext cx="3566160" cy="384048"/>
          </a:xfrm>
          <a:prstGeom prst="rect">
            <a:avLst/>
          </a:prstGeom>
          <a:noFill/>
        </p:spPr>
        <p:txBody>
          <a:bodyPr wrap="square" lIns="0" rIns="0" tIns="0" bIns="0" anchor="ctr">
            <a:spAutoFit/>
          </a:bodyPr>
          <a:lstStyle/>
          <a:p>
            <a:pPr algn="ctr">
              <a:lnSpc>
                <a:spcPct val="100000"/>
              </a:lnSpc>
            </a:pPr>
            <a:r>
              <a:rPr sz="850" b="1" i="0">
                <a:solidFill>
                  <a:srgbClr val="4A35FF"/>
                </a:solidFill>
                <a:latin typeface="Montserrat"/>
              </a:rPr>
              <a:t>Ministry of Labour &amp; Employment</a:t>
            </a:r>
          </a:p>
        </p:txBody>
      </p:sp>
      <p:sp>
        <p:nvSpPr>
          <p:cNvPr id="23" name="Rounded Rectangle 22"/>
          <p:cNvSpPr/>
          <p:nvPr/>
        </p:nvSpPr>
        <p:spPr>
          <a:xfrm>
            <a:off x="4279391" y="5413248"/>
            <a:ext cx="3602736" cy="384048"/>
          </a:xfrm>
          <a:prstGeom prst="roundRect">
            <a:avLst>
              <a:gd name="adj" fmla="val 50000"/>
            </a:avLst>
          </a:prstGeom>
          <a:solidFill>
            <a:srgbClr val="EFEDFF"/>
          </a:solidFill>
          <a:ln>
            <a:noFill/>
          </a:ln>
          <a:effectLst/>
        </p:spPr>
        <p:txBody>
          <a:bodyPr rtlCol="0" anchor="ctr"/>
          <a:lstStyle/>
          <a:p>
            <a:pPr algn="ctr"/>
          </a:p>
        </p:txBody>
      </p:sp>
      <p:sp>
        <p:nvSpPr>
          <p:cNvPr id="24" name="TextBox 23"/>
          <p:cNvSpPr txBox="1"/>
          <p:nvPr/>
        </p:nvSpPr>
        <p:spPr>
          <a:xfrm>
            <a:off x="4297679" y="5413248"/>
            <a:ext cx="3566160" cy="384048"/>
          </a:xfrm>
          <a:prstGeom prst="rect">
            <a:avLst/>
          </a:prstGeom>
          <a:noFill/>
        </p:spPr>
        <p:txBody>
          <a:bodyPr wrap="square" lIns="0" rIns="0" tIns="0" bIns="0" anchor="ctr">
            <a:spAutoFit/>
          </a:bodyPr>
          <a:lstStyle/>
          <a:p>
            <a:pPr algn="ctr">
              <a:lnSpc>
                <a:spcPct val="100000"/>
              </a:lnSpc>
            </a:pPr>
            <a:r>
              <a:rPr sz="850" b="1" i="0">
                <a:solidFill>
                  <a:srgbClr val="4A35FF"/>
                </a:solidFill>
                <a:latin typeface="Montserrat"/>
              </a:rPr>
              <a:t>V.V. Giri National Labour Institute</a:t>
            </a:r>
          </a:p>
        </p:txBody>
      </p:sp>
      <p:sp>
        <p:nvSpPr>
          <p:cNvPr id="25" name="Rounded Rectangle 24"/>
          <p:cNvSpPr/>
          <p:nvPr/>
        </p:nvSpPr>
        <p:spPr>
          <a:xfrm>
            <a:off x="7991854" y="5413248"/>
            <a:ext cx="3602736" cy="384048"/>
          </a:xfrm>
          <a:prstGeom prst="roundRect">
            <a:avLst>
              <a:gd name="adj" fmla="val 50000"/>
            </a:avLst>
          </a:prstGeom>
          <a:solidFill>
            <a:srgbClr val="EFEDFF"/>
          </a:solidFill>
          <a:ln>
            <a:noFill/>
          </a:ln>
          <a:effectLst/>
        </p:spPr>
        <p:txBody>
          <a:bodyPr rtlCol="0" anchor="ctr"/>
          <a:lstStyle/>
          <a:p>
            <a:pPr algn="ctr"/>
          </a:p>
        </p:txBody>
      </p:sp>
      <p:sp>
        <p:nvSpPr>
          <p:cNvPr id="26" name="TextBox 25"/>
          <p:cNvSpPr txBox="1"/>
          <p:nvPr/>
        </p:nvSpPr>
        <p:spPr>
          <a:xfrm>
            <a:off x="8010142" y="5413248"/>
            <a:ext cx="3566160" cy="384048"/>
          </a:xfrm>
          <a:prstGeom prst="rect">
            <a:avLst/>
          </a:prstGeom>
          <a:noFill/>
        </p:spPr>
        <p:txBody>
          <a:bodyPr wrap="square" lIns="0" rIns="0" tIns="0" bIns="0" anchor="ctr">
            <a:spAutoFit/>
          </a:bodyPr>
          <a:lstStyle/>
          <a:p>
            <a:pPr algn="ctr">
              <a:lnSpc>
                <a:spcPct val="100000"/>
              </a:lnSpc>
            </a:pPr>
            <a:r>
              <a:rPr sz="850" b="1" i="0">
                <a:solidFill>
                  <a:srgbClr val="4A35FF"/>
                </a:solidFill>
                <a:latin typeface="Montserrat"/>
              </a:rPr>
              <a:t>Traffic police leadership: Delhi · Gurugram · Bengaluru</a:t>
            </a:r>
          </a:p>
        </p:txBody>
      </p:sp>
      <p:sp>
        <p:nvSpPr>
          <p:cNvPr id="27" name="Rounded Rectangle 26"/>
          <p:cNvSpPr/>
          <p:nvPr/>
        </p:nvSpPr>
        <p:spPr>
          <a:xfrm>
            <a:off x="566928" y="5870448"/>
            <a:ext cx="3602736" cy="384048"/>
          </a:xfrm>
          <a:prstGeom prst="roundRect">
            <a:avLst>
              <a:gd name="adj" fmla="val 50000"/>
            </a:avLst>
          </a:prstGeom>
          <a:solidFill>
            <a:srgbClr val="EFEDFF"/>
          </a:solidFill>
          <a:ln>
            <a:noFill/>
          </a:ln>
          <a:effectLst/>
        </p:spPr>
        <p:txBody>
          <a:bodyPr rtlCol="0" anchor="ctr"/>
          <a:lstStyle/>
          <a:p>
            <a:pPr algn="ctr"/>
          </a:p>
        </p:txBody>
      </p:sp>
      <p:sp>
        <p:nvSpPr>
          <p:cNvPr id="28" name="TextBox 27"/>
          <p:cNvSpPr txBox="1"/>
          <p:nvPr/>
        </p:nvSpPr>
        <p:spPr>
          <a:xfrm>
            <a:off x="585216" y="5870448"/>
            <a:ext cx="3566160" cy="384048"/>
          </a:xfrm>
          <a:prstGeom prst="rect">
            <a:avLst/>
          </a:prstGeom>
          <a:noFill/>
        </p:spPr>
        <p:txBody>
          <a:bodyPr wrap="square" lIns="0" rIns="0" tIns="0" bIns="0" anchor="ctr">
            <a:spAutoFit/>
          </a:bodyPr>
          <a:lstStyle/>
          <a:p>
            <a:pPr algn="ctr">
              <a:lnSpc>
                <a:spcPct val="100000"/>
              </a:lnSpc>
            </a:pPr>
            <a:r>
              <a:rPr sz="850" b="1" i="0">
                <a:solidFill>
                  <a:srgbClr val="4A35FF"/>
                </a:solidFill>
                <a:latin typeface="Montserrat"/>
              </a:rPr>
              <a:t>Ex-operations, Swiggy &amp; Zomato</a:t>
            </a:r>
          </a:p>
        </p:txBody>
      </p:sp>
      <p:sp>
        <p:nvSpPr>
          <p:cNvPr id="29" name="Rounded Rectangle 28"/>
          <p:cNvSpPr/>
          <p:nvPr/>
        </p:nvSpPr>
        <p:spPr>
          <a:xfrm>
            <a:off x="4279391" y="5870448"/>
            <a:ext cx="3602736" cy="384048"/>
          </a:xfrm>
          <a:prstGeom prst="roundRect">
            <a:avLst>
              <a:gd name="adj" fmla="val 50000"/>
            </a:avLst>
          </a:prstGeom>
          <a:solidFill>
            <a:srgbClr val="EFEDFF"/>
          </a:solidFill>
          <a:ln>
            <a:noFill/>
          </a:ln>
          <a:effectLst/>
        </p:spPr>
        <p:txBody>
          <a:bodyPr rtlCol="0" anchor="ctr"/>
          <a:lstStyle/>
          <a:p>
            <a:pPr algn="ctr"/>
          </a:p>
        </p:txBody>
      </p:sp>
      <p:sp>
        <p:nvSpPr>
          <p:cNvPr id="30" name="TextBox 29"/>
          <p:cNvSpPr txBox="1"/>
          <p:nvPr/>
        </p:nvSpPr>
        <p:spPr>
          <a:xfrm>
            <a:off x="4297679" y="5870448"/>
            <a:ext cx="3566160" cy="384048"/>
          </a:xfrm>
          <a:prstGeom prst="rect">
            <a:avLst/>
          </a:prstGeom>
          <a:noFill/>
        </p:spPr>
        <p:txBody>
          <a:bodyPr wrap="square" lIns="0" rIns="0" tIns="0" bIns="0" anchor="ctr">
            <a:spAutoFit/>
          </a:bodyPr>
          <a:lstStyle/>
          <a:p>
            <a:pPr algn="ctr">
              <a:lnSpc>
                <a:spcPct val="100000"/>
              </a:lnSpc>
            </a:pPr>
            <a:r>
              <a:rPr sz="850" b="1" i="0">
                <a:solidFill>
                  <a:srgbClr val="4A35FF"/>
                </a:solidFill>
                <a:latin typeface="Montserrat"/>
              </a:rPr>
              <a:t>Fairwork India researchers</a:t>
            </a:r>
          </a:p>
        </p:txBody>
      </p:sp>
      <p:sp>
        <p:nvSpPr>
          <p:cNvPr id="31" name="Rounded Rectangle 30"/>
          <p:cNvSpPr/>
          <p:nvPr/>
        </p:nvSpPr>
        <p:spPr>
          <a:xfrm>
            <a:off x="7991854" y="5870448"/>
            <a:ext cx="3602736" cy="384048"/>
          </a:xfrm>
          <a:prstGeom prst="roundRect">
            <a:avLst>
              <a:gd name="adj" fmla="val 50000"/>
            </a:avLst>
          </a:prstGeom>
          <a:solidFill>
            <a:srgbClr val="EFEDFF"/>
          </a:solidFill>
          <a:ln>
            <a:noFill/>
          </a:ln>
          <a:effectLst/>
        </p:spPr>
        <p:txBody>
          <a:bodyPr rtlCol="0" anchor="ctr"/>
          <a:lstStyle/>
          <a:p>
            <a:pPr algn="ctr"/>
          </a:p>
        </p:txBody>
      </p:sp>
      <p:sp>
        <p:nvSpPr>
          <p:cNvPr id="32" name="TextBox 31"/>
          <p:cNvSpPr txBox="1"/>
          <p:nvPr/>
        </p:nvSpPr>
        <p:spPr>
          <a:xfrm>
            <a:off x="8010142" y="5870448"/>
            <a:ext cx="3566160" cy="384048"/>
          </a:xfrm>
          <a:prstGeom prst="rect">
            <a:avLst/>
          </a:prstGeom>
          <a:noFill/>
        </p:spPr>
        <p:txBody>
          <a:bodyPr wrap="square" lIns="0" rIns="0" tIns="0" bIns="0" anchor="ctr">
            <a:spAutoFit/>
          </a:bodyPr>
          <a:lstStyle/>
          <a:p>
            <a:pPr algn="ctr">
              <a:lnSpc>
                <a:spcPct val="100000"/>
              </a:lnSpc>
            </a:pPr>
            <a:r>
              <a:rPr sz="850" b="1" i="0">
                <a:solidFill>
                  <a:srgbClr val="4A35FF"/>
                </a:solidFill>
                <a:latin typeface="Montserrat"/>
              </a:rPr>
              <a:t>TRIP Centre, IIT Delhi · IIT Kharagpur</a:t>
            </a:r>
          </a:p>
        </p:txBody>
      </p:sp>
      <p:cxnSp>
        <p:nvCxnSpPr>
          <p:cNvPr id="33" name="Connector 32"/>
          <p:cNvCxnSpPr/>
          <p:nvPr/>
        </p:nvCxnSpPr>
        <p:spPr>
          <a:xfrm>
            <a:off x="566928" y="6455664"/>
            <a:ext cx="11057839" cy="0"/>
          </a:xfrm>
          <a:prstGeom prst="line">
            <a:avLst/>
          </a:prstGeom>
          <a:ln w="9525">
            <a:solidFill>
              <a:srgbClr val="E8E9EE"/>
            </a:solidFill>
          </a:ln>
          <a:effectLst/>
        </p:spPr>
      </p:cxnSp>
      <p:sp>
        <p:nvSpPr>
          <p:cNvPr id="34" name="TextBox 33"/>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3</a:t>
            </a:r>
          </a:p>
        </p:txBody>
      </p:sp>
      <p:sp>
        <p:nvSpPr>
          <p:cNvPr id="35" name="TextBox 34"/>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22 / 26</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4 OF 5  ·  GIG &amp; TWO-WHEELER SAFETY</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04 · GIG &amp; TWO-WHEELER SAFETY, THE TALENT PIPELINE</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Young policy talent is already </a:t>
            </a:r>
            <a:r>
              <a:rPr sz="2250" b="1" i="0">
                <a:solidFill>
                  <a:srgbClr val="4A35FF"/>
                </a:solidFill>
                <a:latin typeface="Montserrat"/>
              </a:rPr>
              <a:t>working this problem</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Delivery-rider safety was the most-discussed track of our NextMile policy ideathon, and it feeds a standing dialogue with experts.</a:t>
            </a:r>
          </a:p>
        </p:txBody>
      </p:sp>
      <p:pic>
        <p:nvPicPr>
          <p:cNvPr id="8" name="Picture 7" descr="ph_ideathon_winners.jpg_4.40x2.70_0.20.jpg"/>
          <p:cNvPicPr>
            <a:picLocks noChangeAspect="1"/>
          </p:cNvPicPr>
          <p:nvPr/>
        </p:nvPicPr>
        <p:blipFill>
          <a:blip r:embed="rId2"/>
          <a:stretch>
            <a:fillRect/>
          </a:stretch>
        </p:blipFill>
        <p:spPr>
          <a:xfrm>
            <a:off x="566928" y="2103120"/>
            <a:ext cx="4023360" cy="2468880"/>
          </a:xfrm>
          <a:prstGeom prst="rect">
            <a:avLst/>
          </a:prstGeom>
        </p:spPr>
      </p:pic>
      <p:sp>
        <p:nvSpPr>
          <p:cNvPr id="9" name="Rectangle 8"/>
          <p:cNvSpPr/>
          <p:nvPr/>
        </p:nvSpPr>
        <p:spPr>
          <a:xfrm>
            <a:off x="566928" y="2103120"/>
            <a:ext cx="4023360" cy="2468880"/>
          </a:xfrm>
          <a:prstGeom prst="rect">
            <a:avLst/>
          </a:prstGeom>
          <a:noFill/>
          <a:ln w="12700">
            <a:solidFill>
              <a:srgbClr val="E8E9EE"/>
            </a:solidFill>
          </a:ln>
          <a:effectLst/>
        </p:spPr>
        <p:txBody>
          <a:bodyPr rtlCol="0" anchor="ctr"/>
          <a:lstStyle/>
          <a:p>
            <a:pPr algn="ctr"/>
          </a:p>
        </p:txBody>
      </p:sp>
      <p:sp>
        <p:nvSpPr>
          <p:cNvPr id="10" name="TextBox 9"/>
          <p:cNvSpPr txBox="1"/>
          <p:nvPr/>
        </p:nvSpPr>
        <p:spPr>
          <a:xfrm>
            <a:off x="566928" y="4617720"/>
            <a:ext cx="402336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NextMile grand finale, New Delhi: the delivery-rider safety track produced three finalist teams.</a:t>
            </a:r>
          </a:p>
        </p:txBody>
      </p:sp>
      <p:sp>
        <p:nvSpPr>
          <p:cNvPr id="11" name="Oval 10"/>
          <p:cNvSpPr/>
          <p:nvPr/>
        </p:nvSpPr>
        <p:spPr>
          <a:xfrm>
            <a:off x="4892040" y="2103120"/>
            <a:ext cx="384048" cy="384048"/>
          </a:xfrm>
          <a:prstGeom prst="ellipse">
            <a:avLst/>
          </a:prstGeom>
          <a:solidFill>
            <a:srgbClr val="EFEDFF"/>
          </a:solidFill>
          <a:ln>
            <a:noFill/>
          </a:ln>
          <a:effectLst/>
        </p:spPr>
        <p:txBody>
          <a:bodyPr rtlCol="0" anchor="ctr"/>
          <a:lstStyle/>
          <a:p>
            <a:pPr algn="ctr"/>
          </a:p>
        </p:txBody>
      </p:sp>
      <p:pic>
        <p:nvPicPr>
          <p:cNvPr id="12" name="Picture 11" descr="route_4A35FF_256_2.0.png"/>
          <p:cNvPicPr>
            <a:picLocks noChangeAspect="1"/>
          </p:cNvPicPr>
          <p:nvPr/>
        </p:nvPicPr>
        <p:blipFill>
          <a:blip r:embed="rId3"/>
          <a:stretch>
            <a:fillRect/>
          </a:stretch>
        </p:blipFill>
        <p:spPr>
          <a:xfrm>
            <a:off x="4984211" y="2195291"/>
            <a:ext cx="199704" cy="199704"/>
          </a:xfrm>
          <a:prstGeom prst="rect">
            <a:avLst/>
          </a:prstGeom>
        </p:spPr>
      </p:pic>
      <p:sp>
        <p:nvSpPr>
          <p:cNvPr id="13" name="TextBox 12"/>
          <p:cNvSpPr txBox="1"/>
          <p:nvPr/>
        </p:nvSpPr>
        <p:spPr>
          <a:xfrm>
            <a:off x="5422392" y="2075688"/>
            <a:ext cx="2377440" cy="548640"/>
          </a:xfrm>
          <a:prstGeom prst="rect">
            <a:avLst/>
          </a:prstGeom>
          <a:noFill/>
        </p:spPr>
        <p:txBody>
          <a:bodyPr wrap="square" lIns="0" rIns="0" tIns="0" bIns="0" anchor="t">
            <a:spAutoFit/>
          </a:bodyPr>
          <a:lstStyle/>
          <a:p>
            <a:pPr algn="l">
              <a:lnSpc>
                <a:spcPct val="110000"/>
              </a:lnSpc>
            </a:pPr>
            <a:r>
              <a:rPr sz="1100" b="1" i="0">
                <a:solidFill>
                  <a:srgbClr val="16181D"/>
                </a:solidFill>
                <a:latin typeface="Montserrat"/>
              </a:rPr>
              <a:t>Rider pods for fatigue management</a:t>
            </a:r>
          </a:p>
        </p:txBody>
      </p:sp>
      <p:sp>
        <p:nvSpPr>
          <p:cNvPr id="14" name="TextBox 13"/>
          <p:cNvSpPr txBox="1"/>
          <p:nvPr/>
        </p:nvSpPr>
        <p:spPr>
          <a:xfrm>
            <a:off x="7909560" y="2075688"/>
            <a:ext cx="3657600" cy="868680"/>
          </a:xfrm>
          <a:prstGeom prst="rect">
            <a:avLst/>
          </a:prstGeom>
          <a:noFill/>
        </p:spPr>
        <p:txBody>
          <a:bodyPr wrap="square" lIns="0" rIns="0" tIns="0" bIns="0" anchor="t">
            <a:spAutoFit/>
          </a:bodyPr>
          <a:lstStyle/>
          <a:p>
            <a:pPr algn="l">
              <a:lnSpc>
                <a:spcPct val="122000"/>
              </a:lnSpc>
            </a:pPr>
            <a:r>
              <a:rPr sz="950" b="0" i="0">
                <a:solidFill>
                  <a:srgbClr val="6E7180"/>
                </a:solidFill>
                <a:latin typeface="Geist"/>
              </a:rPr>
              <a:t>Team Strategists (IIM Bangalore) proposed pod-based fatigue management, drawing on a Chennai model.</a:t>
            </a:r>
          </a:p>
        </p:txBody>
      </p:sp>
      <p:sp>
        <p:nvSpPr>
          <p:cNvPr id="15" name="Oval 14"/>
          <p:cNvSpPr/>
          <p:nvPr/>
        </p:nvSpPr>
        <p:spPr>
          <a:xfrm>
            <a:off x="4892040" y="3072384"/>
            <a:ext cx="384048" cy="384048"/>
          </a:xfrm>
          <a:prstGeom prst="ellipse">
            <a:avLst/>
          </a:prstGeom>
          <a:solidFill>
            <a:srgbClr val="E7F4F4"/>
          </a:solidFill>
          <a:ln>
            <a:noFill/>
          </a:ln>
          <a:effectLst/>
        </p:spPr>
        <p:txBody>
          <a:bodyPr rtlCol="0" anchor="ctr"/>
          <a:lstStyle/>
          <a:p>
            <a:pPr algn="ctr"/>
          </a:p>
        </p:txBody>
      </p:sp>
      <p:pic>
        <p:nvPicPr>
          <p:cNvPr id="16" name="Picture 15" descr="timer_0E8A8A_256_2.0.png"/>
          <p:cNvPicPr>
            <a:picLocks noChangeAspect="1"/>
          </p:cNvPicPr>
          <p:nvPr/>
        </p:nvPicPr>
        <p:blipFill>
          <a:blip r:embed="rId4"/>
          <a:stretch>
            <a:fillRect/>
          </a:stretch>
        </p:blipFill>
        <p:spPr>
          <a:xfrm>
            <a:off x="4984211" y="3164555"/>
            <a:ext cx="199704" cy="199704"/>
          </a:xfrm>
          <a:prstGeom prst="rect">
            <a:avLst/>
          </a:prstGeom>
        </p:spPr>
      </p:pic>
      <p:sp>
        <p:nvSpPr>
          <p:cNvPr id="17" name="TextBox 16"/>
          <p:cNvSpPr txBox="1"/>
          <p:nvPr/>
        </p:nvSpPr>
        <p:spPr>
          <a:xfrm>
            <a:off x="5422392" y="3044952"/>
            <a:ext cx="2377440" cy="548640"/>
          </a:xfrm>
          <a:prstGeom prst="rect">
            <a:avLst/>
          </a:prstGeom>
          <a:noFill/>
        </p:spPr>
        <p:txBody>
          <a:bodyPr wrap="square" lIns="0" rIns="0" tIns="0" bIns="0" anchor="t">
            <a:spAutoFit/>
          </a:bodyPr>
          <a:lstStyle/>
          <a:p>
            <a:pPr algn="l">
              <a:lnSpc>
                <a:spcPct val="110000"/>
              </a:lnSpc>
            </a:pPr>
            <a:r>
              <a:rPr sz="1100" b="1" i="0">
                <a:solidFill>
                  <a:srgbClr val="16181D"/>
                </a:solidFill>
                <a:latin typeface="Montserrat"/>
              </a:rPr>
              <a:t>The SafeMile Protocol</a:t>
            </a:r>
          </a:p>
        </p:txBody>
      </p:sp>
      <p:sp>
        <p:nvSpPr>
          <p:cNvPr id="18" name="TextBox 17"/>
          <p:cNvSpPr txBox="1"/>
          <p:nvPr/>
        </p:nvSpPr>
        <p:spPr>
          <a:xfrm>
            <a:off x="7909560" y="3044952"/>
            <a:ext cx="3657600" cy="868680"/>
          </a:xfrm>
          <a:prstGeom prst="rect">
            <a:avLst/>
          </a:prstGeom>
          <a:noFill/>
        </p:spPr>
        <p:txBody>
          <a:bodyPr wrap="square" lIns="0" rIns="0" tIns="0" bIns="0" anchor="t">
            <a:spAutoFit/>
          </a:bodyPr>
          <a:lstStyle/>
          <a:p>
            <a:pPr algn="l">
              <a:lnSpc>
                <a:spcPct val="122000"/>
              </a:lnSpc>
            </a:pPr>
            <a:r>
              <a:rPr sz="950" b="0" i="0">
                <a:solidFill>
                  <a:srgbClr val="6E7180"/>
                </a:solidFill>
                <a:latin typeface="Geist"/>
              </a:rPr>
              <a:t>Team A² (Kolkata) proposed aligning delivery ETAs to safe-speed benchmarks, with tiered delivery windows and digital rest-break enforcement.</a:t>
            </a:r>
          </a:p>
        </p:txBody>
      </p:sp>
      <p:sp>
        <p:nvSpPr>
          <p:cNvPr id="19" name="Oval 18"/>
          <p:cNvSpPr/>
          <p:nvPr/>
        </p:nvSpPr>
        <p:spPr>
          <a:xfrm>
            <a:off x="4892040" y="4041648"/>
            <a:ext cx="384048" cy="384048"/>
          </a:xfrm>
          <a:prstGeom prst="ellipse">
            <a:avLst/>
          </a:prstGeom>
          <a:solidFill>
            <a:srgbClr val="FDF3E3"/>
          </a:solidFill>
          <a:ln>
            <a:noFill/>
          </a:ln>
          <a:effectLst/>
        </p:spPr>
        <p:txBody>
          <a:bodyPr rtlCol="0" anchor="ctr"/>
          <a:lstStyle/>
          <a:p>
            <a:pPr algn="ctr"/>
          </a:p>
        </p:txBody>
      </p:sp>
      <p:pic>
        <p:nvPicPr>
          <p:cNvPr id="20" name="Picture 19" descr="mic_E58900_256_2.0.png"/>
          <p:cNvPicPr>
            <a:picLocks noChangeAspect="1"/>
          </p:cNvPicPr>
          <p:nvPr/>
        </p:nvPicPr>
        <p:blipFill>
          <a:blip r:embed="rId5"/>
          <a:stretch>
            <a:fillRect/>
          </a:stretch>
        </p:blipFill>
        <p:spPr>
          <a:xfrm>
            <a:off x="4984211" y="4133819"/>
            <a:ext cx="199704" cy="199704"/>
          </a:xfrm>
          <a:prstGeom prst="rect">
            <a:avLst/>
          </a:prstGeom>
        </p:spPr>
      </p:pic>
      <p:sp>
        <p:nvSpPr>
          <p:cNvPr id="21" name="TextBox 20"/>
          <p:cNvSpPr txBox="1"/>
          <p:nvPr/>
        </p:nvSpPr>
        <p:spPr>
          <a:xfrm>
            <a:off x="5422392" y="4014216"/>
            <a:ext cx="2377440" cy="548640"/>
          </a:xfrm>
          <a:prstGeom prst="rect">
            <a:avLst/>
          </a:prstGeom>
          <a:noFill/>
        </p:spPr>
        <p:txBody>
          <a:bodyPr wrap="square" lIns="0" rIns="0" tIns="0" bIns="0" anchor="t">
            <a:spAutoFit/>
          </a:bodyPr>
          <a:lstStyle/>
          <a:p>
            <a:pPr algn="l">
              <a:lnSpc>
                <a:spcPct val="110000"/>
              </a:lnSpc>
            </a:pPr>
            <a:r>
              <a:rPr sz="1100" b="1" i="0">
                <a:solidFill>
                  <a:srgbClr val="16181D"/>
                </a:solidFill>
                <a:latin typeface="Montserrat"/>
              </a:rPr>
              <a:t>A standing dialogue</a:t>
            </a:r>
          </a:p>
        </p:txBody>
      </p:sp>
      <p:sp>
        <p:nvSpPr>
          <p:cNvPr id="22" name="TextBox 21"/>
          <p:cNvSpPr txBox="1"/>
          <p:nvPr/>
        </p:nvSpPr>
        <p:spPr>
          <a:xfrm>
            <a:off x="7909560" y="4014216"/>
            <a:ext cx="3657600" cy="868680"/>
          </a:xfrm>
          <a:prstGeom prst="rect">
            <a:avLst/>
          </a:prstGeom>
          <a:noFill/>
        </p:spPr>
        <p:txBody>
          <a:bodyPr wrap="square" lIns="0" rIns="0" tIns="0" bIns="0" anchor="t">
            <a:spAutoFit/>
          </a:bodyPr>
          <a:lstStyle/>
          <a:p>
            <a:pPr algn="l">
              <a:lnSpc>
                <a:spcPct val="122000"/>
              </a:lnSpc>
            </a:pPr>
            <a:r>
              <a:rPr sz="950" b="0" i="0">
                <a:solidFill>
                  <a:srgbClr val="6E7180"/>
                </a:solidFill>
                <a:latin typeface="Geist"/>
              </a:rPr>
              <a:t>Our National Road Safety Dialogue Series has run a dedicated session on delivery-rider safety, with platforms and researchers in the room.</a:t>
            </a:r>
          </a:p>
        </p:txBody>
      </p:sp>
      <p:sp>
        <p:nvSpPr>
          <p:cNvPr id="23" name="Rounded Rectangle 22"/>
          <p:cNvSpPr/>
          <p:nvPr/>
        </p:nvSpPr>
        <p:spPr>
          <a:xfrm>
            <a:off x="566928" y="5257800"/>
            <a:ext cx="11057839" cy="731520"/>
          </a:xfrm>
          <a:prstGeom prst="roundRect">
            <a:avLst>
              <a:gd name="adj" fmla="val 12000"/>
            </a:avLst>
          </a:prstGeom>
          <a:solidFill>
            <a:srgbClr val="F7F7FA"/>
          </a:solidFill>
          <a:ln>
            <a:noFill/>
          </a:ln>
          <a:effectLst/>
        </p:spPr>
        <p:txBody>
          <a:bodyPr rtlCol="0" anchor="ctr"/>
          <a:lstStyle/>
          <a:p>
            <a:pPr algn="ctr"/>
          </a:p>
        </p:txBody>
      </p:sp>
      <p:sp>
        <p:nvSpPr>
          <p:cNvPr id="24" name="TextBox 23"/>
          <p:cNvSpPr txBox="1"/>
          <p:nvPr/>
        </p:nvSpPr>
        <p:spPr>
          <a:xfrm>
            <a:off x="768096" y="5367528"/>
            <a:ext cx="10646359" cy="548640"/>
          </a:xfrm>
          <a:prstGeom prst="rect">
            <a:avLst/>
          </a:prstGeom>
          <a:noFill/>
        </p:spPr>
        <p:txBody>
          <a:bodyPr wrap="square" lIns="0" rIns="0" tIns="0" bIns="0" anchor="t">
            <a:spAutoFit/>
          </a:bodyPr>
          <a:lstStyle/>
          <a:p>
            <a:pPr algn="l">
              <a:lnSpc>
                <a:spcPct val="125000"/>
              </a:lnSpc>
            </a:pPr>
            <a:r>
              <a:rPr sz="1000" b="1" i="0">
                <a:solidFill>
                  <a:srgbClr val="16181D"/>
                </a:solidFill>
                <a:latin typeface="Geist"/>
              </a:rPr>
              <a:t>Our stated priority from that work: </a:t>
            </a:r>
            <a:r>
              <a:rPr sz="1000" b="0" i="0">
                <a:solidFill>
                  <a:srgbClr val="6E7180"/>
                </a:solidFill>
                <a:latin typeface="Geist"/>
              </a:rPr>
              <a:t>rider safety taken forward with governments and platforms together, small pilots first, progress reported transparently.</a:t>
            </a:r>
          </a:p>
        </p:txBody>
      </p:sp>
      <p:cxnSp>
        <p:nvCxnSpPr>
          <p:cNvPr id="25" name="Connector 24"/>
          <p:cNvCxnSpPr/>
          <p:nvPr/>
        </p:nvCxnSpPr>
        <p:spPr>
          <a:xfrm>
            <a:off x="566928" y="6455664"/>
            <a:ext cx="11057839" cy="0"/>
          </a:xfrm>
          <a:prstGeom prst="line">
            <a:avLst/>
          </a:prstGeom>
          <a:ln w="9525">
            <a:solidFill>
              <a:srgbClr val="E8E9EE"/>
            </a:solidFill>
          </a:ln>
          <a:effectLst/>
        </p:spPr>
      </p:cxnSp>
      <p:sp>
        <p:nvSpPr>
          <p:cNvPr id="26" name="TextBox 25"/>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3</a:t>
            </a:r>
          </a:p>
        </p:txBody>
      </p:sp>
      <p:sp>
        <p:nvSpPr>
          <p:cNvPr id="27" name="TextBox 26"/>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23 / 26</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4 OF 5  ·  GIG &amp; TWO-WHEELER SAFETY</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04 · WHAT THIS ADDS UP TO</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A combination that is </a:t>
            </a:r>
            <a:r>
              <a:rPr sz="2250" b="1" i="0">
                <a:solidFill>
                  <a:srgbClr val="4A35FF"/>
                </a:solidFill>
                <a:latin typeface="Montserrat"/>
              </a:rPr>
              <a:t>rare to find together</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Few organisations working on vehicle standards, fleets or aggregator regulation sit inside both the industry and the research worlds at once.</a:t>
            </a:r>
          </a:p>
        </p:txBody>
      </p:sp>
      <p:sp>
        <p:nvSpPr>
          <p:cNvPr id="8" name="Oval 7"/>
          <p:cNvSpPr/>
          <p:nvPr/>
        </p:nvSpPr>
        <p:spPr>
          <a:xfrm>
            <a:off x="566928" y="2148840"/>
            <a:ext cx="365760" cy="365760"/>
          </a:xfrm>
          <a:prstGeom prst="ellipse">
            <a:avLst/>
          </a:prstGeom>
          <a:solidFill>
            <a:srgbClr val="EFEDFF"/>
          </a:solidFill>
          <a:ln>
            <a:noFill/>
          </a:ln>
          <a:effectLst/>
        </p:spPr>
        <p:txBody>
          <a:bodyPr rtlCol="0" anchor="ctr"/>
          <a:lstStyle/>
          <a:p>
            <a:pPr algn="ctr"/>
          </a:p>
        </p:txBody>
      </p:sp>
      <p:pic>
        <p:nvPicPr>
          <p:cNvPr id="9" name="Picture 8" descr="link_4A35FF_256_2.0.png"/>
          <p:cNvPicPr>
            <a:picLocks noChangeAspect="1"/>
          </p:cNvPicPr>
          <p:nvPr/>
        </p:nvPicPr>
        <p:blipFill>
          <a:blip r:embed="rId2"/>
          <a:stretch>
            <a:fillRect/>
          </a:stretch>
        </p:blipFill>
        <p:spPr>
          <a:xfrm>
            <a:off x="654710" y="2236622"/>
            <a:ext cx="190195" cy="190195"/>
          </a:xfrm>
          <a:prstGeom prst="rect">
            <a:avLst/>
          </a:prstGeom>
        </p:spPr>
      </p:pic>
      <p:sp>
        <p:nvSpPr>
          <p:cNvPr id="10" name="TextBox 9"/>
          <p:cNvSpPr txBox="1"/>
          <p:nvPr/>
        </p:nvSpPr>
        <p:spPr>
          <a:xfrm>
            <a:off x="1097280" y="2130552"/>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Technical access on request</a:t>
            </a:r>
          </a:p>
        </p:txBody>
      </p:sp>
      <p:sp>
        <p:nvSpPr>
          <p:cNvPr id="11" name="TextBox 10"/>
          <p:cNvSpPr txBox="1"/>
          <p:nvPr/>
        </p:nvSpPr>
        <p:spPr>
          <a:xfrm>
            <a:off x="3566160" y="2130552"/>
            <a:ext cx="790956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Standing relationships with the people who have written and audited India's vehicle-safety standards, from ARAI and the CMVR Technical Standing Committee to CIRT's bus-code veterans and two-wheeler ADAS developers.</a:t>
            </a:r>
          </a:p>
        </p:txBody>
      </p:sp>
      <p:sp>
        <p:nvSpPr>
          <p:cNvPr id="12" name="Oval 11"/>
          <p:cNvSpPr/>
          <p:nvPr/>
        </p:nvSpPr>
        <p:spPr>
          <a:xfrm>
            <a:off x="566928" y="3108960"/>
            <a:ext cx="365760" cy="365760"/>
          </a:xfrm>
          <a:prstGeom prst="ellipse">
            <a:avLst/>
          </a:prstGeom>
          <a:solidFill>
            <a:srgbClr val="FDF3E3"/>
          </a:solidFill>
          <a:ln>
            <a:noFill/>
          </a:ln>
          <a:effectLst/>
        </p:spPr>
        <p:txBody>
          <a:bodyPr rtlCol="0" anchor="ctr"/>
          <a:lstStyle/>
          <a:p>
            <a:pPr algn="ctr"/>
          </a:p>
        </p:txBody>
      </p:sp>
      <p:pic>
        <p:nvPicPr>
          <p:cNvPr id="13" name="Picture 12" descr="building-2_E58900_256_2.0.png"/>
          <p:cNvPicPr>
            <a:picLocks noChangeAspect="1"/>
          </p:cNvPicPr>
          <p:nvPr/>
        </p:nvPicPr>
        <p:blipFill>
          <a:blip r:embed="rId3"/>
          <a:stretch>
            <a:fillRect/>
          </a:stretch>
        </p:blipFill>
        <p:spPr>
          <a:xfrm>
            <a:off x="654710" y="3196742"/>
            <a:ext cx="190195" cy="190195"/>
          </a:xfrm>
          <a:prstGeom prst="rect">
            <a:avLst/>
          </a:prstGeom>
        </p:spPr>
      </p:pic>
      <p:sp>
        <p:nvSpPr>
          <p:cNvPr id="14" name="TextBox 13"/>
          <p:cNvSpPr txBox="1"/>
          <p:nvPr/>
        </p:nvSpPr>
        <p:spPr>
          <a:xfrm>
            <a:off x="1097280" y="3090672"/>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An industry vantage point</a:t>
            </a:r>
          </a:p>
        </p:txBody>
      </p:sp>
      <p:sp>
        <p:nvSpPr>
          <p:cNvPr id="15" name="TextBox 14"/>
          <p:cNvSpPr txBox="1"/>
          <p:nvPr/>
        </p:nvSpPr>
        <p:spPr>
          <a:xfrm>
            <a:off x="3566160" y="3090672"/>
            <a:ext cx="790956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Visibility into vehicle markets, fleet operations and used-vehicle certification that comes from our founding by Cars24, alongside the research and policy work.</a:t>
            </a:r>
          </a:p>
        </p:txBody>
      </p:sp>
      <p:sp>
        <p:nvSpPr>
          <p:cNvPr id="16" name="Oval 15"/>
          <p:cNvSpPr/>
          <p:nvPr/>
        </p:nvSpPr>
        <p:spPr>
          <a:xfrm>
            <a:off x="566928" y="4069080"/>
            <a:ext cx="365760" cy="365760"/>
          </a:xfrm>
          <a:prstGeom prst="ellipse">
            <a:avLst/>
          </a:prstGeom>
          <a:solidFill>
            <a:srgbClr val="E7F4F4"/>
          </a:solidFill>
          <a:ln>
            <a:noFill/>
          </a:ln>
          <a:effectLst/>
        </p:spPr>
        <p:txBody>
          <a:bodyPr rtlCol="0" anchor="ctr"/>
          <a:lstStyle/>
          <a:p>
            <a:pPr algn="ctr"/>
          </a:p>
        </p:txBody>
      </p:sp>
      <p:pic>
        <p:nvPicPr>
          <p:cNvPr id="17" name="Picture 16" descr="file-search_0E8A8A_256_2.0.png"/>
          <p:cNvPicPr>
            <a:picLocks noChangeAspect="1"/>
          </p:cNvPicPr>
          <p:nvPr/>
        </p:nvPicPr>
        <p:blipFill>
          <a:blip r:embed="rId4"/>
          <a:stretch>
            <a:fillRect/>
          </a:stretch>
        </p:blipFill>
        <p:spPr>
          <a:xfrm>
            <a:off x="654710" y="4156862"/>
            <a:ext cx="190195" cy="190195"/>
          </a:xfrm>
          <a:prstGeom prst="rect">
            <a:avLst/>
          </a:prstGeom>
        </p:spPr>
      </p:pic>
      <p:sp>
        <p:nvSpPr>
          <p:cNvPr id="18" name="TextBox 17"/>
          <p:cNvSpPr txBox="1"/>
          <p:nvPr/>
        </p:nvSpPr>
        <p:spPr>
          <a:xfrm>
            <a:off x="1097280" y="4050792"/>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A two-wheeler and last-mile evidence base</a:t>
            </a:r>
          </a:p>
        </p:txBody>
      </p:sp>
      <p:sp>
        <p:nvSpPr>
          <p:cNvPr id="19" name="TextBox 18"/>
          <p:cNvSpPr txBox="1"/>
          <p:nvPr/>
        </p:nvSpPr>
        <p:spPr>
          <a:xfrm>
            <a:off x="3566160" y="4050792"/>
            <a:ext cx="790956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A growing, increasingly quantified body of research on the two-wheeler and gig-rider segment specifically, the fastest-growing source of road deaths in the country.</a:t>
            </a:r>
          </a:p>
        </p:txBody>
      </p:sp>
      <p:sp>
        <p:nvSpPr>
          <p:cNvPr id="20" name="Oval 19"/>
          <p:cNvSpPr/>
          <p:nvPr/>
        </p:nvSpPr>
        <p:spPr>
          <a:xfrm>
            <a:off x="566928" y="5029200"/>
            <a:ext cx="365760" cy="365760"/>
          </a:xfrm>
          <a:prstGeom prst="ellipse">
            <a:avLst/>
          </a:prstGeom>
          <a:solidFill>
            <a:srgbClr val="E9F7F0"/>
          </a:solidFill>
          <a:ln>
            <a:noFill/>
          </a:ln>
          <a:effectLst/>
        </p:spPr>
        <p:txBody>
          <a:bodyPr rtlCol="0" anchor="ctr"/>
          <a:lstStyle/>
          <a:p>
            <a:pPr algn="ctr"/>
          </a:p>
        </p:txBody>
      </p:sp>
      <p:pic>
        <p:nvPicPr>
          <p:cNvPr id="21" name="Picture 20" descr="badge-check_0A9955_256_2.0.png"/>
          <p:cNvPicPr>
            <a:picLocks noChangeAspect="1"/>
          </p:cNvPicPr>
          <p:nvPr/>
        </p:nvPicPr>
        <p:blipFill>
          <a:blip r:embed="rId5"/>
          <a:stretch>
            <a:fillRect/>
          </a:stretch>
        </p:blipFill>
        <p:spPr>
          <a:xfrm>
            <a:off x="654710" y="5116982"/>
            <a:ext cx="190195" cy="190195"/>
          </a:xfrm>
          <a:prstGeom prst="rect">
            <a:avLst/>
          </a:prstGeom>
        </p:spPr>
      </p:pic>
      <p:sp>
        <p:nvSpPr>
          <p:cNvPr id="22" name="TextBox 21"/>
          <p:cNvSpPr txBox="1"/>
          <p:nvPr/>
        </p:nvSpPr>
        <p:spPr>
          <a:xfrm>
            <a:off x="1097280" y="5010912"/>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A safety-specific view on aggregators</a:t>
            </a:r>
          </a:p>
        </p:txBody>
      </p:sp>
      <p:sp>
        <p:nvSpPr>
          <p:cNvPr id="23" name="TextBox 22"/>
          <p:cNvSpPr txBox="1"/>
          <p:nvPr/>
        </p:nvSpPr>
        <p:spPr>
          <a:xfrm>
            <a:off x="3566160" y="5010912"/>
            <a:ext cx="790956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Early evidence on vehicle-compliance verification gaps, and a perspective on aggregator accountability that sits alongside, rather than duplicates, the social-security lens.</a:t>
            </a:r>
          </a:p>
        </p:txBody>
      </p:sp>
      <p:cxnSp>
        <p:nvCxnSpPr>
          <p:cNvPr id="24" name="Connector 23"/>
          <p:cNvCxnSpPr/>
          <p:nvPr/>
        </p:nvCxnSpPr>
        <p:spPr>
          <a:xfrm>
            <a:off x="566928" y="6455664"/>
            <a:ext cx="11057839" cy="0"/>
          </a:xfrm>
          <a:prstGeom prst="line">
            <a:avLst/>
          </a:prstGeom>
          <a:ln w="9525">
            <a:solidFill>
              <a:srgbClr val="E8E9EE"/>
            </a:solidFill>
          </a:ln>
          <a:effectLst/>
        </p:spPr>
      </p:cxnSp>
      <p:sp>
        <p:nvSpPr>
          <p:cNvPr id="25" name="TextBox 24"/>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3</a:t>
            </a:r>
          </a:p>
        </p:txBody>
      </p:sp>
      <p:sp>
        <p:nvSpPr>
          <p:cNvPr id="26" name="TextBox 25"/>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24 / 26</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5 OF 5  ·  OUR CONTRIBUTION</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05 · HOW WE CAN CONTRIBUTE</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Four concrete offers to </a:t>
            </a:r>
            <a:r>
              <a:rPr sz="2250" b="1" i="0">
                <a:solidFill>
                  <a:srgbClr val="4A35FF"/>
                </a:solidFill>
                <a:latin typeface="Montserrat"/>
              </a:rPr>
              <a:t>Working Group 3</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All four are ready today, need no funding from the Board, and can begin within weeks.</a:t>
            </a:r>
          </a:p>
        </p:txBody>
      </p:sp>
      <p:sp>
        <p:nvSpPr>
          <p:cNvPr id="8" name="Rounded Rectangle 7"/>
          <p:cNvSpPr/>
          <p:nvPr/>
        </p:nvSpPr>
        <p:spPr>
          <a:xfrm>
            <a:off x="566928" y="2057400"/>
            <a:ext cx="11055096" cy="841248"/>
          </a:xfrm>
          <a:prstGeom prst="roundRect">
            <a:avLst>
              <a:gd name="adj" fmla="val 10000"/>
            </a:avLst>
          </a:prstGeom>
          <a:solidFill>
            <a:srgbClr val="F7F7FA"/>
          </a:solidFill>
          <a:ln>
            <a:noFill/>
          </a:ln>
          <a:effectLst/>
        </p:spPr>
        <p:txBody>
          <a:bodyPr rtlCol="0" anchor="ctr"/>
          <a:lstStyle/>
          <a:p>
            <a:pPr algn="ctr"/>
          </a:p>
        </p:txBody>
      </p:sp>
      <p:sp>
        <p:nvSpPr>
          <p:cNvPr id="9" name="Oval 8"/>
          <p:cNvSpPr/>
          <p:nvPr/>
        </p:nvSpPr>
        <p:spPr>
          <a:xfrm>
            <a:off x="749808" y="2258568"/>
            <a:ext cx="438912" cy="438912"/>
          </a:xfrm>
          <a:prstGeom prst="ellipse">
            <a:avLst/>
          </a:prstGeom>
          <a:solidFill>
            <a:srgbClr val="EFEDFF"/>
          </a:solidFill>
          <a:ln>
            <a:noFill/>
          </a:ln>
          <a:effectLst/>
        </p:spPr>
        <p:txBody>
          <a:bodyPr rtlCol="0" anchor="ctr"/>
          <a:lstStyle/>
          <a:p>
            <a:pPr algn="ctr"/>
          </a:p>
        </p:txBody>
      </p:sp>
      <p:sp>
        <p:nvSpPr>
          <p:cNvPr id="10" name="TextBox 9"/>
          <p:cNvSpPr txBox="1"/>
          <p:nvPr/>
        </p:nvSpPr>
        <p:spPr>
          <a:xfrm>
            <a:off x="749808" y="2247596"/>
            <a:ext cx="438912" cy="438912"/>
          </a:xfrm>
          <a:prstGeom prst="rect">
            <a:avLst/>
          </a:prstGeom>
          <a:noFill/>
        </p:spPr>
        <p:txBody>
          <a:bodyPr wrap="square" lIns="0" rIns="0" tIns="0" bIns="0" anchor="ctr">
            <a:spAutoFit/>
          </a:bodyPr>
          <a:lstStyle/>
          <a:p>
            <a:pPr algn="ctr">
              <a:lnSpc>
                <a:spcPct val="100000"/>
              </a:lnSpc>
            </a:pPr>
            <a:r>
              <a:rPr sz="1300" b="1" i="0">
                <a:solidFill>
                  <a:srgbClr val="4A35FF"/>
                </a:solidFill>
                <a:latin typeface="Montserrat"/>
              </a:rPr>
              <a:t>1</a:t>
            </a:r>
          </a:p>
        </p:txBody>
      </p:sp>
      <p:sp>
        <p:nvSpPr>
          <p:cNvPr id="11" name="TextBox 10"/>
          <p:cNvSpPr txBox="1"/>
          <p:nvPr/>
        </p:nvSpPr>
        <p:spPr>
          <a:xfrm>
            <a:off x="1408176" y="2176272"/>
            <a:ext cx="3566160" cy="548640"/>
          </a:xfrm>
          <a:prstGeom prst="rect">
            <a:avLst/>
          </a:prstGeom>
          <a:noFill/>
        </p:spPr>
        <p:txBody>
          <a:bodyPr wrap="square" lIns="0" rIns="0" tIns="0" bIns="0" anchor="t">
            <a:spAutoFit/>
          </a:bodyPr>
          <a:lstStyle/>
          <a:p>
            <a:pPr algn="l">
              <a:lnSpc>
                <a:spcPct val="110000"/>
              </a:lnSpc>
            </a:pPr>
            <a:r>
              <a:rPr sz="1250" b="1" i="0">
                <a:solidFill>
                  <a:srgbClr val="16181D"/>
                </a:solidFill>
                <a:latin typeface="Montserrat"/>
              </a:rPr>
              <a:t>A rider-risk evidence base for standards</a:t>
            </a:r>
          </a:p>
        </p:txBody>
      </p:sp>
      <p:sp>
        <p:nvSpPr>
          <p:cNvPr id="12" name="TextBox 11"/>
          <p:cNvSpPr txBox="1"/>
          <p:nvPr/>
        </p:nvSpPr>
        <p:spPr>
          <a:xfrm>
            <a:off x="5138928" y="2176272"/>
            <a:ext cx="6309360" cy="640080"/>
          </a:xfrm>
          <a:prstGeom prst="rect">
            <a:avLst/>
          </a:prstGeom>
          <a:noFill/>
        </p:spPr>
        <p:txBody>
          <a:bodyPr wrap="square" lIns="0" rIns="0" tIns="0" bIns="0" anchor="t">
            <a:spAutoFit/>
          </a:bodyPr>
          <a:lstStyle/>
          <a:p>
            <a:pPr algn="l">
              <a:lnSpc>
                <a:spcPct val="125000"/>
              </a:lnSpc>
            </a:pPr>
            <a:r>
              <a:rPr sz="1000" b="0" i="0">
                <a:solidFill>
                  <a:srgbClr val="6E7180"/>
                </a:solidFill>
                <a:latin typeface="Geist"/>
              </a:rPr>
              <a:t>The published study, the 300-rider quantification now in the field, and rider profiles that let two-wheeler, fleet and aggregator standards start from measured risk.</a:t>
            </a:r>
          </a:p>
        </p:txBody>
      </p:sp>
      <p:sp>
        <p:nvSpPr>
          <p:cNvPr id="13" name="Rounded Rectangle 12"/>
          <p:cNvSpPr/>
          <p:nvPr/>
        </p:nvSpPr>
        <p:spPr>
          <a:xfrm>
            <a:off x="566928" y="3026664"/>
            <a:ext cx="11055096" cy="841248"/>
          </a:xfrm>
          <a:prstGeom prst="roundRect">
            <a:avLst>
              <a:gd name="adj" fmla="val 10000"/>
            </a:avLst>
          </a:prstGeom>
          <a:solidFill>
            <a:srgbClr val="FFFFFF"/>
          </a:solidFill>
          <a:ln w="9525">
            <a:solidFill>
              <a:srgbClr val="E8E9EE"/>
            </a:solidFill>
          </a:ln>
          <a:effectLst/>
        </p:spPr>
        <p:txBody>
          <a:bodyPr rtlCol="0" anchor="ctr"/>
          <a:lstStyle/>
          <a:p>
            <a:pPr algn="ctr"/>
          </a:p>
        </p:txBody>
      </p:sp>
      <p:sp>
        <p:nvSpPr>
          <p:cNvPr id="14" name="Oval 13"/>
          <p:cNvSpPr/>
          <p:nvPr/>
        </p:nvSpPr>
        <p:spPr>
          <a:xfrm>
            <a:off x="749808" y="3227832"/>
            <a:ext cx="438912" cy="438912"/>
          </a:xfrm>
          <a:prstGeom prst="ellipse">
            <a:avLst/>
          </a:prstGeom>
          <a:solidFill>
            <a:srgbClr val="EFEDFF"/>
          </a:solidFill>
          <a:ln>
            <a:noFill/>
          </a:ln>
          <a:effectLst/>
        </p:spPr>
        <p:txBody>
          <a:bodyPr rtlCol="0" anchor="ctr"/>
          <a:lstStyle/>
          <a:p>
            <a:pPr algn="ctr"/>
          </a:p>
        </p:txBody>
      </p:sp>
      <p:sp>
        <p:nvSpPr>
          <p:cNvPr id="15" name="TextBox 14"/>
          <p:cNvSpPr txBox="1"/>
          <p:nvPr/>
        </p:nvSpPr>
        <p:spPr>
          <a:xfrm>
            <a:off x="749808" y="3216860"/>
            <a:ext cx="438912" cy="438912"/>
          </a:xfrm>
          <a:prstGeom prst="rect">
            <a:avLst/>
          </a:prstGeom>
          <a:noFill/>
        </p:spPr>
        <p:txBody>
          <a:bodyPr wrap="square" lIns="0" rIns="0" tIns="0" bIns="0" anchor="ctr">
            <a:spAutoFit/>
          </a:bodyPr>
          <a:lstStyle/>
          <a:p>
            <a:pPr algn="ctr">
              <a:lnSpc>
                <a:spcPct val="100000"/>
              </a:lnSpc>
            </a:pPr>
            <a:r>
              <a:rPr sz="1300" b="1" i="0">
                <a:solidFill>
                  <a:srgbClr val="4A35FF"/>
                </a:solidFill>
                <a:latin typeface="Montserrat"/>
              </a:rPr>
              <a:t>2</a:t>
            </a:r>
          </a:p>
        </p:txBody>
      </p:sp>
      <p:sp>
        <p:nvSpPr>
          <p:cNvPr id="16" name="TextBox 15"/>
          <p:cNvSpPr txBox="1"/>
          <p:nvPr/>
        </p:nvSpPr>
        <p:spPr>
          <a:xfrm>
            <a:off x="1408176" y="3145536"/>
            <a:ext cx="3566160" cy="548640"/>
          </a:xfrm>
          <a:prstGeom prst="rect">
            <a:avLst/>
          </a:prstGeom>
          <a:noFill/>
        </p:spPr>
        <p:txBody>
          <a:bodyPr wrap="square" lIns="0" rIns="0" tIns="0" bIns="0" anchor="t">
            <a:spAutoFit/>
          </a:bodyPr>
          <a:lstStyle/>
          <a:p>
            <a:pPr algn="l">
              <a:lnSpc>
                <a:spcPct val="110000"/>
              </a:lnSpc>
            </a:pPr>
            <a:r>
              <a:rPr sz="1250" b="1" i="0">
                <a:solidFill>
                  <a:srgbClr val="16181D"/>
                </a:solidFill>
                <a:latin typeface="Montserrat"/>
              </a:rPr>
              <a:t>Technical access to standards veterans</a:t>
            </a:r>
          </a:p>
        </p:txBody>
      </p:sp>
      <p:sp>
        <p:nvSpPr>
          <p:cNvPr id="17" name="TextBox 16"/>
          <p:cNvSpPr txBox="1"/>
          <p:nvPr/>
        </p:nvSpPr>
        <p:spPr>
          <a:xfrm>
            <a:off x="5138928" y="3145536"/>
            <a:ext cx="6309360" cy="640080"/>
          </a:xfrm>
          <a:prstGeom prst="rect">
            <a:avLst/>
          </a:prstGeom>
          <a:noFill/>
        </p:spPr>
        <p:txBody>
          <a:bodyPr wrap="square" lIns="0" rIns="0" tIns="0" bIns="0" anchor="t">
            <a:spAutoFit/>
          </a:bodyPr>
          <a:lstStyle/>
          <a:p>
            <a:pPr algn="l">
              <a:lnSpc>
                <a:spcPct val="125000"/>
              </a:lnSpc>
            </a:pPr>
            <a:r>
              <a:rPr sz="1000" b="0" i="0">
                <a:solidFill>
                  <a:srgbClr val="6E7180"/>
                </a:solidFill>
                <a:latin typeface="Geist"/>
              </a:rPr>
              <a:t>Standing relationships with ARAI, CMVR-TSC and CIRT veterans and two-wheeler ADAS developers, available for drafting, review and technical input.</a:t>
            </a:r>
          </a:p>
        </p:txBody>
      </p:sp>
      <p:sp>
        <p:nvSpPr>
          <p:cNvPr id="18" name="Rounded Rectangle 17"/>
          <p:cNvSpPr/>
          <p:nvPr/>
        </p:nvSpPr>
        <p:spPr>
          <a:xfrm>
            <a:off x="566928" y="3995928"/>
            <a:ext cx="11055096" cy="841248"/>
          </a:xfrm>
          <a:prstGeom prst="roundRect">
            <a:avLst>
              <a:gd name="adj" fmla="val 10000"/>
            </a:avLst>
          </a:prstGeom>
          <a:solidFill>
            <a:srgbClr val="F7F7FA"/>
          </a:solidFill>
          <a:ln>
            <a:noFill/>
          </a:ln>
          <a:effectLst/>
        </p:spPr>
        <p:txBody>
          <a:bodyPr rtlCol="0" anchor="ctr"/>
          <a:lstStyle/>
          <a:p>
            <a:pPr algn="ctr"/>
          </a:p>
        </p:txBody>
      </p:sp>
      <p:sp>
        <p:nvSpPr>
          <p:cNvPr id="19" name="Oval 18"/>
          <p:cNvSpPr/>
          <p:nvPr/>
        </p:nvSpPr>
        <p:spPr>
          <a:xfrm>
            <a:off x="749808" y="4197096"/>
            <a:ext cx="438912" cy="438912"/>
          </a:xfrm>
          <a:prstGeom prst="ellipse">
            <a:avLst/>
          </a:prstGeom>
          <a:solidFill>
            <a:srgbClr val="EFEDFF"/>
          </a:solidFill>
          <a:ln>
            <a:noFill/>
          </a:ln>
          <a:effectLst/>
        </p:spPr>
        <p:txBody>
          <a:bodyPr rtlCol="0" anchor="ctr"/>
          <a:lstStyle/>
          <a:p>
            <a:pPr algn="ctr"/>
          </a:p>
        </p:txBody>
      </p:sp>
      <p:sp>
        <p:nvSpPr>
          <p:cNvPr id="20" name="TextBox 19"/>
          <p:cNvSpPr txBox="1"/>
          <p:nvPr/>
        </p:nvSpPr>
        <p:spPr>
          <a:xfrm>
            <a:off x="749808" y="4186124"/>
            <a:ext cx="438912" cy="438912"/>
          </a:xfrm>
          <a:prstGeom prst="rect">
            <a:avLst/>
          </a:prstGeom>
          <a:noFill/>
        </p:spPr>
        <p:txBody>
          <a:bodyPr wrap="square" lIns="0" rIns="0" tIns="0" bIns="0" anchor="ctr">
            <a:spAutoFit/>
          </a:bodyPr>
          <a:lstStyle/>
          <a:p>
            <a:pPr algn="ctr">
              <a:lnSpc>
                <a:spcPct val="100000"/>
              </a:lnSpc>
            </a:pPr>
            <a:r>
              <a:rPr sz="1300" b="1" i="0">
                <a:solidFill>
                  <a:srgbClr val="4A35FF"/>
                </a:solidFill>
                <a:latin typeface="Montserrat"/>
              </a:rPr>
              <a:t>3</a:t>
            </a:r>
          </a:p>
        </p:txBody>
      </p:sp>
      <p:sp>
        <p:nvSpPr>
          <p:cNvPr id="21" name="TextBox 20"/>
          <p:cNvSpPr txBox="1"/>
          <p:nvPr/>
        </p:nvSpPr>
        <p:spPr>
          <a:xfrm>
            <a:off x="1408176" y="4114800"/>
            <a:ext cx="3566160" cy="548640"/>
          </a:xfrm>
          <a:prstGeom prst="rect">
            <a:avLst/>
          </a:prstGeom>
          <a:noFill/>
        </p:spPr>
        <p:txBody>
          <a:bodyPr wrap="square" lIns="0" rIns="0" tIns="0" bIns="0" anchor="t">
            <a:spAutoFit/>
          </a:bodyPr>
          <a:lstStyle/>
          <a:p>
            <a:pPr algn="l">
              <a:lnSpc>
                <a:spcPct val="110000"/>
              </a:lnSpc>
            </a:pPr>
            <a:r>
              <a:rPr sz="1250" b="1" i="0">
                <a:solidFill>
                  <a:srgbClr val="16181D"/>
                </a:solidFill>
                <a:latin typeface="Montserrat"/>
              </a:rPr>
              <a:t>A safety-specific view on aggregators</a:t>
            </a:r>
          </a:p>
        </p:txBody>
      </p:sp>
      <p:sp>
        <p:nvSpPr>
          <p:cNvPr id="22" name="TextBox 21"/>
          <p:cNvSpPr txBox="1"/>
          <p:nvPr/>
        </p:nvSpPr>
        <p:spPr>
          <a:xfrm>
            <a:off x="5138928" y="4114800"/>
            <a:ext cx="6309360" cy="640080"/>
          </a:xfrm>
          <a:prstGeom prst="rect">
            <a:avLst/>
          </a:prstGeom>
          <a:noFill/>
        </p:spPr>
        <p:txBody>
          <a:bodyPr wrap="square" lIns="0" rIns="0" tIns="0" bIns="0" anchor="t">
            <a:spAutoFit/>
          </a:bodyPr>
          <a:lstStyle/>
          <a:p>
            <a:pPr algn="l">
              <a:lnSpc>
                <a:spcPct val="125000"/>
              </a:lnSpc>
            </a:pPr>
            <a:r>
              <a:rPr sz="1000" b="0" i="0">
                <a:solidFill>
                  <a:srgbClr val="6E7180"/>
                </a:solidFill>
                <a:latin typeface="Geist"/>
              </a:rPr>
              <a:t>Early vehicle-compliance evidence, and working relationships with platforms, police and labour institutions, for an aggregator conversation framed on road safety.</a:t>
            </a:r>
          </a:p>
        </p:txBody>
      </p:sp>
      <p:sp>
        <p:nvSpPr>
          <p:cNvPr id="23" name="Rounded Rectangle 22"/>
          <p:cNvSpPr/>
          <p:nvPr/>
        </p:nvSpPr>
        <p:spPr>
          <a:xfrm>
            <a:off x="566928" y="4965192"/>
            <a:ext cx="11055096" cy="841248"/>
          </a:xfrm>
          <a:prstGeom prst="roundRect">
            <a:avLst>
              <a:gd name="adj" fmla="val 10000"/>
            </a:avLst>
          </a:prstGeom>
          <a:solidFill>
            <a:srgbClr val="FFFFFF"/>
          </a:solidFill>
          <a:ln w="9525">
            <a:solidFill>
              <a:srgbClr val="E8E9EE"/>
            </a:solidFill>
          </a:ln>
          <a:effectLst/>
        </p:spPr>
        <p:txBody>
          <a:bodyPr rtlCol="0" anchor="ctr"/>
          <a:lstStyle/>
          <a:p>
            <a:pPr algn="ctr"/>
          </a:p>
        </p:txBody>
      </p:sp>
      <p:sp>
        <p:nvSpPr>
          <p:cNvPr id="24" name="Oval 23"/>
          <p:cNvSpPr/>
          <p:nvPr/>
        </p:nvSpPr>
        <p:spPr>
          <a:xfrm>
            <a:off x="749808" y="5166360"/>
            <a:ext cx="438912" cy="438912"/>
          </a:xfrm>
          <a:prstGeom prst="ellipse">
            <a:avLst/>
          </a:prstGeom>
          <a:solidFill>
            <a:srgbClr val="EFEDFF"/>
          </a:solidFill>
          <a:ln>
            <a:noFill/>
          </a:ln>
          <a:effectLst/>
        </p:spPr>
        <p:txBody>
          <a:bodyPr rtlCol="0" anchor="ctr"/>
          <a:lstStyle/>
          <a:p>
            <a:pPr algn="ctr"/>
          </a:p>
        </p:txBody>
      </p:sp>
      <p:sp>
        <p:nvSpPr>
          <p:cNvPr id="25" name="TextBox 24"/>
          <p:cNvSpPr txBox="1"/>
          <p:nvPr/>
        </p:nvSpPr>
        <p:spPr>
          <a:xfrm>
            <a:off x="749808" y="5155388"/>
            <a:ext cx="438912" cy="438912"/>
          </a:xfrm>
          <a:prstGeom prst="rect">
            <a:avLst/>
          </a:prstGeom>
          <a:noFill/>
        </p:spPr>
        <p:txBody>
          <a:bodyPr wrap="square" lIns="0" rIns="0" tIns="0" bIns="0" anchor="ctr">
            <a:spAutoFit/>
          </a:bodyPr>
          <a:lstStyle/>
          <a:p>
            <a:pPr algn="ctr">
              <a:lnSpc>
                <a:spcPct val="100000"/>
              </a:lnSpc>
            </a:pPr>
            <a:r>
              <a:rPr sz="1300" b="1" i="0">
                <a:solidFill>
                  <a:srgbClr val="4A35FF"/>
                </a:solidFill>
                <a:latin typeface="Montserrat"/>
              </a:rPr>
              <a:t>4</a:t>
            </a:r>
          </a:p>
        </p:txBody>
      </p:sp>
      <p:sp>
        <p:nvSpPr>
          <p:cNvPr id="26" name="TextBox 25"/>
          <p:cNvSpPr txBox="1"/>
          <p:nvPr/>
        </p:nvSpPr>
        <p:spPr>
          <a:xfrm>
            <a:off x="1408176" y="5084064"/>
            <a:ext cx="3566160" cy="548640"/>
          </a:xfrm>
          <a:prstGeom prst="rect">
            <a:avLst/>
          </a:prstGeom>
          <a:noFill/>
        </p:spPr>
        <p:txBody>
          <a:bodyPr wrap="square" lIns="0" rIns="0" tIns="0" bIns="0" anchor="t">
            <a:spAutoFit/>
          </a:bodyPr>
          <a:lstStyle/>
          <a:p>
            <a:pPr algn="l">
              <a:lnSpc>
                <a:spcPct val="110000"/>
              </a:lnSpc>
            </a:pPr>
            <a:r>
              <a:rPr sz="1250" b="1" i="0">
                <a:solidFill>
                  <a:srgbClr val="16181D"/>
                </a:solidFill>
                <a:latin typeface="Montserrat"/>
              </a:rPr>
              <a:t>Compliance technology, proven with police</a:t>
            </a:r>
          </a:p>
        </p:txBody>
      </p:sp>
      <p:sp>
        <p:nvSpPr>
          <p:cNvPr id="27" name="TextBox 26"/>
          <p:cNvSpPr txBox="1"/>
          <p:nvPr/>
        </p:nvSpPr>
        <p:spPr>
          <a:xfrm>
            <a:off x="5138928" y="5084064"/>
            <a:ext cx="6309360" cy="640080"/>
          </a:xfrm>
          <a:prstGeom prst="rect">
            <a:avLst/>
          </a:prstGeom>
          <a:noFill/>
        </p:spPr>
        <p:txBody>
          <a:bodyPr wrap="square" lIns="0" rIns="0" tIns="0" bIns="0" anchor="t">
            <a:spAutoFit/>
          </a:bodyPr>
          <a:lstStyle/>
          <a:p>
            <a:pPr algn="l">
              <a:lnSpc>
                <a:spcPct val="125000"/>
              </a:lnSpc>
            </a:pPr>
            <a:r>
              <a:rPr sz="1000" b="0" i="0">
                <a:solidFill>
                  <a:srgbClr val="6E7180"/>
                </a:solidFill>
                <a:latin typeface="Geist"/>
              </a:rPr>
              <a:t>SATARK's per-vehicle screening experience, offered as working input to verification and enforcement design for commercial and aggregator fleets.</a:t>
            </a:r>
          </a:p>
        </p:txBody>
      </p:sp>
      <p:cxnSp>
        <p:nvCxnSpPr>
          <p:cNvPr id="28" name="Connector 27"/>
          <p:cNvCxnSpPr/>
          <p:nvPr/>
        </p:nvCxnSpPr>
        <p:spPr>
          <a:xfrm>
            <a:off x="566928" y="6455664"/>
            <a:ext cx="11057839" cy="0"/>
          </a:xfrm>
          <a:prstGeom prst="line">
            <a:avLst/>
          </a:prstGeom>
          <a:ln w="9525">
            <a:solidFill>
              <a:srgbClr val="E8E9EE"/>
            </a:solidFill>
          </a:ln>
          <a:effectLst/>
        </p:spPr>
      </p:cxnSp>
      <p:sp>
        <p:nvSpPr>
          <p:cNvPr id="29" name="TextBox 28"/>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3</a:t>
            </a:r>
          </a:p>
        </p:txBody>
      </p:sp>
      <p:sp>
        <p:nvSpPr>
          <p:cNvPr id="30" name="TextBox 29"/>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25 / 26</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4A35FF"/>
          </a:solidFill>
          <a:ln>
            <a:noFill/>
          </a:ln>
          <a:effectLst/>
        </p:spPr>
        <p:txBody>
          <a:bodyPr rtlCol="0" anchor="ctr"/>
          <a:lstStyle/>
          <a:p>
            <a:pPr algn="ctr"/>
          </a:p>
        </p:txBody>
      </p:sp>
      <p:pic>
        <p:nvPicPr>
          <p:cNvPr id="3" name="Picture 2" descr="logo_white.png"/>
          <p:cNvPicPr>
            <a:picLocks noChangeAspect="1"/>
          </p:cNvPicPr>
          <p:nvPr/>
        </p:nvPicPr>
        <p:blipFill>
          <a:blip r:embed="rId2"/>
          <a:stretch>
            <a:fillRect/>
          </a:stretch>
        </p:blipFill>
        <p:spPr>
          <a:xfrm>
            <a:off x="566928" y="566928"/>
            <a:ext cx="1828800" cy="252710"/>
          </a:xfrm>
          <a:prstGeom prst="rect">
            <a:avLst/>
          </a:prstGeom>
        </p:spPr>
      </p:pic>
      <p:sp>
        <p:nvSpPr>
          <p:cNvPr id="4" name="TextBox 3"/>
          <p:cNvSpPr txBox="1"/>
          <p:nvPr/>
        </p:nvSpPr>
        <p:spPr>
          <a:xfrm>
            <a:off x="566928" y="1920240"/>
            <a:ext cx="11064240" cy="1280160"/>
          </a:xfrm>
          <a:prstGeom prst="rect">
            <a:avLst/>
          </a:prstGeom>
          <a:noFill/>
        </p:spPr>
        <p:txBody>
          <a:bodyPr wrap="square" lIns="0" rIns="0" tIns="0" bIns="0" anchor="t">
            <a:spAutoFit/>
          </a:bodyPr>
          <a:lstStyle/>
          <a:p>
            <a:pPr algn="l">
              <a:lnSpc>
                <a:spcPct val="120000"/>
              </a:lnSpc>
            </a:pPr>
            <a:r>
              <a:rPr sz="3200" b="1" i="0">
                <a:solidFill>
                  <a:srgbClr val="FFFFFF"/>
                </a:solidFill>
                <a:latin typeface="Montserrat"/>
              </a:rPr>
              <a:t>We would be honoured to contribute</a:t>
            </a:r>
          </a:p>
          <a:p>
            <a:pPr algn="l">
              <a:lnSpc>
                <a:spcPct val="120000"/>
              </a:lnSpc>
            </a:pPr>
            <a:r>
              <a:rPr sz="3200" b="1" i="0">
                <a:solidFill>
                  <a:srgbClr val="FFFFFF"/>
                </a:solidFill>
                <a:latin typeface="Montserrat"/>
              </a:rPr>
              <a:t>to Working Group 3.</a:t>
            </a:r>
          </a:p>
        </p:txBody>
      </p:sp>
      <p:sp>
        <p:nvSpPr>
          <p:cNvPr id="5" name="TextBox 4"/>
          <p:cNvSpPr txBox="1"/>
          <p:nvPr/>
        </p:nvSpPr>
        <p:spPr>
          <a:xfrm>
            <a:off x="566928" y="3520440"/>
            <a:ext cx="10515600" cy="548640"/>
          </a:xfrm>
          <a:prstGeom prst="rect">
            <a:avLst/>
          </a:prstGeom>
          <a:noFill/>
        </p:spPr>
        <p:txBody>
          <a:bodyPr wrap="square" lIns="0" rIns="0" tIns="0" bIns="0" anchor="t">
            <a:spAutoFit/>
          </a:bodyPr>
          <a:lstStyle/>
          <a:p>
            <a:pPr algn="l">
              <a:lnSpc>
                <a:spcPct val="140000"/>
              </a:lnSpc>
            </a:pPr>
            <a:r>
              <a:rPr sz="1250" b="0" i="0">
                <a:solidFill>
                  <a:srgbClr val="C8C0FF"/>
                </a:solidFill>
                <a:latin typeface="Geist"/>
              </a:rPr>
              <a:t>Our evidence, our district relationships, our technology and our expert bench are available to the Board, in whichever form is most useful.</a:t>
            </a:r>
          </a:p>
        </p:txBody>
      </p:sp>
      <p:cxnSp>
        <p:nvCxnSpPr>
          <p:cNvPr id="6" name="Connector 5"/>
          <p:cNvCxnSpPr/>
          <p:nvPr/>
        </p:nvCxnSpPr>
        <p:spPr>
          <a:xfrm>
            <a:off x="566928" y="4315968"/>
            <a:ext cx="4754880" cy="0"/>
          </a:xfrm>
          <a:prstGeom prst="line">
            <a:avLst/>
          </a:prstGeom>
          <a:ln w="12700">
            <a:solidFill>
              <a:srgbClr val="6A55FF"/>
            </a:solidFill>
          </a:ln>
          <a:effectLst/>
        </p:spPr>
      </p:cxnSp>
      <p:sp>
        <p:nvSpPr>
          <p:cNvPr id="7" name="TextBox 6"/>
          <p:cNvSpPr txBox="1"/>
          <p:nvPr/>
        </p:nvSpPr>
        <p:spPr>
          <a:xfrm>
            <a:off x="566928" y="4517136"/>
            <a:ext cx="9875520" cy="777240"/>
          </a:xfrm>
          <a:prstGeom prst="rect">
            <a:avLst/>
          </a:prstGeom>
          <a:noFill/>
        </p:spPr>
        <p:txBody>
          <a:bodyPr wrap="square" lIns="0" rIns="0" tIns="0" bIns="0" anchor="t">
            <a:spAutoFit/>
          </a:bodyPr>
          <a:lstStyle/>
          <a:p>
            <a:pPr algn="l">
              <a:lnSpc>
                <a:spcPct val="135000"/>
              </a:lnSpc>
            </a:pPr>
            <a:r>
              <a:rPr sz="1400" b="1" i="1">
                <a:solidFill>
                  <a:srgbClr val="FFFFFF"/>
                </a:solidFill>
                <a:latin typeface="Montserrat"/>
              </a:rPr>
              <a:t>"We already know what is going wrong. What we need now is more responsibility, more discipline, more respect for life."</a:t>
            </a:r>
          </a:p>
        </p:txBody>
      </p:sp>
      <p:sp>
        <p:nvSpPr>
          <p:cNvPr id="8" name="TextBox 7"/>
          <p:cNvSpPr txBox="1"/>
          <p:nvPr/>
        </p:nvSpPr>
        <p:spPr>
          <a:xfrm>
            <a:off x="566928" y="5175504"/>
            <a:ext cx="7315200" cy="274320"/>
          </a:xfrm>
          <a:prstGeom prst="rect">
            <a:avLst/>
          </a:prstGeom>
          <a:noFill/>
        </p:spPr>
        <p:txBody>
          <a:bodyPr wrap="square" lIns="0" rIns="0" tIns="0" bIns="0" anchor="t">
            <a:spAutoFit/>
          </a:bodyPr>
          <a:lstStyle/>
          <a:p>
            <a:pPr algn="l">
              <a:lnSpc>
                <a:spcPct val="128000"/>
              </a:lnSpc>
            </a:pPr>
            <a:r>
              <a:rPr sz="1000" b="0" i="0">
                <a:solidFill>
                  <a:srgbClr val="C8C0FF"/>
                </a:solidFill>
                <a:latin typeface="Geist"/>
              </a:rPr>
              <a:t>MS Dhoni · Goodwill Ambassador, Crashfree India</a:t>
            </a:r>
          </a:p>
        </p:txBody>
      </p:sp>
      <p:pic>
        <p:nvPicPr>
          <p:cNvPr id="9" name="Picture 8" descr="globe_C8C0FF_256_2.0.png"/>
          <p:cNvPicPr>
            <a:picLocks noChangeAspect="1"/>
          </p:cNvPicPr>
          <p:nvPr/>
        </p:nvPicPr>
        <p:blipFill>
          <a:blip r:embed="rId3"/>
          <a:stretch>
            <a:fillRect/>
          </a:stretch>
        </p:blipFill>
        <p:spPr>
          <a:xfrm>
            <a:off x="566928" y="5614416"/>
            <a:ext cx="256032" cy="256032"/>
          </a:xfrm>
          <a:prstGeom prst="rect">
            <a:avLst/>
          </a:prstGeom>
        </p:spPr>
      </p:pic>
      <p:sp>
        <p:nvSpPr>
          <p:cNvPr id="10" name="TextBox 9"/>
          <p:cNvSpPr txBox="1"/>
          <p:nvPr/>
        </p:nvSpPr>
        <p:spPr>
          <a:xfrm>
            <a:off x="978408" y="5596128"/>
            <a:ext cx="10058400" cy="320040"/>
          </a:xfrm>
          <a:prstGeom prst="rect">
            <a:avLst/>
          </a:prstGeom>
          <a:noFill/>
        </p:spPr>
        <p:txBody>
          <a:bodyPr wrap="square" lIns="0" rIns="0" tIns="0" bIns="0" anchor="t">
            <a:spAutoFit/>
          </a:bodyPr>
          <a:lstStyle/>
          <a:p>
            <a:pPr algn="l">
              <a:lnSpc>
                <a:spcPct val="120000"/>
              </a:lnSpc>
            </a:pPr>
            <a:r>
              <a:rPr sz="1100" b="0" i="0">
                <a:solidFill>
                  <a:srgbClr val="FFFFFF"/>
                </a:solidFill>
                <a:latin typeface="Geist"/>
              </a:rPr>
              <a:t>crashfreeindia.org</a:t>
            </a:r>
          </a:p>
        </p:txBody>
      </p:sp>
      <p:pic>
        <p:nvPicPr>
          <p:cNvPr id="11" name="Picture 10" descr="mail_C8C0FF_256_2.0.png"/>
          <p:cNvPicPr>
            <a:picLocks noChangeAspect="1"/>
          </p:cNvPicPr>
          <p:nvPr/>
        </p:nvPicPr>
        <p:blipFill>
          <a:blip r:embed="rId4"/>
          <a:stretch>
            <a:fillRect/>
          </a:stretch>
        </p:blipFill>
        <p:spPr>
          <a:xfrm>
            <a:off x="566928" y="6035040"/>
            <a:ext cx="256032" cy="256032"/>
          </a:xfrm>
          <a:prstGeom prst="rect">
            <a:avLst/>
          </a:prstGeom>
        </p:spPr>
      </p:pic>
      <p:sp>
        <p:nvSpPr>
          <p:cNvPr id="12" name="TextBox 11"/>
          <p:cNvSpPr txBox="1"/>
          <p:nvPr/>
        </p:nvSpPr>
        <p:spPr>
          <a:xfrm>
            <a:off x="978408" y="6016752"/>
            <a:ext cx="10058400" cy="320040"/>
          </a:xfrm>
          <a:prstGeom prst="rect">
            <a:avLst/>
          </a:prstGeom>
          <a:noFill/>
        </p:spPr>
        <p:txBody>
          <a:bodyPr wrap="square" lIns="0" rIns="0" tIns="0" bIns="0" anchor="t">
            <a:spAutoFit/>
          </a:bodyPr>
          <a:lstStyle/>
          <a:p>
            <a:pPr algn="l">
              <a:lnSpc>
                <a:spcPct val="120000"/>
              </a:lnSpc>
            </a:pPr>
            <a:r>
              <a:rPr sz="1100" b="0" i="0">
                <a:solidFill>
                  <a:srgbClr val="FFFFFF"/>
                </a:solidFill>
                <a:latin typeface="Geist"/>
              </a:rPr>
              <a:t>akhtar@crashfreeindia.org  ·  helpdesk@crashfreeindia.org</a:t>
            </a:r>
          </a:p>
        </p:txBody>
      </p:sp>
      <p:sp>
        <p:nvSpPr>
          <p:cNvPr id="13" name="TextBox 12"/>
          <p:cNvSpPr txBox="1"/>
          <p:nvPr/>
        </p:nvSpPr>
        <p:spPr>
          <a:xfrm>
            <a:off x="566928" y="6446520"/>
            <a:ext cx="10972800" cy="274320"/>
          </a:xfrm>
          <a:prstGeom prst="rect">
            <a:avLst/>
          </a:prstGeom>
          <a:noFill/>
        </p:spPr>
        <p:txBody>
          <a:bodyPr wrap="square" lIns="0" rIns="0" tIns="0" bIns="0" anchor="t">
            <a:spAutoFit/>
          </a:bodyPr>
          <a:lstStyle/>
          <a:p>
            <a:pPr algn="l">
              <a:lnSpc>
                <a:spcPct val="128000"/>
              </a:lnSpc>
            </a:pPr>
            <a:r>
              <a:rPr sz="950" b="0" i="0">
                <a:solidFill>
                  <a:srgbClr val="C8C0FF"/>
                </a:solidFill>
                <a:latin typeface="Geist"/>
              </a:rPr>
              <a:t>Crashfree India · A Cars24 commitment · Operated by Vision Zero Trust, New Delhi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