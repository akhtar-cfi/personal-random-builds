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6.png"/><Relationship Id="rId5" Type="http://schemas.openxmlformats.org/officeDocument/2006/relationships/image" Target="../media/image1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22.png"/><Relationship Id="rId7" Type="http://schemas.openxmlformats.org/officeDocument/2006/relationships/image" Target="../media/image2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image" Target="../media/image25.jpg"/><Relationship Id="rId4" Type="http://schemas.openxmlformats.org/officeDocument/2006/relationships/image" Target="../media/image26.jpg"/><Relationship Id="rId5" Type="http://schemas.openxmlformats.org/officeDocument/2006/relationships/image" Target="../media/image27.jpg"/><Relationship Id="rId6" Type="http://schemas.openxmlformats.org/officeDocument/2006/relationships/image" Target="../media/image28.jpg"/><Relationship Id="rId7" Type="http://schemas.openxmlformats.org/officeDocument/2006/relationships/image" Target="../media/image29.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jpg"/><Relationship Id="rId3" Type="http://schemas.openxmlformats.org/officeDocument/2006/relationships/image" Target="../media/image31.jpg"/><Relationship Id="rId4" Type="http://schemas.openxmlformats.org/officeDocument/2006/relationships/image" Target="../media/image32.png"/><Relationship Id="rId5" Type="http://schemas.openxmlformats.org/officeDocument/2006/relationships/image" Target="../media/image33.png"/><Relationship Id="rId6" Type="http://schemas.openxmlformats.org/officeDocument/2006/relationships/image" Target="../media/image34.png"/><Relationship Id="rId7" Type="http://schemas.openxmlformats.org/officeDocument/2006/relationships/image" Target="../media/image35.png"/><Relationship Id="rId8" Type="http://schemas.openxmlformats.org/officeDocument/2006/relationships/image" Target="../media/image36.png"/><Relationship Id="rId9" Type="http://schemas.openxmlformats.org/officeDocument/2006/relationships/image" Target="../media/image37.png"/><Relationship Id="rId10" Type="http://schemas.openxmlformats.org/officeDocument/2006/relationships/image" Target="../media/image38.png"/><Relationship Id="rId11" Type="http://schemas.openxmlformats.org/officeDocument/2006/relationships/image" Target="../media/image3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jpg"/><Relationship Id="rId3" Type="http://schemas.openxmlformats.org/officeDocument/2006/relationships/image" Target="../media/image41.jpg"/><Relationship Id="rId4" Type="http://schemas.openxmlformats.org/officeDocument/2006/relationships/image" Target="../media/image42.png"/><Relationship Id="rId5" Type="http://schemas.openxmlformats.org/officeDocument/2006/relationships/image" Target="../media/image43.png"/><Relationship Id="rId6" Type="http://schemas.openxmlformats.org/officeDocument/2006/relationships/image" Target="../media/image44.png"/><Relationship Id="rId7" Type="http://schemas.openxmlformats.org/officeDocument/2006/relationships/image" Target="../media/image4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image" Target="../media/image47.png"/><Relationship Id="rId4" Type="http://schemas.openxmlformats.org/officeDocument/2006/relationships/image" Target="../media/image48.png"/><Relationship Id="rId5" Type="http://schemas.openxmlformats.org/officeDocument/2006/relationships/image" Target="../media/image49.png"/><Relationship Id="rId6" Type="http://schemas.openxmlformats.org/officeDocument/2006/relationships/image" Target="../media/image50.png"/><Relationship Id="rId7" Type="http://schemas.openxmlformats.org/officeDocument/2006/relationships/image" Target="../media/image51.png"/><Relationship Id="rId8" Type="http://schemas.openxmlformats.org/officeDocument/2006/relationships/image" Target="../media/image52.png"/><Relationship Id="rId9" Type="http://schemas.openxmlformats.org/officeDocument/2006/relationships/image" Target="../media/image53.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jpg"/><Relationship Id="rId3" Type="http://schemas.openxmlformats.org/officeDocument/2006/relationships/image" Target="../media/image55.jpg"/><Relationship Id="rId4" Type="http://schemas.openxmlformats.org/officeDocument/2006/relationships/image" Target="../media/image56.png"/><Relationship Id="rId5" Type="http://schemas.openxmlformats.org/officeDocument/2006/relationships/image" Target="../media/image57.png"/><Relationship Id="rId6" Type="http://schemas.openxmlformats.org/officeDocument/2006/relationships/image" Target="../media/image5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jpg"/><Relationship Id="rId3" Type="http://schemas.openxmlformats.org/officeDocument/2006/relationships/image" Target="../media/image60.jpg"/><Relationship Id="rId4" Type="http://schemas.openxmlformats.org/officeDocument/2006/relationships/image" Target="../media/image61.jpg"/><Relationship Id="rId5" Type="http://schemas.openxmlformats.org/officeDocument/2006/relationships/image" Target="../media/image62.jpg"/><Relationship Id="rId6" Type="http://schemas.openxmlformats.org/officeDocument/2006/relationships/image" Target="../media/image63.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4.jpg"/><Relationship Id="rId3" Type="http://schemas.openxmlformats.org/officeDocument/2006/relationships/image" Target="../media/image65.jpg"/><Relationship Id="rId4" Type="http://schemas.openxmlformats.org/officeDocument/2006/relationships/image" Target="../media/image66.jpg"/><Relationship Id="rId5" Type="http://schemas.openxmlformats.org/officeDocument/2006/relationships/image" Target="../media/image6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8.png"/><Relationship Id="rId3" Type="http://schemas.openxmlformats.org/officeDocument/2006/relationships/image" Target="../media/image69.png"/><Relationship Id="rId4" Type="http://schemas.openxmlformats.org/officeDocument/2006/relationships/image" Target="../media/image70.png"/><Relationship Id="rId5" Type="http://schemas.openxmlformats.org/officeDocument/2006/relationships/image" Target="../media/image71.png"/><Relationship Id="rId6" Type="http://schemas.openxmlformats.org/officeDocument/2006/relationships/image" Target="../media/image72.png"/><Relationship Id="rId7" Type="http://schemas.openxmlformats.org/officeDocument/2006/relationships/image" Target="../media/image73.png"/><Relationship Id="rId8" Type="http://schemas.openxmlformats.org/officeDocument/2006/relationships/image" Target="../media/image74.png"/><Relationship Id="rId9" Type="http://schemas.openxmlformats.org/officeDocument/2006/relationships/image" Target="../media/image75.png"/><Relationship Id="rId10" Type="http://schemas.openxmlformats.org/officeDocument/2006/relationships/image" Target="../media/image76.png"/><Relationship Id="rId11" Type="http://schemas.openxmlformats.org/officeDocument/2006/relationships/image" Target="../media/image77.png"/><Relationship Id="rId12" Type="http://schemas.openxmlformats.org/officeDocument/2006/relationships/image" Target="../media/image78.png"/><Relationship Id="rId13" Type="http://schemas.openxmlformats.org/officeDocument/2006/relationships/image" Target="../media/image79.png"/><Relationship Id="rId14" Type="http://schemas.openxmlformats.org/officeDocument/2006/relationships/image" Target="../media/image80.png"/><Relationship Id="rId15" Type="http://schemas.openxmlformats.org/officeDocument/2006/relationships/image" Target="../media/image81.png"/><Relationship Id="rId16" Type="http://schemas.openxmlformats.org/officeDocument/2006/relationships/image" Target="../media/image82.png"/><Relationship Id="rId17" Type="http://schemas.openxmlformats.org/officeDocument/2006/relationships/image" Target="../media/image83.png"/><Relationship Id="rId18" Type="http://schemas.openxmlformats.org/officeDocument/2006/relationships/image" Target="../media/image84.png"/><Relationship Id="rId19" Type="http://schemas.openxmlformats.org/officeDocument/2006/relationships/image" Target="../media/image85.png"/><Relationship Id="rId20" Type="http://schemas.openxmlformats.org/officeDocument/2006/relationships/image" Target="../media/image86.png"/><Relationship Id="rId21" Type="http://schemas.openxmlformats.org/officeDocument/2006/relationships/image" Target="../media/image87.png"/><Relationship Id="rId22" Type="http://schemas.openxmlformats.org/officeDocument/2006/relationships/image" Target="../media/image88.png"/><Relationship Id="rId23" Type="http://schemas.openxmlformats.org/officeDocument/2006/relationships/image" Target="../media/image89.png"/><Relationship Id="rId24" Type="http://schemas.openxmlformats.org/officeDocument/2006/relationships/image" Target="../media/image90.png"/><Relationship Id="rId25" Type="http://schemas.openxmlformats.org/officeDocument/2006/relationships/image" Target="../media/image9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100.png"/><Relationship Id="rId11" Type="http://schemas.openxmlformats.org/officeDocument/2006/relationships/image" Target="../media/image101.png"/><Relationship Id="rId12" Type="http://schemas.openxmlformats.org/officeDocument/2006/relationships/image" Target="../media/image102.png"/><Relationship Id="rId13" Type="http://schemas.openxmlformats.org/officeDocument/2006/relationships/image" Target="../media/image10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104.png"/><Relationship Id="rId4" Type="http://schemas.openxmlformats.org/officeDocument/2006/relationships/image" Target="../media/image22.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10.png"/><Relationship Id="rId11" Type="http://schemas.openxmlformats.org/officeDocument/2006/relationships/image" Target="../media/image111.png"/><Relationship Id="rId12" Type="http://schemas.openxmlformats.org/officeDocument/2006/relationships/image" Target="../media/image112.png"/><Relationship Id="rId13" Type="http://schemas.openxmlformats.org/officeDocument/2006/relationships/image" Target="../media/image2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3.jpg"/><Relationship Id="rId3" Type="http://schemas.openxmlformats.org/officeDocument/2006/relationships/image" Target="../media/image2.png"/><Relationship Id="rId4" Type="http://schemas.openxmlformats.org/officeDocument/2006/relationships/image" Target="../media/image114.jpg"/><Relationship Id="rId5" Type="http://schemas.openxmlformats.org/officeDocument/2006/relationships/image" Target="../media/image115.png"/><Relationship Id="rId6" Type="http://schemas.openxmlformats.org/officeDocument/2006/relationships/image" Target="../media/image116.jpg"/><Relationship Id="rId7" Type="http://schemas.openxmlformats.org/officeDocument/2006/relationships/image" Target="../media/image1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8.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9.jpg"/><Relationship Id="rId3" Type="http://schemas.openxmlformats.org/officeDocument/2006/relationships/image" Target="../media/image120.jpg"/><Relationship Id="rId4" Type="http://schemas.openxmlformats.org/officeDocument/2006/relationships/image" Target="../media/image121.jpg"/><Relationship Id="rId5" Type="http://schemas.openxmlformats.org/officeDocument/2006/relationships/image" Target="../media/image122.jpg"/><Relationship Id="rId6" Type="http://schemas.openxmlformats.org/officeDocument/2006/relationships/image" Target="../media/image123.jpg"/><Relationship Id="rId7" Type="http://schemas.openxmlformats.org/officeDocument/2006/relationships/image" Target="../media/image124.jpg"/><Relationship Id="rId8" Type="http://schemas.openxmlformats.org/officeDocument/2006/relationships/image" Target="../media/image69.png"/><Relationship Id="rId9" Type="http://schemas.openxmlformats.org/officeDocument/2006/relationships/image" Target="../media/image68.png"/><Relationship Id="rId10" Type="http://schemas.openxmlformats.org/officeDocument/2006/relationships/image" Target="../media/image70.png"/><Relationship Id="rId11" Type="http://schemas.openxmlformats.org/officeDocument/2006/relationships/image" Target="../media/image7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5.jpg"/><Relationship Id="rId3" Type="http://schemas.openxmlformats.org/officeDocument/2006/relationships/image" Target="../media/image126.jpg"/><Relationship Id="rId4" Type="http://schemas.openxmlformats.org/officeDocument/2006/relationships/image" Target="../media/image127.jpg"/><Relationship Id="rId5" Type="http://schemas.openxmlformats.org/officeDocument/2006/relationships/image" Target="../media/image128.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9.jpg"/><Relationship Id="rId3" Type="http://schemas.openxmlformats.org/officeDocument/2006/relationships/image" Target="../media/image130.png"/><Relationship Id="rId4" Type="http://schemas.openxmlformats.org/officeDocument/2006/relationships/image" Target="../media/image131.png"/><Relationship Id="rId5" Type="http://schemas.openxmlformats.org/officeDocument/2006/relationships/image" Target="../media/image13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3.png"/><Relationship Id="rId3" Type="http://schemas.openxmlformats.org/officeDocument/2006/relationships/image" Target="../media/image134.png"/><Relationship Id="rId4" Type="http://schemas.openxmlformats.org/officeDocument/2006/relationships/image" Target="../media/image135.png"/><Relationship Id="rId5" Type="http://schemas.openxmlformats.org/officeDocument/2006/relationships/image" Target="../media/image136.png"/><Relationship Id="rId6" Type="http://schemas.openxmlformats.org/officeDocument/2006/relationships/image" Target="../media/image137.jpg"/><Relationship Id="rId7" Type="http://schemas.openxmlformats.org/officeDocument/2006/relationships/image" Target="../media/image138.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9.png"/><Relationship Id="rId3" Type="http://schemas.openxmlformats.org/officeDocument/2006/relationships/image" Target="../media/image140.png"/><Relationship Id="rId4" Type="http://schemas.openxmlformats.org/officeDocument/2006/relationships/image" Target="../media/image141.png"/><Relationship Id="rId5" Type="http://schemas.openxmlformats.org/officeDocument/2006/relationships/image" Target="../media/image142.png"/><Relationship Id="rId6" Type="http://schemas.openxmlformats.org/officeDocument/2006/relationships/image" Target="../media/image143.png"/><Relationship Id="rId7" Type="http://schemas.openxmlformats.org/officeDocument/2006/relationships/image" Target="../media/image144.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5.png"/><Relationship Id="rId3" Type="http://schemas.openxmlformats.org/officeDocument/2006/relationships/image" Target="../media/image146.png"/><Relationship Id="rId4" Type="http://schemas.openxmlformats.org/officeDocument/2006/relationships/image" Target="../media/image147.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pic>
        <p:nvPicPr>
          <p:cNvPr id="3" name="Picture 2" descr="logo_blue.png"/>
          <p:cNvPicPr>
            <a:picLocks noChangeAspect="1"/>
          </p:cNvPicPr>
          <p:nvPr/>
        </p:nvPicPr>
        <p:blipFill>
          <a:blip r:embed="rId2"/>
          <a:stretch>
            <a:fillRect/>
          </a:stretch>
        </p:blipFill>
        <p:spPr>
          <a:xfrm>
            <a:off x="566928" y="457200"/>
            <a:ext cx="1691640" cy="233757"/>
          </a:xfrm>
          <a:prstGeom prst="rect">
            <a:avLst/>
          </a:prstGeom>
        </p:spPr>
      </p:pic>
      <p:sp>
        <p:nvSpPr>
          <p:cNvPr id="4" name="TextBox 3"/>
          <p:cNvSpPr txBox="1"/>
          <p:nvPr/>
        </p:nvSpPr>
        <p:spPr>
          <a:xfrm>
            <a:off x="8424367" y="502920"/>
            <a:ext cx="3200400" cy="274320"/>
          </a:xfrm>
          <a:prstGeom prst="rect">
            <a:avLst/>
          </a:prstGeom>
          <a:noFill/>
        </p:spPr>
        <p:txBody>
          <a:bodyPr wrap="square" lIns="0" rIns="0" tIns="0" bIns="0" anchor="t">
            <a:spAutoFit/>
          </a:bodyPr>
          <a:lstStyle/>
          <a:p>
            <a:pPr algn="r">
              <a:lnSpc>
                <a:spcPct val="128000"/>
              </a:lnSpc>
            </a:pPr>
            <a:r>
              <a:rPr sz="900" b="1" i="0" spc="180">
                <a:solidFill>
                  <a:srgbClr val="6E7180"/>
                </a:solidFill>
                <a:latin typeface="Montserrat"/>
              </a:rPr>
              <a:t>AUGUST 2026  ·  NEW DELHI</a:t>
            </a:r>
          </a:p>
        </p:txBody>
      </p:sp>
      <p:sp>
        <p:nvSpPr>
          <p:cNvPr id="5" name="TextBox 4"/>
          <p:cNvSpPr txBox="1"/>
          <p:nvPr/>
        </p:nvSpPr>
        <p:spPr>
          <a:xfrm>
            <a:off x="566928" y="1572768"/>
            <a:ext cx="7498079" cy="274320"/>
          </a:xfrm>
          <a:prstGeom prst="rect">
            <a:avLst/>
          </a:prstGeom>
          <a:noFill/>
        </p:spPr>
        <p:txBody>
          <a:bodyPr wrap="square" lIns="0" rIns="0" tIns="0" bIns="0" anchor="t">
            <a:spAutoFit/>
          </a:bodyPr>
          <a:lstStyle/>
          <a:p>
            <a:pPr algn="l">
              <a:lnSpc>
                <a:spcPct val="128000"/>
              </a:lnSpc>
            </a:pPr>
            <a:r>
              <a:rPr sz="1050" b="1" i="0" spc="220">
                <a:solidFill>
                  <a:srgbClr val="4A35FF"/>
                </a:solidFill>
                <a:latin typeface="Montserrat"/>
              </a:rPr>
              <a:t>EXPRESSION OF INTEREST  ·  NATIONAL ROAD SAFETY BOARD</a:t>
            </a:r>
          </a:p>
        </p:txBody>
      </p:sp>
      <p:sp>
        <p:nvSpPr>
          <p:cNvPr id="6" name="TextBox 5"/>
          <p:cNvSpPr txBox="1"/>
          <p:nvPr/>
        </p:nvSpPr>
        <p:spPr>
          <a:xfrm>
            <a:off x="566928" y="1956816"/>
            <a:ext cx="7589520" cy="777240"/>
          </a:xfrm>
          <a:prstGeom prst="rect">
            <a:avLst/>
          </a:prstGeom>
          <a:noFill/>
        </p:spPr>
        <p:txBody>
          <a:bodyPr wrap="square" lIns="0" rIns="0" tIns="0" bIns="0" anchor="t">
            <a:spAutoFit/>
          </a:bodyPr>
          <a:lstStyle/>
          <a:p>
            <a:pPr algn="l">
              <a:lnSpc>
                <a:spcPct val="100000"/>
              </a:lnSpc>
            </a:pPr>
            <a:r>
              <a:rPr sz="4600" b="1" i="0">
                <a:solidFill>
                  <a:srgbClr val="16181D"/>
                </a:solidFill>
                <a:latin typeface="Montserrat"/>
              </a:rPr>
              <a:t>Crashfree India</a:t>
            </a:r>
          </a:p>
        </p:txBody>
      </p:sp>
      <p:sp>
        <p:nvSpPr>
          <p:cNvPr id="7" name="TextBox 6"/>
          <p:cNvSpPr txBox="1"/>
          <p:nvPr/>
        </p:nvSpPr>
        <p:spPr>
          <a:xfrm>
            <a:off x="566928" y="2834640"/>
            <a:ext cx="7589520" cy="777240"/>
          </a:xfrm>
          <a:prstGeom prst="rect">
            <a:avLst/>
          </a:prstGeom>
          <a:noFill/>
        </p:spPr>
        <p:txBody>
          <a:bodyPr wrap="square" lIns="0" rIns="0" tIns="0" bIns="0" anchor="t">
            <a:spAutoFit/>
          </a:bodyPr>
          <a:lstStyle/>
          <a:p>
            <a:pPr algn="l">
              <a:lnSpc>
                <a:spcPct val="125000"/>
              </a:lnSpc>
            </a:pPr>
            <a:r>
              <a:rPr sz="1650" b="1" i="0">
                <a:solidFill>
                  <a:srgbClr val="4A35FF"/>
                </a:solidFill>
                <a:latin typeface="Montserrat"/>
              </a:rPr>
              <a:t>Application to Working Group 2:</a:t>
            </a:r>
          </a:p>
          <a:p>
            <a:pPr algn="l">
              <a:lnSpc>
                <a:spcPct val="125000"/>
              </a:lnSpc>
            </a:pPr>
            <a:r>
              <a:rPr sz="1650" b="1" i="0">
                <a:solidFill>
                  <a:srgbClr val="4A35FF"/>
                </a:solidFill>
                <a:latin typeface="Montserrat"/>
              </a:rPr>
              <a:t>Safe Roads, Speeds &amp; Vulnerable Road Users</a:t>
            </a:r>
          </a:p>
        </p:txBody>
      </p:sp>
      <p:sp>
        <p:nvSpPr>
          <p:cNvPr id="8" name="Oval 7"/>
          <p:cNvSpPr/>
          <p:nvPr/>
        </p:nvSpPr>
        <p:spPr>
          <a:xfrm>
            <a:off x="566928" y="4251960"/>
            <a:ext cx="365760" cy="365760"/>
          </a:xfrm>
          <a:prstGeom prst="ellipse">
            <a:avLst/>
          </a:prstGeom>
          <a:solidFill>
            <a:srgbClr val="EFEDFF"/>
          </a:solidFill>
          <a:ln>
            <a:noFill/>
          </a:ln>
          <a:effectLst/>
        </p:spPr>
        <p:txBody>
          <a:bodyPr rtlCol="0" anchor="ctr"/>
          <a:lstStyle/>
          <a:p>
            <a:pPr algn="ctr"/>
          </a:p>
        </p:txBody>
      </p:sp>
      <p:pic>
        <p:nvPicPr>
          <p:cNvPr id="9" name="Picture 8" descr="clipboard-list_4A35FF_256_2.0.png"/>
          <p:cNvPicPr>
            <a:picLocks noChangeAspect="1"/>
          </p:cNvPicPr>
          <p:nvPr/>
        </p:nvPicPr>
        <p:blipFill>
          <a:blip r:embed="rId3"/>
          <a:stretch>
            <a:fillRect/>
          </a:stretch>
        </p:blipFill>
        <p:spPr>
          <a:xfrm>
            <a:off x="654710" y="4339742"/>
            <a:ext cx="190195" cy="190195"/>
          </a:xfrm>
          <a:prstGeom prst="rect">
            <a:avLst/>
          </a:prstGeom>
        </p:spPr>
      </p:pic>
      <p:sp>
        <p:nvSpPr>
          <p:cNvPr id="10" name="TextBox 9"/>
          <p:cNvSpPr txBox="1"/>
          <p:nvPr/>
        </p:nvSpPr>
        <p:spPr>
          <a:xfrm>
            <a:off x="1078992" y="4297680"/>
            <a:ext cx="7223760" cy="365760"/>
          </a:xfrm>
          <a:prstGeom prst="rect">
            <a:avLst/>
          </a:prstGeom>
          <a:noFill/>
        </p:spPr>
        <p:txBody>
          <a:bodyPr wrap="square" lIns="0" rIns="0" tIns="0" bIns="0" anchor="t">
            <a:spAutoFit/>
          </a:bodyPr>
          <a:lstStyle/>
          <a:p>
            <a:pPr algn="l">
              <a:lnSpc>
                <a:spcPct val="110000"/>
              </a:lnSpc>
            </a:pPr>
            <a:r>
              <a:rPr sz="1150" b="1" i="0">
                <a:solidFill>
                  <a:srgbClr val="16181D"/>
                </a:solidFill>
                <a:latin typeface="Montserrat"/>
              </a:rPr>
              <a:t>Expert-guided student audits that end in built fixes, 31 sites, 7 completed</a:t>
            </a:r>
          </a:p>
        </p:txBody>
      </p:sp>
      <p:sp>
        <p:nvSpPr>
          <p:cNvPr id="11" name="Oval 10"/>
          <p:cNvSpPr/>
          <p:nvPr/>
        </p:nvSpPr>
        <p:spPr>
          <a:xfrm>
            <a:off x="566928" y="4818888"/>
            <a:ext cx="365760" cy="365760"/>
          </a:xfrm>
          <a:prstGeom prst="ellipse">
            <a:avLst/>
          </a:prstGeom>
          <a:solidFill>
            <a:srgbClr val="EFEDFF"/>
          </a:solidFill>
          <a:ln>
            <a:noFill/>
          </a:ln>
          <a:effectLst/>
        </p:spPr>
        <p:txBody>
          <a:bodyPr rtlCol="0" anchor="ctr"/>
          <a:lstStyle/>
          <a:p>
            <a:pPr algn="ctr"/>
          </a:p>
        </p:txBody>
      </p:sp>
      <p:pic>
        <p:nvPicPr>
          <p:cNvPr id="12" name="Picture 11" descr="cpu_4A35FF_256_2.0.png"/>
          <p:cNvPicPr>
            <a:picLocks noChangeAspect="1"/>
          </p:cNvPicPr>
          <p:nvPr/>
        </p:nvPicPr>
        <p:blipFill>
          <a:blip r:embed="rId4"/>
          <a:stretch>
            <a:fillRect/>
          </a:stretch>
        </p:blipFill>
        <p:spPr>
          <a:xfrm>
            <a:off x="654710" y="4906670"/>
            <a:ext cx="190195" cy="190195"/>
          </a:xfrm>
          <a:prstGeom prst="rect">
            <a:avLst/>
          </a:prstGeom>
        </p:spPr>
      </p:pic>
      <p:sp>
        <p:nvSpPr>
          <p:cNvPr id="13" name="TextBox 12"/>
          <p:cNvSpPr txBox="1"/>
          <p:nvPr/>
        </p:nvSpPr>
        <p:spPr>
          <a:xfrm>
            <a:off x="1078992" y="4864608"/>
            <a:ext cx="7223760" cy="365760"/>
          </a:xfrm>
          <a:prstGeom prst="rect">
            <a:avLst/>
          </a:prstGeom>
          <a:noFill/>
        </p:spPr>
        <p:txBody>
          <a:bodyPr wrap="square" lIns="0" rIns="0" tIns="0" bIns="0" anchor="t">
            <a:spAutoFit/>
          </a:bodyPr>
          <a:lstStyle/>
          <a:p>
            <a:pPr algn="l">
              <a:lnSpc>
                <a:spcPct val="110000"/>
              </a:lnSpc>
            </a:pPr>
            <a:r>
              <a:rPr sz="1150" b="1" i="0">
                <a:solidFill>
                  <a:srgbClr val="16181D"/>
                </a:solidFill>
                <a:latin typeface="Montserrat"/>
              </a:rPr>
              <a:t>Technology the system uses: AI enforcement with police, public tracking dashboards</a:t>
            </a:r>
          </a:p>
        </p:txBody>
      </p:sp>
      <p:sp>
        <p:nvSpPr>
          <p:cNvPr id="14" name="Oval 13"/>
          <p:cNvSpPr/>
          <p:nvPr/>
        </p:nvSpPr>
        <p:spPr>
          <a:xfrm>
            <a:off x="566928" y="5385816"/>
            <a:ext cx="365760" cy="365760"/>
          </a:xfrm>
          <a:prstGeom prst="ellipse">
            <a:avLst/>
          </a:prstGeom>
          <a:solidFill>
            <a:srgbClr val="EFEDFF"/>
          </a:solidFill>
          <a:ln>
            <a:noFill/>
          </a:ln>
          <a:effectLst/>
        </p:spPr>
        <p:txBody>
          <a:bodyPr rtlCol="0" anchor="ctr"/>
          <a:lstStyle/>
          <a:p>
            <a:pPr algn="ctr"/>
          </a:p>
        </p:txBody>
      </p:sp>
      <p:pic>
        <p:nvPicPr>
          <p:cNvPr id="15" name="Picture 14" descr="file-search_4A35FF_256_2.0.png"/>
          <p:cNvPicPr>
            <a:picLocks noChangeAspect="1"/>
          </p:cNvPicPr>
          <p:nvPr/>
        </p:nvPicPr>
        <p:blipFill>
          <a:blip r:embed="rId5"/>
          <a:stretch>
            <a:fillRect/>
          </a:stretch>
        </p:blipFill>
        <p:spPr>
          <a:xfrm>
            <a:off x="654710" y="5473598"/>
            <a:ext cx="190195" cy="190195"/>
          </a:xfrm>
          <a:prstGeom prst="rect">
            <a:avLst/>
          </a:prstGeom>
        </p:spPr>
      </p:pic>
      <p:sp>
        <p:nvSpPr>
          <p:cNvPr id="16" name="TextBox 15"/>
          <p:cNvSpPr txBox="1"/>
          <p:nvPr/>
        </p:nvSpPr>
        <p:spPr>
          <a:xfrm>
            <a:off x="1078992" y="5431536"/>
            <a:ext cx="7223760" cy="365760"/>
          </a:xfrm>
          <a:prstGeom prst="rect">
            <a:avLst/>
          </a:prstGeom>
          <a:noFill/>
        </p:spPr>
        <p:txBody>
          <a:bodyPr wrap="square" lIns="0" rIns="0" tIns="0" bIns="0" anchor="t">
            <a:spAutoFit/>
          </a:bodyPr>
          <a:lstStyle/>
          <a:p>
            <a:pPr algn="l">
              <a:lnSpc>
                <a:spcPct val="110000"/>
              </a:lnSpc>
            </a:pPr>
            <a:r>
              <a:rPr sz="1150" b="1" i="0">
                <a:solidFill>
                  <a:srgbClr val="16181D"/>
                </a:solidFill>
                <a:latin typeface="Montserrat"/>
              </a:rPr>
              <a:t>Published audit reports and policy research, anchored to the IRC codes</a:t>
            </a:r>
          </a:p>
        </p:txBody>
      </p:sp>
      <p:sp>
        <p:nvSpPr>
          <p:cNvPr id="17" name="TextBox 16"/>
          <p:cNvSpPr txBox="1"/>
          <p:nvPr/>
        </p:nvSpPr>
        <p:spPr>
          <a:xfrm>
            <a:off x="566928" y="6309360"/>
            <a:ext cx="7863840" cy="274320"/>
          </a:xfrm>
          <a:prstGeom prst="rect">
            <a:avLst/>
          </a:prstGeom>
          <a:noFill/>
        </p:spPr>
        <p:txBody>
          <a:bodyPr wrap="square" lIns="0" rIns="0" tIns="0" bIns="0" anchor="t">
            <a:spAutoFit/>
          </a:bodyPr>
          <a:lstStyle/>
          <a:p>
            <a:pPr algn="l">
              <a:lnSpc>
                <a:spcPct val="128000"/>
              </a:lnSpc>
            </a:pPr>
            <a:r>
              <a:rPr sz="950" b="0" i="0">
                <a:solidFill>
                  <a:srgbClr val="6E7180"/>
                </a:solidFill>
                <a:latin typeface="Geist"/>
              </a:rPr>
              <a:t>Submitted to the Chairperson and Members, Working Group 2, National Road Safety Board</a:t>
            </a:r>
          </a:p>
        </p:txBody>
      </p:sp>
      <p:sp>
        <p:nvSpPr>
          <p:cNvPr id="18" name="TextBox 17"/>
          <p:cNvSpPr txBox="1"/>
          <p:nvPr/>
        </p:nvSpPr>
        <p:spPr>
          <a:xfrm>
            <a:off x="9247327" y="6309360"/>
            <a:ext cx="2377440" cy="274320"/>
          </a:xfrm>
          <a:prstGeom prst="rect">
            <a:avLst/>
          </a:prstGeom>
          <a:noFill/>
        </p:spPr>
        <p:txBody>
          <a:bodyPr wrap="square" lIns="0" rIns="0" tIns="0" bIns="0" anchor="t">
            <a:spAutoFit/>
          </a:bodyPr>
          <a:lstStyle/>
          <a:p>
            <a:pPr algn="r">
              <a:lnSpc>
                <a:spcPct val="128000"/>
              </a:lnSpc>
            </a:pPr>
            <a:r>
              <a:rPr sz="950" b="1" i="0">
                <a:solidFill>
                  <a:srgbClr val="4A35FF"/>
                </a:solidFill>
                <a:latin typeface="Montserrat"/>
              </a:rPr>
              <a:t>crashfreeindia.org</a:t>
            </a:r>
          </a:p>
        </p:txBody>
      </p:sp>
      <p:pic>
        <p:nvPicPr>
          <p:cNvPr id="19" name="Picture 18" descr="ph_dhoni_white.jpg_3.60x4.90_0.12.jpg"/>
          <p:cNvPicPr>
            <a:picLocks noChangeAspect="1"/>
          </p:cNvPicPr>
          <p:nvPr/>
        </p:nvPicPr>
        <p:blipFill>
          <a:blip r:embed="rId6"/>
          <a:stretch>
            <a:fillRect/>
          </a:stretch>
        </p:blipFill>
        <p:spPr>
          <a:xfrm>
            <a:off x="8321040" y="1051560"/>
            <a:ext cx="3291840" cy="4480560"/>
          </a:xfrm>
          <a:prstGeom prst="rect">
            <a:avLst/>
          </a:prstGeom>
        </p:spPr>
      </p:pic>
      <p:sp>
        <p:nvSpPr>
          <p:cNvPr id="20" name="Rectangle 19"/>
          <p:cNvSpPr/>
          <p:nvPr/>
        </p:nvSpPr>
        <p:spPr>
          <a:xfrm>
            <a:off x="8321040" y="1051560"/>
            <a:ext cx="3291840" cy="4480560"/>
          </a:xfrm>
          <a:prstGeom prst="rect">
            <a:avLst/>
          </a:prstGeom>
          <a:noFill/>
          <a:ln w="12700">
            <a:solidFill>
              <a:srgbClr val="E8E9EE"/>
            </a:solidFill>
          </a:ln>
          <a:effectLst/>
        </p:spPr>
        <p:txBody>
          <a:bodyPr rtlCol="0" anchor="ctr"/>
          <a:lstStyle/>
          <a:p>
            <a:pPr algn="ctr"/>
          </a:p>
        </p:txBody>
      </p:sp>
      <p:sp>
        <p:nvSpPr>
          <p:cNvPr id="21" name="Rectangle 20"/>
          <p:cNvSpPr/>
          <p:nvPr/>
        </p:nvSpPr>
        <p:spPr>
          <a:xfrm>
            <a:off x="8321040" y="5020056"/>
            <a:ext cx="3291840" cy="512064"/>
          </a:xfrm>
          <a:prstGeom prst="rect">
            <a:avLst/>
          </a:prstGeom>
          <a:solidFill>
            <a:srgbClr val="4A35FF"/>
          </a:solidFill>
          <a:ln>
            <a:noFill/>
          </a:ln>
          <a:effectLst/>
        </p:spPr>
        <p:txBody>
          <a:bodyPr rtlCol="0" anchor="ctr"/>
          <a:lstStyle/>
          <a:p>
            <a:pPr algn="ctr"/>
          </a:p>
        </p:txBody>
      </p:sp>
      <p:sp>
        <p:nvSpPr>
          <p:cNvPr id="22" name="TextBox 21"/>
          <p:cNvSpPr txBox="1"/>
          <p:nvPr/>
        </p:nvSpPr>
        <p:spPr>
          <a:xfrm>
            <a:off x="8321040" y="5056632"/>
            <a:ext cx="3291840" cy="457200"/>
          </a:xfrm>
          <a:prstGeom prst="rect">
            <a:avLst/>
          </a:prstGeom>
          <a:noFill/>
        </p:spPr>
        <p:txBody>
          <a:bodyPr wrap="square" lIns="0" rIns="0" tIns="0" bIns="0" anchor="t">
            <a:spAutoFit/>
          </a:bodyPr>
          <a:lstStyle/>
          <a:p>
            <a:pPr algn="ctr">
              <a:lnSpc>
                <a:spcPct val="115000"/>
              </a:lnSpc>
            </a:pPr>
            <a:r>
              <a:rPr sz="850" b="1" i="0" spc="100">
                <a:solidFill>
                  <a:srgbClr val="FFFFFF"/>
                </a:solidFill>
                <a:latin typeface="Montserrat"/>
              </a:rPr>
              <a:t>MS DHONI · GOODWILL AMBASSADOR,</a:t>
            </a:r>
          </a:p>
          <a:p>
            <a:pPr algn="ctr">
              <a:lnSpc>
                <a:spcPct val="115000"/>
              </a:lnSpc>
            </a:pPr>
            <a:r>
              <a:rPr sz="850" b="1" i="0" spc="100">
                <a:solidFill>
                  <a:srgbClr val="FFFFFF"/>
                </a:solidFill>
                <a:latin typeface="Montserrat"/>
              </a:rPr>
              <a:t>CRASHFREE INDIA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BEFORE THE SLIDES</a:t>
            </a:r>
          </a:p>
        </p:txBody>
      </p:sp>
      <p:cxnSp>
        <p:nvCxnSpPr>
          <p:cNvPr id="4" name="Connector 3"/>
          <p:cNvCxnSpPr/>
          <p:nvPr/>
        </p:nvCxnSpPr>
        <p:spPr>
          <a:xfrm>
            <a:off x="566928" y="566928"/>
            <a:ext cx="502920" cy="0"/>
          </a:xfrm>
          <a:prstGeom prst="line">
            <a:avLst/>
          </a:prstGeom>
          <a:ln w="25400">
            <a:solidFill>
              <a:srgbClr val="4A35FF"/>
            </a:solidFill>
          </a:ln>
          <a:effectLst/>
        </p:spPr>
      </p:cxnSp>
      <p:sp>
        <p:nvSpPr>
          <p:cNvPr id="5" name="TextBox 4"/>
          <p:cNvSpPr txBox="1"/>
          <p:nvPr/>
        </p:nvSpPr>
        <p:spPr>
          <a:xfrm>
            <a:off x="566928" y="694944"/>
            <a:ext cx="10972800" cy="457200"/>
          </a:xfrm>
          <a:prstGeom prst="rect">
            <a:avLst/>
          </a:prstGeom>
          <a:noFill/>
        </p:spPr>
        <p:txBody>
          <a:bodyPr wrap="square" lIns="0" rIns="0" tIns="0" bIns="0" anchor="t">
            <a:spAutoFit/>
          </a:bodyPr>
          <a:lstStyle/>
          <a:p>
            <a:pPr algn="l">
              <a:lnSpc>
                <a:spcPct val="110000"/>
              </a:lnSpc>
            </a:pPr>
            <a:r>
              <a:rPr sz="2250" b="1" i="0">
                <a:solidFill>
                  <a:srgbClr val="16181D"/>
                </a:solidFill>
                <a:latin typeface="Montserrat"/>
              </a:rPr>
              <a:t>A letter to the </a:t>
            </a:r>
            <a:r>
              <a:rPr sz="2250" b="1" i="0">
                <a:solidFill>
                  <a:srgbClr val="4A35FF"/>
                </a:solidFill>
                <a:latin typeface="Montserrat"/>
              </a:rPr>
              <a:t>Working Group</a:t>
            </a:r>
          </a:p>
        </p:txBody>
      </p:sp>
      <p:sp>
        <p:nvSpPr>
          <p:cNvPr id="6" name="Rectangle 5"/>
          <p:cNvSpPr/>
          <p:nvPr/>
        </p:nvSpPr>
        <p:spPr>
          <a:xfrm>
            <a:off x="1435608" y="1371600"/>
            <a:ext cx="9326880" cy="4956048"/>
          </a:xfrm>
          <a:prstGeom prst="rect">
            <a:avLst/>
          </a:prstGeom>
          <a:solidFill>
            <a:srgbClr val="FFFFFF"/>
          </a:solidFill>
          <a:ln w="15240">
            <a:solidFill>
              <a:srgbClr val="E8E9EE"/>
            </a:solidFill>
          </a:ln>
          <a:effectLst/>
        </p:spPr>
        <p:txBody>
          <a:bodyPr rtlCol="0" anchor="ctr"/>
          <a:lstStyle/>
          <a:p>
            <a:pPr algn="ctr"/>
          </a:p>
        </p:txBody>
      </p:sp>
      <p:sp>
        <p:nvSpPr>
          <p:cNvPr id="7" name="Rectangle 6"/>
          <p:cNvSpPr/>
          <p:nvPr/>
        </p:nvSpPr>
        <p:spPr>
          <a:xfrm>
            <a:off x="1435608" y="1371600"/>
            <a:ext cx="9326880" cy="54864"/>
          </a:xfrm>
          <a:prstGeom prst="rect">
            <a:avLst/>
          </a:prstGeom>
          <a:solidFill>
            <a:srgbClr val="4A35FF"/>
          </a:solidFill>
          <a:ln>
            <a:noFill/>
          </a:ln>
          <a:effectLst/>
        </p:spPr>
        <p:txBody>
          <a:bodyPr rtlCol="0" anchor="ctr"/>
          <a:lstStyle/>
          <a:p>
            <a:pPr algn="ctr"/>
          </a:p>
        </p:txBody>
      </p:sp>
      <p:pic>
        <p:nvPicPr>
          <p:cNvPr id="8" name="Picture 7" descr="logo_blue.png"/>
          <p:cNvPicPr>
            <a:picLocks noChangeAspect="1"/>
          </p:cNvPicPr>
          <p:nvPr/>
        </p:nvPicPr>
        <p:blipFill>
          <a:blip r:embed="rId2"/>
          <a:stretch>
            <a:fillRect/>
          </a:stretch>
        </p:blipFill>
        <p:spPr>
          <a:xfrm>
            <a:off x="1892808" y="1664208"/>
            <a:ext cx="1234440" cy="170579"/>
          </a:xfrm>
          <a:prstGeom prst="rect">
            <a:avLst/>
          </a:prstGeom>
        </p:spPr>
      </p:pic>
      <p:sp>
        <p:nvSpPr>
          <p:cNvPr id="9" name="TextBox 8"/>
          <p:cNvSpPr txBox="1"/>
          <p:nvPr/>
        </p:nvSpPr>
        <p:spPr>
          <a:xfrm>
            <a:off x="7836408" y="1700784"/>
            <a:ext cx="2468880" cy="274320"/>
          </a:xfrm>
          <a:prstGeom prst="rect">
            <a:avLst/>
          </a:prstGeom>
          <a:noFill/>
        </p:spPr>
        <p:txBody>
          <a:bodyPr wrap="square" lIns="0" rIns="0" tIns="0" bIns="0" anchor="t">
            <a:spAutoFit/>
          </a:bodyPr>
          <a:lstStyle/>
          <a:p>
            <a:pPr algn="r">
              <a:lnSpc>
                <a:spcPct val="128000"/>
              </a:lnSpc>
            </a:pPr>
            <a:r>
              <a:rPr sz="950" b="0" i="0">
                <a:solidFill>
                  <a:srgbClr val="6E7180"/>
                </a:solidFill>
                <a:latin typeface="Geist"/>
              </a:rPr>
              <a:t>New Delhi · August 2026</a:t>
            </a:r>
          </a:p>
        </p:txBody>
      </p:sp>
      <p:sp>
        <p:nvSpPr>
          <p:cNvPr id="10" name="TextBox 9"/>
          <p:cNvSpPr txBox="1"/>
          <p:nvPr/>
        </p:nvSpPr>
        <p:spPr>
          <a:xfrm>
            <a:off x="1892808" y="2240280"/>
            <a:ext cx="8412480" cy="3291840"/>
          </a:xfrm>
          <a:prstGeom prst="rect">
            <a:avLst/>
          </a:prstGeom>
          <a:noFill/>
        </p:spPr>
        <p:txBody>
          <a:bodyPr wrap="square" lIns="0" rIns="0" tIns="0" bIns="0" anchor="t">
            <a:spAutoFit/>
          </a:bodyPr>
          <a:lstStyle/>
          <a:p>
            <a:pPr algn="l">
              <a:lnSpc>
                <a:spcPct val="130000"/>
              </a:lnSpc>
              <a:spcAft>
                <a:spcPts val="700"/>
              </a:spcAft>
            </a:pPr>
            <a:r>
              <a:rPr sz="1060" b="0" i="0">
                <a:solidFill>
                  <a:srgbClr val="16181D"/>
                </a:solidFill>
                <a:latin typeface="Geist"/>
              </a:rPr>
              <a:t>Respected Chairperson and Members of Working Group 2,</a:t>
            </a:r>
          </a:p>
          <a:p>
            <a:pPr algn="l">
              <a:lnSpc>
                <a:spcPct val="130000"/>
              </a:lnSpc>
              <a:spcAft>
                <a:spcPts val="700"/>
              </a:spcAft>
            </a:pPr>
            <a:r>
              <a:rPr sz="1060" b="0" i="0">
                <a:solidFill>
                  <a:srgbClr val="16181D"/>
                </a:solidFill>
                <a:latin typeface="Geist"/>
              </a:rPr>
              <a:t>Crashfree India is a young road safety nonprofit, registered as the Vision Zero Trust, co-founded with the Indian Road Safety Council, and backed by a three-year, US$3 million commitment from Cars24. We work alongside public authorities: our student teams audit dangerous locations under senior experts, our technology helps police and administrators see their own pipelines, and our support tools stand with families after a crash. MS Dhoni carries this message to the country as our Goodwill Ambassador.</a:t>
            </a:r>
          </a:p>
          <a:p>
            <a:pPr algn="l">
              <a:lnSpc>
                <a:spcPct val="130000"/>
              </a:lnSpc>
              <a:spcAft>
                <a:spcPts val="700"/>
              </a:spcAft>
            </a:pPr>
            <a:r>
              <a:rPr sz="1060" b="0" i="0">
                <a:solidFill>
                  <a:srgbClr val="16181D"/>
                </a:solidFill>
                <a:latin typeface="Geist"/>
              </a:rPr>
              <a:t>In our first year we audited 31 high-risk locations across 18 cities, secured 25+ written approvals from road-owning authorities, and saw 7 sites fully implemented with 6 more partially built, each tracked on a public dashboard. SATARK, our AI enforcement platform, has screened over 3,00,000 vehicles for police in Jaipur and Bengaluru and has now reached Gurugram. Four open-data platforms, the Aasha victim chatbot and hospital helpdesks complete the picture.</a:t>
            </a:r>
          </a:p>
          <a:p>
            <a:pPr algn="l">
              <a:lnSpc>
                <a:spcPct val="130000"/>
              </a:lnSpc>
              <a:spcAft>
                <a:spcPts val="700"/>
              </a:spcAft>
            </a:pPr>
            <a:r>
              <a:rPr sz="1060" b="0" i="0">
                <a:solidFill>
                  <a:srgbClr val="16181D"/>
                </a:solidFill>
                <a:latin typeface="Geist"/>
              </a:rPr>
              <a:t>The pages that follow introduce the organisation briefly, then set out the work most relevant to this Working Group in the detail its mandate deserves. Everything shown is running today, is public, and is offered to the Board without cost. We would be honoured to contribute.</a:t>
            </a:r>
          </a:p>
        </p:txBody>
      </p:sp>
      <p:sp>
        <p:nvSpPr>
          <p:cNvPr id="11" name="TextBox 10"/>
          <p:cNvSpPr txBox="1"/>
          <p:nvPr/>
        </p:nvSpPr>
        <p:spPr>
          <a:xfrm>
            <a:off x="1892808" y="5596128"/>
            <a:ext cx="8412480" cy="274320"/>
          </a:xfrm>
          <a:prstGeom prst="rect">
            <a:avLst/>
          </a:prstGeom>
          <a:noFill/>
        </p:spPr>
        <p:txBody>
          <a:bodyPr wrap="square" lIns="0" rIns="0" tIns="0" bIns="0" anchor="t">
            <a:spAutoFit/>
          </a:bodyPr>
          <a:lstStyle/>
          <a:p>
            <a:pPr algn="l">
              <a:lnSpc>
                <a:spcPct val="128000"/>
              </a:lnSpc>
            </a:pPr>
            <a:r>
              <a:rPr sz="1060" b="0" i="0">
                <a:solidFill>
                  <a:srgbClr val="16181D"/>
                </a:solidFill>
                <a:latin typeface="Geist"/>
              </a:rPr>
              <a:t>Respectfully,</a:t>
            </a:r>
          </a:p>
        </p:txBody>
      </p:sp>
      <p:sp>
        <p:nvSpPr>
          <p:cNvPr id="12" name="TextBox 11"/>
          <p:cNvSpPr txBox="1"/>
          <p:nvPr/>
        </p:nvSpPr>
        <p:spPr>
          <a:xfrm>
            <a:off x="1892808" y="5870448"/>
            <a:ext cx="8412480" cy="274320"/>
          </a:xfrm>
          <a:prstGeom prst="rect">
            <a:avLst/>
          </a:prstGeom>
          <a:noFill/>
        </p:spPr>
        <p:txBody>
          <a:bodyPr wrap="square" lIns="0" rIns="0" tIns="0" bIns="0" anchor="t">
            <a:spAutoFit/>
          </a:bodyPr>
          <a:lstStyle/>
          <a:p>
            <a:pPr algn="l">
              <a:lnSpc>
                <a:spcPct val="128000"/>
              </a:lnSpc>
            </a:pPr>
            <a:r>
              <a:rPr sz="1150" b="1" i="0">
                <a:solidFill>
                  <a:srgbClr val="16181D"/>
                </a:solidFill>
                <a:latin typeface="Montserrat"/>
              </a:rPr>
              <a:t>Akhtar Hussain</a:t>
            </a:r>
          </a:p>
        </p:txBody>
      </p:sp>
      <p:sp>
        <p:nvSpPr>
          <p:cNvPr id="13" name="TextBox 12"/>
          <p:cNvSpPr txBox="1"/>
          <p:nvPr/>
        </p:nvSpPr>
        <p:spPr>
          <a:xfrm>
            <a:off x="1892808" y="6089904"/>
            <a:ext cx="8412480" cy="237744"/>
          </a:xfrm>
          <a:prstGeom prst="rect">
            <a:avLst/>
          </a:prstGeom>
          <a:noFill/>
        </p:spPr>
        <p:txBody>
          <a:bodyPr wrap="square" lIns="0" rIns="0" tIns="0" bIns="0" anchor="t">
            <a:spAutoFit/>
          </a:bodyPr>
          <a:lstStyle/>
          <a:p>
            <a:pPr algn="l">
              <a:lnSpc>
                <a:spcPct val="128000"/>
              </a:lnSpc>
            </a:pPr>
            <a:r>
              <a:rPr sz="950" b="0" i="0">
                <a:solidFill>
                  <a:srgbClr val="6E7180"/>
                </a:solidFill>
                <a:latin typeface="Geist"/>
              </a:rPr>
              <a:t>Mission Lead, Crashfree India  ·  akhtar@crashfreeindia.org  ·  crashfreeindia.org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HOW THIS DECK IS ORGANISED</a:t>
            </a:r>
          </a:p>
        </p:txBody>
      </p:sp>
      <p:cxnSp>
        <p:nvCxnSpPr>
          <p:cNvPr id="4" name="Connector 3"/>
          <p:cNvCxnSpPr/>
          <p:nvPr/>
        </p:nvCxnSpPr>
        <p:spPr>
          <a:xfrm>
            <a:off x="566928" y="566928"/>
            <a:ext cx="502920" cy="0"/>
          </a:xfrm>
          <a:prstGeom prst="line">
            <a:avLst/>
          </a:prstGeom>
          <a:ln w="25400">
            <a:solidFill>
              <a:srgbClr val="4A35FF"/>
            </a:solidFill>
          </a:ln>
          <a:effectLst/>
        </p:spPr>
      </p:cxnSp>
      <p:sp>
        <p:nvSpPr>
          <p:cNvPr id="5" name="TextBox 4"/>
          <p:cNvSpPr txBox="1"/>
          <p:nvPr/>
        </p:nvSpPr>
        <p:spPr>
          <a:xfrm>
            <a:off x="566928" y="694944"/>
            <a:ext cx="10972800" cy="457200"/>
          </a:xfrm>
          <a:prstGeom prst="rect">
            <a:avLst/>
          </a:prstGeom>
          <a:noFill/>
        </p:spPr>
        <p:txBody>
          <a:bodyPr wrap="square" lIns="0" rIns="0" tIns="0" bIns="0" anchor="t">
            <a:spAutoFit/>
          </a:bodyPr>
          <a:lstStyle/>
          <a:p>
            <a:pPr algn="l">
              <a:lnSpc>
                <a:spcPct val="110000"/>
              </a:lnSpc>
            </a:pPr>
            <a:r>
              <a:rPr sz="2250" b="1" i="0">
                <a:solidFill>
                  <a:srgbClr val="16181D"/>
                </a:solidFill>
                <a:latin typeface="Montserrat"/>
              </a:rPr>
              <a:t>Five sections, </a:t>
            </a:r>
            <a:r>
              <a:rPr sz="2250" b="1" i="0">
                <a:solidFill>
                  <a:srgbClr val="4A35FF"/>
                </a:solidFill>
                <a:latin typeface="Montserrat"/>
              </a:rPr>
              <a:t>three minutes</a:t>
            </a:r>
            <a:r>
              <a:rPr sz="2250" b="1" i="0">
                <a:solidFill>
                  <a:srgbClr val="16181D"/>
                </a:solidFill>
                <a:latin typeface="Montserrat"/>
              </a:rPr>
              <a:t> to skim</a:t>
            </a:r>
          </a:p>
        </p:txBody>
      </p:sp>
      <p:sp>
        <p:nvSpPr>
          <p:cNvPr id="6" name="Rounded Rectangle 5"/>
          <p:cNvSpPr/>
          <p:nvPr/>
        </p:nvSpPr>
        <p:spPr>
          <a:xfrm>
            <a:off x="566928" y="1572768"/>
            <a:ext cx="11057839" cy="804672"/>
          </a:xfrm>
          <a:prstGeom prst="roundRect">
            <a:avLst>
              <a:gd name="adj" fmla="val 10000"/>
            </a:avLst>
          </a:prstGeom>
          <a:solidFill>
            <a:srgbClr val="F7F7FA"/>
          </a:solidFill>
          <a:ln>
            <a:noFill/>
          </a:ln>
          <a:effectLst/>
        </p:spPr>
        <p:txBody>
          <a:bodyPr rtlCol="0" anchor="ctr"/>
          <a:lstStyle/>
          <a:p>
            <a:pPr algn="ctr"/>
          </a:p>
        </p:txBody>
      </p:sp>
      <p:sp>
        <p:nvSpPr>
          <p:cNvPr id="7" name="Oval 6"/>
          <p:cNvSpPr/>
          <p:nvPr/>
        </p:nvSpPr>
        <p:spPr>
          <a:xfrm>
            <a:off x="768096" y="1755648"/>
            <a:ext cx="438912" cy="438912"/>
          </a:xfrm>
          <a:prstGeom prst="ellipse">
            <a:avLst/>
          </a:prstGeom>
          <a:solidFill>
            <a:srgbClr val="EFEDFF"/>
          </a:solidFill>
          <a:ln>
            <a:noFill/>
          </a:ln>
          <a:effectLst/>
        </p:spPr>
        <p:txBody>
          <a:bodyPr rtlCol="0" anchor="ctr"/>
          <a:lstStyle/>
          <a:p>
            <a:pPr algn="ctr"/>
          </a:p>
        </p:txBody>
      </p:sp>
      <p:sp>
        <p:nvSpPr>
          <p:cNvPr id="8" name="TextBox 7"/>
          <p:cNvSpPr txBox="1"/>
          <p:nvPr/>
        </p:nvSpPr>
        <p:spPr>
          <a:xfrm>
            <a:off x="768096" y="1744676"/>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1</a:t>
            </a:r>
          </a:p>
        </p:txBody>
      </p:sp>
      <p:sp>
        <p:nvSpPr>
          <p:cNvPr id="9" name="Oval 8"/>
          <p:cNvSpPr/>
          <p:nvPr/>
        </p:nvSpPr>
        <p:spPr>
          <a:xfrm>
            <a:off x="1435608" y="1755648"/>
            <a:ext cx="438912" cy="438912"/>
          </a:xfrm>
          <a:prstGeom prst="ellipse">
            <a:avLst/>
          </a:prstGeom>
          <a:solidFill>
            <a:srgbClr val="EFEDFF"/>
          </a:solidFill>
          <a:ln>
            <a:noFill/>
          </a:ln>
          <a:effectLst/>
        </p:spPr>
        <p:txBody>
          <a:bodyPr rtlCol="0" anchor="ctr"/>
          <a:lstStyle/>
          <a:p>
            <a:pPr algn="ctr"/>
          </a:p>
        </p:txBody>
      </p:sp>
      <p:pic>
        <p:nvPicPr>
          <p:cNvPr id="10" name="Picture 9" descr="building-2_4A35FF_256_2.0.png"/>
          <p:cNvPicPr>
            <a:picLocks noChangeAspect="1"/>
          </p:cNvPicPr>
          <p:nvPr/>
        </p:nvPicPr>
        <p:blipFill>
          <a:blip r:embed="rId2"/>
          <a:stretch>
            <a:fillRect/>
          </a:stretch>
        </p:blipFill>
        <p:spPr>
          <a:xfrm>
            <a:off x="1540946" y="1860986"/>
            <a:ext cx="228234" cy="228234"/>
          </a:xfrm>
          <a:prstGeom prst="rect">
            <a:avLst/>
          </a:prstGeom>
        </p:spPr>
      </p:pic>
      <p:sp>
        <p:nvSpPr>
          <p:cNvPr id="11" name="TextBox 10"/>
          <p:cNvSpPr txBox="1"/>
          <p:nvPr/>
        </p:nvSpPr>
        <p:spPr>
          <a:xfrm>
            <a:off x="2103120" y="1691640"/>
            <a:ext cx="4023360" cy="365760"/>
          </a:xfrm>
          <a:prstGeom prst="rect">
            <a:avLst/>
          </a:prstGeom>
          <a:noFill/>
        </p:spPr>
        <p:txBody>
          <a:bodyPr wrap="square" lIns="0" rIns="0" tIns="0" bIns="0" anchor="t">
            <a:spAutoFit/>
          </a:bodyPr>
          <a:lstStyle/>
          <a:p>
            <a:pPr algn="l">
              <a:lnSpc>
                <a:spcPct val="100000"/>
              </a:lnSpc>
            </a:pPr>
            <a:r>
              <a:rPr sz="1300" b="1" i="0">
                <a:solidFill>
                  <a:srgbClr val="16181D"/>
                </a:solidFill>
                <a:latin typeface="Montserrat"/>
              </a:rPr>
              <a:t>About us, and how we work</a:t>
            </a:r>
          </a:p>
        </p:txBody>
      </p:sp>
      <p:sp>
        <p:nvSpPr>
          <p:cNvPr id="12" name="TextBox 11"/>
          <p:cNvSpPr txBox="1"/>
          <p:nvPr/>
        </p:nvSpPr>
        <p:spPr>
          <a:xfrm>
            <a:off x="2103120" y="1993392"/>
            <a:ext cx="7498079" cy="320040"/>
          </a:xfrm>
          <a:prstGeom prst="rect">
            <a:avLst/>
          </a:prstGeom>
          <a:noFill/>
        </p:spPr>
        <p:txBody>
          <a:bodyPr wrap="square" lIns="0" rIns="0" tIns="0" bIns="0" anchor="t">
            <a:spAutoFit/>
          </a:bodyPr>
          <a:lstStyle/>
          <a:p>
            <a:pPr algn="l">
              <a:lnSpc>
                <a:spcPct val="115000"/>
              </a:lnSpc>
            </a:pPr>
            <a:r>
              <a:rPr sz="1000" b="0" i="0">
                <a:solidFill>
                  <a:srgbClr val="6E7180"/>
                </a:solidFill>
                <a:latin typeface="Geist"/>
              </a:rPr>
              <a:t>Who we are, our approach to the road crash crisis, and why this Working Group.</a:t>
            </a:r>
          </a:p>
        </p:txBody>
      </p:sp>
      <p:sp>
        <p:nvSpPr>
          <p:cNvPr id="13" name="TextBox 12"/>
          <p:cNvSpPr txBox="1"/>
          <p:nvPr/>
        </p:nvSpPr>
        <p:spPr>
          <a:xfrm>
            <a:off x="10024567" y="1792224"/>
            <a:ext cx="1371600" cy="365760"/>
          </a:xfrm>
          <a:prstGeom prst="rect">
            <a:avLst/>
          </a:prstGeom>
          <a:noFill/>
        </p:spPr>
        <p:txBody>
          <a:bodyPr wrap="square" lIns="0" rIns="0" tIns="0" bIns="0" anchor="t">
            <a:spAutoFit/>
          </a:bodyPr>
          <a:lstStyle/>
          <a:p>
            <a:pPr algn="r">
              <a:lnSpc>
                <a:spcPct val="128000"/>
              </a:lnSpc>
            </a:pPr>
            <a:r>
              <a:rPr sz="1200" b="1" i="0">
                <a:solidFill>
                  <a:srgbClr val="4A35FF"/>
                </a:solidFill>
                <a:latin typeface="Montserrat"/>
              </a:rPr>
              <a:t>04 – 06</a:t>
            </a:r>
          </a:p>
        </p:txBody>
      </p:sp>
      <p:sp>
        <p:nvSpPr>
          <p:cNvPr id="14" name="Rounded Rectangle 13"/>
          <p:cNvSpPr/>
          <p:nvPr/>
        </p:nvSpPr>
        <p:spPr>
          <a:xfrm>
            <a:off x="566928" y="2505456"/>
            <a:ext cx="11057839" cy="804672"/>
          </a:xfrm>
          <a:prstGeom prst="roundRect">
            <a:avLst>
              <a:gd name="adj" fmla="val 10000"/>
            </a:avLst>
          </a:prstGeom>
          <a:solidFill>
            <a:srgbClr val="FFFFFF"/>
          </a:solidFill>
          <a:ln w="9525">
            <a:solidFill>
              <a:srgbClr val="E8E9EE"/>
            </a:solidFill>
          </a:ln>
          <a:effectLst/>
        </p:spPr>
        <p:txBody>
          <a:bodyPr rtlCol="0" anchor="ctr"/>
          <a:lstStyle/>
          <a:p>
            <a:pPr algn="ctr"/>
          </a:p>
        </p:txBody>
      </p:sp>
      <p:sp>
        <p:nvSpPr>
          <p:cNvPr id="15" name="Oval 14"/>
          <p:cNvSpPr/>
          <p:nvPr/>
        </p:nvSpPr>
        <p:spPr>
          <a:xfrm>
            <a:off x="768096" y="2688336"/>
            <a:ext cx="438912" cy="438912"/>
          </a:xfrm>
          <a:prstGeom prst="ellipse">
            <a:avLst/>
          </a:prstGeom>
          <a:solidFill>
            <a:srgbClr val="EFEDFF"/>
          </a:solidFill>
          <a:ln>
            <a:noFill/>
          </a:ln>
          <a:effectLst/>
        </p:spPr>
        <p:txBody>
          <a:bodyPr rtlCol="0" anchor="ctr"/>
          <a:lstStyle/>
          <a:p>
            <a:pPr algn="ctr"/>
          </a:p>
        </p:txBody>
      </p:sp>
      <p:sp>
        <p:nvSpPr>
          <p:cNvPr id="16" name="TextBox 15"/>
          <p:cNvSpPr txBox="1"/>
          <p:nvPr/>
        </p:nvSpPr>
        <p:spPr>
          <a:xfrm>
            <a:off x="768096" y="2677364"/>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2</a:t>
            </a:r>
          </a:p>
        </p:txBody>
      </p:sp>
      <p:sp>
        <p:nvSpPr>
          <p:cNvPr id="17" name="Oval 16"/>
          <p:cNvSpPr/>
          <p:nvPr/>
        </p:nvSpPr>
        <p:spPr>
          <a:xfrm>
            <a:off x="1435608" y="2688336"/>
            <a:ext cx="438912" cy="438912"/>
          </a:xfrm>
          <a:prstGeom prst="ellipse">
            <a:avLst/>
          </a:prstGeom>
          <a:solidFill>
            <a:srgbClr val="EFEDFF"/>
          </a:solidFill>
          <a:ln>
            <a:noFill/>
          </a:ln>
          <a:effectLst/>
        </p:spPr>
        <p:txBody>
          <a:bodyPr rtlCol="0" anchor="ctr"/>
          <a:lstStyle/>
          <a:p>
            <a:pPr algn="ctr"/>
          </a:p>
        </p:txBody>
      </p:sp>
      <p:pic>
        <p:nvPicPr>
          <p:cNvPr id="18" name="Picture 17" descr="layers_4A35FF_256_2.0.png"/>
          <p:cNvPicPr>
            <a:picLocks noChangeAspect="1"/>
          </p:cNvPicPr>
          <p:nvPr/>
        </p:nvPicPr>
        <p:blipFill>
          <a:blip r:embed="rId3"/>
          <a:stretch>
            <a:fillRect/>
          </a:stretch>
        </p:blipFill>
        <p:spPr>
          <a:xfrm>
            <a:off x="1540946" y="2793674"/>
            <a:ext cx="228234" cy="228234"/>
          </a:xfrm>
          <a:prstGeom prst="rect">
            <a:avLst/>
          </a:prstGeom>
        </p:spPr>
      </p:pic>
      <p:sp>
        <p:nvSpPr>
          <p:cNvPr id="19" name="TextBox 18"/>
          <p:cNvSpPr txBox="1"/>
          <p:nvPr/>
        </p:nvSpPr>
        <p:spPr>
          <a:xfrm>
            <a:off x="2103120" y="2624328"/>
            <a:ext cx="4023360" cy="365760"/>
          </a:xfrm>
          <a:prstGeom prst="rect">
            <a:avLst/>
          </a:prstGeom>
          <a:noFill/>
        </p:spPr>
        <p:txBody>
          <a:bodyPr wrap="square" lIns="0" rIns="0" tIns="0" bIns="0" anchor="t">
            <a:spAutoFit/>
          </a:bodyPr>
          <a:lstStyle/>
          <a:p>
            <a:pPr algn="l">
              <a:lnSpc>
                <a:spcPct val="100000"/>
              </a:lnSpc>
            </a:pPr>
            <a:r>
              <a:rPr sz="1300" b="1" i="0">
                <a:solidFill>
                  <a:srgbClr val="16181D"/>
                </a:solidFill>
                <a:latin typeface="Montserrat"/>
              </a:rPr>
              <a:t>What we have built</a:t>
            </a:r>
          </a:p>
        </p:txBody>
      </p:sp>
      <p:sp>
        <p:nvSpPr>
          <p:cNvPr id="20" name="TextBox 19"/>
          <p:cNvSpPr txBox="1"/>
          <p:nvPr/>
        </p:nvSpPr>
        <p:spPr>
          <a:xfrm>
            <a:off x="2103120" y="2926080"/>
            <a:ext cx="7498079" cy="320040"/>
          </a:xfrm>
          <a:prstGeom prst="rect">
            <a:avLst/>
          </a:prstGeom>
          <a:noFill/>
        </p:spPr>
        <p:txBody>
          <a:bodyPr wrap="square" lIns="0" rIns="0" tIns="0" bIns="0" anchor="t">
            <a:spAutoFit/>
          </a:bodyPr>
          <a:lstStyle/>
          <a:p>
            <a:pPr algn="l">
              <a:lnSpc>
                <a:spcPct val="115000"/>
              </a:lnSpc>
            </a:pPr>
            <a:r>
              <a:rPr sz="1000" b="0" i="0">
                <a:solidFill>
                  <a:srgbClr val="6E7180"/>
                </a:solidFill>
                <a:latin typeface="Geist"/>
              </a:rPr>
              <a:t>Every public-facing programme, audits, enforcement tech, victim support, open data, youth, campaigns.</a:t>
            </a:r>
          </a:p>
        </p:txBody>
      </p:sp>
      <p:sp>
        <p:nvSpPr>
          <p:cNvPr id="21" name="TextBox 20"/>
          <p:cNvSpPr txBox="1"/>
          <p:nvPr/>
        </p:nvSpPr>
        <p:spPr>
          <a:xfrm>
            <a:off x="10024567" y="2724912"/>
            <a:ext cx="1371600" cy="365760"/>
          </a:xfrm>
          <a:prstGeom prst="rect">
            <a:avLst/>
          </a:prstGeom>
          <a:noFill/>
        </p:spPr>
        <p:txBody>
          <a:bodyPr wrap="square" lIns="0" rIns="0" tIns="0" bIns="0" anchor="t">
            <a:spAutoFit/>
          </a:bodyPr>
          <a:lstStyle/>
          <a:p>
            <a:pPr algn="r">
              <a:lnSpc>
                <a:spcPct val="128000"/>
              </a:lnSpc>
            </a:pPr>
            <a:r>
              <a:rPr sz="1200" b="1" i="0">
                <a:solidFill>
                  <a:srgbClr val="4A35FF"/>
                </a:solidFill>
                <a:latin typeface="Montserrat"/>
              </a:rPr>
              <a:t>07 – 14</a:t>
            </a:r>
          </a:p>
        </p:txBody>
      </p:sp>
      <p:sp>
        <p:nvSpPr>
          <p:cNvPr id="22" name="Rounded Rectangle 21"/>
          <p:cNvSpPr/>
          <p:nvPr/>
        </p:nvSpPr>
        <p:spPr>
          <a:xfrm>
            <a:off x="566928" y="3438144"/>
            <a:ext cx="11057839" cy="804672"/>
          </a:xfrm>
          <a:prstGeom prst="roundRect">
            <a:avLst>
              <a:gd name="adj" fmla="val 10000"/>
            </a:avLst>
          </a:prstGeom>
          <a:solidFill>
            <a:srgbClr val="F7F7FA"/>
          </a:solidFill>
          <a:ln>
            <a:noFill/>
          </a:ln>
          <a:effectLst/>
        </p:spPr>
        <p:txBody>
          <a:bodyPr rtlCol="0" anchor="ctr"/>
          <a:lstStyle/>
          <a:p>
            <a:pPr algn="ctr"/>
          </a:p>
        </p:txBody>
      </p:sp>
      <p:sp>
        <p:nvSpPr>
          <p:cNvPr id="23" name="Oval 22"/>
          <p:cNvSpPr/>
          <p:nvPr/>
        </p:nvSpPr>
        <p:spPr>
          <a:xfrm>
            <a:off x="768096" y="3621024"/>
            <a:ext cx="438912" cy="438912"/>
          </a:xfrm>
          <a:prstGeom prst="ellipse">
            <a:avLst/>
          </a:prstGeom>
          <a:solidFill>
            <a:srgbClr val="EFEDFF"/>
          </a:solidFill>
          <a:ln>
            <a:noFill/>
          </a:ln>
          <a:effectLst/>
        </p:spPr>
        <p:txBody>
          <a:bodyPr rtlCol="0" anchor="ctr"/>
          <a:lstStyle/>
          <a:p>
            <a:pPr algn="ctr"/>
          </a:p>
        </p:txBody>
      </p:sp>
      <p:sp>
        <p:nvSpPr>
          <p:cNvPr id="24" name="TextBox 23"/>
          <p:cNvSpPr txBox="1"/>
          <p:nvPr/>
        </p:nvSpPr>
        <p:spPr>
          <a:xfrm>
            <a:off x="768096" y="3610052"/>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3</a:t>
            </a:r>
          </a:p>
        </p:txBody>
      </p:sp>
      <p:sp>
        <p:nvSpPr>
          <p:cNvPr id="25" name="Oval 24"/>
          <p:cNvSpPr/>
          <p:nvPr/>
        </p:nvSpPr>
        <p:spPr>
          <a:xfrm>
            <a:off x="1435608" y="3621024"/>
            <a:ext cx="438912" cy="438912"/>
          </a:xfrm>
          <a:prstGeom prst="ellipse">
            <a:avLst/>
          </a:prstGeom>
          <a:solidFill>
            <a:srgbClr val="EFEDFF"/>
          </a:solidFill>
          <a:ln>
            <a:noFill/>
          </a:ln>
          <a:effectLst/>
        </p:spPr>
        <p:txBody>
          <a:bodyPr rtlCol="0" anchor="ctr"/>
          <a:lstStyle/>
          <a:p>
            <a:pPr algn="ctr"/>
          </a:p>
        </p:txBody>
      </p:sp>
      <p:pic>
        <p:nvPicPr>
          <p:cNvPr id="26" name="Picture 25" descr="users_4A35FF_256_2.0.png"/>
          <p:cNvPicPr>
            <a:picLocks noChangeAspect="1"/>
          </p:cNvPicPr>
          <p:nvPr/>
        </p:nvPicPr>
        <p:blipFill>
          <a:blip r:embed="rId4"/>
          <a:stretch>
            <a:fillRect/>
          </a:stretch>
        </p:blipFill>
        <p:spPr>
          <a:xfrm>
            <a:off x="1540946" y="3726362"/>
            <a:ext cx="228234" cy="228234"/>
          </a:xfrm>
          <a:prstGeom prst="rect">
            <a:avLst/>
          </a:prstGeom>
        </p:spPr>
      </p:pic>
      <p:sp>
        <p:nvSpPr>
          <p:cNvPr id="27" name="TextBox 26"/>
          <p:cNvSpPr txBox="1"/>
          <p:nvPr/>
        </p:nvSpPr>
        <p:spPr>
          <a:xfrm>
            <a:off x="2103120" y="3557016"/>
            <a:ext cx="4023360" cy="365760"/>
          </a:xfrm>
          <a:prstGeom prst="rect">
            <a:avLst/>
          </a:prstGeom>
          <a:noFill/>
        </p:spPr>
        <p:txBody>
          <a:bodyPr wrap="square" lIns="0" rIns="0" tIns="0" bIns="0" anchor="t">
            <a:spAutoFit/>
          </a:bodyPr>
          <a:lstStyle/>
          <a:p>
            <a:pPr algn="l">
              <a:lnSpc>
                <a:spcPct val="100000"/>
              </a:lnSpc>
            </a:pPr>
            <a:r>
              <a:rPr sz="1300" b="1" i="0">
                <a:solidFill>
                  <a:srgbClr val="16181D"/>
                </a:solidFill>
                <a:latin typeface="Montserrat"/>
              </a:rPr>
              <a:t>Our people</a:t>
            </a:r>
          </a:p>
        </p:txBody>
      </p:sp>
      <p:sp>
        <p:nvSpPr>
          <p:cNvPr id="28" name="TextBox 27"/>
          <p:cNvSpPr txBox="1"/>
          <p:nvPr/>
        </p:nvSpPr>
        <p:spPr>
          <a:xfrm>
            <a:off x="2103120" y="3858768"/>
            <a:ext cx="7498079" cy="320040"/>
          </a:xfrm>
          <a:prstGeom prst="rect">
            <a:avLst/>
          </a:prstGeom>
          <a:noFill/>
        </p:spPr>
        <p:txBody>
          <a:bodyPr wrap="square" lIns="0" rIns="0" tIns="0" bIns="0" anchor="t">
            <a:spAutoFit/>
          </a:bodyPr>
          <a:lstStyle/>
          <a:p>
            <a:pPr algn="l">
              <a:lnSpc>
                <a:spcPct val="115000"/>
              </a:lnSpc>
            </a:pPr>
            <a:r>
              <a:rPr sz="1000" b="0" i="0">
                <a:solidFill>
                  <a:srgbClr val="6E7180"/>
                </a:solidFill>
                <a:latin typeface="Geist"/>
              </a:rPr>
              <a:t>The team, its capabilities, and the expert bench around the work.</a:t>
            </a:r>
          </a:p>
        </p:txBody>
      </p:sp>
      <p:sp>
        <p:nvSpPr>
          <p:cNvPr id="29" name="TextBox 28"/>
          <p:cNvSpPr txBox="1"/>
          <p:nvPr/>
        </p:nvSpPr>
        <p:spPr>
          <a:xfrm>
            <a:off x="10024567" y="3657600"/>
            <a:ext cx="1371600" cy="365760"/>
          </a:xfrm>
          <a:prstGeom prst="rect">
            <a:avLst/>
          </a:prstGeom>
          <a:noFill/>
        </p:spPr>
        <p:txBody>
          <a:bodyPr wrap="square" lIns="0" rIns="0" tIns="0" bIns="0" anchor="t">
            <a:spAutoFit/>
          </a:bodyPr>
          <a:lstStyle/>
          <a:p>
            <a:pPr algn="r">
              <a:lnSpc>
                <a:spcPct val="128000"/>
              </a:lnSpc>
            </a:pPr>
            <a:r>
              <a:rPr sz="1200" b="1" i="0">
                <a:solidFill>
                  <a:srgbClr val="4A35FF"/>
                </a:solidFill>
                <a:latin typeface="Montserrat"/>
              </a:rPr>
              <a:t>15 – 16</a:t>
            </a:r>
          </a:p>
        </p:txBody>
      </p:sp>
      <p:sp>
        <p:nvSpPr>
          <p:cNvPr id="30" name="Rounded Rectangle 29"/>
          <p:cNvSpPr/>
          <p:nvPr/>
        </p:nvSpPr>
        <p:spPr>
          <a:xfrm>
            <a:off x="566928" y="4370832"/>
            <a:ext cx="11057839" cy="804672"/>
          </a:xfrm>
          <a:prstGeom prst="roundRect">
            <a:avLst>
              <a:gd name="adj" fmla="val 10000"/>
            </a:avLst>
          </a:prstGeom>
          <a:solidFill>
            <a:srgbClr val="FFFFFF"/>
          </a:solidFill>
          <a:ln w="9525">
            <a:solidFill>
              <a:srgbClr val="E8E9EE"/>
            </a:solidFill>
          </a:ln>
          <a:effectLst/>
        </p:spPr>
        <p:txBody>
          <a:bodyPr rtlCol="0" anchor="ctr"/>
          <a:lstStyle/>
          <a:p>
            <a:pPr algn="ctr"/>
          </a:p>
        </p:txBody>
      </p:sp>
      <p:sp>
        <p:nvSpPr>
          <p:cNvPr id="31" name="Oval 30"/>
          <p:cNvSpPr/>
          <p:nvPr/>
        </p:nvSpPr>
        <p:spPr>
          <a:xfrm>
            <a:off x="768096" y="4553712"/>
            <a:ext cx="438912" cy="438912"/>
          </a:xfrm>
          <a:prstGeom prst="ellipse">
            <a:avLst/>
          </a:prstGeom>
          <a:solidFill>
            <a:srgbClr val="EFEDFF"/>
          </a:solidFill>
          <a:ln>
            <a:noFill/>
          </a:ln>
          <a:effectLst/>
        </p:spPr>
        <p:txBody>
          <a:bodyPr rtlCol="0" anchor="ctr"/>
          <a:lstStyle/>
          <a:p>
            <a:pPr algn="ctr"/>
          </a:p>
        </p:txBody>
      </p:sp>
      <p:sp>
        <p:nvSpPr>
          <p:cNvPr id="32" name="TextBox 31"/>
          <p:cNvSpPr txBox="1"/>
          <p:nvPr/>
        </p:nvSpPr>
        <p:spPr>
          <a:xfrm>
            <a:off x="768096" y="4542740"/>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4</a:t>
            </a:r>
          </a:p>
        </p:txBody>
      </p:sp>
      <p:sp>
        <p:nvSpPr>
          <p:cNvPr id="33" name="Oval 32"/>
          <p:cNvSpPr/>
          <p:nvPr/>
        </p:nvSpPr>
        <p:spPr>
          <a:xfrm>
            <a:off x="1435608" y="4553712"/>
            <a:ext cx="438912" cy="438912"/>
          </a:xfrm>
          <a:prstGeom prst="ellipse">
            <a:avLst/>
          </a:prstGeom>
          <a:solidFill>
            <a:srgbClr val="EFEDFF"/>
          </a:solidFill>
          <a:ln>
            <a:noFill/>
          </a:ln>
          <a:effectLst/>
        </p:spPr>
        <p:txBody>
          <a:bodyPr rtlCol="0" anchor="ctr"/>
          <a:lstStyle/>
          <a:p>
            <a:pPr algn="ctr"/>
          </a:p>
        </p:txBody>
      </p:sp>
      <p:pic>
        <p:nvPicPr>
          <p:cNvPr id="34" name="Picture 33" descr="target_4A35FF_256_2.0.png"/>
          <p:cNvPicPr>
            <a:picLocks noChangeAspect="1"/>
          </p:cNvPicPr>
          <p:nvPr/>
        </p:nvPicPr>
        <p:blipFill>
          <a:blip r:embed="rId5"/>
          <a:stretch>
            <a:fillRect/>
          </a:stretch>
        </p:blipFill>
        <p:spPr>
          <a:xfrm>
            <a:off x="1540946" y="4659050"/>
            <a:ext cx="228234" cy="228234"/>
          </a:xfrm>
          <a:prstGeom prst="rect">
            <a:avLst/>
          </a:prstGeom>
        </p:spPr>
      </p:pic>
      <p:sp>
        <p:nvSpPr>
          <p:cNvPr id="35" name="TextBox 34"/>
          <p:cNvSpPr txBox="1"/>
          <p:nvPr/>
        </p:nvSpPr>
        <p:spPr>
          <a:xfrm>
            <a:off x="2103120" y="4489704"/>
            <a:ext cx="4023360" cy="365760"/>
          </a:xfrm>
          <a:prstGeom prst="rect">
            <a:avLst/>
          </a:prstGeom>
          <a:noFill/>
        </p:spPr>
        <p:txBody>
          <a:bodyPr wrap="square" lIns="0" rIns="0" tIns="0" bIns="0" anchor="t">
            <a:spAutoFit/>
          </a:bodyPr>
          <a:lstStyle/>
          <a:p>
            <a:pPr algn="l">
              <a:lnSpc>
                <a:spcPct val="100000"/>
              </a:lnSpc>
            </a:pPr>
            <a:r>
              <a:rPr sz="1300" b="1" i="0">
                <a:solidFill>
                  <a:srgbClr val="16181D"/>
                </a:solidFill>
                <a:latin typeface="Montserrat"/>
              </a:rPr>
              <a:t>Project Rakshak in depth</a:t>
            </a:r>
          </a:p>
        </p:txBody>
      </p:sp>
      <p:sp>
        <p:nvSpPr>
          <p:cNvPr id="36" name="TextBox 35"/>
          <p:cNvSpPr txBox="1"/>
          <p:nvPr/>
        </p:nvSpPr>
        <p:spPr>
          <a:xfrm>
            <a:off x="2103120" y="4791456"/>
            <a:ext cx="7498079" cy="320040"/>
          </a:xfrm>
          <a:prstGeom prst="rect">
            <a:avLst/>
          </a:prstGeom>
          <a:noFill/>
        </p:spPr>
        <p:txBody>
          <a:bodyPr wrap="square" lIns="0" rIns="0" tIns="0" bIns="0" anchor="t">
            <a:spAutoFit/>
          </a:bodyPr>
          <a:lstStyle/>
          <a:p>
            <a:pPr algn="l">
              <a:lnSpc>
                <a:spcPct val="115000"/>
              </a:lnSpc>
            </a:pPr>
            <a:r>
              <a:rPr sz="1000" b="0" i="0">
                <a:solidFill>
                  <a:srgbClr val="6E7180"/>
                </a:solidFill>
                <a:latin typeface="Geist"/>
              </a:rPr>
              <a:t>The deep dive matched to this Working Group's mandate, evidence, method, results.</a:t>
            </a:r>
          </a:p>
        </p:txBody>
      </p:sp>
      <p:sp>
        <p:nvSpPr>
          <p:cNvPr id="37" name="TextBox 36"/>
          <p:cNvSpPr txBox="1"/>
          <p:nvPr/>
        </p:nvSpPr>
        <p:spPr>
          <a:xfrm>
            <a:off x="10024567" y="4590288"/>
            <a:ext cx="1371600" cy="365760"/>
          </a:xfrm>
          <a:prstGeom prst="rect">
            <a:avLst/>
          </a:prstGeom>
          <a:noFill/>
        </p:spPr>
        <p:txBody>
          <a:bodyPr wrap="square" lIns="0" rIns="0" tIns="0" bIns="0" anchor="t">
            <a:spAutoFit/>
          </a:bodyPr>
          <a:lstStyle/>
          <a:p>
            <a:pPr algn="r">
              <a:lnSpc>
                <a:spcPct val="128000"/>
              </a:lnSpc>
            </a:pPr>
            <a:r>
              <a:rPr sz="1200" b="1" i="0">
                <a:solidFill>
                  <a:srgbClr val="4A35FF"/>
                </a:solidFill>
                <a:latin typeface="Montserrat"/>
              </a:rPr>
              <a:t>17 – 26</a:t>
            </a:r>
          </a:p>
        </p:txBody>
      </p:sp>
      <p:sp>
        <p:nvSpPr>
          <p:cNvPr id="38" name="Rounded Rectangle 37"/>
          <p:cNvSpPr/>
          <p:nvPr/>
        </p:nvSpPr>
        <p:spPr>
          <a:xfrm>
            <a:off x="566928" y="5303520"/>
            <a:ext cx="11057839" cy="804672"/>
          </a:xfrm>
          <a:prstGeom prst="roundRect">
            <a:avLst>
              <a:gd name="adj" fmla="val 10000"/>
            </a:avLst>
          </a:prstGeom>
          <a:solidFill>
            <a:srgbClr val="F7F7FA"/>
          </a:solidFill>
          <a:ln>
            <a:noFill/>
          </a:ln>
          <a:effectLst/>
        </p:spPr>
        <p:txBody>
          <a:bodyPr rtlCol="0" anchor="ctr"/>
          <a:lstStyle/>
          <a:p>
            <a:pPr algn="ctr"/>
          </a:p>
        </p:txBody>
      </p:sp>
      <p:sp>
        <p:nvSpPr>
          <p:cNvPr id="39" name="Oval 38"/>
          <p:cNvSpPr/>
          <p:nvPr/>
        </p:nvSpPr>
        <p:spPr>
          <a:xfrm>
            <a:off x="768096" y="5486400"/>
            <a:ext cx="438912" cy="438912"/>
          </a:xfrm>
          <a:prstGeom prst="ellipse">
            <a:avLst/>
          </a:prstGeom>
          <a:solidFill>
            <a:srgbClr val="EFEDFF"/>
          </a:solidFill>
          <a:ln>
            <a:noFill/>
          </a:ln>
          <a:effectLst/>
        </p:spPr>
        <p:txBody>
          <a:bodyPr rtlCol="0" anchor="ctr"/>
          <a:lstStyle/>
          <a:p>
            <a:pPr algn="ctr"/>
          </a:p>
        </p:txBody>
      </p:sp>
      <p:sp>
        <p:nvSpPr>
          <p:cNvPr id="40" name="TextBox 39"/>
          <p:cNvSpPr txBox="1"/>
          <p:nvPr/>
        </p:nvSpPr>
        <p:spPr>
          <a:xfrm>
            <a:off x="768096" y="5475428"/>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5</a:t>
            </a:r>
          </a:p>
        </p:txBody>
      </p:sp>
      <p:sp>
        <p:nvSpPr>
          <p:cNvPr id="41" name="Oval 40"/>
          <p:cNvSpPr/>
          <p:nvPr/>
        </p:nvSpPr>
        <p:spPr>
          <a:xfrm>
            <a:off x="1435608" y="5486400"/>
            <a:ext cx="438912" cy="438912"/>
          </a:xfrm>
          <a:prstGeom prst="ellipse">
            <a:avLst/>
          </a:prstGeom>
          <a:solidFill>
            <a:srgbClr val="EFEDFF"/>
          </a:solidFill>
          <a:ln>
            <a:noFill/>
          </a:ln>
          <a:effectLst/>
        </p:spPr>
        <p:txBody>
          <a:bodyPr rtlCol="0" anchor="ctr"/>
          <a:lstStyle/>
          <a:p>
            <a:pPr algn="ctr"/>
          </a:p>
        </p:txBody>
      </p:sp>
      <p:pic>
        <p:nvPicPr>
          <p:cNvPr id="42" name="Picture 41" descr="handshake_4A35FF_256_2.0.png"/>
          <p:cNvPicPr>
            <a:picLocks noChangeAspect="1"/>
          </p:cNvPicPr>
          <p:nvPr/>
        </p:nvPicPr>
        <p:blipFill>
          <a:blip r:embed="rId6"/>
          <a:stretch>
            <a:fillRect/>
          </a:stretch>
        </p:blipFill>
        <p:spPr>
          <a:xfrm>
            <a:off x="1540946" y="5591738"/>
            <a:ext cx="228234" cy="228234"/>
          </a:xfrm>
          <a:prstGeom prst="rect">
            <a:avLst/>
          </a:prstGeom>
        </p:spPr>
      </p:pic>
      <p:sp>
        <p:nvSpPr>
          <p:cNvPr id="43" name="TextBox 42"/>
          <p:cNvSpPr txBox="1"/>
          <p:nvPr/>
        </p:nvSpPr>
        <p:spPr>
          <a:xfrm>
            <a:off x="2103120" y="5422392"/>
            <a:ext cx="4023360" cy="365760"/>
          </a:xfrm>
          <a:prstGeom prst="rect">
            <a:avLst/>
          </a:prstGeom>
          <a:noFill/>
        </p:spPr>
        <p:txBody>
          <a:bodyPr wrap="square" lIns="0" rIns="0" tIns="0" bIns="0" anchor="t">
            <a:spAutoFit/>
          </a:bodyPr>
          <a:lstStyle/>
          <a:p>
            <a:pPr algn="l">
              <a:lnSpc>
                <a:spcPct val="100000"/>
              </a:lnSpc>
            </a:pPr>
            <a:r>
              <a:rPr sz="1300" b="1" i="0">
                <a:solidFill>
                  <a:srgbClr val="16181D"/>
                </a:solidFill>
                <a:latin typeface="Montserrat"/>
              </a:rPr>
              <a:t>How we can contribute</a:t>
            </a:r>
          </a:p>
        </p:txBody>
      </p:sp>
      <p:sp>
        <p:nvSpPr>
          <p:cNvPr id="44" name="TextBox 43"/>
          <p:cNvSpPr txBox="1"/>
          <p:nvPr/>
        </p:nvSpPr>
        <p:spPr>
          <a:xfrm>
            <a:off x="2103120" y="5724144"/>
            <a:ext cx="7498079" cy="320040"/>
          </a:xfrm>
          <a:prstGeom prst="rect">
            <a:avLst/>
          </a:prstGeom>
          <a:noFill/>
        </p:spPr>
        <p:txBody>
          <a:bodyPr wrap="square" lIns="0" rIns="0" tIns="0" bIns="0" anchor="t">
            <a:spAutoFit/>
          </a:bodyPr>
          <a:lstStyle/>
          <a:p>
            <a:pPr algn="l">
              <a:lnSpc>
                <a:spcPct val="115000"/>
              </a:lnSpc>
            </a:pPr>
            <a:r>
              <a:rPr sz="1000" b="0" i="0">
                <a:solidFill>
                  <a:srgbClr val="6E7180"/>
                </a:solidFill>
                <a:latin typeface="Geist"/>
              </a:rPr>
              <a:t>Four concrete, no-cost offers to the Working Group.</a:t>
            </a:r>
          </a:p>
        </p:txBody>
      </p:sp>
      <p:sp>
        <p:nvSpPr>
          <p:cNvPr id="45" name="TextBox 44"/>
          <p:cNvSpPr txBox="1"/>
          <p:nvPr/>
        </p:nvSpPr>
        <p:spPr>
          <a:xfrm>
            <a:off x="10024567" y="5522976"/>
            <a:ext cx="1371600" cy="365760"/>
          </a:xfrm>
          <a:prstGeom prst="rect">
            <a:avLst/>
          </a:prstGeom>
          <a:noFill/>
        </p:spPr>
        <p:txBody>
          <a:bodyPr wrap="square" lIns="0" rIns="0" tIns="0" bIns="0" anchor="t">
            <a:spAutoFit/>
          </a:bodyPr>
          <a:lstStyle/>
          <a:p>
            <a:pPr algn="r">
              <a:lnSpc>
                <a:spcPct val="128000"/>
              </a:lnSpc>
            </a:pPr>
            <a:r>
              <a:rPr sz="1200" b="1" i="0">
                <a:solidFill>
                  <a:srgbClr val="4A35FF"/>
                </a:solidFill>
                <a:latin typeface="Montserrat"/>
              </a:rPr>
              <a:t>27 – 28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1 OF 5  ·  ABOUT US</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01 · ABOUT US</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Crashfree India: a nonprofit that adds </a:t>
            </a:r>
            <a:r>
              <a:rPr sz="2250" b="1" i="0">
                <a:solidFill>
                  <a:srgbClr val="4A35FF"/>
                </a:solidFill>
                <a:latin typeface="Montserrat"/>
              </a:rPr>
              <a:t>capacity</a:t>
            </a:r>
            <a:r>
              <a:rPr sz="2250" b="1" i="0">
                <a:solidFill>
                  <a:srgbClr val="16181D"/>
                </a:solidFill>
                <a:latin typeface="Montserrat"/>
              </a:rPr>
              <a:t> to road safety work</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Registered as the Vision Zero Trust · Co-founded by Cars24 and the Indian Road Safety Council · Working since June 2025 · New Delhi</a:t>
            </a:r>
          </a:p>
        </p:txBody>
      </p:sp>
      <p:sp>
        <p:nvSpPr>
          <p:cNvPr id="8" name="Oval 7"/>
          <p:cNvSpPr/>
          <p:nvPr/>
        </p:nvSpPr>
        <p:spPr>
          <a:xfrm>
            <a:off x="566928" y="2011680"/>
            <a:ext cx="365760" cy="365760"/>
          </a:xfrm>
          <a:prstGeom prst="ellipse">
            <a:avLst/>
          </a:prstGeom>
          <a:solidFill>
            <a:srgbClr val="E9F7F0"/>
          </a:solidFill>
          <a:ln>
            <a:noFill/>
          </a:ln>
          <a:effectLst/>
        </p:spPr>
        <p:txBody>
          <a:bodyPr rtlCol="0" anchor="ctr"/>
          <a:lstStyle/>
          <a:p>
            <a:pPr algn="ctr"/>
          </a:p>
        </p:txBody>
      </p:sp>
      <p:pic>
        <p:nvPicPr>
          <p:cNvPr id="9" name="Picture 8" descr="search-check_0A9955_256_2.0.png"/>
          <p:cNvPicPr>
            <a:picLocks noChangeAspect="1"/>
          </p:cNvPicPr>
          <p:nvPr/>
        </p:nvPicPr>
        <p:blipFill>
          <a:blip r:embed="rId2"/>
          <a:stretch>
            <a:fillRect/>
          </a:stretch>
        </p:blipFill>
        <p:spPr>
          <a:xfrm>
            <a:off x="654710" y="2099462"/>
            <a:ext cx="190195" cy="190195"/>
          </a:xfrm>
          <a:prstGeom prst="rect">
            <a:avLst/>
          </a:prstGeom>
        </p:spPr>
      </p:pic>
      <p:sp>
        <p:nvSpPr>
          <p:cNvPr id="10" name="TextBox 9"/>
          <p:cNvSpPr txBox="1"/>
          <p:nvPr/>
        </p:nvSpPr>
        <p:spPr>
          <a:xfrm>
            <a:off x="1097280" y="199339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Evidence first</a:t>
            </a:r>
          </a:p>
        </p:txBody>
      </p:sp>
      <p:sp>
        <p:nvSpPr>
          <p:cNvPr id="11" name="TextBox 10"/>
          <p:cNvSpPr txBox="1"/>
          <p:nvPr/>
        </p:nvSpPr>
        <p:spPr>
          <a:xfrm>
            <a:off x="3566160" y="1993392"/>
            <a:ext cx="388620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Structured field audits, file reviews and research to official standards, not opinion.</a:t>
            </a:r>
          </a:p>
        </p:txBody>
      </p:sp>
      <p:sp>
        <p:nvSpPr>
          <p:cNvPr id="12" name="Oval 11"/>
          <p:cNvSpPr/>
          <p:nvPr/>
        </p:nvSpPr>
        <p:spPr>
          <a:xfrm>
            <a:off x="566928" y="2761488"/>
            <a:ext cx="365760" cy="365760"/>
          </a:xfrm>
          <a:prstGeom prst="ellipse">
            <a:avLst/>
          </a:prstGeom>
          <a:solidFill>
            <a:srgbClr val="EFEDFF"/>
          </a:solidFill>
          <a:ln>
            <a:noFill/>
          </a:ln>
          <a:effectLst/>
        </p:spPr>
        <p:txBody>
          <a:bodyPr rtlCol="0" anchor="ctr"/>
          <a:lstStyle/>
          <a:p>
            <a:pPr algn="ctr"/>
          </a:p>
        </p:txBody>
      </p:sp>
      <p:pic>
        <p:nvPicPr>
          <p:cNvPr id="13" name="Picture 12" descr="landmark_4A35FF_256_2.0.png"/>
          <p:cNvPicPr>
            <a:picLocks noChangeAspect="1"/>
          </p:cNvPicPr>
          <p:nvPr/>
        </p:nvPicPr>
        <p:blipFill>
          <a:blip r:embed="rId3"/>
          <a:stretch>
            <a:fillRect/>
          </a:stretch>
        </p:blipFill>
        <p:spPr>
          <a:xfrm>
            <a:off x="654710" y="2849270"/>
            <a:ext cx="190195" cy="190195"/>
          </a:xfrm>
          <a:prstGeom prst="rect">
            <a:avLst/>
          </a:prstGeom>
        </p:spPr>
      </p:pic>
      <p:sp>
        <p:nvSpPr>
          <p:cNvPr id="14" name="TextBox 13"/>
          <p:cNvSpPr txBox="1"/>
          <p:nvPr/>
        </p:nvSpPr>
        <p:spPr>
          <a:xfrm>
            <a:off x="1097280" y="2743200"/>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Institutional collaboration</a:t>
            </a:r>
          </a:p>
        </p:txBody>
      </p:sp>
      <p:sp>
        <p:nvSpPr>
          <p:cNvPr id="15" name="TextBox 14"/>
          <p:cNvSpPr txBox="1"/>
          <p:nvPr/>
        </p:nvSpPr>
        <p:spPr>
          <a:xfrm>
            <a:off x="3566160" y="2743200"/>
            <a:ext cx="388620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We work through PWDs, NHAI, transport departments, police and District Road Safety Committees.</a:t>
            </a:r>
          </a:p>
        </p:txBody>
      </p:sp>
      <p:sp>
        <p:nvSpPr>
          <p:cNvPr id="16" name="Oval 15"/>
          <p:cNvSpPr/>
          <p:nvPr/>
        </p:nvSpPr>
        <p:spPr>
          <a:xfrm>
            <a:off x="566928" y="3511296"/>
            <a:ext cx="365760" cy="365760"/>
          </a:xfrm>
          <a:prstGeom prst="ellipse">
            <a:avLst/>
          </a:prstGeom>
          <a:solidFill>
            <a:srgbClr val="FDF3E3"/>
          </a:solidFill>
          <a:ln>
            <a:noFill/>
          </a:ln>
          <a:effectLst/>
        </p:spPr>
        <p:txBody>
          <a:bodyPr rtlCol="0" anchor="ctr"/>
          <a:lstStyle/>
          <a:p>
            <a:pPr algn="ctr"/>
          </a:p>
        </p:txBody>
      </p:sp>
      <p:pic>
        <p:nvPicPr>
          <p:cNvPr id="17" name="Picture 16" descr="users_E58900_256_2.0.png"/>
          <p:cNvPicPr>
            <a:picLocks noChangeAspect="1"/>
          </p:cNvPicPr>
          <p:nvPr/>
        </p:nvPicPr>
        <p:blipFill>
          <a:blip r:embed="rId4"/>
          <a:stretch>
            <a:fillRect/>
          </a:stretch>
        </p:blipFill>
        <p:spPr>
          <a:xfrm>
            <a:off x="654710" y="3599078"/>
            <a:ext cx="190195" cy="190195"/>
          </a:xfrm>
          <a:prstGeom prst="rect">
            <a:avLst/>
          </a:prstGeom>
        </p:spPr>
      </p:pic>
      <p:sp>
        <p:nvSpPr>
          <p:cNvPr id="18" name="TextBox 17"/>
          <p:cNvSpPr txBox="1"/>
          <p:nvPr/>
        </p:nvSpPr>
        <p:spPr>
          <a:xfrm>
            <a:off x="1097280" y="3493008"/>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Youth-led capacity</a:t>
            </a:r>
          </a:p>
        </p:txBody>
      </p:sp>
      <p:sp>
        <p:nvSpPr>
          <p:cNvPr id="19" name="TextBox 18"/>
          <p:cNvSpPr txBox="1"/>
          <p:nvPr/>
        </p:nvSpPr>
        <p:spPr>
          <a:xfrm>
            <a:off x="3566160" y="3493008"/>
            <a:ext cx="388620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Trained student teams from IITs, NITs and SPAs add the auditing hands the system needs.</a:t>
            </a:r>
          </a:p>
        </p:txBody>
      </p:sp>
      <p:sp>
        <p:nvSpPr>
          <p:cNvPr id="20" name="Oval 19"/>
          <p:cNvSpPr/>
          <p:nvPr/>
        </p:nvSpPr>
        <p:spPr>
          <a:xfrm>
            <a:off x="566928" y="4261104"/>
            <a:ext cx="365760" cy="365760"/>
          </a:xfrm>
          <a:prstGeom prst="ellipse">
            <a:avLst/>
          </a:prstGeom>
          <a:solidFill>
            <a:srgbClr val="E7F4F4"/>
          </a:solidFill>
          <a:ln>
            <a:noFill/>
          </a:ln>
          <a:effectLst/>
        </p:spPr>
        <p:txBody>
          <a:bodyPr rtlCol="0" anchor="ctr"/>
          <a:lstStyle/>
          <a:p>
            <a:pPr algn="ctr"/>
          </a:p>
        </p:txBody>
      </p:sp>
      <p:pic>
        <p:nvPicPr>
          <p:cNvPr id="21" name="Picture 20" descr="monitor-check_0E8A8A_256_2.0.png"/>
          <p:cNvPicPr>
            <a:picLocks noChangeAspect="1"/>
          </p:cNvPicPr>
          <p:nvPr/>
        </p:nvPicPr>
        <p:blipFill>
          <a:blip r:embed="rId5"/>
          <a:stretch>
            <a:fillRect/>
          </a:stretch>
        </p:blipFill>
        <p:spPr>
          <a:xfrm>
            <a:off x="654710" y="4348886"/>
            <a:ext cx="190195" cy="190195"/>
          </a:xfrm>
          <a:prstGeom prst="rect">
            <a:avLst/>
          </a:prstGeom>
        </p:spPr>
      </p:pic>
      <p:sp>
        <p:nvSpPr>
          <p:cNvPr id="22" name="TextBox 21"/>
          <p:cNvSpPr txBox="1"/>
          <p:nvPr/>
        </p:nvSpPr>
        <p:spPr>
          <a:xfrm>
            <a:off x="1097280" y="4242816"/>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Technology for follow-through</a:t>
            </a:r>
          </a:p>
        </p:txBody>
      </p:sp>
      <p:sp>
        <p:nvSpPr>
          <p:cNvPr id="23" name="TextBox 22"/>
          <p:cNvSpPr txBox="1"/>
          <p:nvPr/>
        </p:nvSpPr>
        <p:spPr>
          <a:xfrm>
            <a:off x="3566160" y="4242816"/>
            <a:ext cx="388620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Public dashboards track every recommendation from submission to completion.</a:t>
            </a:r>
          </a:p>
        </p:txBody>
      </p:sp>
      <p:sp>
        <p:nvSpPr>
          <p:cNvPr id="24" name="Rounded Rectangle 23"/>
          <p:cNvSpPr/>
          <p:nvPr/>
        </p:nvSpPr>
        <p:spPr>
          <a:xfrm>
            <a:off x="566928" y="5166360"/>
            <a:ext cx="6903720" cy="841248"/>
          </a:xfrm>
          <a:prstGeom prst="roundRect">
            <a:avLst>
              <a:gd name="adj" fmla="val 16000"/>
            </a:avLst>
          </a:prstGeom>
          <a:solidFill>
            <a:srgbClr val="EFEDFF"/>
          </a:solidFill>
          <a:ln>
            <a:noFill/>
          </a:ln>
          <a:effectLst/>
        </p:spPr>
        <p:txBody>
          <a:bodyPr rtlCol="0" anchor="ctr"/>
          <a:lstStyle/>
          <a:p>
            <a:pPr algn="ctr"/>
          </a:p>
        </p:txBody>
      </p:sp>
      <p:sp>
        <p:nvSpPr>
          <p:cNvPr id="25" name="TextBox 24"/>
          <p:cNvSpPr txBox="1"/>
          <p:nvPr/>
        </p:nvSpPr>
        <p:spPr>
          <a:xfrm>
            <a:off x="795528" y="5230368"/>
            <a:ext cx="6492240" cy="731520"/>
          </a:xfrm>
          <a:prstGeom prst="rect">
            <a:avLst/>
          </a:prstGeom>
          <a:noFill/>
        </p:spPr>
        <p:txBody>
          <a:bodyPr wrap="square" lIns="0" rIns="0" tIns="0" bIns="0" anchor="t">
            <a:spAutoFit/>
          </a:bodyPr>
          <a:lstStyle/>
          <a:p>
            <a:pPr algn="l">
              <a:lnSpc>
                <a:spcPct val="130000"/>
              </a:lnSpc>
            </a:pPr>
            <a:r>
              <a:rPr sz="1150" b="1" i="0">
                <a:solidFill>
                  <a:srgbClr val="4A35FF"/>
                </a:solidFill>
                <a:latin typeface="Geist"/>
              </a:rPr>
              <a:t>Backed by a US$3 million, three-year commitment from Cars24 </a:t>
            </a:r>
            <a:r>
              <a:rPr sz="1150" b="0" i="0">
                <a:solidFill>
                  <a:srgbClr val="4A35FF"/>
                </a:solidFill>
                <a:latin typeface="Geist"/>
              </a:rPr>
              <a:t>. Programmes, not overheads, receive 71% of the budget.</a:t>
            </a:r>
          </a:p>
        </p:txBody>
      </p:sp>
      <p:pic>
        <p:nvPicPr>
          <p:cNvPr id="26" name="Picture 25" descr="cfi_map_dots.png"/>
          <p:cNvPicPr>
            <a:picLocks noChangeAspect="1"/>
          </p:cNvPicPr>
          <p:nvPr/>
        </p:nvPicPr>
        <p:blipFill>
          <a:blip r:embed="rId6"/>
          <a:stretch>
            <a:fillRect/>
          </a:stretch>
        </p:blipFill>
        <p:spPr>
          <a:xfrm>
            <a:off x="8092440" y="1965960"/>
            <a:ext cx="3291840" cy="3911357"/>
          </a:xfrm>
          <a:prstGeom prst="rect">
            <a:avLst/>
          </a:prstGeom>
        </p:spPr>
      </p:pic>
      <p:sp>
        <p:nvSpPr>
          <p:cNvPr id="27" name="Rectangle 26"/>
          <p:cNvSpPr/>
          <p:nvPr/>
        </p:nvSpPr>
        <p:spPr>
          <a:xfrm>
            <a:off x="8092440" y="1965960"/>
            <a:ext cx="3291840" cy="3911357"/>
          </a:xfrm>
          <a:prstGeom prst="rect">
            <a:avLst/>
          </a:prstGeom>
          <a:noFill/>
          <a:ln w="12700">
            <a:solidFill>
              <a:srgbClr val="E8E9EE"/>
            </a:solidFill>
          </a:ln>
          <a:effectLst/>
        </p:spPr>
        <p:txBody>
          <a:bodyPr rtlCol="0" anchor="ctr"/>
          <a:lstStyle/>
          <a:p>
            <a:pPr algn="ctr"/>
          </a:p>
        </p:txBody>
      </p:sp>
      <p:sp>
        <p:nvSpPr>
          <p:cNvPr id="28" name="TextBox 27"/>
          <p:cNvSpPr txBox="1"/>
          <p:nvPr/>
        </p:nvSpPr>
        <p:spPr>
          <a:xfrm>
            <a:off x="8092440" y="5923037"/>
            <a:ext cx="329184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Where we work today, 18 cities, north to south.</a:t>
            </a:r>
          </a:p>
        </p:txBody>
      </p:sp>
      <p:cxnSp>
        <p:nvCxnSpPr>
          <p:cNvPr id="29" name="Connector 28"/>
          <p:cNvCxnSpPr/>
          <p:nvPr/>
        </p:nvCxnSpPr>
        <p:spPr>
          <a:xfrm>
            <a:off x="566928" y="6455664"/>
            <a:ext cx="11057839" cy="0"/>
          </a:xfrm>
          <a:prstGeom prst="line">
            <a:avLst/>
          </a:prstGeom>
          <a:ln w="9525">
            <a:solidFill>
              <a:srgbClr val="E8E9EE"/>
            </a:solidFill>
          </a:ln>
          <a:effectLst/>
        </p:spPr>
      </p:cxnSp>
      <p:sp>
        <p:nvSpPr>
          <p:cNvPr id="30" name="TextBox 29"/>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31" name="TextBox 30"/>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04 / 28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1 OF 5  ·  ABOUT US</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01 · ABOUT US, OUR APPROACH</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Our approach: work </a:t>
            </a:r>
            <a:r>
              <a:rPr sz="2250" b="1" i="0">
                <a:solidFill>
                  <a:srgbClr val="4A35FF"/>
                </a:solidFill>
                <a:latin typeface="Montserrat"/>
              </a:rPr>
              <a:t>with the system</a:t>
            </a:r>
            <a:r>
              <a:rPr sz="2250" b="1" i="0">
                <a:solidFill>
                  <a:srgbClr val="16181D"/>
                </a:solidFill>
                <a:latin typeface="Montserrat"/>
              </a:rPr>
              <a:t>, and prove it with data</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Four steps, applied to every problem we take up, from a dangerous junction to a stalled compensation claim.</a:t>
            </a:r>
          </a:p>
        </p:txBody>
      </p:sp>
      <p:sp>
        <p:nvSpPr>
          <p:cNvPr id="8" name="Rounded Rectangle 7"/>
          <p:cNvSpPr/>
          <p:nvPr/>
        </p:nvSpPr>
        <p:spPr>
          <a:xfrm>
            <a:off x="566928" y="2057400"/>
            <a:ext cx="2670048" cy="2880360"/>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9" name="Oval 8"/>
          <p:cNvSpPr/>
          <p:nvPr/>
        </p:nvSpPr>
        <p:spPr>
          <a:xfrm>
            <a:off x="749808" y="2258568"/>
            <a:ext cx="475488" cy="475488"/>
          </a:xfrm>
          <a:prstGeom prst="ellipse">
            <a:avLst/>
          </a:prstGeom>
          <a:solidFill>
            <a:srgbClr val="E9F7F0"/>
          </a:solidFill>
          <a:ln>
            <a:noFill/>
          </a:ln>
          <a:effectLst/>
        </p:spPr>
        <p:txBody>
          <a:bodyPr rtlCol="0" anchor="ctr"/>
          <a:lstStyle/>
          <a:p>
            <a:pPr algn="ctr"/>
          </a:p>
        </p:txBody>
      </p:sp>
      <p:pic>
        <p:nvPicPr>
          <p:cNvPr id="10" name="Picture 9" descr="search-check_0A9955_256_2.0.png"/>
          <p:cNvPicPr>
            <a:picLocks noChangeAspect="1"/>
          </p:cNvPicPr>
          <p:nvPr/>
        </p:nvPicPr>
        <p:blipFill>
          <a:blip r:embed="rId2"/>
          <a:stretch>
            <a:fillRect/>
          </a:stretch>
        </p:blipFill>
        <p:spPr>
          <a:xfrm>
            <a:off x="863925" y="2372685"/>
            <a:ext cx="247253" cy="247253"/>
          </a:xfrm>
          <a:prstGeom prst="rect">
            <a:avLst/>
          </a:prstGeom>
        </p:spPr>
      </p:pic>
      <p:sp>
        <p:nvSpPr>
          <p:cNvPr id="11" name="TextBox 10"/>
          <p:cNvSpPr txBox="1"/>
          <p:nvPr/>
        </p:nvSpPr>
        <p:spPr>
          <a:xfrm>
            <a:off x="749808" y="2898648"/>
            <a:ext cx="2304288" cy="320040"/>
          </a:xfrm>
          <a:prstGeom prst="rect">
            <a:avLst/>
          </a:prstGeom>
          <a:noFill/>
        </p:spPr>
        <p:txBody>
          <a:bodyPr wrap="square" lIns="0" rIns="0" tIns="0" bIns="0" anchor="t">
            <a:spAutoFit/>
          </a:bodyPr>
          <a:lstStyle/>
          <a:p>
            <a:pPr algn="l">
              <a:lnSpc>
                <a:spcPct val="128000"/>
              </a:lnSpc>
            </a:pPr>
            <a:r>
              <a:rPr sz="1250" b="1" i="0">
                <a:solidFill>
                  <a:srgbClr val="16181D"/>
                </a:solidFill>
                <a:latin typeface="Montserrat"/>
              </a:rPr>
              <a:t>1 · Evidence</a:t>
            </a:r>
          </a:p>
        </p:txBody>
      </p:sp>
      <p:sp>
        <p:nvSpPr>
          <p:cNvPr id="12" name="TextBox 11"/>
          <p:cNvSpPr txBox="1"/>
          <p:nvPr/>
        </p:nvSpPr>
        <p:spPr>
          <a:xfrm>
            <a:off x="749808" y="3264408"/>
            <a:ext cx="2304288" cy="914400"/>
          </a:xfrm>
          <a:prstGeom prst="rect">
            <a:avLst/>
          </a:prstGeom>
          <a:noFill/>
        </p:spPr>
        <p:txBody>
          <a:bodyPr wrap="square" lIns="0" rIns="0" tIns="0" bIns="0" anchor="t">
            <a:spAutoFit/>
          </a:bodyPr>
          <a:lstStyle/>
          <a:p>
            <a:pPr algn="l">
              <a:lnSpc>
                <a:spcPct val="128000"/>
              </a:lnSpc>
            </a:pPr>
            <a:r>
              <a:rPr sz="950" b="0" i="0">
                <a:solidFill>
                  <a:srgbClr val="6E7180"/>
                </a:solidFill>
                <a:latin typeface="Geist"/>
              </a:rPr>
              <a:t>Field audits, file reviews and research to official standards.</a:t>
            </a:r>
          </a:p>
        </p:txBody>
      </p:sp>
      <p:cxnSp>
        <p:nvCxnSpPr>
          <p:cNvPr id="13" name="Connector 12"/>
          <p:cNvCxnSpPr/>
          <p:nvPr/>
        </p:nvCxnSpPr>
        <p:spPr>
          <a:xfrm>
            <a:off x="749808" y="4270248"/>
            <a:ext cx="2304288" cy="0"/>
          </a:xfrm>
          <a:prstGeom prst="line">
            <a:avLst/>
          </a:prstGeom>
          <a:ln w="9525">
            <a:solidFill>
              <a:srgbClr val="E8E9EE"/>
            </a:solidFill>
          </a:ln>
          <a:effectLst/>
        </p:spPr>
      </p:cxnSp>
      <p:sp>
        <p:nvSpPr>
          <p:cNvPr id="14" name="TextBox 13"/>
          <p:cNvSpPr txBox="1"/>
          <p:nvPr/>
        </p:nvSpPr>
        <p:spPr>
          <a:xfrm>
            <a:off x="749808" y="4361688"/>
            <a:ext cx="2304288" cy="502920"/>
          </a:xfrm>
          <a:prstGeom prst="rect">
            <a:avLst/>
          </a:prstGeom>
          <a:noFill/>
        </p:spPr>
        <p:txBody>
          <a:bodyPr wrap="square" lIns="0" rIns="0" tIns="0" bIns="0" anchor="t">
            <a:spAutoFit/>
          </a:bodyPr>
          <a:lstStyle/>
          <a:p>
            <a:pPr algn="l">
              <a:lnSpc>
                <a:spcPct val="125000"/>
              </a:lnSpc>
            </a:pPr>
            <a:r>
              <a:rPr sz="850" b="1" i="0">
                <a:solidFill>
                  <a:srgbClr val="16181D"/>
                </a:solidFill>
                <a:latin typeface="Montserrat"/>
              </a:rPr>
              <a:t>31 sites audited · 50+ stakeholder consultations</a:t>
            </a:r>
          </a:p>
        </p:txBody>
      </p:sp>
      <p:sp>
        <p:nvSpPr>
          <p:cNvPr id="15" name="TextBox 14"/>
          <p:cNvSpPr txBox="1"/>
          <p:nvPr/>
        </p:nvSpPr>
        <p:spPr>
          <a:xfrm>
            <a:off x="749808" y="4361688"/>
            <a:ext cx="2304288" cy="502920"/>
          </a:xfrm>
          <a:prstGeom prst="rect">
            <a:avLst/>
          </a:prstGeom>
          <a:noFill/>
        </p:spPr>
        <p:txBody>
          <a:bodyPr wrap="square" lIns="0" rIns="0" tIns="0" bIns="0" anchor="t">
            <a:spAutoFit/>
          </a:bodyPr>
          <a:lstStyle/>
          <a:p>
            <a:pPr algn="l">
              <a:lnSpc>
                <a:spcPct val="125000"/>
              </a:lnSpc>
            </a:pPr>
            <a:r>
              <a:rPr sz="850" b="1" i="0">
                <a:solidFill>
                  <a:srgbClr val="0A9955"/>
                </a:solidFill>
                <a:latin typeface="Montserrat"/>
              </a:rPr>
              <a:t>31 sites audited · 50+ stakeholder consultations</a:t>
            </a:r>
          </a:p>
        </p:txBody>
      </p:sp>
      <p:sp>
        <p:nvSpPr>
          <p:cNvPr id="16" name="TextBox 15"/>
          <p:cNvSpPr txBox="1"/>
          <p:nvPr/>
        </p:nvSpPr>
        <p:spPr>
          <a:xfrm>
            <a:off x="3209544" y="3291840"/>
            <a:ext cx="201168" cy="365760"/>
          </a:xfrm>
          <a:prstGeom prst="rect">
            <a:avLst/>
          </a:prstGeom>
          <a:noFill/>
        </p:spPr>
        <p:txBody>
          <a:bodyPr wrap="square" lIns="0" rIns="0" tIns="0" bIns="0" anchor="t">
            <a:spAutoFit/>
          </a:bodyPr>
          <a:lstStyle/>
          <a:p>
            <a:pPr algn="l">
              <a:lnSpc>
                <a:spcPct val="128000"/>
              </a:lnSpc>
            </a:pPr>
            <a:r>
              <a:rPr sz="1500" b="0" i="0">
                <a:solidFill>
                  <a:srgbClr val="6E7180"/>
                </a:solidFill>
                <a:latin typeface="Geist"/>
              </a:rPr>
              <a:t>→</a:t>
            </a:r>
          </a:p>
        </p:txBody>
      </p:sp>
      <p:sp>
        <p:nvSpPr>
          <p:cNvPr id="17" name="Rounded Rectangle 16"/>
          <p:cNvSpPr/>
          <p:nvPr/>
        </p:nvSpPr>
        <p:spPr>
          <a:xfrm>
            <a:off x="3355848" y="2057400"/>
            <a:ext cx="2670048" cy="2880360"/>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18" name="Oval 17"/>
          <p:cNvSpPr/>
          <p:nvPr/>
        </p:nvSpPr>
        <p:spPr>
          <a:xfrm>
            <a:off x="3538728" y="2258568"/>
            <a:ext cx="475488" cy="475488"/>
          </a:xfrm>
          <a:prstGeom prst="ellipse">
            <a:avLst/>
          </a:prstGeom>
          <a:solidFill>
            <a:srgbClr val="EFEDFF"/>
          </a:solidFill>
          <a:ln>
            <a:noFill/>
          </a:ln>
          <a:effectLst/>
        </p:spPr>
        <p:txBody>
          <a:bodyPr rtlCol="0" anchor="ctr"/>
          <a:lstStyle/>
          <a:p>
            <a:pPr algn="ctr"/>
          </a:p>
        </p:txBody>
      </p:sp>
      <p:pic>
        <p:nvPicPr>
          <p:cNvPr id="19" name="Picture 18" descr="landmark_4A35FF_256_2.0.png"/>
          <p:cNvPicPr>
            <a:picLocks noChangeAspect="1"/>
          </p:cNvPicPr>
          <p:nvPr/>
        </p:nvPicPr>
        <p:blipFill>
          <a:blip r:embed="rId3"/>
          <a:stretch>
            <a:fillRect/>
          </a:stretch>
        </p:blipFill>
        <p:spPr>
          <a:xfrm>
            <a:off x="3652845" y="2372685"/>
            <a:ext cx="247253" cy="247253"/>
          </a:xfrm>
          <a:prstGeom prst="rect">
            <a:avLst/>
          </a:prstGeom>
        </p:spPr>
      </p:pic>
      <p:sp>
        <p:nvSpPr>
          <p:cNvPr id="20" name="TextBox 19"/>
          <p:cNvSpPr txBox="1"/>
          <p:nvPr/>
        </p:nvSpPr>
        <p:spPr>
          <a:xfrm>
            <a:off x="3538728" y="2898648"/>
            <a:ext cx="2304288" cy="320040"/>
          </a:xfrm>
          <a:prstGeom prst="rect">
            <a:avLst/>
          </a:prstGeom>
          <a:noFill/>
        </p:spPr>
        <p:txBody>
          <a:bodyPr wrap="square" lIns="0" rIns="0" tIns="0" bIns="0" anchor="t">
            <a:spAutoFit/>
          </a:bodyPr>
          <a:lstStyle/>
          <a:p>
            <a:pPr algn="l">
              <a:lnSpc>
                <a:spcPct val="128000"/>
              </a:lnSpc>
            </a:pPr>
            <a:r>
              <a:rPr sz="1250" b="1" i="0">
                <a:solidFill>
                  <a:srgbClr val="16181D"/>
                </a:solidFill>
                <a:latin typeface="Montserrat"/>
              </a:rPr>
              <a:t>2 · Institutional partnership</a:t>
            </a:r>
          </a:p>
        </p:txBody>
      </p:sp>
      <p:sp>
        <p:nvSpPr>
          <p:cNvPr id="21" name="TextBox 20"/>
          <p:cNvSpPr txBox="1"/>
          <p:nvPr/>
        </p:nvSpPr>
        <p:spPr>
          <a:xfrm>
            <a:off x="3538728" y="3264408"/>
            <a:ext cx="2304288" cy="914400"/>
          </a:xfrm>
          <a:prstGeom prst="rect">
            <a:avLst/>
          </a:prstGeom>
          <a:noFill/>
        </p:spPr>
        <p:txBody>
          <a:bodyPr wrap="square" lIns="0" rIns="0" tIns="0" bIns="0" anchor="t">
            <a:spAutoFit/>
          </a:bodyPr>
          <a:lstStyle/>
          <a:p>
            <a:pPr algn="l">
              <a:lnSpc>
                <a:spcPct val="128000"/>
              </a:lnSpc>
            </a:pPr>
            <a:r>
              <a:rPr sz="950" b="0" i="0">
                <a:solidFill>
                  <a:srgbClr val="6E7180"/>
                </a:solidFill>
                <a:latin typeface="Geist"/>
              </a:rPr>
              <a:t>Work through the authority that owns the problem, never around it.</a:t>
            </a:r>
          </a:p>
        </p:txBody>
      </p:sp>
      <p:cxnSp>
        <p:nvCxnSpPr>
          <p:cNvPr id="22" name="Connector 21"/>
          <p:cNvCxnSpPr/>
          <p:nvPr/>
        </p:nvCxnSpPr>
        <p:spPr>
          <a:xfrm>
            <a:off x="3538728" y="4270248"/>
            <a:ext cx="2304288" cy="0"/>
          </a:xfrm>
          <a:prstGeom prst="line">
            <a:avLst/>
          </a:prstGeom>
          <a:ln w="9525">
            <a:solidFill>
              <a:srgbClr val="E8E9EE"/>
            </a:solidFill>
          </a:ln>
          <a:effectLst/>
        </p:spPr>
      </p:cxnSp>
      <p:sp>
        <p:nvSpPr>
          <p:cNvPr id="23" name="TextBox 22"/>
          <p:cNvSpPr txBox="1"/>
          <p:nvPr/>
        </p:nvSpPr>
        <p:spPr>
          <a:xfrm>
            <a:off x="3538728" y="4361688"/>
            <a:ext cx="2304288" cy="502920"/>
          </a:xfrm>
          <a:prstGeom prst="rect">
            <a:avLst/>
          </a:prstGeom>
          <a:noFill/>
        </p:spPr>
        <p:txBody>
          <a:bodyPr wrap="square" lIns="0" rIns="0" tIns="0" bIns="0" anchor="t">
            <a:spAutoFit/>
          </a:bodyPr>
          <a:lstStyle/>
          <a:p>
            <a:pPr algn="l">
              <a:lnSpc>
                <a:spcPct val="125000"/>
              </a:lnSpc>
            </a:pPr>
            <a:r>
              <a:rPr sz="850" b="1" i="0">
                <a:solidFill>
                  <a:srgbClr val="16181D"/>
                </a:solidFill>
                <a:latin typeface="Montserrat"/>
              </a:rPr>
              <a:t>25+ written approvals · 4 DRSCs · MoUs with police</a:t>
            </a:r>
          </a:p>
        </p:txBody>
      </p:sp>
      <p:sp>
        <p:nvSpPr>
          <p:cNvPr id="24" name="TextBox 23"/>
          <p:cNvSpPr txBox="1"/>
          <p:nvPr/>
        </p:nvSpPr>
        <p:spPr>
          <a:xfrm>
            <a:off x="3538728" y="4361688"/>
            <a:ext cx="2304288" cy="502920"/>
          </a:xfrm>
          <a:prstGeom prst="rect">
            <a:avLst/>
          </a:prstGeom>
          <a:noFill/>
        </p:spPr>
        <p:txBody>
          <a:bodyPr wrap="square" lIns="0" rIns="0" tIns="0" bIns="0" anchor="t">
            <a:spAutoFit/>
          </a:bodyPr>
          <a:lstStyle/>
          <a:p>
            <a:pPr algn="l">
              <a:lnSpc>
                <a:spcPct val="125000"/>
              </a:lnSpc>
            </a:pPr>
            <a:r>
              <a:rPr sz="850" b="1" i="0">
                <a:solidFill>
                  <a:srgbClr val="4A35FF"/>
                </a:solidFill>
                <a:latin typeface="Montserrat"/>
              </a:rPr>
              <a:t>25+ written approvals · 4 DRSCs · MoUs with police</a:t>
            </a:r>
          </a:p>
        </p:txBody>
      </p:sp>
      <p:sp>
        <p:nvSpPr>
          <p:cNvPr id="25" name="TextBox 24"/>
          <p:cNvSpPr txBox="1"/>
          <p:nvPr/>
        </p:nvSpPr>
        <p:spPr>
          <a:xfrm>
            <a:off x="5998464" y="3291840"/>
            <a:ext cx="201168" cy="365760"/>
          </a:xfrm>
          <a:prstGeom prst="rect">
            <a:avLst/>
          </a:prstGeom>
          <a:noFill/>
        </p:spPr>
        <p:txBody>
          <a:bodyPr wrap="square" lIns="0" rIns="0" tIns="0" bIns="0" anchor="t">
            <a:spAutoFit/>
          </a:bodyPr>
          <a:lstStyle/>
          <a:p>
            <a:pPr algn="l">
              <a:lnSpc>
                <a:spcPct val="128000"/>
              </a:lnSpc>
            </a:pPr>
            <a:r>
              <a:rPr sz="1500" b="0" i="0">
                <a:solidFill>
                  <a:srgbClr val="6E7180"/>
                </a:solidFill>
                <a:latin typeface="Geist"/>
              </a:rPr>
              <a:t>→</a:t>
            </a:r>
          </a:p>
        </p:txBody>
      </p:sp>
      <p:sp>
        <p:nvSpPr>
          <p:cNvPr id="26" name="Rounded Rectangle 25"/>
          <p:cNvSpPr/>
          <p:nvPr/>
        </p:nvSpPr>
        <p:spPr>
          <a:xfrm>
            <a:off x="6144768" y="2057400"/>
            <a:ext cx="2670048" cy="2880360"/>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27" name="Oval 26"/>
          <p:cNvSpPr/>
          <p:nvPr/>
        </p:nvSpPr>
        <p:spPr>
          <a:xfrm>
            <a:off x="6327648" y="2258568"/>
            <a:ext cx="475488" cy="475488"/>
          </a:xfrm>
          <a:prstGeom prst="ellipse">
            <a:avLst/>
          </a:prstGeom>
          <a:solidFill>
            <a:srgbClr val="E7F4F4"/>
          </a:solidFill>
          <a:ln>
            <a:noFill/>
          </a:ln>
          <a:effectLst/>
        </p:spPr>
        <p:txBody>
          <a:bodyPr rtlCol="0" anchor="ctr"/>
          <a:lstStyle/>
          <a:p>
            <a:pPr algn="ctr"/>
          </a:p>
        </p:txBody>
      </p:sp>
      <p:pic>
        <p:nvPicPr>
          <p:cNvPr id="28" name="Picture 27" descr="cpu_0E8A8A_256_2.0.png"/>
          <p:cNvPicPr>
            <a:picLocks noChangeAspect="1"/>
          </p:cNvPicPr>
          <p:nvPr/>
        </p:nvPicPr>
        <p:blipFill>
          <a:blip r:embed="rId4"/>
          <a:stretch>
            <a:fillRect/>
          </a:stretch>
        </p:blipFill>
        <p:spPr>
          <a:xfrm>
            <a:off x="6441765" y="2372685"/>
            <a:ext cx="247253" cy="247253"/>
          </a:xfrm>
          <a:prstGeom prst="rect">
            <a:avLst/>
          </a:prstGeom>
        </p:spPr>
      </p:pic>
      <p:sp>
        <p:nvSpPr>
          <p:cNvPr id="29" name="TextBox 28"/>
          <p:cNvSpPr txBox="1"/>
          <p:nvPr/>
        </p:nvSpPr>
        <p:spPr>
          <a:xfrm>
            <a:off x="6327648" y="2898648"/>
            <a:ext cx="2304288" cy="320040"/>
          </a:xfrm>
          <a:prstGeom prst="rect">
            <a:avLst/>
          </a:prstGeom>
          <a:noFill/>
        </p:spPr>
        <p:txBody>
          <a:bodyPr wrap="square" lIns="0" rIns="0" tIns="0" bIns="0" anchor="t">
            <a:spAutoFit/>
          </a:bodyPr>
          <a:lstStyle/>
          <a:p>
            <a:pPr algn="l">
              <a:lnSpc>
                <a:spcPct val="128000"/>
              </a:lnSpc>
            </a:pPr>
            <a:r>
              <a:rPr sz="1250" b="1" i="0">
                <a:solidFill>
                  <a:srgbClr val="16181D"/>
                </a:solidFill>
                <a:latin typeface="Montserrat"/>
              </a:rPr>
              <a:t>3 · Technology</a:t>
            </a:r>
          </a:p>
        </p:txBody>
      </p:sp>
      <p:sp>
        <p:nvSpPr>
          <p:cNvPr id="30" name="TextBox 29"/>
          <p:cNvSpPr txBox="1"/>
          <p:nvPr/>
        </p:nvSpPr>
        <p:spPr>
          <a:xfrm>
            <a:off x="6327648" y="3264408"/>
            <a:ext cx="2304288" cy="914400"/>
          </a:xfrm>
          <a:prstGeom prst="rect">
            <a:avLst/>
          </a:prstGeom>
          <a:noFill/>
        </p:spPr>
        <p:txBody>
          <a:bodyPr wrap="square" lIns="0" rIns="0" tIns="0" bIns="0" anchor="t">
            <a:spAutoFit/>
          </a:bodyPr>
          <a:lstStyle/>
          <a:p>
            <a:pPr algn="l">
              <a:lnSpc>
                <a:spcPct val="128000"/>
              </a:lnSpc>
            </a:pPr>
            <a:r>
              <a:rPr sz="950" b="0" i="0">
                <a:solidFill>
                  <a:srgbClr val="6E7180"/>
                </a:solidFill>
                <a:latin typeface="Geist"/>
              </a:rPr>
              <a:t>Dashboards, AI and WhatsApp tools that fit how officials already work.</a:t>
            </a:r>
          </a:p>
        </p:txBody>
      </p:sp>
      <p:cxnSp>
        <p:nvCxnSpPr>
          <p:cNvPr id="31" name="Connector 30"/>
          <p:cNvCxnSpPr/>
          <p:nvPr/>
        </p:nvCxnSpPr>
        <p:spPr>
          <a:xfrm>
            <a:off x="6327648" y="4270248"/>
            <a:ext cx="2304288" cy="0"/>
          </a:xfrm>
          <a:prstGeom prst="line">
            <a:avLst/>
          </a:prstGeom>
          <a:ln w="9525">
            <a:solidFill>
              <a:srgbClr val="E8E9EE"/>
            </a:solidFill>
          </a:ln>
          <a:effectLst/>
        </p:spPr>
      </p:cxnSp>
      <p:sp>
        <p:nvSpPr>
          <p:cNvPr id="32" name="TextBox 31"/>
          <p:cNvSpPr txBox="1"/>
          <p:nvPr/>
        </p:nvSpPr>
        <p:spPr>
          <a:xfrm>
            <a:off x="6327648" y="4361688"/>
            <a:ext cx="2304288" cy="502920"/>
          </a:xfrm>
          <a:prstGeom prst="rect">
            <a:avLst/>
          </a:prstGeom>
          <a:noFill/>
        </p:spPr>
        <p:txBody>
          <a:bodyPr wrap="square" lIns="0" rIns="0" tIns="0" bIns="0" anchor="t">
            <a:spAutoFit/>
          </a:bodyPr>
          <a:lstStyle/>
          <a:p>
            <a:pPr algn="l">
              <a:lnSpc>
                <a:spcPct val="125000"/>
              </a:lnSpc>
            </a:pPr>
            <a:r>
              <a:rPr sz="850" b="1" i="0">
                <a:solidFill>
                  <a:srgbClr val="16181D"/>
                </a:solidFill>
                <a:latin typeface="Montserrat"/>
              </a:rPr>
              <a:t>6 live public products</a:t>
            </a:r>
          </a:p>
        </p:txBody>
      </p:sp>
      <p:sp>
        <p:nvSpPr>
          <p:cNvPr id="33" name="TextBox 32"/>
          <p:cNvSpPr txBox="1"/>
          <p:nvPr/>
        </p:nvSpPr>
        <p:spPr>
          <a:xfrm>
            <a:off x="6327648" y="4361688"/>
            <a:ext cx="2304288" cy="502920"/>
          </a:xfrm>
          <a:prstGeom prst="rect">
            <a:avLst/>
          </a:prstGeom>
          <a:noFill/>
        </p:spPr>
        <p:txBody>
          <a:bodyPr wrap="square" lIns="0" rIns="0" tIns="0" bIns="0" anchor="t">
            <a:spAutoFit/>
          </a:bodyPr>
          <a:lstStyle/>
          <a:p>
            <a:pPr algn="l">
              <a:lnSpc>
                <a:spcPct val="125000"/>
              </a:lnSpc>
            </a:pPr>
            <a:r>
              <a:rPr sz="850" b="1" i="0">
                <a:solidFill>
                  <a:srgbClr val="0E8A8A"/>
                </a:solidFill>
                <a:latin typeface="Montserrat"/>
              </a:rPr>
              <a:t>6 live public products</a:t>
            </a:r>
          </a:p>
        </p:txBody>
      </p:sp>
      <p:sp>
        <p:nvSpPr>
          <p:cNvPr id="34" name="TextBox 33"/>
          <p:cNvSpPr txBox="1"/>
          <p:nvPr/>
        </p:nvSpPr>
        <p:spPr>
          <a:xfrm>
            <a:off x="8787384" y="3291840"/>
            <a:ext cx="201168" cy="365760"/>
          </a:xfrm>
          <a:prstGeom prst="rect">
            <a:avLst/>
          </a:prstGeom>
          <a:noFill/>
        </p:spPr>
        <p:txBody>
          <a:bodyPr wrap="square" lIns="0" rIns="0" tIns="0" bIns="0" anchor="t">
            <a:spAutoFit/>
          </a:bodyPr>
          <a:lstStyle/>
          <a:p>
            <a:pPr algn="l">
              <a:lnSpc>
                <a:spcPct val="128000"/>
              </a:lnSpc>
            </a:pPr>
            <a:r>
              <a:rPr sz="1500" b="0" i="0">
                <a:solidFill>
                  <a:srgbClr val="6E7180"/>
                </a:solidFill>
                <a:latin typeface="Geist"/>
              </a:rPr>
              <a:t>→</a:t>
            </a:r>
          </a:p>
        </p:txBody>
      </p:sp>
      <p:sp>
        <p:nvSpPr>
          <p:cNvPr id="35" name="Rounded Rectangle 34"/>
          <p:cNvSpPr/>
          <p:nvPr/>
        </p:nvSpPr>
        <p:spPr>
          <a:xfrm>
            <a:off x="8933688" y="2057400"/>
            <a:ext cx="2670048" cy="2880360"/>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36" name="Oval 35"/>
          <p:cNvSpPr/>
          <p:nvPr/>
        </p:nvSpPr>
        <p:spPr>
          <a:xfrm>
            <a:off x="9116568" y="2258568"/>
            <a:ext cx="475488" cy="475488"/>
          </a:xfrm>
          <a:prstGeom prst="ellipse">
            <a:avLst/>
          </a:prstGeom>
          <a:solidFill>
            <a:srgbClr val="FDF3E3"/>
          </a:solidFill>
          <a:ln>
            <a:noFill/>
          </a:ln>
          <a:effectLst/>
        </p:spPr>
        <p:txBody>
          <a:bodyPr rtlCol="0" anchor="ctr"/>
          <a:lstStyle/>
          <a:p>
            <a:pPr algn="ctr"/>
          </a:p>
        </p:txBody>
      </p:sp>
      <p:pic>
        <p:nvPicPr>
          <p:cNvPr id="37" name="Picture 36" descr="route_E58900_256_2.0.png"/>
          <p:cNvPicPr>
            <a:picLocks noChangeAspect="1"/>
          </p:cNvPicPr>
          <p:nvPr/>
        </p:nvPicPr>
        <p:blipFill>
          <a:blip r:embed="rId5"/>
          <a:stretch>
            <a:fillRect/>
          </a:stretch>
        </p:blipFill>
        <p:spPr>
          <a:xfrm>
            <a:off x="9230685" y="2372685"/>
            <a:ext cx="247253" cy="247253"/>
          </a:xfrm>
          <a:prstGeom prst="rect">
            <a:avLst/>
          </a:prstGeom>
        </p:spPr>
      </p:pic>
      <p:sp>
        <p:nvSpPr>
          <p:cNvPr id="38" name="TextBox 37"/>
          <p:cNvSpPr txBox="1"/>
          <p:nvPr/>
        </p:nvSpPr>
        <p:spPr>
          <a:xfrm>
            <a:off x="9116568" y="2898648"/>
            <a:ext cx="2304288" cy="320040"/>
          </a:xfrm>
          <a:prstGeom prst="rect">
            <a:avLst/>
          </a:prstGeom>
          <a:noFill/>
        </p:spPr>
        <p:txBody>
          <a:bodyPr wrap="square" lIns="0" rIns="0" tIns="0" bIns="0" anchor="t">
            <a:spAutoFit/>
          </a:bodyPr>
          <a:lstStyle/>
          <a:p>
            <a:pPr algn="l">
              <a:lnSpc>
                <a:spcPct val="128000"/>
              </a:lnSpc>
            </a:pPr>
            <a:r>
              <a:rPr sz="1250" b="1" i="0">
                <a:solidFill>
                  <a:srgbClr val="16181D"/>
                </a:solidFill>
                <a:latin typeface="Montserrat"/>
              </a:rPr>
              <a:t>4 · Follow-through</a:t>
            </a:r>
          </a:p>
        </p:txBody>
      </p:sp>
      <p:sp>
        <p:nvSpPr>
          <p:cNvPr id="39" name="TextBox 38"/>
          <p:cNvSpPr txBox="1"/>
          <p:nvPr/>
        </p:nvSpPr>
        <p:spPr>
          <a:xfrm>
            <a:off x="9116568" y="3264408"/>
            <a:ext cx="2304288" cy="914400"/>
          </a:xfrm>
          <a:prstGeom prst="rect">
            <a:avLst/>
          </a:prstGeom>
          <a:noFill/>
        </p:spPr>
        <p:txBody>
          <a:bodyPr wrap="square" lIns="0" rIns="0" tIns="0" bIns="0" anchor="t">
            <a:spAutoFit/>
          </a:bodyPr>
          <a:lstStyle/>
          <a:p>
            <a:pPr algn="l">
              <a:lnSpc>
                <a:spcPct val="128000"/>
              </a:lnSpc>
            </a:pPr>
            <a:r>
              <a:rPr sz="950" b="0" i="0">
                <a:solidFill>
                  <a:srgbClr val="6E7180"/>
                </a:solidFill>
                <a:latin typeface="Geist"/>
              </a:rPr>
              <a:t>Every recommendation tracked publicly to completion.</a:t>
            </a:r>
          </a:p>
        </p:txBody>
      </p:sp>
      <p:cxnSp>
        <p:nvCxnSpPr>
          <p:cNvPr id="40" name="Connector 39"/>
          <p:cNvCxnSpPr/>
          <p:nvPr/>
        </p:nvCxnSpPr>
        <p:spPr>
          <a:xfrm>
            <a:off x="9116568" y="4270248"/>
            <a:ext cx="2304288" cy="0"/>
          </a:xfrm>
          <a:prstGeom prst="line">
            <a:avLst/>
          </a:prstGeom>
          <a:ln w="9525">
            <a:solidFill>
              <a:srgbClr val="E8E9EE"/>
            </a:solidFill>
          </a:ln>
          <a:effectLst/>
        </p:spPr>
      </p:cxnSp>
      <p:sp>
        <p:nvSpPr>
          <p:cNvPr id="41" name="TextBox 40"/>
          <p:cNvSpPr txBox="1"/>
          <p:nvPr/>
        </p:nvSpPr>
        <p:spPr>
          <a:xfrm>
            <a:off x="9116568" y="4361688"/>
            <a:ext cx="2304288" cy="502920"/>
          </a:xfrm>
          <a:prstGeom prst="rect">
            <a:avLst/>
          </a:prstGeom>
          <a:noFill/>
        </p:spPr>
        <p:txBody>
          <a:bodyPr wrap="square" lIns="0" rIns="0" tIns="0" bIns="0" anchor="t">
            <a:spAutoFit/>
          </a:bodyPr>
          <a:lstStyle/>
          <a:p>
            <a:pPr algn="l">
              <a:lnSpc>
                <a:spcPct val="125000"/>
              </a:lnSpc>
            </a:pPr>
            <a:r>
              <a:rPr sz="850" b="1" i="0">
                <a:solidFill>
                  <a:srgbClr val="16181D"/>
                </a:solidFill>
                <a:latin typeface="Montserrat"/>
              </a:rPr>
              <a:t>7 sites fully implemented · 6 more partially</a:t>
            </a:r>
          </a:p>
        </p:txBody>
      </p:sp>
      <p:sp>
        <p:nvSpPr>
          <p:cNvPr id="42" name="TextBox 41"/>
          <p:cNvSpPr txBox="1"/>
          <p:nvPr/>
        </p:nvSpPr>
        <p:spPr>
          <a:xfrm>
            <a:off x="9116568" y="4361688"/>
            <a:ext cx="2304288" cy="502920"/>
          </a:xfrm>
          <a:prstGeom prst="rect">
            <a:avLst/>
          </a:prstGeom>
          <a:noFill/>
        </p:spPr>
        <p:txBody>
          <a:bodyPr wrap="square" lIns="0" rIns="0" tIns="0" bIns="0" anchor="t">
            <a:spAutoFit/>
          </a:bodyPr>
          <a:lstStyle/>
          <a:p>
            <a:pPr algn="l">
              <a:lnSpc>
                <a:spcPct val="125000"/>
              </a:lnSpc>
            </a:pPr>
            <a:r>
              <a:rPr sz="850" b="1" i="0">
                <a:solidFill>
                  <a:srgbClr val="E58900"/>
                </a:solidFill>
                <a:latin typeface="Montserrat"/>
              </a:rPr>
              <a:t>7 sites fully implemented · 6 more partially</a:t>
            </a:r>
          </a:p>
        </p:txBody>
      </p:sp>
      <p:sp>
        <p:nvSpPr>
          <p:cNvPr id="43" name="Rounded Rectangle 42"/>
          <p:cNvSpPr/>
          <p:nvPr/>
        </p:nvSpPr>
        <p:spPr>
          <a:xfrm>
            <a:off x="566928" y="5257800"/>
            <a:ext cx="11057839" cy="640080"/>
          </a:xfrm>
          <a:prstGeom prst="roundRect">
            <a:avLst>
              <a:gd name="adj" fmla="val 14000"/>
            </a:avLst>
          </a:prstGeom>
          <a:solidFill>
            <a:srgbClr val="F7F7FA"/>
          </a:solidFill>
          <a:ln>
            <a:noFill/>
          </a:ln>
          <a:effectLst/>
        </p:spPr>
        <p:txBody>
          <a:bodyPr rtlCol="0" anchor="ctr"/>
          <a:lstStyle/>
          <a:p>
            <a:pPr algn="ctr"/>
          </a:p>
        </p:txBody>
      </p:sp>
      <p:sp>
        <p:nvSpPr>
          <p:cNvPr id="44" name="TextBox 43"/>
          <p:cNvSpPr txBox="1"/>
          <p:nvPr/>
        </p:nvSpPr>
        <p:spPr>
          <a:xfrm>
            <a:off x="795528" y="5358384"/>
            <a:ext cx="10600639" cy="457200"/>
          </a:xfrm>
          <a:prstGeom prst="rect">
            <a:avLst/>
          </a:prstGeom>
          <a:noFill/>
        </p:spPr>
        <p:txBody>
          <a:bodyPr wrap="square" lIns="0" rIns="0" tIns="0" bIns="0" anchor="t">
            <a:spAutoFit/>
          </a:bodyPr>
          <a:lstStyle/>
          <a:p>
            <a:pPr algn="l">
              <a:lnSpc>
                <a:spcPct val="130000"/>
              </a:lnSpc>
            </a:pPr>
            <a:r>
              <a:rPr sz="1100" b="1" i="0">
                <a:solidFill>
                  <a:srgbClr val="16181D"/>
                </a:solidFill>
                <a:latin typeface="Geist"/>
              </a:rPr>
              <a:t>We do not replace the system and we do not campaign against it. </a:t>
            </a:r>
            <a:r>
              <a:rPr sz="1100" b="0" i="0">
                <a:solidFill>
                  <a:srgbClr val="6E7180"/>
                </a:solidFill>
                <a:latin typeface="Geist"/>
              </a:rPr>
              <a:t>We add hands, evidence and tools to work the system has already committed to.</a:t>
            </a:r>
          </a:p>
        </p:txBody>
      </p:sp>
      <p:cxnSp>
        <p:nvCxnSpPr>
          <p:cNvPr id="45" name="Connector 44"/>
          <p:cNvCxnSpPr/>
          <p:nvPr/>
        </p:nvCxnSpPr>
        <p:spPr>
          <a:xfrm>
            <a:off x="566928" y="6455664"/>
            <a:ext cx="11057839" cy="0"/>
          </a:xfrm>
          <a:prstGeom prst="line">
            <a:avLst/>
          </a:prstGeom>
          <a:ln w="9525">
            <a:solidFill>
              <a:srgbClr val="E8E9EE"/>
            </a:solidFill>
          </a:ln>
          <a:effectLst/>
        </p:spPr>
      </p:cxnSp>
      <p:sp>
        <p:nvSpPr>
          <p:cNvPr id="46" name="TextBox 45"/>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47" name="TextBox 46"/>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05 / 28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1 OF 5  ·  ABOUT US</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01 · WHY WORKING GROUP 2</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Why Working Group 2, </a:t>
            </a:r>
            <a:r>
              <a:rPr sz="2250" b="1" i="0">
                <a:solidFill>
                  <a:srgbClr val="4A35FF"/>
                </a:solidFill>
                <a:latin typeface="Montserrat"/>
              </a:rPr>
              <a:t>and what we bring to it</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The Group's mandate matches the deepest part of our portfolio. Three focus areas where we are ready on day one.</a:t>
            </a:r>
          </a:p>
        </p:txBody>
      </p:sp>
      <p:sp>
        <p:nvSpPr>
          <p:cNvPr id="8" name="Oval 7"/>
          <p:cNvSpPr/>
          <p:nvPr/>
        </p:nvSpPr>
        <p:spPr>
          <a:xfrm>
            <a:off x="566928" y="2011680"/>
            <a:ext cx="365760" cy="365760"/>
          </a:xfrm>
          <a:prstGeom prst="ellipse">
            <a:avLst/>
          </a:prstGeom>
          <a:solidFill>
            <a:srgbClr val="EFEDFF"/>
          </a:solidFill>
          <a:ln>
            <a:noFill/>
          </a:ln>
          <a:effectLst/>
        </p:spPr>
        <p:txBody>
          <a:bodyPr rtlCol="0" anchor="ctr"/>
          <a:lstStyle/>
          <a:p>
            <a:pPr algn="ctr"/>
          </a:p>
        </p:txBody>
      </p:sp>
      <p:pic>
        <p:nvPicPr>
          <p:cNvPr id="9" name="Picture 8" descr="construction_4A35FF_256_2.0.png"/>
          <p:cNvPicPr>
            <a:picLocks noChangeAspect="1"/>
          </p:cNvPicPr>
          <p:nvPr/>
        </p:nvPicPr>
        <p:blipFill>
          <a:blip r:embed="rId2"/>
          <a:stretch>
            <a:fillRect/>
          </a:stretch>
        </p:blipFill>
        <p:spPr>
          <a:xfrm>
            <a:off x="654710" y="2099462"/>
            <a:ext cx="190195" cy="190195"/>
          </a:xfrm>
          <a:prstGeom prst="rect">
            <a:avLst/>
          </a:prstGeom>
        </p:spPr>
      </p:pic>
      <p:sp>
        <p:nvSpPr>
          <p:cNvPr id="10" name="TextBox 9"/>
          <p:cNvSpPr txBox="1"/>
          <p:nvPr/>
        </p:nvSpPr>
        <p:spPr>
          <a:xfrm>
            <a:off x="1097280" y="199339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Black-spot rectification at scale</a:t>
            </a:r>
          </a:p>
        </p:txBody>
      </p:sp>
      <p:sp>
        <p:nvSpPr>
          <p:cNvPr id="11" name="TextBox 10"/>
          <p:cNvSpPr txBox="1"/>
          <p:nvPr/>
        </p:nvSpPr>
        <p:spPr>
          <a:xfrm>
            <a:off x="3566160" y="1993392"/>
            <a:ext cx="361188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Our audit-to-implementation pipeline is running in 18 cities, the Group's rectification agenda is our core work.</a:t>
            </a:r>
          </a:p>
        </p:txBody>
      </p:sp>
      <p:sp>
        <p:nvSpPr>
          <p:cNvPr id="12" name="Oval 11"/>
          <p:cNvSpPr/>
          <p:nvPr/>
        </p:nvSpPr>
        <p:spPr>
          <a:xfrm>
            <a:off x="566928" y="2907792"/>
            <a:ext cx="365760" cy="365760"/>
          </a:xfrm>
          <a:prstGeom prst="ellipse">
            <a:avLst/>
          </a:prstGeom>
          <a:solidFill>
            <a:srgbClr val="E9F7F0"/>
          </a:solidFill>
          <a:ln>
            <a:noFill/>
          </a:ln>
          <a:effectLst/>
        </p:spPr>
        <p:txBody>
          <a:bodyPr rtlCol="0" anchor="ctr"/>
          <a:lstStyle/>
          <a:p>
            <a:pPr algn="ctr"/>
          </a:p>
        </p:txBody>
      </p:sp>
      <p:pic>
        <p:nvPicPr>
          <p:cNvPr id="13" name="Picture 12" descr="gauge_0A9955_256_2.0.png"/>
          <p:cNvPicPr>
            <a:picLocks noChangeAspect="1"/>
          </p:cNvPicPr>
          <p:nvPr/>
        </p:nvPicPr>
        <p:blipFill>
          <a:blip r:embed="rId3"/>
          <a:stretch>
            <a:fillRect/>
          </a:stretch>
        </p:blipFill>
        <p:spPr>
          <a:xfrm>
            <a:off x="654710" y="2995574"/>
            <a:ext cx="190195" cy="190195"/>
          </a:xfrm>
          <a:prstGeom prst="rect">
            <a:avLst/>
          </a:prstGeom>
        </p:spPr>
      </p:pic>
      <p:sp>
        <p:nvSpPr>
          <p:cNvPr id="14" name="TextBox 13"/>
          <p:cNvSpPr txBox="1"/>
          <p:nvPr/>
        </p:nvSpPr>
        <p:spPr>
          <a:xfrm>
            <a:off x="1097280" y="2889504"/>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Standards for audits &amp; speed management</a:t>
            </a:r>
          </a:p>
        </p:txBody>
      </p:sp>
      <p:sp>
        <p:nvSpPr>
          <p:cNvPr id="15" name="TextBox 14"/>
          <p:cNvSpPr txBox="1"/>
          <p:nvPr/>
        </p:nvSpPr>
        <p:spPr>
          <a:xfrm>
            <a:off x="3566160" y="2889504"/>
            <a:ext cx="361188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IRC-anchored audit instruments, masterclass-trained teams, and a direct line into IRC H-7 via our advisor.</a:t>
            </a:r>
          </a:p>
        </p:txBody>
      </p:sp>
      <p:sp>
        <p:nvSpPr>
          <p:cNvPr id="16" name="Oval 15"/>
          <p:cNvSpPr/>
          <p:nvPr/>
        </p:nvSpPr>
        <p:spPr>
          <a:xfrm>
            <a:off x="566928" y="3803904"/>
            <a:ext cx="365760" cy="365760"/>
          </a:xfrm>
          <a:prstGeom prst="ellipse">
            <a:avLst/>
          </a:prstGeom>
          <a:solidFill>
            <a:srgbClr val="FDF3E3"/>
          </a:solidFill>
          <a:ln>
            <a:noFill/>
          </a:ln>
          <a:effectLst/>
        </p:spPr>
        <p:txBody>
          <a:bodyPr rtlCol="0" anchor="ctr"/>
          <a:lstStyle/>
          <a:p>
            <a:pPr algn="ctr"/>
          </a:p>
        </p:txBody>
      </p:sp>
      <p:pic>
        <p:nvPicPr>
          <p:cNvPr id="17" name="Picture 16" descr="footprints_E58900_256_2.0.png"/>
          <p:cNvPicPr>
            <a:picLocks noChangeAspect="1"/>
          </p:cNvPicPr>
          <p:nvPr/>
        </p:nvPicPr>
        <p:blipFill>
          <a:blip r:embed="rId4"/>
          <a:stretch>
            <a:fillRect/>
          </a:stretch>
        </p:blipFill>
        <p:spPr>
          <a:xfrm>
            <a:off x="654710" y="3891686"/>
            <a:ext cx="190195" cy="190195"/>
          </a:xfrm>
          <a:prstGeom prst="rect">
            <a:avLst/>
          </a:prstGeom>
        </p:spPr>
      </p:pic>
      <p:sp>
        <p:nvSpPr>
          <p:cNvPr id="18" name="TextBox 17"/>
          <p:cNvSpPr txBox="1"/>
          <p:nvPr/>
        </p:nvSpPr>
        <p:spPr>
          <a:xfrm>
            <a:off x="1097280" y="3785616"/>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Protecting vulnerable road users</a:t>
            </a:r>
          </a:p>
        </p:txBody>
      </p:sp>
      <p:sp>
        <p:nvSpPr>
          <p:cNvPr id="19" name="TextBox 18"/>
          <p:cNvSpPr txBox="1"/>
          <p:nvPr/>
        </p:nvSpPr>
        <p:spPr>
          <a:xfrm>
            <a:off x="3566160" y="3785616"/>
            <a:ext cx="361188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Pedestrian-first audits, the 300-rider gig-safety study, school-zone screening, evidence ready for VRU standards.</a:t>
            </a:r>
          </a:p>
        </p:txBody>
      </p:sp>
      <p:sp>
        <p:nvSpPr>
          <p:cNvPr id="20" name="TextBox 19"/>
          <p:cNvSpPr txBox="1"/>
          <p:nvPr/>
        </p:nvSpPr>
        <p:spPr>
          <a:xfrm>
            <a:off x="7452360" y="1920240"/>
            <a:ext cx="4023360" cy="237744"/>
          </a:xfrm>
          <a:prstGeom prst="rect">
            <a:avLst/>
          </a:prstGeom>
          <a:noFill/>
        </p:spPr>
        <p:txBody>
          <a:bodyPr wrap="square" lIns="0" rIns="0" tIns="0" bIns="0" anchor="t">
            <a:spAutoFit/>
          </a:bodyPr>
          <a:lstStyle/>
          <a:p>
            <a:pPr algn="l">
              <a:lnSpc>
                <a:spcPct val="128000"/>
              </a:lnSpc>
            </a:pPr>
            <a:r>
              <a:rPr sz="850" b="1" i="0" spc="140">
                <a:solidFill>
                  <a:srgbClr val="6E7180"/>
                </a:solidFill>
                <a:latin typeface="Montserrat"/>
              </a:rPr>
              <a:t>EXISTING CAPABILITIES WE PUT ON THE TABLE</a:t>
            </a:r>
          </a:p>
        </p:txBody>
      </p:sp>
      <p:sp>
        <p:nvSpPr>
          <p:cNvPr id="21" name="Rounded Rectangle 20"/>
          <p:cNvSpPr/>
          <p:nvPr/>
        </p:nvSpPr>
        <p:spPr>
          <a:xfrm>
            <a:off x="7452360" y="2212848"/>
            <a:ext cx="2048256" cy="402336"/>
          </a:xfrm>
          <a:prstGeom prst="roundRect">
            <a:avLst>
              <a:gd name="adj" fmla="val 50000"/>
            </a:avLst>
          </a:prstGeom>
          <a:solidFill>
            <a:srgbClr val="EFEDFF"/>
          </a:solidFill>
          <a:ln>
            <a:noFill/>
          </a:ln>
          <a:effectLst/>
        </p:spPr>
        <p:txBody>
          <a:bodyPr rtlCol="0" anchor="ctr"/>
          <a:lstStyle/>
          <a:p>
            <a:pPr algn="ctr"/>
          </a:p>
        </p:txBody>
      </p:sp>
      <p:sp>
        <p:nvSpPr>
          <p:cNvPr id="22" name="TextBox 21"/>
          <p:cNvSpPr txBox="1"/>
          <p:nvPr/>
        </p:nvSpPr>
        <p:spPr>
          <a:xfrm>
            <a:off x="7470648" y="2212848"/>
            <a:ext cx="2011680" cy="402336"/>
          </a:xfrm>
          <a:prstGeom prst="rect">
            <a:avLst/>
          </a:prstGeom>
          <a:noFill/>
        </p:spPr>
        <p:txBody>
          <a:bodyPr wrap="square" lIns="0" rIns="0" tIns="0" bIns="0" anchor="ctr">
            <a:spAutoFit/>
          </a:bodyPr>
          <a:lstStyle/>
          <a:p>
            <a:pPr algn="ctr">
              <a:lnSpc>
                <a:spcPct val="100000"/>
              </a:lnSpc>
            </a:pPr>
            <a:r>
              <a:rPr sz="850" b="1" i="0">
                <a:solidFill>
                  <a:srgbClr val="4A35FF"/>
                </a:solidFill>
                <a:latin typeface="Montserrat"/>
              </a:rPr>
              <a:t>31 trained audit teams</a:t>
            </a:r>
          </a:p>
        </p:txBody>
      </p:sp>
      <p:sp>
        <p:nvSpPr>
          <p:cNvPr id="23" name="Rounded Rectangle 22"/>
          <p:cNvSpPr/>
          <p:nvPr/>
        </p:nvSpPr>
        <p:spPr>
          <a:xfrm>
            <a:off x="9573768" y="2212848"/>
            <a:ext cx="2048256" cy="402336"/>
          </a:xfrm>
          <a:prstGeom prst="roundRect">
            <a:avLst>
              <a:gd name="adj" fmla="val 50000"/>
            </a:avLst>
          </a:prstGeom>
          <a:solidFill>
            <a:srgbClr val="EFEDFF"/>
          </a:solidFill>
          <a:ln>
            <a:noFill/>
          </a:ln>
          <a:effectLst/>
        </p:spPr>
        <p:txBody>
          <a:bodyPr rtlCol="0" anchor="ctr"/>
          <a:lstStyle/>
          <a:p>
            <a:pPr algn="ctr"/>
          </a:p>
        </p:txBody>
      </p:sp>
      <p:sp>
        <p:nvSpPr>
          <p:cNvPr id="24" name="TextBox 23"/>
          <p:cNvSpPr txBox="1"/>
          <p:nvPr/>
        </p:nvSpPr>
        <p:spPr>
          <a:xfrm>
            <a:off x="9592056" y="2212848"/>
            <a:ext cx="2011680" cy="402336"/>
          </a:xfrm>
          <a:prstGeom prst="rect">
            <a:avLst/>
          </a:prstGeom>
          <a:noFill/>
        </p:spPr>
        <p:txBody>
          <a:bodyPr wrap="square" lIns="0" rIns="0" tIns="0" bIns="0" anchor="ctr">
            <a:spAutoFit/>
          </a:bodyPr>
          <a:lstStyle/>
          <a:p>
            <a:pPr algn="ctr">
              <a:lnSpc>
                <a:spcPct val="100000"/>
              </a:lnSpc>
            </a:pPr>
            <a:r>
              <a:rPr sz="850" b="1" i="0">
                <a:solidFill>
                  <a:srgbClr val="4A35FF"/>
                </a:solidFill>
                <a:latin typeface="Montserrat"/>
              </a:rPr>
              <a:t>Public tracking portal</a:t>
            </a:r>
          </a:p>
        </p:txBody>
      </p:sp>
      <p:sp>
        <p:nvSpPr>
          <p:cNvPr id="25" name="Rounded Rectangle 24"/>
          <p:cNvSpPr/>
          <p:nvPr/>
        </p:nvSpPr>
        <p:spPr>
          <a:xfrm>
            <a:off x="7452360" y="2688336"/>
            <a:ext cx="2048256" cy="402336"/>
          </a:xfrm>
          <a:prstGeom prst="roundRect">
            <a:avLst>
              <a:gd name="adj" fmla="val 50000"/>
            </a:avLst>
          </a:prstGeom>
          <a:solidFill>
            <a:srgbClr val="EFEDFF"/>
          </a:solidFill>
          <a:ln>
            <a:noFill/>
          </a:ln>
          <a:effectLst/>
        </p:spPr>
        <p:txBody>
          <a:bodyPr rtlCol="0" anchor="ctr"/>
          <a:lstStyle/>
          <a:p>
            <a:pPr algn="ctr"/>
          </a:p>
        </p:txBody>
      </p:sp>
      <p:sp>
        <p:nvSpPr>
          <p:cNvPr id="26" name="TextBox 25"/>
          <p:cNvSpPr txBox="1"/>
          <p:nvPr/>
        </p:nvSpPr>
        <p:spPr>
          <a:xfrm>
            <a:off x="7470648" y="2688336"/>
            <a:ext cx="2011680" cy="402336"/>
          </a:xfrm>
          <a:prstGeom prst="rect">
            <a:avLst/>
          </a:prstGeom>
          <a:noFill/>
        </p:spPr>
        <p:txBody>
          <a:bodyPr wrap="square" lIns="0" rIns="0" tIns="0" bIns="0" anchor="ctr">
            <a:spAutoFit/>
          </a:bodyPr>
          <a:lstStyle/>
          <a:p>
            <a:pPr algn="ctr">
              <a:lnSpc>
                <a:spcPct val="100000"/>
              </a:lnSpc>
            </a:pPr>
            <a:r>
              <a:rPr sz="850" b="1" i="0">
                <a:solidFill>
                  <a:srgbClr val="4A35FF"/>
                </a:solidFill>
                <a:latin typeface="Montserrat"/>
              </a:rPr>
              <a:t>District pilots: GGM · SWD · Jaipur</a:t>
            </a:r>
          </a:p>
        </p:txBody>
      </p:sp>
      <p:sp>
        <p:nvSpPr>
          <p:cNvPr id="27" name="Rounded Rectangle 26"/>
          <p:cNvSpPr/>
          <p:nvPr/>
        </p:nvSpPr>
        <p:spPr>
          <a:xfrm>
            <a:off x="9573768" y="2688336"/>
            <a:ext cx="2048256" cy="402336"/>
          </a:xfrm>
          <a:prstGeom prst="roundRect">
            <a:avLst>
              <a:gd name="adj" fmla="val 50000"/>
            </a:avLst>
          </a:prstGeom>
          <a:solidFill>
            <a:srgbClr val="EFEDFF"/>
          </a:solidFill>
          <a:ln>
            <a:noFill/>
          </a:ln>
          <a:effectLst/>
        </p:spPr>
        <p:txBody>
          <a:bodyPr rtlCol="0" anchor="ctr"/>
          <a:lstStyle/>
          <a:p>
            <a:pPr algn="ctr"/>
          </a:p>
        </p:txBody>
      </p:sp>
      <p:sp>
        <p:nvSpPr>
          <p:cNvPr id="28" name="TextBox 27"/>
          <p:cNvSpPr txBox="1"/>
          <p:nvPr/>
        </p:nvSpPr>
        <p:spPr>
          <a:xfrm>
            <a:off x="9592056" y="2688336"/>
            <a:ext cx="2011680" cy="402336"/>
          </a:xfrm>
          <a:prstGeom prst="rect">
            <a:avLst/>
          </a:prstGeom>
          <a:noFill/>
        </p:spPr>
        <p:txBody>
          <a:bodyPr wrap="square" lIns="0" rIns="0" tIns="0" bIns="0" anchor="ctr">
            <a:spAutoFit/>
          </a:bodyPr>
          <a:lstStyle/>
          <a:p>
            <a:pPr algn="ctr">
              <a:lnSpc>
                <a:spcPct val="100000"/>
              </a:lnSpc>
            </a:pPr>
            <a:r>
              <a:rPr sz="850" b="1" i="0">
                <a:solidFill>
                  <a:srgbClr val="4A35FF"/>
                </a:solidFill>
                <a:latin typeface="Montserrat"/>
              </a:rPr>
              <a:t>IRC H-7 advisory line</a:t>
            </a:r>
          </a:p>
        </p:txBody>
      </p:sp>
      <p:sp>
        <p:nvSpPr>
          <p:cNvPr id="29" name="Rounded Rectangle 28"/>
          <p:cNvSpPr/>
          <p:nvPr/>
        </p:nvSpPr>
        <p:spPr>
          <a:xfrm>
            <a:off x="7452360" y="3163824"/>
            <a:ext cx="2048256" cy="402336"/>
          </a:xfrm>
          <a:prstGeom prst="roundRect">
            <a:avLst>
              <a:gd name="adj" fmla="val 50000"/>
            </a:avLst>
          </a:prstGeom>
          <a:solidFill>
            <a:srgbClr val="EFEDFF"/>
          </a:solidFill>
          <a:ln>
            <a:noFill/>
          </a:ln>
          <a:effectLst/>
        </p:spPr>
        <p:txBody>
          <a:bodyPr rtlCol="0" anchor="ctr"/>
          <a:lstStyle/>
          <a:p>
            <a:pPr algn="ctr"/>
          </a:p>
        </p:txBody>
      </p:sp>
      <p:sp>
        <p:nvSpPr>
          <p:cNvPr id="30" name="TextBox 29"/>
          <p:cNvSpPr txBox="1"/>
          <p:nvPr/>
        </p:nvSpPr>
        <p:spPr>
          <a:xfrm>
            <a:off x="7470648" y="3163824"/>
            <a:ext cx="2011680" cy="402336"/>
          </a:xfrm>
          <a:prstGeom prst="rect">
            <a:avLst/>
          </a:prstGeom>
          <a:noFill/>
        </p:spPr>
        <p:txBody>
          <a:bodyPr wrap="square" lIns="0" rIns="0" tIns="0" bIns="0" anchor="ctr">
            <a:spAutoFit/>
          </a:bodyPr>
          <a:lstStyle/>
          <a:p>
            <a:pPr algn="ctr">
              <a:lnSpc>
                <a:spcPct val="100000"/>
              </a:lnSpc>
            </a:pPr>
            <a:r>
              <a:rPr sz="850" b="1" i="0">
                <a:solidFill>
                  <a:srgbClr val="4A35FF"/>
                </a:solidFill>
                <a:latin typeface="Montserrat"/>
              </a:rPr>
              <a:t>7 sites fully built</a:t>
            </a:r>
          </a:p>
        </p:txBody>
      </p:sp>
      <p:sp>
        <p:nvSpPr>
          <p:cNvPr id="31" name="Rounded Rectangle 30"/>
          <p:cNvSpPr/>
          <p:nvPr/>
        </p:nvSpPr>
        <p:spPr>
          <a:xfrm>
            <a:off x="9573768" y="3163824"/>
            <a:ext cx="2048256" cy="402336"/>
          </a:xfrm>
          <a:prstGeom prst="roundRect">
            <a:avLst>
              <a:gd name="adj" fmla="val 50000"/>
            </a:avLst>
          </a:prstGeom>
          <a:solidFill>
            <a:srgbClr val="EFEDFF"/>
          </a:solidFill>
          <a:ln>
            <a:noFill/>
          </a:ln>
          <a:effectLst/>
        </p:spPr>
        <p:txBody>
          <a:bodyPr rtlCol="0" anchor="ctr"/>
          <a:lstStyle/>
          <a:p>
            <a:pPr algn="ctr"/>
          </a:p>
        </p:txBody>
      </p:sp>
      <p:sp>
        <p:nvSpPr>
          <p:cNvPr id="32" name="TextBox 31"/>
          <p:cNvSpPr txBox="1"/>
          <p:nvPr/>
        </p:nvSpPr>
        <p:spPr>
          <a:xfrm>
            <a:off x="9592056" y="3163824"/>
            <a:ext cx="2011680" cy="402336"/>
          </a:xfrm>
          <a:prstGeom prst="rect">
            <a:avLst/>
          </a:prstGeom>
          <a:noFill/>
        </p:spPr>
        <p:txBody>
          <a:bodyPr wrap="square" lIns="0" rIns="0" tIns="0" bIns="0" anchor="ctr">
            <a:spAutoFit/>
          </a:bodyPr>
          <a:lstStyle/>
          <a:p>
            <a:pPr algn="ctr">
              <a:lnSpc>
                <a:spcPct val="100000"/>
              </a:lnSpc>
            </a:pPr>
            <a:r>
              <a:rPr sz="850" b="1" i="0">
                <a:solidFill>
                  <a:srgbClr val="4A35FF"/>
                </a:solidFill>
                <a:latin typeface="Montserrat"/>
              </a:rPr>
              <a:t>Expert bench on call</a:t>
            </a:r>
          </a:p>
        </p:txBody>
      </p:sp>
      <p:sp>
        <p:nvSpPr>
          <p:cNvPr id="33" name="TextBox 32"/>
          <p:cNvSpPr txBox="1"/>
          <p:nvPr/>
        </p:nvSpPr>
        <p:spPr>
          <a:xfrm>
            <a:off x="566928" y="4709160"/>
            <a:ext cx="10972800" cy="237744"/>
          </a:xfrm>
          <a:prstGeom prst="rect">
            <a:avLst/>
          </a:prstGeom>
          <a:noFill/>
        </p:spPr>
        <p:txBody>
          <a:bodyPr wrap="square" lIns="0" rIns="0" tIns="0" bIns="0" anchor="t">
            <a:spAutoFit/>
          </a:bodyPr>
          <a:lstStyle/>
          <a:p>
            <a:pPr algn="l">
              <a:lnSpc>
                <a:spcPct val="128000"/>
              </a:lnSpc>
            </a:pPr>
            <a:r>
              <a:rPr sz="850" b="1" i="0" spc="140">
                <a:solidFill>
                  <a:srgbClr val="6E7180"/>
                </a:solidFill>
                <a:latin typeface="Montserrat"/>
              </a:rPr>
              <a:t>SUBJECT-MATTER EXPERTS ALREADY ENGAGED ON THIS AGENDA</a:t>
            </a:r>
          </a:p>
        </p:txBody>
      </p:sp>
      <p:sp>
        <p:nvSpPr>
          <p:cNvPr id="34" name="Rounded Rectangle 33"/>
          <p:cNvSpPr/>
          <p:nvPr/>
        </p:nvSpPr>
        <p:spPr>
          <a:xfrm>
            <a:off x="566928" y="4983480"/>
            <a:ext cx="2145731" cy="1097280"/>
          </a:xfrm>
          <a:prstGeom prst="roundRect">
            <a:avLst>
              <a:gd name="adj" fmla="val 10000"/>
            </a:avLst>
          </a:prstGeom>
          <a:solidFill>
            <a:srgbClr val="F7F7FA"/>
          </a:solidFill>
          <a:ln>
            <a:noFill/>
          </a:ln>
          <a:effectLst/>
        </p:spPr>
        <p:txBody>
          <a:bodyPr rtlCol="0" anchor="ctr"/>
          <a:lstStyle/>
          <a:p>
            <a:pPr algn="ctr"/>
          </a:p>
        </p:txBody>
      </p:sp>
      <p:sp>
        <p:nvSpPr>
          <p:cNvPr id="35" name="Oval 34"/>
          <p:cNvSpPr/>
          <p:nvPr/>
        </p:nvSpPr>
        <p:spPr>
          <a:xfrm>
            <a:off x="676656" y="5138928"/>
            <a:ext cx="777240" cy="777240"/>
          </a:xfrm>
          <a:prstGeom prst="ellipse">
            <a:avLst/>
          </a:prstGeom>
          <a:solidFill>
            <a:srgbClr val="EFEDFF"/>
          </a:solidFill>
          <a:ln>
            <a:noFill/>
          </a:ln>
          <a:effectLst/>
        </p:spPr>
        <p:txBody>
          <a:bodyPr rtlCol="0" anchor="ctr"/>
          <a:lstStyle/>
          <a:p>
            <a:pPr algn="ctr"/>
          </a:p>
        </p:txBody>
      </p:sp>
      <p:sp>
        <p:nvSpPr>
          <p:cNvPr id="36" name="TextBox 35"/>
          <p:cNvSpPr txBox="1"/>
          <p:nvPr/>
        </p:nvSpPr>
        <p:spPr>
          <a:xfrm>
            <a:off x="676656" y="5120640"/>
            <a:ext cx="777240" cy="822960"/>
          </a:xfrm>
          <a:prstGeom prst="rect">
            <a:avLst/>
          </a:prstGeom>
          <a:noFill/>
        </p:spPr>
        <p:txBody>
          <a:bodyPr wrap="square" lIns="0" rIns="0" tIns="0" bIns="0" anchor="ctr">
            <a:spAutoFit/>
          </a:bodyPr>
          <a:lstStyle/>
          <a:p>
            <a:pPr algn="ctr">
              <a:lnSpc>
                <a:spcPct val="128000"/>
              </a:lnSpc>
            </a:pPr>
            <a:r>
              <a:rPr sz="1400" b="1" i="0">
                <a:solidFill>
                  <a:srgbClr val="4A35FF"/>
                </a:solidFill>
                <a:latin typeface="Montserrat"/>
              </a:rPr>
              <a:t>RA</a:t>
            </a:r>
          </a:p>
        </p:txBody>
      </p:sp>
      <p:sp>
        <p:nvSpPr>
          <p:cNvPr id="37" name="TextBox 36"/>
          <p:cNvSpPr txBox="1"/>
          <p:nvPr/>
        </p:nvSpPr>
        <p:spPr>
          <a:xfrm>
            <a:off x="1536192" y="5084064"/>
            <a:ext cx="1094171" cy="365760"/>
          </a:xfrm>
          <a:prstGeom prst="rect">
            <a:avLst/>
          </a:prstGeom>
          <a:noFill/>
        </p:spPr>
        <p:txBody>
          <a:bodyPr wrap="square" lIns="0" rIns="0" tIns="0" bIns="0" anchor="t">
            <a:spAutoFit/>
          </a:bodyPr>
          <a:lstStyle/>
          <a:p>
            <a:pPr algn="l">
              <a:lnSpc>
                <a:spcPct val="105000"/>
              </a:lnSpc>
            </a:pPr>
            <a:r>
              <a:rPr sz="900" b="1" i="0">
                <a:solidFill>
                  <a:srgbClr val="16181D"/>
                </a:solidFill>
                <a:latin typeface="Montserrat"/>
              </a:rPr>
              <a:t>Dr. Richa Ahuja</a:t>
            </a:r>
          </a:p>
        </p:txBody>
      </p:sp>
      <p:sp>
        <p:nvSpPr>
          <p:cNvPr id="38" name="TextBox 37"/>
          <p:cNvSpPr txBox="1"/>
          <p:nvPr/>
        </p:nvSpPr>
        <p:spPr>
          <a:xfrm>
            <a:off x="1536192" y="5440680"/>
            <a:ext cx="1094171" cy="603504"/>
          </a:xfrm>
          <a:prstGeom prst="rect">
            <a:avLst/>
          </a:prstGeom>
          <a:noFill/>
        </p:spPr>
        <p:txBody>
          <a:bodyPr wrap="square" lIns="0" rIns="0" tIns="0" bIns="0" anchor="t">
            <a:spAutoFit/>
          </a:bodyPr>
          <a:lstStyle/>
          <a:p>
            <a:pPr algn="l">
              <a:lnSpc>
                <a:spcPct val="115000"/>
              </a:lnSpc>
            </a:pPr>
            <a:r>
              <a:rPr sz="750" b="0" i="0">
                <a:solidFill>
                  <a:srgbClr val="6E7180"/>
                </a:solidFill>
                <a:latin typeface="Geist"/>
              </a:rPr>
              <a:t>IIT Kharagpur · road safety researcher</a:t>
            </a:r>
          </a:p>
        </p:txBody>
      </p:sp>
      <p:sp>
        <p:nvSpPr>
          <p:cNvPr id="39" name="Rounded Rectangle 38"/>
          <p:cNvSpPr/>
          <p:nvPr/>
        </p:nvSpPr>
        <p:spPr>
          <a:xfrm>
            <a:off x="2794955" y="4983480"/>
            <a:ext cx="2145731" cy="1097280"/>
          </a:xfrm>
          <a:prstGeom prst="roundRect">
            <a:avLst>
              <a:gd name="adj" fmla="val 10000"/>
            </a:avLst>
          </a:prstGeom>
          <a:solidFill>
            <a:srgbClr val="F7F7FA"/>
          </a:solidFill>
          <a:ln>
            <a:noFill/>
          </a:ln>
          <a:effectLst/>
        </p:spPr>
        <p:txBody>
          <a:bodyPr rtlCol="0" anchor="ctr"/>
          <a:lstStyle/>
          <a:p>
            <a:pPr algn="ctr"/>
          </a:p>
        </p:txBody>
      </p:sp>
      <p:pic>
        <p:nvPicPr>
          <p:cNvPr id="40" name="Picture 39" descr="x_gtiwari.png"/>
          <p:cNvPicPr>
            <a:picLocks noChangeAspect="1"/>
          </p:cNvPicPr>
          <p:nvPr/>
        </p:nvPicPr>
        <p:blipFill>
          <a:blip r:embed="rId5"/>
          <a:stretch>
            <a:fillRect/>
          </a:stretch>
        </p:blipFill>
        <p:spPr>
          <a:xfrm>
            <a:off x="2904683" y="5138928"/>
            <a:ext cx="777240" cy="777240"/>
          </a:xfrm>
          <a:prstGeom prst="rect">
            <a:avLst/>
          </a:prstGeom>
        </p:spPr>
      </p:pic>
      <p:sp>
        <p:nvSpPr>
          <p:cNvPr id="41" name="TextBox 40"/>
          <p:cNvSpPr txBox="1"/>
          <p:nvPr/>
        </p:nvSpPr>
        <p:spPr>
          <a:xfrm>
            <a:off x="3764219" y="5084064"/>
            <a:ext cx="1094171" cy="365760"/>
          </a:xfrm>
          <a:prstGeom prst="rect">
            <a:avLst/>
          </a:prstGeom>
          <a:noFill/>
        </p:spPr>
        <p:txBody>
          <a:bodyPr wrap="square" lIns="0" rIns="0" tIns="0" bIns="0" anchor="t">
            <a:spAutoFit/>
          </a:bodyPr>
          <a:lstStyle/>
          <a:p>
            <a:pPr algn="l">
              <a:lnSpc>
                <a:spcPct val="105000"/>
              </a:lnSpc>
            </a:pPr>
            <a:r>
              <a:rPr sz="900" b="1" i="0">
                <a:solidFill>
                  <a:srgbClr val="16181D"/>
                </a:solidFill>
                <a:latin typeface="Montserrat"/>
              </a:rPr>
              <a:t>Prof. Geetam Tiwari</a:t>
            </a:r>
          </a:p>
        </p:txBody>
      </p:sp>
      <p:sp>
        <p:nvSpPr>
          <p:cNvPr id="42" name="TextBox 41"/>
          <p:cNvSpPr txBox="1"/>
          <p:nvPr/>
        </p:nvSpPr>
        <p:spPr>
          <a:xfrm>
            <a:off x="3764219" y="5440680"/>
            <a:ext cx="1094171" cy="603504"/>
          </a:xfrm>
          <a:prstGeom prst="rect">
            <a:avLst/>
          </a:prstGeom>
          <a:noFill/>
        </p:spPr>
        <p:txBody>
          <a:bodyPr wrap="square" lIns="0" rIns="0" tIns="0" bIns="0" anchor="t">
            <a:spAutoFit/>
          </a:bodyPr>
          <a:lstStyle/>
          <a:p>
            <a:pPr algn="l">
              <a:lnSpc>
                <a:spcPct val="115000"/>
              </a:lnSpc>
            </a:pPr>
            <a:r>
              <a:rPr sz="750" b="0" i="0">
                <a:solidFill>
                  <a:srgbClr val="6E7180"/>
                </a:solidFill>
                <a:latin typeface="Geist"/>
              </a:rPr>
              <a:t>TRIP Centre, IIT Delhi · IRC H-7</a:t>
            </a:r>
          </a:p>
        </p:txBody>
      </p:sp>
      <p:sp>
        <p:nvSpPr>
          <p:cNvPr id="43" name="Rounded Rectangle 42"/>
          <p:cNvSpPr/>
          <p:nvPr/>
        </p:nvSpPr>
        <p:spPr>
          <a:xfrm>
            <a:off x="5022982" y="4983480"/>
            <a:ext cx="2145731" cy="1097280"/>
          </a:xfrm>
          <a:prstGeom prst="roundRect">
            <a:avLst>
              <a:gd name="adj" fmla="val 10000"/>
            </a:avLst>
          </a:prstGeom>
          <a:solidFill>
            <a:srgbClr val="F7F7FA"/>
          </a:solidFill>
          <a:ln>
            <a:noFill/>
          </a:ln>
          <a:effectLst/>
        </p:spPr>
        <p:txBody>
          <a:bodyPr rtlCol="0" anchor="ctr"/>
          <a:lstStyle/>
          <a:p>
            <a:pPr algn="ctr"/>
          </a:p>
        </p:txBody>
      </p:sp>
      <p:pic>
        <p:nvPicPr>
          <p:cNvPr id="44" name="Picture 43" descr="x_damle.png"/>
          <p:cNvPicPr>
            <a:picLocks noChangeAspect="1"/>
          </p:cNvPicPr>
          <p:nvPr/>
        </p:nvPicPr>
        <p:blipFill>
          <a:blip r:embed="rId6"/>
          <a:stretch>
            <a:fillRect/>
          </a:stretch>
        </p:blipFill>
        <p:spPr>
          <a:xfrm>
            <a:off x="5132710" y="5138928"/>
            <a:ext cx="777240" cy="777240"/>
          </a:xfrm>
          <a:prstGeom prst="rect">
            <a:avLst/>
          </a:prstGeom>
        </p:spPr>
      </p:pic>
      <p:sp>
        <p:nvSpPr>
          <p:cNvPr id="45" name="TextBox 44"/>
          <p:cNvSpPr txBox="1"/>
          <p:nvPr/>
        </p:nvSpPr>
        <p:spPr>
          <a:xfrm>
            <a:off x="5992246" y="5084064"/>
            <a:ext cx="1094171" cy="365760"/>
          </a:xfrm>
          <a:prstGeom prst="rect">
            <a:avLst/>
          </a:prstGeom>
          <a:noFill/>
        </p:spPr>
        <p:txBody>
          <a:bodyPr wrap="square" lIns="0" rIns="0" tIns="0" bIns="0" anchor="t">
            <a:spAutoFit/>
          </a:bodyPr>
          <a:lstStyle/>
          <a:p>
            <a:pPr algn="l">
              <a:lnSpc>
                <a:spcPct val="105000"/>
              </a:lnSpc>
            </a:pPr>
            <a:r>
              <a:rPr sz="900" b="1" i="0">
                <a:solidFill>
                  <a:srgbClr val="16181D"/>
                </a:solidFill>
                <a:latin typeface="Montserrat"/>
              </a:rPr>
              <a:t>Abhay Damle</a:t>
            </a:r>
          </a:p>
        </p:txBody>
      </p:sp>
      <p:sp>
        <p:nvSpPr>
          <p:cNvPr id="46" name="TextBox 45"/>
          <p:cNvSpPr txBox="1"/>
          <p:nvPr/>
        </p:nvSpPr>
        <p:spPr>
          <a:xfrm>
            <a:off x="5992246" y="5440680"/>
            <a:ext cx="1094171" cy="603504"/>
          </a:xfrm>
          <a:prstGeom prst="rect">
            <a:avLst/>
          </a:prstGeom>
          <a:noFill/>
        </p:spPr>
        <p:txBody>
          <a:bodyPr wrap="square" lIns="0" rIns="0" tIns="0" bIns="0" anchor="t">
            <a:spAutoFit/>
          </a:bodyPr>
          <a:lstStyle/>
          <a:p>
            <a:pPr algn="l">
              <a:lnSpc>
                <a:spcPct val="115000"/>
              </a:lnSpc>
            </a:pPr>
            <a:r>
              <a:rPr sz="750" b="0" i="0">
                <a:solidFill>
                  <a:srgbClr val="6E7180"/>
                </a:solidFill>
                <a:latin typeface="Geist"/>
              </a:rPr>
              <a:t>Ex-Joint Secretary, MoRTH</a:t>
            </a:r>
          </a:p>
        </p:txBody>
      </p:sp>
      <p:sp>
        <p:nvSpPr>
          <p:cNvPr id="47" name="Rounded Rectangle 46"/>
          <p:cNvSpPr/>
          <p:nvPr/>
        </p:nvSpPr>
        <p:spPr>
          <a:xfrm>
            <a:off x="7251009" y="4983480"/>
            <a:ext cx="2145731" cy="1097280"/>
          </a:xfrm>
          <a:prstGeom prst="roundRect">
            <a:avLst>
              <a:gd name="adj" fmla="val 10000"/>
            </a:avLst>
          </a:prstGeom>
          <a:solidFill>
            <a:srgbClr val="F7F7FA"/>
          </a:solidFill>
          <a:ln>
            <a:noFill/>
          </a:ln>
          <a:effectLst/>
        </p:spPr>
        <p:txBody>
          <a:bodyPr rtlCol="0" anchor="ctr"/>
          <a:lstStyle/>
          <a:p>
            <a:pPr algn="ctr"/>
          </a:p>
        </p:txBody>
      </p:sp>
      <p:pic>
        <p:nvPicPr>
          <p:cNvPr id="48" name="Picture 47" descr="x_dash.png"/>
          <p:cNvPicPr>
            <a:picLocks noChangeAspect="1"/>
          </p:cNvPicPr>
          <p:nvPr/>
        </p:nvPicPr>
        <p:blipFill>
          <a:blip r:embed="rId7"/>
          <a:stretch>
            <a:fillRect/>
          </a:stretch>
        </p:blipFill>
        <p:spPr>
          <a:xfrm>
            <a:off x="7360737" y="5138928"/>
            <a:ext cx="777240" cy="777240"/>
          </a:xfrm>
          <a:prstGeom prst="rect">
            <a:avLst/>
          </a:prstGeom>
        </p:spPr>
      </p:pic>
      <p:sp>
        <p:nvSpPr>
          <p:cNvPr id="49" name="TextBox 48"/>
          <p:cNvSpPr txBox="1"/>
          <p:nvPr/>
        </p:nvSpPr>
        <p:spPr>
          <a:xfrm>
            <a:off x="8220273" y="5084064"/>
            <a:ext cx="1094171" cy="365760"/>
          </a:xfrm>
          <a:prstGeom prst="rect">
            <a:avLst/>
          </a:prstGeom>
          <a:noFill/>
        </p:spPr>
        <p:txBody>
          <a:bodyPr wrap="square" lIns="0" rIns="0" tIns="0" bIns="0" anchor="t">
            <a:spAutoFit/>
          </a:bodyPr>
          <a:lstStyle/>
          <a:p>
            <a:pPr algn="l">
              <a:lnSpc>
                <a:spcPct val="105000"/>
              </a:lnSpc>
            </a:pPr>
            <a:r>
              <a:rPr sz="900" b="1" i="0">
                <a:solidFill>
                  <a:srgbClr val="16181D"/>
                </a:solidFill>
                <a:latin typeface="Montserrat"/>
              </a:rPr>
              <a:t>Dipak Dash</a:t>
            </a:r>
          </a:p>
        </p:txBody>
      </p:sp>
      <p:sp>
        <p:nvSpPr>
          <p:cNvPr id="50" name="TextBox 49"/>
          <p:cNvSpPr txBox="1"/>
          <p:nvPr/>
        </p:nvSpPr>
        <p:spPr>
          <a:xfrm>
            <a:off x="8220273" y="5440680"/>
            <a:ext cx="1094171" cy="603504"/>
          </a:xfrm>
          <a:prstGeom prst="rect">
            <a:avLst/>
          </a:prstGeom>
          <a:noFill/>
        </p:spPr>
        <p:txBody>
          <a:bodyPr wrap="square" lIns="0" rIns="0" tIns="0" bIns="0" anchor="t">
            <a:spAutoFit/>
          </a:bodyPr>
          <a:lstStyle/>
          <a:p>
            <a:pPr algn="l">
              <a:lnSpc>
                <a:spcPct val="115000"/>
              </a:lnSpc>
            </a:pPr>
            <a:r>
              <a:rPr sz="750" b="0" i="0">
                <a:solidFill>
                  <a:srgbClr val="6E7180"/>
                </a:solidFill>
                <a:latin typeface="Geist"/>
              </a:rPr>
              <a:t>Senior journalist, Times of India</a:t>
            </a:r>
          </a:p>
        </p:txBody>
      </p:sp>
      <p:sp>
        <p:nvSpPr>
          <p:cNvPr id="51" name="Rounded Rectangle 50"/>
          <p:cNvSpPr/>
          <p:nvPr/>
        </p:nvSpPr>
        <p:spPr>
          <a:xfrm>
            <a:off x="9479036" y="4983480"/>
            <a:ext cx="2145731" cy="1097280"/>
          </a:xfrm>
          <a:prstGeom prst="roundRect">
            <a:avLst>
              <a:gd name="adj" fmla="val 10000"/>
            </a:avLst>
          </a:prstGeom>
          <a:solidFill>
            <a:srgbClr val="F7F7FA"/>
          </a:solidFill>
          <a:ln>
            <a:noFill/>
          </a:ln>
          <a:effectLst/>
        </p:spPr>
        <p:txBody>
          <a:bodyPr rtlCol="0" anchor="ctr"/>
          <a:lstStyle/>
          <a:p>
            <a:pPr algn="ctr"/>
          </a:p>
        </p:txBody>
      </p:sp>
      <p:sp>
        <p:nvSpPr>
          <p:cNvPr id="52" name="Oval 51"/>
          <p:cNvSpPr/>
          <p:nvPr/>
        </p:nvSpPr>
        <p:spPr>
          <a:xfrm>
            <a:off x="9588764" y="5138928"/>
            <a:ext cx="777240" cy="777240"/>
          </a:xfrm>
          <a:prstGeom prst="ellipse">
            <a:avLst/>
          </a:prstGeom>
          <a:solidFill>
            <a:srgbClr val="EFEDFF"/>
          </a:solidFill>
          <a:ln>
            <a:noFill/>
          </a:ln>
          <a:effectLst/>
        </p:spPr>
        <p:txBody>
          <a:bodyPr rtlCol="0" anchor="ctr"/>
          <a:lstStyle/>
          <a:p>
            <a:pPr algn="ctr"/>
          </a:p>
        </p:txBody>
      </p:sp>
      <p:sp>
        <p:nvSpPr>
          <p:cNvPr id="53" name="TextBox 52"/>
          <p:cNvSpPr txBox="1"/>
          <p:nvPr/>
        </p:nvSpPr>
        <p:spPr>
          <a:xfrm>
            <a:off x="9588764" y="5120640"/>
            <a:ext cx="777240" cy="822960"/>
          </a:xfrm>
          <a:prstGeom prst="rect">
            <a:avLst/>
          </a:prstGeom>
          <a:noFill/>
        </p:spPr>
        <p:txBody>
          <a:bodyPr wrap="square" lIns="0" rIns="0" tIns="0" bIns="0" anchor="ctr">
            <a:spAutoFit/>
          </a:bodyPr>
          <a:lstStyle/>
          <a:p>
            <a:pPr algn="ctr">
              <a:lnSpc>
                <a:spcPct val="128000"/>
              </a:lnSpc>
            </a:pPr>
            <a:r>
              <a:rPr sz="1400" b="1" i="0">
                <a:solidFill>
                  <a:srgbClr val="4A35FF"/>
                </a:solidFill>
                <a:latin typeface="Montserrat"/>
              </a:rPr>
              <a:t>SP</a:t>
            </a:r>
          </a:p>
        </p:txBody>
      </p:sp>
      <p:sp>
        <p:nvSpPr>
          <p:cNvPr id="54" name="TextBox 53"/>
          <p:cNvSpPr txBox="1"/>
          <p:nvPr/>
        </p:nvSpPr>
        <p:spPr>
          <a:xfrm>
            <a:off x="10448300" y="5084064"/>
            <a:ext cx="1094171" cy="365760"/>
          </a:xfrm>
          <a:prstGeom prst="rect">
            <a:avLst/>
          </a:prstGeom>
          <a:noFill/>
        </p:spPr>
        <p:txBody>
          <a:bodyPr wrap="square" lIns="0" rIns="0" tIns="0" bIns="0" anchor="t">
            <a:spAutoFit/>
          </a:bodyPr>
          <a:lstStyle/>
          <a:p>
            <a:pPr algn="l">
              <a:lnSpc>
                <a:spcPct val="105000"/>
              </a:lnSpc>
            </a:pPr>
            <a:r>
              <a:rPr sz="900" b="1" i="0">
                <a:solidFill>
                  <a:srgbClr val="16181D"/>
                </a:solidFill>
                <a:latin typeface="Montserrat"/>
              </a:rPr>
              <a:t>Sarika Panda Bhatt</a:t>
            </a:r>
          </a:p>
        </p:txBody>
      </p:sp>
      <p:sp>
        <p:nvSpPr>
          <p:cNvPr id="55" name="TextBox 54"/>
          <p:cNvSpPr txBox="1"/>
          <p:nvPr/>
        </p:nvSpPr>
        <p:spPr>
          <a:xfrm>
            <a:off x="10448300" y="5440680"/>
            <a:ext cx="1094171" cy="603504"/>
          </a:xfrm>
          <a:prstGeom prst="rect">
            <a:avLst/>
          </a:prstGeom>
          <a:noFill/>
        </p:spPr>
        <p:txBody>
          <a:bodyPr wrap="square" lIns="0" rIns="0" tIns="0" bIns="0" anchor="t">
            <a:spAutoFit/>
          </a:bodyPr>
          <a:lstStyle/>
          <a:p>
            <a:pPr algn="l">
              <a:lnSpc>
                <a:spcPct val="115000"/>
              </a:lnSpc>
            </a:pPr>
            <a:r>
              <a:rPr sz="750" b="0" i="0">
                <a:solidFill>
                  <a:srgbClr val="6E7180"/>
                </a:solidFill>
                <a:latin typeface="Geist"/>
              </a:rPr>
              <a:t>Co-founder, Raahgiri Day</a:t>
            </a:r>
          </a:p>
        </p:txBody>
      </p:sp>
      <p:cxnSp>
        <p:nvCxnSpPr>
          <p:cNvPr id="56" name="Connector 55"/>
          <p:cNvCxnSpPr/>
          <p:nvPr/>
        </p:nvCxnSpPr>
        <p:spPr>
          <a:xfrm>
            <a:off x="566928" y="6455664"/>
            <a:ext cx="11057839" cy="0"/>
          </a:xfrm>
          <a:prstGeom prst="line">
            <a:avLst/>
          </a:prstGeom>
          <a:ln w="9525">
            <a:solidFill>
              <a:srgbClr val="E8E9EE"/>
            </a:solidFill>
          </a:ln>
          <a:effectLst/>
        </p:spPr>
      </p:cxnSp>
      <p:sp>
        <p:nvSpPr>
          <p:cNvPr id="57" name="TextBox 56"/>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58" name="TextBox 57"/>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06 / 28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2 OF 5  ·  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Six lines of work, </a:t>
            </a:r>
            <a:r>
              <a:rPr sz="2250" b="1" i="0">
                <a:solidFill>
                  <a:srgbClr val="4A35FF"/>
                </a:solidFill>
                <a:latin typeface="Montserrat"/>
              </a:rPr>
              <a:t>one connected system</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Audits create data · data supports policy · policy guides the field. Everything below is live today.</a:t>
            </a:r>
          </a:p>
        </p:txBody>
      </p:sp>
      <p:sp>
        <p:nvSpPr>
          <p:cNvPr id="8" name="Rounded Rectangle 7"/>
          <p:cNvSpPr/>
          <p:nvPr/>
        </p:nvSpPr>
        <p:spPr>
          <a:xfrm>
            <a:off x="566928" y="1938528"/>
            <a:ext cx="3611880" cy="2121408"/>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9" name="Picture 8" descr="implementation_work.jpg_3.95x1.28_0.30.jpg"/>
          <p:cNvPicPr>
            <a:picLocks noChangeAspect="1"/>
          </p:cNvPicPr>
          <p:nvPr/>
        </p:nvPicPr>
        <p:blipFill>
          <a:blip r:embed="rId2"/>
          <a:stretch>
            <a:fillRect/>
          </a:stretch>
        </p:blipFill>
        <p:spPr>
          <a:xfrm>
            <a:off x="566928" y="1938528"/>
            <a:ext cx="3611880" cy="1170432"/>
          </a:xfrm>
          <a:prstGeom prst="rect">
            <a:avLst/>
          </a:prstGeom>
        </p:spPr>
      </p:pic>
      <p:sp>
        <p:nvSpPr>
          <p:cNvPr id="10" name="Rectangle 9"/>
          <p:cNvSpPr/>
          <p:nvPr/>
        </p:nvSpPr>
        <p:spPr>
          <a:xfrm>
            <a:off x="566928" y="1938528"/>
            <a:ext cx="3611880" cy="1170432"/>
          </a:xfrm>
          <a:prstGeom prst="rect">
            <a:avLst/>
          </a:prstGeom>
          <a:noFill/>
          <a:ln w="12700">
            <a:solidFill>
              <a:srgbClr val="E8E9EE"/>
            </a:solidFill>
          </a:ln>
          <a:effectLst/>
        </p:spPr>
        <p:txBody>
          <a:bodyPr rtlCol="0" anchor="ctr"/>
          <a:lstStyle/>
          <a:p>
            <a:pPr algn="ctr"/>
          </a:p>
        </p:txBody>
      </p:sp>
      <p:sp>
        <p:nvSpPr>
          <p:cNvPr id="11" name="TextBox 10"/>
          <p:cNvSpPr txBox="1"/>
          <p:nvPr/>
        </p:nvSpPr>
        <p:spPr>
          <a:xfrm>
            <a:off x="694944" y="3182112"/>
            <a:ext cx="3355848"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Project Rakshak</a:t>
            </a:r>
          </a:p>
        </p:txBody>
      </p:sp>
      <p:sp>
        <p:nvSpPr>
          <p:cNvPr id="12" name="TextBox 11"/>
          <p:cNvSpPr txBox="1"/>
          <p:nvPr/>
        </p:nvSpPr>
        <p:spPr>
          <a:xfrm>
            <a:off x="694944" y="3419856"/>
            <a:ext cx="3355848" cy="32004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Student-led road audits, fixed with authorities</a:t>
            </a:r>
          </a:p>
        </p:txBody>
      </p:sp>
      <p:sp>
        <p:nvSpPr>
          <p:cNvPr id="13" name="TextBox 12"/>
          <p:cNvSpPr txBox="1"/>
          <p:nvPr/>
        </p:nvSpPr>
        <p:spPr>
          <a:xfrm>
            <a:off x="694944" y="3785616"/>
            <a:ext cx="3355848" cy="237744"/>
          </a:xfrm>
          <a:prstGeom prst="rect">
            <a:avLst/>
          </a:prstGeom>
          <a:noFill/>
        </p:spPr>
        <p:txBody>
          <a:bodyPr wrap="square" lIns="0" rIns="0" tIns="0" bIns="0" anchor="t">
            <a:spAutoFit/>
          </a:bodyPr>
          <a:lstStyle/>
          <a:p>
            <a:pPr algn="l">
              <a:lnSpc>
                <a:spcPct val="100000"/>
              </a:lnSpc>
            </a:pPr>
            <a:r>
              <a:rPr sz="900" b="1" i="0">
                <a:solidFill>
                  <a:srgbClr val="4A35FF"/>
                </a:solidFill>
                <a:latin typeface="Montserrat"/>
              </a:rPr>
              <a:t>31 sites · 7 fixes fully built</a:t>
            </a:r>
          </a:p>
        </p:txBody>
      </p:sp>
      <p:sp>
        <p:nvSpPr>
          <p:cNvPr id="14" name="Rounded Rectangle 13"/>
          <p:cNvSpPr/>
          <p:nvPr/>
        </p:nvSpPr>
        <p:spPr>
          <a:xfrm>
            <a:off x="4288536" y="1938528"/>
            <a:ext cx="3611880" cy="2121408"/>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15" name="Picture 14" descr="satark_billboard.jpg_3.95x1.28_0.42.jpg"/>
          <p:cNvPicPr>
            <a:picLocks noChangeAspect="1"/>
          </p:cNvPicPr>
          <p:nvPr/>
        </p:nvPicPr>
        <p:blipFill>
          <a:blip r:embed="rId3"/>
          <a:stretch>
            <a:fillRect/>
          </a:stretch>
        </p:blipFill>
        <p:spPr>
          <a:xfrm>
            <a:off x="4288536" y="1938528"/>
            <a:ext cx="3611880" cy="1170432"/>
          </a:xfrm>
          <a:prstGeom prst="rect">
            <a:avLst/>
          </a:prstGeom>
        </p:spPr>
      </p:pic>
      <p:sp>
        <p:nvSpPr>
          <p:cNvPr id="16" name="Rectangle 15"/>
          <p:cNvSpPr/>
          <p:nvPr/>
        </p:nvSpPr>
        <p:spPr>
          <a:xfrm>
            <a:off x="4288536" y="1938528"/>
            <a:ext cx="3611880" cy="1170432"/>
          </a:xfrm>
          <a:prstGeom prst="rect">
            <a:avLst/>
          </a:prstGeom>
          <a:noFill/>
          <a:ln w="12700">
            <a:solidFill>
              <a:srgbClr val="E8E9EE"/>
            </a:solidFill>
          </a:ln>
          <a:effectLst/>
        </p:spPr>
        <p:txBody>
          <a:bodyPr rtlCol="0" anchor="ctr"/>
          <a:lstStyle/>
          <a:p>
            <a:pPr algn="ctr"/>
          </a:p>
        </p:txBody>
      </p:sp>
      <p:sp>
        <p:nvSpPr>
          <p:cNvPr id="17" name="TextBox 16"/>
          <p:cNvSpPr txBox="1"/>
          <p:nvPr/>
        </p:nvSpPr>
        <p:spPr>
          <a:xfrm>
            <a:off x="4416552" y="3182112"/>
            <a:ext cx="3355848"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SATARK enforcement</a:t>
            </a:r>
          </a:p>
        </p:txBody>
      </p:sp>
      <p:sp>
        <p:nvSpPr>
          <p:cNvPr id="18" name="TextBox 17"/>
          <p:cNvSpPr txBox="1"/>
          <p:nvPr/>
        </p:nvSpPr>
        <p:spPr>
          <a:xfrm>
            <a:off x="4416552" y="3419856"/>
            <a:ext cx="3355848" cy="32004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AI support that helps police find high-risk vehicles</a:t>
            </a:r>
          </a:p>
        </p:txBody>
      </p:sp>
      <p:sp>
        <p:nvSpPr>
          <p:cNvPr id="19" name="TextBox 18"/>
          <p:cNvSpPr txBox="1"/>
          <p:nvPr/>
        </p:nvSpPr>
        <p:spPr>
          <a:xfrm>
            <a:off x="4416552" y="3785616"/>
            <a:ext cx="3355848" cy="237744"/>
          </a:xfrm>
          <a:prstGeom prst="rect">
            <a:avLst/>
          </a:prstGeom>
          <a:noFill/>
        </p:spPr>
        <p:txBody>
          <a:bodyPr wrap="square" lIns="0" rIns="0" tIns="0" bIns="0" anchor="t">
            <a:spAutoFit/>
          </a:bodyPr>
          <a:lstStyle/>
          <a:p>
            <a:pPr algn="l">
              <a:lnSpc>
                <a:spcPct val="100000"/>
              </a:lnSpc>
            </a:pPr>
            <a:r>
              <a:rPr sz="900" b="1" i="0">
                <a:solidFill>
                  <a:srgbClr val="4A35FF"/>
                </a:solidFill>
                <a:latin typeface="Montserrat"/>
              </a:rPr>
              <a:t>3,00,000+ vehicles screened</a:t>
            </a:r>
          </a:p>
        </p:txBody>
      </p:sp>
      <p:sp>
        <p:nvSpPr>
          <p:cNvPr id="20" name="Rounded Rectangle 19"/>
          <p:cNvSpPr/>
          <p:nvPr/>
        </p:nvSpPr>
        <p:spPr>
          <a:xfrm>
            <a:off x="8010144" y="1938528"/>
            <a:ext cx="3611880" cy="2121408"/>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21" name="Picture 20" descr="ph_helpdesk_desk.jpg_3.95x1.28_0.42.jpg"/>
          <p:cNvPicPr>
            <a:picLocks noChangeAspect="1"/>
          </p:cNvPicPr>
          <p:nvPr/>
        </p:nvPicPr>
        <p:blipFill>
          <a:blip r:embed="rId4"/>
          <a:stretch>
            <a:fillRect/>
          </a:stretch>
        </p:blipFill>
        <p:spPr>
          <a:xfrm>
            <a:off x="8010144" y="1938528"/>
            <a:ext cx="3611880" cy="1170432"/>
          </a:xfrm>
          <a:prstGeom prst="rect">
            <a:avLst/>
          </a:prstGeom>
        </p:spPr>
      </p:pic>
      <p:sp>
        <p:nvSpPr>
          <p:cNvPr id="22" name="Rectangle 21"/>
          <p:cNvSpPr/>
          <p:nvPr/>
        </p:nvSpPr>
        <p:spPr>
          <a:xfrm>
            <a:off x="8010144" y="1938528"/>
            <a:ext cx="3611880" cy="1170432"/>
          </a:xfrm>
          <a:prstGeom prst="rect">
            <a:avLst/>
          </a:prstGeom>
          <a:noFill/>
          <a:ln w="12700">
            <a:solidFill>
              <a:srgbClr val="E8E9EE"/>
            </a:solidFill>
          </a:ln>
          <a:effectLst/>
        </p:spPr>
        <p:txBody>
          <a:bodyPr rtlCol="0" anchor="ctr"/>
          <a:lstStyle/>
          <a:p>
            <a:pPr algn="ctr"/>
          </a:p>
        </p:txBody>
      </p:sp>
      <p:sp>
        <p:nvSpPr>
          <p:cNvPr id="23" name="TextBox 22"/>
          <p:cNvSpPr txBox="1"/>
          <p:nvPr/>
        </p:nvSpPr>
        <p:spPr>
          <a:xfrm>
            <a:off x="8138160" y="3182112"/>
            <a:ext cx="3355848"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Victim support</a:t>
            </a:r>
          </a:p>
        </p:txBody>
      </p:sp>
      <p:sp>
        <p:nvSpPr>
          <p:cNvPr id="24" name="TextBox 23"/>
          <p:cNvSpPr txBox="1"/>
          <p:nvPr/>
        </p:nvSpPr>
        <p:spPr>
          <a:xfrm>
            <a:off x="8138160" y="3419856"/>
            <a:ext cx="3355848" cy="32004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Aasha chatbot, calculator, hospital helpdesks</a:t>
            </a:r>
          </a:p>
        </p:txBody>
      </p:sp>
      <p:sp>
        <p:nvSpPr>
          <p:cNvPr id="25" name="TextBox 24"/>
          <p:cNvSpPr txBox="1"/>
          <p:nvPr/>
        </p:nvSpPr>
        <p:spPr>
          <a:xfrm>
            <a:off x="8138160" y="3785616"/>
            <a:ext cx="3355848" cy="237744"/>
          </a:xfrm>
          <a:prstGeom prst="rect">
            <a:avLst/>
          </a:prstGeom>
          <a:noFill/>
        </p:spPr>
        <p:txBody>
          <a:bodyPr wrap="square" lIns="0" rIns="0" tIns="0" bIns="0" anchor="t">
            <a:spAutoFit/>
          </a:bodyPr>
          <a:lstStyle/>
          <a:p>
            <a:pPr algn="l">
              <a:lnSpc>
                <a:spcPct val="100000"/>
              </a:lnSpc>
            </a:pPr>
            <a:r>
              <a:rPr sz="900" b="1" i="0">
                <a:solidFill>
                  <a:srgbClr val="4A35FF"/>
                </a:solidFill>
                <a:latin typeface="Montserrat"/>
              </a:rPr>
              <a:t>100+ victims helped in first 4 days</a:t>
            </a:r>
          </a:p>
        </p:txBody>
      </p:sp>
      <p:sp>
        <p:nvSpPr>
          <p:cNvPr id="26" name="Rounded Rectangle 25"/>
          <p:cNvSpPr/>
          <p:nvPr/>
        </p:nvSpPr>
        <p:spPr>
          <a:xfrm>
            <a:off x="566928" y="4206240"/>
            <a:ext cx="3611880" cy="2121408"/>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27" name="Picture 26" descr="sctracker.png_3.95x1.28_0.05.jpg"/>
          <p:cNvPicPr>
            <a:picLocks noChangeAspect="1"/>
          </p:cNvPicPr>
          <p:nvPr/>
        </p:nvPicPr>
        <p:blipFill>
          <a:blip r:embed="rId5"/>
          <a:stretch>
            <a:fillRect/>
          </a:stretch>
        </p:blipFill>
        <p:spPr>
          <a:xfrm>
            <a:off x="566928" y="4206240"/>
            <a:ext cx="3611880" cy="1170432"/>
          </a:xfrm>
          <a:prstGeom prst="rect">
            <a:avLst/>
          </a:prstGeom>
        </p:spPr>
      </p:pic>
      <p:sp>
        <p:nvSpPr>
          <p:cNvPr id="28" name="Rectangle 27"/>
          <p:cNvSpPr/>
          <p:nvPr/>
        </p:nvSpPr>
        <p:spPr>
          <a:xfrm>
            <a:off x="566928" y="4206240"/>
            <a:ext cx="3611880" cy="1170432"/>
          </a:xfrm>
          <a:prstGeom prst="rect">
            <a:avLst/>
          </a:prstGeom>
          <a:noFill/>
          <a:ln w="12700">
            <a:solidFill>
              <a:srgbClr val="E8E9EE"/>
            </a:solidFill>
          </a:ln>
          <a:effectLst/>
        </p:spPr>
        <p:txBody>
          <a:bodyPr rtlCol="0" anchor="ctr"/>
          <a:lstStyle/>
          <a:p>
            <a:pPr algn="ctr"/>
          </a:p>
        </p:txBody>
      </p:sp>
      <p:sp>
        <p:nvSpPr>
          <p:cNvPr id="29" name="TextBox 28"/>
          <p:cNvSpPr txBox="1"/>
          <p:nvPr/>
        </p:nvSpPr>
        <p:spPr>
          <a:xfrm>
            <a:off x="694944" y="5449824"/>
            <a:ext cx="3355848"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Open public data</a:t>
            </a:r>
          </a:p>
        </p:txBody>
      </p:sp>
      <p:sp>
        <p:nvSpPr>
          <p:cNvPr id="30" name="TextBox 29"/>
          <p:cNvSpPr txBox="1"/>
          <p:nvPr/>
        </p:nvSpPr>
        <p:spPr>
          <a:xfrm>
            <a:off x="694944" y="5687568"/>
            <a:ext cx="3355848" cy="32004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Four self-updating data platforms, free to use</a:t>
            </a:r>
          </a:p>
        </p:txBody>
      </p:sp>
      <p:sp>
        <p:nvSpPr>
          <p:cNvPr id="31" name="TextBox 30"/>
          <p:cNvSpPr txBox="1"/>
          <p:nvPr/>
        </p:nvSpPr>
        <p:spPr>
          <a:xfrm>
            <a:off x="694944" y="6053328"/>
            <a:ext cx="3355848" cy="237744"/>
          </a:xfrm>
          <a:prstGeom prst="rect">
            <a:avLst/>
          </a:prstGeom>
          <a:noFill/>
        </p:spPr>
        <p:txBody>
          <a:bodyPr wrap="square" lIns="0" rIns="0" tIns="0" bIns="0" anchor="t">
            <a:spAutoFit/>
          </a:bodyPr>
          <a:lstStyle/>
          <a:p>
            <a:pPr algn="l">
              <a:lnSpc>
                <a:spcPct val="100000"/>
              </a:lnSpc>
            </a:pPr>
            <a:r>
              <a:rPr sz="900" b="1" i="0">
                <a:solidFill>
                  <a:srgbClr val="4A35FF"/>
                </a:solidFill>
                <a:latin typeface="Montserrat"/>
              </a:rPr>
              <a:t>36 states &amp; 50 cities covered</a:t>
            </a:r>
          </a:p>
        </p:txBody>
      </p:sp>
      <p:sp>
        <p:nvSpPr>
          <p:cNvPr id="32" name="Rounded Rectangle 31"/>
          <p:cNvSpPr/>
          <p:nvPr/>
        </p:nvSpPr>
        <p:spPr>
          <a:xfrm>
            <a:off x="4288536" y="4206240"/>
            <a:ext cx="3611880" cy="2121408"/>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33" name="Picture 32" descr="ph_ideathon_winners.jpg_3.95x1.28_0.25.jpg"/>
          <p:cNvPicPr>
            <a:picLocks noChangeAspect="1"/>
          </p:cNvPicPr>
          <p:nvPr/>
        </p:nvPicPr>
        <p:blipFill>
          <a:blip r:embed="rId6"/>
          <a:stretch>
            <a:fillRect/>
          </a:stretch>
        </p:blipFill>
        <p:spPr>
          <a:xfrm>
            <a:off x="4288536" y="4206240"/>
            <a:ext cx="3611880" cy="1170432"/>
          </a:xfrm>
          <a:prstGeom prst="rect">
            <a:avLst/>
          </a:prstGeom>
        </p:spPr>
      </p:pic>
      <p:sp>
        <p:nvSpPr>
          <p:cNvPr id="34" name="Rectangle 33"/>
          <p:cNvSpPr/>
          <p:nvPr/>
        </p:nvSpPr>
        <p:spPr>
          <a:xfrm>
            <a:off x="4288536" y="4206240"/>
            <a:ext cx="3611880" cy="1170432"/>
          </a:xfrm>
          <a:prstGeom prst="rect">
            <a:avLst/>
          </a:prstGeom>
          <a:noFill/>
          <a:ln w="12700">
            <a:solidFill>
              <a:srgbClr val="E8E9EE"/>
            </a:solidFill>
          </a:ln>
          <a:effectLst/>
        </p:spPr>
        <p:txBody>
          <a:bodyPr rtlCol="0" anchor="ctr"/>
          <a:lstStyle/>
          <a:p>
            <a:pPr algn="ctr"/>
          </a:p>
        </p:txBody>
      </p:sp>
      <p:sp>
        <p:nvSpPr>
          <p:cNvPr id="35" name="TextBox 34"/>
          <p:cNvSpPr txBox="1"/>
          <p:nvPr/>
        </p:nvSpPr>
        <p:spPr>
          <a:xfrm>
            <a:off x="4416552" y="5449824"/>
            <a:ext cx="3355848"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Youth &amp; policy</a:t>
            </a:r>
          </a:p>
        </p:txBody>
      </p:sp>
      <p:sp>
        <p:nvSpPr>
          <p:cNvPr id="36" name="TextBox 35"/>
          <p:cNvSpPr txBox="1"/>
          <p:nvPr/>
        </p:nvSpPr>
        <p:spPr>
          <a:xfrm>
            <a:off x="4416552" y="5687568"/>
            <a:ext cx="3355848" cy="32004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NextMile ideathon and national dialogue series</a:t>
            </a:r>
          </a:p>
        </p:txBody>
      </p:sp>
      <p:sp>
        <p:nvSpPr>
          <p:cNvPr id="37" name="TextBox 36"/>
          <p:cNvSpPr txBox="1"/>
          <p:nvPr/>
        </p:nvSpPr>
        <p:spPr>
          <a:xfrm>
            <a:off x="4416552" y="6053328"/>
            <a:ext cx="3355848" cy="237744"/>
          </a:xfrm>
          <a:prstGeom prst="rect">
            <a:avLst/>
          </a:prstGeom>
          <a:noFill/>
        </p:spPr>
        <p:txBody>
          <a:bodyPr wrap="square" lIns="0" rIns="0" tIns="0" bIns="0" anchor="t">
            <a:spAutoFit/>
          </a:bodyPr>
          <a:lstStyle/>
          <a:p>
            <a:pPr algn="l">
              <a:lnSpc>
                <a:spcPct val="100000"/>
              </a:lnSpc>
            </a:pPr>
            <a:r>
              <a:rPr sz="900" b="1" i="0">
                <a:solidFill>
                  <a:srgbClr val="4A35FF"/>
                </a:solidFill>
                <a:latin typeface="Montserrat"/>
              </a:rPr>
              <a:t>2,000+ participants engaged</a:t>
            </a:r>
          </a:p>
        </p:txBody>
      </p:sp>
      <p:sp>
        <p:nvSpPr>
          <p:cNvPr id="38" name="Rounded Rectangle 37"/>
          <p:cNvSpPr/>
          <p:nvPr/>
        </p:nvSpPr>
        <p:spPr>
          <a:xfrm>
            <a:off x="8010144" y="4206240"/>
            <a:ext cx="3611880" cy="2121408"/>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39" name="Picture 38" descr="ph_police_rally.jpg_3.95x1.28_0.35.jpg"/>
          <p:cNvPicPr>
            <a:picLocks noChangeAspect="1"/>
          </p:cNvPicPr>
          <p:nvPr/>
        </p:nvPicPr>
        <p:blipFill>
          <a:blip r:embed="rId7"/>
          <a:stretch>
            <a:fillRect/>
          </a:stretch>
        </p:blipFill>
        <p:spPr>
          <a:xfrm>
            <a:off x="8010144" y="4206240"/>
            <a:ext cx="3611880" cy="1170432"/>
          </a:xfrm>
          <a:prstGeom prst="rect">
            <a:avLst/>
          </a:prstGeom>
        </p:spPr>
      </p:pic>
      <p:sp>
        <p:nvSpPr>
          <p:cNvPr id="40" name="Rectangle 39"/>
          <p:cNvSpPr/>
          <p:nvPr/>
        </p:nvSpPr>
        <p:spPr>
          <a:xfrm>
            <a:off x="8010144" y="4206240"/>
            <a:ext cx="3611880" cy="1170432"/>
          </a:xfrm>
          <a:prstGeom prst="rect">
            <a:avLst/>
          </a:prstGeom>
          <a:noFill/>
          <a:ln w="12700">
            <a:solidFill>
              <a:srgbClr val="E8E9EE"/>
            </a:solidFill>
          </a:ln>
          <a:effectLst/>
        </p:spPr>
        <p:txBody>
          <a:bodyPr rtlCol="0" anchor="ctr"/>
          <a:lstStyle/>
          <a:p>
            <a:pPr algn="ctr"/>
          </a:p>
        </p:txBody>
      </p:sp>
      <p:sp>
        <p:nvSpPr>
          <p:cNvPr id="41" name="TextBox 40"/>
          <p:cNvSpPr txBox="1"/>
          <p:nvPr/>
        </p:nvSpPr>
        <p:spPr>
          <a:xfrm>
            <a:off x="8138160" y="5449824"/>
            <a:ext cx="3355848"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Public campaigns</a:t>
            </a:r>
          </a:p>
        </p:txBody>
      </p:sp>
      <p:sp>
        <p:nvSpPr>
          <p:cNvPr id="42" name="TextBox 41"/>
          <p:cNvSpPr txBox="1"/>
          <p:nvPr/>
        </p:nvSpPr>
        <p:spPr>
          <a:xfrm>
            <a:off x="8138160" y="5687568"/>
            <a:ext cx="3355848" cy="32004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Road Safety Month with police &amp; schools; MS Dhoni</a:t>
            </a:r>
          </a:p>
        </p:txBody>
      </p:sp>
      <p:sp>
        <p:nvSpPr>
          <p:cNvPr id="43" name="TextBox 42"/>
          <p:cNvSpPr txBox="1"/>
          <p:nvPr/>
        </p:nvSpPr>
        <p:spPr>
          <a:xfrm>
            <a:off x="8138160" y="6053328"/>
            <a:ext cx="3355848" cy="237744"/>
          </a:xfrm>
          <a:prstGeom prst="rect">
            <a:avLst/>
          </a:prstGeom>
          <a:noFill/>
        </p:spPr>
        <p:txBody>
          <a:bodyPr wrap="square" lIns="0" rIns="0" tIns="0" bIns="0" anchor="t">
            <a:spAutoFit/>
          </a:bodyPr>
          <a:lstStyle/>
          <a:p>
            <a:pPr algn="l">
              <a:lnSpc>
                <a:spcPct val="100000"/>
              </a:lnSpc>
            </a:pPr>
            <a:r>
              <a:rPr sz="900" b="1" i="0">
                <a:solidFill>
                  <a:srgbClr val="4A35FF"/>
                </a:solidFill>
                <a:latin typeface="Montserrat"/>
              </a:rPr>
              <a:t>1M+ citizens reached</a:t>
            </a:r>
          </a:p>
        </p:txBody>
      </p:sp>
      <p:cxnSp>
        <p:nvCxnSpPr>
          <p:cNvPr id="44" name="Connector 43"/>
          <p:cNvCxnSpPr/>
          <p:nvPr/>
        </p:nvCxnSpPr>
        <p:spPr>
          <a:xfrm>
            <a:off x="566928" y="6455664"/>
            <a:ext cx="11057839" cy="0"/>
          </a:xfrm>
          <a:prstGeom prst="line">
            <a:avLst/>
          </a:prstGeom>
          <a:ln w="9525">
            <a:solidFill>
              <a:srgbClr val="E8E9EE"/>
            </a:solidFill>
          </a:ln>
          <a:effectLst/>
        </p:spPr>
      </p:cxnSp>
      <p:sp>
        <p:nvSpPr>
          <p:cNvPr id="45" name="TextBox 44"/>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46" name="TextBox 45"/>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07 / 28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2 OF 5  ·  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ENFORCEMENT TECHNOLOGY</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SATARK: AI that helps police stop </a:t>
            </a:r>
            <a:r>
              <a:rPr sz="2250" b="1" i="0">
                <a:solidFill>
                  <a:srgbClr val="4A35FF"/>
                </a:solidFill>
                <a:latin typeface="Montserrat"/>
              </a:rPr>
              <a:t>the right vehicle</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Built with Cars24 engineers. Reads number plates, checks government records, and alerts officers to repeat offenders, in real time.</a:t>
            </a:r>
          </a:p>
        </p:txBody>
      </p:sp>
      <p:pic>
        <p:nvPicPr>
          <p:cNvPr id="8" name="Picture 7" descr="satark_billboard.jpg_4.35x2.65_0.42.jpg"/>
          <p:cNvPicPr>
            <a:picLocks noChangeAspect="1"/>
          </p:cNvPicPr>
          <p:nvPr/>
        </p:nvPicPr>
        <p:blipFill>
          <a:blip r:embed="rId2"/>
          <a:stretch>
            <a:fillRect/>
          </a:stretch>
        </p:blipFill>
        <p:spPr>
          <a:xfrm>
            <a:off x="566928" y="1965960"/>
            <a:ext cx="3977639" cy="2423160"/>
          </a:xfrm>
          <a:prstGeom prst="rect">
            <a:avLst/>
          </a:prstGeom>
        </p:spPr>
      </p:pic>
      <p:sp>
        <p:nvSpPr>
          <p:cNvPr id="9" name="Rectangle 8"/>
          <p:cNvSpPr/>
          <p:nvPr/>
        </p:nvSpPr>
        <p:spPr>
          <a:xfrm>
            <a:off x="566928" y="1965960"/>
            <a:ext cx="3977639" cy="2423160"/>
          </a:xfrm>
          <a:prstGeom prst="rect">
            <a:avLst/>
          </a:prstGeom>
          <a:noFill/>
          <a:ln w="12700">
            <a:solidFill>
              <a:srgbClr val="E8E9EE"/>
            </a:solidFill>
          </a:ln>
          <a:effectLst/>
        </p:spPr>
        <p:txBody>
          <a:bodyPr rtlCol="0" anchor="ctr"/>
          <a:lstStyle/>
          <a:p>
            <a:pPr algn="ctr"/>
          </a:p>
        </p:txBody>
      </p:sp>
      <p:sp>
        <p:nvSpPr>
          <p:cNvPr id="10" name="TextBox 9"/>
          <p:cNvSpPr txBox="1"/>
          <p:nvPr/>
        </p:nvSpPr>
        <p:spPr>
          <a:xfrm>
            <a:off x="566928" y="4434840"/>
            <a:ext cx="3977639"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Rambagh Circle, Jaipur, live plate, pending challans and dues on a public billboard.</a:t>
            </a:r>
          </a:p>
        </p:txBody>
      </p:sp>
      <p:pic>
        <p:nvPicPr>
          <p:cNvPr id="11" name="Picture 10" descr="satark_officer_app.jpg"/>
          <p:cNvPicPr>
            <a:picLocks noChangeAspect="1"/>
          </p:cNvPicPr>
          <p:nvPr/>
        </p:nvPicPr>
        <p:blipFill>
          <a:blip r:embed="rId3"/>
          <a:stretch>
            <a:fillRect/>
          </a:stretch>
        </p:blipFill>
        <p:spPr>
          <a:xfrm>
            <a:off x="4709160" y="1965960"/>
            <a:ext cx="1828800" cy="2150283"/>
          </a:xfrm>
          <a:prstGeom prst="rect">
            <a:avLst/>
          </a:prstGeom>
        </p:spPr>
      </p:pic>
      <p:sp>
        <p:nvSpPr>
          <p:cNvPr id="12" name="Rectangle 11"/>
          <p:cNvSpPr/>
          <p:nvPr/>
        </p:nvSpPr>
        <p:spPr>
          <a:xfrm>
            <a:off x="4709160" y="1965960"/>
            <a:ext cx="1828800" cy="2150283"/>
          </a:xfrm>
          <a:prstGeom prst="rect">
            <a:avLst/>
          </a:prstGeom>
          <a:noFill/>
          <a:ln w="12700">
            <a:solidFill>
              <a:srgbClr val="E8E9EE"/>
            </a:solidFill>
          </a:ln>
          <a:effectLst/>
        </p:spPr>
        <p:txBody>
          <a:bodyPr rtlCol="0" anchor="ctr"/>
          <a:lstStyle/>
          <a:p>
            <a:pPr algn="ctr"/>
          </a:p>
        </p:txBody>
      </p:sp>
      <p:sp>
        <p:nvSpPr>
          <p:cNvPr id="13" name="TextBox 12"/>
          <p:cNvSpPr txBox="1"/>
          <p:nvPr/>
        </p:nvSpPr>
        <p:spPr>
          <a:xfrm>
            <a:off x="4709160" y="4161963"/>
            <a:ext cx="1828800" cy="274320"/>
          </a:xfrm>
          <a:prstGeom prst="rect">
            <a:avLst/>
          </a:prstGeom>
          <a:noFill/>
        </p:spPr>
        <p:txBody>
          <a:bodyPr wrap="square" lIns="0" rIns="0" tIns="0" bIns="0" anchor="t">
            <a:spAutoFit/>
          </a:bodyPr>
          <a:lstStyle/>
          <a:p>
            <a:pPr algn="l">
              <a:lnSpc>
                <a:spcPct val="112000"/>
              </a:lnSpc>
            </a:pPr>
            <a:r>
              <a:rPr sz="850" b="0" i="0">
                <a:solidFill>
                  <a:srgbClr val="6E7180"/>
                </a:solidFill>
                <a:latin typeface="Geist"/>
              </a:rPr>
              <a:t>Officer view, challans,</a:t>
            </a:r>
          </a:p>
          <a:p>
            <a:pPr algn="l">
              <a:lnSpc>
                <a:spcPct val="112000"/>
              </a:lnSpc>
            </a:pPr>
            <a:r>
              <a:rPr sz="850" b="0" i="0">
                <a:solidFill>
                  <a:srgbClr val="6E7180"/>
                </a:solidFill>
                <a:latin typeface="Geist"/>
              </a:rPr>
              <a:t>RC &amp; compliance status.</a:t>
            </a:r>
          </a:p>
        </p:txBody>
      </p:sp>
      <p:sp>
        <p:nvSpPr>
          <p:cNvPr id="14" name="TextBox 13"/>
          <p:cNvSpPr txBox="1"/>
          <p:nvPr/>
        </p:nvSpPr>
        <p:spPr>
          <a:xfrm>
            <a:off x="6784848" y="1920240"/>
            <a:ext cx="2331720" cy="502920"/>
          </a:xfrm>
          <a:prstGeom prst="rect">
            <a:avLst/>
          </a:prstGeom>
          <a:noFill/>
        </p:spPr>
        <p:txBody>
          <a:bodyPr wrap="square" lIns="0" rIns="0" tIns="0" bIns="0" anchor="t">
            <a:spAutoFit/>
          </a:bodyPr>
          <a:lstStyle/>
          <a:p>
            <a:pPr algn="l">
              <a:lnSpc>
                <a:spcPct val="100000"/>
              </a:lnSpc>
            </a:pPr>
            <a:r>
              <a:rPr sz="2100" b="1" i="0">
                <a:solidFill>
                  <a:srgbClr val="4A35FF"/>
                </a:solidFill>
                <a:latin typeface="Montserrat"/>
              </a:rPr>
              <a:t>3,00,000+</a:t>
            </a:r>
          </a:p>
        </p:txBody>
      </p:sp>
      <p:sp>
        <p:nvSpPr>
          <p:cNvPr id="15" name="TextBox 14"/>
          <p:cNvSpPr txBox="1"/>
          <p:nvPr/>
        </p:nvSpPr>
        <p:spPr>
          <a:xfrm>
            <a:off x="6784848" y="2377440"/>
            <a:ext cx="2331720" cy="411480"/>
          </a:xfrm>
          <a:prstGeom prst="rect">
            <a:avLst/>
          </a:prstGeom>
          <a:noFill/>
        </p:spPr>
        <p:txBody>
          <a:bodyPr wrap="square" lIns="0" rIns="0" tIns="0" bIns="0" anchor="t">
            <a:spAutoFit/>
          </a:bodyPr>
          <a:lstStyle/>
          <a:p>
            <a:pPr algn="l">
              <a:lnSpc>
                <a:spcPct val="112000"/>
              </a:lnSpc>
            </a:pPr>
            <a:r>
              <a:rPr sz="950" b="0" i="0">
                <a:solidFill>
                  <a:srgbClr val="6E7180"/>
                </a:solidFill>
                <a:latin typeface="Geist"/>
              </a:rPr>
              <a:t>vehicles screened</a:t>
            </a:r>
          </a:p>
        </p:txBody>
      </p:sp>
      <p:sp>
        <p:nvSpPr>
          <p:cNvPr id="16" name="TextBox 15"/>
          <p:cNvSpPr txBox="1"/>
          <p:nvPr/>
        </p:nvSpPr>
        <p:spPr>
          <a:xfrm>
            <a:off x="9235440" y="1920240"/>
            <a:ext cx="2331720" cy="502920"/>
          </a:xfrm>
          <a:prstGeom prst="rect">
            <a:avLst/>
          </a:prstGeom>
          <a:noFill/>
        </p:spPr>
        <p:txBody>
          <a:bodyPr wrap="square" lIns="0" rIns="0" tIns="0" bIns="0" anchor="t">
            <a:spAutoFit/>
          </a:bodyPr>
          <a:lstStyle/>
          <a:p>
            <a:pPr algn="l">
              <a:lnSpc>
                <a:spcPct val="100000"/>
              </a:lnSpc>
            </a:pPr>
            <a:r>
              <a:rPr sz="2100" b="1" i="0">
                <a:solidFill>
                  <a:srgbClr val="4A35FF"/>
                </a:solidFill>
                <a:latin typeface="Montserrat"/>
              </a:rPr>
              <a:t>₹30 Cr+</a:t>
            </a:r>
          </a:p>
        </p:txBody>
      </p:sp>
      <p:sp>
        <p:nvSpPr>
          <p:cNvPr id="17" name="TextBox 16"/>
          <p:cNvSpPr txBox="1"/>
          <p:nvPr/>
        </p:nvSpPr>
        <p:spPr>
          <a:xfrm>
            <a:off x="9235440" y="2377440"/>
            <a:ext cx="2331720" cy="411480"/>
          </a:xfrm>
          <a:prstGeom prst="rect">
            <a:avLst/>
          </a:prstGeom>
          <a:noFill/>
        </p:spPr>
        <p:txBody>
          <a:bodyPr wrap="square" lIns="0" rIns="0" tIns="0" bIns="0" anchor="t">
            <a:spAutoFit/>
          </a:bodyPr>
          <a:lstStyle/>
          <a:p>
            <a:pPr algn="l">
              <a:lnSpc>
                <a:spcPct val="112000"/>
              </a:lnSpc>
            </a:pPr>
            <a:r>
              <a:rPr sz="950" b="0" i="0">
                <a:solidFill>
                  <a:srgbClr val="6E7180"/>
                </a:solidFill>
                <a:latin typeface="Geist"/>
              </a:rPr>
              <a:t>pending challan value identified</a:t>
            </a:r>
          </a:p>
        </p:txBody>
      </p:sp>
      <p:sp>
        <p:nvSpPr>
          <p:cNvPr id="18" name="TextBox 17"/>
          <p:cNvSpPr txBox="1"/>
          <p:nvPr/>
        </p:nvSpPr>
        <p:spPr>
          <a:xfrm>
            <a:off x="6784848" y="2816352"/>
            <a:ext cx="2331720" cy="502920"/>
          </a:xfrm>
          <a:prstGeom prst="rect">
            <a:avLst/>
          </a:prstGeom>
          <a:noFill/>
        </p:spPr>
        <p:txBody>
          <a:bodyPr wrap="square" lIns="0" rIns="0" tIns="0" bIns="0" anchor="t">
            <a:spAutoFit/>
          </a:bodyPr>
          <a:lstStyle/>
          <a:p>
            <a:pPr algn="l">
              <a:lnSpc>
                <a:spcPct val="100000"/>
              </a:lnSpc>
            </a:pPr>
            <a:r>
              <a:rPr sz="2100" b="1" i="0">
                <a:solidFill>
                  <a:srgbClr val="4A35FF"/>
                </a:solidFill>
                <a:latin typeface="Montserrat"/>
              </a:rPr>
              <a:t>350+</a:t>
            </a:r>
          </a:p>
        </p:txBody>
      </p:sp>
      <p:sp>
        <p:nvSpPr>
          <p:cNvPr id="19" name="TextBox 18"/>
          <p:cNvSpPr txBox="1"/>
          <p:nvPr/>
        </p:nvSpPr>
        <p:spPr>
          <a:xfrm>
            <a:off x="6784848" y="3273552"/>
            <a:ext cx="2331720" cy="411480"/>
          </a:xfrm>
          <a:prstGeom prst="rect">
            <a:avLst/>
          </a:prstGeom>
          <a:noFill/>
        </p:spPr>
        <p:txBody>
          <a:bodyPr wrap="square" lIns="0" rIns="0" tIns="0" bIns="0" anchor="t">
            <a:spAutoFit/>
          </a:bodyPr>
          <a:lstStyle/>
          <a:p>
            <a:pPr algn="l">
              <a:lnSpc>
                <a:spcPct val="112000"/>
              </a:lnSpc>
            </a:pPr>
            <a:r>
              <a:rPr sz="950" b="0" i="0">
                <a:solidFill>
                  <a:srgbClr val="6E7180"/>
                </a:solidFill>
                <a:latin typeface="Geist"/>
              </a:rPr>
              <a:t>high-risk vehicles intercepted</a:t>
            </a:r>
          </a:p>
        </p:txBody>
      </p:sp>
      <p:sp>
        <p:nvSpPr>
          <p:cNvPr id="20" name="TextBox 19"/>
          <p:cNvSpPr txBox="1"/>
          <p:nvPr/>
        </p:nvSpPr>
        <p:spPr>
          <a:xfrm>
            <a:off x="9235440" y="2816352"/>
            <a:ext cx="2331720" cy="502920"/>
          </a:xfrm>
          <a:prstGeom prst="rect">
            <a:avLst/>
          </a:prstGeom>
          <a:noFill/>
        </p:spPr>
        <p:txBody>
          <a:bodyPr wrap="square" lIns="0" rIns="0" tIns="0" bIns="0" anchor="t">
            <a:spAutoFit/>
          </a:bodyPr>
          <a:lstStyle/>
          <a:p>
            <a:pPr algn="l">
              <a:lnSpc>
                <a:spcPct val="100000"/>
              </a:lnSpc>
            </a:pPr>
            <a:r>
              <a:rPr sz="2100" b="1" i="0">
                <a:solidFill>
                  <a:srgbClr val="4A35FF"/>
                </a:solidFill>
                <a:latin typeface="Montserrat"/>
              </a:rPr>
              <a:t>70,019</a:t>
            </a:r>
          </a:p>
        </p:txBody>
      </p:sp>
      <p:sp>
        <p:nvSpPr>
          <p:cNvPr id="21" name="TextBox 20"/>
          <p:cNvSpPr txBox="1"/>
          <p:nvPr/>
        </p:nvSpPr>
        <p:spPr>
          <a:xfrm>
            <a:off x="9235440" y="3273552"/>
            <a:ext cx="2331720" cy="411480"/>
          </a:xfrm>
          <a:prstGeom prst="rect">
            <a:avLst/>
          </a:prstGeom>
          <a:noFill/>
        </p:spPr>
        <p:txBody>
          <a:bodyPr wrap="square" lIns="0" rIns="0" tIns="0" bIns="0" anchor="t">
            <a:spAutoFit/>
          </a:bodyPr>
          <a:lstStyle/>
          <a:p>
            <a:pPr algn="l">
              <a:lnSpc>
                <a:spcPct val="112000"/>
              </a:lnSpc>
            </a:pPr>
            <a:r>
              <a:rPr sz="950" b="0" i="0">
                <a:solidFill>
                  <a:srgbClr val="6E7180"/>
                </a:solidFill>
                <a:latin typeface="Geist"/>
              </a:rPr>
              <a:t>vehicles found with pending challans</a:t>
            </a:r>
          </a:p>
        </p:txBody>
      </p:sp>
      <p:sp>
        <p:nvSpPr>
          <p:cNvPr id="22" name="Rounded Rectangle 21"/>
          <p:cNvSpPr/>
          <p:nvPr/>
        </p:nvSpPr>
        <p:spPr>
          <a:xfrm>
            <a:off x="6784848" y="3767328"/>
            <a:ext cx="2240280" cy="384048"/>
          </a:xfrm>
          <a:prstGeom prst="roundRect">
            <a:avLst>
              <a:gd name="adj" fmla="val 50000"/>
            </a:avLst>
          </a:prstGeom>
          <a:solidFill>
            <a:srgbClr val="E9F7F0"/>
          </a:solidFill>
          <a:ln>
            <a:noFill/>
          </a:ln>
          <a:effectLst/>
        </p:spPr>
        <p:txBody>
          <a:bodyPr rtlCol="0" anchor="ctr"/>
          <a:lstStyle/>
          <a:p>
            <a:pPr algn="ctr"/>
          </a:p>
        </p:txBody>
      </p:sp>
      <p:sp>
        <p:nvSpPr>
          <p:cNvPr id="23" name="TextBox 22"/>
          <p:cNvSpPr txBox="1"/>
          <p:nvPr/>
        </p:nvSpPr>
        <p:spPr>
          <a:xfrm>
            <a:off x="6803136" y="3767328"/>
            <a:ext cx="2203704" cy="384048"/>
          </a:xfrm>
          <a:prstGeom prst="rect">
            <a:avLst/>
          </a:prstGeom>
          <a:noFill/>
        </p:spPr>
        <p:txBody>
          <a:bodyPr wrap="square" lIns="0" rIns="0" tIns="0" bIns="0" anchor="ctr">
            <a:spAutoFit/>
          </a:bodyPr>
          <a:lstStyle/>
          <a:p>
            <a:pPr algn="ctr">
              <a:lnSpc>
                <a:spcPct val="100000"/>
              </a:lnSpc>
            </a:pPr>
            <a:r>
              <a:rPr sz="950" b="1" i="0">
                <a:solidFill>
                  <a:srgbClr val="0A9955"/>
                </a:solidFill>
                <a:latin typeface="Montserrat"/>
              </a:rPr>
              <a:t>LIVE · Jaipur &amp; Bengaluru</a:t>
            </a:r>
          </a:p>
        </p:txBody>
      </p:sp>
      <p:sp>
        <p:nvSpPr>
          <p:cNvPr id="24" name="Rounded Rectangle 23"/>
          <p:cNvSpPr/>
          <p:nvPr/>
        </p:nvSpPr>
        <p:spPr>
          <a:xfrm>
            <a:off x="9144000" y="3767328"/>
            <a:ext cx="1600200" cy="384048"/>
          </a:xfrm>
          <a:prstGeom prst="roundRect">
            <a:avLst>
              <a:gd name="adj" fmla="val 50000"/>
            </a:avLst>
          </a:prstGeom>
          <a:solidFill>
            <a:srgbClr val="EFEDFF"/>
          </a:solidFill>
          <a:ln>
            <a:noFill/>
          </a:ln>
          <a:effectLst/>
        </p:spPr>
        <p:txBody>
          <a:bodyPr rtlCol="0" anchor="ctr"/>
          <a:lstStyle/>
          <a:p>
            <a:pPr algn="ctr"/>
          </a:p>
        </p:txBody>
      </p:sp>
      <p:sp>
        <p:nvSpPr>
          <p:cNvPr id="25" name="TextBox 24"/>
          <p:cNvSpPr txBox="1"/>
          <p:nvPr/>
        </p:nvSpPr>
        <p:spPr>
          <a:xfrm>
            <a:off x="9162288" y="3767328"/>
            <a:ext cx="1563624" cy="384048"/>
          </a:xfrm>
          <a:prstGeom prst="rect">
            <a:avLst/>
          </a:prstGeom>
          <a:noFill/>
        </p:spPr>
        <p:txBody>
          <a:bodyPr wrap="square" lIns="0" rIns="0" tIns="0" bIns="0" anchor="ctr">
            <a:spAutoFit/>
          </a:bodyPr>
          <a:lstStyle/>
          <a:p>
            <a:pPr algn="ctr">
              <a:lnSpc>
                <a:spcPct val="100000"/>
              </a:lnSpc>
            </a:pPr>
            <a:r>
              <a:rPr sz="950" b="1" i="0">
                <a:solidFill>
                  <a:srgbClr val="4A35FF"/>
                </a:solidFill>
                <a:latin typeface="Montserrat"/>
              </a:rPr>
              <a:t>NEW · Gurugram</a:t>
            </a:r>
          </a:p>
        </p:txBody>
      </p:sp>
      <p:sp>
        <p:nvSpPr>
          <p:cNvPr id="26" name="TextBox 25"/>
          <p:cNvSpPr txBox="1"/>
          <p:nvPr/>
        </p:nvSpPr>
        <p:spPr>
          <a:xfrm>
            <a:off x="6784848" y="4261104"/>
            <a:ext cx="4754880" cy="274320"/>
          </a:xfrm>
          <a:prstGeom prst="rect">
            <a:avLst/>
          </a:prstGeom>
          <a:noFill/>
        </p:spPr>
        <p:txBody>
          <a:bodyPr wrap="square" lIns="0" rIns="0" tIns="0" bIns="0" anchor="t">
            <a:spAutoFit/>
          </a:bodyPr>
          <a:lstStyle/>
          <a:p>
            <a:pPr algn="l">
              <a:lnSpc>
                <a:spcPct val="125000"/>
              </a:lnSpc>
            </a:pPr>
            <a:r>
              <a:rPr sz="950" b="0" i="0">
                <a:solidFill>
                  <a:srgbClr val="6E7180"/>
                </a:solidFill>
                <a:latin typeface="Geist"/>
              </a:rPr>
              <a:t>Bengaluru's Trinity Circle billboard was India's first, covered by Deccan Herald and national press. Pune and Ahmedabad are next.</a:t>
            </a:r>
          </a:p>
        </p:txBody>
      </p:sp>
      <p:cxnSp>
        <p:nvCxnSpPr>
          <p:cNvPr id="27" name="Connector 26"/>
          <p:cNvCxnSpPr/>
          <p:nvPr/>
        </p:nvCxnSpPr>
        <p:spPr>
          <a:xfrm>
            <a:off x="932688" y="5358384"/>
            <a:ext cx="10326319" cy="0"/>
          </a:xfrm>
          <a:prstGeom prst="line">
            <a:avLst/>
          </a:prstGeom>
          <a:ln w="12700">
            <a:solidFill>
              <a:srgbClr val="E8E9EE"/>
            </a:solidFill>
          </a:ln>
          <a:effectLst/>
        </p:spPr>
      </p:cxnSp>
      <p:sp>
        <p:nvSpPr>
          <p:cNvPr id="28" name="Oval 27"/>
          <p:cNvSpPr/>
          <p:nvPr/>
        </p:nvSpPr>
        <p:spPr>
          <a:xfrm>
            <a:off x="1038586" y="5138928"/>
            <a:ext cx="438912" cy="438912"/>
          </a:xfrm>
          <a:prstGeom prst="ellipse">
            <a:avLst/>
          </a:prstGeom>
          <a:solidFill>
            <a:srgbClr val="F7F7FA"/>
          </a:solidFill>
          <a:ln>
            <a:noFill/>
          </a:ln>
          <a:effectLst/>
        </p:spPr>
        <p:txBody>
          <a:bodyPr rtlCol="0" anchor="ctr"/>
          <a:lstStyle/>
          <a:p>
            <a:pPr algn="ctr"/>
          </a:p>
        </p:txBody>
      </p:sp>
      <p:pic>
        <p:nvPicPr>
          <p:cNvPr id="29" name="Picture 28" descr="camera_4A35FF_256_2.0.png"/>
          <p:cNvPicPr>
            <a:picLocks noChangeAspect="1"/>
          </p:cNvPicPr>
          <p:nvPr/>
        </p:nvPicPr>
        <p:blipFill>
          <a:blip r:embed="rId4"/>
          <a:stretch>
            <a:fillRect/>
          </a:stretch>
        </p:blipFill>
        <p:spPr>
          <a:xfrm>
            <a:off x="1143924" y="5244266"/>
            <a:ext cx="228234" cy="228234"/>
          </a:xfrm>
          <a:prstGeom prst="rect">
            <a:avLst/>
          </a:prstGeom>
        </p:spPr>
      </p:pic>
      <p:sp>
        <p:nvSpPr>
          <p:cNvPr id="30" name="TextBox 29"/>
          <p:cNvSpPr txBox="1"/>
          <p:nvPr/>
        </p:nvSpPr>
        <p:spPr>
          <a:xfrm>
            <a:off x="566928"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ANPR camera</a:t>
            </a:r>
          </a:p>
        </p:txBody>
      </p:sp>
      <p:sp>
        <p:nvSpPr>
          <p:cNvPr id="31" name="Oval 30"/>
          <p:cNvSpPr/>
          <p:nvPr/>
        </p:nvSpPr>
        <p:spPr>
          <a:xfrm>
            <a:off x="2420815" y="5138928"/>
            <a:ext cx="438912" cy="438912"/>
          </a:xfrm>
          <a:prstGeom prst="ellipse">
            <a:avLst/>
          </a:prstGeom>
          <a:solidFill>
            <a:srgbClr val="F7F7FA"/>
          </a:solidFill>
          <a:ln>
            <a:noFill/>
          </a:ln>
          <a:effectLst/>
        </p:spPr>
        <p:txBody>
          <a:bodyPr rtlCol="0" anchor="ctr"/>
          <a:lstStyle/>
          <a:p>
            <a:pPr algn="ctr"/>
          </a:p>
        </p:txBody>
      </p:sp>
      <p:pic>
        <p:nvPicPr>
          <p:cNvPr id="32" name="Picture 31" descr="scan-line_4A35FF_256_2.0.png"/>
          <p:cNvPicPr>
            <a:picLocks noChangeAspect="1"/>
          </p:cNvPicPr>
          <p:nvPr/>
        </p:nvPicPr>
        <p:blipFill>
          <a:blip r:embed="rId5"/>
          <a:stretch>
            <a:fillRect/>
          </a:stretch>
        </p:blipFill>
        <p:spPr>
          <a:xfrm>
            <a:off x="2526153" y="5244266"/>
            <a:ext cx="228234" cy="228234"/>
          </a:xfrm>
          <a:prstGeom prst="rect">
            <a:avLst/>
          </a:prstGeom>
        </p:spPr>
      </p:pic>
      <p:sp>
        <p:nvSpPr>
          <p:cNvPr id="33" name="TextBox 32"/>
          <p:cNvSpPr txBox="1"/>
          <p:nvPr/>
        </p:nvSpPr>
        <p:spPr>
          <a:xfrm>
            <a:off x="194915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Plate read</a:t>
            </a:r>
          </a:p>
        </p:txBody>
      </p:sp>
      <p:sp>
        <p:nvSpPr>
          <p:cNvPr id="34" name="Oval 33"/>
          <p:cNvSpPr/>
          <p:nvPr/>
        </p:nvSpPr>
        <p:spPr>
          <a:xfrm>
            <a:off x="3803045" y="5138928"/>
            <a:ext cx="438912" cy="438912"/>
          </a:xfrm>
          <a:prstGeom prst="ellipse">
            <a:avLst/>
          </a:prstGeom>
          <a:solidFill>
            <a:srgbClr val="F7F7FA"/>
          </a:solidFill>
          <a:ln>
            <a:noFill/>
          </a:ln>
          <a:effectLst/>
        </p:spPr>
        <p:txBody>
          <a:bodyPr rtlCol="0" anchor="ctr"/>
          <a:lstStyle/>
          <a:p>
            <a:pPr algn="ctr"/>
          </a:p>
        </p:txBody>
      </p:sp>
      <p:pic>
        <p:nvPicPr>
          <p:cNvPr id="35" name="Picture 34" descr="database_4A35FF_256_2.0.png"/>
          <p:cNvPicPr>
            <a:picLocks noChangeAspect="1"/>
          </p:cNvPicPr>
          <p:nvPr/>
        </p:nvPicPr>
        <p:blipFill>
          <a:blip r:embed="rId6"/>
          <a:stretch>
            <a:fillRect/>
          </a:stretch>
        </p:blipFill>
        <p:spPr>
          <a:xfrm>
            <a:off x="3908383" y="5244266"/>
            <a:ext cx="228234" cy="228234"/>
          </a:xfrm>
          <a:prstGeom prst="rect">
            <a:avLst/>
          </a:prstGeom>
        </p:spPr>
      </p:pic>
      <p:sp>
        <p:nvSpPr>
          <p:cNvPr id="36" name="TextBox 35"/>
          <p:cNvSpPr txBox="1"/>
          <p:nvPr/>
        </p:nvSpPr>
        <p:spPr>
          <a:xfrm>
            <a:off x="333138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Records check</a:t>
            </a:r>
          </a:p>
        </p:txBody>
      </p:sp>
      <p:sp>
        <p:nvSpPr>
          <p:cNvPr id="37" name="Oval 36"/>
          <p:cNvSpPr/>
          <p:nvPr/>
        </p:nvSpPr>
        <p:spPr>
          <a:xfrm>
            <a:off x="5185275" y="5138928"/>
            <a:ext cx="438912" cy="438912"/>
          </a:xfrm>
          <a:prstGeom prst="ellipse">
            <a:avLst/>
          </a:prstGeom>
          <a:solidFill>
            <a:srgbClr val="F7F7FA"/>
          </a:solidFill>
          <a:ln>
            <a:noFill/>
          </a:ln>
          <a:effectLst/>
        </p:spPr>
        <p:txBody>
          <a:bodyPr rtlCol="0" anchor="ctr"/>
          <a:lstStyle/>
          <a:p>
            <a:pPr algn="ctr"/>
          </a:p>
        </p:txBody>
      </p:sp>
      <p:pic>
        <p:nvPicPr>
          <p:cNvPr id="38" name="Picture 37" descr="alert-triangle_4A35FF_256_2.0.png"/>
          <p:cNvPicPr>
            <a:picLocks noChangeAspect="1"/>
          </p:cNvPicPr>
          <p:nvPr/>
        </p:nvPicPr>
        <p:blipFill>
          <a:blip r:embed="rId7"/>
          <a:stretch>
            <a:fillRect/>
          </a:stretch>
        </p:blipFill>
        <p:spPr>
          <a:xfrm>
            <a:off x="5290613" y="5244266"/>
            <a:ext cx="228234" cy="228234"/>
          </a:xfrm>
          <a:prstGeom prst="rect">
            <a:avLst/>
          </a:prstGeom>
        </p:spPr>
      </p:pic>
      <p:sp>
        <p:nvSpPr>
          <p:cNvPr id="39" name="TextBox 38"/>
          <p:cNvSpPr txBox="1"/>
          <p:nvPr/>
        </p:nvSpPr>
        <p:spPr>
          <a:xfrm>
            <a:off x="471361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Risk flag</a:t>
            </a:r>
          </a:p>
        </p:txBody>
      </p:sp>
      <p:sp>
        <p:nvSpPr>
          <p:cNvPr id="40" name="Oval 39"/>
          <p:cNvSpPr/>
          <p:nvPr/>
        </p:nvSpPr>
        <p:spPr>
          <a:xfrm>
            <a:off x="6567505" y="5138928"/>
            <a:ext cx="438912" cy="438912"/>
          </a:xfrm>
          <a:prstGeom prst="ellipse">
            <a:avLst/>
          </a:prstGeom>
          <a:solidFill>
            <a:srgbClr val="F7F7FA"/>
          </a:solidFill>
          <a:ln>
            <a:noFill/>
          </a:ln>
          <a:effectLst/>
        </p:spPr>
        <p:txBody>
          <a:bodyPr rtlCol="0" anchor="ctr"/>
          <a:lstStyle/>
          <a:p>
            <a:pPr algn="ctr"/>
          </a:p>
        </p:txBody>
      </p:sp>
      <p:pic>
        <p:nvPicPr>
          <p:cNvPr id="41" name="Picture 40" descr="bell-ring_4A35FF_256_2.0.png"/>
          <p:cNvPicPr>
            <a:picLocks noChangeAspect="1"/>
          </p:cNvPicPr>
          <p:nvPr/>
        </p:nvPicPr>
        <p:blipFill>
          <a:blip r:embed="rId8"/>
          <a:stretch>
            <a:fillRect/>
          </a:stretch>
        </p:blipFill>
        <p:spPr>
          <a:xfrm>
            <a:off x="6672843" y="5244266"/>
            <a:ext cx="228234" cy="228234"/>
          </a:xfrm>
          <a:prstGeom prst="rect">
            <a:avLst/>
          </a:prstGeom>
        </p:spPr>
      </p:pic>
      <p:sp>
        <p:nvSpPr>
          <p:cNvPr id="42" name="TextBox 41"/>
          <p:cNvSpPr txBox="1"/>
          <p:nvPr/>
        </p:nvSpPr>
        <p:spPr>
          <a:xfrm>
            <a:off x="609584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Officer alert</a:t>
            </a:r>
          </a:p>
        </p:txBody>
      </p:sp>
      <p:sp>
        <p:nvSpPr>
          <p:cNvPr id="43" name="Oval 42"/>
          <p:cNvSpPr/>
          <p:nvPr/>
        </p:nvSpPr>
        <p:spPr>
          <a:xfrm>
            <a:off x="7949735" y="5138928"/>
            <a:ext cx="438912" cy="438912"/>
          </a:xfrm>
          <a:prstGeom prst="ellipse">
            <a:avLst/>
          </a:prstGeom>
          <a:solidFill>
            <a:srgbClr val="F7F7FA"/>
          </a:solidFill>
          <a:ln>
            <a:noFill/>
          </a:ln>
          <a:effectLst/>
        </p:spPr>
        <p:txBody>
          <a:bodyPr rtlCol="0" anchor="ctr"/>
          <a:lstStyle/>
          <a:p>
            <a:pPr algn="ctr"/>
          </a:p>
        </p:txBody>
      </p:sp>
      <p:pic>
        <p:nvPicPr>
          <p:cNvPr id="44" name="Picture 43" descr="monitor_4A35FF_256_2.0.png"/>
          <p:cNvPicPr>
            <a:picLocks noChangeAspect="1"/>
          </p:cNvPicPr>
          <p:nvPr/>
        </p:nvPicPr>
        <p:blipFill>
          <a:blip r:embed="rId9"/>
          <a:stretch>
            <a:fillRect/>
          </a:stretch>
        </p:blipFill>
        <p:spPr>
          <a:xfrm>
            <a:off x="8055073" y="5244266"/>
            <a:ext cx="228234" cy="228234"/>
          </a:xfrm>
          <a:prstGeom prst="rect">
            <a:avLst/>
          </a:prstGeom>
        </p:spPr>
      </p:pic>
      <p:sp>
        <p:nvSpPr>
          <p:cNvPr id="45" name="TextBox 44"/>
          <p:cNvSpPr txBox="1"/>
          <p:nvPr/>
        </p:nvSpPr>
        <p:spPr>
          <a:xfrm>
            <a:off x="747807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Billboard</a:t>
            </a:r>
          </a:p>
        </p:txBody>
      </p:sp>
      <p:sp>
        <p:nvSpPr>
          <p:cNvPr id="46" name="Oval 45"/>
          <p:cNvSpPr/>
          <p:nvPr/>
        </p:nvSpPr>
        <p:spPr>
          <a:xfrm>
            <a:off x="9331965" y="5138928"/>
            <a:ext cx="438912" cy="438912"/>
          </a:xfrm>
          <a:prstGeom prst="ellipse">
            <a:avLst/>
          </a:prstGeom>
          <a:solidFill>
            <a:srgbClr val="F7F7FA"/>
          </a:solidFill>
          <a:ln>
            <a:noFill/>
          </a:ln>
          <a:effectLst/>
        </p:spPr>
        <p:txBody>
          <a:bodyPr rtlCol="0" anchor="ctr"/>
          <a:lstStyle/>
          <a:p>
            <a:pPr algn="ctr"/>
          </a:p>
        </p:txBody>
      </p:sp>
      <p:pic>
        <p:nvPicPr>
          <p:cNvPr id="47" name="Picture 46" descr="hand_4A35FF_256_2.0.png"/>
          <p:cNvPicPr>
            <a:picLocks noChangeAspect="1"/>
          </p:cNvPicPr>
          <p:nvPr/>
        </p:nvPicPr>
        <p:blipFill>
          <a:blip r:embed="rId10"/>
          <a:stretch>
            <a:fillRect/>
          </a:stretch>
        </p:blipFill>
        <p:spPr>
          <a:xfrm>
            <a:off x="9437303" y="5244266"/>
            <a:ext cx="228234" cy="228234"/>
          </a:xfrm>
          <a:prstGeom prst="rect">
            <a:avLst/>
          </a:prstGeom>
        </p:spPr>
      </p:pic>
      <p:sp>
        <p:nvSpPr>
          <p:cNvPr id="48" name="TextBox 47"/>
          <p:cNvSpPr txBox="1"/>
          <p:nvPr/>
        </p:nvSpPr>
        <p:spPr>
          <a:xfrm>
            <a:off x="886030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Interception</a:t>
            </a:r>
          </a:p>
        </p:txBody>
      </p:sp>
      <p:sp>
        <p:nvSpPr>
          <p:cNvPr id="49" name="Oval 48"/>
          <p:cNvSpPr/>
          <p:nvPr/>
        </p:nvSpPr>
        <p:spPr>
          <a:xfrm>
            <a:off x="10714195" y="5138928"/>
            <a:ext cx="438912" cy="438912"/>
          </a:xfrm>
          <a:prstGeom prst="ellipse">
            <a:avLst/>
          </a:prstGeom>
          <a:solidFill>
            <a:srgbClr val="F7F7FA"/>
          </a:solidFill>
          <a:ln>
            <a:noFill/>
          </a:ln>
          <a:effectLst/>
        </p:spPr>
        <p:txBody>
          <a:bodyPr rtlCol="0" anchor="ctr"/>
          <a:lstStyle/>
          <a:p>
            <a:pPr algn="ctr"/>
          </a:p>
        </p:txBody>
      </p:sp>
      <p:pic>
        <p:nvPicPr>
          <p:cNvPr id="50" name="Picture 49" descr="shield-check_4A35FF_256_2.0.png"/>
          <p:cNvPicPr>
            <a:picLocks noChangeAspect="1"/>
          </p:cNvPicPr>
          <p:nvPr/>
        </p:nvPicPr>
        <p:blipFill>
          <a:blip r:embed="rId11"/>
          <a:stretch>
            <a:fillRect/>
          </a:stretch>
        </p:blipFill>
        <p:spPr>
          <a:xfrm>
            <a:off x="10819533" y="5244266"/>
            <a:ext cx="228234" cy="228234"/>
          </a:xfrm>
          <a:prstGeom prst="rect">
            <a:avLst/>
          </a:prstGeom>
        </p:spPr>
      </p:pic>
      <p:sp>
        <p:nvSpPr>
          <p:cNvPr id="51" name="TextBox 50"/>
          <p:cNvSpPr txBox="1"/>
          <p:nvPr/>
        </p:nvSpPr>
        <p:spPr>
          <a:xfrm>
            <a:off x="1024253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Enforcement</a:t>
            </a:r>
          </a:p>
        </p:txBody>
      </p:sp>
      <p:cxnSp>
        <p:nvCxnSpPr>
          <p:cNvPr id="52" name="Connector 51"/>
          <p:cNvCxnSpPr/>
          <p:nvPr/>
        </p:nvCxnSpPr>
        <p:spPr>
          <a:xfrm>
            <a:off x="566928" y="6455664"/>
            <a:ext cx="11057839" cy="0"/>
          </a:xfrm>
          <a:prstGeom prst="line">
            <a:avLst/>
          </a:prstGeom>
          <a:ln w="9525">
            <a:solidFill>
              <a:srgbClr val="E8E9EE"/>
            </a:solidFill>
          </a:ln>
          <a:effectLst/>
        </p:spPr>
      </p:cxnSp>
      <p:sp>
        <p:nvSpPr>
          <p:cNvPr id="53" name="TextBox 52"/>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54" name="TextBox 53"/>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08 / 28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2 OF 5  ·  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OPEN PUBLIC DATA</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Live public data platforms, </a:t>
            </a:r>
            <a:r>
              <a:rPr sz="2250" b="1" i="0">
                <a:solidFill>
                  <a:srgbClr val="4A35FF"/>
                </a:solidFill>
                <a:latin typeface="Montserrat"/>
              </a:rPr>
              <a:t>free for any authority</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Four platforms, each turning a scattered public record into structured, citable evidence. The two trackers are shown live, as captured this week.</a:t>
            </a:r>
          </a:p>
        </p:txBody>
      </p:sp>
      <p:pic>
        <p:nvPicPr>
          <p:cNvPr id="8" name="Picture 7" descr="parliament_live.png_6.00x2.62_0.00.jpg"/>
          <p:cNvPicPr>
            <a:picLocks noChangeAspect="1"/>
          </p:cNvPicPr>
          <p:nvPr/>
        </p:nvPicPr>
        <p:blipFill>
          <a:blip r:embed="rId2"/>
          <a:stretch>
            <a:fillRect/>
          </a:stretch>
        </p:blipFill>
        <p:spPr>
          <a:xfrm>
            <a:off x="566928" y="1938528"/>
            <a:ext cx="5486400" cy="2395728"/>
          </a:xfrm>
          <a:prstGeom prst="rect">
            <a:avLst/>
          </a:prstGeom>
        </p:spPr>
      </p:pic>
      <p:sp>
        <p:nvSpPr>
          <p:cNvPr id="9" name="Rectangle 8"/>
          <p:cNvSpPr/>
          <p:nvPr/>
        </p:nvSpPr>
        <p:spPr>
          <a:xfrm>
            <a:off x="566928" y="1938528"/>
            <a:ext cx="5486400" cy="2395728"/>
          </a:xfrm>
          <a:prstGeom prst="rect">
            <a:avLst/>
          </a:prstGeom>
          <a:noFill/>
          <a:ln w="12700">
            <a:solidFill>
              <a:srgbClr val="E8E9EE"/>
            </a:solidFill>
          </a:ln>
          <a:effectLst/>
        </p:spPr>
        <p:txBody>
          <a:bodyPr rtlCol="0" anchor="ctr"/>
          <a:lstStyle/>
          <a:p>
            <a:pPr algn="ctr"/>
          </a:p>
        </p:txBody>
      </p:sp>
      <p:sp>
        <p:nvSpPr>
          <p:cNvPr id="10" name="TextBox 9"/>
          <p:cNvSpPr txBox="1"/>
          <p:nvPr/>
        </p:nvSpPr>
        <p:spPr>
          <a:xfrm>
            <a:off x="566928" y="4379976"/>
            <a:ext cx="548640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Road Safety in Parliament: all 1,444 questions since 2014 across four ministries; 275 of 540 sitting Lok Sabha MPs have never asked one.</a:t>
            </a:r>
          </a:p>
        </p:txBody>
      </p:sp>
      <p:pic>
        <p:nvPicPr>
          <p:cNvPr id="11" name="Picture 10" descr="sctracker.png_6.00x2.62_0.00.jpg"/>
          <p:cNvPicPr>
            <a:picLocks noChangeAspect="1"/>
          </p:cNvPicPr>
          <p:nvPr/>
        </p:nvPicPr>
        <p:blipFill>
          <a:blip r:embed="rId3"/>
          <a:stretch>
            <a:fillRect/>
          </a:stretch>
        </p:blipFill>
        <p:spPr>
          <a:xfrm>
            <a:off x="6144768" y="1938528"/>
            <a:ext cx="5486400" cy="2395728"/>
          </a:xfrm>
          <a:prstGeom prst="rect">
            <a:avLst/>
          </a:prstGeom>
        </p:spPr>
      </p:pic>
      <p:sp>
        <p:nvSpPr>
          <p:cNvPr id="12" name="Rectangle 11"/>
          <p:cNvSpPr/>
          <p:nvPr/>
        </p:nvSpPr>
        <p:spPr>
          <a:xfrm>
            <a:off x="6144768" y="1938528"/>
            <a:ext cx="5486400" cy="2395728"/>
          </a:xfrm>
          <a:prstGeom prst="rect">
            <a:avLst/>
          </a:prstGeom>
          <a:noFill/>
          <a:ln w="12700">
            <a:solidFill>
              <a:srgbClr val="E8E9EE"/>
            </a:solidFill>
          </a:ln>
          <a:effectLst/>
        </p:spPr>
        <p:txBody>
          <a:bodyPr rtlCol="0" anchor="ctr"/>
          <a:lstStyle/>
          <a:p>
            <a:pPr algn="ctr"/>
          </a:p>
        </p:txBody>
      </p:sp>
      <p:sp>
        <p:nvSpPr>
          <p:cNvPr id="13" name="TextBox 12"/>
          <p:cNvSpPr txBox="1"/>
          <p:nvPr/>
        </p:nvSpPr>
        <p:spPr>
          <a:xfrm>
            <a:off x="6144768" y="4379976"/>
            <a:ext cx="548640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Supreme Court Litigation Tracker: 20 systemic cases, 191 orders indexed, 30 precedent judgments. Refreshes every Tuesday.</a:t>
            </a:r>
          </a:p>
        </p:txBody>
      </p:sp>
      <p:sp>
        <p:nvSpPr>
          <p:cNvPr id="14" name="Rounded Rectangle 13"/>
          <p:cNvSpPr/>
          <p:nvPr/>
        </p:nvSpPr>
        <p:spPr>
          <a:xfrm>
            <a:off x="566928" y="4956048"/>
            <a:ext cx="5486400" cy="1298448"/>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15" name="Oval 14"/>
          <p:cNvSpPr/>
          <p:nvPr/>
        </p:nvSpPr>
        <p:spPr>
          <a:xfrm>
            <a:off x="713232" y="5102352"/>
            <a:ext cx="365760" cy="365760"/>
          </a:xfrm>
          <a:prstGeom prst="ellipse">
            <a:avLst/>
          </a:prstGeom>
          <a:solidFill>
            <a:srgbClr val="E7F4F4"/>
          </a:solidFill>
          <a:ln>
            <a:noFill/>
          </a:ln>
          <a:effectLst/>
        </p:spPr>
        <p:txBody>
          <a:bodyPr rtlCol="0" anchor="ctr"/>
          <a:lstStyle/>
          <a:p>
            <a:pPr algn="ctr"/>
          </a:p>
        </p:txBody>
      </p:sp>
      <p:pic>
        <p:nvPicPr>
          <p:cNvPr id="16" name="Picture 15" descr="database_0E8A8A_256_2.0.png"/>
          <p:cNvPicPr>
            <a:picLocks noChangeAspect="1"/>
          </p:cNvPicPr>
          <p:nvPr/>
        </p:nvPicPr>
        <p:blipFill>
          <a:blip r:embed="rId4"/>
          <a:stretch>
            <a:fillRect/>
          </a:stretch>
        </p:blipFill>
        <p:spPr>
          <a:xfrm>
            <a:off x="801014" y="5190134"/>
            <a:ext cx="190195" cy="190195"/>
          </a:xfrm>
          <a:prstGeom prst="rect">
            <a:avLst/>
          </a:prstGeom>
        </p:spPr>
      </p:pic>
      <p:sp>
        <p:nvSpPr>
          <p:cNvPr id="17" name="TextBox 16"/>
          <p:cNvSpPr txBox="1"/>
          <p:nvPr/>
        </p:nvSpPr>
        <p:spPr>
          <a:xfrm>
            <a:off x="1188720" y="5074920"/>
            <a:ext cx="3291840" cy="274320"/>
          </a:xfrm>
          <a:prstGeom prst="rect">
            <a:avLst/>
          </a:prstGeom>
          <a:noFill/>
        </p:spPr>
        <p:txBody>
          <a:bodyPr wrap="square" lIns="0" rIns="0" tIns="0" bIns="0" anchor="t">
            <a:spAutoFit/>
          </a:bodyPr>
          <a:lstStyle/>
          <a:p>
            <a:pPr algn="l">
              <a:lnSpc>
                <a:spcPct val="100000"/>
              </a:lnSpc>
            </a:pPr>
            <a:r>
              <a:rPr sz="1000" b="1" i="0">
                <a:solidFill>
                  <a:srgbClr val="16181D"/>
                </a:solidFill>
                <a:latin typeface="Montserrat"/>
              </a:rPr>
              <a:t>Road-Infrastructure Defect Repository</a:t>
            </a:r>
          </a:p>
        </p:txBody>
      </p:sp>
      <p:sp>
        <p:nvSpPr>
          <p:cNvPr id="18" name="Rounded Rectangle 17"/>
          <p:cNvSpPr/>
          <p:nvPr/>
        </p:nvSpPr>
        <p:spPr>
          <a:xfrm>
            <a:off x="4572000" y="5093208"/>
            <a:ext cx="1353312" cy="292608"/>
          </a:xfrm>
          <a:prstGeom prst="roundRect">
            <a:avLst>
              <a:gd name="adj" fmla="val 50000"/>
            </a:avLst>
          </a:prstGeom>
          <a:solidFill>
            <a:srgbClr val="E7F4F4"/>
          </a:solidFill>
          <a:ln>
            <a:noFill/>
          </a:ln>
          <a:effectLst/>
        </p:spPr>
        <p:txBody>
          <a:bodyPr rtlCol="0" anchor="ctr"/>
          <a:lstStyle/>
          <a:p>
            <a:pPr algn="ctr"/>
          </a:p>
        </p:txBody>
      </p:sp>
      <p:sp>
        <p:nvSpPr>
          <p:cNvPr id="19" name="TextBox 18"/>
          <p:cNvSpPr txBox="1"/>
          <p:nvPr/>
        </p:nvSpPr>
        <p:spPr>
          <a:xfrm>
            <a:off x="4590288" y="5093208"/>
            <a:ext cx="1316736" cy="292608"/>
          </a:xfrm>
          <a:prstGeom prst="rect">
            <a:avLst/>
          </a:prstGeom>
          <a:noFill/>
        </p:spPr>
        <p:txBody>
          <a:bodyPr wrap="square" lIns="0" rIns="0" tIns="0" bIns="0" anchor="ctr">
            <a:spAutoFit/>
          </a:bodyPr>
          <a:lstStyle/>
          <a:p>
            <a:pPr algn="ctr">
              <a:lnSpc>
                <a:spcPct val="100000"/>
              </a:lnSpc>
            </a:pPr>
            <a:r>
              <a:rPr sz="700" b="1" i="0">
                <a:solidFill>
                  <a:srgbClr val="0E8A8A"/>
                </a:solidFill>
                <a:latin typeface="Montserrat"/>
              </a:rPr>
              <a:t>DAILY · 07:00 IST</a:t>
            </a:r>
          </a:p>
        </p:txBody>
      </p:sp>
      <p:sp>
        <p:nvSpPr>
          <p:cNvPr id="20" name="TextBox 19"/>
          <p:cNvSpPr txBox="1"/>
          <p:nvPr/>
        </p:nvSpPr>
        <p:spPr>
          <a:xfrm>
            <a:off x="713232" y="5522976"/>
            <a:ext cx="3246120" cy="658368"/>
          </a:xfrm>
          <a:prstGeom prst="rect">
            <a:avLst/>
          </a:prstGeom>
          <a:noFill/>
        </p:spPr>
        <p:txBody>
          <a:bodyPr wrap="square" lIns="0" rIns="0" tIns="0" bIns="0" anchor="t">
            <a:spAutoFit/>
          </a:bodyPr>
          <a:lstStyle/>
          <a:p>
            <a:pPr algn="l">
              <a:lnSpc>
                <a:spcPct val="116000"/>
              </a:lnSpc>
            </a:pPr>
            <a:r>
              <a:rPr sz="800" b="0" i="0">
                <a:solidFill>
                  <a:srgbClr val="6E7180"/>
                </a:solidFill>
                <a:latin typeface="Geist"/>
              </a:rPr>
              <a:t>An AI pipeline reads local-language news from 146 districts every morning and turns road-defect reports, potholes, missing signage, unlit stretches, into structured, mapped evidence.</a:t>
            </a:r>
          </a:p>
        </p:txBody>
      </p:sp>
      <p:pic>
        <p:nvPicPr>
          <p:cNvPr id="21" name="Picture 20" descr="strip_defect.png"/>
          <p:cNvPicPr>
            <a:picLocks noChangeAspect="1"/>
          </p:cNvPicPr>
          <p:nvPr/>
        </p:nvPicPr>
        <p:blipFill>
          <a:blip r:embed="rId5"/>
          <a:stretch>
            <a:fillRect/>
          </a:stretch>
        </p:blipFill>
        <p:spPr>
          <a:xfrm>
            <a:off x="4059936" y="5522976"/>
            <a:ext cx="1847088" cy="349372"/>
          </a:xfrm>
          <a:prstGeom prst="rect">
            <a:avLst/>
          </a:prstGeom>
        </p:spPr>
      </p:pic>
      <p:sp>
        <p:nvSpPr>
          <p:cNvPr id="22" name="Rounded Rectangle 21"/>
          <p:cNvSpPr/>
          <p:nvPr/>
        </p:nvSpPr>
        <p:spPr>
          <a:xfrm>
            <a:off x="6144768" y="4956048"/>
            <a:ext cx="5486400" cy="1298448"/>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23" name="Oval 22"/>
          <p:cNvSpPr/>
          <p:nvPr/>
        </p:nvSpPr>
        <p:spPr>
          <a:xfrm>
            <a:off x="6291072" y="5102352"/>
            <a:ext cx="365760" cy="365760"/>
          </a:xfrm>
          <a:prstGeom prst="ellipse">
            <a:avLst/>
          </a:prstGeom>
          <a:solidFill>
            <a:srgbClr val="FDF3E3"/>
          </a:solidFill>
          <a:ln>
            <a:noFill/>
          </a:ln>
          <a:effectLst/>
        </p:spPr>
        <p:txBody>
          <a:bodyPr rtlCol="0" anchor="ctr"/>
          <a:lstStyle/>
          <a:p>
            <a:pPr algn="ctr"/>
          </a:p>
        </p:txBody>
      </p:sp>
      <p:pic>
        <p:nvPicPr>
          <p:cNvPr id="24" name="Picture 23" descr="bar-chart-3_E58900_256_2.0.png"/>
          <p:cNvPicPr>
            <a:picLocks noChangeAspect="1"/>
          </p:cNvPicPr>
          <p:nvPr/>
        </p:nvPicPr>
        <p:blipFill>
          <a:blip r:embed="rId6"/>
          <a:stretch>
            <a:fillRect/>
          </a:stretch>
        </p:blipFill>
        <p:spPr>
          <a:xfrm>
            <a:off x="6378854" y="5190134"/>
            <a:ext cx="190195" cy="190195"/>
          </a:xfrm>
          <a:prstGeom prst="rect">
            <a:avLst/>
          </a:prstGeom>
        </p:spPr>
      </p:pic>
      <p:sp>
        <p:nvSpPr>
          <p:cNvPr id="25" name="TextBox 24"/>
          <p:cNvSpPr txBox="1"/>
          <p:nvPr/>
        </p:nvSpPr>
        <p:spPr>
          <a:xfrm>
            <a:off x="6766560" y="5074920"/>
            <a:ext cx="3291840" cy="274320"/>
          </a:xfrm>
          <a:prstGeom prst="rect">
            <a:avLst/>
          </a:prstGeom>
          <a:noFill/>
        </p:spPr>
        <p:txBody>
          <a:bodyPr wrap="square" lIns="0" rIns="0" tIns="0" bIns="0" anchor="t">
            <a:spAutoFit/>
          </a:bodyPr>
          <a:lstStyle/>
          <a:p>
            <a:pPr algn="l">
              <a:lnSpc>
                <a:spcPct val="100000"/>
              </a:lnSpc>
            </a:pPr>
            <a:r>
              <a:rPr sz="1000" b="1" i="0">
                <a:solidFill>
                  <a:srgbClr val="16181D"/>
                </a:solidFill>
                <a:latin typeface="Montserrat"/>
              </a:rPr>
              <a:t>Crash Data Dashboard</a:t>
            </a:r>
          </a:p>
        </p:txBody>
      </p:sp>
      <p:sp>
        <p:nvSpPr>
          <p:cNvPr id="26" name="Rounded Rectangle 25"/>
          <p:cNvSpPr/>
          <p:nvPr/>
        </p:nvSpPr>
        <p:spPr>
          <a:xfrm>
            <a:off x="10149840" y="5093208"/>
            <a:ext cx="1353312" cy="292608"/>
          </a:xfrm>
          <a:prstGeom prst="roundRect">
            <a:avLst>
              <a:gd name="adj" fmla="val 50000"/>
            </a:avLst>
          </a:prstGeom>
          <a:solidFill>
            <a:srgbClr val="FDF3E3"/>
          </a:solidFill>
          <a:ln>
            <a:noFill/>
          </a:ln>
          <a:effectLst/>
        </p:spPr>
        <p:txBody>
          <a:bodyPr rtlCol="0" anchor="ctr"/>
          <a:lstStyle/>
          <a:p>
            <a:pPr algn="ctr"/>
          </a:p>
        </p:txBody>
      </p:sp>
      <p:sp>
        <p:nvSpPr>
          <p:cNvPr id="27" name="TextBox 26"/>
          <p:cNvSpPr txBox="1"/>
          <p:nvPr/>
        </p:nvSpPr>
        <p:spPr>
          <a:xfrm>
            <a:off x="10168128" y="5093208"/>
            <a:ext cx="1316736" cy="292608"/>
          </a:xfrm>
          <a:prstGeom prst="rect">
            <a:avLst/>
          </a:prstGeom>
          <a:noFill/>
        </p:spPr>
        <p:txBody>
          <a:bodyPr wrap="square" lIns="0" rIns="0" tIns="0" bIns="0" anchor="ctr">
            <a:spAutoFit/>
          </a:bodyPr>
          <a:lstStyle/>
          <a:p>
            <a:pPr algn="ctr">
              <a:lnSpc>
                <a:spcPct val="100000"/>
              </a:lnSpc>
            </a:pPr>
            <a:r>
              <a:rPr sz="700" b="1" i="0">
                <a:solidFill>
                  <a:srgbClr val="E58900"/>
                </a:solidFill>
                <a:latin typeface="Montserrat"/>
              </a:rPr>
              <a:t>ANNUAL · OPEN DATA</a:t>
            </a:r>
          </a:p>
        </p:txBody>
      </p:sp>
      <p:sp>
        <p:nvSpPr>
          <p:cNvPr id="28" name="TextBox 27"/>
          <p:cNvSpPr txBox="1"/>
          <p:nvPr/>
        </p:nvSpPr>
        <p:spPr>
          <a:xfrm>
            <a:off x="6291072" y="5522976"/>
            <a:ext cx="3246120" cy="658368"/>
          </a:xfrm>
          <a:prstGeom prst="rect">
            <a:avLst/>
          </a:prstGeom>
          <a:noFill/>
        </p:spPr>
        <p:txBody>
          <a:bodyPr wrap="square" lIns="0" rIns="0" tIns="0" bIns="0" anchor="t">
            <a:spAutoFit/>
          </a:bodyPr>
          <a:lstStyle/>
          <a:p>
            <a:pPr algn="l">
              <a:lnSpc>
                <a:spcPct val="116000"/>
              </a:lnSpc>
            </a:pPr>
            <a:r>
              <a:rPr sz="800" b="0" i="0">
                <a:solidFill>
                  <a:srgbClr val="6E7180"/>
                </a:solidFill>
                <a:latin typeface="Geist"/>
              </a:rPr>
              <a:t>MoRTH's annual 'Road Accidents in India' books as a usable product: report cards for 36 states and 50 cities, every number reconciled against the printed books, open licence (CC-BY).</a:t>
            </a:r>
          </a:p>
        </p:txBody>
      </p:sp>
      <p:pic>
        <p:nvPicPr>
          <p:cNvPr id="29" name="Picture 28" descr="strip_crash.png"/>
          <p:cNvPicPr>
            <a:picLocks noChangeAspect="1"/>
          </p:cNvPicPr>
          <p:nvPr/>
        </p:nvPicPr>
        <p:blipFill>
          <a:blip r:embed="rId7"/>
          <a:stretch>
            <a:fillRect/>
          </a:stretch>
        </p:blipFill>
        <p:spPr>
          <a:xfrm>
            <a:off x="9637776" y="5522976"/>
            <a:ext cx="1847088" cy="362006"/>
          </a:xfrm>
          <a:prstGeom prst="rect">
            <a:avLst/>
          </a:prstGeom>
        </p:spPr>
      </p:pic>
      <p:cxnSp>
        <p:nvCxnSpPr>
          <p:cNvPr id="30" name="Connector 29"/>
          <p:cNvCxnSpPr/>
          <p:nvPr/>
        </p:nvCxnSpPr>
        <p:spPr>
          <a:xfrm>
            <a:off x="566928" y="6455664"/>
            <a:ext cx="11057839" cy="0"/>
          </a:xfrm>
          <a:prstGeom prst="line">
            <a:avLst/>
          </a:prstGeom>
          <a:ln w="9525">
            <a:solidFill>
              <a:srgbClr val="E8E9EE"/>
            </a:solidFill>
          </a:ln>
          <a:effectLst/>
        </p:spPr>
      </p:cxnSp>
      <p:sp>
        <p:nvSpPr>
          <p:cNvPr id="31" name="TextBox 30"/>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32" name="TextBox 31"/>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09 / 28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2 OF 5  ·  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VICTIM SUPPORT</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Help a family can actually use, </a:t>
            </a:r>
            <a:r>
              <a:rPr sz="2250" b="1" i="0">
                <a:solidFill>
                  <a:srgbClr val="4A35FF"/>
                </a:solidFill>
                <a:latin typeface="Montserrat"/>
              </a:rPr>
              <a:t>in their language</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From the first hours after a crash to the final compensation order, on WhatsApp, on paper, and in person.</a:t>
            </a:r>
          </a:p>
        </p:txBody>
      </p:sp>
      <p:pic>
        <p:nvPicPr>
          <p:cNvPr id="8" name="Picture 7" descr="ui_aasha_chat.png"/>
          <p:cNvPicPr>
            <a:picLocks noChangeAspect="1"/>
          </p:cNvPicPr>
          <p:nvPr/>
        </p:nvPicPr>
        <p:blipFill>
          <a:blip r:embed="rId2"/>
          <a:stretch>
            <a:fillRect/>
          </a:stretch>
        </p:blipFill>
        <p:spPr>
          <a:xfrm>
            <a:off x="566928" y="1920240"/>
            <a:ext cx="3850544" cy="2834640"/>
          </a:xfrm>
          <a:prstGeom prst="rect">
            <a:avLst/>
          </a:prstGeom>
        </p:spPr>
      </p:pic>
      <p:sp>
        <p:nvSpPr>
          <p:cNvPr id="9" name="Rectangle 8"/>
          <p:cNvSpPr/>
          <p:nvPr/>
        </p:nvSpPr>
        <p:spPr>
          <a:xfrm>
            <a:off x="566928" y="1920240"/>
            <a:ext cx="3850544" cy="2834640"/>
          </a:xfrm>
          <a:prstGeom prst="rect">
            <a:avLst/>
          </a:prstGeom>
          <a:noFill/>
          <a:ln w="12700">
            <a:solidFill>
              <a:srgbClr val="E8E9EE"/>
            </a:solidFill>
          </a:ln>
          <a:effectLst/>
        </p:spPr>
        <p:txBody>
          <a:bodyPr rtlCol="0" anchor="ctr"/>
          <a:lstStyle/>
          <a:p>
            <a:pPr algn="ctr"/>
          </a:p>
        </p:txBody>
      </p:sp>
      <p:sp>
        <p:nvSpPr>
          <p:cNvPr id="10" name="TextBox 9"/>
          <p:cNvSpPr txBox="1"/>
          <p:nvPr/>
        </p:nvSpPr>
        <p:spPr>
          <a:xfrm>
            <a:off x="566928" y="4800600"/>
            <a:ext cx="3850544" cy="274320"/>
          </a:xfrm>
          <a:prstGeom prst="rect">
            <a:avLst/>
          </a:prstGeom>
          <a:noFill/>
        </p:spPr>
        <p:txBody>
          <a:bodyPr wrap="square" lIns="0" rIns="0" tIns="0" bIns="0" anchor="t">
            <a:spAutoFit/>
          </a:bodyPr>
          <a:lstStyle/>
          <a:p>
            <a:pPr algn="l">
              <a:lnSpc>
                <a:spcPct val="112000"/>
              </a:lnSpc>
            </a:pPr>
            <a:r>
              <a:rPr sz="850" b="0" i="0">
                <a:solidFill>
                  <a:srgbClr val="6E7180"/>
                </a:solidFill>
                <a:latin typeface="Geist"/>
              </a:rPr>
              <a:t>Aasha, live on WhatsApp, 24/7, multilingual, step-by-step guidance on rights, schemes and documents.</a:t>
            </a:r>
          </a:p>
        </p:txBody>
      </p:sp>
      <p:sp>
        <p:nvSpPr>
          <p:cNvPr id="11" name="Oval 10"/>
          <p:cNvSpPr/>
          <p:nvPr/>
        </p:nvSpPr>
        <p:spPr>
          <a:xfrm>
            <a:off x="566928" y="5166360"/>
            <a:ext cx="365760" cy="365760"/>
          </a:xfrm>
          <a:prstGeom prst="ellipse">
            <a:avLst/>
          </a:prstGeom>
          <a:solidFill>
            <a:srgbClr val="EFEDFF"/>
          </a:solidFill>
          <a:ln>
            <a:noFill/>
          </a:ln>
          <a:effectLst/>
        </p:spPr>
        <p:txBody>
          <a:bodyPr rtlCol="0" anchor="ctr"/>
          <a:lstStyle/>
          <a:p>
            <a:pPr algn="ctr"/>
          </a:p>
        </p:txBody>
      </p:sp>
      <p:pic>
        <p:nvPicPr>
          <p:cNvPr id="12" name="Picture 11" descr="bot_4A35FF_256_2.0.png"/>
          <p:cNvPicPr>
            <a:picLocks noChangeAspect="1"/>
          </p:cNvPicPr>
          <p:nvPr/>
        </p:nvPicPr>
        <p:blipFill>
          <a:blip r:embed="rId3"/>
          <a:stretch>
            <a:fillRect/>
          </a:stretch>
        </p:blipFill>
        <p:spPr>
          <a:xfrm>
            <a:off x="654710" y="5254142"/>
            <a:ext cx="190195" cy="190195"/>
          </a:xfrm>
          <a:prstGeom prst="rect">
            <a:avLst/>
          </a:prstGeom>
        </p:spPr>
      </p:pic>
      <p:sp>
        <p:nvSpPr>
          <p:cNvPr id="13" name="TextBox 12"/>
          <p:cNvSpPr txBox="1"/>
          <p:nvPr/>
        </p:nvSpPr>
        <p:spPr>
          <a:xfrm>
            <a:off x="1042416" y="5184648"/>
            <a:ext cx="5029200" cy="457200"/>
          </a:xfrm>
          <a:prstGeom prst="rect">
            <a:avLst/>
          </a:prstGeom>
          <a:noFill/>
        </p:spPr>
        <p:txBody>
          <a:bodyPr wrap="square" lIns="0" rIns="0" tIns="0" bIns="0" anchor="t">
            <a:spAutoFit/>
          </a:bodyPr>
          <a:lstStyle/>
          <a:p>
            <a:pPr algn="l">
              <a:lnSpc>
                <a:spcPct val="110000"/>
              </a:lnSpc>
            </a:pPr>
            <a:r>
              <a:rPr sz="950" b="1" i="0">
                <a:solidFill>
                  <a:srgbClr val="16181D"/>
                </a:solidFill>
                <a:latin typeface="Geist"/>
              </a:rPr>
              <a:t>Aasha chatbot, </a:t>
            </a:r>
            <a:r>
              <a:rPr sz="850" b="0" i="0">
                <a:solidFill>
                  <a:srgbClr val="6E7180"/>
                </a:solidFill>
                <a:latin typeface="Geist"/>
              </a:rPr>
              <a:t>India's first AI legal companion for crash victims, no app, no portal, just WhatsApp and voice.</a:t>
            </a:r>
          </a:p>
        </p:txBody>
      </p:sp>
      <p:sp>
        <p:nvSpPr>
          <p:cNvPr id="14" name="Oval 13"/>
          <p:cNvSpPr/>
          <p:nvPr/>
        </p:nvSpPr>
        <p:spPr>
          <a:xfrm>
            <a:off x="6190488" y="5166360"/>
            <a:ext cx="365760" cy="365760"/>
          </a:xfrm>
          <a:prstGeom prst="ellipse">
            <a:avLst/>
          </a:prstGeom>
          <a:solidFill>
            <a:srgbClr val="E7F4F4"/>
          </a:solidFill>
          <a:ln>
            <a:noFill/>
          </a:ln>
          <a:effectLst/>
        </p:spPr>
        <p:txBody>
          <a:bodyPr rtlCol="0" anchor="ctr"/>
          <a:lstStyle/>
          <a:p>
            <a:pPr algn="ctr"/>
          </a:p>
        </p:txBody>
      </p:sp>
      <p:pic>
        <p:nvPicPr>
          <p:cNvPr id="15" name="Picture 14" descr="calculator_0E8A8A_256_2.0.png"/>
          <p:cNvPicPr>
            <a:picLocks noChangeAspect="1"/>
          </p:cNvPicPr>
          <p:nvPr/>
        </p:nvPicPr>
        <p:blipFill>
          <a:blip r:embed="rId4"/>
          <a:stretch>
            <a:fillRect/>
          </a:stretch>
        </p:blipFill>
        <p:spPr>
          <a:xfrm>
            <a:off x="6278270" y="5254142"/>
            <a:ext cx="190195" cy="190195"/>
          </a:xfrm>
          <a:prstGeom prst="rect">
            <a:avLst/>
          </a:prstGeom>
        </p:spPr>
      </p:pic>
      <p:sp>
        <p:nvSpPr>
          <p:cNvPr id="16" name="TextBox 15"/>
          <p:cNvSpPr txBox="1"/>
          <p:nvPr/>
        </p:nvSpPr>
        <p:spPr>
          <a:xfrm>
            <a:off x="6665976" y="5184648"/>
            <a:ext cx="5029200" cy="457200"/>
          </a:xfrm>
          <a:prstGeom prst="rect">
            <a:avLst/>
          </a:prstGeom>
          <a:noFill/>
        </p:spPr>
        <p:txBody>
          <a:bodyPr wrap="square" lIns="0" rIns="0" tIns="0" bIns="0" anchor="t">
            <a:spAutoFit/>
          </a:bodyPr>
          <a:lstStyle/>
          <a:p>
            <a:pPr algn="l">
              <a:lnSpc>
                <a:spcPct val="110000"/>
              </a:lnSpc>
            </a:pPr>
            <a:r>
              <a:rPr sz="950" b="1" i="0">
                <a:solidFill>
                  <a:srgbClr val="16181D"/>
                </a:solidFill>
                <a:latin typeface="Geist"/>
              </a:rPr>
              <a:t>Compensation Calculator, </a:t>
            </a:r>
            <a:r>
              <a:rPr sz="850" b="0" i="0">
                <a:solidFill>
                  <a:srgbClr val="6E7180"/>
                </a:solidFill>
                <a:latin typeface="Geist"/>
              </a:rPr>
              <a:t>Free instant estimates on Supreme Court principles (Sarla Verma, Pranay Sethi).</a:t>
            </a:r>
          </a:p>
        </p:txBody>
      </p:sp>
      <p:sp>
        <p:nvSpPr>
          <p:cNvPr id="17" name="Oval 16"/>
          <p:cNvSpPr/>
          <p:nvPr/>
        </p:nvSpPr>
        <p:spPr>
          <a:xfrm>
            <a:off x="566928" y="5733288"/>
            <a:ext cx="365760" cy="365760"/>
          </a:xfrm>
          <a:prstGeom prst="ellipse">
            <a:avLst/>
          </a:prstGeom>
          <a:solidFill>
            <a:srgbClr val="E9F7F0"/>
          </a:solidFill>
          <a:ln>
            <a:noFill/>
          </a:ln>
          <a:effectLst/>
        </p:spPr>
        <p:txBody>
          <a:bodyPr rtlCol="0" anchor="ctr"/>
          <a:lstStyle/>
          <a:p>
            <a:pPr algn="ctr"/>
          </a:p>
        </p:txBody>
      </p:sp>
      <p:pic>
        <p:nvPicPr>
          <p:cNvPr id="18" name="Picture 17" descr="life-buoy_0A9955_256_2.0.png"/>
          <p:cNvPicPr>
            <a:picLocks noChangeAspect="1"/>
          </p:cNvPicPr>
          <p:nvPr/>
        </p:nvPicPr>
        <p:blipFill>
          <a:blip r:embed="rId5"/>
          <a:stretch>
            <a:fillRect/>
          </a:stretch>
        </p:blipFill>
        <p:spPr>
          <a:xfrm>
            <a:off x="654710" y="5821070"/>
            <a:ext cx="190195" cy="190195"/>
          </a:xfrm>
          <a:prstGeom prst="rect">
            <a:avLst/>
          </a:prstGeom>
        </p:spPr>
      </p:pic>
      <p:sp>
        <p:nvSpPr>
          <p:cNvPr id="19" name="TextBox 18"/>
          <p:cNvSpPr txBox="1"/>
          <p:nvPr/>
        </p:nvSpPr>
        <p:spPr>
          <a:xfrm>
            <a:off x="1042416" y="5751576"/>
            <a:ext cx="5029200" cy="457200"/>
          </a:xfrm>
          <a:prstGeom prst="rect">
            <a:avLst/>
          </a:prstGeom>
          <a:noFill/>
        </p:spPr>
        <p:txBody>
          <a:bodyPr wrap="square" lIns="0" rIns="0" tIns="0" bIns="0" anchor="t">
            <a:spAutoFit/>
          </a:bodyPr>
          <a:lstStyle/>
          <a:p>
            <a:pPr algn="l">
              <a:lnSpc>
                <a:spcPct val="110000"/>
              </a:lnSpc>
            </a:pPr>
            <a:r>
              <a:rPr sz="950" b="1" i="0">
                <a:solidFill>
                  <a:srgbClr val="16181D"/>
                </a:solidFill>
                <a:latin typeface="Geist"/>
              </a:rPr>
              <a:t>Hospital helpdesks, </a:t>
            </a:r>
            <a:r>
              <a:rPr sz="850" b="0" i="0">
                <a:solidFill>
                  <a:srgbClr val="6E7180"/>
                </a:solidFill>
                <a:latin typeface="Geist"/>
              </a:rPr>
              <a:t>Legal desks in trauma wards, 100+ victims supported in the first four days.</a:t>
            </a:r>
          </a:p>
        </p:txBody>
      </p:sp>
      <p:sp>
        <p:nvSpPr>
          <p:cNvPr id="20" name="Oval 19"/>
          <p:cNvSpPr/>
          <p:nvPr/>
        </p:nvSpPr>
        <p:spPr>
          <a:xfrm>
            <a:off x="6190488" y="5733288"/>
            <a:ext cx="365760" cy="365760"/>
          </a:xfrm>
          <a:prstGeom prst="ellipse">
            <a:avLst/>
          </a:prstGeom>
          <a:solidFill>
            <a:srgbClr val="FDF3E3"/>
          </a:solidFill>
          <a:ln>
            <a:noFill/>
          </a:ln>
          <a:effectLst/>
        </p:spPr>
        <p:txBody>
          <a:bodyPr rtlCol="0" anchor="ctr"/>
          <a:lstStyle/>
          <a:p>
            <a:pPr algn="ctr"/>
          </a:p>
        </p:txBody>
      </p:sp>
      <p:pic>
        <p:nvPicPr>
          <p:cNvPr id="21" name="Picture 20" descr="book-open_E58900_256_2.0.png"/>
          <p:cNvPicPr>
            <a:picLocks noChangeAspect="1"/>
          </p:cNvPicPr>
          <p:nvPr/>
        </p:nvPicPr>
        <p:blipFill>
          <a:blip r:embed="rId6"/>
          <a:stretch>
            <a:fillRect/>
          </a:stretch>
        </p:blipFill>
        <p:spPr>
          <a:xfrm>
            <a:off x="6278270" y="5821070"/>
            <a:ext cx="190195" cy="190195"/>
          </a:xfrm>
          <a:prstGeom prst="rect">
            <a:avLst/>
          </a:prstGeom>
        </p:spPr>
      </p:pic>
      <p:sp>
        <p:nvSpPr>
          <p:cNvPr id="22" name="TextBox 21"/>
          <p:cNvSpPr txBox="1"/>
          <p:nvPr/>
        </p:nvSpPr>
        <p:spPr>
          <a:xfrm>
            <a:off x="6665976" y="5751576"/>
            <a:ext cx="5029200" cy="457200"/>
          </a:xfrm>
          <a:prstGeom prst="rect">
            <a:avLst/>
          </a:prstGeom>
          <a:noFill/>
        </p:spPr>
        <p:txBody>
          <a:bodyPr wrap="square" lIns="0" rIns="0" tIns="0" bIns="0" anchor="t">
            <a:spAutoFit/>
          </a:bodyPr>
          <a:lstStyle/>
          <a:p>
            <a:pPr algn="l">
              <a:lnSpc>
                <a:spcPct val="110000"/>
              </a:lnSpc>
            </a:pPr>
            <a:r>
              <a:rPr sz="950" b="1" i="0">
                <a:solidFill>
                  <a:srgbClr val="16181D"/>
                </a:solidFill>
                <a:latin typeface="Geist"/>
              </a:rPr>
              <a:t>Plain-language education, </a:t>
            </a:r>
            <a:r>
              <a:rPr sz="850" b="0" i="0">
                <a:solidFill>
                  <a:srgbClr val="6E7180"/>
                </a:solidFill>
                <a:latin typeface="Geist"/>
              </a:rPr>
              <a:t>Comics and Hindi guides on all three compensation routes, NALSA 15100 and the Cashless Treatment Scheme 2025.</a:t>
            </a:r>
          </a:p>
        </p:txBody>
      </p:sp>
      <p:pic>
        <p:nvPicPr>
          <p:cNvPr id="23" name="Picture 22" descr="ui_mact_calc.png"/>
          <p:cNvPicPr>
            <a:picLocks noChangeAspect="1"/>
          </p:cNvPicPr>
          <p:nvPr/>
        </p:nvPicPr>
        <p:blipFill>
          <a:blip r:embed="rId7"/>
          <a:stretch>
            <a:fillRect/>
          </a:stretch>
        </p:blipFill>
        <p:spPr>
          <a:xfrm>
            <a:off x="4572000" y="1920240"/>
            <a:ext cx="2871645" cy="2834640"/>
          </a:xfrm>
          <a:prstGeom prst="rect">
            <a:avLst/>
          </a:prstGeom>
        </p:spPr>
      </p:pic>
      <p:sp>
        <p:nvSpPr>
          <p:cNvPr id="24" name="Rectangle 23"/>
          <p:cNvSpPr/>
          <p:nvPr/>
        </p:nvSpPr>
        <p:spPr>
          <a:xfrm>
            <a:off x="4572000" y="1920240"/>
            <a:ext cx="2871645" cy="2834640"/>
          </a:xfrm>
          <a:prstGeom prst="rect">
            <a:avLst/>
          </a:prstGeom>
          <a:noFill/>
          <a:ln w="12700">
            <a:solidFill>
              <a:srgbClr val="E8E9EE"/>
            </a:solidFill>
          </a:ln>
          <a:effectLst/>
        </p:spPr>
        <p:txBody>
          <a:bodyPr rtlCol="0" anchor="ctr"/>
          <a:lstStyle/>
          <a:p>
            <a:pPr algn="ctr"/>
          </a:p>
        </p:txBody>
      </p:sp>
      <p:sp>
        <p:nvSpPr>
          <p:cNvPr id="25" name="TextBox 24"/>
          <p:cNvSpPr txBox="1"/>
          <p:nvPr/>
        </p:nvSpPr>
        <p:spPr>
          <a:xfrm>
            <a:off x="4572000" y="4800600"/>
            <a:ext cx="2871645" cy="274320"/>
          </a:xfrm>
          <a:prstGeom prst="rect">
            <a:avLst/>
          </a:prstGeom>
          <a:noFill/>
        </p:spPr>
        <p:txBody>
          <a:bodyPr wrap="square" lIns="0" rIns="0" tIns="0" bIns="0" anchor="t">
            <a:spAutoFit/>
          </a:bodyPr>
          <a:lstStyle/>
          <a:p>
            <a:pPr algn="l">
              <a:lnSpc>
                <a:spcPct val="112000"/>
              </a:lnSpc>
            </a:pPr>
            <a:r>
              <a:rPr sz="850" b="0" i="0">
                <a:solidFill>
                  <a:srgbClr val="6E7180"/>
                </a:solidFill>
                <a:latin typeface="Geist"/>
              </a:rPr>
              <a:t>The Calculator, a sample estimate</a:t>
            </a:r>
          </a:p>
          <a:p>
            <a:pPr algn="l">
              <a:lnSpc>
                <a:spcPct val="112000"/>
              </a:lnSpc>
            </a:pPr>
            <a:r>
              <a:rPr sz="850" b="0" i="0">
                <a:solidFill>
                  <a:srgbClr val="6E7180"/>
                </a:solidFill>
                <a:latin typeface="Geist"/>
              </a:rPr>
              <a:t>computed on SC principles.</a:t>
            </a:r>
          </a:p>
        </p:txBody>
      </p:sp>
      <p:pic>
        <p:nvPicPr>
          <p:cNvPr id="26" name="Picture 25" descr="comic_aasha_page.png"/>
          <p:cNvPicPr>
            <a:picLocks noChangeAspect="1"/>
          </p:cNvPicPr>
          <p:nvPr/>
        </p:nvPicPr>
        <p:blipFill>
          <a:blip r:embed="rId8"/>
          <a:stretch>
            <a:fillRect/>
          </a:stretch>
        </p:blipFill>
        <p:spPr>
          <a:xfrm>
            <a:off x="8183879" y="1920240"/>
            <a:ext cx="2142375" cy="2834640"/>
          </a:xfrm>
          <a:prstGeom prst="rect">
            <a:avLst/>
          </a:prstGeom>
        </p:spPr>
      </p:pic>
      <p:sp>
        <p:nvSpPr>
          <p:cNvPr id="27" name="Rectangle 26"/>
          <p:cNvSpPr/>
          <p:nvPr/>
        </p:nvSpPr>
        <p:spPr>
          <a:xfrm>
            <a:off x="8183879" y="1920240"/>
            <a:ext cx="2142375" cy="2834640"/>
          </a:xfrm>
          <a:prstGeom prst="rect">
            <a:avLst/>
          </a:prstGeom>
          <a:noFill/>
          <a:ln w="12700">
            <a:solidFill>
              <a:srgbClr val="E8E9EE"/>
            </a:solidFill>
          </a:ln>
          <a:effectLst/>
        </p:spPr>
        <p:txBody>
          <a:bodyPr rtlCol="0" anchor="ctr"/>
          <a:lstStyle/>
          <a:p>
            <a:pPr algn="ctr"/>
          </a:p>
        </p:txBody>
      </p:sp>
      <p:sp>
        <p:nvSpPr>
          <p:cNvPr id="28" name="TextBox 27"/>
          <p:cNvSpPr txBox="1"/>
          <p:nvPr/>
        </p:nvSpPr>
        <p:spPr>
          <a:xfrm>
            <a:off x="8183879" y="4800600"/>
            <a:ext cx="2142375" cy="274320"/>
          </a:xfrm>
          <a:prstGeom prst="rect">
            <a:avLst/>
          </a:prstGeom>
          <a:noFill/>
        </p:spPr>
        <p:txBody>
          <a:bodyPr wrap="square" lIns="0" rIns="0" tIns="0" bIns="0" anchor="t">
            <a:spAutoFit/>
          </a:bodyPr>
          <a:lstStyle/>
          <a:p>
            <a:pPr algn="l">
              <a:lnSpc>
                <a:spcPct val="112000"/>
              </a:lnSpc>
            </a:pPr>
            <a:r>
              <a:rPr sz="850" b="0" i="0">
                <a:solidFill>
                  <a:srgbClr val="6E7180"/>
                </a:solidFill>
                <a:latin typeface="Geist"/>
              </a:rPr>
              <a:t>'Meet Aasha' comic, legal education</a:t>
            </a:r>
          </a:p>
          <a:p>
            <a:pPr algn="l">
              <a:lnSpc>
                <a:spcPct val="112000"/>
              </a:lnSpc>
            </a:pPr>
            <a:r>
              <a:rPr sz="850" b="0" i="0">
                <a:solidFill>
                  <a:srgbClr val="6E7180"/>
                </a:solidFill>
                <a:latin typeface="Geist"/>
              </a:rPr>
              <a:t>families actually read.</a:t>
            </a:r>
          </a:p>
        </p:txBody>
      </p:sp>
      <p:pic>
        <p:nvPicPr>
          <p:cNvPr id="29" name="Picture 28" descr="opt_guide_p1_1500.jpg"/>
          <p:cNvPicPr>
            <a:picLocks noChangeAspect="1"/>
          </p:cNvPicPr>
          <p:nvPr/>
        </p:nvPicPr>
        <p:blipFill>
          <a:blip r:embed="rId9"/>
          <a:stretch>
            <a:fillRect/>
          </a:stretch>
        </p:blipFill>
        <p:spPr>
          <a:xfrm>
            <a:off x="10195560" y="1920240"/>
            <a:ext cx="1417320" cy="1941731"/>
          </a:xfrm>
          <a:prstGeom prst="rect">
            <a:avLst/>
          </a:prstGeom>
        </p:spPr>
      </p:pic>
      <p:sp>
        <p:nvSpPr>
          <p:cNvPr id="30" name="Rectangle 29"/>
          <p:cNvSpPr/>
          <p:nvPr/>
        </p:nvSpPr>
        <p:spPr>
          <a:xfrm>
            <a:off x="10195560" y="1920240"/>
            <a:ext cx="1417320" cy="1941731"/>
          </a:xfrm>
          <a:prstGeom prst="rect">
            <a:avLst/>
          </a:prstGeom>
          <a:noFill/>
          <a:ln w="12700">
            <a:solidFill>
              <a:srgbClr val="E8E9EE"/>
            </a:solidFill>
          </a:ln>
          <a:effectLst/>
        </p:spPr>
        <p:txBody>
          <a:bodyPr rtlCol="0" anchor="ctr"/>
          <a:lstStyle/>
          <a:p>
            <a:pPr algn="ctr"/>
          </a:p>
        </p:txBody>
      </p:sp>
      <p:sp>
        <p:nvSpPr>
          <p:cNvPr id="31" name="TextBox 30"/>
          <p:cNvSpPr txBox="1"/>
          <p:nvPr/>
        </p:nvSpPr>
        <p:spPr>
          <a:xfrm>
            <a:off x="10195560" y="3907691"/>
            <a:ext cx="2011680" cy="274320"/>
          </a:xfrm>
          <a:prstGeom prst="rect">
            <a:avLst/>
          </a:prstGeom>
          <a:noFill/>
        </p:spPr>
        <p:txBody>
          <a:bodyPr wrap="square" lIns="0" rIns="0" tIns="0" bIns="0" anchor="t">
            <a:spAutoFit/>
          </a:bodyPr>
          <a:lstStyle/>
          <a:p>
            <a:pPr algn="l">
              <a:lnSpc>
                <a:spcPct val="112000"/>
              </a:lnSpc>
            </a:pPr>
            <a:r>
              <a:rPr sz="850" b="0" i="0">
                <a:solidFill>
                  <a:srgbClr val="6E7180"/>
                </a:solidFill>
                <a:latin typeface="Geist"/>
              </a:rPr>
              <a:t>Hindi legal-rights</a:t>
            </a:r>
          </a:p>
          <a:p>
            <a:pPr algn="l">
              <a:lnSpc>
                <a:spcPct val="112000"/>
              </a:lnSpc>
            </a:pPr>
            <a:r>
              <a:rPr sz="850" b="0" i="0">
                <a:solidFill>
                  <a:srgbClr val="6E7180"/>
                </a:solidFill>
                <a:latin typeface="Geist"/>
              </a:rPr>
              <a:t>guide.</a:t>
            </a:r>
          </a:p>
        </p:txBody>
      </p:sp>
      <p:cxnSp>
        <p:nvCxnSpPr>
          <p:cNvPr id="32" name="Connector 31"/>
          <p:cNvCxnSpPr/>
          <p:nvPr/>
        </p:nvCxnSpPr>
        <p:spPr>
          <a:xfrm>
            <a:off x="566928" y="6455664"/>
            <a:ext cx="11057839" cy="0"/>
          </a:xfrm>
          <a:prstGeom prst="line">
            <a:avLst/>
          </a:prstGeom>
          <a:ln w="9525">
            <a:solidFill>
              <a:srgbClr val="E8E9EE"/>
            </a:solidFill>
          </a:ln>
          <a:effectLst/>
        </p:spPr>
      </p:cxnSp>
      <p:sp>
        <p:nvSpPr>
          <p:cNvPr id="33" name="TextBox 32"/>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34" name="TextBox 33"/>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10 / 28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2 OF 5  ·  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YOUTH &amp; POLICY</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Young talent and senior experts, </a:t>
            </a:r>
            <a:r>
              <a:rPr sz="2250" b="1" i="0">
                <a:solidFill>
                  <a:srgbClr val="4A35FF"/>
                </a:solidFill>
                <a:latin typeface="Montserrat"/>
              </a:rPr>
              <a:t>working the same problem</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A steady pipeline of engineers and policy minds, so road safety work never runs out of hands.</a:t>
            </a:r>
          </a:p>
        </p:txBody>
      </p:sp>
      <p:pic>
        <p:nvPicPr>
          <p:cNvPr id="8" name="Picture 7" descr="ph_ideathon_winners.jpg_4.05x2.50_0.20.jpg"/>
          <p:cNvPicPr>
            <a:picLocks noChangeAspect="1"/>
          </p:cNvPicPr>
          <p:nvPr/>
        </p:nvPicPr>
        <p:blipFill>
          <a:blip r:embed="rId2"/>
          <a:stretch>
            <a:fillRect/>
          </a:stretch>
        </p:blipFill>
        <p:spPr>
          <a:xfrm>
            <a:off x="566928" y="1938528"/>
            <a:ext cx="3703320" cy="2286000"/>
          </a:xfrm>
          <a:prstGeom prst="rect">
            <a:avLst/>
          </a:prstGeom>
        </p:spPr>
      </p:pic>
      <p:sp>
        <p:nvSpPr>
          <p:cNvPr id="9" name="Rectangle 8"/>
          <p:cNvSpPr/>
          <p:nvPr/>
        </p:nvSpPr>
        <p:spPr>
          <a:xfrm>
            <a:off x="566928" y="1938528"/>
            <a:ext cx="3703320" cy="2286000"/>
          </a:xfrm>
          <a:prstGeom prst="rect">
            <a:avLst/>
          </a:prstGeom>
          <a:noFill/>
          <a:ln w="12700">
            <a:solidFill>
              <a:srgbClr val="E8E9EE"/>
            </a:solidFill>
          </a:ln>
          <a:effectLst/>
        </p:spPr>
        <p:txBody>
          <a:bodyPr rtlCol="0" anchor="ctr"/>
          <a:lstStyle/>
          <a:p>
            <a:pPr algn="ctr"/>
          </a:p>
        </p:txBody>
      </p:sp>
      <p:sp>
        <p:nvSpPr>
          <p:cNvPr id="10" name="TextBox 9"/>
          <p:cNvSpPr txBox="1"/>
          <p:nvPr/>
        </p:nvSpPr>
        <p:spPr>
          <a:xfrm>
            <a:off x="566928" y="4270248"/>
            <a:ext cx="370332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NextMile: Road Safety Policy Ideathon, grand finale, 28 Sep 2025, New Delhi.</a:t>
            </a:r>
          </a:p>
        </p:txBody>
      </p:sp>
      <p:sp>
        <p:nvSpPr>
          <p:cNvPr id="11" name="TextBox 10"/>
          <p:cNvSpPr txBox="1"/>
          <p:nvPr/>
        </p:nvSpPr>
        <p:spPr>
          <a:xfrm>
            <a:off x="566928" y="4846320"/>
            <a:ext cx="914400" cy="502920"/>
          </a:xfrm>
          <a:prstGeom prst="rect">
            <a:avLst/>
          </a:prstGeom>
          <a:noFill/>
        </p:spPr>
        <p:txBody>
          <a:bodyPr wrap="square" lIns="0" rIns="0" tIns="0" bIns="0" anchor="t">
            <a:spAutoFit/>
          </a:bodyPr>
          <a:lstStyle/>
          <a:p>
            <a:pPr algn="l">
              <a:lnSpc>
                <a:spcPct val="100000"/>
              </a:lnSpc>
            </a:pPr>
            <a:r>
              <a:rPr sz="1400" b="1" i="0">
                <a:solidFill>
                  <a:srgbClr val="4A35FF"/>
                </a:solidFill>
                <a:latin typeface="Montserrat"/>
              </a:rPr>
              <a:t>2,000+</a:t>
            </a:r>
          </a:p>
        </p:txBody>
      </p:sp>
      <p:sp>
        <p:nvSpPr>
          <p:cNvPr id="12" name="TextBox 11"/>
          <p:cNvSpPr txBox="1"/>
          <p:nvPr/>
        </p:nvSpPr>
        <p:spPr>
          <a:xfrm>
            <a:off x="566928" y="5303520"/>
            <a:ext cx="914400" cy="411480"/>
          </a:xfrm>
          <a:prstGeom prst="rect">
            <a:avLst/>
          </a:prstGeom>
          <a:noFill/>
        </p:spPr>
        <p:txBody>
          <a:bodyPr wrap="square" lIns="0" rIns="0" tIns="0" bIns="0" anchor="t">
            <a:spAutoFit/>
          </a:bodyPr>
          <a:lstStyle/>
          <a:p>
            <a:pPr algn="l">
              <a:lnSpc>
                <a:spcPct val="112000"/>
              </a:lnSpc>
            </a:pPr>
            <a:r>
              <a:rPr sz="800" b="0" i="0">
                <a:solidFill>
                  <a:srgbClr val="6E7180"/>
                </a:solidFill>
                <a:latin typeface="Geist"/>
              </a:rPr>
              <a:t>participants</a:t>
            </a:r>
          </a:p>
        </p:txBody>
      </p:sp>
      <p:sp>
        <p:nvSpPr>
          <p:cNvPr id="13" name="TextBox 12"/>
          <p:cNvSpPr txBox="1"/>
          <p:nvPr/>
        </p:nvSpPr>
        <p:spPr>
          <a:xfrm>
            <a:off x="1527048" y="4846320"/>
            <a:ext cx="914400" cy="502920"/>
          </a:xfrm>
          <a:prstGeom prst="rect">
            <a:avLst/>
          </a:prstGeom>
          <a:noFill/>
        </p:spPr>
        <p:txBody>
          <a:bodyPr wrap="square" lIns="0" rIns="0" tIns="0" bIns="0" anchor="t">
            <a:spAutoFit/>
          </a:bodyPr>
          <a:lstStyle/>
          <a:p>
            <a:pPr algn="l">
              <a:lnSpc>
                <a:spcPct val="100000"/>
              </a:lnSpc>
            </a:pPr>
            <a:r>
              <a:rPr sz="1400" b="1" i="0">
                <a:solidFill>
                  <a:srgbClr val="4A35FF"/>
                </a:solidFill>
                <a:latin typeface="Montserrat"/>
              </a:rPr>
              <a:t>250+</a:t>
            </a:r>
          </a:p>
        </p:txBody>
      </p:sp>
      <p:sp>
        <p:nvSpPr>
          <p:cNvPr id="14" name="TextBox 13"/>
          <p:cNvSpPr txBox="1"/>
          <p:nvPr/>
        </p:nvSpPr>
        <p:spPr>
          <a:xfrm>
            <a:off x="1527048" y="5303520"/>
            <a:ext cx="914400" cy="411480"/>
          </a:xfrm>
          <a:prstGeom prst="rect">
            <a:avLst/>
          </a:prstGeom>
          <a:noFill/>
        </p:spPr>
        <p:txBody>
          <a:bodyPr wrap="square" lIns="0" rIns="0" tIns="0" bIns="0" anchor="t">
            <a:spAutoFit/>
          </a:bodyPr>
          <a:lstStyle/>
          <a:p>
            <a:pPr algn="l">
              <a:lnSpc>
                <a:spcPct val="112000"/>
              </a:lnSpc>
            </a:pPr>
            <a:r>
              <a:rPr sz="800" b="0" i="0">
                <a:solidFill>
                  <a:srgbClr val="6E7180"/>
                </a:solidFill>
                <a:latin typeface="Geist"/>
              </a:rPr>
              <a:t>concept notes</a:t>
            </a:r>
          </a:p>
        </p:txBody>
      </p:sp>
      <p:sp>
        <p:nvSpPr>
          <p:cNvPr id="15" name="TextBox 14"/>
          <p:cNvSpPr txBox="1"/>
          <p:nvPr/>
        </p:nvSpPr>
        <p:spPr>
          <a:xfrm>
            <a:off x="2487168" y="4846320"/>
            <a:ext cx="914400" cy="502920"/>
          </a:xfrm>
          <a:prstGeom prst="rect">
            <a:avLst/>
          </a:prstGeom>
          <a:noFill/>
        </p:spPr>
        <p:txBody>
          <a:bodyPr wrap="square" lIns="0" rIns="0" tIns="0" bIns="0" anchor="t">
            <a:spAutoFit/>
          </a:bodyPr>
          <a:lstStyle/>
          <a:p>
            <a:pPr algn="l">
              <a:lnSpc>
                <a:spcPct val="100000"/>
              </a:lnSpc>
            </a:pPr>
            <a:r>
              <a:rPr sz="1400" b="1" i="0">
                <a:solidFill>
                  <a:srgbClr val="4A35FF"/>
                </a:solidFill>
                <a:latin typeface="Montserrat"/>
              </a:rPr>
              <a:t>700+</a:t>
            </a:r>
          </a:p>
        </p:txBody>
      </p:sp>
      <p:sp>
        <p:nvSpPr>
          <p:cNvPr id="16" name="TextBox 15"/>
          <p:cNvSpPr txBox="1"/>
          <p:nvPr/>
        </p:nvSpPr>
        <p:spPr>
          <a:xfrm>
            <a:off x="2487168" y="5303520"/>
            <a:ext cx="914400" cy="411480"/>
          </a:xfrm>
          <a:prstGeom prst="rect">
            <a:avLst/>
          </a:prstGeom>
          <a:noFill/>
        </p:spPr>
        <p:txBody>
          <a:bodyPr wrap="square" lIns="0" rIns="0" tIns="0" bIns="0" anchor="t">
            <a:spAutoFit/>
          </a:bodyPr>
          <a:lstStyle/>
          <a:p>
            <a:pPr algn="l">
              <a:lnSpc>
                <a:spcPct val="112000"/>
              </a:lnSpc>
            </a:pPr>
            <a:r>
              <a:rPr sz="800" b="0" i="0">
                <a:solidFill>
                  <a:srgbClr val="6E7180"/>
                </a:solidFill>
                <a:latin typeface="Geist"/>
              </a:rPr>
              <a:t>teams</a:t>
            </a:r>
          </a:p>
        </p:txBody>
      </p:sp>
      <p:sp>
        <p:nvSpPr>
          <p:cNvPr id="17" name="TextBox 16"/>
          <p:cNvSpPr txBox="1"/>
          <p:nvPr/>
        </p:nvSpPr>
        <p:spPr>
          <a:xfrm>
            <a:off x="3447288" y="4846320"/>
            <a:ext cx="914400" cy="502920"/>
          </a:xfrm>
          <a:prstGeom prst="rect">
            <a:avLst/>
          </a:prstGeom>
          <a:noFill/>
        </p:spPr>
        <p:txBody>
          <a:bodyPr wrap="square" lIns="0" rIns="0" tIns="0" bIns="0" anchor="t">
            <a:spAutoFit/>
          </a:bodyPr>
          <a:lstStyle/>
          <a:p>
            <a:pPr algn="l">
              <a:lnSpc>
                <a:spcPct val="100000"/>
              </a:lnSpc>
            </a:pPr>
            <a:r>
              <a:rPr sz="1400" b="1" i="0">
                <a:solidFill>
                  <a:srgbClr val="4A35FF"/>
                </a:solidFill>
                <a:latin typeface="Montserrat"/>
              </a:rPr>
              <a:t>10</a:t>
            </a:r>
          </a:p>
        </p:txBody>
      </p:sp>
      <p:sp>
        <p:nvSpPr>
          <p:cNvPr id="18" name="TextBox 17"/>
          <p:cNvSpPr txBox="1"/>
          <p:nvPr/>
        </p:nvSpPr>
        <p:spPr>
          <a:xfrm>
            <a:off x="3447288" y="5303520"/>
            <a:ext cx="914400" cy="411480"/>
          </a:xfrm>
          <a:prstGeom prst="rect">
            <a:avLst/>
          </a:prstGeom>
          <a:noFill/>
        </p:spPr>
        <p:txBody>
          <a:bodyPr wrap="square" lIns="0" rIns="0" tIns="0" bIns="0" anchor="t">
            <a:spAutoFit/>
          </a:bodyPr>
          <a:lstStyle/>
          <a:p>
            <a:pPr algn="l">
              <a:lnSpc>
                <a:spcPct val="112000"/>
              </a:lnSpc>
            </a:pPr>
            <a:r>
              <a:rPr sz="800" b="0" i="0">
                <a:solidFill>
                  <a:srgbClr val="6E7180"/>
                </a:solidFill>
                <a:latin typeface="Geist"/>
              </a:rPr>
              <a:t>finalist teams</a:t>
            </a:r>
          </a:p>
        </p:txBody>
      </p:sp>
      <p:pic>
        <p:nvPicPr>
          <p:cNvPr id="19" name="Picture 18" descr="ph_forum_stage2.jpg_3.70x2.50_0.30.jpg"/>
          <p:cNvPicPr>
            <a:picLocks noChangeAspect="1"/>
          </p:cNvPicPr>
          <p:nvPr/>
        </p:nvPicPr>
        <p:blipFill>
          <a:blip r:embed="rId3"/>
          <a:stretch>
            <a:fillRect/>
          </a:stretch>
        </p:blipFill>
        <p:spPr>
          <a:xfrm>
            <a:off x="4434840" y="1938528"/>
            <a:ext cx="3383280" cy="2286000"/>
          </a:xfrm>
          <a:prstGeom prst="rect">
            <a:avLst/>
          </a:prstGeom>
        </p:spPr>
      </p:pic>
      <p:sp>
        <p:nvSpPr>
          <p:cNvPr id="20" name="Rectangle 19"/>
          <p:cNvSpPr/>
          <p:nvPr/>
        </p:nvSpPr>
        <p:spPr>
          <a:xfrm>
            <a:off x="4434840" y="1938528"/>
            <a:ext cx="3383280" cy="2286000"/>
          </a:xfrm>
          <a:prstGeom prst="rect">
            <a:avLst/>
          </a:prstGeom>
          <a:noFill/>
          <a:ln w="12700">
            <a:solidFill>
              <a:srgbClr val="E8E9EE"/>
            </a:solidFill>
          </a:ln>
          <a:effectLst/>
        </p:spPr>
        <p:txBody>
          <a:bodyPr rtlCol="0" anchor="ctr"/>
          <a:lstStyle/>
          <a:p>
            <a:pPr algn="ctr"/>
          </a:p>
        </p:txBody>
      </p:sp>
      <p:sp>
        <p:nvSpPr>
          <p:cNvPr id="21" name="TextBox 20"/>
          <p:cNvSpPr txBox="1"/>
          <p:nvPr/>
        </p:nvSpPr>
        <p:spPr>
          <a:xfrm>
            <a:off x="4434840" y="4270248"/>
            <a:ext cx="338328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National Road Safety Implementation Forum, IIT Delhi: 60+ experts from MoRTH, WHO, UNICEF, iRAP and CSIR-CRRI reviewed the work.</a:t>
            </a:r>
          </a:p>
        </p:txBody>
      </p:sp>
      <p:sp>
        <p:nvSpPr>
          <p:cNvPr id="22" name="TextBox 21"/>
          <p:cNvSpPr txBox="1"/>
          <p:nvPr/>
        </p:nvSpPr>
        <p:spPr>
          <a:xfrm>
            <a:off x="4434840" y="4828032"/>
            <a:ext cx="3383280" cy="731520"/>
          </a:xfrm>
          <a:prstGeom prst="rect">
            <a:avLst/>
          </a:prstGeom>
          <a:noFill/>
        </p:spPr>
        <p:txBody>
          <a:bodyPr wrap="square" lIns="0" rIns="0" tIns="0" bIns="0" anchor="t">
            <a:spAutoFit/>
          </a:bodyPr>
          <a:lstStyle/>
          <a:p>
            <a:pPr algn="l">
              <a:lnSpc>
                <a:spcPct val="125000"/>
              </a:lnSpc>
            </a:pPr>
            <a:r>
              <a:rPr sz="950" b="0" i="0">
                <a:solidFill>
                  <a:srgbClr val="6E7180"/>
                </a:solidFill>
                <a:latin typeface="Geist"/>
              </a:rPr>
              <a:t>Mentors and jury from the Government of Rajasthan, NIUA, OMI, NASSCOM and CSEP judged the student teams; winning tracks now feed our audit and research pipeline.</a:t>
            </a:r>
          </a:p>
        </p:txBody>
      </p:sp>
      <p:sp>
        <p:nvSpPr>
          <p:cNvPr id="23" name="Oval 22"/>
          <p:cNvSpPr/>
          <p:nvPr/>
        </p:nvSpPr>
        <p:spPr>
          <a:xfrm>
            <a:off x="8229600" y="1938528"/>
            <a:ext cx="384048" cy="384048"/>
          </a:xfrm>
          <a:prstGeom prst="ellipse">
            <a:avLst/>
          </a:prstGeom>
          <a:solidFill>
            <a:srgbClr val="EFEDFF"/>
          </a:solidFill>
          <a:ln>
            <a:noFill/>
          </a:ln>
          <a:effectLst/>
        </p:spPr>
        <p:txBody>
          <a:bodyPr rtlCol="0" anchor="ctr"/>
          <a:lstStyle/>
          <a:p>
            <a:pPr algn="ctr"/>
          </a:p>
        </p:txBody>
      </p:sp>
      <p:pic>
        <p:nvPicPr>
          <p:cNvPr id="24" name="Picture 23" descr="mic_4A35FF_256_2.0.png"/>
          <p:cNvPicPr>
            <a:picLocks noChangeAspect="1"/>
          </p:cNvPicPr>
          <p:nvPr/>
        </p:nvPicPr>
        <p:blipFill>
          <a:blip r:embed="rId4"/>
          <a:stretch>
            <a:fillRect/>
          </a:stretch>
        </p:blipFill>
        <p:spPr>
          <a:xfrm>
            <a:off x="8321771" y="2030699"/>
            <a:ext cx="199704" cy="199704"/>
          </a:xfrm>
          <a:prstGeom prst="rect">
            <a:avLst/>
          </a:prstGeom>
        </p:spPr>
      </p:pic>
      <p:sp>
        <p:nvSpPr>
          <p:cNvPr id="25" name="TextBox 24"/>
          <p:cNvSpPr txBox="1"/>
          <p:nvPr/>
        </p:nvSpPr>
        <p:spPr>
          <a:xfrm>
            <a:off x="8759952" y="1911096"/>
            <a:ext cx="2880360" cy="502920"/>
          </a:xfrm>
          <a:prstGeom prst="rect">
            <a:avLst/>
          </a:prstGeom>
          <a:noFill/>
        </p:spPr>
        <p:txBody>
          <a:bodyPr wrap="square" lIns="0" rIns="0" tIns="0" bIns="0" anchor="t">
            <a:spAutoFit/>
          </a:bodyPr>
          <a:lstStyle/>
          <a:p>
            <a:pPr algn="l">
              <a:lnSpc>
                <a:spcPct val="108000"/>
              </a:lnSpc>
            </a:pPr>
            <a:r>
              <a:rPr sz="1050" b="1" i="0">
                <a:solidFill>
                  <a:srgbClr val="16181D"/>
                </a:solidFill>
                <a:latin typeface="Montserrat"/>
              </a:rPr>
              <a:t>National Road Safety Dialogue Series</a:t>
            </a:r>
          </a:p>
        </p:txBody>
      </p:sp>
      <p:sp>
        <p:nvSpPr>
          <p:cNvPr id="26" name="TextBox 25"/>
          <p:cNvSpPr txBox="1"/>
          <p:nvPr/>
        </p:nvSpPr>
        <p:spPr>
          <a:xfrm>
            <a:off x="8759952" y="2267712"/>
            <a:ext cx="2880360" cy="77724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200+ live attendees; speakers from MoRTH, CIRT, AIIMS Trauma Centre, CSIR-CRRI and ARAI.</a:t>
            </a:r>
          </a:p>
        </p:txBody>
      </p:sp>
      <p:sp>
        <p:nvSpPr>
          <p:cNvPr id="27" name="Oval 26"/>
          <p:cNvSpPr/>
          <p:nvPr/>
        </p:nvSpPr>
        <p:spPr>
          <a:xfrm>
            <a:off x="8229600" y="3108960"/>
            <a:ext cx="384048" cy="384048"/>
          </a:xfrm>
          <a:prstGeom prst="ellipse">
            <a:avLst/>
          </a:prstGeom>
          <a:solidFill>
            <a:srgbClr val="E7F4F4"/>
          </a:solidFill>
          <a:ln>
            <a:noFill/>
          </a:ln>
          <a:effectLst/>
        </p:spPr>
        <p:txBody>
          <a:bodyPr rtlCol="0" anchor="ctr"/>
          <a:lstStyle/>
          <a:p>
            <a:pPr algn="ctr"/>
          </a:p>
        </p:txBody>
      </p:sp>
      <p:pic>
        <p:nvPicPr>
          <p:cNvPr id="28" name="Picture 27" descr="message-square_0E8A8A_256_2.0.png"/>
          <p:cNvPicPr>
            <a:picLocks noChangeAspect="1"/>
          </p:cNvPicPr>
          <p:nvPr/>
        </p:nvPicPr>
        <p:blipFill>
          <a:blip r:embed="rId5"/>
          <a:stretch>
            <a:fillRect/>
          </a:stretch>
        </p:blipFill>
        <p:spPr>
          <a:xfrm>
            <a:off x="8321771" y="3201131"/>
            <a:ext cx="199704" cy="199704"/>
          </a:xfrm>
          <a:prstGeom prst="rect">
            <a:avLst/>
          </a:prstGeom>
        </p:spPr>
      </p:pic>
      <p:sp>
        <p:nvSpPr>
          <p:cNvPr id="29" name="TextBox 28"/>
          <p:cNvSpPr txBox="1"/>
          <p:nvPr/>
        </p:nvSpPr>
        <p:spPr>
          <a:xfrm>
            <a:off x="8759952" y="3081528"/>
            <a:ext cx="2880360" cy="502920"/>
          </a:xfrm>
          <a:prstGeom prst="rect">
            <a:avLst/>
          </a:prstGeom>
          <a:noFill/>
        </p:spPr>
        <p:txBody>
          <a:bodyPr wrap="square" lIns="0" rIns="0" tIns="0" bIns="0" anchor="t">
            <a:spAutoFit/>
          </a:bodyPr>
          <a:lstStyle/>
          <a:p>
            <a:pPr algn="l">
              <a:lnSpc>
                <a:spcPct val="108000"/>
              </a:lnSpc>
            </a:pPr>
            <a:r>
              <a:rPr sz="1050" b="1" i="0">
                <a:solidFill>
                  <a:srgbClr val="16181D"/>
                </a:solidFill>
                <a:latin typeface="Montserrat"/>
              </a:rPr>
              <a:t>Three sessions so far</a:t>
            </a:r>
          </a:p>
        </p:txBody>
      </p:sp>
      <p:sp>
        <p:nvSpPr>
          <p:cNvPr id="30" name="TextBox 29"/>
          <p:cNvSpPr txBox="1"/>
          <p:nvPr/>
        </p:nvSpPr>
        <p:spPr>
          <a:xfrm>
            <a:off x="8759952" y="3438144"/>
            <a:ext cx="2880360" cy="77724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Bus safety · Delivery rider safety · Good Samaritan law &amp; the Cashless Treatment Scheme.</a:t>
            </a:r>
          </a:p>
        </p:txBody>
      </p:sp>
      <p:sp>
        <p:nvSpPr>
          <p:cNvPr id="31" name="Oval 30"/>
          <p:cNvSpPr/>
          <p:nvPr/>
        </p:nvSpPr>
        <p:spPr>
          <a:xfrm>
            <a:off x="8229600" y="4279392"/>
            <a:ext cx="384048" cy="384048"/>
          </a:xfrm>
          <a:prstGeom prst="ellipse">
            <a:avLst/>
          </a:prstGeom>
          <a:solidFill>
            <a:srgbClr val="FDEFEC"/>
          </a:solidFill>
          <a:ln>
            <a:noFill/>
          </a:ln>
          <a:effectLst/>
        </p:spPr>
        <p:txBody>
          <a:bodyPr rtlCol="0" anchor="ctr"/>
          <a:lstStyle/>
          <a:p>
            <a:pPr algn="ctr"/>
          </a:p>
        </p:txBody>
      </p:sp>
      <p:pic>
        <p:nvPicPr>
          <p:cNvPr id="32" name="Picture 31" descr="monitor-play_E11900_256_2.0.png"/>
          <p:cNvPicPr>
            <a:picLocks noChangeAspect="1"/>
          </p:cNvPicPr>
          <p:nvPr/>
        </p:nvPicPr>
        <p:blipFill>
          <a:blip r:embed="rId6"/>
          <a:stretch>
            <a:fillRect/>
          </a:stretch>
        </p:blipFill>
        <p:spPr>
          <a:xfrm>
            <a:off x="8321771" y="4371563"/>
            <a:ext cx="199704" cy="199704"/>
          </a:xfrm>
          <a:prstGeom prst="rect">
            <a:avLst/>
          </a:prstGeom>
        </p:spPr>
      </p:pic>
      <p:sp>
        <p:nvSpPr>
          <p:cNvPr id="33" name="TextBox 32"/>
          <p:cNvSpPr txBox="1"/>
          <p:nvPr/>
        </p:nvSpPr>
        <p:spPr>
          <a:xfrm>
            <a:off x="8759952" y="4251960"/>
            <a:ext cx="2880360" cy="502920"/>
          </a:xfrm>
          <a:prstGeom prst="rect">
            <a:avLst/>
          </a:prstGeom>
          <a:noFill/>
        </p:spPr>
        <p:txBody>
          <a:bodyPr wrap="square" lIns="0" rIns="0" tIns="0" bIns="0" anchor="t">
            <a:spAutoFit/>
          </a:bodyPr>
          <a:lstStyle/>
          <a:p>
            <a:pPr algn="l">
              <a:lnSpc>
                <a:spcPct val="108000"/>
              </a:lnSpc>
            </a:pPr>
            <a:r>
              <a:rPr sz="1050" b="1" i="0">
                <a:solidFill>
                  <a:srgbClr val="16181D"/>
                </a:solidFill>
                <a:latin typeface="Montserrat"/>
              </a:rPr>
              <a:t>Advocacy on video</a:t>
            </a:r>
          </a:p>
        </p:txBody>
      </p:sp>
      <p:sp>
        <p:nvSpPr>
          <p:cNvPr id="34" name="TextBox 33"/>
          <p:cNvSpPr txBox="1"/>
          <p:nvPr/>
        </p:nvSpPr>
        <p:spPr>
          <a:xfrm>
            <a:off x="8759952" y="4608576"/>
            <a:ext cx="2880360" cy="77724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Our YouTube channel documents hazards and fixes on camera: ground-audit walkthroughs, Dialogue Series recordings and victim-education explainers. A public record any authority can cite.</a:t>
            </a:r>
          </a:p>
        </p:txBody>
      </p:sp>
      <p:sp>
        <p:nvSpPr>
          <p:cNvPr id="35" name="Rounded Rectangle 34"/>
          <p:cNvSpPr/>
          <p:nvPr/>
        </p:nvSpPr>
        <p:spPr>
          <a:xfrm>
            <a:off x="8229600" y="5486400"/>
            <a:ext cx="3383280" cy="658368"/>
          </a:xfrm>
          <a:prstGeom prst="roundRect">
            <a:avLst>
              <a:gd name="adj" fmla="val 14000"/>
            </a:avLst>
          </a:prstGeom>
          <a:solidFill>
            <a:srgbClr val="F7F7FA"/>
          </a:solidFill>
          <a:ln>
            <a:noFill/>
          </a:ln>
          <a:effectLst/>
        </p:spPr>
        <p:txBody>
          <a:bodyPr rtlCol="0" anchor="ctr"/>
          <a:lstStyle/>
          <a:p>
            <a:pPr algn="ctr"/>
          </a:p>
        </p:txBody>
      </p:sp>
      <p:sp>
        <p:nvSpPr>
          <p:cNvPr id="36" name="TextBox 35"/>
          <p:cNvSpPr txBox="1"/>
          <p:nvPr/>
        </p:nvSpPr>
        <p:spPr>
          <a:xfrm>
            <a:off x="8394192" y="5559552"/>
            <a:ext cx="3108960" cy="548640"/>
          </a:xfrm>
          <a:prstGeom prst="rect">
            <a:avLst/>
          </a:prstGeom>
          <a:noFill/>
        </p:spPr>
        <p:txBody>
          <a:bodyPr wrap="square" lIns="0" rIns="0" tIns="0" bIns="0" anchor="t">
            <a:spAutoFit/>
          </a:bodyPr>
          <a:lstStyle/>
          <a:p>
            <a:pPr algn="l">
              <a:lnSpc>
                <a:spcPct val="125000"/>
              </a:lnSpc>
            </a:pPr>
            <a:r>
              <a:rPr sz="950" b="1" i="0">
                <a:solidFill>
                  <a:srgbClr val="16181D"/>
                </a:solidFill>
                <a:latin typeface="Geist"/>
              </a:rPr>
              <a:t>Next: </a:t>
            </a:r>
            <a:r>
              <a:rPr sz="950" b="0" i="0">
                <a:solidFill>
                  <a:srgbClr val="6E7180"/>
                </a:solidFill>
                <a:latin typeface="Geist"/>
              </a:rPr>
              <a:t>'Be a Rakshak' university chapters at IITs, NITs and SPAs.</a:t>
            </a:r>
          </a:p>
        </p:txBody>
      </p:sp>
      <p:cxnSp>
        <p:nvCxnSpPr>
          <p:cNvPr id="37" name="Connector 36"/>
          <p:cNvCxnSpPr/>
          <p:nvPr/>
        </p:nvCxnSpPr>
        <p:spPr>
          <a:xfrm>
            <a:off x="566928" y="6455664"/>
            <a:ext cx="11057839" cy="0"/>
          </a:xfrm>
          <a:prstGeom prst="line">
            <a:avLst/>
          </a:prstGeom>
          <a:ln w="9525">
            <a:solidFill>
              <a:srgbClr val="E8E9EE"/>
            </a:solidFill>
          </a:ln>
          <a:effectLst/>
        </p:spPr>
      </p:cxnSp>
      <p:sp>
        <p:nvSpPr>
          <p:cNvPr id="38" name="TextBox 37"/>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39" name="TextBox 38"/>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11 / 28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2 OF 5  ·  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ON THE GROUND</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Road Safety Month 2026, run </a:t>
            </a:r>
            <a:r>
              <a:rPr sz="2250" b="1" i="0">
                <a:solidFill>
                  <a:srgbClr val="4A35FF"/>
                </a:solidFill>
                <a:latin typeface="Montserrat"/>
              </a:rPr>
              <a:t>with the system</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With district police, schools, hospitals and delivery platforms, in Hindi and local languages.</a:t>
            </a:r>
          </a:p>
        </p:txBody>
      </p:sp>
      <p:pic>
        <p:nvPicPr>
          <p:cNvPr id="8" name="Picture 7" descr="ph_police_rally.jpg_4.70x3.55_0.35.jpg"/>
          <p:cNvPicPr>
            <a:picLocks noChangeAspect="1"/>
          </p:cNvPicPr>
          <p:nvPr/>
        </p:nvPicPr>
        <p:blipFill>
          <a:blip r:embed="rId2"/>
          <a:stretch>
            <a:fillRect/>
          </a:stretch>
        </p:blipFill>
        <p:spPr>
          <a:xfrm>
            <a:off x="566928" y="1938528"/>
            <a:ext cx="4297680" cy="3246120"/>
          </a:xfrm>
          <a:prstGeom prst="rect">
            <a:avLst/>
          </a:prstGeom>
        </p:spPr>
      </p:pic>
      <p:sp>
        <p:nvSpPr>
          <p:cNvPr id="9" name="Rectangle 8"/>
          <p:cNvSpPr/>
          <p:nvPr/>
        </p:nvSpPr>
        <p:spPr>
          <a:xfrm>
            <a:off x="566928" y="1938528"/>
            <a:ext cx="4297680" cy="3246120"/>
          </a:xfrm>
          <a:prstGeom prst="rect">
            <a:avLst/>
          </a:prstGeom>
          <a:noFill/>
          <a:ln w="12700">
            <a:solidFill>
              <a:srgbClr val="E8E9EE"/>
            </a:solidFill>
          </a:ln>
          <a:effectLst/>
        </p:spPr>
        <p:txBody>
          <a:bodyPr rtlCol="0" anchor="ctr"/>
          <a:lstStyle/>
          <a:p>
            <a:pPr algn="ctr"/>
          </a:p>
        </p:txBody>
      </p:sp>
      <p:sp>
        <p:nvSpPr>
          <p:cNvPr id="10" name="TextBox 9"/>
          <p:cNvSpPr txBox="1"/>
          <p:nvPr/>
        </p:nvSpPr>
        <p:spPr>
          <a:xfrm>
            <a:off x="566928" y="5230368"/>
            <a:ext cx="429768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National Road Safety Month rally, on the road with district traffic police, Jan 2026.</a:t>
            </a:r>
          </a:p>
        </p:txBody>
      </p:sp>
      <p:pic>
        <p:nvPicPr>
          <p:cNvPr id="11" name="Picture 10" descr="ph_stall.jpg_3.55x1.72_0.45.jpg"/>
          <p:cNvPicPr>
            <a:picLocks noChangeAspect="1"/>
          </p:cNvPicPr>
          <p:nvPr/>
        </p:nvPicPr>
        <p:blipFill>
          <a:blip r:embed="rId3"/>
          <a:stretch>
            <a:fillRect/>
          </a:stretch>
        </p:blipFill>
        <p:spPr>
          <a:xfrm>
            <a:off x="5074920" y="1938528"/>
            <a:ext cx="3246120" cy="1572768"/>
          </a:xfrm>
          <a:prstGeom prst="rect">
            <a:avLst/>
          </a:prstGeom>
        </p:spPr>
      </p:pic>
      <p:sp>
        <p:nvSpPr>
          <p:cNvPr id="12" name="Rectangle 11"/>
          <p:cNvSpPr/>
          <p:nvPr/>
        </p:nvSpPr>
        <p:spPr>
          <a:xfrm>
            <a:off x="5074920" y="1938528"/>
            <a:ext cx="3246120" cy="1572768"/>
          </a:xfrm>
          <a:prstGeom prst="rect">
            <a:avLst/>
          </a:prstGeom>
          <a:noFill/>
          <a:ln w="12700">
            <a:solidFill>
              <a:srgbClr val="E8E9EE"/>
            </a:solidFill>
          </a:ln>
          <a:effectLst/>
        </p:spPr>
        <p:txBody>
          <a:bodyPr rtlCol="0" anchor="ctr"/>
          <a:lstStyle/>
          <a:p>
            <a:pPr algn="ctr"/>
          </a:p>
        </p:txBody>
      </p:sp>
      <p:sp>
        <p:nvSpPr>
          <p:cNvPr id="13" name="TextBox 12"/>
          <p:cNvSpPr txBox="1"/>
          <p:nvPr/>
        </p:nvSpPr>
        <p:spPr>
          <a:xfrm>
            <a:off x="5074920" y="3557016"/>
            <a:ext cx="324612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CFI stall at a government office</a:t>
            </a:r>
          </a:p>
        </p:txBody>
      </p:sp>
      <p:pic>
        <p:nvPicPr>
          <p:cNvPr id="14" name="Picture 13" descr="ph_police_station.jpg_3.55x1.72_0.35.jpg"/>
          <p:cNvPicPr>
            <a:picLocks noChangeAspect="1"/>
          </p:cNvPicPr>
          <p:nvPr/>
        </p:nvPicPr>
        <p:blipFill>
          <a:blip r:embed="rId4"/>
          <a:stretch>
            <a:fillRect/>
          </a:stretch>
        </p:blipFill>
        <p:spPr>
          <a:xfrm>
            <a:off x="8412480" y="1938528"/>
            <a:ext cx="3246120" cy="1572768"/>
          </a:xfrm>
          <a:prstGeom prst="rect">
            <a:avLst/>
          </a:prstGeom>
        </p:spPr>
      </p:pic>
      <p:sp>
        <p:nvSpPr>
          <p:cNvPr id="15" name="Rectangle 14"/>
          <p:cNvSpPr/>
          <p:nvPr/>
        </p:nvSpPr>
        <p:spPr>
          <a:xfrm>
            <a:off x="8412480" y="1938528"/>
            <a:ext cx="3246120" cy="1572768"/>
          </a:xfrm>
          <a:prstGeom prst="rect">
            <a:avLst/>
          </a:prstGeom>
          <a:noFill/>
          <a:ln w="12700">
            <a:solidFill>
              <a:srgbClr val="E8E9EE"/>
            </a:solidFill>
          </a:ln>
          <a:effectLst/>
        </p:spPr>
        <p:txBody>
          <a:bodyPr rtlCol="0" anchor="ctr"/>
          <a:lstStyle/>
          <a:p>
            <a:pPr algn="ctr"/>
          </a:p>
        </p:txBody>
      </p:sp>
      <p:sp>
        <p:nvSpPr>
          <p:cNvPr id="16" name="TextBox 15"/>
          <p:cNvSpPr txBox="1"/>
          <p:nvPr/>
        </p:nvSpPr>
        <p:spPr>
          <a:xfrm>
            <a:off x="8412480" y="3557016"/>
            <a:ext cx="324612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Materials briefing with police staff</a:t>
            </a:r>
          </a:p>
        </p:txBody>
      </p:sp>
      <p:pic>
        <p:nvPicPr>
          <p:cNvPr id="17" name="Picture 16" descr="ph_school_kids.jpg_3.55x1.72_0.30.jpg"/>
          <p:cNvPicPr>
            <a:picLocks noChangeAspect="1"/>
          </p:cNvPicPr>
          <p:nvPr/>
        </p:nvPicPr>
        <p:blipFill>
          <a:blip r:embed="rId5"/>
          <a:stretch>
            <a:fillRect/>
          </a:stretch>
        </p:blipFill>
        <p:spPr>
          <a:xfrm>
            <a:off x="5074920" y="3904488"/>
            <a:ext cx="3246120" cy="1572768"/>
          </a:xfrm>
          <a:prstGeom prst="rect">
            <a:avLst/>
          </a:prstGeom>
        </p:spPr>
      </p:pic>
      <p:sp>
        <p:nvSpPr>
          <p:cNvPr id="18" name="Rectangle 17"/>
          <p:cNvSpPr/>
          <p:nvPr/>
        </p:nvSpPr>
        <p:spPr>
          <a:xfrm>
            <a:off x="5074920" y="3904488"/>
            <a:ext cx="3246120" cy="1572768"/>
          </a:xfrm>
          <a:prstGeom prst="rect">
            <a:avLst/>
          </a:prstGeom>
          <a:noFill/>
          <a:ln w="12700">
            <a:solidFill>
              <a:srgbClr val="E8E9EE"/>
            </a:solidFill>
          </a:ln>
          <a:effectLst/>
        </p:spPr>
        <p:txBody>
          <a:bodyPr rtlCol="0" anchor="ctr"/>
          <a:lstStyle/>
          <a:p>
            <a:pPr algn="ctr"/>
          </a:p>
        </p:txBody>
      </p:sp>
      <p:sp>
        <p:nvSpPr>
          <p:cNvPr id="19" name="TextBox 18"/>
          <p:cNvSpPr txBox="1"/>
          <p:nvPr/>
        </p:nvSpPr>
        <p:spPr>
          <a:xfrm>
            <a:off x="5074920" y="5522976"/>
            <a:ext cx="324612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School programme with certificates</a:t>
            </a:r>
          </a:p>
        </p:txBody>
      </p:sp>
      <p:pic>
        <p:nvPicPr>
          <p:cNvPr id="20" name="Picture 19" descr="ph_gig_riders.jpg_3.55x1.72_0.40.jpg"/>
          <p:cNvPicPr>
            <a:picLocks noChangeAspect="1"/>
          </p:cNvPicPr>
          <p:nvPr/>
        </p:nvPicPr>
        <p:blipFill>
          <a:blip r:embed="rId6"/>
          <a:stretch>
            <a:fillRect/>
          </a:stretch>
        </p:blipFill>
        <p:spPr>
          <a:xfrm>
            <a:off x="8412480" y="3904488"/>
            <a:ext cx="3246120" cy="1572768"/>
          </a:xfrm>
          <a:prstGeom prst="rect">
            <a:avLst/>
          </a:prstGeom>
        </p:spPr>
      </p:pic>
      <p:sp>
        <p:nvSpPr>
          <p:cNvPr id="21" name="Rectangle 20"/>
          <p:cNvSpPr/>
          <p:nvPr/>
        </p:nvSpPr>
        <p:spPr>
          <a:xfrm>
            <a:off x="8412480" y="3904488"/>
            <a:ext cx="3246120" cy="1572768"/>
          </a:xfrm>
          <a:prstGeom prst="rect">
            <a:avLst/>
          </a:prstGeom>
          <a:noFill/>
          <a:ln w="12700">
            <a:solidFill>
              <a:srgbClr val="E8E9EE"/>
            </a:solidFill>
          </a:ln>
          <a:effectLst/>
        </p:spPr>
        <p:txBody>
          <a:bodyPr rtlCol="0" anchor="ctr"/>
          <a:lstStyle/>
          <a:p>
            <a:pPr algn="ctr"/>
          </a:p>
        </p:txBody>
      </p:sp>
      <p:sp>
        <p:nvSpPr>
          <p:cNvPr id="22" name="TextBox 21"/>
          <p:cNvSpPr txBox="1"/>
          <p:nvPr/>
        </p:nvSpPr>
        <p:spPr>
          <a:xfrm>
            <a:off x="8412480" y="5522976"/>
            <a:ext cx="324612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Delivery-rider outreach, Swiggy &amp; Instamart</a:t>
            </a:r>
          </a:p>
        </p:txBody>
      </p:sp>
      <p:sp>
        <p:nvSpPr>
          <p:cNvPr id="23" name="Rounded Rectangle 22"/>
          <p:cNvSpPr/>
          <p:nvPr/>
        </p:nvSpPr>
        <p:spPr>
          <a:xfrm>
            <a:off x="566928" y="5623560"/>
            <a:ext cx="4297680" cy="566928"/>
          </a:xfrm>
          <a:prstGeom prst="roundRect">
            <a:avLst>
              <a:gd name="adj" fmla="val 16000"/>
            </a:avLst>
          </a:prstGeom>
          <a:solidFill>
            <a:srgbClr val="E9F7F0"/>
          </a:solidFill>
          <a:ln>
            <a:noFill/>
          </a:ln>
          <a:effectLst/>
        </p:spPr>
        <p:txBody>
          <a:bodyPr rtlCol="0" anchor="ctr"/>
          <a:lstStyle/>
          <a:p>
            <a:pPr algn="ctr"/>
          </a:p>
        </p:txBody>
      </p:sp>
      <p:sp>
        <p:nvSpPr>
          <p:cNvPr id="24" name="TextBox 23"/>
          <p:cNvSpPr txBox="1"/>
          <p:nvPr/>
        </p:nvSpPr>
        <p:spPr>
          <a:xfrm>
            <a:off x="749808" y="5705856"/>
            <a:ext cx="4023360" cy="457200"/>
          </a:xfrm>
          <a:prstGeom prst="rect">
            <a:avLst/>
          </a:prstGeom>
          <a:noFill/>
        </p:spPr>
        <p:txBody>
          <a:bodyPr wrap="square" lIns="0" rIns="0" tIns="0" bIns="0" anchor="t">
            <a:spAutoFit/>
          </a:bodyPr>
          <a:lstStyle/>
          <a:p>
            <a:pPr algn="l">
              <a:lnSpc>
                <a:spcPct val="120000"/>
              </a:lnSpc>
            </a:pPr>
            <a:r>
              <a:rPr sz="1050" b="1" i="0">
                <a:solidFill>
                  <a:srgbClr val="0A9955"/>
                </a:solidFill>
                <a:latin typeface="Geist"/>
              </a:rPr>
              <a:t>1M+ citizens reached </a:t>
            </a:r>
            <a:r>
              <a:rPr sz="1050" b="0" i="0">
                <a:solidFill>
                  <a:srgbClr val="0A9955"/>
                </a:solidFill>
                <a:latin typeface="Geist"/>
              </a:rPr>
              <a:t>across campaigns in year one.</a:t>
            </a:r>
          </a:p>
        </p:txBody>
      </p:sp>
      <p:cxnSp>
        <p:nvCxnSpPr>
          <p:cNvPr id="25" name="Connector 24"/>
          <p:cNvCxnSpPr/>
          <p:nvPr/>
        </p:nvCxnSpPr>
        <p:spPr>
          <a:xfrm>
            <a:off x="566928" y="6455664"/>
            <a:ext cx="11057839" cy="0"/>
          </a:xfrm>
          <a:prstGeom prst="line">
            <a:avLst/>
          </a:prstGeom>
          <a:ln w="9525">
            <a:solidFill>
              <a:srgbClr val="E8E9EE"/>
            </a:solidFill>
          </a:ln>
          <a:effectLst/>
        </p:spPr>
      </p:cxnSp>
      <p:sp>
        <p:nvSpPr>
          <p:cNvPr id="26" name="TextBox 25"/>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27" name="TextBox 26"/>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12 / 28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2 OF 5  ·  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PUBLIC VOICE</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MS Dhoni gives road safety </a:t>
            </a:r>
            <a:r>
              <a:rPr sz="2250" b="1" i="0">
                <a:solidFill>
                  <a:srgbClr val="4A35FF"/>
                </a:solidFill>
                <a:latin typeface="Montserrat"/>
              </a:rPr>
              <a:t>a national voice</a:t>
            </a:r>
          </a:p>
        </p:txBody>
      </p:sp>
      <p:pic>
        <p:nvPicPr>
          <p:cNvPr id="7" name="Picture 6" descr="ph_dhoni_helmet.jpg_2.85x3.60_0.10.jpg"/>
          <p:cNvPicPr>
            <a:picLocks noChangeAspect="1"/>
          </p:cNvPicPr>
          <p:nvPr/>
        </p:nvPicPr>
        <p:blipFill>
          <a:blip r:embed="rId2"/>
          <a:stretch>
            <a:fillRect/>
          </a:stretch>
        </p:blipFill>
        <p:spPr>
          <a:xfrm>
            <a:off x="566928" y="1783080"/>
            <a:ext cx="2606040" cy="3291840"/>
          </a:xfrm>
          <a:prstGeom prst="rect">
            <a:avLst/>
          </a:prstGeom>
        </p:spPr>
      </p:pic>
      <p:sp>
        <p:nvSpPr>
          <p:cNvPr id="8" name="Rectangle 7"/>
          <p:cNvSpPr/>
          <p:nvPr/>
        </p:nvSpPr>
        <p:spPr>
          <a:xfrm>
            <a:off x="566928" y="1783080"/>
            <a:ext cx="2606040" cy="3291840"/>
          </a:xfrm>
          <a:prstGeom prst="rect">
            <a:avLst/>
          </a:prstGeom>
          <a:noFill/>
          <a:ln w="12700">
            <a:solidFill>
              <a:srgbClr val="E8E9EE"/>
            </a:solidFill>
          </a:ln>
          <a:effectLst/>
        </p:spPr>
        <p:txBody>
          <a:bodyPr rtlCol="0" anchor="ctr"/>
          <a:lstStyle/>
          <a:p>
            <a:pPr algn="ctr"/>
          </a:p>
        </p:txBody>
      </p:sp>
      <p:sp>
        <p:nvSpPr>
          <p:cNvPr id="9" name="TextBox 8"/>
          <p:cNvSpPr txBox="1"/>
          <p:nvPr/>
        </p:nvSpPr>
        <p:spPr>
          <a:xfrm>
            <a:off x="566928" y="5120640"/>
            <a:ext cx="260604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MS Dhoni, Goodwill Ambassador, announced April 2026.</a:t>
            </a:r>
          </a:p>
        </p:txBody>
      </p:sp>
      <p:sp>
        <p:nvSpPr>
          <p:cNvPr id="10" name="Rounded Rectangle 9"/>
          <p:cNvSpPr/>
          <p:nvPr/>
        </p:nvSpPr>
        <p:spPr>
          <a:xfrm>
            <a:off x="3429000" y="1783080"/>
            <a:ext cx="3063240" cy="3291840"/>
          </a:xfrm>
          <a:prstGeom prst="roundRect">
            <a:avLst>
              <a:gd name="adj" fmla="val 8000"/>
            </a:avLst>
          </a:prstGeom>
          <a:solidFill>
            <a:srgbClr val="F7F7FA"/>
          </a:solidFill>
          <a:ln>
            <a:noFill/>
          </a:ln>
          <a:effectLst/>
        </p:spPr>
        <p:txBody>
          <a:bodyPr rtlCol="0" anchor="ctr"/>
          <a:lstStyle/>
          <a:p>
            <a:pPr algn="ctr"/>
          </a:p>
        </p:txBody>
      </p:sp>
      <p:sp>
        <p:nvSpPr>
          <p:cNvPr id="11" name="TextBox 10"/>
          <p:cNvSpPr txBox="1"/>
          <p:nvPr/>
        </p:nvSpPr>
        <p:spPr>
          <a:xfrm>
            <a:off x="3657600" y="2057400"/>
            <a:ext cx="2606040" cy="2011680"/>
          </a:xfrm>
          <a:prstGeom prst="rect">
            <a:avLst/>
          </a:prstGeom>
          <a:noFill/>
        </p:spPr>
        <p:txBody>
          <a:bodyPr wrap="square" lIns="0" rIns="0" tIns="0" bIns="0" anchor="t">
            <a:spAutoFit/>
          </a:bodyPr>
          <a:lstStyle/>
          <a:p>
            <a:pPr algn="l">
              <a:lnSpc>
                <a:spcPct val="135000"/>
              </a:lnSpc>
            </a:pPr>
            <a:r>
              <a:rPr sz="1300" b="1" i="1">
                <a:solidFill>
                  <a:srgbClr val="16181D"/>
                </a:solidFill>
                <a:latin typeface="Montserrat"/>
              </a:rPr>
              <a:t>"We already know what is going wrong. What we need now is more responsibility, more discipline, more respect for life."</a:t>
            </a:r>
          </a:p>
        </p:txBody>
      </p:sp>
      <p:sp>
        <p:nvSpPr>
          <p:cNvPr id="12" name="TextBox 11"/>
          <p:cNvSpPr txBox="1"/>
          <p:nvPr/>
        </p:nvSpPr>
        <p:spPr>
          <a:xfrm>
            <a:off x="3657600" y="4206240"/>
            <a:ext cx="2606040" cy="548640"/>
          </a:xfrm>
          <a:prstGeom prst="rect">
            <a:avLst/>
          </a:prstGeom>
          <a:noFill/>
        </p:spPr>
        <p:txBody>
          <a:bodyPr wrap="square" lIns="0" rIns="0" tIns="0" bIns="0" anchor="t">
            <a:spAutoFit/>
          </a:bodyPr>
          <a:lstStyle/>
          <a:p>
            <a:pPr algn="l">
              <a:lnSpc>
                <a:spcPct val="125000"/>
              </a:lnSpc>
            </a:pPr>
            <a:r>
              <a:rPr sz="900" b="0" i="0">
                <a:solidFill>
                  <a:srgbClr val="6E7180"/>
                </a:solidFill>
                <a:latin typeface="Geist"/>
              </a:rPr>
              <a:t>MS Dhoni, at the National Road Safety</a:t>
            </a:r>
          </a:p>
          <a:p>
            <a:pPr algn="l">
              <a:lnSpc>
                <a:spcPct val="125000"/>
              </a:lnSpc>
            </a:pPr>
            <a:r>
              <a:rPr sz="900" b="0" i="0">
                <a:solidFill>
                  <a:srgbClr val="6E7180"/>
                </a:solidFill>
                <a:latin typeface="Geist"/>
              </a:rPr>
              <a:t>Implementation Forum, IIT Delhi</a:t>
            </a:r>
          </a:p>
        </p:txBody>
      </p:sp>
      <p:sp>
        <p:nvSpPr>
          <p:cNvPr id="13" name="TextBox 12"/>
          <p:cNvSpPr txBox="1"/>
          <p:nvPr/>
        </p:nvSpPr>
        <p:spPr>
          <a:xfrm>
            <a:off x="6766560" y="1783080"/>
            <a:ext cx="4846320" cy="237744"/>
          </a:xfrm>
          <a:prstGeom prst="rect">
            <a:avLst/>
          </a:prstGeom>
          <a:noFill/>
        </p:spPr>
        <p:txBody>
          <a:bodyPr wrap="square" lIns="0" rIns="0" tIns="0" bIns="0" anchor="t">
            <a:spAutoFit/>
          </a:bodyPr>
          <a:lstStyle/>
          <a:p>
            <a:pPr algn="l">
              <a:lnSpc>
                <a:spcPct val="128000"/>
              </a:lnSpc>
            </a:pPr>
            <a:r>
              <a:rPr sz="800" b="1" i="0" spc="160">
                <a:solidFill>
                  <a:srgbClr val="6E7180"/>
                </a:solidFill>
                <a:latin typeface="Montserrat"/>
              </a:rPr>
              <a:t>AS SEEN IN THE PRESS</a:t>
            </a:r>
          </a:p>
        </p:txBody>
      </p:sp>
      <p:pic>
        <p:nvPicPr>
          <p:cNvPr id="14" name="Picture 13" descr="opt_press_ht_primer_1500.jpg"/>
          <p:cNvPicPr>
            <a:picLocks noChangeAspect="1"/>
          </p:cNvPicPr>
          <p:nvPr/>
        </p:nvPicPr>
        <p:blipFill>
          <a:blip r:embed="rId3"/>
          <a:stretch>
            <a:fillRect/>
          </a:stretch>
        </p:blipFill>
        <p:spPr>
          <a:xfrm>
            <a:off x="6766560" y="2084831"/>
            <a:ext cx="2313584" cy="1965960"/>
          </a:xfrm>
          <a:prstGeom prst="rect">
            <a:avLst/>
          </a:prstGeom>
        </p:spPr>
      </p:pic>
      <p:sp>
        <p:nvSpPr>
          <p:cNvPr id="15" name="Rectangle 14"/>
          <p:cNvSpPr/>
          <p:nvPr/>
        </p:nvSpPr>
        <p:spPr>
          <a:xfrm>
            <a:off x="6766560" y="2084831"/>
            <a:ext cx="2313584" cy="1965960"/>
          </a:xfrm>
          <a:prstGeom prst="rect">
            <a:avLst/>
          </a:prstGeom>
          <a:noFill/>
          <a:ln w="12700">
            <a:solidFill>
              <a:srgbClr val="E8E9EE"/>
            </a:solidFill>
          </a:ln>
          <a:effectLst/>
        </p:spPr>
        <p:txBody>
          <a:bodyPr rtlCol="0" anchor="ctr"/>
          <a:lstStyle/>
          <a:p>
            <a:pPr algn="ctr"/>
          </a:p>
        </p:txBody>
      </p:sp>
      <p:sp>
        <p:nvSpPr>
          <p:cNvPr id="16" name="TextBox 15"/>
          <p:cNvSpPr txBox="1"/>
          <p:nvPr/>
        </p:nvSpPr>
        <p:spPr>
          <a:xfrm>
            <a:off x="6766560" y="4096511"/>
            <a:ext cx="2313584" cy="274320"/>
          </a:xfrm>
          <a:prstGeom prst="rect">
            <a:avLst/>
          </a:prstGeom>
          <a:noFill/>
        </p:spPr>
        <p:txBody>
          <a:bodyPr wrap="square" lIns="0" rIns="0" tIns="0" bIns="0" anchor="t">
            <a:spAutoFit/>
          </a:bodyPr>
          <a:lstStyle/>
          <a:p>
            <a:pPr algn="l">
              <a:lnSpc>
                <a:spcPct val="112000"/>
              </a:lnSpc>
            </a:pPr>
            <a:r>
              <a:rPr sz="850" b="0" i="0">
                <a:solidFill>
                  <a:srgbClr val="6E7180"/>
                </a:solidFill>
                <a:latin typeface="Geist"/>
              </a:rPr>
              <a:t>Hindustan Times, on our</a:t>
            </a:r>
          </a:p>
          <a:p>
            <a:pPr algn="l">
              <a:lnSpc>
                <a:spcPct val="112000"/>
              </a:lnSpc>
            </a:pPr>
            <a:r>
              <a:rPr sz="850" b="0" i="0">
                <a:solidFill>
                  <a:srgbClr val="6E7180"/>
                </a:solidFill>
                <a:latin typeface="Geist"/>
              </a:rPr>
              <a:t>Pre-Hospital Care Primer.</a:t>
            </a:r>
          </a:p>
        </p:txBody>
      </p:sp>
      <p:pic>
        <p:nvPicPr>
          <p:cNvPr id="17" name="Picture 16" descr="opt_press_print_ideathon_1500.jpg"/>
          <p:cNvPicPr>
            <a:picLocks noChangeAspect="1"/>
          </p:cNvPicPr>
          <p:nvPr/>
        </p:nvPicPr>
        <p:blipFill>
          <a:blip r:embed="rId4"/>
          <a:stretch>
            <a:fillRect/>
          </a:stretch>
        </p:blipFill>
        <p:spPr>
          <a:xfrm>
            <a:off x="9281160" y="2084831"/>
            <a:ext cx="2331720" cy="1600567"/>
          </a:xfrm>
          <a:prstGeom prst="rect">
            <a:avLst/>
          </a:prstGeom>
        </p:spPr>
      </p:pic>
      <p:sp>
        <p:nvSpPr>
          <p:cNvPr id="18" name="Rectangle 17"/>
          <p:cNvSpPr/>
          <p:nvPr/>
        </p:nvSpPr>
        <p:spPr>
          <a:xfrm>
            <a:off x="9281160" y="2084831"/>
            <a:ext cx="2331720" cy="1600567"/>
          </a:xfrm>
          <a:prstGeom prst="rect">
            <a:avLst/>
          </a:prstGeom>
          <a:noFill/>
          <a:ln w="12700">
            <a:solidFill>
              <a:srgbClr val="E8E9EE"/>
            </a:solidFill>
          </a:ln>
          <a:effectLst/>
        </p:spPr>
        <p:txBody>
          <a:bodyPr rtlCol="0" anchor="ctr"/>
          <a:lstStyle/>
          <a:p>
            <a:pPr algn="ctr"/>
          </a:p>
        </p:txBody>
      </p:sp>
      <p:sp>
        <p:nvSpPr>
          <p:cNvPr id="19" name="TextBox 18"/>
          <p:cNvSpPr txBox="1"/>
          <p:nvPr/>
        </p:nvSpPr>
        <p:spPr>
          <a:xfrm>
            <a:off x="9281160" y="3731118"/>
            <a:ext cx="2331720" cy="274320"/>
          </a:xfrm>
          <a:prstGeom prst="rect">
            <a:avLst/>
          </a:prstGeom>
          <a:noFill/>
        </p:spPr>
        <p:txBody>
          <a:bodyPr wrap="square" lIns="0" rIns="0" tIns="0" bIns="0" anchor="t">
            <a:spAutoFit/>
          </a:bodyPr>
          <a:lstStyle/>
          <a:p>
            <a:pPr algn="l">
              <a:lnSpc>
                <a:spcPct val="112000"/>
              </a:lnSpc>
            </a:pPr>
            <a:r>
              <a:rPr sz="850" b="0" i="0">
                <a:solidFill>
                  <a:srgbClr val="6E7180"/>
                </a:solidFill>
                <a:latin typeface="Geist"/>
              </a:rPr>
              <a:t>ThePrint, on the NextMile</a:t>
            </a:r>
          </a:p>
          <a:p>
            <a:pPr algn="l">
              <a:lnSpc>
                <a:spcPct val="112000"/>
              </a:lnSpc>
            </a:pPr>
            <a:r>
              <a:rPr sz="850" b="0" i="0">
                <a:solidFill>
                  <a:srgbClr val="6E7180"/>
                </a:solidFill>
                <a:latin typeface="Geist"/>
              </a:rPr>
              <a:t>ideathon finale.</a:t>
            </a:r>
          </a:p>
        </p:txBody>
      </p:sp>
      <p:sp>
        <p:nvSpPr>
          <p:cNvPr id="20" name="Rounded Rectangle 19"/>
          <p:cNvSpPr/>
          <p:nvPr/>
        </p:nvSpPr>
        <p:spPr>
          <a:xfrm>
            <a:off x="6766560" y="4709160"/>
            <a:ext cx="1463040" cy="548640"/>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21" name="Picture 20" descr="lg_bloomberg.png"/>
          <p:cNvPicPr>
            <a:picLocks noChangeAspect="1"/>
          </p:cNvPicPr>
          <p:nvPr/>
        </p:nvPicPr>
        <p:blipFill>
          <a:blip r:embed="rId5"/>
          <a:stretch>
            <a:fillRect/>
          </a:stretch>
        </p:blipFill>
        <p:spPr>
          <a:xfrm>
            <a:off x="6876288" y="4867715"/>
            <a:ext cx="1243584" cy="231530"/>
          </a:xfrm>
          <a:prstGeom prst="rect">
            <a:avLst/>
          </a:prstGeom>
        </p:spPr>
      </p:pic>
      <p:sp>
        <p:nvSpPr>
          <p:cNvPr id="22" name="Rounded Rectangle 21"/>
          <p:cNvSpPr/>
          <p:nvPr/>
        </p:nvSpPr>
        <p:spPr>
          <a:xfrm>
            <a:off x="8339327" y="4709160"/>
            <a:ext cx="1078992" cy="256032"/>
          </a:xfrm>
          <a:prstGeom prst="roundRect">
            <a:avLst>
              <a:gd name="adj" fmla="val 50000"/>
            </a:avLst>
          </a:prstGeom>
          <a:solidFill>
            <a:srgbClr val="FFFFFF"/>
          </a:solidFill>
          <a:ln w="9525">
            <a:solidFill>
              <a:srgbClr val="E8E9EE"/>
            </a:solidFill>
          </a:ln>
          <a:effectLst/>
        </p:spPr>
        <p:txBody>
          <a:bodyPr rtlCol="0" anchor="ctr"/>
          <a:lstStyle/>
          <a:p>
            <a:pPr algn="ctr"/>
          </a:p>
        </p:txBody>
      </p:sp>
      <p:sp>
        <p:nvSpPr>
          <p:cNvPr id="23" name="TextBox 22"/>
          <p:cNvSpPr txBox="1"/>
          <p:nvPr/>
        </p:nvSpPr>
        <p:spPr>
          <a:xfrm>
            <a:off x="8357615" y="4709160"/>
            <a:ext cx="1042416" cy="256032"/>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Deccan Herald</a:t>
            </a:r>
          </a:p>
        </p:txBody>
      </p:sp>
      <p:sp>
        <p:nvSpPr>
          <p:cNvPr id="24" name="Rounded Rectangle 23"/>
          <p:cNvSpPr/>
          <p:nvPr/>
        </p:nvSpPr>
        <p:spPr>
          <a:xfrm>
            <a:off x="9473183" y="4709160"/>
            <a:ext cx="1078992" cy="256032"/>
          </a:xfrm>
          <a:prstGeom prst="roundRect">
            <a:avLst>
              <a:gd name="adj" fmla="val 50000"/>
            </a:avLst>
          </a:prstGeom>
          <a:solidFill>
            <a:srgbClr val="FFFFFF"/>
          </a:solidFill>
          <a:ln w="9525">
            <a:solidFill>
              <a:srgbClr val="E8E9EE"/>
            </a:solidFill>
          </a:ln>
          <a:effectLst/>
        </p:spPr>
        <p:txBody>
          <a:bodyPr rtlCol="0" anchor="ctr"/>
          <a:lstStyle/>
          <a:p>
            <a:pPr algn="ctr"/>
          </a:p>
        </p:txBody>
      </p:sp>
      <p:sp>
        <p:nvSpPr>
          <p:cNvPr id="25" name="TextBox 24"/>
          <p:cNvSpPr txBox="1"/>
          <p:nvPr/>
        </p:nvSpPr>
        <p:spPr>
          <a:xfrm>
            <a:off x="9491471" y="4709160"/>
            <a:ext cx="1042416" cy="256032"/>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Economic Times</a:t>
            </a:r>
          </a:p>
        </p:txBody>
      </p:sp>
      <p:sp>
        <p:nvSpPr>
          <p:cNvPr id="26" name="Rounded Rectangle 25"/>
          <p:cNvSpPr/>
          <p:nvPr/>
        </p:nvSpPr>
        <p:spPr>
          <a:xfrm>
            <a:off x="10607039" y="4709160"/>
            <a:ext cx="1078992" cy="256032"/>
          </a:xfrm>
          <a:prstGeom prst="roundRect">
            <a:avLst>
              <a:gd name="adj" fmla="val 50000"/>
            </a:avLst>
          </a:prstGeom>
          <a:solidFill>
            <a:srgbClr val="FFFFFF"/>
          </a:solidFill>
          <a:ln w="9525">
            <a:solidFill>
              <a:srgbClr val="E8E9EE"/>
            </a:solidFill>
          </a:ln>
          <a:effectLst/>
        </p:spPr>
        <p:txBody>
          <a:bodyPr rtlCol="0" anchor="ctr"/>
          <a:lstStyle/>
          <a:p>
            <a:pPr algn="ctr"/>
          </a:p>
        </p:txBody>
      </p:sp>
      <p:sp>
        <p:nvSpPr>
          <p:cNvPr id="27" name="TextBox 26"/>
          <p:cNvSpPr txBox="1"/>
          <p:nvPr/>
        </p:nvSpPr>
        <p:spPr>
          <a:xfrm>
            <a:off x="10625327" y="4709160"/>
            <a:ext cx="1042416" cy="256032"/>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Fortune India</a:t>
            </a:r>
          </a:p>
        </p:txBody>
      </p:sp>
      <p:sp>
        <p:nvSpPr>
          <p:cNvPr id="28" name="Rounded Rectangle 27"/>
          <p:cNvSpPr/>
          <p:nvPr/>
        </p:nvSpPr>
        <p:spPr>
          <a:xfrm>
            <a:off x="8339327" y="5020056"/>
            <a:ext cx="1078992" cy="256032"/>
          </a:xfrm>
          <a:prstGeom prst="roundRect">
            <a:avLst>
              <a:gd name="adj" fmla="val 50000"/>
            </a:avLst>
          </a:prstGeom>
          <a:solidFill>
            <a:srgbClr val="FFFFFF"/>
          </a:solidFill>
          <a:ln w="9525">
            <a:solidFill>
              <a:srgbClr val="E8E9EE"/>
            </a:solidFill>
          </a:ln>
          <a:effectLst/>
        </p:spPr>
        <p:txBody>
          <a:bodyPr rtlCol="0" anchor="ctr"/>
          <a:lstStyle/>
          <a:p>
            <a:pPr algn="ctr"/>
          </a:p>
        </p:txBody>
      </p:sp>
      <p:sp>
        <p:nvSpPr>
          <p:cNvPr id="29" name="TextBox 28"/>
          <p:cNvSpPr txBox="1"/>
          <p:nvPr/>
        </p:nvSpPr>
        <p:spPr>
          <a:xfrm>
            <a:off x="8357615" y="5020056"/>
            <a:ext cx="1042416" cy="256032"/>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IndiaSpend</a:t>
            </a:r>
          </a:p>
        </p:txBody>
      </p:sp>
      <p:sp>
        <p:nvSpPr>
          <p:cNvPr id="30" name="Rounded Rectangle 29"/>
          <p:cNvSpPr/>
          <p:nvPr/>
        </p:nvSpPr>
        <p:spPr>
          <a:xfrm>
            <a:off x="9473183" y="5020056"/>
            <a:ext cx="1078992" cy="256032"/>
          </a:xfrm>
          <a:prstGeom prst="roundRect">
            <a:avLst>
              <a:gd name="adj" fmla="val 50000"/>
            </a:avLst>
          </a:prstGeom>
          <a:solidFill>
            <a:srgbClr val="FFFFFF"/>
          </a:solidFill>
          <a:ln w="9525">
            <a:solidFill>
              <a:srgbClr val="E8E9EE"/>
            </a:solidFill>
          </a:ln>
          <a:effectLst/>
        </p:spPr>
        <p:txBody>
          <a:bodyPr rtlCol="0" anchor="ctr"/>
          <a:lstStyle/>
          <a:p>
            <a:pPr algn="ctr"/>
          </a:p>
        </p:txBody>
      </p:sp>
      <p:sp>
        <p:nvSpPr>
          <p:cNvPr id="31" name="TextBox 30"/>
          <p:cNvSpPr txBox="1"/>
          <p:nvPr/>
        </p:nvSpPr>
        <p:spPr>
          <a:xfrm>
            <a:off x="9491471" y="5020056"/>
            <a:ext cx="1042416" cy="256032"/>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Scroll.in</a:t>
            </a:r>
          </a:p>
        </p:txBody>
      </p:sp>
      <p:sp>
        <p:nvSpPr>
          <p:cNvPr id="32" name="Rounded Rectangle 31"/>
          <p:cNvSpPr/>
          <p:nvPr/>
        </p:nvSpPr>
        <p:spPr>
          <a:xfrm>
            <a:off x="10607039" y="5020056"/>
            <a:ext cx="1078992" cy="256032"/>
          </a:xfrm>
          <a:prstGeom prst="roundRect">
            <a:avLst>
              <a:gd name="adj" fmla="val 50000"/>
            </a:avLst>
          </a:prstGeom>
          <a:solidFill>
            <a:srgbClr val="FFFFFF"/>
          </a:solidFill>
          <a:ln w="9525">
            <a:solidFill>
              <a:srgbClr val="E8E9EE"/>
            </a:solidFill>
          </a:ln>
          <a:effectLst/>
        </p:spPr>
        <p:txBody>
          <a:bodyPr rtlCol="0" anchor="ctr"/>
          <a:lstStyle/>
          <a:p>
            <a:pPr algn="ctr"/>
          </a:p>
        </p:txBody>
      </p:sp>
      <p:sp>
        <p:nvSpPr>
          <p:cNvPr id="33" name="TextBox 32"/>
          <p:cNvSpPr txBox="1"/>
          <p:nvPr/>
        </p:nvSpPr>
        <p:spPr>
          <a:xfrm>
            <a:off x="10625327" y="5020056"/>
            <a:ext cx="1042416" cy="256032"/>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The Wire</a:t>
            </a:r>
          </a:p>
        </p:txBody>
      </p:sp>
      <p:sp>
        <p:nvSpPr>
          <p:cNvPr id="34" name="Rounded Rectangle 33"/>
          <p:cNvSpPr/>
          <p:nvPr/>
        </p:nvSpPr>
        <p:spPr>
          <a:xfrm>
            <a:off x="8339327" y="5330952"/>
            <a:ext cx="1078992" cy="256032"/>
          </a:xfrm>
          <a:prstGeom prst="roundRect">
            <a:avLst>
              <a:gd name="adj" fmla="val 50000"/>
            </a:avLst>
          </a:prstGeom>
          <a:solidFill>
            <a:srgbClr val="FFFFFF"/>
          </a:solidFill>
          <a:ln w="9525">
            <a:solidFill>
              <a:srgbClr val="E8E9EE"/>
            </a:solidFill>
          </a:ln>
          <a:effectLst/>
        </p:spPr>
        <p:txBody>
          <a:bodyPr rtlCol="0" anchor="ctr"/>
          <a:lstStyle/>
          <a:p>
            <a:pPr algn="ctr"/>
          </a:p>
        </p:txBody>
      </p:sp>
      <p:sp>
        <p:nvSpPr>
          <p:cNvPr id="35" name="TextBox 34"/>
          <p:cNvSpPr txBox="1"/>
          <p:nvPr/>
        </p:nvSpPr>
        <p:spPr>
          <a:xfrm>
            <a:off x="8357615" y="5330952"/>
            <a:ext cx="1042416" cy="256032"/>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Times of India</a:t>
            </a:r>
          </a:p>
        </p:txBody>
      </p:sp>
      <p:sp>
        <p:nvSpPr>
          <p:cNvPr id="36" name="Rounded Rectangle 35"/>
          <p:cNvSpPr/>
          <p:nvPr/>
        </p:nvSpPr>
        <p:spPr>
          <a:xfrm>
            <a:off x="9473183" y="5330952"/>
            <a:ext cx="1078992" cy="256032"/>
          </a:xfrm>
          <a:prstGeom prst="roundRect">
            <a:avLst>
              <a:gd name="adj" fmla="val 50000"/>
            </a:avLst>
          </a:prstGeom>
          <a:solidFill>
            <a:srgbClr val="FFFFFF"/>
          </a:solidFill>
          <a:ln w="9525">
            <a:solidFill>
              <a:srgbClr val="E8E9EE"/>
            </a:solidFill>
          </a:ln>
          <a:effectLst/>
        </p:spPr>
        <p:txBody>
          <a:bodyPr rtlCol="0" anchor="ctr"/>
          <a:lstStyle/>
          <a:p>
            <a:pPr algn="ctr"/>
          </a:p>
        </p:txBody>
      </p:sp>
      <p:sp>
        <p:nvSpPr>
          <p:cNvPr id="37" name="TextBox 36"/>
          <p:cNvSpPr txBox="1"/>
          <p:nvPr/>
        </p:nvSpPr>
        <p:spPr>
          <a:xfrm>
            <a:off x="9491471" y="5330952"/>
            <a:ext cx="1042416" cy="256032"/>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Business Standard</a:t>
            </a:r>
          </a:p>
        </p:txBody>
      </p:sp>
      <p:sp>
        <p:nvSpPr>
          <p:cNvPr id="38" name="TextBox 37"/>
          <p:cNvSpPr txBox="1"/>
          <p:nvPr/>
        </p:nvSpPr>
        <p:spPr>
          <a:xfrm>
            <a:off x="566928" y="5440680"/>
            <a:ext cx="6035040" cy="502920"/>
          </a:xfrm>
          <a:prstGeom prst="rect">
            <a:avLst/>
          </a:prstGeom>
          <a:noFill/>
        </p:spPr>
        <p:txBody>
          <a:bodyPr wrap="square" lIns="0" rIns="0" tIns="0" bIns="0" anchor="t">
            <a:spAutoFit/>
          </a:bodyPr>
          <a:lstStyle/>
          <a:p>
            <a:pPr algn="l">
              <a:lnSpc>
                <a:spcPct val="130000"/>
              </a:lnSpc>
            </a:pPr>
            <a:r>
              <a:rPr sz="1000" b="0" i="0">
                <a:solidFill>
                  <a:srgbClr val="6E7180"/>
                </a:solidFill>
                <a:latin typeface="Geist"/>
              </a:rPr>
              <a:t>Dhoni's voice powers 'Be a Rakshak', school-zone safety and compensation-awareness campaigns.</a:t>
            </a:r>
          </a:p>
        </p:txBody>
      </p:sp>
      <p:cxnSp>
        <p:nvCxnSpPr>
          <p:cNvPr id="39" name="Connector 38"/>
          <p:cNvCxnSpPr/>
          <p:nvPr/>
        </p:nvCxnSpPr>
        <p:spPr>
          <a:xfrm>
            <a:off x="566928" y="6455664"/>
            <a:ext cx="11057839" cy="0"/>
          </a:xfrm>
          <a:prstGeom prst="line">
            <a:avLst/>
          </a:prstGeom>
          <a:ln w="9525">
            <a:solidFill>
              <a:srgbClr val="E8E9EE"/>
            </a:solidFill>
          </a:ln>
          <a:effectLst/>
        </p:spPr>
      </p:cxnSp>
      <p:sp>
        <p:nvSpPr>
          <p:cNvPr id="40" name="TextBox 39"/>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41" name="TextBox 40"/>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13 / 28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2 OF 5  ·  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THE NETWORK</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The institutions </a:t>
            </a:r>
            <a:r>
              <a:rPr sz="2250" b="1" i="0">
                <a:solidFill>
                  <a:srgbClr val="4A35FF"/>
                </a:solidFill>
                <a:latin typeface="Montserrat"/>
              </a:rPr>
              <a:t>around the work</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As they appear in our working decks, engagement ranges from formal MoUs and written approvals to jury, mentoring and research collaboration.</a:t>
            </a:r>
          </a:p>
        </p:txBody>
      </p:sp>
      <p:sp>
        <p:nvSpPr>
          <p:cNvPr id="8" name="TextBox 7"/>
          <p:cNvSpPr txBox="1"/>
          <p:nvPr/>
        </p:nvSpPr>
        <p:spPr>
          <a:xfrm>
            <a:off x="566928" y="1783080"/>
            <a:ext cx="10972800" cy="219456"/>
          </a:xfrm>
          <a:prstGeom prst="rect">
            <a:avLst/>
          </a:prstGeom>
          <a:noFill/>
        </p:spPr>
        <p:txBody>
          <a:bodyPr wrap="square" lIns="0" rIns="0" tIns="0" bIns="0" anchor="t">
            <a:spAutoFit/>
          </a:bodyPr>
          <a:lstStyle/>
          <a:p>
            <a:pPr algn="l">
              <a:lnSpc>
                <a:spcPct val="128000"/>
              </a:lnSpc>
            </a:pPr>
            <a:r>
              <a:rPr sz="850" b="1" i="0" spc="150">
                <a:solidFill>
                  <a:srgbClr val="6E7180"/>
                </a:solidFill>
                <a:latin typeface="Montserrat"/>
              </a:rPr>
              <a:t>AUTHORITIES &amp; PUBLIC BODIES WE WORK WITH</a:t>
            </a:r>
          </a:p>
        </p:txBody>
      </p:sp>
      <p:sp>
        <p:nvSpPr>
          <p:cNvPr id="9" name="Rounded Rectangle 8"/>
          <p:cNvSpPr/>
          <p:nvPr/>
        </p:nvSpPr>
        <p:spPr>
          <a:xfrm>
            <a:off x="566928" y="205740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10" name="Picture 9" descr="lg_nhai.png"/>
          <p:cNvPicPr>
            <a:picLocks noChangeAspect="1"/>
          </p:cNvPicPr>
          <p:nvPr/>
        </p:nvPicPr>
        <p:blipFill>
          <a:blip r:embed="rId2"/>
          <a:stretch>
            <a:fillRect/>
          </a:stretch>
        </p:blipFill>
        <p:spPr>
          <a:xfrm>
            <a:off x="841725" y="2167128"/>
            <a:ext cx="748854" cy="493776"/>
          </a:xfrm>
          <a:prstGeom prst="rect">
            <a:avLst/>
          </a:prstGeom>
        </p:spPr>
      </p:pic>
      <p:sp>
        <p:nvSpPr>
          <p:cNvPr id="11" name="Rounded Rectangle 10"/>
          <p:cNvSpPr/>
          <p:nvPr/>
        </p:nvSpPr>
        <p:spPr>
          <a:xfrm>
            <a:off x="1956816" y="205740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12" name="Picture 11" descr="lg_pwd.png"/>
          <p:cNvPicPr>
            <a:picLocks noChangeAspect="1"/>
          </p:cNvPicPr>
          <p:nvPr/>
        </p:nvPicPr>
        <p:blipFill>
          <a:blip r:embed="rId3"/>
          <a:stretch>
            <a:fillRect/>
          </a:stretch>
        </p:blipFill>
        <p:spPr>
          <a:xfrm>
            <a:off x="2234145" y="2167128"/>
            <a:ext cx="743789" cy="493776"/>
          </a:xfrm>
          <a:prstGeom prst="rect">
            <a:avLst/>
          </a:prstGeom>
        </p:spPr>
      </p:pic>
      <p:sp>
        <p:nvSpPr>
          <p:cNvPr id="13" name="Rounded Rectangle 12"/>
          <p:cNvSpPr/>
          <p:nvPr/>
        </p:nvSpPr>
        <p:spPr>
          <a:xfrm>
            <a:off x="3346704" y="205740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14" name="Picture 13" descr="lg_indore_nn.png"/>
          <p:cNvPicPr>
            <a:picLocks noChangeAspect="1"/>
          </p:cNvPicPr>
          <p:nvPr/>
        </p:nvPicPr>
        <p:blipFill>
          <a:blip r:embed="rId4"/>
          <a:stretch>
            <a:fillRect/>
          </a:stretch>
        </p:blipFill>
        <p:spPr>
          <a:xfrm>
            <a:off x="3784517" y="2167128"/>
            <a:ext cx="422822" cy="493776"/>
          </a:xfrm>
          <a:prstGeom prst="rect">
            <a:avLst/>
          </a:prstGeom>
        </p:spPr>
      </p:pic>
      <p:sp>
        <p:nvSpPr>
          <p:cNvPr id="15" name="Rounded Rectangle 14"/>
          <p:cNvSpPr/>
          <p:nvPr/>
        </p:nvSpPr>
        <p:spPr>
          <a:xfrm>
            <a:off x="4736592" y="205740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16" name="Picture 15" descr="lg_vijayawada_police.png"/>
          <p:cNvPicPr>
            <a:picLocks noChangeAspect="1"/>
          </p:cNvPicPr>
          <p:nvPr/>
        </p:nvPicPr>
        <p:blipFill>
          <a:blip r:embed="rId5"/>
          <a:stretch>
            <a:fillRect/>
          </a:stretch>
        </p:blipFill>
        <p:spPr>
          <a:xfrm>
            <a:off x="5138928" y="2167128"/>
            <a:ext cx="493776" cy="493776"/>
          </a:xfrm>
          <a:prstGeom prst="rect">
            <a:avLst/>
          </a:prstGeom>
        </p:spPr>
      </p:pic>
      <p:sp>
        <p:nvSpPr>
          <p:cNvPr id="17" name="Rounded Rectangle 16"/>
          <p:cNvSpPr/>
          <p:nvPr/>
        </p:nvSpPr>
        <p:spPr>
          <a:xfrm>
            <a:off x="6126480" y="205740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18" name="Picture 17" descr="lg_haryana_police.png"/>
          <p:cNvPicPr>
            <a:picLocks noChangeAspect="1"/>
          </p:cNvPicPr>
          <p:nvPr/>
        </p:nvPicPr>
        <p:blipFill>
          <a:blip r:embed="rId6"/>
          <a:stretch>
            <a:fillRect/>
          </a:stretch>
        </p:blipFill>
        <p:spPr>
          <a:xfrm>
            <a:off x="6528816" y="2167128"/>
            <a:ext cx="493776" cy="493776"/>
          </a:xfrm>
          <a:prstGeom prst="rect">
            <a:avLst/>
          </a:prstGeom>
        </p:spPr>
      </p:pic>
      <p:sp>
        <p:nvSpPr>
          <p:cNvPr id="19" name="Rounded Rectangle 18"/>
          <p:cNvSpPr/>
          <p:nvPr/>
        </p:nvSpPr>
        <p:spPr>
          <a:xfrm>
            <a:off x="7516368" y="205740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20" name="Picture 19" descr="lg_kolkata_police.png"/>
          <p:cNvPicPr>
            <a:picLocks noChangeAspect="1"/>
          </p:cNvPicPr>
          <p:nvPr/>
        </p:nvPicPr>
        <p:blipFill>
          <a:blip r:embed="rId7"/>
          <a:stretch>
            <a:fillRect/>
          </a:stretch>
        </p:blipFill>
        <p:spPr>
          <a:xfrm>
            <a:off x="7909726" y="2167128"/>
            <a:ext cx="511731" cy="493776"/>
          </a:xfrm>
          <a:prstGeom prst="rect">
            <a:avLst/>
          </a:prstGeom>
        </p:spPr>
      </p:pic>
      <p:sp>
        <p:nvSpPr>
          <p:cNvPr id="21" name="Rounded Rectangle 20"/>
          <p:cNvSpPr/>
          <p:nvPr/>
        </p:nvSpPr>
        <p:spPr>
          <a:xfrm>
            <a:off x="8906256" y="205740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22" name="Picture 21" descr="lg_kozhikode_tp.png"/>
          <p:cNvPicPr>
            <a:picLocks noChangeAspect="1"/>
          </p:cNvPicPr>
          <p:nvPr/>
        </p:nvPicPr>
        <p:blipFill>
          <a:blip r:embed="rId8"/>
          <a:stretch>
            <a:fillRect/>
          </a:stretch>
        </p:blipFill>
        <p:spPr>
          <a:xfrm>
            <a:off x="9307490" y="2167128"/>
            <a:ext cx="495980" cy="493776"/>
          </a:xfrm>
          <a:prstGeom prst="rect">
            <a:avLst/>
          </a:prstGeom>
        </p:spPr>
      </p:pic>
      <p:sp>
        <p:nvSpPr>
          <p:cNvPr id="23" name="Rounded Rectangle 22"/>
          <p:cNvSpPr/>
          <p:nvPr/>
        </p:nvSpPr>
        <p:spPr>
          <a:xfrm>
            <a:off x="10296144" y="205740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24" name="Picture 23" descr="lg_dlsa.png"/>
          <p:cNvPicPr>
            <a:picLocks noChangeAspect="1"/>
          </p:cNvPicPr>
          <p:nvPr/>
        </p:nvPicPr>
        <p:blipFill>
          <a:blip r:embed="rId9"/>
          <a:stretch>
            <a:fillRect/>
          </a:stretch>
        </p:blipFill>
        <p:spPr>
          <a:xfrm>
            <a:off x="10735297" y="2167128"/>
            <a:ext cx="420142" cy="493776"/>
          </a:xfrm>
          <a:prstGeom prst="rect">
            <a:avLst/>
          </a:prstGeom>
        </p:spPr>
      </p:pic>
      <p:sp>
        <p:nvSpPr>
          <p:cNvPr id="25" name="TextBox 24"/>
          <p:cNvSpPr txBox="1"/>
          <p:nvPr/>
        </p:nvSpPr>
        <p:spPr>
          <a:xfrm>
            <a:off x="566928" y="3063240"/>
            <a:ext cx="10972800" cy="219456"/>
          </a:xfrm>
          <a:prstGeom prst="rect">
            <a:avLst/>
          </a:prstGeom>
          <a:noFill/>
        </p:spPr>
        <p:txBody>
          <a:bodyPr wrap="square" lIns="0" rIns="0" tIns="0" bIns="0" anchor="t">
            <a:spAutoFit/>
          </a:bodyPr>
          <a:lstStyle/>
          <a:p>
            <a:pPr algn="l">
              <a:lnSpc>
                <a:spcPct val="128000"/>
              </a:lnSpc>
            </a:pPr>
            <a:r>
              <a:rPr sz="850" b="1" i="0" spc="150">
                <a:solidFill>
                  <a:srgbClr val="6E7180"/>
                </a:solidFill>
                <a:latin typeface="Montserrat"/>
              </a:rPr>
              <a:t>UNIVERSITIES &amp; INSTITUTES FIELDING AUDIT TEAMS</a:t>
            </a:r>
          </a:p>
        </p:txBody>
      </p:sp>
      <p:sp>
        <p:nvSpPr>
          <p:cNvPr id="26" name="Rounded Rectangle 25"/>
          <p:cNvSpPr/>
          <p:nvPr/>
        </p:nvSpPr>
        <p:spPr>
          <a:xfrm>
            <a:off x="566928" y="333756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27" name="Picture 26" descr="lg_iitm.png"/>
          <p:cNvPicPr>
            <a:picLocks noChangeAspect="1"/>
          </p:cNvPicPr>
          <p:nvPr/>
        </p:nvPicPr>
        <p:blipFill>
          <a:blip r:embed="rId10"/>
          <a:stretch>
            <a:fillRect/>
          </a:stretch>
        </p:blipFill>
        <p:spPr>
          <a:xfrm>
            <a:off x="969264" y="3447288"/>
            <a:ext cx="493776" cy="493776"/>
          </a:xfrm>
          <a:prstGeom prst="rect">
            <a:avLst/>
          </a:prstGeom>
        </p:spPr>
      </p:pic>
      <p:sp>
        <p:nvSpPr>
          <p:cNvPr id="28" name="Rounded Rectangle 27"/>
          <p:cNvSpPr/>
          <p:nvPr/>
        </p:nvSpPr>
        <p:spPr>
          <a:xfrm>
            <a:off x="1956816" y="333756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29" name="Picture 28" descr="lg_iitd.png"/>
          <p:cNvPicPr>
            <a:picLocks noChangeAspect="1"/>
          </p:cNvPicPr>
          <p:nvPr/>
        </p:nvPicPr>
        <p:blipFill>
          <a:blip r:embed="rId11"/>
          <a:stretch>
            <a:fillRect/>
          </a:stretch>
        </p:blipFill>
        <p:spPr>
          <a:xfrm>
            <a:off x="2361751" y="3447288"/>
            <a:ext cx="488578" cy="493776"/>
          </a:xfrm>
          <a:prstGeom prst="rect">
            <a:avLst/>
          </a:prstGeom>
        </p:spPr>
      </p:pic>
      <p:sp>
        <p:nvSpPr>
          <p:cNvPr id="30" name="Rounded Rectangle 29"/>
          <p:cNvSpPr/>
          <p:nvPr/>
        </p:nvSpPr>
        <p:spPr>
          <a:xfrm>
            <a:off x="3346704" y="333756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31" name="Picture 30" descr="lg_nitc.png"/>
          <p:cNvPicPr>
            <a:picLocks noChangeAspect="1"/>
          </p:cNvPicPr>
          <p:nvPr/>
        </p:nvPicPr>
        <p:blipFill>
          <a:blip r:embed="rId12"/>
          <a:stretch>
            <a:fillRect/>
          </a:stretch>
        </p:blipFill>
        <p:spPr>
          <a:xfrm>
            <a:off x="3784951" y="3447288"/>
            <a:ext cx="421954" cy="493776"/>
          </a:xfrm>
          <a:prstGeom prst="rect">
            <a:avLst/>
          </a:prstGeom>
        </p:spPr>
      </p:pic>
      <p:sp>
        <p:nvSpPr>
          <p:cNvPr id="32" name="Rounded Rectangle 31"/>
          <p:cNvSpPr/>
          <p:nvPr/>
        </p:nvSpPr>
        <p:spPr>
          <a:xfrm>
            <a:off x="4736592" y="333756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33" name="Picture 32" descr="lg_u29.png"/>
          <p:cNvPicPr>
            <a:picLocks noChangeAspect="1"/>
          </p:cNvPicPr>
          <p:nvPr/>
        </p:nvPicPr>
        <p:blipFill>
          <a:blip r:embed="rId13"/>
          <a:stretch>
            <a:fillRect/>
          </a:stretch>
        </p:blipFill>
        <p:spPr>
          <a:xfrm>
            <a:off x="5136329" y="3447288"/>
            <a:ext cx="498973" cy="493776"/>
          </a:xfrm>
          <a:prstGeom prst="rect">
            <a:avLst/>
          </a:prstGeom>
        </p:spPr>
      </p:pic>
      <p:sp>
        <p:nvSpPr>
          <p:cNvPr id="34" name="Rounded Rectangle 33"/>
          <p:cNvSpPr/>
          <p:nvPr/>
        </p:nvSpPr>
        <p:spPr>
          <a:xfrm>
            <a:off x="6126480" y="333756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35" name="Picture 34" descr="lg_u30.png"/>
          <p:cNvPicPr>
            <a:picLocks noChangeAspect="1"/>
          </p:cNvPicPr>
          <p:nvPr/>
        </p:nvPicPr>
        <p:blipFill>
          <a:blip r:embed="rId14"/>
          <a:stretch>
            <a:fillRect/>
          </a:stretch>
        </p:blipFill>
        <p:spPr>
          <a:xfrm>
            <a:off x="6453450" y="3447288"/>
            <a:ext cx="644507" cy="493776"/>
          </a:xfrm>
          <a:prstGeom prst="rect">
            <a:avLst/>
          </a:prstGeom>
        </p:spPr>
      </p:pic>
      <p:sp>
        <p:nvSpPr>
          <p:cNvPr id="36" name="Rounded Rectangle 35"/>
          <p:cNvSpPr/>
          <p:nvPr/>
        </p:nvSpPr>
        <p:spPr>
          <a:xfrm>
            <a:off x="7516368" y="333756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37" name="Picture 36" descr="lg_u25.png"/>
          <p:cNvPicPr>
            <a:picLocks noChangeAspect="1"/>
          </p:cNvPicPr>
          <p:nvPr/>
        </p:nvPicPr>
        <p:blipFill>
          <a:blip r:embed="rId15"/>
          <a:stretch>
            <a:fillRect/>
          </a:stretch>
        </p:blipFill>
        <p:spPr>
          <a:xfrm>
            <a:off x="7918704" y="3447288"/>
            <a:ext cx="493776" cy="493776"/>
          </a:xfrm>
          <a:prstGeom prst="rect">
            <a:avLst/>
          </a:prstGeom>
        </p:spPr>
      </p:pic>
      <p:sp>
        <p:nvSpPr>
          <p:cNvPr id="38" name="Rounded Rectangle 37"/>
          <p:cNvSpPr/>
          <p:nvPr/>
        </p:nvSpPr>
        <p:spPr>
          <a:xfrm>
            <a:off x="8906256" y="333756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39" name="Picture 38" descr="lg_u22.png"/>
          <p:cNvPicPr>
            <a:picLocks noChangeAspect="1"/>
          </p:cNvPicPr>
          <p:nvPr/>
        </p:nvPicPr>
        <p:blipFill>
          <a:blip r:embed="rId16"/>
          <a:stretch>
            <a:fillRect/>
          </a:stretch>
        </p:blipFill>
        <p:spPr>
          <a:xfrm>
            <a:off x="9308592" y="3447288"/>
            <a:ext cx="493776" cy="493776"/>
          </a:xfrm>
          <a:prstGeom prst="rect">
            <a:avLst/>
          </a:prstGeom>
        </p:spPr>
      </p:pic>
      <p:sp>
        <p:nvSpPr>
          <p:cNvPr id="40" name="Rounded Rectangle 39"/>
          <p:cNvSpPr/>
          <p:nvPr/>
        </p:nvSpPr>
        <p:spPr>
          <a:xfrm>
            <a:off x="10296144" y="333756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41" name="Picture 40" descr="lg_u105.png"/>
          <p:cNvPicPr>
            <a:picLocks noChangeAspect="1"/>
          </p:cNvPicPr>
          <p:nvPr/>
        </p:nvPicPr>
        <p:blipFill>
          <a:blip r:embed="rId17"/>
          <a:stretch>
            <a:fillRect/>
          </a:stretch>
        </p:blipFill>
        <p:spPr>
          <a:xfrm>
            <a:off x="10698480" y="3447288"/>
            <a:ext cx="493776" cy="493776"/>
          </a:xfrm>
          <a:prstGeom prst="rect">
            <a:avLst/>
          </a:prstGeom>
        </p:spPr>
      </p:pic>
      <p:sp>
        <p:nvSpPr>
          <p:cNvPr id="42" name="TextBox 41"/>
          <p:cNvSpPr txBox="1"/>
          <p:nvPr/>
        </p:nvSpPr>
        <p:spPr>
          <a:xfrm>
            <a:off x="566928" y="4343400"/>
            <a:ext cx="10972800" cy="219456"/>
          </a:xfrm>
          <a:prstGeom prst="rect">
            <a:avLst/>
          </a:prstGeom>
          <a:noFill/>
        </p:spPr>
        <p:txBody>
          <a:bodyPr wrap="square" lIns="0" rIns="0" tIns="0" bIns="0" anchor="t">
            <a:spAutoFit/>
          </a:bodyPr>
          <a:lstStyle/>
          <a:p>
            <a:pPr algn="l">
              <a:lnSpc>
                <a:spcPct val="128000"/>
              </a:lnSpc>
            </a:pPr>
            <a:r>
              <a:rPr sz="850" b="1" i="0" spc="150">
                <a:solidFill>
                  <a:srgbClr val="6E7180"/>
                </a:solidFill>
                <a:latin typeface="Montserrat"/>
              </a:rPr>
              <a:t>EXPERT &amp; ECOSYSTEM PARTNERS</a:t>
            </a:r>
          </a:p>
        </p:txBody>
      </p:sp>
      <p:sp>
        <p:nvSpPr>
          <p:cNvPr id="43" name="Rounded Rectangle 42"/>
          <p:cNvSpPr/>
          <p:nvPr/>
        </p:nvSpPr>
        <p:spPr>
          <a:xfrm>
            <a:off x="566928" y="461772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44" name="Picture 43" descr="lg_tripc.png"/>
          <p:cNvPicPr>
            <a:picLocks noChangeAspect="1"/>
          </p:cNvPicPr>
          <p:nvPr/>
        </p:nvPicPr>
        <p:blipFill>
          <a:blip r:embed="rId18"/>
          <a:stretch>
            <a:fillRect/>
          </a:stretch>
        </p:blipFill>
        <p:spPr>
          <a:xfrm>
            <a:off x="676656" y="4823014"/>
            <a:ext cx="1078992" cy="302644"/>
          </a:xfrm>
          <a:prstGeom prst="rect">
            <a:avLst/>
          </a:prstGeom>
        </p:spPr>
      </p:pic>
      <p:sp>
        <p:nvSpPr>
          <p:cNvPr id="45" name="Rounded Rectangle 44"/>
          <p:cNvSpPr/>
          <p:nvPr/>
        </p:nvSpPr>
        <p:spPr>
          <a:xfrm>
            <a:off x="1956816" y="461772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46" name="Picture 45" descr="lg_niua.png"/>
          <p:cNvPicPr>
            <a:picLocks noChangeAspect="1"/>
          </p:cNvPicPr>
          <p:nvPr/>
        </p:nvPicPr>
        <p:blipFill>
          <a:blip r:embed="rId19"/>
          <a:stretch>
            <a:fillRect/>
          </a:stretch>
        </p:blipFill>
        <p:spPr>
          <a:xfrm>
            <a:off x="2066544" y="4762204"/>
            <a:ext cx="1078992" cy="424263"/>
          </a:xfrm>
          <a:prstGeom prst="rect">
            <a:avLst/>
          </a:prstGeom>
        </p:spPr>
      </p:pic>
      <p:sp>
        <p:nvSpPr>
          <p:cNvPr id="47" name="Rounded Rectangle 46"/>
          <p:cNvSpPr/>
          <p:nvPr/>
        </p:nvSpPr>
        <p:spPr>
          <a:xfrm>
            <a:off x="3346704" y="461772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48" name="Picture 47" descr="lg_omi.png"/>
          <p:cNvPicPr>
            <a:picLocks noChangeAspect="1"/>
          </p:cNvPicPr>
          <p:nvPr/>
        </p:nvPicPr>
        <p:blipFill>
          <a:blip r:embed="rId20"/>
          <a:stretch>
            <a:fillRect/>
          </a:stretch>
        </p:blipFill>
        <p:spPr>
          <a:xfrm>
            <a:off x="3632379" y="4727448"/>
            <a:ext cx="727098" cy="493776"/>
          </a:xfrm>
          <a:prstGeom prst="rect">
            <a:avLst/>
          </a:prstGeom>
        </p:spPr>
      </p:pic>
      <p:sp>
        <p:nvSpPr>
          <p:cNvPr id="49" name="Rounded Rectangle 48"/>
          <p:cNvSpPr/>
          <p:nvPr/>
        </p:nvSpPr>
        <p:spPr>
          <a:xfrm>
            <a:off x="4736592" y="461772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50" name="Picture 49" descr="lg_wri.png"/>
          <p:cNvPicPr>
            <a:picLocks noChangeAspect="1"/>
          </p:cNvPicPr>
          <p:nvPr/>
        </p:nvPicPr>
        <p:blipFill>
          <a:blip r:embed="rId21"/>
          <a:stretch>
            <a:fillRect/>
          </a:stretch>
        </p:blipFill>
        <p:spPr>
          <a:xfrm>
            <a:off x="4846320" y="4781659"/>
            <a:ext cx="1078992" cy="385354"/>
          </a:xfrm>
          <a:prstGeom prst="rect">
            <a:avLst/>
          </a:prstGeom>
        </p:spPr>
      </p:pic>
      <p:sp>
        <p:nvSpPr>
          <p:cNvPr id="51" name="Rounded Rectangle 50"/>
          <p:cNvSpPr/>
          <p:nvPr/>
        </p:nvSpPr>
        <p:spPr>
          <a:xfrm>
            <a:off x="6126480" y="461772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52" name="Picture 51" descr="lg_cii.png"/>
          <p:cNvPicPr>
            <a:picLocks noChangeAspect="1"/>
          </p:cNvPicPr>
          <p:nvPr/>
        </p:nvPicPr>
        <p:blipFill>
          <a:blip r:embed="rId22"/>
          <a:stretch>
            <a:fillRect/>
          </a:stretch>
        </p:blipFill>
        <p:spPr>
          <a:xfrm>
            <a:off x="6236208" y="4809382"/>
            <a:ext cx="1078992" cy="329907"/>
          </a:xfrm>
          <a:prstGeom prst="rect">
            <a:avLst/>
          </a:prstGeom>
        </p:spPr>
      </p:pic>
      <p:sp>
        <p:nvSpPr>
          <p:cNvPr id="53" name="Rounded Rectangle 52"/>
          <p:cNvSpPr/>
          <p:nvPr/>
        </p:nvSpPr>
        <p:spPr>
          <a:xfrm>
            <a:off x="7516368" y="461772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54" name="Picture 53" descr="lg_gic.png"/>
          <p:cNvPicPr>
            <a:picLocks noChangeAspect="1"/>
          </p:cNvPicPr>
          <p:nvPr/>
        </p:nvPicPr>
        <p:blipFill>
          <a:blip r:embed="rId23"/>
          <a:stretch>
            <a:fillRect/>
          </a:stretch>
        </p:blipFill>
        <p:spPr>
          <a:xfrm>
            <a:off x="7705051" y="4727448"/>
            <a:ext cx="921082" cy="493776"/>
          </a:xfrm>
          <a:prstGeom prst="rect">
            <a:avLst/>
          </a:prstGeom>
        </p:spPr>
      </p:pic>
      <p:sp>
        <p:nvSpPr>
          <p:cNvPr id="55" name="Rounded Rectangle 54"/>
          <p:cNvSpPr/>
          <p:nvPr/>
        </p:nvSpPr>
        <p:spPr>
          <a:xfrm>
            <a:off x="8906256" y="461772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56" name="Picture 55" descr="lg_iffco.png"/>
          <p:cNvPicPr>
            <a:picLocks noChangeAspect="1"/>
          </p:cNvPicPr>
          <p:nvPr/>
        </p:nvPicPr>
        <p:blipFill>
          <a:blip r:embed="rId24"/>
          <a:stretch>
            <a:fillRect/>
          </a:stretch>
        </p:blipFill>
        <p:spPr>
          <a:xfrm>
            <a:off x="9116286" y="4727448"/>
            <a:ext cx="878388" cy="493776"/>
          </a:xfrm>
          <a:prstGeom prst="rect">
            <a:avLst/>
          </a:prstGeom>
        </p:spPr>
      </p:pic>
      <p:sp>
        <p:nvSpPr>
          <p:cNvPr id="57" name="Rounded Rectangle 56"/>
          <p:cNvSpPr/>
          <p:nvPr/>
        </p:nvSpPr>
        <p:spPr>
          <a:xfrm>
            <a:off x="10296144" y="461772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58" name="Picture 57" descr="lg_nia.png"/>
          <p:cNvPicPr>
            <a:picLocks noChangeAspect="1"/>
          </p:cNvPicPr>
          <p:nvPr/>
        </p:nvPicPr>
        <p:blipFill>
          <a:blip r:embed="rId25"/>
          <a:stretch>
            <a:fillRect/>
          </a:stretch>
        </p:blipFill>
        <p:spPr>
          <a:xfrm>
            <a:off x="10405872" y="4769184"/>
            <a:ext cx="1078992" cy="410304"/>
          </a:xfrm>
          <a:prstGeom prst="rect">
            <a:avLst/>
          </a:prstGeom>
        </p:spPr>
      </p:pic>
      <p:sp>
        <p:nvSpPr>
          <p:cNvPr id="59" name="Rounded Rectangle 58"/>
          <p:cNvSpPr/>
          <p:nvPr/>
        </p:nvSpPr>
        <p:spPr>
          <a:xfrm>
            <a:off x="566928" y="5623560"/>
            <a:ext cx="11057839" cy="548640"/>
          </a:xfrm>
          <a:prstGeom prst="roundRect">
            <a:avLst>
              <a:gd name="adj" fmla="val 14000"/>
            </a:avLst>
          </a:prstGeom>
          <a:solidFill>
            <a:srgbClr val="F7F7FA"/>
          </a:solidFill>
          <a:ln>
            <a:noFill/>
          </a:ln>
          <a:effectLst/>
        </p:spPr>
        <p:txBody>
          <a:bodyPr rtlCol="0" anchor="ctr"/>
          <a:lstStyle/>
          <a:p>
            <a:pPr algn="ctr"/>
          </a:p>
        </p:txBody>
      </p:sp>
      <p:sp>
        <p:nvSpPr>
          <p:cNvPr id="60" name="TextBox 59"/>
          <p:cNvSpPr txBox="1"/>
          <p:nvPr/>
        </p:nvSpPr>
        <p:spPr>
          <a:xfrm>
            <a:off x="768096" y="5715000"/>
            <a:ext cx="10646359" cy="384048"/>
          </a:xfrm>
          <a:prstGeom prst="rect">
            <a:avLst/>
          </a:prstGeom>
          <a:noFill/>
        </p:spPr>
        <p:txBody>
          <a:bodyPr wrap="square" lIns="0" rIns="0" tIns="0" bIns="0" anchor="t">
            <a:spAutoFit/>
          </a:bodyPr>
          <a:lstStyle/>
          <a:p>
            <a:pPr algn="l">
              <a:lnSpc>
                <a:spcPct val="120000"/>
              </a:lnSpc>
            </a:pPr>
            <a:r>
              <a:rPr sz="950" b="1" i="0">
                <a:solidFill>
                  <a:srgbClr val="16181D"/>
                </a:solidFill>
                <a:latin typeface="Geist"/>
              </a:rPr>
              <a:t>Plus: </a:t>
            </a:r>
            <a:r>
              <a:rPr sz="950" b="0" i="0">
                <a:solidFill>
                  <a:srgbClr val="6E7180"/>
                </a:solidFill>
                <a:latin typeface="Geist"/>
              </a:rPr>
              <a:t>Jaipur Traffic Police &amp; Gurugram Police (MoUs) · CPWD &amp; district administrations · Bloomberg, Johns Hopkins, Centre for Green Mobility and PwC experts on juries and reviews.</a:t>
            </a:r>
          </a:p>
        </p:txBody>
      </p:sp>
      <p:cxnSp>
        <p:nvCxnSpPr>
          <p:cNvPr id="61" name="Connector 60"/>
          <p:cNvCxnSpPr/>
          <p:nvPr/>
        </p:nvCxnSpPr>
        <p:spPr>
          <a:xfrm>
            <a:off x="566928" y="6455664"/>
            <a:ext cx="11057839" cy="0"/>
          </a:xfrm>
          <a:prstGeom prst="line">
            <a:avLst/>
          </a:prstGeom>
          <a:ln w="9525">
            <a:solidFill>
              <a:srgbClr val="E8E9EE"/>
            </a:solidFill>
          </a:ln>
          <a:effectLst/>
        </p:spPr>
      </p:cxnSp>
      <p:sp>
        <p:nvSpPr>
          <p:cNvPr id="62" name="TextBox 61"/>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63" name="TextBox 62"/>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14 / 28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3 OF 5  ·  OUR PEOPLE</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03 · OUR PEOPLE</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A full-time team </a:t>
            </a:r>
            <a:r>
              <a:rPr sz="2250" b="1" i="0">
                <a:solidFill>
                  <a:srgbClr val="4A35FF"/>
                </a:solidFill>
                <a:latin typeface="Montserrat"/>
              </a:rPr>
              <a:t>built for this work</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Engineering, law, policy, product and field operations, under trustees who have led Indian road safety for a decade.</a:t>
            </a:r>
          </a:p>
        </p:txBody>
      </p:sp>
      <p:sp>
        <p:nvSpPr>
          <p:cNvPr id="8" name="Rounded Rectangle 7"/>
          <p:cNvSpPr/>
          <p:nvPr/>
        </p:nvSpPr>
        <p:spPr>
          <a:xfrm>
            <a:off x="566928" y="1920240"/>
            <a:ext cx="3630168" cy="896112"/>
          </a:xfrm>
          <a:prstGeom prst="roundRect">
            <a:avLst>
              <a:gd name="adj" fmla="val 10000"/>
            </a:avLst>
          </a:prstGeom>
          <a:solidFill>
            <a:srgbClr val="F7F7FA"/>
          </a:solidFill>
          <a:ln>
            <a:noFill/>
          </a:ln>
          <a:effectLst/>
        </p:spPr>
        <p:txBody>
          <a:bodyPr rtlCol="0" anchor="ctr"/>
          <a:lstStyle/>
          <a:p>
            <a:pPr algn="ctr"/>
          </a:p>
        </p:txBody>
      </p:sp>
      <p:pic>
        <p:nvPicPr>
          <p:cNvPr id="9" name="Picture 8" descr="t_amar.png"/>
          <p:cNvPicPr>
            <a:picLocks noChangeAspect="1"/>
          </p:cNvPicPr>
          <p:nvPr/>
        </p:nvPicPr>
        <p:blipFill>
          <a:blip r:embed="rId2"/>
          <a:stretch>
            <a:fillRect/>
          </a:stretch>
        </p:blipFill>
        <p:spPr>
          <a:xfrm>
            <a:off x="685800" y="2039112"/>
            <a:ext cx="658368" cy="658368"/>
          </a:xfrm>
          <a:prstGeom prst="rect">
            <a:avLst/>
          </a:prstGeom>
        </p:spPr>
      </p:pic>
      <p:sp>
        <p:nvSpPr>
          <p:cNvPr id="10" name="TextBox 9"/>
          <p:cNvSpPr txBox="1"/>
          <p:nvPr/>
        </p:nvSpPr>
        <p:spPr>
          <a:xfrm>
            <a:off x="1463040" y="2011680"/>
            <a:ext cx="2651760" cy="292608"/>
          </a:xfrm>
          <a:prstGeom prst="rect">
            <a:avLst/>
          </a:prstGeom>
          <a:noFill/>
        </p:spPr>
        <p:txBody>
          <a:bodyPr wrap="square" lIns="0" rIns="0" tIns="0" bIns="0" anchor="t">
            <a:spAutoFit/>
          </a:bodyPr>
          <a:lstStyle/>
          <a:p>
            <a:pPr algn="l">
              <a:lnSpc>
                <a:spcPct val="128000"/>
              </a:lnSpc>
            </a:pPr>
            <a:r>
              <a:rPr sz="1050" b="1" i="0">
                <a:solidFill>
                  <a:srgbClr val="16181D"/>
                </a:solidFill>
                <a:latin typeface="Montserrat"/>
              </a:rPr>
              <a:t>Amar Srivastava</a:t>
            </a:r>
          </a:p>
        </p:txBody>
      </p:sp>
      <p:sp>
        <p:nvSpPr>
          <p:cNvPr id="11" name="TextBox 10"/>
          <p:cNvSpPr txBox="1"/>
          <p:nvPr/>
        </p:nvSpPr>
        <p:spPr>
          <a:xfrm>
            <a:off x="1463040" y="2286000"/>
            <a:ext cx="2651760" cy="502920"/>
          </a:xfrm>
          <a:prstGeom prst="rect">
            <a:avLst/>
          </a:prstGeom>
          <a:noFill/>
        </p:spPr>
        <p:txBody>
          <a:bodyPr wrap="square" lIns="0" rIns="0" tIns="0" bIns="0" anchor="t">
            <a:spAutoFit/>
          </a:bodyPr>
          <a:lstStyle/>
          <a:p>
            <a:pPr algn="l">
              <a:lnSpc>
                <a:spcPct val="115000"/>
              </a:lnSpc>
            </a:pPr>
            <a:r>
              <a:rPr sz="800" b="0" i="0">
                <a:solidFill>
                  <a:srgbClr val="6E7180"/>
                </a:solidFill>
                <a:latin typeface="Geist"/>
              </a:rPr>
              <a:t>President · Founder, Indian Road Safety Campaign · Member, National Road Safety Council</a:t>
            </a:r>
          </a:p>
        </p:txBody>
      </p:sp>
      <p:sp>
        <p:nvSpPr>
          <p:cNvPr id="12" name="Rounded Rectangle 11"/>
          <p:cNvSpPr/>
          <p:nvPr/>
        </p:nvSpPr>
        <p:spPr>
          <a:xfrm>
            <a:off x="4279391" y="1920240"/>
            <a:ext cx="3630168" cy="896112"/>
          </a:xfrm>
          <a:prstGeom prst="roundRect">
            <a:avLst>
              <a:gd name="adj" fmla="val 10000"/>
            </a:avLst>
          </a:prstGeom>
          <a:solidFill>
            <a:srgbClr val="F7F7FA"/>
          </a:solidFill>
          <a:ln>
            <a:noFill/>
          </a:ln>
          <a:effectLst/>
        </p:spPr>
        <p:txBody>
          <a:bodyPr rtlCol="0" anchor="ctr"/>
          <a:lstStyle/>
          <a:p>
            <a:pPr algn="ctr"/>
          </a:p>
        </p:txBody>
      </p:sp>
      <p:pic>
        <p:nvPicPr>
          <p:cNvPr id="13" name="Picture 12" descr="t_deepanshu.png"/>
          <p:cNvPicPr>
            <a:picLocks noChangeAspect="1"/>
          </p:cNvPicPr>
          <p:nvPr/>
        </p:nvPicPr>
        <p:blipFill>
          <a:blip r:embed="rId3"/>
          <a:stretch>
            <a:fillRect/>
          </a:stretch>
        </p:blipFill>
        <p:spPr>
          <a:xfrm>
            <a:off x="4398263" y="2039112"/>
            <a:ext cx="658368" cy="658368"/>
          </a:xfrm>
          <a:prstGeom prst="rect">
            <a:avLst/>
          </a:prstGeom>
        </p:spPr>
      </p:pic>
      <p:sp>
        <p:nvSpPr>
          <p:cNvPr id="14" name="TextBox 13"/>
          <p:cNvSpPr txBox="1"/>
          <p:nvPr/>
        </p:nvSpPr>
        <p:spPr>
          <a:xfrm>
            <a:off x="5175503" y="2011680"/>
            <a:ext cx="2651760" cy="292608"/>
          </a:xfrm>
          <a:prstGeom prst="rect">
            <a:avLst/>
          </a:prstGeom>
          <a:noFill/>
        </p:spPr>
        <p:txBody>
          <a:bodyPr wrap="square" lIns="0" rIns="0" tIns="0" bIns="0" anchor="t">
            <a:spAutoFit/>
          </a:bodyPr>
          <a:lstStyle/>
          <a:p>
            <a:pPr algn="l">
              <a:lnSpc>
                <a:spcPct val="128000"/>
              </a:lnSpc>
            </a:pPr>
            <a:r>
              <a:rPr sz="1050" b="1" i="0">
                <a:solidFill>
                  <a:srgbClr val="16181D"/>
                </a:solidFill>
                <a:latin typeface="Montserrat"/>
              </a:rPr>
              <a:t>Deepanshu Gupta</a:t>
            </a:r>
          </a:p>
        </p:txBody>
      </p:sp>
      <p:sp>
        <p:nvSpPr>
          <p:cNvPr id="15" name="TextBox 14"/>
          <p:cNvSpPr txBox="1"/>
          <p:nvPr/>
        </p:nvSpPr>
        <p:spPr>
          <a:xfrm>
            <a:off x="5175503" y="2286000"/>
            <a:ext cx="2651760" cy="502920"/>
          </a:xfrm>
          <a:prstGeom prst="rect">
            <a:avLst/>
          </a:prstGeom>
          <a:noFill/>
        </p:spPr>
        <p:txBody>
          <a:bodyPr wrap="square" lIns="0" rIns="0" tIns="0" bIns="0" anchor="t">
            <a:spAutoFit/>
          </a:bodyPr>
          <a:lstStyle/>
          <a:p>
            <a:pPr algn="l">
              <a:lnSpc>
                <a:spcPct val="115000"/>
              </a:lnSpc>
            </a:pPr>
            <a:r>
              <a:rPr sz="800" b="0" i="0">
                <a:solidFill>
                  <a:srgbClr val="6E7180"/>
                </a:solidFill>
                <a:latin typeface="Geist"/>
              </a:rPr>
              <a:t>Managing Trustee · Founder, IRSC · Global Youth Coalition for Road Safety</a:t>
            </a:r>
          </a:p>
        </p:txBody>
      </p:sp>
      <p:sp>
        <p:nvSpPr>
          <p:cNvPr id="16" name="Rounded Rectangle 15"/>
          <p:cNvSpPr/>
          <p:nvPr/>
        </p:nvSpPr>
        <p:spPr>
          <a:xfrm>
            <a:off x="7991854" y="1920240"/>
            <a:ext cx="3630168" cy="896112"/>
          </a:xfrm>
          <a:prstGeom prst="roundRect">
            <a:avLst>
              <a:gd name="adj" fmla="val 10000"/>
            </a:avLst>
          </a:prstGeom>
          <a:solidFill>
            <a:srgbClr val="F7F7FA"/>
          </a:solidFill>
          <a:ln>
            <a:noFill/>
          </a:ln>
          <a:effectLst/>
        </p:spPr>
        <p:txBody>
          <a:bodyPr rtlCol="0" anchor="ctr"/>
          <a:lstStyle/>
          <a:p>
            <a:pPr algn="ctr"/>
          </a:p>
        </p:txBody>
      </p:sp>
      <p:pic>
        <p:nvPicPr>
          <p:cNvPr id="17" name="Picture 16" descr="t_gajendra.png"/>
          <p:cNvPicPr>
            <a:picLocks noChangeAspect="1"/>
          </p:cNvPicPr>
          <p:nvPr/>
        </p:nvPicPr>
        <p:blipFill>
          <a:blip r:embed="rId4"/>
          <a:stretch>
            <a:fillRect/>
          </a:stretch>
        </p:blipFill>
        <p:spPr>
          <a:xfrm>
            <a:off x="8110726" y="2039112"/>
            <a:ext cx="658368" cy="658368"/>
          </a:xfrm>
          <a:prstGeom prst="rect">
            <a:avLst/>
          </a:prstGeom>
        </p:spPr>
      </p:pic>
      <p:sp>
        <p:nvSpPr>
          <p:cNvPr id="18" name="TextBox 17"/>
          <p:cNvSpPr txBox="1"/>
          <p:nvPr/>
        </p:nvSpPr>
        <p:spPr>
          <a:xfrm>
            <a:off x="8887966" y="2011680"/>
            <a:ext cx="2651760" cy="292608"/>
          </a:xfrm>
          <a:prstGeom prst="rect">
            <a:avLst/>
          </a:prstGeom>
          <a:noFill/>
        </p:spPr>
        <p:txBody>
          <a:bodyPr wrap="square" lIns="0" rIns="0" tIns="0" bIns="0" anchor="t">
            <a:spAutoFit/>
          </a:bodyPr>
          <a:lstStyle/>
          <a:p>
            <a:pPr algn="l">
              <a:lnSpc>
                <a:spcPct val="128000"/>
              </a:lnSpc>
            </a:pPr>
            <a:r>
              <a:rPr sz="1050" b="1" i="0">
                <a:solidFill>
                  <a:srgbClr val="16181D"/>
                </a:solidFill>
                <a:latin typeface="Montserrat"/>
              </a:rPr>
              <a:t>Gajendra Jangid</a:t>
            </a:r>
          </a:p>
        </p:txBody>
      </p:sp>
      <p:sp>
        <p:nvSpPr>
          <p:cNvPr id="19" name="TextBox 18"/>
          <p:cNvSpPr txBox="1"/>
          <p:nvPr/>
        </p:nvSpPr>
        <p:spPr>
          <a:xfrm>
            <a:off x="8887966" y="2286000"/>
            <a:ext cx="2651760" cy="502920"/>
          </a:xfrm>
          <a:prstGeom prst="rect">
            <a:avLst/>
          </a:prstGeom>
          <a:noFill/>
        </p:spPr>
        <p:txBody>
          <a:bodyPr wrap="square" lIns="0" rIns="0" tIns="0" bIns="0" anchor="t">
            <a:spAutoFit/>
          </a:bodyPr>
          <a:lstStyle/>
          <a:p>
            <a:pPr algn="l">
              <a:lnSpc>
                <a:spcPct val="115000"/>
              </a:lnSpc>
            </a:pPr>
            <a:r>
              <a:rPr sz="800" b="0" i="0">
                <a:solidFill>
                  <a:srgbClr val="6E7180"/>
                </a:solidFill>
                <a:latin typeface="Geist"/>
              </a:rPr>
              <a:t>General Secretary · Co-founder, Cars24</a:t>
            </a:r>
          </a:p>
        </p:txBody>
      </p:sp>
      <p:sp>
        <p:nvSpPr>
          <p:cNvPr id="20" name="TextBox 19"/>
          <p:cNvSpPr txBox="1"/>
          <p:nvPr/>
        </p:nvSpPr>
        <p:spPr>
          <a:xfrm>
            <a:off x="566928" y="3035808"/>
            <a:ext cx="10972800" cy="237744"/>
          </a:xfrm>
          <a:prstGeom prst="rect">
            <a:avLst/>
          </a:prstGeom>
          <a:noFill/>
        </p:spPr>
        <p:txBody>
          <a:bodyPr wrap="square" lIns="0" rIns="0" tIns="0" bIns="0" anchor="t">
            <a:spAutoFit/>
          </a:bodyPr>
          <a:lstStyle/>
          <a:p>
            <a:pPr algn="l">
              <a:lnSpc>
                <a:spcPct val="128000"/>
              </a:lnSpc>
            </a:pPr>
            <a:r>
              <a:rPr sz="850" b="1" i="0" spc="150">
                <a:solidFill>
                  <a:srgbClr val="6E7180"/>
                </a:solidFill>
                <a:latin typeface="Montserrat"/>
              </a:rPr>
              <a:t>THE FULL-TIME TEAM</a:t>
            </a:r>
          </a:p>
        </p:txBody>
      </p:sp>
      <p:pic>
        <p:nvPicPr>
          <p:cNvPr id="21" name="Picture 20" descr="t_akhtar.png"/>
          <p:cNvPicPr>
            <a:picLocks noChangeAspect="1"/>
          </p:cNvPicPr>
          <p:nvPr/>
        </p:nvPicPr>
        <p:blipFill>
          <a:blip r:embed="rId5"/>
          <a:stretch>
            <a:fillRect/>
          </a:stretch>
        </p:blipFill>
        <p:spPr>
          <a:xfrm>
            <a:off x="566928" y="3374136"/>
            <a:ext cx="566928" cy="566928"/>
          </a:xfrm>
          <a:prstGeom prst="rect">
            <a:avLst/>
          </a:prstGeom>
        </p:spPr>
      </p:pic>
      <p:sp>
        <p:nvSpPr>
          <p:cNvPr id="22" name="TextBox 21"/>
          <p:cNvSpPr txBox="1"/>
          <p:nvPr/>
        </p:nvSpPr>
        <p:spPr>
          <a:xfrm>
            <a:off x="1252728" y="3328416"/>
            <a:ext cx="2926080"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Akhtar Hussain  </a:t>
            </a:r>
            <a:r>
              <a:rPr sz="800" b="1" i="0">
                <a:solidFill>
                  <a:srgbClr val="4A35FF"/>
                </a:solidFill>
                <a:latin typeface="Geist"/>
              </a:rPr>
              <a:t>Mission Lead</a:t>
            </a:r>
          </a:p>
        </p:txBody>
      </p:sp>
      <p:sp>
        <p:nvSpPr>
          <p:cNvPr id="23" name="TextBox 22"/>
          <p:cNvSpPr txBox="1"/>
          <p:nvPr/>
        </p:nvSpPr>
        <p:spPr>
          <a:xfrm>
            <a:off x="1252728" y="3547872"/>
            <a:ext cx="2926080" cy="50292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IIT Delhi · ex-Cars24 · leads strategy, partnerships and MoRTH/NRSB engagement</a:t>
            </a:r>
          </a:p>
        </p:txBody>
      </p:sp>
      <p:pic>
        <p:nvPicPr>
          <p:cNvPr id="24" name="Picture 23" descr="t_shubham.png"/>
          <p:cNvPicPr>
            <a:picLocks noChangeAspect="1"/>
          </p:cNvPicPr>
          <p:nvPr/>
        </p:nvPicPr>
        <p:blipFill>
          <a:blip r:embed="rId6"/>
          <a:stretch>
            <a:fillRect/>
          </a:stretch>
        </p:blipFill>
        <p:spPr>
          <a:xfrm>
            <a:off x="4279391" y="3374136"/>
            <a:ext cx="566928" cy="566928"/>
          </a:xfrm>
          <a:prstGeom prst="rect">
            <a:avLst/>
          </a:prstGeom>
        </p:spPr>
      </p:pic>
      <p:sp>
        <p:nvSpPr>
          <p:cNvPr id="25" name="TextBox 24"/>
          <p:cNvSpPr txBox="1"/>
          <p:nvPr/>
        </p:nvSpPr>
        <p:spPr>
          <a:xfrm>
            <a:off x="4965191" y="3328416"/>
            <a:ext cx="2926080"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Shubham Kumar  </a:t>
            </a:r>
            <a:r>
              <a:rPr sz="800" b="1" i="0">
                <a:solidFill>
                  <a:srgbClr val="4A35FF"/>
                </a:solidFill>
                <a:latin typeface="Geist"/>
              </a:rPr>
              <a:t>Policy &amp; Advocacy</a:t>
            </a:r>
          </a:p>
        </p:txBody>
      </p:sp>
      <p:sp>
        <p:nvSpPr>
          <p:cNvPr id="26" name="TextBox 25"/>
          <p:cNvSpPr txBox="1"/>
          <p:nvPr/>
        </p:nvSpPr>
        <p:spPr>
          <a:xfrm>
            <a:off x="4965191" y="3547872"/>
            <a:ext cx="2926080" cy="50292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NALSAR Hyderabad · legal research, RTIs, Justice Unserved co-author</a:t>
            </a:r>
          </a:p>
        </p:txBody>
      </p:sp>
      <p:pic>
        <p:nvPicPr>
          <p:cNvPr id="27" name="Picture 26" descr="t_muskan.png"/>
          <p:cNvPicPr>
            <a:picLocks noChangeAspect="1"/>
          </p:cNvPicPr>
          <p:nvPr/>
        </p:nvPicPr>
        <p:blipFill>
          <a:blip r:embed="rId7"/>
          <a:stretch>
            <a:fillRect/>
          </a:stretch>
        </p:blipFill>
        <p:spPr>
          <a:xfrm>
            <a:off x="7991854" y="3374136"/>
            <a:ext cx="566928" cy="566928"/>
          </a:xfrm>
          <a:prstGeom prst="rect">
            <a:avLst/>
          </a:prstGeom>
        </p:spPr>
      </p:pic>
      <p:sp>
        <p:nvSpPr>
          <p:cNvPr id="28" name="TextBox 27"/>
          <p:cNvSpPr txBox="1"/>
          <p:nvPr/>
        </p:nvSpPr>
        <p:spPr>
          <a:xfrm>
            <a:off x="8677654" y="3328416"/>
            <a:ext cx="2926080"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Muskan Yadav  </a:t>
            </a:r>
            <a:r>
              <a:rPr sz="800" b="1" i="0">
                <a:solidFill>
                  <a:srgbClr val="4A35FF"/>
                </a:solidFill>
                <a:latin typeface="Geist"/>
              </a:rPr>
              <a:t>Programmes</a:t>
            </a:r>
          </a:p>
        </p:txBody>
      </p:sp>
      <p:sp>
        <p:nvSpPr>
          <p:cNvPr id="29" name="TextBox 28"/>
          <p:cNvSpPr txBox="1"/>
          <p:nvPr/>
        </p:nvSpPr>
        <p:spPr>
          <a:xfrm>
            <a:off x="8677654" y="3547872"/>
            <a:ext cx="2926080" cy="50292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TISS · runs district programmes, DRSC work and helpdesk operations</a:t>
            </a:r>
          </a:p>
        </p:txBody>
      </p:sp>
      <p:pic>
        <p:nvPicPr>
          <p:cNvPr id="30" name="Picture 29" descr="t_aastha.png"/>
          <p:cNvPicPr>
            <a:picLocks noChangeAspect="1"/>
          </p:cNvPicPr>
          <p:nvPr/>
        </p:nvPicPr>
        <p:blipFill>
          <a:blip r:embed="rId8"/>
          <a:stretch>
            <a:fillRect/>
          </a:stretch>
        </p:blipFill>
        <p:spPr>
          <a:xfrm>
            <a:off x="566928" y="4123944"/>
            <a:ext cx="566928" cy="566928"/>
          </a:xfrm>
          <a:prstGeom prst="rect">
            <a:avLst/>
          </a:prstGeom>
        </p:spPr>
      </p:pic>
      <p:sp>
        <p:nvSpPr>
          <p:cNvPr id="31" name="TextBox 30"/>
          <p:cNvSpPr txBox="1"/>
          <p:nvPr/>
        </p:nvSpPr>
        <p:spPr>
          <a:xfrm>
            <a:off x="1252728" y="4078224"/>
            <a:ext cx="2926080"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Aastha Shreeharsh  </a:t>
            </a:r>
            <a:r>
              <a:rPr sz="800" b="1" i="0">
                <a:solidFill>
                  <a:srgbClr val="4A35FF"/>
                </a:solidFill>
                <a:latin typeface="Geist"/>
              </a:rPr>
              <a:t>Development Communications</a:t>
            </a:r>
          </a:p>
        </p:txBody>
      </p:sp>
      <p:sp>
        <p:nvSpPr>
          <p:cNvPr id="32" name="TextBox 31"/>
          <p:cNvSpPr txBox="1"/>
          <p:nvPr/>
        </p:nvSpPr>
        <p:spPr>
          <a:xfrm>
            <a:off x="1252728" y="4297680"/>
            <a:ext cx="2926080" cy="50292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HKUST · donor &amp; institutional communications, impact reporting</a:t>
            </a:r>
          </a:p>
        </p:txBody>
      </p:sp>
      <p:pic>
        <p:nvPicPr>
          <p:cNvPr id="33" name="Picture 32" descr="t_rohan.png"/>
          <p:cNvPicPr>
            <a:picLocks noChangeAspect="1"/>
          </p:cNvPicPr>
          <p:nvPr/>
        </p:nvPicPr>
        <p:blipFill>
          <a:blip r:embed="rId9"/>
          <a:stretch>
            <a:fillRect/>
          </a:stretch>
        </p:blipFill>
        <p:spPr>
          <a:xfrm>
            <a:off x="4279391" y="4123944"/>
            <a:ext cx="566928" cy="566928"/>
          </a:xfrm>
          <a:prstGeom prst="rect">
            <a:avLst/>
          </a:prstGeom>
        </p:spPr>
      </p:pic>
      <p:sp>
        <p:nvSpPr>
          <p:cNvPr id="34" name="TextBox 33"/>
          <p:cNvSpPr txBox="1"/>
          <p:nvPr/>
        </p:nvSpPr>
        <p:spPr>
          <a:xfrm>
            <a:off x="4965191" y="4078224"/>
            <a:ext cx="2926080"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Rohan Sharma  </a:t>
            </a:r>
            <a:r>
              <a:rPr sz="800" b="1" i="0">
                <a:solidFill>
                  <a:srgbClr val="4A35FF"/>
                </a:solidFill>
                <a:latin typeface="Geist"/>
              </a:rPr>
              <a:t>Cause Marketing</a:t>
            </a:r>
          </a:p>
        </p:txBody>
      </p:sp>
      <p:sp>
        <p:nvSpPr>
          <p:cNvPr id="35" name="TextBox 34"/>
          <p:cNvSpPr txBox="1"/>
          <p:nvPr/>
        </p:nvSpPr>
        <p:spPr>
          <a:xfrm>
            <a:off x="4965191" y="4297680"/>
            <a:ext cx="2926080" cy="50292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Campaigns with police &amp; schools · Road Safety Month, NextMile outreach</a:t>
            </a:r>
          </a:p>
        </p:txBody>
      </p:sp>
      <p:pic>
        <p:nvPicPr>
          <p:cNvPr id="36" name="Picture 35" descr="t_ishita.png"/>
          <p:cNvPicPr>
            <a:picLocks noChangeAspect="1"/>
          </p:cNvPicPr>
          <p:nvPr/>
        </p:nvPicPr>
        <p:blipFill>
          <a:blip r:embed="rId10"/>
          <a:stretch>
            <a:fillRect/>
          </a:stretch>
        </p:blipFill>
        <p:spPr>
          <a:xfrm>
            <a:off x="7991854" y="4123944"/>
            <a:ext cx="566928" cy="566928"/>
          </a:xfrm>
          <a:prstGeom prst="rect">
            <a:avLst/>
          </a:prstGeom>
        </p:spPr>
      </p:pic>
      <p:sp>
        <p:nvSpPr>
          <p:cNvPr id="37" name="TextBox 36"/>
          <p:cNvSpPr txBox="1"/>
          <p:nvPr/>
        </p:nvSpPr>
        <p:spPr>
          <a:xfrm>
            <a:off x="8677654" y="4078224"/>
            <a:ext cx="2926080"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Ishita Rathore  </a:t>
            </a:r>
            <a:r>
              <a:rPr sz="800" b="1" i="0">
                <a:solidFill>
                  <a:srgbClr val="4A35FF"/>
                </a:solidFill>
                <a:latin typeface="Geist"/>
              </a:rPr>
              <a:t>People &amp; Culture</a:t>
            </a:r>
          </a:p>
        </p:txBody>
      </p:sp>
      <p:sp>
        <p:nvSpPr>
          <p:cNvPr id="38" name="TextBox 37"/>
          <p:cNvSpPr txBox="1"/>
          <p:nvPr/>
        </p:nvSpPr>
        <p:spPr>
          <a:xfrm>
            <a:off x="8677654" y="4297680"/>
            <a:ext cx="2926080" cy="50292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Talent, volunteers and the 75+ intern engineering corps</a:t>
            </a:r>
          </a:p>
        </p:txBody>
      </p:sp>
      <p:pic>
        <p:nvPicPr>
          <p:cNvPr id="39" name="Picture 38" descr="t_yuvraj.png"/>
          <p:cNvPicPr>
            <a:picLocks noChangeAspect="1"/>
          </p:cNvPicPr>
          <p:nvPr/>
        </p:nvPicPr>
        <p:blipFill>
          <a:blip r:embed="rId11"/>
          <a:stretch>
            <a:fillRect/>
          </a:stretch>
        </p:blipFill>
        <p:spPr>
          <a:xfrm>
            <a:off x="566928" y="4873752"/>
            <a:ext cx="566928" cy="566928"/>
          </a:xfrm>
          <a:prstGeom prst="rect">
            <a:avLst/>
          </a:prstGeom>
        </p:spPr>
      </p:pic>
      <p:sp>
        <p:nvSpPr>
          <p:cNvPr id="40" name="TextBox 39"/>
          <p:cNvSpPr txBox="1"/>
          <p:nvPr/>
        </p:nvSpPr>
        <p:spPr>
          <a:xfrm>
            <a:off x="1252728" y="4828032"/>
            <a:ext cx="2926080"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Yuvraj Yadav  </a:t>
            </a:r>
            <a:r>
              <a:rPr sz="800" b="1" i="0">
                <a:solidFill>
                  <a:srgbClr val="4A35FF"/>
                </a:solidFill>
                <a:latin typeface="Geist"/>
              </a:rPr>
              <a:t>Operations</a:t>
            </a:r>
          </a:p>
        </p:txBody>
      </p:sp>
      <p:sp>
        <p:nvSpPr>
          <p:cNvPr id="41" name="TextBox 40"/>
          <p:cNvSpPr txBox="1"/>
          <p:nvPr/>
        </p:nvSpPr>
        <p:spPr>
          <a:xfrm>
            <a:off x="1252728" y="5047488"/>
            <a:ext cx="2926080" cy="50292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Field logistics across 18 cities · audit-cohort and event operations</a:t>
            </a:r>
          </a:p>
        </p:txBody>
      </p:sp>
      <p:pic>
        <p:nvPicPr>
          <p:cNvPr id="42" name="Picture 41" descr="t_lovish.png"/>
          <p:cNvPicPr>
            <a:picLocks noChangeAspect="1"/>
          </p:cNvPicPr>
          <p:nvPr/>
        </p:nvPicPr>
        <p:blipFill>
          <a:blip r:embed="rId12"/>
          <a:stretch>
            <a:fillRect/>
          </a:stretch>
        </p:blipFill>
        <p:spPr>
          <a:xfrm>
            <a:off x="4279391" y="4873752"/>
            <a:ext cx="566928" cy="566928"/>
          </a:xfrm>
          <a:prstGeom prst="rect">
            <a:avLst/>
          </a:prstGeom>
        </p:spPr>
      </p:pic>
      <p:sp>
        <p:nvSpPr>
          <p:cNvPr id="43" name="TextBox 42"/>
          <p:cNvSpPr txBox="1"/>
          <p:nvPr/>
        </p:nvSpPr>
        <p:spPr>
          <a:xfrm>
            <a:off x="4965191" y="4828032"/>
            <a:ext cx="2926080"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Lovish  </a:t>
            </a:r>
            <a:r>
              <a:rPr sz="800" b="1" i="0">
                <a:solidFill>
                  <a:srgbClr val="4A35FF"/>
                </a:solidFill>
                <a:latin typeface="Geist"/>
              </a:rPr>
              <a:t>Creative (Video)</a:t>
            </a:r>
          </a:p>
        </p:txBody>
      </p:sp>
      <p:sp>
        <p:nvSpPr>
          <p:cNvPr id="44" name="TextBox 43"/>
          <p:cNvSpPr txBox="1"/>
          <p:nvPr/>
        </p:nvSpPr>
        <p:spPr>
          <a:xfrm>
            <a:off x="4965191" y="5047488"/>
            <a:ext cx="2926080" cy="50292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Video explainers, ground-audit films and the YouTube channel</a:t>
            </a:r>
          </a:p>
        </p:txBody>
      </p:sp>
      <p:pic>
        <p:nvPicPr>
          <p:cNvPr id="45" name="Picture 44" descr="t_shipra.png"/>
          <p:cNvPicPr>
            <a:picLocks noChangeAspect="1"/>
          </p:cNvPicPr>
          <p:nvPr/>
        </p:nvPicPr>
        <p:blipFill>
          <a:blip r:embed="rId13"/>
          <a:stretch>
            <a:fillRect/>
          </a:stretch>
        </p:blipFill>
        <p:spPr>
          <a:xfrm>
            <a:off x="7991854" y="4873752"/>
            <a:ext cx="566928" cy="566928"/>
          </a:xfrm>
          <a:prstGeom prst="rect">
            <a:avLst/>
          </a:prstGeom>
        </p:spPr>
      </p:pic>
      <p:sp>
        <p:nvSpPr>
          <p:cNvPr id="46" name="TextBox 45"/>
          <p:cNvSpPr txBox="1"/>
          <p:nvPr/>
        </p:nvSpPr>
        <p:spPr>
          <a:xfrm>
            <a:off x="8677654" y="4828032"/>
            <a:ext cx="2926080"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Shipra Kushwaha  </a:t>
            </a:r>
            <a:r>
              <a:rPr sz="800" b="1" i="0">
                <a:solidFill>
                  <a:srgbClr val="4A35FF"/>
                </a:solidFill>
                <a:latin typeface="Geist"/>
              </a:rPr>
              <a:t>Creative (Graphic)</a:t>
            </a:r>
          </a:p>
        </p:txBody>
      </p:sp>
      <p:sp>
        <p:nvSpPr>
          <p:cNvPr id="47" name="TextBox 46"/>
          <p:cNvSpPr txBox="1"/>
          <p:nvPr/>
        </p:nvSpPr>
        <p:spPr>
          <a:xfrm>
            <a:off x="8677654" y="5047488"/>
            <a:ext cx="2926080" cy="50292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Guides, comics and bilingual campaign material families actually read</a:t>
            </a:r>
          </a:p>
        </p:txBody>
      </p:sp>
      <p:sp>
        <p:nvSpPr>
          <p:cNvPr id="48" name="Rounded Rectangle 47"/>
          <p:cNvSpPr/>
          <p:nvPr/>
        </p:nvSpPr>
        <p:spPr>
          <a:xfrm>
            <a:off x="566928" y="5532120"/>
            <a:ext cx="11057839" cy="640080"/>
          </a:xfrm>
          <a:prstGeom prst="roundRect">
            <a:avLst>
              <a:gd name="adj" fmla="val 14000"/>
            </a:avLst>
          </a:prstGeom>
          <a:solidFill>
            <a:srgbClr val="F7F7FA"/>
          </a:solidFill>
          <a:ln>
            <a:noFill/>
          </a:ln>
          <a:effectLst/>
        </p:spPr>
        <p:txBody>
          <a:bodyPr rtlCol="0" anchor="ctr"/>
          <a:lstStyle/>
          <a:p>
            <a:pPr algn="ctr"/>
          </a:p>
        </p:txBody>
      </p:sp>
      <p:sp>
        <p:nvSpPr>
          <p:cNvPr id="49" name="TextBox 48"/>
          <p:cNvSpPr txBox="1"/>
          <p:nvPr/>
        </p:nvSpPr>
        <p:spPr>
          <a:xfrm>
            <a:off x="768096" y="5605272"/>
            <a:ext cx="10646359" cy="502920"/>
          </a:xfrm>
          <a:prstGeom prst="rect">
            <a:avLst/>
          </a:prstGeom>
          <a:noFill/>
        </p:spPr>
        <p:txBody>
          <a:bodyPr wrap="square" lIns="0" rIns="0" tIns="0" bIns="0" anchor="t">
            <a:spAutoFit/>
          </a:bodyPr>
          <a:lstStyle/>
          <a:p>
            <a:pPr algn="l">
              <a:lnSpc>
                <a:spcPct val="125000"/>
              </a:lnSpc>
            </a:pPr>
            <a:r>
              <a:rPr sz="950" b="1" i="0">
                <a:solidFill>
                  <a:srgbClr val="16181D"/>
                </a:solidFill>
                <a:latin typeface="Geist"/>
              </a:rPr>
              <a:t>In-house capabilities: </a:t>
            </a:r>
            <a:r>
              <a:rPr sz="950" b="0" i="0">
                <a:solidFill>
                  <a:srgbClr val="6E7180"/>
                </a:solidFill>
                <a:latin typeface="Geist"/>
              </a:rPr>
              <a:t>road-engineering audits · legal &amp; policy research · AI product development · district operations · behaviour-change communication.   </a:t>
            </a:r>
            <a:r>
              <a:rPr sz="950" b="1" i="0">
                <a:solidFill>
                  <a:srgbClr val="4A35FF"/>
                </a:solidFill>
                <a:latin typeface="Geist"/>
              </a:rPr>
              <a:t>Plus 75+ engineering interns and 31 student audit teams.</a:t>
            </a:r>
          </a:p>
        </p:txBody>
      </p:sp>
      <p:cxnSp>
        <p:nvCxnSpPr>
          <p:cNvPr id="50" name="Connector 49"/>
          <p:cNvCxnSpPr/>
          <p:nvPr/>
        </p:nvCxnSpPr>
        <p:spPr>
          <a:xfrm>
            <a:off x="566928" y="6455664"/>
            <a:ext cx="11057839" cy="0"/>
          </a:xfrm>
          <a:prstGeom prst="line">
            <a:avLst/>
          </a:prstGeom>
          <a:ln w="9525">
            <a:solidFill>
              <a:srgbClr val="E8E9EE"/>
            </a:solidFill>
          </a:ln>
          <a:effectLst/>
        </p:spPr>
      </p:cxnSp>
      <p:sp>
        <p:nvSpPr>
          <p:cNvPr id="51" name="TextBox 50"/>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52" name="TextBox 51"/>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15 / 28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3 OF 5  ·  OUR PEOPLE</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03 · OUR PEOPLE, THE EXPERT BENCH</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Advised by the people who </a:t>
            </a:r>
            <a:r>
              <a:rPr sz="2250" b="1" i="0">
                <a:solidFill>
                  <a:srgbClr val="4A35FF"/>
                </a:solidFill>
                <a:latin typeface="Montserrat"/>
              </a:rPr>
              <a:t>built India's road safety practice</a:t>
            </a:r>
          </a:p>
        </p:txBody>
      </p:sp>
      <p:sp>
        <p:nvSpPr>
          <p:cNvPr id="7" name="Rounded Rectangle 6"/>
          <p:cNvSpPr/>
          <p:nvPr/>
        </p:nvSpPr>
        <p:spPr>
          <a:xfrm>
            <a:off x="566928" y="1554480"/>
            <a:ext cx="5486400" cy="932688"/>
          </a:xfrm>
          <a:prstGeom prst="roundRect">
            <a:avLst>
              <a:gd name="adj" fmla="val 12000"/>
            </a:avLst>
          </a:prstGeom>
          <a:solidFill>
            <a:srgbClr val="F7F7FA"/>
          </a:solidFill>
          <a:ln>
            <a:noFill/>
          </a:ln>
          <a:effectLst/>
        </p:spPr>
        <p:txBody>
          <a:bodyPr rtlCol="0" anchor="ctr"/>
          <a:lstStyle/>
          <a:p>
            <a:pPr algn="ctr"/>
          </a:p>
        </p:txBody>
      </p:sp>
      <p:pic>
        <p:nvPicPr>
          <p:cNvPr id="8" name="Picture 7" descr="x_gtiwari.png"/>
          <p:cNvPicPr>
            <a:picLocks noChangeAspect="1"/>
          </p:cNvPicPr>
          <p:nvPr/>
        </p:nvPicPr>
        <p:blipFill>
          <a:blip r:embed="rId2"/>
          <a:stretch>
            <a:fillRect/>
          </a:stretch>
        </p:blipFill>
        <p:spPr>
          <a:xfrm>
            <a:off x="694944" y="1682496"/>
            <a:ext cx="676656" cy="676656"/>
          </a:xfrm>
          <a:prstGeom prst="rect">
            <a:avLst/>
          </a:prstGeom>
        </p:spPr>
      </p:pic>
      <p:sp>
        <p:nvSpPr>
          <p:cNvPr id="9" name="TextBox 8"/>
          <p:cNvSpPr txBox="1"/>
          <p:nvPr/>
        </p:nvSpPr>
        <p:spPr>
          <a:xfrm>
            <a:off x="1499616" y="1673352"/>
            <a:ext cx="4480560" cy="320040"/>
          </a:xfrm>
          <a:prstGeom prst="rect">
            <a:avLst/>
          </a:prstGeom>
          <a:noFill/>
        </p:spPr>
        <p:txBody>
          <a:bodyPr wrap="square" lIns="0" rIns="0" tIns="0" bIns="0" anchor="t">
            <a:spAutoFit/>
          </a:bodyPr>
          <a:lstStyle/>
          <a:p>
            <a:pPr algn="l">
              <a:lnSpc>
                <a:spcPct val="128000"/>
              </a:lnSpc>
            </a:pPr>
            <a:r>
              <a:rPr sz="1100" b="1" i="0">
                <a:solidFill>
                  <a:srgbClr val="16181D"/>
                </a:solidFill>
                <a:latin typeface="Montserrat"/>
              </a:rPr>
              <a:t>Prof. Geetam Tiwari, Board of Advisors</a:t>
            </a:r>
          </a:p>
        </p:txBody>
      </p:sp>
      <p:sp>
        <p:nvSpPr>
          <p:cNvPr id="10" name="TextBox 9"/>
          <p:cNvSpPr txBox="1"/>
          <p:nvPr/>
        </p:nvSpPr>
        <p:spPr>
          <a:xfrm>
            <a:off x="1499616" y="1965960"/>
            <a:ext cx="4480560" cy="50292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Professor Emerita &amp; Chair, TRIP Centre, IIT Delhi · Member, IRC H-7 Committee on Road Safety Audit</a:t>
            </a:r>
          </a:p>
        </p:txBody>
      </p:sp>
      <p:sp>
        <p:nvSpPr>
          <p:cNvPr id="11" name="Rounded Rectangle 10"/>
          <p:cNvSpPr/>
          <p:nvPr/>
        </p:nvSpPr>
        <p:spPr>
          <a:xfrm>
            <a:off x="6263640" y="1554480"/>
            <a:ext cx="5349240" cy="932688"/>
          </a:xfrm>
          <a:prstGeom prst="roundRect">
            <a:avLst>
              <a:gd name="adj" fmla="val 12000"/>
            </a:avLst>
          </a:prstGeom>
          <a:solidFill>
            <a:srgbClr val="F7F7FA"/>
          </a:solidFill>
          <a:ln>
            <a:noFill/>
          </a:ln>
          <a:effectLst/>
        </p:spPr>
        <p:txBody>
          <a:bodyPr rtlCol="0" anchor="ctr"/>
          <a:lstStyle/>
          <a:p>
            <a:pPr algn="ctr"/>
          </a:p>
        </p:txBody>
      </p:sp>
      <p:sp>
        <p:nvSpPr>
          <p:cNvPr id="12" name="Oval 11"/>
          <p:cNvSpPr/>
          <p:nvPr/>
        </p:nvSpPr>
        <p:spPr>
          <a:xfrm>
            <a:off x="6391656" y="1682496"/>
            <a:ext cx="676656" cy="676656"/>
          </a:xfrm>
          <a:prstGeom prst="ellipse">
            <a:avLst/>
          </a:prstGeom>
          <a:solidFill>
            <a:srgbClr val="EFEDFF"/>
          </a:solidFill>
          <a:ln>
            <a:noFill/>
          </a:ln>
          <a:effectLst/>
        </p:spPr>
        <p:txBody>
          <a:bodyPr rtlCol="0" anchor="ctr"/>
          <a:lstStyle/>
          <a:p>
            <a:pPr algn="ctr"/>
          </a:p>
        </p:txBody>
      </p:sp>
      <p:sp>
        <p:nvSpPr>
          <p:cNvPr id="13" name="TextBox 12"/>
          <p:cNvSpPr txBox="1"/>
          <p:nvPr/>
        </p:nvSpPr>
        <p:spPr>
          <a:xfrm>
            <a:off x="6391656" y="1664208"/>
            <a:ext cx="676656" cy="676656"/>
          </a:xfrm>
          <a:prstGeom prst="rect">
            <a:avLst/>
          </a:prstGeom>
          <a:noFill/>
        </p:spPr>
        <p:txBody>
          <a:bodyPr wrap="square" lIns="0" rIns="0" tIns="0" bIns="0" anchor="ctr">
            <a:spAutoFit/>
          </a:bodyPr>
          <a:lstStyle/>
          <a:p>
            <a:pPr algn="ctr">
              <a:lnSpc>
                <a:spcPct val="128000"/>
              </a:lnSpc>
            </a:pPr>
            <a:r>
              <a:rPr sz="1400" b="1" i="0">
                <a:solidFill>
                  <a:srgbClr val="4A35FF"/>
                </a:solidFill>
                <a:latin typeface="Montserrat"/>
              </a:rPr>
              <a:t>PT</a:t>
            </a:r>
          </a:p>
        </p:txBody>
      </p:sp>
      <p:sp>
        <p:nvSpPr>
          <p:cNvPr id="14" name="TextBox 13"/>
          <p:cNvSpPr txBox="1"/>
          <p:nvPr/>
        </p:nvSpPr>
        <p:spPr>
          <a:xfrm>
            <a:off x="7196328" y="1673352"/>
            <a:ext cx="4297680" cy="320040"/>
          </a:xfrm>
          <a:prstGeom prst="rect">
            <a:avLst/>
          </a:prstGeom>
          <a:noFill/>
        </p:spPr>
        <p:txBody>
          <a:bodyPr wrap="square" lIns="0" rIns="0" tIns="0" bIns="0" anchor="t">
            <a:spAutoFit/>
          </a:bodyPr>
          <a:lstStyle/>
          <a:p>
            <a:pPr algn="l">
              <a:lnSpc>
                <a:spcPct val="128000"/>
              </a:lnSpc>
            </a:pPr>
            <a:r>
              <a:rPr sz="1100" b="1" i="0">
                <a:solidFill>
                  <a:srgbClr val="16181D"/>
                </a:solidFill>
                <a:latin typeface="Montserrat"/>
              </a:rPr>
              <a:t>Piyush Tewari, Board of Advisors</a:t>
            </a:r>
          </a:p>
        </p:txBody>
      </p:sp>
      <p:sp>
        <p:nvSpPr>
          <p:cNvPr id="15" name="TextBox 14"/>
          <p:cNvSpPr txBox="1"/>
          <p:nvPr/>
        </p:nvSpPr>
        <p:spPr>
          <a:xfrm>
            <a:off x="7196328" y="1965960"/>
            <a:ext cx="4297680" cy="50292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Founder &amp; CEO, SaveLIFE Foundation · Architect of the Good Samaritan Law · Zero-Fatality Corridors</a:t>
            </a:r>
          </a:p>
        </p:txBody>
      </p:sp>
      <p:sp>
        <p:nvSpPr>
          <p:cNvPr id="16" name="TextBox 15"/>
          <p:cNvSpPr txBox="1"/>
          <p:nvPr/>
        </p:nvSpPr>
        <p:spPr>
          <a:xfrm>
            <a:off x="566928" y="2697480"/>
            <a:ext cx="10058400" cy="237744"/>
          </a:xfrm>
          <a:prstGeom prst="rect">
            <a:avLst/>
          </a:prstGeom>
          <a:noFill/>
        </p:spPr>
        <p:txBody>
          <a:bodyPr wrap="square" lIns="0" rIns="0" tIns="0" bIns="0" anchor="t">
            <a:spAutoFit/>
          </a:bodyPr>
          <a:lstStyle/>
          <a:p>
            <a:pPr algn="l">
              <a:lnSpc>
                <a:spcPct val="128000"/>
              </a:lnSpc>
            </a:pPr>
            <a:r>
              <a:rPr sz="850" b="1" i="0" spc="160">
                <a:solidFill>
                  <a:srgbClr val="6E7180"/>
                </a:solidFill>
                <a:latin typeface="Montserrat"/>
              </a:rPr>
              <a:t>JURY, MENTORS &amp; REVIEWERS AROUND OUR WORK</a:t>
            </a:r>
          </a:p>
        </p:txBody>
      </p:sp>
      <p:pic>
        <p:nvPicPr>
          <p:cNvPr id="17" name="Picture 16" descr="x_midha.png"/>
          <p:cNvPicPr>
            <a:picLocks noChangeAspect="1"/>
          </p:cNvPicPr>
          <p:nvPr/>
        </p:nvPicPr>
        <p:blipFill>
          <a:blip r:embed="rId3"/>
          <a:stretch>
            <a:fillRect/>
          </a:stretch>
        </p:blipFill>
        <p:spPr>
          <a:xfrm>
            <a:off x="1152144" y="2999232"/>
            <a:ext cx="640080" cy="640080"/>
          </a:xfrm>
          <a:prstGeom prst="rect">
            <a:avLst/>
          </a:prstGeom>
        </p:spPr>
      </p:pic>
      <p:sp>
        <p:nvSpPr>
          <p:cNvPr id="18" name="TextBox 17"/>
          <p:cNvSpPr txBox="1"/>
          <p:nvPr/>
        </p:nvSpPr>
        <p:spPr>
          <a:xfrm>
            <a:off x="566928" y="3675888"/>
            <a:ext cx="1773936"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Justice J.R. Midha</a:t>
            </a:r>
          </a:p>
        </p:txBody>
      </p:sp>
      <p:sp>
        <p:nvSpPr>
          <p:cNvPr id="19" name="TextBox 18"/>
          <p:cNvSpPr txBox="1"/>
          <p:nvPr/>
        </p:nvSpPr>
        <p:spPr>
          <a:xfrm>
            <a:off x="566928" y="3867912"/>
            <a:ext cx="1773936"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Delhi High Court (Retd.)</a:t>
            </a:r>
          </a:p>
        </p:txBody>
      </p:sp>
      <p:pic>
        <p:nvPicPr>
          <p:cNvPr id="20" name="Picture 19" descr="x_damle.png"/>
          <p:cNvPicPr>
            <a:picLocks noChangeAspect="1"/>
          </p:cNvPicPr>
          <p:nvPr/>
        </p:nvPicPr>
        <p:blipFill>
          <a:blip r:embed="rId4"/>
          <a:stretch>
            <a:fillRect/>
          </a:stretch>
        </p:blipFill>
        <p:spPr>
          <a:xfrm>
            <a:off x="3017520" y="2999232"/>
            <a:ext cx="640080" cy="640080"/>
          </a:xfrm>
          <a:prstGeom prst="rect">
            <a:avLst/>
          </a:prstGeom>
        </p:spPr>
      </p:pic>
      <p:sp>
        <p:nvSpPr>
          <p:cNvPr id="21" name="TextBox 20"/>
          <p:cNvSpPr txBox="1"/>
          <p:nvPr/>
        </p:nvSpPr>
        <p:spPr>
          <a:xfrm>
            <a:off x="2432304" y="3675888"/>
            <a:ext cx="1773936"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Abhay Damle</a:t>
            </a:r>
          </a:p>
        </p:txBody>
      </p:sp>
      <p:sp>
        <p:nvSpPr>
          <p:cNvPr id="22" name="TextBox 21"/>
          <p:cNvSpPr txBox="1"/>
          <p:nvPr/>
        </p:nvSpPr>
        <p:spPr>
          <a:xfrm>
            <a:off x="2432304" y="3867912"/>
            <a:ext cx="1773936"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Ex-JS, MoRTH</a:t>
            </a:r>
          </a:p>
        </p:txBody>
      </p:sp>
      <p:pic>
        <p:nvPicPr>
          <p:cNvPr id="23" name="Picture 22" descr="x_dange.png"/>
          <p:cNvPicPr>
            <a:picLocks noChangeAspect="1"/>
          </p:cNvPicPr>
          <p:nvPr/>
        </p:nvPicPr>
        <p:blipFill>
          <a:blip r:embed="rId5"/>
          <a:stretch>
            <a:fillRect/>
          </a:stretch>
        </p:blipFill>
        <p:spPr>
          <a:xfrm>
            <a:off x="4882896" y="2999232"/>
            <a:ext cx="640080" cy="640080"/>
          </a:xfrm>
          <a:prstGeom prst="rect">
            <a:avLst/>
          </a:prstGeom>
        </p:spPr>
      </p:pic>
      <p:sp>
        <p:nvSpPr>
          <p:cNvPr id="24" name="TextBox 23"/>
          <p:cNvSpPr txBox="1"/>
          <p:nvPr/>
        </p:nvSpPr>
        <p:spPr>
          <a:xfrm>
            <a:off x="4297680" y="3675888"/>
            <a:ext cx="1773936"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Vaibhav Dange</a:t>
            </a:r>
          </a:p>
        </p:txBody>
      </p:sp>
      <p:sp>
        <p:nvSpPr>
          <p:cNvPr id="25" name="TextBox 24"/>
          <p:cNvSpPr txBox="1"/>
          <p:nvPr/>
        </p:nvSpPr>
        <p:spPr>
          <a:xfrm>
            <a:off x="4297680" y="3867912"/>
            <a:ext cx="1773936"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Ex-Advisor, MoRTH</a:t>
            </a:r>
          </a:p>
        </p:txBody>
      </p:sp>
      <p:pic>
        <p:nvPicPr>
          <p:cNvPr id="26" name="Picture 25" descr="x_tandon.png"/>
          <p:cNvPicPr>
            <a:picLocks noChangeAspect="1"/>
          </p:cNvPicPr>
          <p:nvPr/>
        </p:nvPicPr>
        <p:blipFill>
          <a:blip r:embed="rId6"/>
          <a:stretch>
            <a:fillRect/>
          </a:stretch>
        </p:blipFill>
        <p:spPr>
          <a:xfrm>
            <a:off x="6748272" y="2999232"/>
            <a:ext cx="640080" cy="640080"/>
          </a:xfrm>
          <a:prstGeom prst="rect">
            <a:avLst/>
          </a:prstGeom>
        </p:spPr>
      </p:pic>
      <p:sp>
        <p:nvSpPr>
          <p:cNvPr id="27" name="TextBox 26"/>
          <p:cNvSpPr txBox="1"/>
          <p:nvPr/>
        </p:nvSpPr>
        <p:spPr>
          <a:xfrm>
            <a:off x="6163056" y="3675888"/>
            <a:ext cx="1773936"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Dr. Maya Tandon</a:t>
            </a:r>
          </a:p>
        </p:txBody>
      </p:sp>
      <p:sp>
        <p:nvSpPr>
          <p:cNvPr id="28" name="TextBox 27"/>
          <p:cNvSpPr txBox="1"/>
          <p:nvPr/>
        </p:nvSpPr>
        <p:spPr>
          <a:xfrm>
            <a:off x="6163056" y="3867912"/>
            <a:ext cx="1773936"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Sahayta Trust</a:t>
            </a:r>
          </a:p>
        </p:txBody>
      </p:sp>
      <p:pic>
        <p:nvPicPr>
          <p:cNvPr id="29" name="Picture 28" descr="x_ratnam.png"/>
          <p:cNvPicPr>
            <a:picLocks noChangeAspect="1"/>
          </p:cNvPicPr>
          <p:nvPr/>
        </p:nvPicPr>
        <p:blipFill>
          <a:blip r:embed="rId7"/>
          <a:stretch>
            <a:fillRect/>
          </a:stretch>
        </p:blipFill>
        <p:spPr>
          <a:xfrm>
            <a:off x="8613648" y="2999232"/>
            <a:ext cx="640080" cy="640080"/>
          </a:xfrm>
          <a:prstGeom prst="rect">
            <a:avLst/>
          </a:prstGeom>
        </p:spPr>
      </p:pic>
      <p:sp>
        <p:nvSpPr>
          <p:cNvPr id="30" name="TextBox 29"/>
          <p:cNvSpPr txBox="1"/>
          <p:nvPr/>
        </p:nvSpPr>
        <p:spPr>
          <a:xfrm>
            <a:off x="8028432" y="3675888"/>
            <a:ext cx="1773936"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R. Venkat Ratnam</a:t>
            </a:r>
          </a:p>
        </p:txBody>
      </p:sp>
      <p:sp>
        <p:nvSpPr>
          <p:cNvPr id="31" name="TextBox 30"/>
          <p:cNvSpPr txBox="1"/>
          <p:nvPr/>
        </p:nvSpPr>
        <p:spPr>
          <a:xfrm>
            <a:off x="8028432" y="3867912"/>
            <a:ext cx="1773936"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Government of Punjab</a:t>
            </a:r>
          </a:p>
        </p:txBody>
      </p:sp>
      <p:pic>
        <p:nvPicPr>
          <p:cNvPr id="32" name="Picture 31" descr="x_asrivastava.png"/>
          <p:cNvPicPr>
            <a:picLocks noChangeAspect="1"/>
          </p:cNvPicPr>
          <p:nvPr/>
        </p:nvPicPr>
        <p:blipFill>
          <a:blip r:embed="rId8"/>
          <a:stretch>
            <a:fillRect/>
          </a:stretch>
        </p:blipFill>
        <p:spPr>
          <a:xfrm>
            <a:off x="10479024" y="2999232"/>
            <a:ext cx="640080" cy="640080"/>
          </a:xfrm>
          <a:prstGeom prst="rect">
            <a:avLst/>
          </a:prstGeom>
        </p:spPr>
      </p:pic>
      <p:sp>
        <p:nvSpPr>
          <p:cNvPr id="33" name="TextBox 32"/>
          <p:cNvSpPr txBox="1"/>
          <p:nvPr/>
        </p:nvSpPr>
        <p:spPr>
          <a:xfrm>
            <a:off x="9893808" y="3675888"/>
            <a:ext cx="1773936"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Akhilesh Srivastava</a:t>
            </a:r>
          </a:p>
        </p:txBody>
      </p:sp>
      <p:sp>
        <p:nvSpPr>
          <p:cNvPr id="34" name="TextBox 33"/>
          <p:cNvSpPr txBox="1"/>
          <p:nvPr/>
        </p:nvSpPr>
        <p:spPr>
          <a:xfrm>
            <a:off x="9893808" y="3867912"/>
            <a:ext cx="1773936"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ITS India · IRF</a:t>
            </a:r>
          </a:p>
        </p:txBody>
      </p:sp>
      <p:pic>
        <p:nvPicPr>
          <p:cNvPr id="35" name="Picture 34" descr="x_gsingh.png"/>
          <p:cNvPicPr>
            <a:picLocks noChangeAspect="1"/>
          </p:cNvPicPr>
          <p:nvPr/>
        </p:nvPicPr>
        <p:blipFill>
          <a:blip r:embed="rId9"/>
          <a:stretch>
            <a:fillRect/>
          </a:stretch>
        </p:blipFill>
        <p:spPr>
          <a:xfrm>
            <a:off x="1152144" y="4206240"/>
            <a:ext cx="640080" cy="640080"/>
          </a:xfrm>
          <a:prstGeom prst="rect">
            <a:avLst/>
          </a:prstGeom>
        </p:spPr>
      </p:pic>
      <p:sp>
        <p:nvSpPr>
          <p:cNvPr id="36" name="TextBox 35"/>
          <p:cNvSpPr txBox="1"/>
          <p:nvPr/>
        </p:nvSpPr>
        <p:spPr>
          <a:xfrm>
            <a:off x="566928" y="4882896"/>
            <a:ext cx="1773936"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Gautam Singh</a:t>
            </a:r>
          </a:p>
        </p:txBody>
      </p:sp>
      <p:sp>
        <p:nvSpPr>
          <p:cNvPr id="37" name="TextBox 36"/>
          <p:cNvSpPr txBox="1"/>
          <p:nvPr/>
        </p:nvSpPr>
        <p:spPr>
          <a:xfrm>
            <a:off x="566928" y="5074920"/>
            <a:ext cx="1773936"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SaveLIFE Foundation</a:t>
            </a:r>
          </a:p>
        </p:txBody>
      </p:sp>
      <p:pic>
        <p:nvPicPr>
          <p:cNvPr id="38" name="Picture 37" descr="x_raman.png"/>
          <p:cNvPicPr>
            <a:picLocks noChangeAspect="1"/>
          </p:cNvPicPr>
          <p:nvPr/>
        </p:nvPicPr>
        <p:blipFill>
          <a:blip r:embed="rId10"/>
          <a:stretch>
            <a:fillRect/>
          </a:stretch>
        </p:blipFill>
        <p:spPr>
          <a:xfrm>
            <a:off x="3017520" y="4206240"/>
            <a:ext cx="640080" cy="640080"/>
          </a:xfrm>
          <a:prstGeom prst="rect">
            <a:avLst/>
          </a:prstGeom>
        </p:spPr>
      </p:pic>
      <p:sp>
        <p:nvSpPr>
          <p:cNvPr id="39" name="TextBox 38"/>
          <p:cNvSpPr txBox="1"/>
          <p:nvPr/>
        </p:nvSpPr>
        <p:spPr>
          <a:xfrm>
            <a:off x="2432304" y="4882896"/>
            <a:ext cx="1773936"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Aishwarya Raman</a:t>
            </a:r>
          </a:p>
        </p:txBody>
      </p:sp>
      <p:sp>
        <p:nvSpPr>
          <p:cNvPr id="40" name="TextBox 39"/>
          <p:cNvSpPr txBox="1"/>
          <p:nvPr/>
        </p:nvSpPr>
        <p:spPr>
          <a:xfrm>
            <a:off x="2432304" y="5074920"/>
            <a:ext cx="1773936"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OMI Foundation</a:t>
            </a:r>
          </a:p>
        </p:txBody>
      </p:sp>
      <p:pic>
        <p:nvPicPr>
          <p:cNvPr id="41" name="Picture 40" descr="x_nkumar.png"/>
          <p:cNvPicPr>
            <a:picLocks noChangeAspect="1"/>
          </p:cNvPicPr>
          <p:nvPr/>
        </p:nvPicPr>
        <p:blipFill>
          <a:blip r:embed="rId11"/>
          <a:stretch>
            <a:fillRect/>
          </a:stretch>
        </p:blipFill>
        <p:spPr>
          <a:xfrm>
            <a:off x="4882896" y="4206240"/>
            <a:ext cx="640080" cy="640080"/>
          </a:xfrm>
          <a:prstGeom prst="rect">
            <a:avLst/>
          </a:prstGeom>
        </p:spPr>
      </p:pic>
      <p:sp>
        <p:nvSpPr>
          <p:cNvPr id="42" name="TextBox 41"/>
          <p:cNvSpPr txBox="1"/>
          <p:nvPr/>
        </p:nvSpPr>
        <p:spPr>
          <a:xfrm>
            <a:off x="4297680" y="4882896"/>
            <a:ext cx="1773936"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Neeraj Kumar</a:t>
            </a:r>
          </a:p>
        </p:txBody>
      </p:sp>
      <p:sp>
        <p:nvSpPr>
          <p:cNvPr id="43" name="TextBox 42"/>
          <p:cNvSpPr txBox="1"/>
          <p:nvPr/>
        </p:nvSpPr>
        <p:spPr>
          <a:xfrm>
            <a:off x="4297680" y="5074920"/>
            <a:ext cx="1773936"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Tata AIG</a:t>
            </a:r>
          </a:p>
        </p:txBody>
      </p:sp>
      <p:pic>
        <p:nvPicPr>
          <p:cNvPr id="44" name="Picture 43" descr="x_pandey.png"/>
          <p:cNvPicPr>
            <a:picLocks noChangeAspect="1"/>
          </p:cNvPicPr>
          <p:nvPr/>
        </p:nvPicPr>
        <p:blipFill>
          <a:blip r:embed="rId12"/>
          <a:stretch>
            <a:fillRect/>
          </a:stretch>
        </p:blipFill>
        <p:spPr>
          <a:xfrm>
            <a:off x="6748272" y="4206240"/>
            <a:ext cx="640080" cy="640080"/>
          </a:xfrm>
          <a:prstGeom prst="rect">
            <a:avLst/>
          </a:prstGeom>
        </p:spPr>
      </p:pic>
      <p:sp>
        <p:nvSpPr>
          <p:cNvPr id="45" name="TextBox 44"/>
          <p:cNvSpPr txBox="1"/>
          <p:nvPr/>
        </p:nvSpPr>
        <p:spPr>
          <a:xfrm>
            <a:off x="6163056" y="4882896"/>
            <a:ext cx="1773936"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R.S. Pandey</a:t>
            </a:r>
          </a:p>
        </p:txBody>
      </p:sp>
      <p:sp>
        <p:nvSpPr>
          <p:cNvPr id="46" name="TextBox 45"/>
          <p:cNvSpPr txBox="1"/>
          <p:nvPr/>
        </p:nvSpPr>
        <p:spPr>
          <a:xfrm>
            <a:off x="6163056" y="5074920"/>
            <a:ext cx="1773936"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FICCI Road Safety</a:t>
            </a:r>
          </a:p>
        </p:txBody>
      </p:sp>
      <p:pic>
        <p:nvPicPr>
          <p:cNvPr id="47" name="Picture 46" descr="x_dash.png"/>
          <p:cNvPicPr>
            <a:picLocks noChangeAspect="1"/>
          </p:cNvPicPr>
          <p:nvPr/>
        </p:nvPicPr>
        <p:blipFill>
          <a:blip r:embed="rId13"/>
          <a:stretch>
            <a:fillRect/>
          </a:stretch>
        </p:blipFill>
        <p:spPr>
          <a:xfrm>
            <a:off x="8613648" y="4206240"/>
            <a:ext cx="640080" cy="640080"/>
          </a:xfrm>
          <a:prstGeom prst="rect">
            <a:avLst/>
          </a:prstGeom>
        </p:spPr>
      </p:pic>
      <p:sp>
        <p:nvSpPr>
          <p:cNvPr id="48" name="TextBox 47"/>
          <p:cNvSpPr txBox="1"/>
          <p:nvPr/>
        </p:nvSpPr>
        <p:spPr>
          <a:xfrm>
            <a:off x="8028432" y="4882896"/>
            <a:ext cx="1773936"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Dipak K. Dash</a:t>
            </a:r>
          </a:p>
        </p:txBody>
      </p:sp>
      <p:sp>
        <p:nvSpPr>
          <p:cNvPr id="49" name="TextBox 48"/>
          <p:cNvSpPr txBox="1"/>
          <p:nvPr/>
        </p:nvSpPr>
        <p:spPr>
          <a:xfrm>
            <a:off x="8028432" y="5074920"/>
            <a:ext cx="1773936"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Times of India</a:t>
            </a:r>
          </a:p>
        </p:txBody>
      </p:sp>
      <p:sp>
        <p:nvSpPr>
          <p:cNvPr id="50" name="Rounded Rectangle 49"/>
          <p:cNvSpPr/>
          <p:nvPr/>
        </p:nvSpPr>
        <p:spPr>
          <a:xfrm>
            <a:off x="566928" y="5559552"/>
            <a:ext cx="11057839" cy="621792"/>
          </a:xfrm>
          <a:prstGeom prst="roundRect">
            <a:avLst>
              <a:gd name="adj" fmla="val 14000"/>
            </a:avLst>
          </a:prstGeom>
          <a:solidFill>
            <a:srgbClr val="F7F7FA"/>
          </a:solidFill>
          <a:ln>
            <a:noFill/>
          </a:ln>
          <a:effectLst/>
        </p:spPr>
        <p:txBody>
          <a:bodyPr rtlCol="0" anchor="ctr"/>
          <a:lstStyle/>
          <a:p>
            <a:pPr algn="ctr"/>
          </a:p>
        </p:txBody>
      </p:sp>
      <p:sp>
        <p:nvSpPr>
          <p:cNvPr id="51" name="TextBox 50"/>
          <p:cNvSpPr txBox="1"/>
          <p:nvPr/>
        </p:nvSpPr>
        <p:spPr>
          <a:xfrm>
            <a:off x="768096" y="5623560"/>
            <a:ext cx="10646359" cy="502920"/>
          </a:xfrm>
          <a:prstGeom prst="rect">
            <a:avLst/>
          </a:prstGeom>
          <a:noFill/>
        </p:spPr>
        <p:txBody>
          <a:bodyPr wrap="square" lIns="0" rIns="0" tIns="0" bIns="0" anchor="t">
            <a:spAutoFit/>
          </a:bodyPr>
          <a:lstStyle/>
          <a:p>
            <a:pPr algn="l">
              <a:lnSpc>
                <a:spcPct val="125000"/>
              </a:lnSpc>
            </a:pPr>
            <a:r>
              <a:rPr sz="900" b="1" i="0">
                <a:solidFill>
                  <a:srgbClr val="16181D"/>
                </a:solidFill>
                <a:latin typeface="Geist"/>
              </a:rPr>
              <a:t>Engaged through the National Road Safety Dialogue Series: </a:t>
            </a:r>
            <a:r>
              <a:rPr sz="900" b="0" i="0">
                <a:solidFill>
                  <a:srgbClr val="6E7180"/>
                </a:solidFill>
                <a:latin typeface="Geist"/>
              </a:rPr>
              <a:t>Balraj Bhanot (ex-Chair, CMVR-TSC) · I.V. Rao (TERI; ex-Maruti Suzuki) · D.P. Saste (CIRT / ex-MoRTH) · Dr. Sushma Sagar (AIIMS Trauma) · Dr. S. Velmurugan (CSIR-CRRI), and jurors from OMI, NIUA, WRI, CII and Tata AIG.</a:t>
            </a:r>
          </a:p>
        </p:txBody>
      </p:sp>
      <p:cxnSp>
        <p:nvCxnSpPr>
          <p:cNvPr id="52" name="Connector 51"/>
          <p:cNvCxnSpPr/>
          <p:nvPr/>
        </p:nvCxnSpPr>
        <p:spPr>
          <a:xfrm>
            <a:off x="566928" y="6455664"/>
            <a:ext cx="11057839" cy="0"/>
          </a:xfrm>
          <a:prstGeom prst="line">
            <a:avLst/>
          </a:prstGeom>
          <a:ln w="9525">
            <a:solidFill>
              <a:srgbClr val="E8E9EE"/>
            </a:solidFill>
          </a:ln>
          <a:effectLst/>
        </p:spPr>
      </p:cxnSp>
      <p:sp>
        <p:nvSpPr>
          <p:cNvPr id="53" name="TextBox 52"/>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54" name="TextBox 53"/>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16 / 28</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PROJECT RAKSHAK</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PROJECT RAKSHAK, WHAT IT IS</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Project Rakshak, </a:t>
            </a:r>
            <a:r>
              <a:rPr sz="2250" b="1" i="0">
                <a:solidFill>
                  <a:srgbClr val="4A35FF"/>
                </a:solidFill>
                <a:latin typeface="Montserrat"/>
              </a:rPr>
              <a:t>in one sentence</a:t>
            </a:r>
          </a:p>
        </p:txBody>
      </p:sp>
      <p:sp>
        <p:nvSpPr>
          <p:cNvPr id="7" name="TextBox 6"/>
          <p:cNvSpPr txBox="1"/>
          <p:nvPr/>
        </p:nvSpPr>
        <p:spPr>
          <a:xfrm>
            <a:off x="566928" y="1572768"/>
            <a:ext cx="10972800" cy="777240"/>
          </a:xfrm>
          <a:prstGeom prst="rect">
            <a:avLst/>
          </a:prstGeom>
          <a:noFill/>
        </p:spPr>
        <p:txBody>
          <a:bodyPr wrap="square" lIns="0" rIns="0" tIns="0" bIns="0" anchor="t">
            <a:spAutoFit/>
          </a:bodyPr>
          <a:lstStyle/>
          <a:p>
            <a:pPr algn="l">
              <a:lnSpc>
                <a:spcPct val="135000"/>
              </a:lnSpc>
            </a:pPr>
            <a:r>
              <a:rPr sz="1550" b="0" i="0">
                <a:solidFill>
                  <a:srgbClr val="16181D"/>
                </a:solidFill>
                <a:latin typeface="Montserrat"/>
              </a:rPr>
              <a:t>Trained student teams, guided by senior road-safety experts, audit dangerous road locations, and Crashfree India walks each recommended fix through the road-owning authority until it is built.</a:t>
            </a:r>
          </a:p>
        </p:txBody>
      </p:sp>
      <p:sp>
        <p:nvSpPr>
          <p:cNvPr id="8" name="Rounded Rectangle 7"/>
          <p:cNvSpPr/>
          <p:nvPr/>
        </p:nvSpPr>
        <p:spPr>
          <a:xfrm>
            <a:off x="566928" y="2514600"/>
            <a:ext cx="3611880" cy="3017520"/>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9" name="Picture 8" descr="guntur_junction.jpg_3.95x1.55_0.40.jpg"/>
          <p:cNvPicPr>
            <a:picLocks noChangeAspect="1"/>
          </p:cNvPicPr>
          <p:nvPr/>
        </p:nvPicPr>
        <p:blipFill>
          <a:blip r:embed="rId2"/>
          <a:stretch>
            <a:fillRect/>
          </a:stretch>
        </p:blipFill>
        <p:spPr>
          <a:xfrm>
            <a:off x="566928" y="2514600"/>
            <a:ext cx="3611880" cy="1417320"/>
          </a:xfrm>
          <a:prstGeom prst="rect">
            <a:avLst/>
          </a:prstGeom>
        </p:spPr>
      </p:pic>
      <p:sp>
        <p:nvSpPr>
          <p:cNvPr id="10" name="Rectangle 9"/>
          <p:cNvSpPr/>
          <p:nvPr/>
        </p:nvSpPr>
        <p:spPr>
          <a:xfrm>
            <a:off x="566928" y="2514600"/>
            <a:ext cx="3611880" cy="1417320"/>
          </a:xfrm>
          <a:prstGeom prst="rect">
            <a:avLst/>
          </a:prstGeom>
          <a:noFill/>
          <a:ln w="12700">
            <a:solidFill>
              <a:srgbClr val="E8E9EE"/>
            </a:solidFill>
          </a:ln>
          <a:effectLst/>
        </p:spPr>
        <p:txBody>
          <a:bodyPr rtlCol="0" anchor="ctr"/>
          <a:lstStyle/>
          <a:p>
            <a:pPr algn="ctr"/>
          </a:p>
        </p:txBody>
      </p:sp>
      <p:sp>
        <p:nvSpPr>
          <p:cNvPr id="11" name="Oval 10"/>
          <p:cNvSpPr/>
          <p:nvPr/>
        </p:nvSpPr>
        <p:spPr>
          <a:xfrm>
            <a:off x="704088" y="4069080"/>
            <a:ext cx="384048" cy="384048"/>
          </a:xfrm>
          <a:prstGeom prst="ellipse">
            <a:avLst/>
          </a:prstGeom>
          <a:solidFill>
            <a:srgbClr val="EFEDFF"/>
          </a:solidFill>
          <a:ln>
            <a:noFill/>
          </a:ln>
          <a:effectLst/>
        </p:spPr>
        <p:txBody>
          <a:bodyPr rtlCol="0" anchor="ctr"/>
          <a:lstStyle/>
          <a:p>
            <a:pPr algn="ctr"/>
          </a:p>
        </p:txBody>
      </p:sp>
      <p:pic>
        <p:nvPicPr>
          <p:cNvPr id="12" name="Picture 11" descr="clipboard-list_4A35FF_256_2.0.png"/>
          <p:cNvPicPr>
            <a:picLocks noChangeAspect="1"/>
          </p:cNvPicPr>
          <p:nvPr/>
        </p:nvPicPr>
        <p:blipFill>
          <a:blip r:embed="rId3"/>
          <a:stretch>
            <a:fillRect/>
          </a:stretch>
        </p:blipFill>
        <p:spPr>
          <a:xfrm>
            <a:off x="796259" y="4161251"/>
            <a:ext cx="199704" cy="199704"/>
          </a:xfrm>
          <a:prstGeom prst="rect">
            <a:avLst/>
          </a:prstGeom>
        </p:spPr>
      </p:pic>
      <p:sp>
        <p:nvSpPr>
          <p:cNvPr id="13" name="TextBox 12"/>
          <p:cNvSpPr txBox="1"/>
          <p:nvPr/>
        </p:nvSpPr>
        <p:spPr>
          <a:xfrm>
            <a:off x="1207008" y="4123944"/>
            <a:ext cx="2834640" cy="320040"/>
          </a:xfrm>
          <a:prstGeom prst="rect">
            <a:avLst/>
          </a:prstGeom>
          <a:noFill/>
        </p:spPr>
        <p:txBody>
          <a:bodyPr wrap="square" lIns="0" rIns="0" tIns="0" bIns="0" anchor="t">
            <a:spAutoFit/>
          </a:bodyPr>
          <a:lstStyle/>
          <a:p>
            <a:pPr algn="l">
              <a:lnSpc>
                <a:spcPct val="128000"/>
              </a:lnSpc>
            </a:pPr>
            <a:r>
              <a:rPr sz="1250" b="1" i="0">
                <a:solidFill>
                  <a:srgbClr val="16181D"/>
                </a:solidFill>
                <a:latin typeface="Montserrat"/>
              </a:rPr>
              <a:t>Students audit</a:t>
            </a:r>
          </a:p>
        </p:txBody>
      </p:sp>
      <p:sp>
        <p:nvSpPr>
          <p:cNvPr id="14" name="TextBox 13"/>
          <p:cNvSpPr txBox="1"/>
          <p:nvPr/>
        </p:nvSpPr>
        <p:spPr>
          <a:xfrm>
            <a:off x="704088" y="4544568"/>
            <a:ext cx="3337560" cy="914400"/>
          </a:xfrm>
          <a:prstGeom prst="rect">
            <a:avLst/>
          </a:prstGeom>
          <a:noFill/>
        </p:spPr>
        <p:txBody>
          <a:bodyPr wrap="square" lIns="0" rIns="0" tIns="0" bIns="0" anchor="t">
            <a:spAutoFit/>
          </a:bodyPr>
          <a:lstStyle/>
          <a:p>
            <a:pPr algn="l">
              <a:lnSpc>
                <a:spcPct val="125000"/>
              </a:lnSpc>
            </a:pPr>
            <a:r>
              <a:rPr sz="950" b="0" i="0">
                <a:solidFill>
                  <a:srgbClr val="6E7180"/>
                </a:solidFill>
                <a:latin typeface="Geist"/>
              </a:rPr>
              <a:t>Teams from IITs, NITs and SPAs collect data on-site: traffic, conflicts, 900+ stakeholder surveys.</a:t>
            </a:r>
          </a:p>
        </p:txBody>
      </p:sp>
      <p:sp>
        <p:nvSpPr>
          <p:cNvPr id="15" name="Rounded Rectangle 14"/>
          <p:cNvSpPr/>
          <p:nvPr/>
        </p:nvSpPr>
        <p:spPr>
          <a:xfrm>
            <a:off x="4288536" y="2514600"/>
            <a:ext cx="3611880" cy="3017520"/>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16" name="Picture 15" descr="ph_jury_room.jpg_3.95x1.55_0.35.jpg"/>
          <p:cNvPicPr>
            <a:picLocks noChangeAspect="1"/>
          </p:cNvPicPr>
          <p:nvPr/>
        </p:nvPicPr>
        <p:blipFill>
          <a:blip r:embed="rId4"/>
          <a:stretch>
            <a:fillRect/>
          </a:stretch>
        </p:blipFill>
        <p:spPr>
          <a:xfrm>
            <a:off x="4288536" y="2514600"/>
            <a:ext cx="3611880" cy="1417320"/>
          </a:xfrm>
          <a:prstGeom prst="rect">
            <a:avLst/>
          </a:prstGeom>
        </p:spPr>
      </p:pic>
      <p:sp>
        <p:nvSpPr>
          <p:cNvPr id="17" name="Rectangle 16"/>
          <p:cNvSpPr/>
          <p:nvPr/>
        </p:nvSpPr>
        <p:spPr>
          <a:xfrm>
            <a:off x="4288536" y="2514600"/>
            <a:ext cx="3611880" cy="1417320"/>
          </a:xfrm>
          <a:prstGeom prst="rect">
            <a:avLst/>
          </a:prstGeom>
          <a:noFill/>
          <a:ln w="12700">
            <a:solidFill>
              <a:srgbClr val="E8E9EE"/>
            </a:solidFill>
          </a:ln>
          <a:effectLst/>
        </p:spPr>
        <p:txBody>
          <a:bodyPr rtlCol="0" anchor="ctr"/>
          <a:lstStyle/>
          <a:p>
            <a:pPr algn="ctr"/>
          </a:p>
        </p:txBody>
      </p:sp>
      <p:sp>
        <p:nvSpPr>
          <p:cNvPr id="18" name="Oval 17"/>
          <p:cNvSpPr/>
          <p:nvPr/>
        </p:nvSpPr>
        <p:spPr>
          <a:xfrm>
            <a:off x="4425696" y="4069080"/>
            <a:ext cx="384048" cy="384048"/>
          </a:xfrm>
          <a:prstGeom prst="ellipse">
            <a:avLst/>
          </a:prstGeom>
          <a:solidFill>
            <a:srgbClr val="EFEDFF"/>
          </a:solidFill>
          <a:ln>
            <a:noFill/>
          </a:ln>
          <a:effectLst/>
        </p:spPr>
        <p:txBody>
          <a:bodyPr rtlCol="0" anchor="ctr"/>
          <a:lstStyle/>
          <a:p>
            <a:pPr algn="ctr"/>
          </a:p>
        </p:txBody>
      </p:sp>
      <p:pic>
        <p:nvPicPr>
          <p:cNvPr id="19" name="Picture 18" descr="badge-check_4A35FF_256_2.0.png"/>
          <p:cNvPicPr>
            <a:picLocks noChangeAspect="1"/>
          </p:cNvPicPr>
          <p:nvPr/>
        </p:nvPicPr>
        <p:blipFill>
          <a:blip r:embed="rId5"/>
          <a:stretch>
            <a:fillRect/>
          </a:stretch>
        </p:blipFill>
        <p:spPr>
          <a:xfrm>
            <a:off x="4517867" y="4161251"/>
            <a:ext cx="199704" cy="199704"/>
          </a:xfrm>
          <a:prstGeom prst="rect">
            <a:avLst/>
          </a:prstGeom>
        </p:spPr>
      </p:pic>
      <p:sp>
        <p:nvSpPr>
          <p:cNvPr id="20" name="TextBox 19"/>
          <p:cNvSpPr txBox="1"/>
          <p:nvPr/>
        </p:nvSpPr>
        <p:spPr>
          <a:xfrm>
            <a:off x="4928616" y="4123944"/>
            <a:ext cx="2834640" cy="320040"/>
          </a:xfrm>
          <a:prstGeom prst="rect">
            <a:avLst/>
          </a:prstGeom>
          <a:noFill/>
        </p:spPr>
        <p:txBody>
          <a:bodyPr wrap="square" lIns="0" rIns="0" tIns="0" bIns="0" anchor="t">
            <a:spAutoFit/>
          </a:bodyPr>
          <a:lstStyle/>
          <a:p>
            <a:pPr algn="l">
              <a:lnSpc>
                <a:spcPct val="128000"/>
              </a:lnSpc>
            </a:pPr>
            <a:r>
              <a:rPr sz="1250" b="1" i="0">
                <a:solidFill>
                  <a:srgbClr val="16181D"/>
                </a:solidFill>
                <a:latin typeface="Montserrat"/>
              </a:rPr>
              <a:t>Experts verify</a:t>
            </a:r>
          </a:p>
        </p:txBody>
      </p:sp>
      <p:sp>
        <p:nvSpPr>
          <p:cNvPr id="21" name="TextBox 20"/>
          <p:cNvSpPr txBox="1"/>
          <p:nvPr/>
        </p:nvSpPr>
        <p:spPr>
          <a:xfrm>
            <a:off x="4425696" y="4544568"/>
            <a:ext cx="3337560" cy="914400"/>
          </a:xfrm>
          <a:prstGeom prst="rect">
            <a:avLst/>
          </a:prstGeom>
          <a:noFill/>
        </p:spPr>
        <p:txBody>
          <a:bodyPr wrap="square" lIns="0" rIns="0" tIns="0" bIns="0" anchor="t">
            <a:spAutoFit/>
          </a:bodyPr>
          <a:lstStyle/>
          <a:p>
            <a:pPr algn="l">
              <a:lnSpc>
                <a:spcPct val="125000"/>
              </a:lnSpc>
            </a:pPr>
            <a:r>
              <a:rPr sz="950" b="0" i="0">
                <a:solidFill>
                  <a:srgbClr val="6E7180"/>
                </a:solidFill>
                <a:latin typeface="Geist"/>
              </a:rPr>
              <a:t>Mentors anchor every audit to IRC codes and MoRTH checklists before anything is proposed.</a:t>
            </a:r>
          </a:p>
        </p:txBody>
      </p:sp>
      <p:sp>
        <p:nvSpPr>
          <p:cNvPr id="22" name="Rounded Rectangle 21"/>
          <p:cNvSpPr/>
          <p:nvPr/>
        </p:nvSpPr>
        <p:spPr>
          <a:xfrm>
            <a:off x="8010144" y="2514600"/>
            <a:ext cx="3611880" cy="3017520"/>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23" name="Picture 22" descr="implementation_work.jpg_3.95x1.55_0.30.jpg"/>
          <p:cNvPicPr>
            <a:picLocks noChangeAspect="1"/>
          </p:cNvPicPr>
          <p:nvPr/>
        </p:nvPicPr>
        <p:blipFill>
          <a:blip r:embed="rId6"/>
          <a:stretch>
            <a:fillRect/>
          </a:stretch>
        </p:blipFill>
        <p:spPr>
          <a:xfrm>
            <a:off x="8010144" y="2514600"/>
            <a:ext cx="3611880" cy="1417320"/>
          </a:xfrm>
          <a:prstGeom prst="rect">
            <a:avLst/>
          </a:prstGeom>
        </p:spPr>
      </p:pic>
      <p:sp>
        <p:nvSpPr>
          <p:cNvPr id="24" name="Rectangle 23"/>
          <p:cNvSpPr/>
          <p:nvPr/>
        </p:nvSpPr>
        <p:spPr>
          <a:xfrm>
            <a:off x="8010144" y="2514600"/>
            <a:ext cx="3611880" cy="1417320"/>
          </a:xfrm>
          <a:prstGeom prst="rect">
            <a:avLst/>
          </a:prstGeom>
          <a:noFill/>
          <a:ln w="12700">
            <a:solidFill>
              <a:srgbClr val="E8E9EE"/>
            </a:solidFill>
          </a:ln>
          <a:effectLst/>
        </p:spPr>
        <p:txBody>
          <a:bodyPr rtlCol="0" anchor="ctr"/>
          <a:lstStyle/>
          <a:p>
            <a:pPr algn="ctr"/>
          </a:p>
        </p:txBody>
      </p:sp>
      <p:sp>
        <p:nvSpPr>
          <p:cNvPr id="25" name="Oval 24"/>
          <p:cNvSpPr/>
          <p:nvPr/>
        </p:nvSpPr>
        <p:spPr>
          <a:xfrm>
            <a:off x="8147304" y="4069080"/>
            <a:ext cx="384048" cy="384048"/>
          </a:xfrm>
          <a:prstGeom prst="ellipse">
            <a:avLst/>
          </a:prstGeom>
          <a:solidFill>
            <a:srgbClr val="EFEDFF"/>
          </a:solidFill>
          <a:ln>
            <a:noFill/>
          </a:ln>
          <a:effectLst/>
        </p:spPr>
        <p:txBody>
          <a:bodyPr rtlCol="0" anchor="ctr"/>
          <a:lstStyle/>
          <a:p>
            <a:pPr algn="ctr"/>
          </a:p>
        </p:txBody>
      </p:sp>
      <p:pic>
        <p:nvPicPr>
          <p:cNvPr id="26" name="Picture 25" descr="hard-hat_4A35FF_256_2.0.png"/>
          <p:cNvPicPr>
            <a:picLocks noChangeAspect="1"/>
          </p:cNvPicPr>
          <p:nvPr/>
        </p:nvPicPr>
        <p:blipFill>
          <a:blip r:embed="rId7"/>
          <a:stretch>
            <a:fillRect/>
          </a:stretch>
        </p:blipFill>
        <p:spPr>
          <a:xfrm>
            <a:off x="8239475" y="4161251"/>
            <a:ext cx="199704" cy="199704"/>
          </a:xfrm>
          <a:prstGeom prst="rect">
            <a:avLst/>
          </a:prstGeom>
        </p:spPr>
      </p:pic>
      <p:sp>
        <p:nvSpPr>
          <p:cNvPr id="27" name="TextBox 26"/>
          <p:cNvSpPr txBox="1"/>
          <p:nvPr/>
        </p:nvSpPr>
        <p:spPr>
          <a:xfrm>
            <a:off x="8650224" y="4123944"/>
            <a:ext cx="2834640" cy="320040"/>
          </a:xfrm>
          <a:prstGeom prst="rect">
            <a:avLst/>
          </a:prstGeom>
          <a:noFill/>
        </p:spPr>
        <p:txBody>
          <a:bodyPr wrap="square" lIns="0" rIns="0" tIns="0" bIns="0" anchor="t">
            <a:spAutoFit/>
          </a:bodyPr>
          <a:lstStyle/>
          <a:p>
            <a:pPr algn="l">
              <a:lnSpc>
                <a:spcPct val="128000"/>
              </a:lnSpc>
            </a:pPr>
            <a:r>
              <a:rPr sz="1250" b="1" i="0">
                <a:solidFill>
                  <a:srgbClr val="16181D"/>
                </a:solidFill>
                <a:latin typeface="Montserrat"/>
              </a:rPr>
              <a:t>Authorities build</a:t>
            </a:r>
          </a:p>
        </p:txBody>
      </p:sp>
      <p:sp>
        <p:nvSpPr>
          <p:cNvPr id="28" name="TextBox 27"/>
          <p:cNvSpPr txBox="1"/>
          <p:nvPr/>
        </p:nvSpPr>
        <p:spPr>
          <a:xfrm>
            <a:off x="8147304" y="4544568"/>
            <a:ext cx="3337560" cy="914400"/>
          </a:xfrm>
          <a:prstGeom prst="rect">
            <a:avLst/>
          </a:prstGeom>
          <a:noFill/>
        </p:spPr>
        <p:txBody>
          <a:bodyPr wrap="square" lIns="0" rIns="0" tIns="0" bIns="0" anchor="t">
            <a:spAutoFit/>
          </a:bodyPr>
          <a:lstStyle/>
          <a:p>
            <a:pPr algn="l">
              <a:lnSpc>
                <a:spcPct val="125000"/>
              </a:lnSpc>
            </a:pPr>
            <a:r>
              <a:rPr sz="950" b="0" i="0">
                <a:solidFill>
                  <a:srgbClr val="6E7180"/>
                </a:solidFill>
                <a:latin typeface="Geist"/>
              </a:rPr>
              <a:t>The fix goes to the PWD, corporation or NHAI in its own format, and we track it to completion.</a:t>
            </a:r>
          </a:p>
        </p:txBody>
      </p:sp>
      <p:sp>
        <p:nvSpPr>
          <p:cNvPr id="29" name="TextBox 28"/>
          <p:cNvSpPr txBox="1"/>
          <p:nvPr/>
        </p:nvSpPr>
        <p:spPr>
          <a:xfrm>
            <a:off x="566928" y="5760720"/>
            <a:ext cx="11057839" cy="320040"/>
          </a:xfrm>
          <a:prstGeom prst="rect">
            <a:avLst/>
          </a:prstGeom>
          <a:noFill/>
        </p:spPr>
        <p:txBody>
          <a:bodyPr wrap="square" lIns="0" rIns="0" tIns="0" bIns="0" anchor="t">
            <a:spAutoFit/>
          </a:bodyPr>
          <a:lstStyle/>
          <a:p>
            <a:pPr algn="l">
              <a:lnSpc>
                <a:spcPct val="120000"/>
              </a:lnSpc>
            </a:pPr>
            <a:r>
              <a:rPr sz="1000" b="1" i="0">
                <a:solidFill>
                  <a:srgbClr val="16181D"/>
                </a:solidFill>
                <a:latin typeface="Geist"/>
              </a:rPr>
              <a:t>Four phases each cohort: </a:t>
            </a:r>
            <a:r>
              <a:rPr sz="1000" b="0" i="0">
                <a:solidFill>
                  <a:srgbClr val="6E7180"/>
                </a:solidFill>
                <a:latin typeface="Geist"/>
              </a:rPr>
              <a:t>Research &amp; problem identification  →  Stakeholder engagement &amp; audits  →  Analysis &amp; costed solutions  →  Reporting &amp; authority engagement</a:t>
            </a:r>
          </a:p>
        </p:txBody>
      </p:sp>
      <p:cxnSp>
        <p:nvCxnSpPr>
          <p:cNvPr id="30" name="Connector 29"/>
          <p:cNvCxnSpPr/>
          <p:nvPr/>
        </p:nvCxnSpPr>
        <p:spPr>
          <a:xfrm>
            <a:off x="566928" y="6455664"/>
            <a:ext cx="11057839" cy="0"/>
          </a:xfrm>
          <a:prstGeom prst="line">
            <a:avLst/>
          </a:prstGeom>
          <a:ln w="9525">
            <a:solidFill>
              <a:srgbClr val="E8E9EE"/>
            </a:solidFill>
          </a:ln>
          <a:effectLst/>
        </p:spPr>
      </p:cxnSp>
      <p:sp>
        <p:nvSpPr>
          <p:cNvPr id="31" name="TextBox 30"/>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32" name="TextBox 31"/>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17 / 28</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PROJECT RAKSHAK</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PROJECT RAKSHAK, WHY IT MATTERS TO WG-2</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Identification has outpaced rectification, </a:t>
            </a:r>
            <a:r>
              <a:rPr sz="2250" b="1" i="0">
                <a:solidFill>
                  <a:srgbClr val="4A35FF"/>
                </a:solidFill>
                <a:latin typeface="Montserrat"/>
              </a:rPr>
              <a:t>capacity is the constraint</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The knowledge exists; the pipeline that turns identified risk into completed engineering needs more trained hands.</a:t>
            </a:r>
          </a:p>
        </p:txBody>
      </p:sp>
      <p:sp>
        <p:nvSpPr>
          <p:cNvPr id="8" name="Rounded Rectangle 7"/>
          <p:cNvSpPr/>
          <p:nvPr/>
        </p:nvSpPr>
        <p:spPr>
          <a:xfrm>
            <a:off x="566928" y="2103120"/>
            <a:ext cx="3108960" cy="1188720"/>
          </a:xfrm>
          <a:prstGeom prst="roundRect">
            <a:avLst>
              <a:gd name="adj" fmla="val 14000"/>
            </a:avLst>
          </a:prstGeom>
          <a:solidFill>
            <a:srgbClr val="F7F7FA"/>
          </a:solidFill>
          <a:ln>
            <a:noFill/>
          </a:ln>
          <a:effectLst/>
        </p:spPr>
        <p:txBody>
          <a:bodyPr rtlCol="0" anchor="ctr"/>
          <a:lstStyle/>
          <a:p>
            <a:pPr algn="ctr"/>
          </a:p>
        </p:txBody>
      </p:sp>
      <p:sp>
        <p:nvSpPr>
          <p:cNvPr id="9" name="TextBox 8"/>
          <p:cNvSpPr txBox="1"/>
          <p:nvPr/>
        </p:nvSpPr>
        <p:spPr>
          <a:xfrm>
            <a:off x="694944" y="2194560"/>
            <a:ext cx="2852928" cy="502920"/>
          </a:xfrm>
          <a:prstGeom prst="rect">
            <a:avLst/>
          </a:prstGeom>
          <a:noFill/>
        </p:spPr>
        <p:txBody>
          <a:bodyPr wrap="square" lIns="0" rIns="0" tIns="0" bIns="0" anchor="t">
            <a:spAutoFit/>
          </a:bodyPr>
          <a:lstStyle/>
          <a:p>
            <a:pPr algn="l">
              <a:lnSpc>
                <a:spcPct val="100000"/>
              </a:lnSpc>
            </a:pPr>
            <a:r>
              <a:rPr sz="3000" b="1" i="0">
                <a:solidFill>
                  <a:srgbClr val="4A35FF"/>
                </a:solidFill>
                <a:latin typeface="Montserrat"/>
              </a:rPr>
              <a:t>13,795</a:t>
            </a:r>
          </a:p>
        </p:txBody>
      </p:sp>
      <p:sp>
        <p:nvSpPr>
          <p:cNvPr id="10" name="TextBox 9"/>
          <p:cNvSpPr txBox="1"/>
          <p:nvPr/>
        </p:nvSpPr>
        <p:spPr>
          <a:xfrm>
            <a:off x="694944" y="2651760"/>
            <a:ext cx="2852928" cy="640080"/>
          </a:xfrm>
          <a:prstGeom prst="rect">
            <a:avLst/>
          </a:prstGeom>
          <a:noFill/>
        </p:spPr>
        <p:txBody>
          <a:bodyPr wrap="square" lIns="0" rIns="0" tIns="0" bIns="0" anchor="t">
            <a:spAutoFit/>
          </a:bodyPr>
          <a:lstStyle/>
          <a:p>
            <a:pPr algn="l">
              <a:lnSpc>
                <a:spcPct val="112000"/>
              </a:lnSpc>
            </a:pPr>
            <a:r>
              <a:rPr sz="950" b="0" i="0">
                <a:solidFill>
                  <a:srgbClr val="6E7180"/>
                </a:solidFill>
                <a:latin typeface="Geist"/>
              </a:rPr>
              <a:t>black spots identified nationally (MoRTH)</a:t>
            </a:r>
          </a:p>
        </p:txBody>
      </p:sp>
      <p:sp>
        <p:nvSpPr>
          <p:cNvPr id="11" name="Rounded Rectangle 10"/>
          <p:cNvSpPr/>
          <p:nvPr/>
        </p:nvSpPr>
        <p:spPr>
          <a:xfrm>
            <a:off x="3813048" y="2103120"/>
            <a:ext cx="3108960" cy="1188720"/>
          </a:xfrm>
          <a:prstGeom prst="roundRect">
            <a:avLst>
              <a:gd name="adj" fmla="val 14000"/>
            </a:avLst>
          </a:prstGeom>
          <a:solidFill>
            <a:srgbClr val="F7F7FA"/>
          </a:solidFill>
          <a:ln>
            <a:noFill/>
          </a:ln>
          <a:effectLst/>
        </p:spPr>
        <p:txBody>
          <a:bodyPr rtlCol="0" anchor="ctr"/>
          <a:lstStyle/>
          <a:p>
            <a:pPr algn="ctr"/>
          </a:p>
        </p:txBody>
      </p:sp>
      <p:sp>
        <p:nvSpPr>
          <p:cNvPr id="12" name="TextBox 11"/>
          <p:cNvSpPr txBox="1"/>
          <p:nvPr/>
        </p:nvSpPr>
        <p:spPr>
          <a:xfrm>
            <a:off x="3941064" y="2194560"/>
            <a:ext cx="2852928" cy="502920"/>
          </a:xfrm>
          <a:prstGeom prst="rect">
            <a:avLst/>
          </a:prstGeom>
          <a:noFill/>
        </p:spPr>
        <p:txBody>
          <a:bodyPr wrap="square" lIns="0" rIns="0" tIns="0" bIns="0" anchor="t">
            <a:spAutoFit/>
          </a:bodyPr>
          <a:lstStyle/>
          <a:p>
            <a:pPr algn="l">
              <a:lnSpc>
                <a:spcPct val="100000"/>
              </a:lnSpc>
            </a:pPr>
            <a:r>
              <a:rPr sz="3000" b="1" i="0">
                <a:solidFill>
                  <a:srgbClr val="4A35FF"/>
                </a:solidFill>
                <a:latin typeface="Montserrat"/>
              </a:rPr>
              <a:t>5,036</a:t>
            </a:r>
          </a:p>
        </p:txBody>
      </p:sp>
      <p:sp>
        <p:nvSpPr>
          <p:cNvPr id="13" name="TextBox 12"/>
          <p:cNvSpPr txBox="1"/>
          <p:nvPr/>
        </p:nvSpPr>
        <p:spPr>
          <a:xfrm>
            <a:off x="3941064" y="2651760"/>
            <a:ext cx="2852928" cy="640080"/>
          </a:xfrm>
          <a:prstGeom prst="rect">
            <a:avLst/>
          </a:prstGeom>
          <a:noFill/>
        </p:spPr>
        <p:txBody>
          <a:bodyPr wrap="square" lIns="0" rIns="0" tIns="0" bIns="0" anchor="t">
            <a:spAutoFit/>
          </a:bodyPr>
          <a:lstStyle/>
          <a:p>
            <a:pPr algn="l">
              <a:lnSpc>
                <a:spcPct val="112000"/>
              </a:lnSpc>
            </a:pPr>
            <a:r>
              <a:rPr sz="950" b="0" i="0">
                <a:solidFill>
                  <a:srgbClr val="6E7180"/>
                </a:solidFill>
                <a:latin typeface="Geist"/>
              </a:rPr>
              <a:t>permanently rectified so far (Parliamentary Standing Committee, 2024)</a:t>
            </a:r>
          </a:p>
        </p:txBody>
      </p:sp>
      <p:sp>
        <p:nvSpPr>
          <p:cNvPr id="14" name="Rounded Rectangle 13"/>
          <p:cNvSpPr/>
          <p:nvPr/>
        </p:nvSpPr>
        <p:spPr>
          <a:xfrm>
            <a:off x="7059168" y="2103120"/>
            <a:ext cx="3108960" cy="1188720"/>
          </a:xfrm>
          <a:prstGeom prst="roundRect">
            <a:avLst>
              <a:gd name="adj" fmla="val 14000"/>
            </a:avLst>
          </a:prstGeom>
          <a:solidFill>
            <a:srgbClr val="F7F7FA"/>
          </a:solidFill>
          <a:ln>
            <a:noFill/>
          </a:ln>
          <a:effectLst/>
        </p:spPr>
        <p:txBody>
          <a:bodyPr rtlCol="0" anchor="ctr"/>
          <a:lstStyle/>
          <a:p>
            <a:pPr algn="ctr"/>
          </a:p>
        </p:txBody>
      </p:sp>
      <p:sp>
        <p:nvSpPr>
          <p:cNvPr id="15" name="TextBox 14"/>
          <p:cNvSpPr txBox="1"/>
          <p:nvPr/>
        </p:nvSpPr>
        <p:spPr>
          <a:xfrm>
            <a:off x="7187184" y="2194560"/>
            <a:ext cx="2852928" cy="502920"/>
          </a:xfrm>
          <a:prstGeom prst="rect">
            <a:avLst/>
          </a:prstGeom>
          <a:noFill/>
        </p:spPr>
        <p:txBody>
          <a:bodyPr wrap="square" lIns="0" rIns="0" tIns="0" bIns="0" anchor="t">
            <a:spAutoFit/>
          </a:bodyPr>
          <a:lstStyle/>
          <a:p>
            <a:pPr algn="l">
              <a:lnSpc>
                <a:spcPct val="100000"/>
              </a:lnSpc>
            </a:pPr>
            <a:r>
              <a:rPr sz="3000" b="1" i="0">
                <a:solidFill>
                  <a:srgbClr val="E58900"/>
                </a:solidFill>
                <a:latin typeface="Montserrat"/>
              </a:rPr>
              <a:t>44</a:t>
            </a:r>
          </a:p>
        </p:txBody>
      </p:sp>
      <p:sp>
        <p:nvSpPr>
          <p:cNvPr id="16" name="TextBox 15"/>
          <p:cNvSpPr txBox="1"/>
          <p:nvPr/>
        </p:nvSpPr>
        <p:spPr>
          <a:xfrm>
            <a:off x="7187184" y="2651760"/>
            <a:ext cx="2852928" cy="640080"/>
          </a:xfrm>
          <a:prstGeom prst="rect">
            <a:avLst/>
          </a:prstGeom>
          <a:noFill/>
        </p:spPr>
        <p:txBody>
          <a:bodyPr wrap="square" lIns="0" rIns="0" tIns="0" bIns="0" anchor="t">
            <a:spAutoFit/>
          </a:bodyPr>
          <a:lstStyle/>
          <a:p>
            <a:pPr algn="l">
              <a:lnSpc>
                <a:spcPct val="112000"/>
              </a:lnSpc>
            </a:pPr>
            <a:r>
              <a:rPr sz="950" b="0" i="0">
                <a:solidFill>
                  <a:srgbClr val="6E7180"/>
                </a:solidFill>
                <a:latin typeface="Geist"/>
              </a:rPr>
              <a:t>certified Road Safety Auditors on the national registry (July 2026)</a:t>
            </a:r>
          </a:p>
        </p:txBody>
      </p:sp>
      <p:sp>
        <p:nvSpPr>
          <p:cNvPr id="17" name="TextBox 16"/>
          <p:cNvSpPr txBox="1"/>
          <p:nvPr/>
        </p:nvSpPr>
        <p:spPr>
          <a:xfrm>
            <a:off x="566928" y="3611880"/>
            <a:ext cx="6675120" cy="1188720"/>
          </a:xfrm>
          <a:prstGeom prst="rect">
            <a:avLst/>
          </a:prstGeom>
          <a:noFill/>
        </p:spPr>
        <p:txBody>
          <a:bodyPr wrap="square" lIns="0" rIns="0" tIns="0" bIns="0" anchor="t">
            <a:spAutoFit/>
          </a:bodyPr>
          <a:lstStyle/>
          <a:p>
            <a:pPr algn="l">
              <a:lnSpc>
                <a:spcPct val="140000"/>
              </a:lnSpc>
            </a:pPr>
            <a:r>
              <a:rPr sz="1100" b="0" i="0">
                <a:solidFill>
                  <a:srgbClr val="16181D"/>
                </a:solidFill>
                <a:latin typeface="Geist"/>
              </a:rPr>
              <a:t>Low-cost engineering measures, raised crossings, traffic calming, lighting, safer intersections, reduce crashes by 20–80% where applied (iRAP &amp; PIARC evidence). What limits progress is steady, supervised auditing capacity and follow-up, working under the road-owning authority.</a:t>
            </a:r>
          </a:p>
        </p:txBody>
      </p:sp>
      <p:sp>
        <p:nvSpPr>
          <p:cNvPr id="18" name="Rounded Rectangle 17"/>
          <p:cNvSpPr/>
          <p:nvPr/>
        </p:nvSpPr>
        <p:spPr>
          <a:xfrm>
            <a:off x="566928" y="5029200"/>
            <a:ext cx="6675120" cy="868680"/>
          </a:xfrm>
          <a:prstGeom prst="roundRect">
            <a:avLst>
              <a:gd name="adj" fmla="val 12000"/>
            </a:avLst>
          </a:prstGeom>
          <a:solidFill>
            <a:srgbClr val="EFEDFF"/>
          </a:solidFill>
          <a:ln>
            <a:noFill/>
          </a:ln>
          <a:effectLst/>
        </p:spPr>
        <p:txBody>
          <a:bodyPr rtlCol="0" anchor="ctr"/>
          <a:lstStyle/>
          <a:p>
            <a:pPr algn="ctr"/>
          </a:p>
        </p:txBody>
      </p:sp>
      <p:sp>
        <p:nvSpPr>
          <p:cNvPr id="19" name="TextBox 18"/>
          <p:cNvSpPr txBox="1"/>
          <p:nvPr/>
        </p:nvSpPr>
        <p:spPr>
          <a:xfrm>
            <a:off x="768096" y="5138928"/>
            <a:ext cx="6309360" cy="685800"/>
          </a:xfrm>
          <a:prstGeom prst="rect">
            <a:avLst/>
          </a:prstGeom>
          <a:noFill/>
        </p:spPr>
        <p:txBody>
          <a:bodyPr wrap="square" lIns="0" rIns="0" tIns="0" bIns="0" anchor="t">
            <a:spAutoFit/>
          </a:bodyPr>
          <a:lstStyle/>
          <a:p>
            <a:pPr algn="l">
              <a:lnSpc>
                <a:spcPct val="130000"/>
              </a:lnSpc>
            </a:pPr>
            <a:r>
              <a:rPr sz="1050" b="1" i="0">
                <a:solidFill>
                  <a:srgbClr val="4A35FF"/>
                </a:solidFill>
                <a:latin typeface="Geist"/>
              </a:rPr>
              <a:t>Project Rakshak was designed for precisely this constraint: </a:t>
            </a:r>
            <a:r>
              <a:rPr sz="1050" b="0" i="0">
                <a:solidFill>
                  <a:srgbClr val="4A35FF"/>
                </a:solidFill>
                <a:latin typeface="Geist"/>
              </a:rPr>
              <a:t>trained auditing capacity that supports road-owning agencies, and tracks every fix to completion.</a:t>
            </a:r>
          </a:p>
        </p:txBody>
      </p:sp>
      <p:pic>
        <p:nvPicPr>
          <p:cNvPr id="20" name="Picture 19" descr="iv_guntur_drainage.png_4.35x2.50_0.40.jpg"/>
          <p:cNvPicPr>
            <a:picLocks noChangeAspect="1"/>
          </p:cNvPicPr>
          <p:nvPr/>
        </p:nvPicPr>
        <p:blipFill>
          <a:blip r:embed="rId2"/>
          <a:stretch>
            <a:fillRect/>
          </a:stretch>
        </p:blipFill>
        <p:spPr>
          <a:xfrm>
            <a:off x="7635240" y="3611880"/>
            <a:ext cx="3977639" cy="2286000"/>
          </a:xfrm>
          <a:prstGeom prst="rect">
            <a:avLst/>
          </a:prstGeom>
        </p:spPr>
      </p:pic>
      <p:sp>
        <p:nvSpPr>
          <p:cNvPr id="21" name="Rectangle 20"/>
          <p:cNvSpPr/>
          <p:nvPr/>
        </p:nvSpPr>
        <p:spPr>
          <a:xfrm>
            <a:off x="7635240" y="3611880"/>
            <a:ext cx="3977639" cy="2286000"/>
          </a:xfrm>
          <a:prstGeom prst="rect">
            <a:avLst/>
          </a:prstGeom>
          <a:noFill/>
          <a:ln w="12700">
            <a:solidFill>
              <a:srgbClr val="E8E9EE"/>
            </a:solidFill>
          </a:ln>
          <a:effectLst/>
        </p:spPr>
        <p:txBody>
          <a:bodyPr rtlCol="0" anchor="ctr"/>
          <a:lstStyle/>
          <a:p>
            <a:pPr algn="ctr"/>
          </a:p>
        </p:txBody>
      </p:sp>
      <p:sp>
        <p:nvSpPr>
          <p:cNvPr id="22" name="TextBox 21"/>
          <p:cNvSpPr txBox="1"/>
          <p:nvPr/>
        </p:nvSpPr>
        <p:spPr>
          <a:xfrm>
            <a:off x="7635240" y="5943600"/>
            <a:ext cx="3977639"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Guntur, Andhra Pradesh, drainage correction underway after audit.</a:t>
            </a:r>
          </a:p>
        </p:txBody>
      </p:sp>
      <p:cxnSp>
        <p:nvCxnSpPr>
          <p:cNvPr id="23" name="Connector 22"/>
          <p:cNvCxnSpPr/>
          <p:nvPr/>
        </p:nvCxnSpPr>
        <p:spPr>
          <a:xfrm>
            <a:off x="566928" y="6455664"/>
            <a:ext cx="11057839" cy="0"/>
          </a:xfrm>
          <a:prstGeom prst="line">
            <a:avLst/>
          </a:prstGeom>
          <a:ln w="9525">
            <a:solidFill>
              <a:srgbClr val="E8E9EE"/>
            </a:solidFill>
          </a:ln>
          <a:effectLst/>
        </p:spPr>
      </p:cxnSp>
      <p:sp>
        <p:nvSpPr>
          <p:cNvPr id="24" name="TextBox 23"/>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25" name="TextBox 24"/>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18 / 28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PROJECT RAKSHAK</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PROJECT RAKSHAK, YEAR ONE</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Cohort 1: a </a:t>
            </a:r>
            <a:r>
              <a:rPr sz="2250" b="1" i="0">
                <a:solidFill>
                  <a:srgbClr val="4A35FF"/>
                </a:solidFill>
                <a:latin typeface="Montserrat"/>
              </a:rPr>
              <a:t>national footprint</a:t>
            </a:r>
            <a:r>
              <a:rPr sz="2250" b="1" i="0">
                <a:solidFill>
                  <a:srgbClr val="16181D"/>
                </a:solidFill>
                <a:latin typeface="Montserrat"/>
              </a:rPr>
              <a:t>, now delivering</a:t>
            </a:r>
          </a:p>
        </p:txBody>
      </p:sp>
      <p:sp>
        <p:nvSpPr>
          <p:cNvPr id="7" name="Rounded Rectangle 6"/>
          <p:cNvSpPr/>
          <p:nvPr/>
        </p:nvSpPr>
        <p:spPr>
          <a:xfrm>
            <a:off x="566928" y="1965960"/>
            <a:ext cx="1783080" cy="1143000"/>
          </a:xfrm>
          <a:prstGeom prst="roundRect">
            <a:avLst>
              <a:gd name="adj" fmla="val 12000"/>
            </a:avLst>
          </a:prstGeom>
          <a:solidFill>
            <a:srgbClr val="F7F7FA"/>
          </a:solidFill>
          <a:ln>
            <a:noFill/>
          </a:ln>
          <a:effectLst/>
        </p:spPr>
        <p:txBody>
          <a:bodyPr rtlCol="0" anchor="ctr"/>
          <a:lstStyle/>
          <a:p>
            <a:pPr algn="ctr"/>
          </a:p>
        </p:txBody>
      </p:sp>
      <p:sp>
        <p:nvSpPr>
          <p:cNvPr id="8" name="TextBox 7"/>
          <p:cNvSpPr txBox="1"/>
          <p:nvPr/>
        </p:nvSpPr>
        <p:spPr>
          <a:xfrm>
            <a:off x="694944" y="2075688"/>
            <a:ext cx="1554480" cy="502920"/>
          </a:xfrm>
          <a:prstGeom prst="rect">
            <a:avLst/>
          </a:prstGeom>
          <a:noFill/>
        </p:spPr>
        <p:txBody>
          <a:bodyPr wrap="square" lIns="0" rIns="0" tIns="0" bIns="0" anchor="t">
            <a:spAutoFit/>
          </a:bodyPr>
          <a:lstStyle/>
          <a:p>
            <a:pPr algn="l">
              <a:lnSpc>
                <a:spcPct val="100000"/>
              </a:lnSpc>
            </a:pPr>
            <a:r>
              <a:rPr sz="2400" b="1" i="0">
                <a:solidFill>
                  <a:srgbClr val="4A35FF"/>
                </a:solidFill>
                <a:latin typeface="Montserrat"/>
              </a:rPr>
              <a:t>120+</a:t>
            </a:r>
          </a:p>
        </p:txBody>
      </p:sp>
      <p:sp>
        <p:nvSpPr>
          <p:cNvPr id="9" name="TextBox 8"/>
          <p:cNvSpPr txBox="1"/>
          <p:nvPr/>
        </p:nvSpPr>
        <p:spPr>
          <a:xfrm>
            <a:off x="694944" y="2532888"/>
            <a:ext cx="1554480" cy="50292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locations screened</a:t>
            </a:r>
          </a:p>
        </p:txBody>
      </p:sp>
      <p:sp>
        <p:nvSpPr>
          <p:cNvPr id="10" name="TextBox 9"/>
          <p:cNvSpPr txBox="1"/>
          <p:nvPr/>
        </p:nvSpPr>
        <p:spPr>
          <a:xfrm>
            <a:off x="2331720" y="2331720"/>
            <a:ext cx="182880" cy="365760"/>
          </a:xfrm>
          <a:prstGeom prst="rect">
            <a:avLst/>
          </a:prstGeom>
          <a:noFill/>
        </p:spPr>
        <p:txBody>
          <a:bodyPr wrap="square" lIns="0" rIns="0" tIns="0" bIns="0" anchor="t">
            <a:spAutoFit/>
          </a:bodyPr>
          <a:lstStyle/>
          <a:p>
            <a:pPr algn="l">
              <a:lnSpc>
                <a:spcPct val="128000"/>
              </a:lnSpc>
            </a:pPr>
            <a:r>
              <a:rPr sz="1400" b="0" i="0">
                <a:solidFill>
                  <a:srgbClr val="6E7180"/>
                </a:solidFill>
                <a:latin typeface="Geist"/>
              </a:rPr>
              <a:t>→</a:t>
            </a:r>
          </a:p>
        </p:txBody>
      </p:sp>
      <p:sp>
        <p:nvSpPr>
          <p:cNvPr id="11" name="Rounded Rectangle 10"/>
          <p:cNvSpPr/>
          <p:nvPr/>
        </p:nvSpPr>
        <p:spPr>
          <a:xfrm>
            <a:off x="2487168" y="1965960"/>
            <a:ext cx="1783080" cy="1143000"/>
          </a:xfrm>
          <a:prstGeom prst="roundRect">
            <a:avLst>
              <a:gd name="adj" fmla="val 12000"/>
            </a:avLst>
          </a:prstGeom>
          <a:solidFill>
            <a:srgbClr val="F7F7FA"/>
          </a:solidFill>
          <a:ln>
            <a:noFill/>
          </a:ln>
          <a:effectLst/>
        </p:spPr>
        <p:txBody>
          <a:bodyPr rtlCol="0" anchor="ctr"/>
          <a:lstStyle/>
          <a:p>
            <a:pPr algn="ctr"/>
          </a:p>
        </p:txBody>
      </p:sp>
      <p:sp>
        <p:nvSpPr>
          <p:cNvPr id="12" name="TextBox 11"/>
          <p:cNvSpPr txBox="1"/>
          <p:nvPr/>
        </p:nvSpPr>
        <p:spPr>
          <a:xfrm>
            <a:off x="2615184" y="2075688"/>
            <a:ext cx="1554480" cy="502920"/>
          </a:xfrm>
          <a:prstGeom prst="rect">
            <a:avLst/>
          </a:prstGeom>
          <a:noFill/>
        </p:spPr>
        <p:txBody>
          <a:bodyPr wrap="square" lIns="0" rIns="0" tIns="0" bIns="0" anchor="t">
            <a:spAutoFit/>
          </a:bodyPr>
          <a:lstStyle/>
          <a:p>
            <a:pPr algn="l">
              <a:lnSpc>
                <a:spcPct val="100000"/>
              </a:lnSpc>
            </a:pPr>
            <a:r>
              <a:rPr sz="2400" b="1" i="0">
                <a:solidFill>
                  <a:srgbClr val="4A35FF"/>
                </a:solidFill>
                <a:latin typeface="Montserrat"/>
              </a:rPr>
              <a:t>31</a:t>
            </a:r>
          </a:p>
        </p:txBody>
      </p:sp>
      <p:sp>
        <p:nvSpPr>
          <p:cNvPr id="13" name="TextBox 12"/>
          <p:cNvSpPr txBox="1"/>
          <p:nvPr/>
        </p:nvSpPr>
        <p:spPr>
          <a:xfrm>
            <a:off x="2615184" y="2532888"/>
            <a:ext cx="1554480" cy="50292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sites audited, 11 official black spots</a:t>
            </a:r>
          </a:p>
        </p:txBody>
      </p:sp>
      <p:sp>
        <p:nvSpPr>
          <p:cNvPr id="14" name="TextBox 13"/>
          <p:cNvSpPr txBox="1"/>
          <p:nvPr/>
        </p:nvSpPr>
        <p:spPr>
          <a:xfrm>
            <a:off x="4251960" y="2331720"/>
            <a:ext cx="182880" cy="365760"/>
          </a:xfrm>
          <a:prstGeom prst="rect">
            <a:avLst/>
          </a:prstGeom>
          <a:noFill/>
        </p:spPr>
        <p:txBody>
          <a:bodyPr wrap="square" lIns="0" rIns="0" tIns="0" bIns="0" anchor="t">
            <a:spAutoFit/>
          </a:bodyPr>
          <a:lstStyle/>
          <a:p>
            <a:pPr algn="l">
              <a:lnSpc>
                <a:spcPct val="128000"/>
              </a:lnSpc>
            </a:pPr>
            <a:r>
              <a:rPr sz="1400" b="0" i="0">
                <a:solidFill>
                  <a:srgbClr val="6E7180"/>
                </a:solidFill>
                <a:latin typeface="Geist"/>
              </a:rPr>
              <a:t>→</a:t>
            </a:r>
          </a:p>
        </p:txBody>
      </p:sp>
      <p:sp>
        <p:nvSpPr>
          <p:cNvPr id="15" name="Rounded Rectangle 14"/>
          <p:cNvSpPr/>
          <p:nvPr/>
        </p:nvSpPr>
        <p:spPr>
          <a:xfrm>
            <a:off x="4407408" y="1965960"/>
            <a:ext cx="1783080" cy="1143000"/>
          </a:xfrm>
          <a:prstGeom prst="roundRect">
            <a:avLst>
              <a:gd name="adj" fmla="val 12000"/>
            </a:avLst>
          </a:prstGeom>
          <a:solidFill>
            <a:srgbClr val="F7F7FA"/>
          </a:solidFill>
          <a:ln>
            <a:noFill/>
          </a:ln>
          <a:effectLst/>
        </p:spPr>
        <p:txBody>
          <a:bodyPr rtlCol="0" anchor="ctr"/>
          <a:lstStyle/>
          <a:p>
            <a:pPr algn="ctr"/>
          </a:p>
        </p:txBody>
      </p:sp>
      <p:sp>
        <p:nvSpPr>
          <p:cNvPr id="16" name="TextBox 15"/>
          <p:cNvSpPr txBox="1"/>
          <p:nvPr/>
        </p:nvSpPr>
        <p:spPr>
          <a:xfrm>
            <a:off x="4535424" y="2075688"/>
            <a:ext cx="1554480" cy="502920"/>
          </a:xfrm>
          <a:prstGeom prst="rect">
            <a:avLst/>
          </a:prstGeom>
          <a:noFill/>
        </p:spPr>
        <p:txBody>
          <a:bodyPr wrap="square" lIns="0" rIns="0" tIns="0" bIns="0" anchor="t">
            <a:spAutoFit/>
          </a:bodyPr>
          <a:lstStyle/>
          <a:p>
            <a:pPr algn="l">
              <a:lnSpc>
                <a:spcPct val="100000"/>
              </a:lnSpc>
            </a:pPr>
            <a:r>
              <a:rPr sz="2400" b="1" i="0">
                <a:solidFill>
                  <a:srgbClr val="4A35FF"/>
                </a:solidFill>
                <a:latin typeface="Montserrat"/>
              </a:rPr>
              <a:t>25+</a:t>
            </a:r>
          </a:p>
        </p:txBody>
      </p:sp>
      <p:sp>
        <p:nvSpPr>
          <p:cNvPr id="17" name="TextBox 16"/>
          <p:cNvSpPr txBox="1"/>
          <p:nvPr/>
        </p:nvSpPr>
        <p:spPr>
          <a:xfrm>
            <a:off x="4535424" y="2532888"/>
            <a:ext cx="1554480" cy="50292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written authority approvals</a:t>
            </a:r>
          </a:p>
        </p:txBody>
      </p:sp>
      <p:sp>
        <p:nvSpPr>
          <p:cNvPr id="18" name="TextBox 17"/>
          <p:cNvSpPr txBox="1"/>
          <p:nvPr/>
        </p:nvSpPr>
        <p:spPr>
          <a:xfrm>
            <a:off x="6172200" y="2331720"/>
            <a:ext cx="182880" cy="365760"/>
          </a:xfrm>
          <a:prstGeom prst="rect">
            <a:avLst/>
          </a:prstGeom>
          <a:noFill/>
        </p:spPr>
        <p:txBody>
          <a:bodyPr wrap="square" lIns="0" rIns="0" tIns="0" bIns="0" anchor="t">
            <a:spAutoFit/>
          </a:bodyPr>
          <a:lstStyle/>
          <a:p>
            <a:pPr algn="l">
              <a:lnSpc>
                <a:spcPct val="128000"/>
              </a:lnSpc>
            </a:pPr>
            <a:r>
              <a:rPr sz="1400" b="0" i="0">
                <a:solidFill>
                  <a:srgbClr val="6E7180"/>
                </a:solidFill>
                <a:latin typeface="Geist"/>
              </a:rPr>
              <a:t>→</a:t>
            </a:r>
          </a:p>
        </p:txBody>
      </p:sp>
      <p:sp>
        <p:nvSpPr>
          <p:cNvPr id="19" name="Rounded Rectangle 18"/>
          <p:cNvSpPr/>
          <p:nvPr/>
        </p:nvSpPr>
        <p:spPr>
          <a:xfrm>
            <a:off x="6327648" y="1965960"/>
            <a:ext cx="1783080" cy="1143000"/>
          </a:xfrm>
          <a:prstGeom prst="roundRect">
            <a:avLst>
              <a:gd name="adj" fmla="val 12000"/>
            </a:avLst>
          </a:prstGeom>
          <a:solidFill>
            <a:srgbClr val="4A35FF"/>
          </a:solidFill>
          <a:ln>
            <a:noFill/>
          </a:ln>
          <a:effectLst/>
        </p:spPr>
        <p:txBody>
          <a:bodyPr rtlCol="0" anchor="ctr"/>
          <a:lstStyle/>
          <a:p>
            <a:pPr algn="ctr"/>
          </a:p>
        </p:txBody>
      </p:sp>
      <p:sp>
        <p:nvSpPr>
          <p:cNvPr id="20" name="TextBox 19"/>
          <p:cNvSpPr txBox="1"/>
          <p:nvPr/>
        </p:nvSpPr>
        <p:spPr>
          <a:xfrm>
            <a:off x="6455664" y="2075688"/>
            <a:ext cx="1554480" cy="502920"/>
          </a:xfrm>
          <a:prstGeom prst="rect">
            <a:avLst/>
          </a:prstGeom>
          <a:noFill/>
        </p:spPr>
        <p:txBody>
          <a:bodyPr wrap="square" lIns="0" rIns="0" tIns="0" bIns="0" anchor="t">
            <a:spAutoFit/>
          </a:bodyPr>
          <a:lstStyle/>
          <a:p>
            <a:pPr algn="l">
              <a:lnSpc>
                <a:spcPct val="100000"/>
              </a:lnSpc>
            </a:pPr>
            <a:r>
              <a:rPr sz="2400" b="1" i="0">
                <a:solidFill>
                  <a:srgbClr val="FFFFFF"/>
                </a:solidFill>
                <a:latin typeface="Montserrat"/>
              </a:rPr>
              <a:t>7 + 6</a:t>
            </a:r>
          </a:p>
        </p:txBody>
      </p:sp>
      <p:sp>
        <p:nvSpPr>
          <p:cNvPr id="21" name="TextBox 20"/>
          <p:cNvSpPr txBox="1"/>
          <p:nvPr/>
        </p:nvSpPr>
        <p:spPr>
          <a:xfrm>
            <a:off x="6455664" y="2532888"/>
            <a:ext cx="1554480" cy="502920"/>
          </a:xfrm>
          <a:prstGeom prst="rect">
            <a:avLst/>
          </a:prstGeom>
          <a:noFill/>
        </p:spPr>
        <p:txBody>
          <a:bodyPr wrap="square" lIns="0" rIns="0" tIns="0" bIns="0" anchor="t">
            <a:spAutoFit/>
          </a:bodyPr>
          <a:lstStyle/>
          <a:p>
            <a:pPr algn="l">
              <a:lnSpc>
                <a:spcPct val="110000"/>
              </a:lnSpc>
            </a:pPr>
            <a:r>
              <a:rPr sz="850" b="0" i="0">
                <a:solidFill>
                  <a:srgbClr val="FFFFFF"/>
                </a:solidFill>
                <a:latin typeface="Geist"/>
              </a:rPr>
              <a:t>fully implemented + partially built</a:t>
            </a:r>
          </a:p>
        </p:txBody>
      </p:sp>
      <p:sp>
        <p:nvSpPr>
          <p:cNvPr id="22" name="TextBox 21"/>
          <p:cNvSpPr txBox="1"/>
          <p:nvPr/>
        </p:nvSpPr>
        <p:spPr>
          <a:xfrm>
            <a:off x="566928" y="3310128"/>
            <a:ext cx="7498079" cy="274320"/>
          </a:xfrm>
          <a:prstGeom prst="rect">
            <a:avLst/>
          </a:prstGeom>
          <a:noFill/>
        </p:spPr>
        <p:txBody>
          <a:bodyPr wrap="square" lIns="0" rIns="0" tIns="0" bIns="0" anchor="t">
            <a:spAutoFit/>
          </a:bodyPr>
          <a:lstStyle/>
          <a:p>
            <a:pPr algn="l">
              <a:lnSpc>
                <a:spcPct val="130000"/>
              </a:lnSpc>
            </a:pPr>
            <a:r>
              <a:rPr sz="1000" b="0" i="0">
                <a:solidFill>
                  <a:srgbClr val="6E7180"/>
                </a:solidFill>
                <a:latin typeface="Geist"/>
              </a:rPr>
              <a:t>31 student teams · 20 institutions including nine IITs · 900+ stakeholder surveys · 17 subject-matter experts guiding and reviewing every audit</a:t>
            </a:r>
          </a:p>
        </p:txBody>
      </p:sp>
      <p:sp>
        <p:nvSpPr>
          <p:cNvPr id="23" name="TextBox 22"/>
          <p:cNvSpPr txBox="1"/>
          <p:nvPr/>
        </p:nvSpPr>
        <p:spPr>
          <a:xfrm>
            <a:off x="566928" y="3749039"/>
            <a:ext cx="7498079" cy="685800"/>
          </a:xfrm>
          <a:prstGeom prst="rect">
            <a:avLst/>
          </a:prstGeom>
          <a:noFill/>
        </p:spPr>
        <p:txBody>
          <a:bodyPr wrap="square" lIns="0" rIns="0" tIns="0" bIns="0" anchor="t">
            <a:spAutoFit/>
          </a:bodyPr>
          <a:lstStyle/>
          <a:p>
            <a:pPr algn="l">
              <a:lnSpc>
                <a:spcPct val="135000"/>
              </a:lnSpc>
            </a:pPr>
            <a:r>
              <a:rPr sz="1000" b="0" i="0">
                <a:solidFill>
                  <a:srgbClr val="6E7180"/>
                </a:solidFill>
                <a:latin typeface="Geist"/>
              </a:rPr>
              <a:t>North: Ropar, Dehradun, Roorkee, Delhi, Lucknow, Varanasi · East: Guwahati, Durgapur · West &amp; Central: Indore, Mumbai, Surat · South: Vijayawada, Guntur, Kozhikode, Chennai, among 18 cities.</a:t>
            </a:r>
          </a:p>
        </p:txBody>
      </p:sp>
      <p:sp>
        <p:nvSpPr>
          <p:cNvPr id="24" name="Rounded Rectangle 23"/>
          <p:cNvSpPr/>
          <p:nvPr/>
        </p:nvSpPr>
        <p:spPr>
          <a:xfrm>
            <a:off x="566928" y="4709160"/>
            <a:ext cx="7498079" cy="1188720"/>
          </a:xfrm>
          <a:prstGeom prst="roundRect">
            <a:avLst>
              <a:gd name="adj" fmla="val 10000"/>
            </a:avLst>
          </a:prstGeom>
          <a:solidFill>
            <a:srgbClr val="FDF3E3"/>
          </a:solidFill>
          <a:ln>
            <a:noFill/>
          </a:ln>
          <a:effectLst/>
        </p:spPr>
        <p:txBody>
          <a:bodyPr rtlCol="0" anchor="ctr"/>
          <a:lstStyle/>
          <a:p>
            <a:pPr algn="ctr"/>
          </a:p>
        </p:txBody>
      </p:sp>
      <p:sp>
        <p:nvSpPr>
          <p:cNvPr id="25" name="TextBox 24"/>
          <p:cNvSpPr txBox="1"/>
          <p:nvPr/>
        </p:nvSpPr>
        <p:spPr>
          <a:xfrm>
            <a:off x="768096" y="4846320"/>
            <a:ext cx="7132320" cy="914400"/>
          </a:xfrm>
          <a:prstGeom prst="rect">
            <a:avLst/>
          </a:prstGeom>
          <a:noFill/>
        </p:spPr>
        <p:txBody>
          <a:bodyPr wrap="square" lIns="0" rIns="0" tIns="0" bIns="0" anchor="t">
            <a:spAutoFit/>
          </a:bodyPr>
          <a:lstStyle/>
          <a:p>
            <a:pPr algn="l">
              <a:lnSpc>
                <a:spcPct val="130000"/>
              </a:lnSpc>
            </a:pPr>
            <a:r>
              <a:rPr sz="1050" b="1" i="0">
                <a:solidFill>
                  <a:srgbClr val="E58900"/>
                </a:solidFill>
                <a:latin typeface="Geist"/>
              </a:rPr>
              <a:t>Estimated 20–50% crash reduction at treated sites once complete </a:t>
            </a:r>
            <a:r>
              <a:rPr sz="1050" b="0" i="0">
                <a:solidFill>
                  <a:srgbClr val="E58900"/>
                </a:solidFill>
                <a:latin typeface="Geist"/>
              </a:rPr>
              <a:t>, based on WHO / iRAP evidence for these counter-measures; we will verify with before-and-after data as implementations finish.</a:t>
            </a:r>
          </a:p>
        </p:txBody>
      </p:sp>
      <p:pic>
        <p:nvPicPr>
          <p:cNvPr id="26" name="Picture 25" descr="cfi_map_dots.png"/>
          <p:cNvPicPr>
            <a:picLocks noChangeAspect="1"/>
          </p:cNvPicPr>
          <p:nvPr/>
        </p:nvPicPr>
        <p:blipFill>
          <a:blip r:embed="rId2"/>
          <a:stretch>
            <a:fillRect/>
          </a:stretch>
        </p:blipFill>
        <p:spPr>
          <a:xfrm>
            <a:off x="8321040" y="1920240"/>
            <a:ext cx="3291840" cy="3911357"/>
          </a:xfrm>
          <a:prstGeom prst="rect">
            <a:avLst/>
          </a:prstGeom>
        </p:spPr>
      </p:pic>
      <p:sp>
        <p:nvSpPr>
          <p:cNvPr id="27" name="Rectangle 26"/>
          <p:cNvSpPr/>
          <p:nvPr/>
        </p:nvSpPr>
        <p:spPr>
          <a:xfrm>
            <a:off x="8321040" y="1920240"/>
            <a:ext cx="3291840" cy="3911357"/>
          </a:xfrm>
          <a:prstGeom prst="rect">
            <a:avLst/>
          </a:prstGeom>
          <a:noFill/>
          <a:ln w="12700">
            <a:solidFill>
              <a:srgbClr val="E8E9EE"/>
            </a:solidFill>
          </a:ln>
          <a:effectLst/>
        </p:spPr>
        <p:txBody>
          <a:bodyPr rtlCol="0" anchor="ctr"/>
          <a:lstStyle/>
          <a:p>
            <a:pPr algn="ctr"/>
          </a:p>
        </p:txBody>
      </p:sp>
      <p:sp>
        <p:nvSpPr>
          <p:cNvPr id="28" name="TextBox 27"/>
          <p:cNvSpPr txBox="1"/>
          <p:nvPr/>
        </p:nvSpPr>
        <p:spPr>
          <a:xfrm>
            <a:off x="8321040" y="5877317"/>
            <a:ext cx="329184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Cohort-1 sites across India.</a:t>
            </a:r>
          </a:p>
        </p:txBody>
      </p:sp>
      <p:cxnSp>
        <p:nvCxnSpPr>
          <p:cNvPr id="29" name="Connector 28"/>
          <p:cNvCxnSpPr/>
          <p:nvPr/>
        </p:nvCxnSpPr>
        <p:spPr>
          <a:xfrm>
            <a:off x="566928" y="6455664"/>
            <a:ext cx="11057839" cy="0"/>
          </a:xfrm>
          <a:prstGeom prst="line">
            <a:avLst/>
          </a:prstGeom>
          <a:ln w="9525">
            <a:solidFill>
              <a:srgbClr val="E8E9EE"/>
            </a:solidFill>
          </a:ln>
          <a:effectLst/>
        </p:spPr>
      </p:cxnSp>
      <p:sp>
        <p:nvSpPr>
          <p:cNvPr id="30" name="TextBox 29"/>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31" name="TextBox 30"/>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19 / 28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PROJECT RAKSHAK</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PROJECT RAKSHAK, THE PAPER TRAIL</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Approvals </a:t>
            </a:r>
            <a:r>
              <a:rPr sz="2250" b="1" i="0">
                <a:solidFill>
                  <a:srgbClr val="4A35FF"/>
                </a:solidFill>
                <a:latin typeface="Montserrat"/>
              </a:rPr>
              <a:t>in writing</a:t>
            </a:r>
            <a:r>
              <a:rPr sz="2250" b="1" i="0">
                <a:solidFill>
                  <a:srgbClr val="16181D"/>
                </a:solidFill>
                <a:latin typeface="Montserrat"/>
              </a:rPr>
              <a:t>, from the authorities that own the roads</a:t>
            </a:r>
          </a:p>
        </p:txBody>
      </p:sp>
      <p:pic>
        <p:nvPicPr>
          <p:cNvPr id="7" name="Picture 6" descr="Crashzero.png_1.92x2.50_0.00.jpg"/>
          <p:cNvPicPr>
            <a:picLocks noChangeAspect="1"/>
          </p:cNvPicPr>
          <p:nvPr/>
        </p:nvPicPr>
        <p:blipFill>
          <a:blip r:embed="rId2"/>
          <a:stretch>
            <a:fillRect/>
          </a:stretch>
        </p:blipFill>
        <p:spPr>
          <a:xfrm>
            <a:off x="566928" y="1828800"/>
            <a:ext cx="1755648" cy="2286000"/>
          </a:xfrm>
          <a:prstGeom prst="rect">
            <a:avLst/>
          </a:prstGeom>
        </p:spPr>
      </p:pic>
      <p:sp>
        <p:nvSpPr>
          <p:cNvPr id="8" name="Rectangle 7"/>
          <p:cNvSpPr/>
          <p:nvPr/>
        </p:nvSpPr>
        <p:spPr>
          <a:xfrm>
            <a:off x="566928" y="1828800"/>
            <a:ext cx="1755648" cy="2286000"/>
          </a:xfrm>
          <a:prstGeom prst="rect">
            <a:avLst/>
          </a:prstGeom>
          <a:noFill/>
          <a:ln w="12700">
            <a:solidFill>
              <a:srgbClr val="E8E9EE"/>
            </a:solidFill>
          </a:ln>
          <a:effectLst/>
        </p:spPr>
        <p:txBody>
          <a:bodyPr rtlCol="0" anchor="ctr"/>
          <a:lstStyle/>
          <a:p>
            <a:pPr algn="ctr"/>
          </a:p>
        </p:txBody>
      </p:sp>
      <p:pic>
        <p:nvPicPr>
          <p:cNvPr id="9" name="Picture 8" descr="Pathrakshak.png_1.92x2.50_0.00.jpg"/>
          <p:cNvPicPr>
            <a:picLocks noChangeAspect="1"/>
          </p:cNvPicPr>
          <p:nvPr/>
        </p:nvPicPr>
        <p:blipFill>
          <a:blip r:embed="rId3"/>
          <a:stretch>
            <a:fillRect/>
          </a:stretch>
        </p:blipFill>
        <p:spPr>
          <a:xfrm>
            <a:off x="2423160" y="1828800"/>
            <a:ext cx="1755648" cy="2286000"/>
          </a:xfrm>
          <a:prstGeom prst="rect">
            <a:avLst/>
          </a:prstGeom>
        </p:spPr>
      </p:pic>
      <p:sp>
        <p:nvSpPr>
          <p:cNvPr id="10" name="Rectangle 9"/>
          <p:cNvSpPr/>
          <p:nvPr/>
        </p:nvSpPr>
        <p:spPr>
          <a:xfrm>
            <a:off x="2423160" y="1828800"/>
            <a:ext cx="1755648" cy="2286000"/>
          </a:xfrm>
          <a:prstGeom prst="rect">
            <a:avLst/>
          </a:prstGeom>
          <a:noFill/>
          <a:ln w="12700">
            <a:solidFill>
              <a:srgbClr val="E8E9EE"/>
            </a:solidFill>
          </a:ln>
          <a:effectLst/>
        </p:spPr>
        <p:txBody>
          <a:bodyPr rtlCol="0" anchor="ctr"/>
          <a:lstStyle/>
          <a:p>
            <a:pPr algn="ctr"/>
          </a:p>
        </p:txBody>
      </p:sp>
      <p:pic>
        <p:nvPicPr>
          <p:cNvPr id="11" name="Picture 10" descr="Safegrid.png_1.92x2.50_0.00.jpg"/>
          <p:cNvPicPr>
            <a:picLocks noChangeAspect="1"/>
          </p:cNvPicPr>
          <p:nvPr/>
        </p:nvPicPr>
        <p:blipFill>
          <a:blip r:embed="rId4"/>
          <a:stretch>
            <a:fillRect/>
          </a:stretch>
        </p:blipFill>
        <p:spPr>
          <a:xfrm>
            <a:off x="4279392" y="1828800"/>
            <a:ext cx="1755648" cy="2286000"/>
          </a:xfrm>
          <a:prstGeom prst="rect">
            <a:avLst/>
          </a:prstGeom>
        </p:spPr>
      </p:pic>
      <p:sp>
        <p:nvSpPr>
          <p:cNvPr id="12" name="Rectangle 11"/>
          <p:cNvSpPr/>
          <p:nvPr/>
        </p:nvSpPr>
        <p:spPr>
          <a:xfrm>
            <a:off x="4279392" y="1828800"/>
            <a:ext cx="1755648" cy="2286000"/>
          </a:xfrm>
          <a:prstGeom prst="rect">
            <a:avLst/>
          </a:prstGeom>
          <a:noFill/>
          <a:ln w="12700">
            <a:solidFill>
              <a:srgbClr val="E8E9EE"/>
            </a:solidFill>
          </a:ln>
          <a:effectLst/>
        </p:spPr>
        <p:txBody>
          <a:bodyPr rtlCol="0" anchor="ctr"/>
          <a:lstStyle/>
          <a:p>
            <a:pPr algn="ctr"/>
          </a:p>
        </p:txBody>
      </p:sp>
      <p:pic>
        <p:nvPicPr>
          <p:cNvPr id="13" name="Picture 12" descr="Sentinels.png_1.92x2.50_0.00.jpg"/>
          <p:cNvPicPr>
            <a:picLocks noChangeAspect="1"/>
          </p:cNvPicPr>
          <p:nvPr/>
        </p:nvPicPr>
        <p:blipFill>
          <a:blip r:embed="rId5"/>
          <a:stretch>
            <a:fillRect/>
          </a:stretch>
        </p:blipFill>
        <p:spPr>
          <a:xfrm>
            <a:off x="6135624" y="1828800"/>
            <a:ext cx="1755648" cy="2286000"/>
          </a:xfrm>
          <a:prstGeom prst="rect">
            <a:avLst/>
          </a:prstGeom>
        </p:spPr>
      </p:pic>
      <p:sp>
        <p:nvSpPr>
          <p:cNvPr id="14" name="Rectangle 13"/>
          <p:cNvSpPr/>
          <p:nvPr/>
        </p:nvSpPr>
        <p:spPr>
          <a:xfrm>
            <a:off x="6135624" y="1828800"/>
            <a:ext cx="1755648" cy="2286000"/>
          </a:xfrm>
          <a:prstGeom prst="rect">
            <a:avLst/>
          </a:prstGeom>
          <a:noFill/>
          <a:ln w="12700">
            <a:solidFill>
              <a:srgbClr val="E8E9EE"/>
            </a:solidFill>
          </a:ln>
          <a:effectLst/>
        </p:spPr>
        <p:txBody>
          <a:bodyPr rtlCol="0" anchor="ctr"/>
          <a:lstStyle/>
          <a:p>
            <a:pPr algn="ctr"/>
          </a:p>
        </p:txBody>
      </p:sp>
      <p:pic>
        <p:nvPicPr>
          <p:cNvPr id="15" name="Picture 14" descr="Vision_Zero_Squad.png_1.92x2.50_0.00.jpg"/>
          <p:cNvPicPr>
            <a:picLocks noChangeAspect="1"/>
          </p:cNvPicPr>
          <p:nvPr/>
        </p:nvPicPr>
        <p:blipFill>
          <a:blip r:embed="rId6"/>
          <a:stretch>
            <a:fillRect/>
          </a:stretch>
        </p:blipFill>
        <p:spPr>
          <a:xfrm>
            <a:off x="7991856" y="1828800"/>
            <a:ext cx="1755648" cy="2286000"/>
          </a:xfrm>
          <a:prstGeom prst="rect">
            <a:avLst/>
          </a:prstGeom>
        </p:spPr>
      </p:pic>
      <p:sp>
        <p:nvSpPr>
          <p:cNvPr id="16" name="Rectangle 15"/>
          <p:cNvSpPr/>
          <p:nvPr/>
        </p:nvSpPr>
        <p:spPr>
          <a:xfrm>
            <a:off x="7991856" y="1828800"/>
            <a:ext cx="1755648" cy="2286000"/>
          </a:xfrm>
          <a:prstGeom prst="rect">
            <a:avLst/>
          </a:prstGeom>
          <a:noFill/>
          <a:ln w="12700">
            <a:solidFill>
              <a:srgbClr val="E8E9EE"/>
            </a:solidFill>
          </a:ln>
          <a:effectLst/>
        </p:spPr>
        <p:txBody>
          <a:bodyPr rtlCol="0" anchor="ctr"/>
          <a:lstStyle/>
          <a:p>
            <a:pPr algn="ctr"/>
          </a:p>
        </p:txBody>
      </p:sp>
      <p:pic>
        <p:nvPicPr>
          <p:cNvPr id="17" name="Picture 16" descr="Visioneers.png_1.92x2.50_0.00.jpg"/>
          <p:cNvPicPr>
            <a:picLocks noChangeAspect="1"/>
          </p:cNvPicPr>
          <p:nvPr/>
        </p:nvPicPr>
        <p:blipFill>
          <a:blip r:embed="rId7"/>
          <a:stretch>
            <a:fillRect/>
          </a:stretch>
        </p:blipFill>
        <p:spPr>
          <a:xfrm>
            <a:off x="9848088" y="1828800"/>
            <a:ext cx="1755648" cy="2286000"/>
          </a:xfrm>
          <a:prstGeom prst="rect">
            <a:avLst/>
          </a:prstGeom>
        </p:spPr>
      </p:pic>
      <p:sp>
        <p:nvSpPr>
          <p:cNvPr id="18" name="Rectangle 17"/>
          <p:cNvSpPr/>
          <p:nvPr/>
        </p:nvSpPr>
        <p:spPr>
          <a:xfrm>
            <a:off x="9848088" y="1828800"/>
            <a:ext cx="1755648" cy="2286000"/>
          </a:xfrm>
          <a:prstGeom prst="rect">
            <a:avLst/>
          </a:prstGeom>
          <a:noFill/>
          <a:ln w="12700">
            <a:solidFill>
              <a:srgbClr val="E8E9EE"/>
            </a:solidFill>
          </a:ln>
          <a:effectLst/>
        </p:spPr>
        <p:txBody>
          <a:bodyPr rtlCol="0" anchor="ctr"/>
          <a:lstStyle/>
          <a:p>
            <a:pPr algn="ctr"/>
          </a:p>
        </p:txBody>
      </p:sp>
      <p:sp>
        <p:nvSpPr>
          <p:cNvPr id="19" name="TextBox 18"/>
          <p:cNvSpPr txBox="1"/>
          <p:nvPr/>
        </p:nvSpPr>
        <p:spPr>
          <a:xfrm>
            <a:off x="566928" y="4297680"/>
            <a:ext cx="11057839" cy="274320"/>
          </a:xfrm>
          <a:prstGeom prst="rect">
            <a:avLst/>
          </a:prstGeom>
          <a:noFill/>
        </p:spPr>
        <p:txBody>
          <a:bodyPr wrap="square" lIns="0" rIns="0" tIns="0" bIns="0" anchor="t">
            <a:spAutoFit/>
          </a:bodyPr>
          <a:lstStyle/>
          <a:p>
            <a:pPr algn="l">
              <a:lnSpc>
                <a:spcPct val="128000"/>
              </a:lnSpc>
            </a:pPr>
            <a:r>
              <a:rPr sz="950" b="0" i="0">
                <a:solidFill>
                  <a:srgbClr val="6E7180"/>
                </a:solidFill>
                <a:latin typeface="Geist"/>
              </a:rPr>
              <a:t>A sample of the 25+ approval and acknowledgement letters issued by public works and district authorities.</a:t>
            </a:r>
          </a:p>
        </p:txBody>
      </p:sp>
      <p:sp>
        <p:nvSpPr>
          <p:cNvPr id="20" name="TextBox 19"/>
          <p:cNvSpPr txBox="1"/>
          <p:nvPr/>
        </p:nvSpPr>
        <p:spPr>
          <a:xfrm>
            <a:off x="566928" y="4681728"/>
            <a:ext cx="3017520" cy="237744"/>
          </a:xfrm>
          <a:prstGeom prst="rect">
            <a:avLst/>
          </a:prstGeom>
          <a:noFill/>
        </p:spPr>
        <p:txBody>
          <a:bodyPr wrap="square" lIns="0" rIns="0" tIns="0" bIns="0" anchor="t">
            <a:spAutoFit/>
          </a:bodyPr>
          <a:lstStyle/>
          <a:p>
            <a:pPr algn="l">
              <a:lnSpc>
                <a:spcPct val="128000"/>
              </a:lnSpc>
            </a:pPr>
            <a:r>
              <a:rPr sz="850" b="1" i="0" spc="160">
                <a:solidFill>
                  <a:srgbClr val="6E7180"/>
                </a:solidFill>
                <a:latin typeface="Montserrat"/>
              </a:rPr>
              <a:t>APPROVING AUTHORITIES INCLUDE</a:t>
            </a:r>
          </a:p>
        </p:txBody>
      </p:sp>
      <p:sp>
        <p:nvSpPr>
          <p:cNvPr id="21" name="Rounded Rectangle 20"/>
          <p:cNvSpPr/>
          <p:nvPr/>
        </p:nvSpPr>
        <p:spPr>
          <a:xfrm>
            <a:off x="566928" y="4974336"/>
            <a:ext cx="2139696" cy="384048"/>
          </a:xfrm>
          <a:prstGeom prst="roundRect">
            <a:avLst>
              <a:gd name="adj" fmla="val 50000"/>
            </a:avLst>
          </a:prstGeom>
          <a:solidFill>
            <a:srgbClr val="E9F7F0"/>
          </a:solidFill>
          <a:ln>
            <a:noFill/>
          </a:ln>
          <a:effectLst/>
        </p:spPr>
        <p:txBody>
          <a:bodyPr rtlCol="0" anchor="ctr"/>
          <a:lstStyle/>
          <a:p>
            <a:pPr algn="ctr"/>
          </a:p>
        </p:txBody>
      </p:sp>
      <p:sp>
        <p:nvSpPr>
          <p:cNvPr id="22" name="TextBox 21"/>
          <p:cNvSpPr txBox="1"/>
          <p:nvPr/>
        </p:nvSpPr>
        <p:spPr>
          <a:xfrm>
            <a:off x="585216" y="4974336"/>
            <a:ext cx="2103120" cy="384048"/>
          </a:xfrm>
          <a:prstGeom prst="rect">
            <a:avLst/>
          </a:prstGeom>
          <a:noFill/>
        </p:spPr>
        <p:txBody>
          <a:bodyPr wrap="square" lIns="0" rIns="0" tIns="0" bIns="0" anchor="ctr">
            <a:spAutoFit/>
          </a:bodyPr>
          <a:lstStyle/>
          <a:p>
            <a:pPr algn="ctr">
              <a:lnSpc>
                <a:spcPct val="100000"/>
              </a:lnSpc>
            </a:pPr>
            <a:r>
              <a:rPr sz="850" b="1" i="0">
                <a:solidFill>
                  <a:srgbClr val="0A9955"/>
                </a:solidFill>
                <a:latin typeface="Montserrat"/>
              </a:rPr>
              <a:t>PWD Kerala</a:t>
            </a:r>
          </a:p>
        </p:txBody>
      </p:sp>
      <p:sp>
        <p:nvSpPr>
          <p:cNvPr id="23" name="Rounded Rectangle 22"/>
          <p:cNvSpPr/>
          <p:nvPr/>
        </p:nvSpPr>
        <p:spPr>
          <a:xfrm>
            <a:off x="2779776" y="4974336"/>
            <a:ext cx="2139696" cy="384048"/>
          </a:xfrm>
          <a:prstGeom prst="roundRect">
            <a:avLst>
              <a:gd name="adj" fmla="val 50000"/>
            </a:avLst>
          </a:prstGeom>
          <a:solidFill>
            <a:srgbClr val="E9F7F0"/>
          </a:solidFill>
          <a:ln>
            <a:noFill/>
          </a:ln>
          <a:effectLst/>
        </p:spPr>
        <p:txBody>
          <a:bodyPr rtlCol="0" anchor="ctr"/>
          <a:lstStyle/>
          <a:p>
            <a:pPr algn="ctr"/>
          </a:p>
        </p:txBody>
      </p:sp>
      <p:sp>
        <p:nvSpPr>
          <p:cNvPr id="24" name="TextBox 23"/>
          <p:cNvSpPr txBox="1"/>
          <p:nvPr/>
        </p:nvSpPr>
        <p:spPr>
          <a:xfrm>
            <a:off x="2798064" y="4974336"/>
            <a:ext cx="2103120" cy="384048"/>
          </a:xfrm>
          <a:prstGeom prst="rect">
            <a:avLst/>
          </a:prstGeom>
          <a:noFill/>
        </p:spPr>
        <p:txBody>
          <a:bodyPr wrap="square" lIns="0" rIns="0" tIns="0" bIns="0" anchor="ctr">
            <a:spAutoFit/>
          </a:bodyPr>
          <a:lstStyle/>
          <a:p>
            <a:pPr algn="ctr">
              <a:lnSpc>
                <a:spcPct val="100000"/>
              </a:lnSpc>
            </a:pPr>
            <a:r>
              <a:rPr sz="850" b="1" i="0">
                <a:solidFill>
                  <a:srgbClr val="0A9955"/>
                </a:solidFill>
                <a:latin typeface="Montserrat"/>
              </a:rPr>
              <a:t>PWD Uttar Pradesh</a:t>
            </a:r>
          </a:p>
        </p:txBody>
      </p:sp>
      <p:sp>
        <p:nvSpPr>
          <p:cNvPr id="25" name="Rounded Rectangle 24"/>
          <p:cNvSpPr/>
          <p:nvPr/>
        </p:nvSpPr>
        <p:spPr>
          <a:xfrm>
            <a:off x="4992624" y="4974336"/>
            <a:ext cx="2139696" cy="384048"/>
          </a:xfrm>
          <a:prstGeom prst="roundRect">
            <a:avLst>
              <a:gd name="adj" fmla="val 50000"/>
            </a:avLst>
          </a:prstGeom>
          <a:solidFill>
            <a:srgbClr val="E9F7F0"/>
          </a:solidFill>
          <a:ln>
            <a:noFill/>
          </a:ln>
          <a:effectLst/>
        </p:spPr>
        <p:txBody>
          <a:bodyPr rtlCol="0" anchor="ctr"/>
          <a:lstStyle/>
          <a:p>
            <a:pPr algn="ctr"/>
          </a:p>
        </p:txBody>
      </p:sp>
      <p:sp>
        <p:nvSpPr>
          <p:cNvPr id="26" name="TextBox 25"/>
          <p:cNvSpPr txBox="1"/>
          <p:nvPr/>
        </p:nvSpPr>
        <p:spPr>
          <a:xfrm>
            <a:off x="5010912" y="4974336"/>
            <a:ext cx="2103120" cy="384048"/>
          </a:xfrm>
          <a:prstGeom prst="rect">
            <a:avLst/>
          </a:prstGeom>
          <a:noFill/>
        </p:spPr>
        <p:txBody>
          <a:bodyPr wrap="square" lIns="0" rIns="0" tIns="0" bIns="0" anchor="ctr">
            <a:spAutoFit/>
          </a:bodyPr>
          <a:lstStyle/>
          <a:p>
            <a:pPr algn="ctr">
              <a:lnSpc>
                <a:spcPct val="100000"/>
              </a:lnSpc>
            </a:pPr>
            <a:r>
              <a:rPr sz="850" b="1" i="0">
                <a:solidFill>
                  <a:srgbClr val="0A9955"/>
                </a:solidFill>
                <a:latin typeface="Montserrat"/>
              </a:rPr>
              <a:t>PWD Punjab</a:t>
            </a:r>
          </a:p>
        </p:txBody>
      </p:sp>
      <p:sp>
        <p:nvSpPr>
          <p:cNvPr id="27" name="Rounded Rectangle 26"/>
          <p:cNvSpPr/>
          <p:nvPr/>
        </p:nvSpPr>
        <p:spPr>
          <a:xfrm>
            <a:off x="7205472" y="4974336"/>
            <a:ext cx="2139696" cy="384048"/>
          </a:xfrm>
          <a:prstGeom prst="roundRect">
            <a:avLst>
              <a:gd name="adj" fmla="val 50000"/>
            </a:avLst>
          </a:prstGeom>
          <a:solidFill>
            <a:srgbClr val="E9F7F0"/>
          </a:solidFill>
          <a:ln>
            <a:noFill/>
          </a:ln>
          <a:effectLst/>
        </p:spPr>
        <p:txBody>
          <a:bodyPr rtlCol="0" anchor="ctr"/>
          <a:lstStyle/>
          <a:p>
            <a:pPr algn="ctr"/>
          </a:p>
        </p:txBody>
      </p:sp>
      <p:sp>
        <p:nvSpPr>
          <p:cNvPr id="28" name="TextBox 27"/>
          <p:cNvSpPr txBox="1"/>
          <p:nvPr/>
        </p:nvSpPr>
        <p:spPr>
          <a:xfrm>
            <a:off x="7223760" y="4974336"/>
            <a:ext cx="2103120" cy="384048"/>
          </a:xfrm>
          <a:prstGeom prst="rect">
            <a:avLst/>
          </a:prstGeom>
          <a:noFill/>
        </p:spPr>
        <p:txBody>
          <a:bodyPr wrap="square" lIns="0" rIns="0" tIns="0" bIns="0" anchor="ctr">
            <a:spAutoFit/>
          </a:bodyPr>
          <a:lstStyle/>
          <a:p>
            <a:pPr algn="ctr">
              <a:lnSpc>
                <a:spcPct val="100000"/>
              </a:lnSpc>
            </a:pPr>
            <a:r>
              <a:rPr sz="850" b="1" i="0">
                <a:solidFill>
                  <a:srgbClr val="0A9955"/>
                </a:solidFill>
                <a:latin typeface="Montserrat"/>
              </a:rPr>
              <a:t>CPWD + Addl. Collector, Indore</a:t>
            </a:r>
          </a:p>
        </p:txBody>
      </p:sp>
      <p:sp>
        <p:nvSpPr>
          <p:cNvPr id="29" name="Rounded Rectangle 28"/>
          <p:cNvSpPr/>
          <p:nvPr/>
        </p:nvSpPr>
        <p:spPr>
          <a:xfrm>
            <a:off x="566928" y="5431536"/>
            <a:ext cx="2139696" cy="384048"/>
          </a:xfrm>
          <a:prstGeom prst="roundRect">
            <a:avLst>
              <a:gd name="adj" fmla="val 50000"/>
            </a:avLst>
          </a:prstGeom>
          <a:solidFill>
            <a:srgbClr val="E9F7F0"/>
          </a:solidFill>
          <a:ln>
            <a:noFill/>
          </a:ln>
          <a:effectLst/>
        </p:spPr>
        <p:txBody>
          <a:bodyPr rtlCol="0" anchor="ctr"/>
          <a:lstStyle/>
          <a:p>
            <a:pPr algn="ctr"/>
          </a:p>
        </p:txBody>
      </p:sp>
      <p:sp>
        <p:nvSpPr>
          <p:cNvPr id="30" name="TextBox 29"/>
          <p:cNvSpPr txBox="1"/>
          <p:nvPr/>
        </p:nvSpPr>
        <p:spPr>
          <a:xfrm>
            <a:off x="585216" y="5431536"/>
            <a:ext cx="2103120" cy="384048"/>
          </a:xfrm>
          <a:prstGeom prst="rect">
            <a:avLst/>
          </a:prstGeom>
          <a:noFill/>
        </p:spPr>
        <p:txBody>
          <a:bodyPr wrap="square" lIns="0" rIns="0" tIns="0" bIns="0" anchor="ctr">
            <a:spAutoFit/>
          </a:bodyPr>
          <a:lstStyle/>
          <a:p>
            <a:pPr algn="ctr">
              <a:lnSpc>
                <a:spcPct val="100000"/>
              </a:lnSpc>
            </a:pPr>
            <a:r>
              <a:rPr sz="850" b="1" i="0">
                <a:solidFill>
                  <a:srgbClr val="0A9955"/>
                </a:solidFill>
                <a:latin typeface="Montserrat"/>
              </a:rPr>
              <a:t>ADDA Durgapur</a:t>
            </a:r>
          </a:p>
        </p:txBody>
      </p:sp>
      <p:sp>
        <p:nvSpPr>
          <p:cNvPr id="31" name="Rounded Rectangle 30"/>
          <p:cNvSpPr/>
          <p:nvPr/>
        </p:nvSpPr>
        <p:spPr>
          <a:xfrm>
            <a:off x="2779776" y="5431536"/>
            <a:ext cx="2139696" cy="384048"/>
          </a:xfrm>
          <a:prstGeom prst="roundRect">
            <a:avLst>
              <a:gd name="adj" fmla="val 50000"/>
            </a:avLst>
          </a:prstGeom>
          <a:solidFill>
            <a:srgbClr val="E9F7F0"/>
          </a:solidFill>
          <a:ln>
            <a:noFill/>
          </a:ln>
          <a:effectLst/>
        </p:spPr>
        <p:txBody>
          <a:bodyPr rtlCol="0" anchor="ctr"/>
          <a:lstStyle/>
          <a:p>
            <a:pPr algn="ctr"/>
          </a:p>
        </p:txBody>
      </p:sp>
      <p:sp>
        <p:nvSpPr>
          <p:cNvPr id="32" name="TextBox 31"/>
          <p:cNvSpPr txBox="1"/>
          <p:nvPr/>
        </p:nvSpPr>
        <p:spPr>
          <a:xfrm>
            <a:off x="2798064" y="5431536"/>
            <a:ext cx="2103120" cy="384048"/>
          </a:xfrm>
          <a:prstGeom prst="rect">
            <a:avLst/>
          </a:prstGeom>
          <a:noFill/>
        </p:spPr>
        <p:txBody>
          <a:bodyPr wrap="square" lIns="0" rIns="0" tIns="0" bIns="0" anchor="ctr">
            <a:spAutoFit/>
          </a:bodyPr>
          <a:lstStyle/>
          <a:p>
            <a:pPr algn="ctr">
              <a:lnSpc>
                <a:spcPct val="100000"/>
              </a:lnSpc>
            </a:pPr>
            <a:r>
              <a:rPr sz="850" b="1" i="0">
                <a:solidFill>
                  <a:srgbClr val="0A9955"/>
                </a:solidFill>
                <a:latin typeface="Montserrat"/>
              </a:rPr>
              <a:t>R&amp;B Andhra Pradesh</a:t>
            </a:r>
          </a:p>
        </p:txBody>
      </p:sp>
      <p:sp>
        <p:nvSpPr>
          <p:cNvPr id="33" name="Rounded Rectangle 32"/>
          <p:cNvSpPr/>
          <p:nvPr/>
        </p:nvSpPr>
        <p:spPr>
          <a:xfrm>
            <a:off x="4992624" y="5431536"/>
            <a:ext cx="2139696" cy="384048"/>
          </a:xfrm>
          <a:prstGeom prst="roundRect">
            <a:avLst>
              <a:gd name="adj" fmla="val 50000"/>
            </a:avLst>
          </a:prstGeom>
          <a:solidFill>
            <a:srgbClr val="E9F7F0"/>
          </a:solidFill>
          <a:ln>
            <a:noFill/>
          </a:ln>
          <a:effectLst/>
        </p:spPr>
        <p:txBody>
          <a:bodyPr rtlCol="0" anchor="ctr"/>
          <a:lstStyle/>
          <a:p>
            <a:pPr algn="ctr"/>
          </a:p>
        </p:txBody>
      </p:sp>
      <p:sp>
        <p:nvSpPr>
          <p:cNvPr id="34" name="TextBox 33"/>
          <p:cNvSpPr txBox="1"/>
          <p:nvPr/>
        </p:nvSpPr>
        <p:spPr>
          <a:xfrm>
            <a:off x="5010912" y="5431536"/>
            <a:ext cx="2103120" cy="384048"/>
          </a:xfrm>
          <a:prstGeom prst="rect">
            <a:avLst/>
          </a:prstGeom>
          <a:noFill/>
        </p:spPr>
        <p:txBody>
          <a:bodyPr wrap="square" lIns="0" rIns="0" tIns="0" bIns="0" anchor="ctr">
            <a:spAutoFit/>
          </a:bodyPr>
          <a:lstStyle/>
          <a:p>
            <a:pPr algn="ctr">
              <a:lnSpc>
                <a:spcPct val="100000"/>
              </a:lnSpc>
            </a:pPr>
            <a:r>
              <a:rPr sz="850" b="1" i="0">
                <a:solidFill>
                  <a:srgbClr val="0A9955"/>
                </a:solidFill>
                <a:latin typeface="Montserrat"/>
              </a:rPr>
              <a:t>GCC Chennai</a:t>
            </a:r>
          </a:p>
        </p:txBody>
      </p:sp>
      <p:sp>
        <p:nvSpPr>
          <p:cNvPr id="35" name="Rounded Rectangle 34"/>
          <p:cNvSpPr/>
          <p:nvPr/>
        </p:nvSpPr>
        <p:spPr>
          <a:xfrm>
            <a:off x="7205472" y="5431536"/>
            <a:ext cx="2139696" cy="384048"/>
          </a:xfrm>
          <a:prstGeom prst="roundRect">
            <a:avLst>
              <a:gd name="adj" fmla="val 50000"/>
            </a:avLst>
          </a:prstGeom>
          <a:solidFill>
            <a:srgbClr val="E9F7F0"/>
          </a:solidFill>
          <a:ln>
            <a:noFill/>
          </a:ln>
          <a:effectLst/>
        </p:spPr>
        <p:txBody>
          <a:bodyPr rtlCol="0" anchor="ctr"/>
          <a:lstStyle/>
          <a:p>
            <a:pPr algn="ctr"/>
          </a:p>
        </p:txBody>
      </p:sp>
      <p:sp>
        <p:nvSpPr>
          <p:cNvPr id="36" name="TextBox 35"/>
          <p:cNvSpPr txBox="1"/>
          <p:nvPr/>
        </p:nvSpPr>
        <p:spPr>
          <a:xfrm>
            <a:off x="7223760" y="5431536"/>
            <a:ext cx="2103120" cy="384048"/>
          </a:xfrm>
          <a:prstGeom prst="rect">
            <a:avLst/>
          </a:prstGeom>
          <a:noFill/>
        </p:spPr>
        <p:txBody>
          <a:bodyPr wrap="square" lIns="0" rIns="0" tIns="0" bIns="0" anchor="ctr">
            <a:spAutoFit/>
          </a:bodyPr>
          <a:lstStyle/>
          <a:p>
            <a:pPr algn="ctr">
              <a:lnSpc>
                <a:spcPct val="100000"/>
              </a:lnSpc>
            </a:pPr>
            <a:r>
              <a:rPr sz="850" b="1" i="0">
                <a:solidFill>
                  <a:srgbClr val="0A9955"/>
                </a:solidFill>
                <a:latin typeface="Montserrat"/>
              </a:rPr>
              <a:t>BMC Mumbai</a:t>
            </a:r>
          </a:p>
        </p:txBody>
      </p:sp>
      <p:sp>
        <p:nvSpPr>
          <p:cNvPr id="37" name="Rounded Rectangle 36"/>
          <p:cNvSpPr/>
          <p:nvPr/>
        </p:nvSpPr>
        <p:spPr>
          <a:xfrm>
            <a:off x="9555480" y="4892040"/>
            <a:ext cx="1005840" cy="566928"/>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38" name="Picture 37" descr="lg_pwd.png"/>
          <p:cNvPicPr>
            <a:picLocks noChangeAspect="1"/>
          </p:cNvPicPr>
          <p:nvPr/>
        </p:nvPicPr>
        <p:blipFill>
          <a:blip r:embed="rId8"/>
          <a:stretch>
            <a:fillRect/>
          </a:stretch>
        </p:blipFill>
        <p:spPr>
          <a:xfrm>
            <a:off x="9796696" y="5001768"/>
            <a:ext cx="523407" cy="347472"/>
          </a:xfrm>
          <a:prstGeom prst="rect">
            <a:avLst/>
          </a:prstGeom>
        </p:spPr>
      </p:pic>
      <p:sp>
        <p:nvSpPr>
          <p:cNvPr id="39" name="Rounded Rectangle 38"/>
          <p:cNvSpPr/>
          <p:nvPr/>
        </p:nvSpPr>
        <p:spPr>
          <a:xfrm>
            <a:off x="10625328" y="4892040"/>
            <a:ext cx="1005840" cy="566928"/>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40" name="Picture 39" descr="lg_nhai.png"/>
          <p:cNvPicPr>
            <a:picLocks noChangeAspect="1"/>
          </p:cNvPicPr>
          <p:nvPr/>
        </p:nvPicPr>
        <p:blipFill>
          <a:blip r:embed="rId9"/>
          <a:stretch>
            <a:fillRect/>
          </a:stretch>
        </p:blipFill>
        <p:spPr>
          <a:xfrm>
            <a:off x="10864762" y="5001768"/>
            <a:ext cx="526971" cy="347472"/>
          </a:xfrm>
          <a:prstGeom prst="rect">
            <a:avLst/>
          </a:prstGeom>
        </p:spPr>
      </p:pic>
      <p:sp>
        <p:nvSpPr>
          <p:cNvPr id="41" name="Rounded Rectangle 40"/>
          <p:cNvSpPr/>
          <p:nvPr/>
        </p:nvSpPr>
        <p:spPr>
          <a:xfrm>
            <a:off x="9555480" y="5504688"/>
            <a:ext cx="1005840" cy="566928"/>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42" name="Picture 41" descr="lg_indore_nn.png"/>
          <p:cNvPicPr>
            <a:picLocks noChangeAspect="1"/>
          </p:cNvPicPr>
          <p:nvPr/>
        </p:nvPicPr>
        <p:blipFill>
          <a:blip r:embed="rId10"/>
          <a:stretch>
            <a:fillRect/>
          </a:stretch>
        </p:blipFill>
        <p:spPr>
          <a:xfrm>
            <a:off x="9909629" y="5614416"/>
            <a:ext cx="297542" cy="347472"/>
          </a:xfrm>
          <a:prstGeom prst="rect">
            <a:avLst/>
          </a:prstGeom>
        </p:spPr>
      </p:pic>
      <p:sp>
        <p:nvSpPr>
          <p:cNvPr id="43" name="Rounded Rectangle 42"/>
          <p:cNvSpPr/>
          <p:nvPr/>
        </p:nvSpPr>
        <p:spPr>
          <a:xfrm>
            <a:off x="10625328" y="5504688"/>
            <a:ext cx="1005840" cy="566928"/>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44" name="Picture 43" descr="lg_dlsa.png"/>
          <p:cNvPicPr>
            <a:picLocks noChangeAspect="1"/>
          </p:cNvPicPr>
          <p:nvPr/>
        </p:nvPicPr>
        <p:blipFill>
          <a:blip r:embed="rId11"/>
          <a:stretch>
            <a:fillRect/>
          </a:stretch>
        </p:blipFill>
        <p:spPr>
          <a:xfrm>
            <a:off x="10980420" y="5614416"/>
            <a:ext cx="295656" cy="347472"/>
          </a:xfrm>
          <a:prstGeom prst="rect">
            <a:avLst/>
          </a:prstGeom>
        </p:spPr>
      </p:pic>
      <p:cxnSp>
        <p:nvCxnSpPr>
          <p:cNvPr id="45" name="Connector 44"/>
          <p:cNvCxnSpPr/>
          <p:nvPr/>
        </p:nvCxnSpPr>
        <p:spPr>
          <a:xfrm>
            <a:off x="566928" y="6455664"/>
            <a:ext cx="11057839" cy="0"/>
          </a:xfrm>
          <a:prstGeom prst="line">
            <a:avLst/>
          </a:prstGeom>
          <a:ln w="9525">
            <a:solidFill>
              <a:srgbClr val="E8E9EE"/>
            </a:solidFill>
          </a:ln>
          <a:effectLst/>
        </p:spPr>
      </p:cxnSp>
      <p:sp>
        <p:nvSpPr>
          <p:cNvPr id="46" name="TextBox 45"/>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47" name="TextBox 46"/>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20 / 28</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PROJECT RAKSHAK</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PROJECT RAKSHAK, ON THE GROUND</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From approval to construction, </a:t>
            </a:r>
            <a:r>
              <a:rPr sz="2250" b="1" i="0">
                <a:solidFill>
                  <a:srgbClr val="4A35FF"/>
                </a:solidFill>
                <a:latin typeface="Montserrat"/>
              </a:rPr>
              <a:t>and to completion</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Live status from our public implementation tracker, August 2026.</a:t>
            </a:r>
          </a:p>
        </p:txBody>
      </p:sp>
      <p:pic>
        <p:nvPicPr>
          <p:cNvPr id="8" name="Picture 7" descr="iv_durgapur_parking.png_2.60x1.75_0.35.jpg"/>
          <p:cNvPicPr>
            <a:picLocks noChangeAspect="1"/>
          </p:cNvPicPr>
          <p:nvPr/>
        </p:nvPicPr>
        <p:blipFill>
          <a:blip r:embed="rId2"/>
          <a:stretch>
            <a:fillRect/>
          </a:stretch>
        </p:blipFill>
        <p:spPr>
          <a:xfrm>
            <a:off x="566928" y="2011680"/>
            <a:ext cx="2377440" cy="1600200"/>
          </a:xfrm>
          <a:prstGeom prst="rect">
            <a:avLst/>
          </a:prstGeom>
        </p:spPr>
      </p:pic>
      <p:sp>
        <p:nvSpPr>
          <p:cNvPr id="9" name="Rectangle 8"/>
          <p:cNvSpPr/>
          <p:nvPr/>
        </p:nvSpPr>
        <p:spPr>
          <a:xfrm>
            <a:off x="566928" y="2011680"/>
            <a:ext cx="2377440" cy="1600200"/>
          </a:xfrm>
          <a:prstGeom prst="rect">
            <a:avLst/>
          </a:prstGeom>
          <a:noFill/>
          <a:ln w="12700">
            <a:solidFill>
              <a:srgbClr val="E8E9EE"/>
            </a:solidFill>
          </a:ln>
          <a:effectLst/>
        </p:spPr>
        <p:txBody>
          <a:bodyPr rtlCol="0" anchor="ctr"/>
          <a:lstStyle/>
          <a:p>
            <a:pPr algn="ctr"/>
          </a:p>
        </p:txBody>
      </p:sp>
      <p:sp>
        <p:nvSpPr>
          <p:cNvPr id="10" name="TextBox 9"/>
          <p:cNvSpPr txBox="1"/>
          <p:nvPr/>
        </p:nvSpPr>
        <p:spPr>
          <a:xfrm>
            <a:off x="566928" y="3657600"/>
            <a:ext cx="237744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Parking rationalisation, Durgapur</a:t>
            </a:r>
          </a:p>
        </p:txBody>
      </p:sp>
      <p:pic>
        <p:nvPicPr>
          <p:cNvPr id="11" name="Picture 10" descr="iv_guntur_markings.png_2.60x1.75_0.40.jpg"/>
          <p:cNvPicPr>
            <a:picLocks noChangeAspect="1"/>
          </p:cNvPicPr>
          <p:nvPr/>
        </p:nvPicPr>
        <p:blipFill>
          <a:blip r:embed="rId3"/>
          <a:stretch>
            <a:fillRect/>
          </a:stretch>
        </p:blipFill>
        <p:spPr>
          <a:xfrm>
            <a:off x="3054096" y="2011680"/>
            <a:ext cx="2377440" cy="1600200"/>
          </a:xfrm>
          <a:prstGeom prst="rect">
            <a:avLst/>
          </a:prstGeom>
        </p:spPr>
      </p:pic>
      <p:sp>
        <p:nvSpPr>
          <p:cNvPr id="12" name="Rectangle 11"/>
          <p:cNvSpPr/>
          <p:nvPr/>
        </p:nvSpPr>
        <p:spPr>
          <a:xfrm>
            <a:off x="3054096" y="2011680"/>
            <a:ext cx="2377440" cy="1600200"/>
          </a:xfrm>
          <a:prstGeom prst="rect">
            <a:avLst/>
          </a:prstGeom>
          <a:noFill/>
          <a:ln w="12700">
            <a:solidFill>
              <a:srgbClr val="E8E9EE"/>
            </a:solidFill>
          </a:ln>
          <a:effectLst/>
        </p:spPr>
        <p:txBody>
          <a:bodyPr rtlCol="0" anchor="ctr"/>
          <a:lstStyle/>
          <a:p>
            <a:pPr algn="ctr"/>
          </a:p>
        </p:txBody>
      </p:sp>
      <p:sp>
        <p:nvSpPr>
          <p:cNvPr id="13" name="TextBox 12"/>
          <p:cNvSpPr txBox="1"/>
          <p:nvPr/>
        </p:nvSpPr>
        <p:spPr>
          <a:xfrm>
            <a:off x="3054096" y="3657600"/>
            <a:ext cx="237744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Fresh markings, Guntur</a:t>
            </a:r>
          </a:p>
        </p:txBody>
      </p:sp>
      <p:pic>
        <p:nvPicPr>
          <p:cNvPr id="14" name="Picture 13" descr="iv_indore_footpath.png_2.60x1.75_0.40.jpg"/>
          <p:cNvPicPr>
            <a:picLocks noChangeAspect="1"/>
          </p:cNvPicPr>
          <p:nvPr/>
        </p:nvPicPr>
        <p:blipFill>
          <a:blip r:embed="rId4"/>
          <a:stretch>
            <a:fillRect/>
          </a:stretch>
        </p:blipFill>
        <p:spPr>
          <a:xfrm>
            <a:off x="566928" y="4023360"/>
            <a:ext cx="2377440" cy="1600200"/>
          </a:xfrm>
          <a:prstGeom prst="rect">
            <a:avLst/>
          </a:prstGeom>
        </p:spPr>
      </p:pic>
      <p:sp>
        <p:nvSpPr>
          <p:cNvPr id="15" name="Rectangle 14"/>
          <p:cNvSpPr/>
          <p:nvPr/>
        </p:nvSpPr>
        <p:spPr>
          <a:xfrm>
            <a:off x="566928" y="4023360"/>
            <a:ext cx="2377440" cy="1600200"/>
          </a:xfrm>
          <a:prstGeom prst="rect">
            <a:avLst/>
          </a:prstGeom>
          <a:noFill/>
          <a:ln w="12700">
            <a:solidFill>
              <a:srgbClr val="E8E9EE"/>
            </a:solidFill>
          </a:ln>
          <a:effectLst/>
        </p:spPr>
        <p:txBody>
          <a:bodyPr rtlCol="0" anchor="ctr"/>
          <a:lstStyle/>
          <a:p>
            <a:pPr algn="ctr"/>
          </a:p>
        </p:txBody>
      </p:sp>
      <p:sp>
        <p:nvSpPr>
          <p:cNvPr id="16" name="TextBox 15"/>
          <p:cNvSpPr txBox="1"/>
          <p:nvPr/>
        </p:nvSpPr>
        <p:spPr>
          <a:xfrm>
            <a:off x="566928" y="5669280"/>
            <a:ext cx="237744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Footpath construction, Indore</a:t>
            </a:r>
          </a:p>
        </p:txBody>
      </p:sp>
      <p:pic>
        <p:nvPicPr>
          <p:cNvPr id="17" name="Picture 16" descr="iv_mumbai_signage.png_2.60x1.75_0.35.jpg"/>
          <p:cNvPicPr>
            <a:picLocks noChangeAspect="1"/>
          </p:cNvPicPr>
          <p:nvPr/>
        </p:nvPicPr>
        <p:blipFill>
          <a:blip r:embed="rId5"/>
          <a:stretch>
            <a:fillRect/>
          </a:stretch>
        </p:blipFill>
        <p:spPr>
          <a:xfrm>
            <a:off x="3054096" y="4023360"/>
            <a:ext cx="2377440" cy="1600200"/>
          </a:xfrm>
          <a:prstGeom prst="rect">
            <a:avLst/>
          </a:prstGeom>
        </p:spPr>
      </p:pic>
      <p:sp>
        <p:nvSpPr>
          <p:cNvPr id="18" name="Rectangle 17"/>
          <p:cNvSpPr/>
          <p:nvPr/>
        </p:nvSpPr>
        <p:spPr>
          <a:xfrm>
            <a:off x="3054096" y="4023360"/>
            <a:ext cx="2377440" cy="1600200"/>
          </a:xfrm>
          <a:prstGeom prst="rect">
            <a:avLst/>
          </a:prstGeom>
          <a:noFill/>
          <a:ln w="12700">
            <a:solidFill>
              <a:srgbClr val="E8E9EE"/>
            </a:solidFill>
          </a:ln>
          <a:effectLst/>
        </p:spPr>
        <p:txBody>
          <a:bodyPr rtlCol="0" anchor="ctr"/>
          <a:lstStyle/>
          <a:p>
            <a:pPr algn="ctr"/>
          </a:p>
        </p:txBody>
      </p:sp>
      <p:sp>
        <p:nvSpPr>
          <p:cNvPr id="19" name="TextBox 18"/>
          <p:cNvSpPr txBox="1"/>
          <p:nvPr/>
        </p:nvSpPr>
        <p:spPr>
          <a:xfrm>
            <a:off x="3054096" y="5669280"/>
            <a:ext cx="237744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Signage, Mumbai</a:t>
            </a:r>
          </a:p>
        </p:txBody>
      </p:sp>
      <p:sp>
        <p:nvSpPr>
          <p:cNvPr id="20" name="Rounded Rectangle 19"/>
          <p:cNvSpPr/>
          <p:nvPr/>
        </p:nvSpPr>
        <p:spPr>
          <a:xfrm>
            <a:off x="5669280" y="2011680"/>
            <a:ext cx="5943600" cy="1572768"/>
          </a:xfrm>
          <a:prstGeom prst="roundRect">
            <a:avLst>
              <a:gd name="adj" fmla="val 8000"/>
            </a:avLst>
          </a:prstGeom>
          <a:solidFill>
            <a:srgbClr val="E9F7F0"/>
          </a:solidFill>
          <a:ln>
            <a:noFill/>
          </a:ln>
          <a:effectLst/>
        </p:spPr>
        <p:txBody>
          <a:bodyPr rtlCol="0" anchor="ctr"/>
          <a:lstStyle/>
          <a:p>
            <a:pPr algn="ctr"/>
          </a:p>
        </p:txBody>
      </p:sp>
      <p:sp>
        <p:nvSpPr>
          <p:cNvPr id="21" name="TextBox 20"/>
          <p:cNvSpPr txBox="1"/>
          <p:nvPr/>
        </p:nvSpPr>
        <p:spPr>
          <a:xfrm>
            <a:off x="5870448" y="2139696"/>
            <a:ext cx="5577840" cy="274320"/>
          </a:xfrm>
          <a:prstGeom prst="rect">
            <a:avLst/>
          </a:prstGeom>
          <a:noFill/>
        </p:spPr>
        <p:txBody>
          <a:bodyPr wrap="square" lIns="0" rIns="0" tIns="0" bIns="0" anchor="t">
            <a:spAutoFit/>
          </a:bodyPr>
          <a:lstStyle/>
          <a:p>
            <a:pPr algn="l">
              <a:lnSpc>
                <a:spcPct val="128000"/>
              </a:lnSpc>
            </a:pPr>
            <a:r>
              <a:rPr sz="1300" b="1" i="0">
                <a:solidFill>
                  <a:srgbClr val="0A9955"/>
                </a:solidFill>
                <a:latin typeface="Geist"/>
              </a:rPr>
              <a:t>7 sites fully implemented</a:t>
            </a:r>
          </a:p>
        </p:txBody>
      </p:sp>
      <p:sp>
        <p:nvSpPr>
          <p:cNvPr id="22" name="TextBox 21"/>
          <p:cNvSpPr txBox="1"/>
          <p:nvPr/>
        </p:nvSpPr>
        <p:spPr>
          <a:xfrm>
            <a:off x="5870448" y="2487168"/>
            <a:ext cx="5577840" cy="1005840"/>
          </a:xfrm>
          <a:prstGeom prst="rect">
            <a:avLst/>
          </a:prstGeom>
          <a:noFill/>
        </p:spPr>
        <p:txBody>
          <a:bodyPr wrap="square" lIns="0" rIns="0" tIns="0" bIns="0" anchor="t">
            <a:spAutoFit/>
          </a:bodyPr>
          <a:lstStyle/>
          <a:p>
            <a:pPr algn="l">
              <a:lnSpc>
                <a:spcPct val="135000"/>
              </a:lnSpc>
            </a:pPr>
            <a:r>
              <a:rPr sz="950" b="0" i="0">
                <a:solidFill>
                  <a:srgbClr val="16181D"/>
                </a:solidFill>
                <a:latin typeface="Geist"/>
              </a:rPr>
              <a:t>Outer Ring Road (Delhi) · IIT Madras Taramani Gate (Chennai) · Dafi Toll Plaza (Varanasi) · Akurli Road Underpass (Mumbai) · C-49 Commercial Area (Durgapur) · Chuttugunta Circle (Guntur) · Rau Gol Square (Indore)</a:t>
            </a:r>
          </a:p>
        </p:txBody>
      </p:sp>
      <p:sp>
        <p:nvSpPr>
          <p:cNvPr id="23" name="Rounded Rectangle 22"/>
          <p:cNvSpPr/>
          <p:nvPr/>
        </p:nvSpPr>
        <p:spPr>
          <a:xfrm>
            <a:off x="5669280" y="3730752"/>
            <a:ext cx="5943600" cy="868680"/>
          </a:xfrm>
          <a:prstGeom prst="roundRect">
            <a:avLst>
              <a:gd name="adj" fmla="val 8000"/>
            </a:avLst>
          </a:prstGeom>
          <a:solidFill>
            <a:srgbClr val="F7F7FA"/>
          </a:solidFill>
          <a:ln>
            <a:noFill/>
          </a:ln>
          <a:effectLst/>
        </p:spPr>
        <p:txBody>
          <a:bodyPr rtlCol="0" anchor="ctr"/>
          <a:lstStyle/>
          <a:p>
            <a:pPr algn="ctr"/>
          </a:p>
        </p:txBody>
      </p:sp>
      <p:sp>
        <p:nvSpPr>
          <p:cNvPr id="24" name="TextBox 23"/>
          <p:cNvSpPr txBox="1"/>
          <p:nvPr/>
        </p:nvSpPr>
        <p:spPr>
          <a:xfrm>
            <a:off x="5870448" y="3840480"/>
            <a:ext cx="5577840" cy="640080"/>
          </a:xfrm>
          <a:prstGeom prst="rect">
            <a:avLst/>
          </a:prstGeom>
          <a:noFill/>
        </p:spPr>
        <p:txBody>
          <a:bodyPr wrap="square" lIns="0" rIns="0" tIns="0" bIns="0" anchor="t">
            <a:spAutoFit/>
          </a:bodyPr>
          <a:lstStyle/>
          <a:p>
            <a:pPr algn="l">
              <a:lnSpc>
                <a:spcPct val="130000"/>
              </a:lnSpc>
            </a:pPr>
            <a:r>
              <a:rPr sz="950" b="1" i="0">
                <a:solidFill>
                  <a:srgbClr val="4A35FF"/>
                </a:solidFill>
                <a:latin typeface="Geist"/>
              </a:rPr>
              <a:t>6 more partially implemented </a:t>
            </a:r>
            <a:r>
              <a:rPr sz="950" b="0" i="0">
                <a:solidFill>
                  <a:srgbClr val="6E7180"/>
                </a:solidFill>
                <a:latin typeface="Geist"/>
              </a:rPr>
              <a:t>: Kunnamangalam &amp; Chevayur (Kozhikode), TIDEL Park (Chennai), Shivpur (Varanasi), Tejaji Nagar (Indore), Civil Lines (Roorkee); action initiated at further sites.</a:t>
            </a:r>
          </a:p>
        </p:txBody>
      </p:sp>
      <p:sp>
        <p:nvSpPr>
          <p:cNvPr id="25" name="Rounded Rectangle 24"/>
          <p:cNvSpPr/>
          <p:nvPr/>
        </p:nvSpPr>
        <p:spPr>
          <a:xfrm>
            <a:off x="5669280" y="4736592"/>
            <a:ext cx="5943600" cy="1188720"/>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26" name="TextBox 25"/>
          <p:cNvSpPr txBox="1"/>
          <p:nvPr/>
        </p:nvSpPr>
        <p:spPr>
          <a:xfrm>
            <a:off x="5870448" y="4846320"/>
            <a:ext cx="5577840" cy="274320"/>
          </a:xfrm>
          <a:prstGeom prst="rect">
            <a:avLst/>
          </a:prstGeom>
          <a:noFill/>
        </p:spPr>
        <p:txBody>
          <a:bodyPr wrap="square" lIns="0" rIns="0" tIns="0" bIns="0" anchor="t">
            <a:spAutoFit/>
          </a:bodyPr>
          <a:lstStyle/>
          <a:p>
            <a:pPr algn="l">
              <a:lnSpc>
                <a:spcPct val="128000"/>
              </a:lnSpc>
            </a:pPr>
            <a:r>
              <a:rPr sz="850" b="1" i="0" spc="120">
                <a:solidFill>
                  <a:srgbClr val="4A35FF"/>
                </a:solidFill>
                <a:latin typeface="Montserrat"/>
              </a:rPr>
              <a:t>MARQUEE CASE, OUTER RING ROAD, SOUTH DELHI</a:t>
            </a:r>
          </a:p>
        </p:txBody>
      </p:sp>
      <p:sp>
        <p:nvSpPr>
          <p:cNvPr id="27" name="TextBox 26"/>
          <p:cNvSpPr txBox="1"/>
          <p:nvPr/>
        </p:nvSpPr>
        <p:spPr>
          <a:xfrm>
            <a:off x="5870448" y="5138928"/>
            <a:ext cx="5577840" cy="731520"/>
          </a:xfrm>
          <a:prstGeom prst="rect">
            <a:avLst/>
          </a:prstGeom>
          <a:noFill/>
        </p:spPr>
        <p:txBody>
          <a:bodyPr wrap="square" lIns="0" rIns="0" tIns="0" bIns="0" anchor="t">
            <a:spAutoFit/>
          </a:bodyPr>
          <a:lstStyle/>
          <a:p>
            <a:pPr algn="l">
              <a:lnSpc>
                <a:spcPct val="130000"/>
              </a:lnSpc>
            </a:pPr>
            <a:r>
              <a:rPr sz="950" b="0" i="0">
                <a:solidFill>
                  <a:srgbClr val="16181D"/>
                </a:solidFill>
                <a:latin typeface="Geist"/>
              </a:rPr>
              <a:t>On our audit, PWD built a continuous 1.8 m accessible pedestrian corridor, upgraded drainage at ponding sites, installed bollards against footpath encroachment, and deployed camera-backed speed-feedback boards.</a:t>
            </a:r>
          </a:p>
        </p:txBody>
      </p:sp>
      <p:cxnSp>
        <p:nvCxnSpPr>
          <p:cNvPr id="28" name="Connector 27"/>
          <p:cNvCxnSpPr/>
          <p:nvPr/>
        </p:nvCxnSpPr>
        <p:spPr>
          <a:xfrm>
            <a:off x="566928" y="6455664"/>
            <a:ext cx="11057839" cy="0"/>
          </a:xfrm>
          <a:prstGeom prst="line">
            <a:avLst/>
          </a:prstGeom>
          <a:ln w="9525">
            <a:solidFill>
              <a:srgbClr val="E8E9EE"/>
            </a:solidFill>
          </a:ln>
          <a:effectLst/>
        </p:spPr>
      </p:cxnSp>
      <p:sp>
        <p:nvSpPr>
          <p:cNvPr id="29" name="TextBox 28"/>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30" name="TextBox 29"/>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21 / 28</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PROJECT RAKSHAK</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PROJECT RAKSHAK, TRANSPARENCY</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A public dashboard tracks </a:t>
            </a:r>
            <a:r>
              <a:rPr sz="2250" b="1" i="0">
                <a:solidFill>
                  <a:srgbClr val="4A35FF"/>
                </a:solidFill>
                <a:latin typeface="Montserrat"/>
              </a:rPr>
              <a:t>every site to completion</a:t>
            </a:r>
          </a:p>
        </p:txBody>
      </p:sp>
      <p:pic>
        <p:nvPicPr>
          <p:cNvPr id="7" name="Picture 6" descr="opt_rakshak_dashboard_full_1500.jpg"/>
          <p:cNvPicPr>
            <a:picLocks noChangeAspect="1"/>
          </p:cNvPicPr>
          <p:nvPr/>
        </p:nvPicPr>
        <p:blipFill>
          <a:blip r:embed="rId2"/>
          <a:stretch>
            <a:fillRect/>
          </a:stretch>
        </p:blipFill>
        <p:spPr>
          <a:xfrm>
            <a:off x="566928" y="1810512"/>
            <a:ext cx="6949440" cy="3085551"/>
          </a:xfrm>
          <a:prstGeom prst="rect">
            <a:avLst/>
          </a:prstGeom>
        </p:spPr>
      </p:pic>
      <p:sp>
        <p:nvSpPr>
          <p:cNvPr id="8" name="Rectangle 7"/>
          <p:cNvSpPr/>
          <p:nvPr/>
        </p:nvSpPr>
        <p:spPr>
          <a:xfrm>
            <a:off x="566928" y="1810512"/>
            <a:ext cx="6949440" cy="3085551"/>
          </a:xfrm>
          <a:prstGeom prst="rect">
            <a:avLst/>
          </a:prstGeom>
          <a:noFill/>
          <a:ln w="12700">
            <a:solidFill>
              <a:srgbClr val="E8E9EE"/>
            </a:solidFill>
          </a:ln>
          <a:effectLst/>
        </p:spPr>
        <p:txBody>
          <a:bodyPr rtlCol="0" anchor="ctr"/>
          <a:lstStyle/>
          <a:p>
            <a:pPr algn="ctr"/>
          </a:p>
        </p:txBody>
      </p:sp>
      <p:sp>
        <p:nvSpPr>
          <p:cNvPr id="9" name="TextBox 8"/>
          <p:cNvSpPr txBox="1"/>
          <p:nvPr/>
        </p:nvSpPr>
        <p:spPr>
          <a:xfrm>
            <a:off x="566928" y="4941783"/>
            <a:ext cx="694944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Live public dashboard, every site, its authority, risk level and implementation stage.</a:t>
            </a:r>
          </a:p>
        </p:txBody>
      </p:sp>
      <p:sp>
        <p:nvSpPr>
          <p:cNvPr id="10" name="Oval 9"/>
          <p:cNvSpPr/>
          <p:nvPr/>
        </p:nvSpPr>
        <p:spPr>
          <a:xfrm>
            <a:off x="7818120" y="1874519"/>
            <a:ext cx="384048" cy="384048"/>
          </a:xfrm>
          <a:prstGeom prst="ellipse">
            <a:avLst/>
          </a:prstGeom>
          <a:solidFill>
            <a:srgbClr val="EFEDFF"/>
          </a:solidFill>
          <a:ln>
            <a:noFill/>
          </a:ln>
          <a:effectLst/>
        </p:spPr>
        <p:txBody>
          <a:bodyPr rtlCol="0" anchor="ctr"/>
          <a:lstStyle/>
          <a:p>
            <a:pPr algn="ctr"/>
          </a:p>
        </p:txBody>
      </p:sp>
      <p:pic>
        <p:nvPicPr>
          <p:cNvPr id="11" name="Picture 10" descr="route_4A35FF_256_2.0.png"/>
          <p:cNvPicPr>
            <a:picLocks noChangeAspect="1"/>
          </p:cNvPicPr>
          <p:nvPr/>
        </p:nvPicPr>
        <p:blipFill>
          <a:blip r:embed="rId3"/>
          <a:stretch>
            <a:fillRect/>
          </a:stretch>
        </p:blipFill>
        <p:spPr>
          <a:xfrm>
            <a:off x="7910291" y="1966690"/>
            <a:ext cx="199704" cy="199704"/>
          </a:xfrm>
          <a:prstGeom prst="rect">
            <a:avLst/>
          </a:prstGeom>
        </p:spPr>
      </p:pic>
      <p:sp>
        <p:nvSpPr>
          <p:cNvPr id="12" name="TextBox 11"/>
          <p:cNvSpPr txBox="1"/>
          <p:nvPr/>
        </p:nvSpPr>
        <p:spPr>
          <a:xfrm>
            <a:off x="8348472" y="1847087"/>
            <a:ext cx="3291840" cy="320040"/>
          </a:xfrm>
          <a:prstGeom prst="rect">
            <a:avLst/>
          </a:prstGeom>
          <a:noFill/>
        </p:spPr>
        <p:txBody>
          <a:bodyPr wrap="square" lIns="0" rIns="0" tIns="0" bIns="0" anchor="t">
            <a:spAutoFit/>
          </a:bodyPr>
          <a:lstStyle/>
          <a:p>
            <a:pPr algn="l">
              <a:lnSpc>
                <a:spcPct val="128000"/>
              </a:lnSpc>
            </a:pPr>
            <a:r>
              <a:rPr sz="1100" b="1" i="0">
                <a:solidFill>
                  <a:srgbClr val="16181D"/>
                </a:solidFill>
                <a:latin typeface="Montserrat"/>
              </a:rPr>
              <a:t>Every site tracked</a:t>
            </a:r>
          </a:p>
        </p:txBody>
      </p:sp>
      <p:sp>
        <p:nvSpPr>
          <p:cNvPr id="13" name="TextBox 12"/>
          <p:cNvSpPr txBox="1"/>
          <p:nvPr/>
        </p:nvSpPr>
        <p:spPr>
          <a:xfrm>
            <a:off x="8348472" y="2148839"/>
            <a:ext cx="3291840" cy="914400"/>
          </a:xfrm>
          <a:prstGeom prst="rect">
            <a:avLst/>
          </a:prstGeom>
          <a:noFill/>
        </p:spPr>
        <p:txBody>
          <a:bodyPr wrap="square" lIns="0" rIns="0" tIns="0" bIns="0" anchor="t">
            <a:spAutoFit/>
          </a:bodyPr>
          <a:lstStyle/>
          <a:p>
            <a:pPr algn="l">
              <a:lnSpc>
                <a:spcPct val="125000"/>
              </a:lnSpc>
            </a:pPr>
            <a:r>
              <a:rPr sz="950" b="0" i="0">
                <a:solidFill>
                  <a:srgbClr val="6E7180"/>
                </a:solidFill>
                <a:latin typeface="Geist"/>
              </a:rPr>
              <a:t>From submission through approval to completed construction, regardless of who audited it.</a:t>
            </a:r>
          </a:p>
        </p:txBody>
      </p:sp>
      <p:sp>
        <p:nvSpPr>
          <p:cNvPr id="14" name="Oval 13"/>
          <p:cNvSpPr/>
          <p:nvPr/>
        </p:nvSpPr>
        <p:spPr>
          <a:xfrm>
            <a:off x="7818120" y="3246119"/>
            <a:ext cx="384048" cy="384048"/>
          </a:xfrm>
          <a:prstGeom prst="ellipse">
            <a:avLst/>
          </a:prstGeom>
          <a:solidFill>
            <a:srgbClr val="E7F4F4"/>
          </a:solidFill>
          <a:ln>
            <a:noFill/>
          </a:ln>
          <a:effectLst/>
        </p:spPr>
        <p:txBody>
          <a:bodyPr rtlCol="0" anchor="ctr"/>
          <a:lstStyle/>
          <a:p>
            <a:pPr algn="ctr"/>
          </a:p>
        </p:txBody>
      </p:sp>
      <p:pic>
        <p:nvPicPr>
          <p:cNvPr id="15" name="Picture 14" descr="git-compare_0E8A8A_256_2.0.png"/>
          <p:cNvPicPr>
            <a:picLocks noChangeAspect="1"/>
          </p:cNvPicPr>
          <p:nvPr/>
        </p:nvPicPr>
        <p:blipFill>
          <a:blip r:embed="rId4"/>
          <a:stretch>
            <a:fillRect/>
          </a:stretch>
        </p:blipFill>
        <p:spPr>
          <a:xfrm>
            <a:off x="7910291" y="3338290"/>
            <a:ext cx="199704" cy="199704"/>
          </a:xfrm>
          <a:prstGeom prst="rect">
            <a:avLst/>
          </a:prstGeom>
        </p:spPr>
      </p:pic>
      <p:sp>
        <p:nvSpPr>
          <p:cNvPr id="16" name="TextBox 15"/>
          <p:cNvSpPr txBox="1"/>
          <p:nvPr/>
        </p:nvSpPr>
        <p:spPr>
          <a:xfrm>
            <a:off x="8348472" y="3218687"/>
            <a:ext cx="3291840" cy="320040"/>
          </a:xfrm>
          <a:prstGeom prst="rect">
            <a:avLst/>
          </a:prstGeom>
          <a:noFill/>
        </p:spPr>
        <p:txBody>
          <a:bodyPr wrap="square" lIns="0" rIns="0" tIns="0" bIns="0" anchor="t">
            <a:spAutoFit/>
          </a:bodyPr>
          <a:lstStyle/>
          <a:p>
            <a:pPr algn="l">
              <a:lnSpc>
                <a:spcPct val="128000"/>
              </a:lnSpc>
            </a:pPr>
            <a:r>
              <a:rPr sz="1100" b="1" i="0">
                <a:solidFill>
                  <a:srgbClr val="16181D"/>
                </a:solidFill>
                <a:latin typeface="Montserrat"/>
              </a:rPr>
              <a:t>The PRAGATI parallel</a:t>
            </a:r>
          </a:p>
        </p:txBody>
      </p:sp>
      <p:sp>
        <p:nvSpPr>
          <p:cNvPr id="17" name="TextBox 16"/>
          <p:cNvSpPr txBox="1"/>
          <p:nvPr/>
        </p:nvSpPr>
        <p:spPr>
          <a:xfrm>
            <a:off x="8348472" y="3520439"/>
            <a:ext cx="3291840" cy="914400"/>
          </a:xfrm>
          <a:prstGeom prst="rect">
            <a:avLst/>
          </a:prstGeom>
          <a:noFill/>
        </p:spPr>
        <p:txBody>
          <a:bodyPr wrap="square" lIns="0" rIns="0" tIns="0" bIns="0" anchor="t">
            <a:spAutoFit/>
          </a:bodyPr>
          <a:lstStyle/>
          <a:p>
            <a:pPr algn="l">
              <a:lnSpc>
                <a:spcPct val="125000"/>
              </a:lnSpc>
            </a:pPr>
            <a:r>
              <a:rPr sz="950" b="0" i="0">
                <a:solidFill>
                  <a:srgbClr val="6E7180"/>
                </a:solidFill>
                <a:latin typeface="Geist"/>
              </a:rPr>
              <a:t>The PM's PRAGATI platform showed what visible follow-up does for stuck projects. Same principle here, for road safety fixes.</a:t>
            </a:r>
          </a:p>
        </p:txBody>
      </p:sp>
      <p:sp>
        <p:nvSpPr>
          <p:cNvPr id="18" name="Oval 17"/>
          <p:cNvSpPr/>
          <p:nvPr/>
        </p:nvSpPr>
        <p:spPr>
          <a:xfrm>
            <a:off x="7818120" y="4617719"/>
            <a:ext cx="384048" cy="384048"/>
          </a:xfrm>
          <a:prstGeom prst="ellipse">
            <a:avLst/>
          </a:prstGeom>
          <a:solidFill>
            <a:srgbClr val="E9F7F0"/>
          </a:solidFill>
          <a:ln>
            <a:noFill/>
          </a:ln>
          <a:effectLst/>
        </p:spPr>
        <p:txBody>
          <a:bodyPr rtlCol="0" anchor="ctr"/>
          <a:lstStyle/>
          <a:p>
            <a:pPr algn="ctr"/>
          </a:p>
        </p:txBody>
      </p:sp>
      <p:pic>
        <p:nvPicPr>
          <p:cNvPr id="19" name="Picture 18" descr="eye_0A9955_256_2.0.png"/>
          <p:cNvPicPr>
            <a:picLocks noChangeAspect="1"/>
          </p:cNvPicPr>
          <p:nvPr/>
        </p:nvPicPr>
        <p:blipFill>
          <a:blip r:embed="rId5"/>
          <a:stretch>
            <a:fillRect/>
          </a:stretch>
        </p:blipFill>
        <p:spPr>
          <a:xfrm>
            <a:off x="7910291" y="4709890"/>
            <a:ext cx="199704" cy="199704"/>
          </a:xfrm>
          <a:prstGeom prst="rect">
            <a:avLst/>
          </a:prstGeom>
        </p:spPr>
      </p:pic>
      <p:sp>
        <p:nvSpPr>
          <p:cNvPr id="20" name="TextBox 19"/>
          <p:cNvSpPr txBox="1"/>
          <p:nvPr/>
        </p:nvSpPr>
        <p:spPr>
          <a:xfrm>
            <a:off x="8348472" y="4590287"/>
            <a:ext cx="3291840" cy="320040"/>
          </a:xfrm>
          <a:prstGeom prst="rect">
            <a:avLst/>
          </a:prstGeom>
          <a:noFill/>
        </p:spPr>
        <p:txBody>
          <a:bodyPr wrap="square" lIns="0" rIns="0" tIns="0" bIns="0" anchor="t">
            <a:spAutoFit/>
          </a:bodyPr>
          <a:lstStyle/>
          <a:p>
            <a:pPr algn="l">
              <a:lnSpc>
                <a:spcPct val="128000"/>
              </a:lnSpc>
            </a:pPr>
            <a:r>
              <a:rPr sz="1100" b="1" i="0">
                <a:solidFill>
                  <a:srgbClr val="16181D"/>
                </a:solidFill>
                <a:latin typeface="Montserrat"/>
              </a:rPr>
              <a:t>What the Board gains</a:t>
            </a:r>
          </a:p>
        </p:txBody>
      </p:sp>
      <p:sp>
        <p:nvSpPr>
          <p:cNvPr id="21" name="TextBox 20"/>
          <p:cNvSpPr txBox="1"/>
          <p:nvPr/>
        </p:nvSpPr>
        <p:spPr>
          <a:xfrm>
            <a:off x="8348472" y="4892039"/>
            <a:ext cx="3291840" cy="914400"/>
          </a:xfrm>
          <a:prstGeom prst="rect">
            <a:avLst/>
          </a:prstGeom>
          <a:noFill/>
        </p:spPr>
        <p:txBody>
          <a:bodyPr wrap="square" lIns="0" rIns="0" tIns="0" bIns="0" anchor="t">
            <a:spAutoFit/>
          </a:bodyPr>
          <a:lstStyle/>
          <a:p>
            <a:pPr algn="l">
              <a:lnSpc>
                <a:spcPct val="125000"/>
              </a:lnSpc>
            </a:pPr>
            <a:r>
              <a:rPr sz="950" b="0" i="0">
                <a:solidFill>
                  <a:srgbClr val="6E7180"/>
                </a:solidFill>
                <a:latin typeface="Geist"/>
              </a:rPr>
              <a:t>An honest, live read on how quickly road-owning agencies can act, evidence for capacity planning, not just compliance.</a:t>
            </a:r>
          </a:p>
        </p:txBody>
      </p:sp>
      <p:cxnSp>
        <p:nvCxnSpPr>
          <p:cNvPr id="22" name="Connector 21"/>
          <p:cNvCxnSpPr/>
          <p:nvPr/>
        </p:nvCxnSpPr>
        <p:spPr>
          <a:xfrm>
            <a:off x="566928" y="6455664"/>
            <a:ext cx="11057839" cy="0"/>
          </a:xfrm>
          <a:prstGeom prst="line">
            <a:avLst/>
          </a:prstGeom>
          <a:ln w="9525">
            <a:solidFill>
              <a:srgbClr val="E8E9EE"/>
            </a:solidFill>
          </a:ln>
          <a:effectLst/>
        </p:spPr>
      </p:cxnSp>
      <p:sp>
        <p:nvSpPr>
          <p:cNvPr id="23" name="TextBox 22"/>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24" name="TextBox 23"/>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22 / 28</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PROJECT RAKSHAK</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PROJECT RAKSHAK, METHOD</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Anchored to the codes </a:t>
            </a:r>
            <a:r>
              <a:rPr sz="2250" b="1" i="0">
                <a:solidFill>
                  <a:srgbClr val="4A35FF"/>
                </a:solidFill>
                <a:latin typeface="Montserrat"/>
              </a:rPr>
              <a:t>your engineers already use</a:t>
            </a:r>
          </a:p>
        </p:txBody>
      </p:sp>
      <p:sp>
        <p:nvSpPr>
          <p:cNvPr id="7" name="Oval 6"/>
          <p:cNvSpPr/>
          <p:nvPr/>
        </p:nvSpPr>
        <p:spPr>
          <a:xfrm>
            <a:off x="566928" y="1920240"/>
            <a:ext cx="365760" cy="365760"/>
          </a:xfrm>
          <a:prstGeom prst="ellipse">
            <a:avLst/>
          </a:prstGeom>
          <a:solidFill>
            <a:srgbClr val="EFEDFF"/>
          </a:solidFill>
          <a:ln>
            <a:noFill/>
          </a:ln>
          <a:effectLst/>
        </p:spPr>
        <p:txBody>
          <a:bodyPr rtlCol="0" anchor="ctr"/>
          <a:lstStyle/>
          <a:p>
            <a:pPr algn="ctr"/>
          </a:p>
        </p:txBody>
      </p:sp>
      <p:pic>
        <p:nvPicPr>
          <p:cNvPr id="8" name="Picture 7" descr="book-check_4A35FF_256_2.0.png"/>
          <p:cNvPicPr>
            <a:picLocks noChangeAspect="1"/>
          </p:cNvPicPr>
          <p:nvPr/>
        </p:nvPicPr>
        <p:blipFill>
          <a:blip r:embed="rId2"/>
          <a:stretch>
            <a:fillRect/>
          </a:stretch>
        </p:blipFill>
        <p:spPr>
          <a:xfrm>
            <a:off x="654710" y="2008022"/>
            <a:ext cx="190195" cy="190195"/>
          </a:xfrm>
          <a:prstGeom prst="rect">
            <a:avLst/>
          </a:prstGeom>
        </p:spPr>
      </p:pic>
      <p:sp>
        <p:nvSpPr>
          <p:cNvPr id="9" name="TextBox 8"/>
          <p:cNvSpPr txBox="1"/>
          <p:nvPr/>
        </p:nvSpPr>
        <p:spPr>
          <a:xfrm>
            <a:off x="1097280" y="190195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IRC codes &amp; MoRTH checklists</a:t>
            </a:r>
          </a:p>
        </p:txBody>
      </p:sp>
      <p:sp>
        <p:nvSpPr>
          <p:cNvPr id="10" name="TextBox 9"/>
          <p:cNvSpPr txBox="1"/>
          <p:nvPr/>
        </p:nvSpPr>
        <p:spPr>
          <a:xfrm>
            <a:off x="3566160" y="1901952"/>
            <a:ext cx="379476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Every audit instrument is built on them, nothing bespoke, nothing incompatible.</a:t>
            </a:r>
          </a:p>
        </p:txBody>
      </p:sp>
      <p:sp>
        <p:nvSpPr>
          <p:cNvPr id="11" name="Oval 10"/>
          <p:cNvSpPr/>
          <p:nvPr/>
        </p:nvSpPr>
        <p:spPr>
          <a:xfrm>
            <a:off x="566928" y="2788920"/>
            <a:ext cx="365760" cy="365760"/>
          </a:xfrm>
          <a:prstGeom prst="ellipse">
            <a:avLst/>
          </a:prstGeom>
          <a:solidFill>
            <a:srgbClr val="E9F7F0"/>
          </a:solidFill>
          <a:ln>
            <a:noFill/>
          </a:ln>
          <a:effectLst/>
        </p:spPr>
        <p:txBody>
          <a:bodyPr rtlCol="0" anchor="ctr"/>
          <a:lstStyle/>
          <a:p>
            <a:pPr algn="ctr"/>
          </a:p>
        </p:txBody>
      </p:sp>
      <p:pic>
        <p:nvPicPr>
          <p:cNvPr id="12" name="Picture 11" descr="link_0A9955_256_2.0.png"/>
          <p:cNvPicPr>
            <a:picLocks noChangeAspect="1"/>
          </p:cNvPicPr>
          <p:nvPr/>
        </p:nvPicPr>
        <p:blipFill>
          <a:blip r:embed="rId3"/>
          <a:stretch>
            <a:fillRect/>
          </a:stretch>
        </p:blipFill>
        <p:spPr>
          <a:xfrm>
            <a:off x="654710" y="2876702"/>
            <a:ext cx="190195" cy="190195"/>
          </a:xfrm>
          <a:prstGeom prst="rect">
            <a:avLst/>
          </a:prstGeom>
        </p:spPr>
      </p:pic>
      <p:sp>
        <p:nvSpPr>
          <p:cNvPr id="13" name="TextBox 12"/>
          <p:cNvSpPr txBox="1"/>
          <p:nvPr/>
        </p:nvSpPr>
        <p:spPr>
          <a:xfrm>
            <a:off x="1097280" y="277063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A line into IRC H-7</a:t>
            </a:r>
          </a:p>
        </p:txBody>
      </p:sp>
      <p:sp>
        <p:nvSpPr>
          <p:cNvPr id="14" name="TextBox 13"/>
          <p:cNvSpPr txBox="1"/>
          <p:nvPr/>
        </p:nvSpPr>
        <p:spPr>
          <a:xfrm>
            <a:off x="3566160" y="2770632"/>
            <a:ext cx="379476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Prof. Geetam Tiwari, member of the IRC H-7 Committee on Road Safety Audit, chairs our advisory work.</a:t>
            </a:r>
          </a:p>
        </p:txBody>
      </p:sp>
      <p:sp>
        <p:nvSpPr>
          <p:cNvPr id="15" name="Oval 14"/>
          <p:cNvSpPr/>
          <p:nvPr/>
        </p:nvSpPr>
        <p:spPr>
          <a:xfrm>
            <a:off x="566928" y="3657600"/>
            <a:ext cx="365760" cy="365760"/>
          </a:xfrm>
          <a:prstGeom prst="ellipse">
            <a:avLst/>
          </a:prstGeom>
          <a:solidFill>
            <a:srgbClr val="FDF3E3"/>
          </a:solidFill>
          <a:ln>
            <a:noFill/>
          </a:ln>
          <a:effectLst/>
        </p:spPr>
        <p:txBody>
          <a:bodyPr rtlCol="0" anchor="ctr"/>
          <a:lstStyle/>
          <a:p>
            <a:pPr algn="ctr"/>
          </a:p>
        </p:txBody>
      </p:sp>
      <p:pic>
        <p:nvPicPr>
          <p:cNvPr id="16" name="Picture 15" descr="graduation-cap_E58900_256_2.0.png"/>
          <p:cNvPicPr>
            <a:picLocks noChangeAspect="1"/>
          </p:cNvPicPr>
          <p:nvPr/>
        </p:nvPicPr>
        <p:blipFill>
          <a:blip r:embed="rId4"/>
          <a:stretch>
            <a:fillRect/>
          </a:stretch>
        </p:blipFill>
        <p:spPr>
          <a:xfrm>
            <a:off x="654710" y="3745382"/>
            <a:ext cx="190195" cy="190195"/>
          </a:xfrm>
          <a:prstGeom prst="rect">
            <a:avLst/>
          </a:prstGeom>
        </p:spPr>
      </p:pic>
      <p:sp>
        <p:nvSpPr>
          <p:cNvPr id="17" name="TextBox 16"/>
          <p:cNvSpPr txBox="1"/>
          <p:nvPr/>
        </p:nvSpPr>
        <p:spPr>
          <a:xfrm>
            <a:off x="1097280" y="363931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Masterclasses before fieldwork</a:t>
            </a:r>
          </a:p>
        </p:txBody>
      </p:sp>
      <p:sp>
        <p:nvSpPr>
          <p:cNvPr id="18" name="TextBox 17"/>
          <p:cNvSpPr txBox="1"/>
          <p:nvPr/>
        </p:nvSpPr>
        <p:spPr>
          <a:xfrm>
            <a:off x="3566160" y="3639312"/>
            <a:ext cx="379476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Prof. Tiwari on the Safe System approach; Dr. S. Velmurugan (CSIR-CRRI) on IRC-131 and SP-55.</a:t>
            </a:r>
          </a:p>
        </p:txBody>
      </p:sp>
      <p:sp>
        <p:nvSpPr>
          <p:cNvPr id="19" name="Oval 18"/>
          <p:cNvSpPr/>
          <p:nvPr/>
        </p:nvSpPr>
        <p:spPr>
          <a:xfrm>
            <a:off x="566928" y="4526280"/>
            <a:ext cx="365760" cy="365760"/>
          </a:xfrm>
          <a:prstGeom prst="ellipse">
            <a:avLst/>
          </a:prstGeom>
          <a:solidFill>
            <a:srgbClr val="E7F4F4"/>
          </a:solidFill>
          <a:ln>
            <a:noFill/>
          </a:ln>
          <a:effectLst/>
        </p:spPr>
        <p:txBody>
          <a:bodyPr rtlCol="0" anchor="ctr"/>
          <a:lstStyle/>
          <a:p>
            <a:pPr algn="ctr"/>
          </a:p>
        </p:txBody>
      </p:sp>
      <p:pic>
        <p:nvPicPr>
          <p:cNvPr id="20" name="Picture 19" descr="file-output_0E8A8A_256_2.0.png"/>
          <p:cNvPicPr>
            <a:picLocks noChangeAspect="1"/>
          </p:cNvPicPr>
          <p:nvPr/>
        </p:nvPicPr>
        <p:blipFill>
          <a:blip r:embed="rId5"/>
          <a:stretch>
            <a:fillRect/>
          </a:stretch>
        </p:blipFill>
        <p:spPr>
          <a:xfrm>
            <a:off x="654710" y="4614062"/>
            <a:ext cx="190195" cy="190195"/>
          </a:xfrm>
          <a:prstGeom prst="rect">
            <a:avLst/>
          </a:prstGeom>
        </p:spPr>
      </p:pic>
      <p:sp>
        <p:nvSpPr>
          <p:cNvPr id="21" name="TextBox 20"/>
          <p:cNvSpPr txBox="1"/>
          <p:nvPr/>
        </p:nvSpPr>
        <p:spPr>
          <a:xfrm>
            <a:off x="1097280" y="450799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Handover in the authority's format</a:t>
            </a:r>
          </a:p>
        </p:txBody>
      </p:sp>
      <p:sp>
        <p:nvSpPr>
          <p:cNvPr id="22" name="TextBox 21"/>
          <p:cNvSpPr txBox="1"/>
          <p:nvPr/>
        </p:nvSpPr>
        <p:spPr>
          <a:xfrm>
            <a:off x="3566160" y="4507992"/>
            <a:ext cx="379476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Findings arrive as the PWD or corporation needs them, ready to action, tracked publicly after.</a:t>
            </a:r>
          </a:p>
        </p:txBody>
      </p:sp>
      <p:pic>
        <p:nvPicPr>
          <p:cNvPr id="23" name="Picture 22" descr="ph_auth_roundtable.jpeg_4.20x2.50_0.30.jpg"/>
          <p:cNvPicPr>
            <a:picLocks noChangeAspect="1"/>
          </p:cNvPicPr>
          <p:nvPr/>
        </p:nvPicPr>
        <p:blipFill>
          <a:blip r:embed="rId6"/>
          <a:stretch>
            <a:fillRect/>
          </a:stretch>
        </p:blipFill>
        <p:spPr>
          <a:xfrm>
            <a:off x="7772400" y="1920240"/>
            <a:ext cx="3840480" cy="2286000"/>
          </a:xfrm>
          <a:prstGeom prst="rect">
            <a:avLst/>
          </a:prstGeom>
        </p:spPr>
      </p:pic>
      <p:sp>
        <p:nvSpPr>
          <p:cNvPr id="24" name="Rectangle 23"/>
          <p:cNvSpPr/>
          <p:nvPr/>
        </p:nvSpPr>
        <p:spPr>
          <a:xfrm>
            <a:off x="7772400" y="1920240"/>
            <a:ext cx="3840480" cy="2286000"/>
          </a:xfrm>
          <a:prstGeom prst="rect">
            <a:avLst/>
          </a:prstGeom>
          <a:noFill/>
          <a:ln w="12700">
            <a:solidFill>
              <a:srgbClr val="E8E9EE"/>
            </a:solidFill>
          </a:ln>
          <a:effectLst/>
        </p:spPr>
        <p:txBody>
          <a:bodyPr rtlCol="0" anchor="ctr"/>
          <a:lstStyle/>
          <a:p>
            <a:pPr algn="ctr"/>
          </a:p>
        </p:txBody>
      </p:sp>
      <p:sp>
        <p:nvSpPr>
          <p:cNvPr id="25" name="TextBox 24"/>
          <p:cNvSpPr txBox="1"/>
          <p:nvPr/>
        </p:nvSpPr>
        <p:spPr>
          <a:xfrm>
            <a:off x="7772400" y="4251960"/>
            <a:ext cx="384048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Authority engagement is continuous, audit teams present to the engineers who own the road.</a:t>
            </a:r>
          </a:p>
        </p:txBody>
      </p:sp>
      <p:pic>
        <p:nvPicPr>
          <p:cNvPr id="26" name="Picture 25" descr="ph_auth_handover.jpeg_4.20x1.55_0.25.jpg"/>
          <p:cNvPicPr>
            <a:picLocks noChangeAspect="1"/>
          </p:cNvPicPr>
          <p:nvPr/>
        </p:nvPicPr>
        <p:blipFill>
          <a:blip r:embed="rId7"/>
          <a:stretch>
            <a:fillRect/>
          </a:stretch>
        </p:blipFill>
        <p:spPr>
          <a:xfrm>
            <a:off x="7772400" y="4663440"/>
            <a:ext cx="3840480" cy="1417320"/>
          </a:xfrm>
          <a:prstGeom prst="rect">
            <a:avLst/>
          </a:prstGeom>
        </p:spPr>
      </p:pic>
      <p:sp>
        <p:nvSpPr>
          <p:cNvPr id="27" name="Rectangle 26"/>
          <p:cNvSpPr/>
          <p:nvPr/>
        </p:nvSpPr>
        <p:spPr>
          <a:xfrm>
            <a:off x="7772400" y="4663440"/>
            <a:ext cx="3840480" cy="1417320"/>
          </a:xfrm>
          <a:prstGeom prst="rect">
            <a:avLst/>
          </a:prstGeom>
          <a:noFill/>
          <a:ln w="12700">
            <a:solidFill>
              <a:srgbClr val="E8E9EE"/>
            </a:solidFill>
          </a:ln>
          <a:effectLst/>
        </p:spPr>
        <p:txBody>
          <a:bodyPr rtlCol="0" anchor="ctr"/>
          <a:lstStyle/>
          <a:p>
            <a:pPr algn="ctr"/>
          </a:p>
        </p:txBody>
      </p:sp>
      <p:cxnSp>
        <p:nvCxnSpPr>
          <p:cNvPr id="28" name="Connector 27"/>
          <p:cNvCxnSpPr/>
          <p:nvPr/>
        </p:nvCxnSpPr>
        <p:spPr>
          <a:xfrm>
            <a:off x="566928" y="6455664"/>
            <a:ext cx="11057839" cy="0"/>
          </a:xfrm>
          <a:prstGeom prst="line">
            <a:avLst/>
          </a:prstGeom>
          <a:ln w="9525">
            <a:solidFill>
              <a:srgbClr val="E8E9EE"/>
            </a:solidFill>
          </a:ln>
          <a:effectLst/>
        </p:spPr>
      </p:cxnSp>
      <p:sp>
        <p:nvSpPr>
          <p:cNvPr id="29" name="TextBox 28"/>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30" name="TextBox 29"/>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23 / 28</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PROJECT RAKSHAK</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PROJECT RAKSHAK, THE EXPERT LAYER</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Seventeen experts work with us on </a:t>
            </a:r>
            <a:r>
              <a:rPr sz="2250" b="1" i="0">
                <a:solidFill>
                  <a:srgbClr val="4A35FF"/>
                </a:solidFill>
                <a:latin typeface="Montserrat"/>
              </a:rPr>
              <a:t>infrastructure improvement</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Academics and practitioners who guide the student teams through fieldwork and independently review every audit before it reaches an authority.</a:t>
            </a:r>
          </a:p>
        </p:txBody>
      </p:sp>
      <p:sp>
        <p:nvSpPr>
          <p:cNvPr id="8" name="Oval 7"/>
          <p:cNvSpPr/>
          <p:nvPr/>
        </p:nvSpPr>
        <p:spPr>
          <a:xfrm>
            <a:off x="1207008" y="2121408"/>
            <a:ext cx="512064" cy="512064"/>
          </a:xfrm>
          <a:prstGeom prst="ellipse">
            <a:avLst/>
          </a:prstGeom>
          <a:solidFill>
            <a:srgbClr val="EFEDFF"/>
          </a:solidFill>
          <a:ln>
            <a:noFill/>
          </a:ln>
          <a:effectLst/>
        </p:spPr>
        <p:txBody>
          <a:bodyPr rtlCol="0" anchor="ctr"/>
          <a:lstStyle/>
          <a:p>
            <a:pPr algn="ctr"/>
          </a:p>
        </p:txBody>
      </p:sp>
      <p:sp>
        <p:nvSpPr>
          <p:cNvPr id="9" name="TextBox 8"/>
          <p:cNvSpPr txBox="1"/>
          <p:nvPr/>
        </p:nvSpPr>
        <p:spPr>
          <a:xfrm>
            <a:off x="1207008" y="2103120"/>
            <a:ext cx="512064" cy="548640"/>
          </a:xfrm>
          <a:prstGeom prst="rect">
            <a:avLst/>
          </a:prstGeom>
          <a:noFill/>
        </p:spPr>
        <p:txBody>
          <a:bodyPr wrap="square" lIns="0" rIns="0" tIns="0" bIns="0" anchor="ctr">
            <a:spAutoFit/>
          </a:bodyPr>
          <a:lstStyle/>
          <a:p>
            <a:pPr algn="ctr">
              <a:lnSpc>
                <a:spcPct val="128000"/>
              </a:lnSpc>
            </a:pPr>
            <a:r>
              <a:rPr sz="1100" b="1" i="0">
                <a:solidFill>
                  <a:srgbClr val="4A35FF"/>
                </a:solidFill>
                <a:latin typeface="Montserrat"/>
              </a:rPr>
              <a:t>AK</a:t>
            </a:r>
          </a:p>
        </p:txBody>
      </p:sp>
      <p:sp>
        <p:nvSpPr>
          <p:cNvPr id="10" name="TextBox 9"/>
          <p:cNvSpPr txBox="1"/>
          <p:nvPr/>
        </p:nvSpPr>
        <p:spPr>
          <a:xfrm>
            <a:off x="566928" y="2670048"/>
            <a:ext cx="1769364" cy="292608"/>
          </a:xfrm>
          <a:prstGeom prst="rect">
            <a:avLst/>
          </a:prstGeom>
          <a:noFill/>
        </p:spPr>
        <p:txBody>
          <a:bodyPr wrap="square" lIns="0" rIns="0" tIns="0" bIns="0" anchor="t">
            <a:spAutoFit/>
          </a:bodyPr>
          <a:lstStyle/>
          <a:p>
            <a:pPr algn="ctr">
              <a:lnSpc>
                <a:spcPct val="102000"/>
              </a:lnSpc>
            </a:pPr>
            <a:r>
              <a:rPr sz="800" b="1" i="0">
                <a:solidFill>
                  <a:srgbClr val="16181D"/>
                </a:solidFill>
                <a:latin typeface="Montserrat"/>
              </a:rPr>
              <a:t>Amandeep Kumar</a:t>
            </a:r>
          </a:p>
        </p:txBody>
      </p:sp>
      <p:sp>
        <p:nvSpPr>
          <p:cNvPr id="11" name="TextBox 10"/>
          <p:cNvSpPr txBox="1"/>
          <p:nvPr/>
        </p:nvSpPr>
        <p:spPr>
          <a:xfrm>
            <a:off x="566928" y="2980944"/>
            <a:ext cx="1769364" cy="310896"/>
          </a:xfrm>
          <a:prstGeom prst="rect">
            <a:avLst/>
          </a:prstGeom>
          <a:noFill/>
        </p:spPr>
        <p:txBody>
          <a:bodyPr wrap="square" lIns="0" rIns="0" tIns="0" bIns="0" anchor="t">
            <a:spAutoFit/>
          </a:bodyPr>
          <a:lstStyle/>
          <a:p>
            <a:pPr algn="ctr">
              <a:lnSpc>
                <a:spcPct val="105000"/>
              </a:lnSpc>
            </a:pPr>
            <a:r>
              <a:rPr sz="700" b="0" i="0">
                <a:solidFill>
                  <a:srgbClr val="6E7180"/>
                </a:solidFill>
                <a:latin typeface="Geist"/>
              </a:rPr>
              <a:t>Urban Transport Planner, KPMG</a:t>
            </a:r>
          </a:p>
        </p:txBody>
      </p:sp>
      <p:sp>
        <p:nvSpPr>
          <p:cNvPr id="12" name="Oval 11"/>
          <p:cNvSpPr/>
          <p:nvPr/>
        </p:nvSpPr>
        <p:spPr>
          <a:xfrm>
            <a:off x="3049524" y="2121408"/>
            <a:ext cx="512064" cy="512064"/>
          </a:xfrm>
          <a:prstGeom prst="ellipse">
            <a:avLst/>
          </a:prstGeom>
          <a:solidFill>
            <a:srgbClr val="EFEDFF"/>
          </a:solidFill>
          <a:ln>
            <a:noFill/>
          </a:ln>
          <a:effectLst/>
        </p:spPr>
        <p:txBody>
          <a:bodyPr rtlCol="0" anchor="ctr"/>
          <a:lstStyle/>
          <a:p>
            <a:pPr algn="ctr"/>
          </a:p>
        </p:txBody>
      </p:sp>
      <p:sp>
        <p:nvSpPr>
          <p:cNvPr id="13" name="TextBox 12"/>
          <p:cNvSpPr txBox="1"/>
          <p:nvPr/>
        </p:nvSpPr>
        <p:spPr>
          <a:xfrm>
            <a:off x="3049524" y="2103120"/>
            <a:ext cx="512064" cy="548640"/>
          </a:xfrm>
          <a:prstGeom prst="rect">
            <a:avLst/>
          </a:prstGeom>
          <a:noFill/>
        </p:spPr>
        <p:txBody>
          <a:bodyPr wrap="square" lIns="0" rIns="0" tIns="0" bIns="0" anchor="ctr">
            <a:spAutoFit/>
          </a:bodyPr>
          <a:lstStyle/>
          <a:p>
            <a:pPr algn="ctr">
              <a:lnSpc>
                <a:spcPct val="128000"/>
              </a:lnSpc>
            </a:pPr>
            <a:r>
              <a:rPr sz="1100" b="1" i="0">
                <a:solidFill>
                  <a:srgbClr val="4A35FF"/>
                </a:solidFill>
                <a:latin typeface="Montserrat"/>
              </a:rPr>
              <a:t>AB</a:t>
            </a:r>
          </a:p>
        </p:txBody>
      </p:sp>
      <p:sp>
        <p:nvSpPr>
          <p:cNvPr id="14" name="TextBox 13"/>
          <p:cNvSpPr txBox="1"/>
          <p:nvPr/>
        </p:nvSpPr>
        <p:spPr>
          <a:xfrm>
            <a:off x="2409444" y="2670048"/>
            <a:ext cx="1769364" cy="292608"/>
          </a:xfrm>
          <a:prstGeom prst="rect">
            <a:avLst/>
          </a:prstGeom>
          <a:noFill/>
        </p:spPr>
        <p:txBody>
          <a:bodyPr wrap="square" lIns="0" rIns="0" tIns="0" bIns="0" anchor="t">
            <a:spAutoFit/>
          </a:bodyPr>
          <a:lstStyle/>
          <a:p>
            <a:pPr algn="ctr">
              <a:lnSpc>
                <a:spcPct val="102000"/>
              </a:lnSpc>
            </a:pPr>
            <a:r>
              <a:rPr sz="800" b="1" i="0">
                <a:solidFill>
                  <a:srgbClr val="16181D"/>
                </a:solidFill>
                <a:latin typeface="Montserrat"/>
              </a:rPr>
              <a:t>Dr. AVA Bharat Kumar</a:t>
            </a:r>
          </a:p>
        </p:txBody>
      </p:sp>
      <p:sp>
        <p:nvSpPr>
          <p:cNvPr id="15" name="TextBox 14"/>
          <p:cNvSpPr txBox="1"/>
          <p:nvPr/>
        </p:nvSpPr>
        <p:spPr>
          <a:xfrm>
            <a:off x="2409444" y="2980944"/>
            <a:ext cx="1769364" cy="310896"/>
          </a:xfrm>
          <a:prstGeom prst="rect">
            <a:avLst/>
          </a:prstGeom>
          <a:noFill/>
        </p:spPr>
        <p:txBody>
          <a:bodyPr wrap="square" lIns="0" rIns="0" tIns="0" bIns="0" anchor="t">
            <a:spAutoFit/>
          </a:bodyPr>
          <a:lstStyle/>
          <a:p>
            <a:pPr algn="ctr">
              <a:lnSpc>
                <a:spcPct val="105000"/>
              </a:lnSpc>
            </a:pPr>
            <a:r>
              <a:rPr sz="700" b="0" i="0">
                <a:solidFill>
                  <a:srgbClr val="6E7180"/>
                </a:solidFill>
                <a:latin typeface="Geist"/>
              </a:rPr>
              <a:t>Asst Prof., Vignan University</a:t>
            </a:r>
          </a:p>
        </p:txBody>
      </p:sp>
      <p:sp>
        <p:nvSpPr>
          <p:cNvPr id="16" name="Oval 15"/>
          <p:cNvSpPr/>
          <p:nvPr/>
        </p:nvSpPr>
        <p:spPr>
          <a:xfrm>
            <a:off x="4892040" y="2121408"/>
            <a:ext cx="512064" cy="512064"/>
          </a:xfrm>
          <a:prstGeom prst="ellipse">
            <a:avLst/>
          </a:prstGeom>
          <a:solidFill>
            <a:srgbClr val="EFEDFF"/>
          </a:solidFill>
          <a:ln>
            <a:noFill/>
          </a:ln>
          <a:effectLst/>
        </p:spPr>
        <p:txBody>
          <a:bodyPr rtlCol="0" anchor="ctr"/>
          <a:lstStyle/>
          <a:p>
            <a:pPr algn="ctr"/>
          </a:p>
        </p:txBody>
      </p:sp>
      <p:sp>
        <p:nvSpPr>
          <p:cNvPr id="17" name="TextBox 16"/>
          <p:cNvSpPr txBox="1"/>
          <p:nvPr/>
        </p:nvSpPr>
        <p:spPr>
          <a:xfrm>
            <a:off x="4892040" y="2103120"/>
            <a:ext cx="512064" cy="548640"/>
          </a:xfrm>
          <a:prstGeom prst="rect">
            <a:avLst/>
          </a:prstGeom>
          <a:noFill/>
        </p:spPr>
        <p:txBody>
          <a:bodyPr wrap="square" lIns="0" rIns="0" tIns="0" bIns="0" anchor="ctr">
            <a:spAutoFit/>
          </a:bodyPr>
          <a:lstStyle/>
          <a:p>
            <a:pPr algn="ctr">
              <a:lnSpc>
                <a:spcPct val="128000"/>
              </a:lnSpc>
            </a:pPr>
            <a:r>
              <a:rPr sz="1100" b="1" i="0">
                <a:solidFill>
                  <a:srgbClr val="4A35FF"/>
                </a:solidFill>
                <a:latin typeface="Montserrat"/>
              </a:rPr>
              <a:t>AS</a:t>
            </a:r>
          </a:p>
        </p:txBody>
      </p:sp>
      <p:sp>
        <p:nvSpPr>
          <p:cNvPr id="18" name="TextBox 17"/>
          <p:cNvSpPr txBox="1"/>
          <p:nvPr/>
        </p:nvSpPr>
        <p:spPr>
          <a:xfrm>
            <a:off x="4251960" y="2670048"/>
            <a:ext cx="1769364" cy="292608"/>
          </a:xfrm>
          <a:prstGeom prst="rect">
            <a:avLst/>
          </a:prstGeom>
          <a:noFill/>
        </p:spPr>
        <p:txBody>
          <a:bodyPr wrap="square" lIns="0" rIns="0" tIns="0" bIns="0" anchor="t">
            <a:spAutoFit/>
          </a:bodyPr>
          <a:lstStyle/>
          <a:p>
            <a:pPr algn="ctr">
              <a:lnSpc>
                <a:spcPct val="102000"/>
              </a:lnSpc>
            </a:pPr>
            <a:r>
              <a:rPr sz="800" b="1" i="0">
                <a:solidFill>
                  <a:srgbClr val="16181D"/>
                </a:solidFill>
                <a:latin typeface="Montserrat"/>
              </a:rPr>
              <a:t>Asha SVT</a:t>
            </a:r>
          </a:p>
        </p:txBody>
      </p:sp>
      <p:sp>
        <p:nvSpPr>
          <p:cNvPr id="19" name="TextBox 18"/>
          <p:cNvSpPr txBox="1"/>
          <p:nvPr/>
        </p:nvSpPr>
        <p:spPr>
          <a:xfrm>
            <a:off x="4251960" y="2980944"/>
            <a:ext cx="1769364" cy="310896"/>
          </a:xfrm>
          <a:prstGeom prst="rect">
            <a:avLst/>
          </a:prstGeom>
          <a:noFill/>
        </p:spPr>
        <p:txBody>
          <a:bodyPr wrap="square" lIns="0" rIns="0" tIns="0" bIns="0" anchor="t">
            <a:spAutoFit/>
          </a:bodyPr>
          <a:lstStyle/>
          <a:p>
            <a:pPr algn="ctr">
              <a:lnSpc>
                <a:spcPct val="105000"/>
              </a:lnSpc>
            </a:pPr>
            <a:r>
              <a:rPr sz="700" b="0" i="0">
                <a:solidFill>
                  <a:srgbClr val="6E7180"/>
                </a:solidFill>
                <a:latin typeface="Geist"/>
              </a:rPr>
              <a:t>Ph.D. Scholar, IIT Delhi</a:t>
            </a:r>
          </a:p>
        </p:txBody>
      </p:sp>
      <p:sp>
        <p:nvSpPr>
          <p:cNvPr id="20" name="Oval 19"/>
          <p:cNvSpPr/>
          <p:nvPr/>
        </p:nvSpPr>
        <p:spPr>
          <a:xfrm>
            <a:off x="6734556" y="2121408"/>
            <a:ext cx="512064" cy="512064"/>
          </a:xfrm>
          <a:prstGeom prst="ellipse">
            <a:avLst/>
          </a:prstGeom>
          <a:solidFill>
            <a:srgbClr val="EFEDFF"/>
          </a:solidFill>
          <a:ln>
            <a:noFill/>
          </a:ln>
          <a:effectLst/>
        </p:spPr>
        <p:txBody>
          <a:bodyPr rtlCol="0" anchor="ctr"/>
          <a:lstStyle/>
          <a:p>
            <a:pPr algn="ctr"/>
          </a:p>
        </p:txBody>
      </p:sp>
      <p:sp>
        <p:nvSpPr>
          <p:cNvPr id="21" name="TextBox 20"/>
          <p:cNvSpPr txBox="1"/>
          <p:nvPr/>
        </p:nvSpPr>
        <p:spPr>
          <a:xfrm>
            <a:off x="6734556" y="2103120"/>
            <a:ext cx="512064" cy="548640"/>
          </a:xfrm>
          <a:prstGeom prst="rect">
            <a:avLst/>
          </a:prstGeom>
          <a:noFill/>
        </p:spPr>
        <p:txBody>
          <a:bodyPr wrap="square" lIns="0" rIns="0" tIns="0" bIns="0" anchor="ctr">
            <a:spAutoFit/>
          </a:bodyPr>
          <a:lstStyle/>
          <a:p>
            <a:pPr algn="ctr">
              <a:lnSpc>
                <a:spcPct val="128000"/>
              </a:lnSpc>
            </a:pPr>
            <a:r>
              <a:rPr sz="1100" b="1" i="0">
                <a:solidFill>
                  <a:srgbClr val="4A35FF"/>
                </a:solidFill>
                <a:latin typeface="Montserrat"/>
              </a:rPr>
              <a:t>PK</a:t>
            </a:r>
          </a:p>
        </p:txBody>
      </p:sp>
      <p:sp>
        <p:nvSpPr>
          <p:cNvPr id="22" name="TextBox 21"/>
          <p:cNvSpPr txBox="1"/>
          <p:nvPr/>
        </p:nvSpPr>
        <p:spPr>
          <a:xfrm>
            <a:off x="6094476" y="2670048"/>
            <a:ext cx="1769364" cy="292608"/>
          </a:xfrm>
          <a:prstGeom prst="rect">
            <a:avLst/>
          </a:prstGeom>
          <a:noFill/>
        </p:spPr>
        <p:txBody>
          <a:bodyPr wrap="square" lIns="0" rIns="0" tIns="0" bIns="0" anchor="t">
            <a:spAutoFit/>
          </a:bodyPr>
          <a:lstStyle/>
          <a:p>
            <a:pPr algn="ctr">
              <a:lnSpc>
                <a:spcPct val="102000"/>
              </a:lnSpc>
            </a:pPr>
            <a:r>
              <a:rPr sz="800" b="1" i="0">
                <a:solidFill>
                  <a:srgbClr val="16181D"/>
                </a:solidFill>
                <a:latin typeface="Montserrat"/>
              </a:rPr>
              <a:t>Parveen Kumar</a:t>
            </a:r>
          </a:p>
        </p:txBody>
      </p:sp>
      <p:sp>
        <p:nvSpPr>
          <p:cNvPr id="23" name="TextBox 22"/>
          <p:cNvSpPr txBox="1"/>
          <p:nvPr/>
        </p:nvSpPr>
        <p:spPr>
          <a:xfrm>
            <a:off x="6094476" y="2980944"/>
            <a:ext cx="1769364" cy="310896"/>
          </a:xfrm>
          <a:prstGeom prst="rect">
            <a:avLst/>
          </a:prstGeom>
          <a:noFill/>
        </p:spPr>
        <p:txBody>
          <a:bodyPr wrap="square" lIns="0" rIns="0" tIns="0" bIns="0" anchor="t">
            <a:spAutoFit/>
          </a:bodyPr>
          <a:lstStyle/>
          <a:p>
            <a:pPr algn="ctr">
              <a:lnSpc>
                <a:spcPct val="105000"/>
              </a:lnSpc>
            </a:pPr>
            <a:r>
              <a:rPr sz="700" b="0" i="0">
                <a:solidFill>
                  <a:srgbClr val="6E7180"/>
                </a:solidFill>
                <a:latin typeface="Geist"/>
              </a:rPr>
              <a:t>Ph.D., IIT Delhi</a:t>
            </a:r>
          </a:p>
        </p:txBody>
      </p:sp>
      <p:sp>
        <p:nvSpPr>
          <p:cNvPr id="24" name="Oval 23"/>
          <p:cNvSpPr/>
          <p:nvPr/>
        </p:nvSpPr>
        <p:spPr>
          <a:xfrm>
            <a:off x="8577072" y="2121408"/>
            <a:ext cx="512064" cy="512064"/>
          </a:xfrm>
          <a:prstGeom prst="ellipse">
            <a:avLst/>
          </a:prstGeom>
          <a:solidFill>
            <a:srgbClr val="EFEDFF"/>
          </a:solidFill>
          <a:ln>
            <a:noFill/>
          </a:ln>
          <a:effectLst/>
        </p:spPr>
        <p:txBody>
          <a:bodyPr rtlCol="0" anchor="ctr"/>
          <a:lstStyle/>
          <a:p>
            <a:pPr algn="ctr"/>
          </a:p>
        </p:txBody>
      </p:sp>
      <p:sp>
        <p:nvSpPr>
          <p:cNvPr id="25" name="TextBox 24"/>
          <p:cNvSpPr txBox="1"/>
          <p:nvPr/>
        </p:nvSpPr>
        <p:spPr>
          <a:xfrm>
            <a:off x="8577072" y="2103120"/>
            <a:ext cx="512064" cy="548640"/>
          </a:xfrm>
          <a:prstGeom prst="rect">
            <a:avLst/>
          </a:prstGeom>
          <a:noFill/>
        </p:spPr>
        <p:txBody>
          <a:bodyPr wrap="square" lIns="0" rIns="0" tIns="0" bIns="0" anchor="ctr">
            <a:spAutoFit/>
          </a:bodyPr>
          <a:lstStyle/>
          <a:p>
            <a:pPr algn="ctr">
              <a:lnSpc>
                <a:spcPct val="128000"/>
              </a:lnSpc>
            </a:pPr>
            <a:r>
              <a:rPr sz="1100" b="1" i="0">
                <a:solidFill>
                  <a:srgbClr val="4A35FF"/>
                </a:solidFill>
                <a:latin typeface="Montserrat"/>
              </a:rPr>
              <a:t>RK</a:t>
            </a:r>
          </a:p>
        </p:txBody>
      </p:sp>
      <p:sp>
        <p:nvSpPr>
          <p:cNvPr id="26" name="TextBox 25"/>
          <p:cNvSpPr txBox="1"/>
          <p:nvPr/>
        </p:nvSpPr>
        <p:spPr>
          <a:xfrm>
            <a:off x="7936992" y="2670048"/>
            <a:ext cx="1769364" cy="292608"/>
          </a:xfrm>
          <a:prstGeom prst="rect">
            <a:avLst/>
          </a:prstGeom>
          <a:noFill/>
        </p:spPr>
        <p:txBody>
          <a:bodyPr wrap="square" lIns="0" rIns="0" tIns="0" bIns="0" anchor="t">
            <a:spAutoFit/>
          </a:bodyPr>
          <a:lstStyle/>
          <a:p>
            <a:pPr algn="ctr">
              <a:lnSpc>
                <a:spcPct val="102000"/>
              </a:lnSpc>
            </a:pPr>
            <a:r>
              <a:rPr sz="800" b="1" i="0">
                <a:solidFill>
                  <a:srgbClr val="16181D"/>
                </a:solidFill>
                <a:latin typeface="Montserrat"/>
              </a:rPr>
              <a:t>Rashmeet Kaur</a:t>
            </a:r>
          </a:p>
        </p:txBody>
      </p:sp>
      <p:sp>
        <p:nvSpPr>
          <p:cNvPr id="27" name="TextBox 26"/>
          <p:cNvSpPr txBox="1"/>
          <p:nvPr/>
        </p:nvSpPr>
        <p:spPr>
          <a:xfrm>
            <a:off x="7936992" y="2980944"/>
            <a:ext cx="1769364" cy="310896"/>
          </a:xfrm>
          <a:prstGeom prst="rect">
            <a:avLst/>
          </a:prstGeom>
          <a:noFill/>
        </p:spPr>
        <p:txBody>
          <a:bodyPr wrap="square" lIns="0" rIns="0" tIns="0" bIns="0" anchor="t">
            <a:spAutoFit/>
          </a:bodyPr>
          <a:lstStyle/>
          <a:p>
            <a:pPr algn="ctr">
              <a:lnSpc>
                <a:spcPct val="105000"/>
              </a:lnSpc>
            </a:pPr>
            <a:r>
              <a:rPr sz="700" b="0" i="0">
                <a:solidFill>
                  <a:srgbClr val="6E7180"/>
                </a:solidFill>
                <a:latin typeface="Geist"/>
              </a:rPr>
              <a:t>Ph.D., IIT Delhi</a:t>
            </a:r>
          </a:p>
        </p:txBody>
      </p:sp>
      <p:sp>
        <p:nvSpPr>
          <p:cNvPr id="28" name="Oval 27"/>
          <p:cNvSpPr/>
          <p:nvPr/>
        </p:nvSpPr>
        <p:spPr>
          <a:xfrm>
            <a:off x="10419588" y="2121408"/>
            <a:ext cx="512064" cy="512064"/>
          </a:xfrm>
          <a:prstGeom prst="ellipse">
            <a:avLst/>
          </a:prstGeom>
          <a:solidFill>
            <a:srgbClr val="EFEDFF"/>
          </a:solidFill>
          <a:ln>
            <a:noFill/>
          </a:ln>
          <a:effectLst/>
        </p:spPr>
        <p:txBody>
          <a:bodyPr rtlCol="0" anchor="ctr"/>
          <a:lstStyle/>
          <a:p>
            <a:pPr algn="ctr"/>
          </a:p>
        </p:txBody>
      </p:sp>
      <p:sp>
        <p:nvSpPr>
          <p:cNvPr id="29" name="TextBox 28"/>
          <p:cNvSpPr txBox="1"/>
          <p:nvPr/>
        </p:nvSpPr>
        <p:spPr>
          <a:xfrm>
            <a:off x="10419588" y="2103120"/>
            <a:ext cx="512064" cy="548640"/>
          </a:xfrm>
          <a:prstGeom prst="rect">
            <a:avLst/>
          </a:prstGeom>
          <a:noFill/>
        </p:spPr>
        <p:txBody>
          <a:bodyPr wrap="square" lIns="0" rIns="0" tIns="0" bIns="0" anchor="ctr">
            <a:spAutoFit/>
          </a:bodyPr>
          <a:lstStyle/>
          <a:p>
            <a:pPr algn="ctr">
              <a:lnSpc>
                <a:spcPct val="128000"/>
              </a:lnSpc>
            </a:pPr>
            <a:r>
              <a:rPr sz="1100" b="1" i="0">
                <a:solidFill>
                  <a:srgbClr val="4A35FF"/>
                </a:solidFill>
                <a:latin typeface="Montserrat"/>
              </a:rPr>
              <a:t>RK</a:t>
            </a:r>
          </a:p>
        </p:txBody>
      </p:sp>
      <p:sp>
        <p:nvSpPr>
          <p:cNvPr id="30" name="TextBox 29"/>
          <p:cNvSpPr txBox="1"/>
          <p:nvPr/>
        </p:nvSpPr>
        <p:spPr>
          <a:xfrm>
            <a:off x="9779508" y="2670048"/>
            <a:ext cx="1769364" cy="292608"/>
          </a:xfrm>
          <a:prstGeom prst="rect">
            <a:avLst/>
          </a:prstGeom>
          <a:noFill/>
        </p:spPr>
        <p:txBody>
          <a:bodyPr wrap="square" lIns="0" rIns="0" tIns="0" bIns="0" anchor="t">
            <a:spAutoFit/>
          </a:bodyPr>
          <a:lstStyle/>
          <a:p>
            <a:pPr algn="ctr">
              <a:lnSpc>
                <a:spcPct val="102000"/>
              </a:lnSpc>
            </a:pPr>
            <a:r>
              <a:rPr sz="800" b="1" i="0">
                <a:solidFill>
                  <a:srgbClr val="16181D"/>
                </a:solidFill>
                <a:latin typeface="Montserrat"/>
              </a:rPr>
              <a:t>Rajat Kalsi</a:t>
            </a:r>
          </a:p>
        </p:txBody>
      </p:sp>
      <p:sp>
        <p:nvSpPr>
          <p:cNvPr id="31" name="TextBox 30"/>
          <p:cNvSpPr txBox="1"/>
          <p:nvPr/>
        </p:nvSpPr>
        <p:spPr>
          <a:xfrm>
            <a:off x="9779508" y="2980944"/>
            <a:ext cx="1769364" cy="310896"/>
          </a:xfrm>
          <a:prstGeom prst="rect">
            <a:avLst/>
          </a:prstGeom>
          <a:noFill/>
        </p:spPr>
        <p:txBody>
          <a:bodyPr wrap="square" lIns="0" rIns="0" tIns="0" bIns="0" anchor="t">
            <a:spAutoFit/>
          </a:bodyPr>
          <a:lstStyle/>
          <a:p>
            <a:pPr algn="ctr">
              <a:lnSpc>
                <a:spcPct val="105000"/>
              </a:lnSpc>
            </a:pPr>
            <a:r>
              <a:rPr sz="700" b="0" i="0">
                <a:solidFill>
                  <a:srgbClr val="6E7180"/>
                </a:solidFill>
                <a:latin typeface="Geist"/>
              </a:rPr>
              <a:t>Road Safety Expert</a:t>
            </a:r>
          </a:p>
        </p:txBody>
      </p:sp>
      <p:sp>
        <p:nvSpPr>
          <p:cNvPr id="32" name="Oval 31"/>
          <p:cNvSpPr/>
          <p:nvPr/>
        </p:nvSpPr>
        <p:spPr>
          <a:xfrm>
            <a:off x="1207008" y="3346704"/>
            <a:ext cx="512064" cy="512064"/>
          </a:xfrm>
          <a:prstGeom prst="ellipse">
            <a:avLst/>
          </a:prstGeom>
          <a:solidFill>
            <a:srgbClr val="EFEDFF"/>
          </a:solidFill>
          <a:ln>
            <a:noFill/>
          </a:ln>
          <a:effectLst/>
        </p:spPr>
        <p:txBody>
          <a:bodyPr rtlCol="0" anchor="ctr"/>
          <a:lstStyle/>
          <a:p>
            <a:pPr algn="ctr"/>
          </a:p>
        </p:txBody>
      </p:sp>
      <p:sp>
        <p:nvSpPr>
          <p:cNvPr id="33" name="TextBox 32"/>
          <p:cNvSpPr txBox="1"/>
          <p:nvPr/>
        </p:nvSpPr>
        <p:spPr>
          <a:xfrm>
            <a:off x="1207008" y="3328416"/>
            <a:ext cx="512064" cy="548640"/>
          </a:xfrm>
          <a:prstGeom prst="rect">
            <a:avLst/>
          </a:prstGeom>
          <a:noFill/>
        </p:spPr>
        <p:txBody>
          <a:bodyPr wrap="square" lIns="0" rIns="0" tIns="0" bIns="0" anchor="ctr">
            <a:spAutoFit/>
          </a:bodyPr>
          <a:lstStyle/>
          <a:p>
            <a:pPr algn="ctr">
              <a:lnSpc>
                <a:spcPct val="128000"/>
              </a:lnSpc>
            </a:pPr>
            <a:r>
              <a:rPr sz="1100" b="1" i="0">
                <a:solidFill>
                  <a:srgbClr val="4A35FF"/>
                </a:solidFill>
                <a:latin typeface="Montserrat"/>
              </a:rPr>
              <a:t>PA</a:t>
            </a:r>
          </a:p>
        </p:txBody>
      </p:sp>
      <p:sp>
        <p:nvSpPr>
          <p:cNvPr id="34" name="TextBox 33"/>
          <p:cNvSpPr txBox="1"/>
          <p:nvPr/>
        </p:nvSpPr>
        <p:spPr>
          <a:xfrm>
            <a:off x="566928" y="3895344"/>
            <a:ext cx="1769364" cy="292608"/>
          </a:xfrm>
          <a:prstGeom prst="rect">
            <a:avLst/>
          </a:prstGeom>
          <a:noFill/>
        </p:spPr>
        <p:txBody>
          <a:bodyPr wrap="square" lIns="0" rIns="0" tIns="0" bIns="0" anchor="t">
            <a:spAutoFit/>
          </a:bodyPr>
          <a:lstStyle/>
          <a:p>
            <a:pPr algn="ctr">
              <a:lnSpc>
                <a:spcPct val="102000"/>
              </a:lnSpc>
            </a:pPr>
            <a:r>
              <a:rPr sz="800" b="1" i="0">
                <a:solidFill>
                  <a:srgbClr val="16181D"/>
                </a:solidFill>
                <a:latin typeface="Montserrat"/>
              </a:rPr>
              <a:t>Priyanshu Aman</a:t>
            </a:r>
          </a:p>
        </p:txBody>
      </p:sp>
      <p:sp>
        <p:nvSpPr>
          <p:cNvPr id="35" name="TextBox 34"/>
          <p:cNvSpPr txBox="1"/>
          <p:nvPr/>
        </p:nvSpPr>
        <p:spPr>
          <a:xfrm>
            <a:off x="566928" y="4206240"/>
            <a:ext cx="1769364" cy="310896"/>
          </a:xfrm>
          <a:prstGeom prst="rect">
            <a:avLst/>
          </a:prstGeom>
          <a:noFill/>
        </p:spPr>
        <p:txBody>
          <a:bodyPr wrap="square" lIns="0" rIns="0" tIns="0" bIns="0" anchor="t">
            <a:spAutoFit/>
          </a:bodyPr>
          <a:lstStyle/>
          <a:p>
            <a:pPr algn="ctr">
              <a:lnSpc>
                <a:spcPct val="105000"/>
              </a:lnSpc>
            </a:pPr>
            <a:r>
              <a:rPr sz="700" b="0" i="0">
                <a:solidFill>
                  <a:srgbClr val="6E7180"/>
                </a:solidFill>
                <a:latin typeface="Geist"/>
              </a:rPr>
              <a:t>Ph.D., IIT Delhi</a:t>
            </a:r>
          </a:p>
        </p:txBody>
      </p:sp>
      <p:sp>
        <p:nvSpPr>
          <p:cNvPr id="36" name="Oval 35"/>
          <p:cNvSpPr/>
          <p:nvPr/>
        </p:nvSpPr>
        <p:spPr>
          <a:xfrm>
            <a:off x="3049524" y="3346704"/>
            <a:ext cx="512064" cy="512064"/>
          </a:xfrm>
          <a:prstGeom prst="ellipse">
            <a:avLst/>
          </a:prstGeom>
          <a:solidFill>
            <a:srgbClr val="EFEDFF"/>
          </a:solidFill>
          <a:ln>
            <a:noFill/>
          </a:ln>
          <a:effectLst/>
        </p:spPr>
        <p:txBody>
          <a:bodyPr rtlCol="0" anchor="ctr"/>
          <a:lstStyle/>
          <a:p>
            <a:pPr algn="ctr"/>
          </a:p>
        </p:txBody>
      </p:sp>
      <p:sp>
        <p:nvSpPr>
          <p:cNvPr id="37" name="TextBox 36"/>
          <p:cNvSpPr txBox="1"/>
          <p:nvPr/>
        </p:nvSpPr>
        <p:spPr>
          <a:xfrm>
            <a:off x="3049524" y="3328416"/>
            <a:ext cx="512064" cy="548640"/>
          </a:xfrm>
          <a:prstGeom prst="rect">
            <a:avLst/>
          </a:prstGeom>
          <a:noFill/>
        </p:spPr>
        <p:txBody>
          <a:bodyPr wrap="square" lIns="0" rIns="0" tIns="0" bIns="0" anchor="ctr">
            <a:spAutoFit/>
          </a:bodyPr>
          <a:lstStyle/>
          <a:p>
            <a:pPr algn="ctr">
              <a:lnSpc>
                <a:spcPct val="128000"/>
              </a:lnSpc>
            </a:pPr>
            <a:r>
              <a:rPr sz="1100" b="1" i="0">
                <a:solidFill>
                  <a:srgbClr val="4A35FF"/>
                </a:solidFill>
                <a:latin typeface="Montserrat"/>
              </a:rPr>
              <a:t>MN</a:t>
            </a:r>
          </a:p>
        </p:txBody>
      </p:sp>
      <p:sp>
        <p:nvSpPr>
          <p:cNvPr id="38" name="TextBox 37"/>
          <p:cNvSpPr txBox="1"/>
          <p:nvPr/>
        </p:nvSpPr>
        <p:spPr>
          <a:xfrm>
            <a:off x="2409444" y="3895344"/>
            <a:ext cx="1769364" cy="292608"/>
          </a:xfrm>
          <a:prstGeom prst="rect">
            <a:avLst/>
          </a:prstGeom>
          <a:noFill/>
        </p:spPr>
        <p:txBody>
          <a:bodyPr wrap="square" lIns="0" rIns="0" tIns="0" bIns="0" anchor="t">
            <a:spAutoFit/>
          </a:bodyPr>
          <a:lstStyle/>
          <a:p>
            <a:pPr algn="ctr">
              <a:lnSpc>
                <a:spcPct val="102000"/>
              </a:lnSpc>
            </a:pPr>
            <a:r>
              <a:rPr sz="800" b="1" i="0">
                <a:solidFill>
                  <a:srgbClr val="16181D"/>
                </a:solidFill>
                <a:latin typeface="Montserrat"/>
              </a:rPr>
              <a:t>Mehraab Nazir</a:t>
            </a:r>
          </a:p>
        </p:txBody>
      </p:sp>
      <p:sp>
        <p:nvSpPr>
          <p:cNvPr id="39" name="TextBox 38"/>
          <p:cNvSpPr txBox="1"/>
          <p:nvPr/>
        </p:nvSpPr>
        <p:spPr>
          <a:xfrm>
            <a:off x="2409444" y="4206240"/>
            <a:ext cx="1769364" cy="310896"/>
          </a:xfrm>
          <a:prstGeom prst="rect">
            <a:avLst/>
          </a:prstGeom>
          <a:noFill/>
        </p:spPr>
        <p:txBody>
          <a:bodyPr wrap="square" lIns="0" rIns="0" tIns="0" bIns="0" anchor="t">
            <a:spAutoFit/>
          </a:bodyPr>
          <a:lstStyle/>
          <a:p>
            <a:pPr algn="ctr">
              <a:lnSpc>
                <a:spcPct val="105000"/>
              </a:lnSpc>
            </a:pPr>
            <a:r>
              <a:rPr sz="700" b="0" i="0">
                <a:solidFill>
                  <a:srgbClr val="6E7180"/>
                </a:solidFill>
                <a:latin typeface="Geist"/>
              </a:rPr>
              <a:t>Ph.D., IIT Delhi</a:t>
            </a:r>
          </a:p>
        </p:txBody>
      </p:sp>
      <p:sp>
        <p:nvSpPr>
          <p:cNvPr id="40" name="Oval 39"/>
          <p:cNvSpPr/>
          <p:nvPr/>
        </p:nvSpPr>
        <p:spPr>
          <a:xfrm>
            <a:off x="4892040" y="3346704"/>
            <a:ext cx="512064" cy="512064"/>
          </a:xfrm>
          <a:prstGeom prst="ellipse">
            <a:avLst/>
          </a:prstGeom>
          <a:solidFill>
            <a:srgbClr val="EFEDFF"/>
          </a:solidFill>
          <a:ln>
            <a:noFill/>
          </a:ln>
          <a:effectLst/>
        </p:spPr>
        <p:txBody>
          <a:bodyPr rtlCol="0" anchor="ctr"/>
          <a:lstStyle/>
          <a:p>
            <a:pPr algn="ctr"/>
          </a:p>
        </p:txBody>
      </p:sp>
      <p:sp>
        <p:nvSpPr>
          <p:cNvPr id="41" name="TextBox 40"/>
          <p:cNvSpPr txBox="1"/>
          <p:nvPr/>
        </p:nvSpPr>
        <p:spPr>
          <a:xfrm>
            <a:off x="4892040" y="3328416"/>
            <a:ext cx="512064" cy="548640"/>
          </a:xfrm>
          <a:prstGeom prst="rect">
            <a:avLst/>
          </a:prstGeom>
          <a:noFill/>
        </p:spPr>
        <p:txBody>
          <a:bodyPr wrap="square" lIns="0" rIns="0" tIns="0" bIns="0" anchor="ctr">
            <a:spAutoFit/>
          </a:bodyPr>
          <a:lstStyle/>
          <a:p>
            <a:pPr algn="ctr">
              <a:lnSpc>
                <a:spcPct val="128000"/>
              </a:lnSpc>
            </a:pPr>
            <a:r>
              <a:rPr sz="1100" b="1" i="0">
                <a:solidFill>
                  <a:srgbClr val="4A35FF"/>
                </a:solidFill>
                <a:latin typeface="Montserrat"/>
              </a:rPr>
              <a:t>HK</a:t>
            </a:r>
          </a:p>
        </p:txBody>
      </p:sp>
      <p:sp>
        <p:nvSpPr>
          <p:cNvPr id="42" name="TextBox 41"/>
          <p:cNvSpPr txBox="1"/>
          <p:nvPr/>
        </p:nvSpPr>
        <p:spPr>
          <a:xfrm>
            <a:off x="4251960" y="3895344"/>
            <a:ext cx="1769364" cy="292608"/>
          </a:xfrm>
          <a:prstGeom prst="rect">
            <a:avLst/>
          </a:prstGeom>
          <a:noFill/>
        </p:spPr>
        <p:txBody>
          <a:bodyPr wrap="square" lIns="0" rIns="0" tIns="0" bIns="0" anchor="t">
            <a:spAutoFit/>
          </a:bodyPr>
          <a:lstStyle/>
          <a:p>
            <a:pPr algn="ctr">
              <a:lnSpc>
                <a:spcPct val="102000"/>
              </a:lnSpc>
            </a:pPr>
            <a:r>
              <a:rPr sz="800" b="1" i="0">
                <a:solidFill>
                  <a:srgbClr val="16181D"/>
                </a:solidFill>
                <a:latin typeface="Montserrat"/>
              </a:rPr>
              <a:t>Dr. Hemant Kumar Suman</a:t>
            </a:r>
          </a:p>
        </p:txBody>
      </p:sp>
      <p:sp>
        <p:nvSpPr>
          <p:cNvPr id="43" name="TextBox 42"/>
          <p:cNvSpPr txBox="1"/>
          <p:nvPr/>
        </p:nvSpPr>
        <p:spPr>
          <a:xfrm>
            <a:off x="4251960" y="4206240"/>
            <a:ext cx="1769364" cy="310896"/>
          </a:xfrm>
          <a:prstGeom prst="rect">
            <a:avLst/>
          </a:prstGeom>
          <a:noFill/>
        </p:spPr>
        <p:txBody>
          <a:bodyPr wrap="square" lIns="0" rIns="0" tIns="0" bIns="0" anchor="t">
            <a:spAutoFit/>
          </a:bodyPr>
          <a:lstStyle/>
          <a:p>
            <a:pPr algn="ctr">
              <a:lnSpc>
                <a:spcPct val="105000"/>
              </a:lnSpc>
            </a:pPr>
            <a:r>
              <a:rPr sz="700" b="0" i="0">
                <a:solidFill>
                  <a:srgbClr val="6E7180"/>
                </a:solidFill>
                <a:latin typeface="Geist"/>
              </a:rPr>
              <a:t>Asst Prof., CTRANS, IIT Roorkee</a:t>
            </a:r>
          </a:p>
        </p:txBody>
      </p:sp>
      <p:sp>
        <p:nvSpPr>
          <p:cNvPr id="44" name="Oval 43"/>
          <p:cNvSpPr/>
          <p:nvPr/>
        </p:nvSpPr>
        <p:spPr>
          <a:xfrm>
            <a:off x="6734556" y="3346704"/>
            <a:ext cx="512064" cy="512064"/>
          </a:xfrm>
          <a:prstGeom prst="ellipse">
            <a:avLst/>
          </a:prstGeom>
          <a:solidFill>
            <a:srgbClr val="EFEDFF"/>
          </a:solidFill>
          <a:ln>
            <a:noFill/>
          </a:ln>
          <a:effectLst/>
        </p:spPr>
        <p:txBody>
          <a:bodyPr rtlCol="0" anchor="ctr"/>
          <a:lstStyle/>
          <a:p>
            <a:pPr algn="ctr"/>
          </a:p>
        </p:txBody>
      </p:sp>
      <p:sp>
        <p:nvSpPr>
          <p:cNvPr id="45" name="TextBox 44"/>
          <p:cNvSpPr txBox="1"/>
          <p:nvPr/>
        </p:nvSpPr>
        <p:spPr>
          <a:xfrm>
            <a:off x="6734556" y="3328416"/>
            <a:ext cx="512064" cy="548640"/>
          </a:xfrm>
          <a:prstGeom prst="rect">
            <a:avLst/>
          </a:prstGeom>
          <a:noFill/>
        </p:spPr>
        <p:txBody>
          <a:bodyPr wrap="square" lIns="0" rIns="0" tIns="0" bIns="0" anchor="ctr">
            <a:spAutoFit/>
          </a:bodyPr>
          <a:lstStyle/>
          <a:p>
            <a:pPr algn="ctr">
              <a:lnSpc>
                <a:spcPct val="128000"/>
              </a:lnSpc>
            </a:pPr>
            <a:r>
              <a:rPr sz="1100" b="1" i="0">
                <a:solidFill>
                  <a:srgbClr val="4A35FF"/>
                </a:solidFill>
                <a:latin typeface="Montserrat"/>
              </a:rPr>
              <a:t>SS</a:t>
            </a:r>
          </a:p>
        </p:txBody>
      </p:sp>
      <p:sp>
        <p:nvSpPr>
          <p:cNvPr id="46" name="TextBox 45"/>
          <p:cNvSpPr txBox="1"/>
          <p:nvPr/>
        </p:nvSpPr>
        <p:spPr>
          <a:xfrm>
            <a:off x="6094476" y="3895344"/>
            <a:ext cx="1769364" cy="292608"/>
          </a:xfrm>
          <a:prstGeom prst="rect">
            <a:avLst/>
          </a:prstGeom>
          <a:noFill/>
        </p:spPr>
        <p:txBody>
          <a:bodyPr wrap="square" lIns="0" rIns="0" tIns="0" bIns="0" anchor="t">
            <a:spAutoFit/>
          </a:bodyPr>
          <a:lstStyle/>
          <a:p>
            <a:pPr algn="ctr">
              <a:lnSpc>
                <a:spcPct val="102000"/>
              </a:lnSpc>
            </a:pPr>
            <a:r>
              <a:rPr sz="800" b="1" i="0">
                <a:solidFill>
                  <a:srgbClr val="16181D"/>
                </a:solidFill>
                <a:latin typeface="Montserrat"/>
              </a:rPr>
              <a:t>Dr. Shriniwas S Arkatkar</a:t>
            </a:r>
          </a:p>
        </p:txBody>
      </p:sp>
      <p:sp>
        <p:nvSpPr>
          <p:cNvPr id="47" name="TextBox 46"/>
          <p:cNvSpPr txBox="1"/>
          <p:nvPr/>
        </p:nvSpPr>
        <p:spPr>
          <a:xfrm>
            <a:off x="6094476" y="4206240"/>
            <a:ext cx="1769364" cy="310896"/>
          </a:xfrm>
          <a:prstGeom prst="rect">
            <a:avLst/>
          </a:prstGeom>
          <a:noFill/>
        </p:spPr>
        <p:txBody>
          <a:bodyPr wrap="square" lIns="0" rIns="0" tIns="0" bIns="0" anchor="t">
            <a:spAutoFit/>
          </a:bodyPr>
          <a:lstStyle/>
          <a:p>
            <a:pPr algn="ctr">
              <a:lnSpc>
                <a:spcPct val="105000"/>
              </a:lnSpc>
            </a:pPr>
            <a:r>
              <a:rPr sz="700" b="0" i="0">
                <a:solidFill>
                  <a:srgbClr val="6E7180"/>
                </a:solidFill>
                <a:latin typeface="Geist"/>
              </a:rPr>
              <a:t>Professor, SVNIT Surat</a:t>
            </a:r>
          </a:p>
        </p:txBody>
      </p:sp>
      <p:sp>
        <p:nvSpPr>
          <p:cNvPr id="48" name="Oval 47"/>
          <p:cNvSpPr/>
          <p:nvPr/>
        </p:nvSpPr>
        <p:spPr>
          <a:xfrm>
            <a:off x="8577072" y="3346704"/>
            <a:ext cx="512064" cy="512064"/>
          </a:xfrm>
          <a:prstGeom prst="ellipse">
            <a:avLst/>
          </a:prstGeom>
          <a:solidFill>
            <a:srgbClr val="EFEDFF"/>
          </a:solidFill>
          <a:ln>
            <a:noFill/>
          </a:ln>
          <a:effectLst/>
        </p:spPr>
        <p:txBody>
          <a:bodyPr rtlCol="0" anchor="ctr"/>
          <a:lstStyle/>
          <a:p>
            <a:pPr algn="ctr"/>
          </a:p>
        </p:txBody>
      </p:sp>
      <p:sp>
        <p:nvSpPr>
          <p:cNvPr id="49" name="TextBox 48"/>
          <p:cNvSpPr txBox="1"/>
          <p:nvPr/>
        </p:nvSpPr>
        <p:spPr>
          <a:xfrm>
            <a:off x="8577072" y="3328416"/>
            <a:ext cx="512064" cy="548640"/>
          </a:xfrm>
          <a:prstGeom prst="rect">
            <a:avLst/>
          </a:prstGeom>
          <a:noFill/>
        </p:spPr>
        <p:txBody>
          <a:bodyPr wrap="square" lIns="0" rIns="0" tIns="0" bIns="0" anchor="ctr">
            <a:spAutoFit/>
          </a:bodyPr>
          <a:lstStyle/>
          <a:p>
            <a:pPr algn="ctr">
              <a:lnSpc>
                <a:spcPct val="128000"/>
              </a:lnSpc>
            </a:pPr>
            <a:r>
              <a:rPr sz="1100" b="1" i="0">
                <a:solidFill>
                  <a:srgbClr val="4A35FF"/>
                </a:solidFill>
                <a:latin typeface="Montserrat"/>
              </a:rPr>
              <a:t>SP</a:t>
            </a:r>
          </a:p>
        </p:txBody>
      </p:sp>
      <p:sp>
        <p:nvSpPr>
          <p:cNvPr id="50" name="TextBox 49"/>
          <p:cNvSpPr txBox="1"/>
          <p:nvPr/>
        </p:nvSpPr>
        <p:spPr>
          <a:xfrm>
            <a:off x="7936992" y="3895344"/>
            <a:ext cx="1769364" cy="292608"/>
          </a:xfrm>
          <a:prstGeom prst="rect">
            <a:avLst/>
          </a:prstGeom>
          <a:noFill/>
        </p:spPr>
        <p:txBody>
          <a:bodyPr wrap="square" lIns="0" rIns="0" tIns="0" bIns="0" anchor="t">
            <a:spAutoFit/>
          </a:bodyPr>
          <a:lstStyle/>
          <a:p>
            <a:pPr algn="ctr">
              <a:lnSpc>
                <a:spcPct val="102000"/>
              </a:lnSpc>
            </a:pPr>
            <a:r>
              <a:rPr sz="800" b="1" i="0">
                <a:solidFill>
                  <a:srgbClr val="16181D"/>
                </a:solidFill>
                <a:latin typeface="Montserrat"/>
              </a:rPr>
              <a:t>Dr. Sandeep Peeke</a:t>
            </a:r>
          </a:p>
        </p:txBody>
      </p:sp>
      <p:sp>
        <p:nvSpPr>
          <p:cNvPr id="51" name="TextBox 50"/>
          <p:cNvSpPr txBox="1"/>
          <p:nvPr/>
        </p:nvSpPr>
        <p:spPr>
          <a:xfrm>
            <a:off x="7936992" y="4206240"/>
            <a:ext cx="1769364" cy="310896"/>
          </a:xfrm>
          <a:prstGeom prst="rect">
            <a:avLst/>
          </a:prstGeom>
          <a:noFill/>
        </p:spPr>
        <p:txBody>
          <a:bodyPr wrap="square" lIns="0" rIns="0" tIns="0" bIns="0" anchor="t">
            <a:spAutoFit/>
          </a:bodyPr>
          <a:lstStyle/>
          <a:p>
            <a:pPr algn="ctr">
              <a:lnSpc>
                <a:spcPct val="105000"/>
              </a:lnSpc>
            </a:pPr>
            <a:r>
              <a:rPr sz="700" b="0" i="0">
                <a:solidFill>
                  <a:srgbClr val="6E7180"/>
                </a:solidFill>
                <a:latin typeface="Geist"/>
              </a:rPr>
              <a:t>Asst Prof., SPA Vijayawada</a:t>
            </a:r>
          </a:p>
        </p:txBody>
      </p:sp>
      <p:sp>
        <p:nvSpPr>
          <p:cNvPr id="52" name="Oval 51"/>
          <p:cNvSpPr/>
          <p:nvPr/>
        </p:nvSpPr>
        <p:spPr>
          <a:xfrm>
            <a:off x="10419588" y="3346704"/>
            <a:ext cx="512064" cy="512064"/>
          </a:xfrm>
          <a:prstGeom prst="ellipse">
            <a:avLst/>
          </a:prstGeom>
          <a:solidFill>
            <a:srgbClr val="EFEDFF"/>
          </a:solidFill>
          <a:ln>
            <a:noFill/>
          </a:ln>
          <a:effectLst/>
        </p:spPr>
        <p:txBody>
          <a:bodyPr rtlCol="0" anchor="ctr"/>
          <a:lstStyle/>
          <a:p>
            <a:pPr algn="ctr"/>
          </a:p>
        </p:txBody>
      </p:sp>
      <p:sp>
        <p:nvSpPr>
          <p:cNvPr id="53" name="TextBox 52"/>
          <p:cNvSpPr txBox="1"/>
          <p:nvPr/>
        </p:nvSpPr>
        <p:spPr>
          <a:xfrm>
            <a:off x="10419588" y="3328416"/>
            <a:ext cx="512064" cy="548640"/>
          </a:xfrm>
          <a:prstGeom prst="rect">
            <a:avLst/>
          </a:prstGeom>
          <a:noFill/>
        </p:spPr>
        <p:txBody>
          <a:bodyPr wrap="square" lIns="0" rIns="0" tIns="0" bIns="0" anchor="ctr">
            <a:spAutoFit/>
          </a:bodyPr>
          <a:lstStyle/>
          <a:p>
            <a:pPr algn="ctr">
              <a:lnSpc>
                <a:spcPct val="128000"/>
              </a:lnSpc>
            </a:pPr>
            <a:r>
              <a:rPr sz="1100" b="1" i="0">
                <a:solidFill>
                  <a:srgbClr val="4A35FF"/>
                </a:solidFill>
                <a:latin typeface="Montserrat"/>
              </a:rPr>
              <a:t>PK</a:t>
            </a:r>
          </a:p>
        </p:txBody>
      </p:sp>
      <p:sp>
        <p:nvSpPr>
          <p:cNvPr id="54" name="TextBox 53"/>
          <p:cNvSpPr txBox="1"/>
          <p:nvPr/>
        </p:nvSpPr>
        <p:spPr>
          <a:xfrm>
            <a:off x="9779508" y="3895344"/>
            <a:ext cx="1769364" cy="292608"/>
          </a:xfrm>
          <a:prstGeom prst="rect">
            <a:avLst/>
          </a:prstGeom>
          <a:noFill/>
        </p:spPr>
        <p:txBody>
          <a:bodyPr wrap="square" lIns="0" rIns="0" tIns="0" bIns="0" anchor="t">
            <a:spAutoFit/>
          </a:bodyPr>
          <a:lstStyle/>
          <a:p>
            <a:pPr algn="ctr">
              <a:lnSpc>
                <a:spcPct val="102000"/>
              </a:lnSpc>
            </a:pPr>
            <a:r>
              <a:rPr sz="800" b="1" i="0">
                <a:solidFill>
                  <a:srgbClr val="16181D"/>
                </a:solidFill>
                <a:latin typeface="Montserrat"/>
              </a:rPr>
              <a:t>Dr. Purnima K Chowdhury</a:t>
            </a:r>
          </a:p>
        </p:txBody>
      </p:sp>
      <p:sp>
        <p:nvSpPr>
          <p:cNvPr id="55" name="TextBox 54"/>
          <p:cNvSpPr txBox="1"/>
          <p:nvPr/>
        </p:nvSpPr>
        <p:spPr>
          <a:xfrm>
            <a:off x="9779508" y="4206240"/>
            <a:ext cx="1769364" cy="310896"/>
          </a:xfrm>
          <a:prstGeom prst="rect">
            <a:avLst/>
          </a:prstGeom>
          <a:noFill/>
        </p:spPr>
        <p:txBody>
          <a:bodyPr wrap="square" lIns="0" rIns="0" tIns="0" bIns="0" anchor="t">
            <a:spAutoFit/>
          </a:bodyPr>
          <a:lstStyle/>
          <a:p>
            <a:pPr algn="ctr">
              <a:lnSpc>
                <a:spcPct val="105000"/>
              </a:lnSpc>
            </a:pPr>
            <a:r>
              <a:rPr sz="700" b="0" i="0">
                <a:solidFill>
                  <a:srgbClr val="6E7180"/>
                </a:solidFill>
                <a:latin typeface="Geist"/>
              </a:rPr>
              <a:t>Asst Prof., SPA Bhopal</a:t>
            </a:r>
          </a:p>
        </p:txBody>
      </p:sp>
      <p:sp>
        <p:nvSpPr>
          <p:cNvPr id="56" name="Oval 55"/>
          <p:cNvSpPr/>
          <p:nvPr/>
        </p:nvSpPr>
        <p:spPr>
          <a:xfrm>
            <a:off x="1207008" y="4572000"/>
            <a:ext cx="512064" cy="512064"/>
          </a:xfrm>
          <a:prstGeom prst="ellipse">
            <a:avLst/>
          </a:prstGeom>
          <a:solidFill>
            <a:srgbClr val="EFEDFF"/>
          </a:solidFill>
          <a:ln>
            <a:noFill/>
          </a:ln>
          <a:effectLst/>
        </p:spPr>
        <p:txBody>
          <a:bodyPr rtlCol="0" anchor="ctr"/>
          <a:lstStyle/>
          <a:p>
            <a:pPr algn="ctr"/>
          </a:p>
        </p:txBody>
      </p:sp>
      <p:sp>
        <p:nvSpPr>
          <p:cNvPr id="57" name="TextBox 56"/>
          <p:cNvSpPr txBox="1"/>
          <p:nvPr/>
        </p:nvSpPr>
        <p:spPr>
          <a:xfrm>
            <a:off x="1207008" y="4553712"/>
            <a:ext cx="512064" cy="548640"/>
          </a:xfrm>
          <a:prstGeom prst="rect">
            <a:avLst/>
          </a:prstGeom>
          <a:noFill/>
        </p:spPr>
        <p:txBody>
          <a:bodyPr wrap="square" lIns="0" rIns="0" tIns="0" bIns="0" anchor="ctr">
            <a:spAutoFit/>
          </a:bodyPr>
          <a:lstStyle/>
          <a:p>
            <a:pPr algn="ctr">
              <a:lnSpc>
                <a:spcPct val="128000"/>
              </a:lnSpc>
            </a:pPr>
            <a:r>
              <a:rPr sz="1100" b="1" i="0">
                <a:solidFill>
                  <a:srgbClr val="4A35FF"/>
                </a:solidFill>
                <a:latin typeface="Montserrat"/>
              </a:rPr>
              <a:t>AB</a:t>
            </a:r>
          </a:p>
        </p:txBody>
      </p:sp>
      <p:sp>
        <p:nvSpPr>
          <p:cNvPr id="58" name="TextBox 57"/>
          <p:cNvSpPr txBox="1"/>
          <p:nvPr/>
        </p:nvSpPr>
        <p:spPr>
          <a:xfrm>
            <a:off x="566928" y="5120640"/>
            <a:ext cx="1769364" cy="292608"/>
          </a:xfrm>
          <a:prstGeom prst="rect">
            <a:avLst/>
          </a:prstGeom>
          <a:noFill/>
        </p:spPr>
        <p:txBody>
          <a:bodyPr wrap="square" lIns="0" rIns="0" tIns="0" bIns="0" anchor="t">
            <a:spAutoFit/>
          </a:bodyPr>
          <a:lstStyle/>
          <a:p>
            <a:pPr algn="ctr">
              <a:lnSpc>
                <a:spcPct val="102000"/>
              </a:lnSpc>
            </a:pPr>
            <a:r>
              <a:rPr sz="800" b="1" i="0">
                <a:solidFill>
                  <a:srgbClr val="16181D"/>
                </a:solidFill>
                <a:latin typeface="Montserrat"/>
              </a:rPr>
              <a:t>Dr. Anshu Bamney</a:t>
            </a:r>
          </a:p>
        </p:txBody>
      </p:sp>
      <p:sp>
        <p:nvSpPr>
          <p:cNvPr id="59" name="TextBox 58"/>
          <p:cNvSpPr txBox="1"/>
          <p:nvPr/>
        </p:nvSpPr>
        <p:spPr>
          <a:xfrm>
            <a:off x="566928" y="5431536"/>
            <a:ext cx="1769364" cy="310896"/>
          </a:xfrm>
          <a:prstGeom prst="rect">
            <a:avLst/>
          </a:prstGeom>
          <a:noFill/>
        </p:spPr>
        <p:txBody>
          <a:bodyPr wrap="square" lIns="0" rIns="0" tIns="0" bIns="0" anchor="t">
            <a:spAutoFit/>
          </a:bodyPr>
          <a:lstStyle/>
          <a:p>
            <a:pPr algn="ctr">
              <a:lnSpc>
                <a:spcPct val="105000"/>
              </a:lnSpc>
            </a:pPr>
            <a:r>
              <a:rPr sz="700" b="0" i="0">
                <a:solidFill>
                  <a:srgbClr val="6E7180"/>
                </a:solidFill>
                <a:latin typeface="Geist"/>
              </a:rPr>
              <a:t>Asst Prof., IIT Mandi</a:t>
            </a:r>
          </a:p>
        </p:txBody>
      </p:sp>
      <p:sp>
        <p:nvSpPr>
          <p:cNvPr id="60" name="Oval 59"/>
          <p:cNvSpPr/>
          <p:nvPr/>
        </p:nvSpPr>
        <p:spPr>
          <a:xfrm>
            <a:off x="3049524" y="4572000"/>
            <a:ext cx="512064" cy="512064"/>
          </a:xfrm>
          <a:prstGeom prst="ellipse">
            <a:avLst/>
          </a:prstGeom>
          <a:solidFill>
            <a:srgbClr val="EFEDFF"/>
          </a:solidFill>
          <a:ln>
            <a:noFill/>
          </a:ln>
          <a:effectLst/>
        </p:spPr>
        <p:txBody>
          <a:bodyPr rtlCol="0" anchor="ctr"/>
          <a:lstStyle/>
          <a:p>
            <a:pPr algn="ctr"/>
          </a:p>
        </p:txBody>
      </p:sp>
      <p:sp>
        <p:nvSpPr>
          <p:cNvPr id="61" name="TextBox 60"/>
          <p:cNvSpPr txBox="1"/>
          <p:nvPr/>
        </p:nvSpPr>
        <p:spPr>
          <a:xfrm>
            <a:off x="3049524" y="4553712"/>
            <a:ext cx="512064" cy="548640"/>
          </a:xfrm>
          <a:prstGeom prst="rect">
            <a:avLst/>
          </a:prstGeom>
          <a:noFill/>
        </p:spPr>
        <p:txBody>
          <a:bodyPr wrap="square" lIns="0" rIns="0" tIns="0" bIns="0" anchor="ctr">
            <a:spAutoFit/>
          </a:bodyPr>
          <a:lstStyle/>
          <a:p>
            <a:pPr algn="ctr">
              <a:lnSpc>
                <a:spcPct val="128000"/>
              </a:lnSpc>
            </a:pPr>
            <a:r>
              <a:rPr sz="1100" b="1" i="0">
                <a:solidFill>
                  <a:srgbClr val="4A35FF"/>
                </a:solidFill>
                <a:latin typeface="Montserrat"/>
              </a:rPr>
              <a:t>VS</a:t>
            </a:r>
          </a:p>
        </p:txBody>
      </p:sp>
      <p:sp>
        <p:nvSpPr>
          <p:cNvPr id="62" name="TextBox 61"/>
          <p:cNvSpPr txBox="1"/>
          <p:nvPr/>
        </p:nvSpPr>
        <p:spPr>
          <a:xfrm>
            <a:off x="2409444" y="5120640"/>
            <a:ext cx="1769364" cy="292608"/>
          </a:xfrm>
          <a:prstGeom prst="rect">
            <a:avLst/>
          </a:prstGeom>
          <a:noFill/>
        </p:spPr>
        <p:txBody>
          <a:bodyPr wrap="square" lIns="0" rIns="0" tIns="0" bIns="0" anchor="t">
            <a:spAutoFit/>
          </a:bodyPr>
          <a:lstStyle/>
          <a:p>
            <a:pPr algn="ctr">
              <a:lnSpc>
                <a:spcPct val="102000"/>
              </a:lnSpc>
            </a:pPr>
            <a:r>
              <a:rPr sz="800" b="1" i="0">
                <a:solidFill>
                  <a:srgbClr val="16181D"/>
                </a:solidFill>
                <a:latin typeface="Montserrat"/>
              </a:rPr>
              <a:t>V. Sai Sesidhar</a:t>
            </a:r>
          </a:p>
        </p:txBody>
      </p:sp>
      <p:sp>
        <p:nvSpPr>
          <p:cNvPr id="63" name="TextBox 62"/>
          <p:cNvSpPr txBox="1"/>
          <p:nvPr/>
        </p:nvSpPr>
        <p:spPr>
          <a:xfrm>
            <a:off x="2409444" y="5431536"/>
            <a:ext cx="1769364" cy="310896"/>
          </a:xfrm>
          <a:prstGeom prst="rect">
            <a:avLst/>
          </a:prstGeom>
          <a:noFill/>
        </p:spPr>
        <p:txBody>
          <a:bodyPr wrap="square" lIns="0" rIns="0" tIns="0" bIns="0" anchor="t">
            <a:spAutoFit/>
          </a:bodyPr>
          <a:lstStyle/>
          <a:p>
            <a:pPr algn="ctr">
              <a:lnSpc>
                <a:spcPct val="105000"/>
              </a:lnSpc>
            </a:pPr>
            <a:r>
              <a:rPr sz="700" b="0" i="0">
                <a:solidFill>
                  <a:srgbClr val="6E7180"/>
                </a:solidFill>
                <a:latin typeface="Geist"/>
              </a:rPr>
              <a:t>Ph.D., IIT Kharagpur</a:t>
            </a:r>
          </a:p>
        </p:txBody>
      </p:sp>
      <p:sp>
        <p:nvSpPr>
          <p:cNvPr id="64" name="Oval 63"/>
          <p:cNvSpPr/>
          <p:nvPr/>
        </p:nvSpPr>
        <p:spPr>
          <a:xfrm>
            <a:off x="4892040" y="4572000"/>
            <a:ext cx="512064" cy="512064"/>
          </a:xfrm>
          <a:prstGeom prst="ellipse">
            <a:avLst/>
          </a:prstGeom>
          <a:solidFill>
            <a:srgbClr val="EFEDFF"/>
          </a:solidFill>
          <a:ln>
            <a:noFill/>
          </a:ln>
          <a:effectLst/>
        </p:spPr>
        <p:txBody>
          <a:bodyPr rtlCol="0" anchor="ctr"/>
          <a:lstStyle/>
          <a:p>
            <a:pPr algn="ctr"/>
          </a:p>
        </p:txBody>
      </p:sp>
      <p:sp>
        <p:nvSpPr>
          <p:cNvPr id="65" name="TextBox 64"/>
          <p:cNvSpPr txBox="1"/>
          <p:nvPr/>
        </p:nvSpPr>
        <p:spPr>
          <a:xfrm>
            <a:off x="4892040" y="4553712"/>
            <a:ext cx="512064" cy="548640"/>
          </a:xfrm>
          <a:prstGeom prst="rect">
            <a:avLst/>
          </a:prstGeom>
          <a:noFill/>
        </p:spPr>
        <p:txBody>
          <a:bodyPr wrap="square" lIns="0" rIns="0" tIns="0" bIns="0" anchor="ctr">
            <a:spAutoFit/>
          </a:bodyPr>
          <a:lstStyle/>
          <a:p>
            <a:pPr algn="ctr">
              <a:lnSpc>
                <a:spcPct val="128000"/>
              </a:lnSpc>
            </a:pPr>
            <a:r>
              <a:rPr sz="1100" b="1" i="0">
                <a:solidFill>
                  <a:srgbClr val="4A35FF"/>
                </a:solidFill>
                <a:latin typeface="Montserrat"/>
              </a:rPr>
              <a:t>AS</a:t>
            </a:r>
          </a:p>
        </p:txBody>
      </p:sp>
      <p:sp>
        <p:nvSpPr>
          <p:cNvPr id="66" name="TextBox 65"/>
          <p:cNvSpPr txBox="1"/>
          <p:nvPr/>
        </p:nvSpPr>
        <p:spPr>
          <a:xfrm>
            <a:off x="4251960" y="5120640"/>
            <a:ext cx="1769364" cy="292608"/>
          </a:xfrm>
          <a:prstGeom prst="rect">
            <a:avLst/>
          </a:prstGeom>
          <a:noFill/>
        </p:spPr>
        <p:txBody>
          <a:bodyPr wrap="square" lIns="0" rIns="0" tIns="0" bIns="0" anchor="t">
            <a:spAutoFit/>
          </a:bodyPr>
          <a:lstStyle/>
          <a:p>
            <a:pPr algn="ctr">
              <a:lnSpc>
                <a:spcPct val="102000"/>
              </a:lnSpc>
            </a:pPr>
            <a:r>
              <a:rPr sz="800" b="1" i="0">
                <a:solidFill>
                  <a:srgbClr val="16181D"/>
                </a:solidFill>
                <a:latin typeface="Montserrat"/>
              </a:rPr>
              <a:t>Ashish Shrivastava</a:t>
            </a:r>
          </a:p>
        </p:txBody>
      </p:sp>
      <p:sp>
        <p:nvSpPr>
          <p:cNvPr id="67" name="TextBox 66"/>
          <p:cNvSpPr txBox="1"/>
          <p:nvPr/>
        </p:nvSpPr>
        <p:spPr>
          <a:xfrm>
            <a:off x="4251960" y="5431536"/>
            <a:ext cx="1769364" cy="310896"/>
          </a:xfrm>
          <a:prstGeom prst="rect">
            <a:avLst/>
          </a:prstGeom>
          <a:noFill/>
        </p:spPr>
        <p:txBody>
          <a:bodyPr wrap="square" lIns="0" rIns="0" tIns="0" bIns="0" anchor="t">
            <a:spAutoFit/>
          </a:bodyPr>
          <a:lstStyle/>
          <a:p>
            <a:pPr algn="ctr">
              <a:lnSpc>
                <a:spcPct val="105000"/>
              </a:lnSpc>
            </a:pPr>
            <a:r>
              <a:rPr sz="700" b="0" i="0">
                <a:solidFill>
                  <a:srgbClr val="6E7180"/>
                </a:solidFill>
                <a:latin typeface="Geist"/>
              </a:rPr>
              <a:t>Engineer, Traffic &amp; Transport Planning</a:t>
            </a:r>
          </a:p>
        </p:txBody>
      </p:sp>
      <p:sp>
        <p:nvSpPr>
          <p:cNvPr id="68" name="Oval 67"/>
          <p:cNvSpPr/>
          <p:nvPr/>
        </p:nvSpPr>
        <p:spPr>
          <a:xfrm>
            <a:off x="6734556" y="4572000"/>
            <a:ext cx="512064" cy="512064"/>
          </a:xfrm>
          <a:prstGeom prst="ellipse">
            <a:avLst/>
          </a:prstGeom>
          <a:solidFill>
            <a:srgbClr val="EFEDFF"/>
          </a:solidFill>
          <a:ln>
            <a:noFill/>
          </a:ln>
          <a:effectLst/>
        </p:spPr>
        <p:txBody>
          <a:bodyPr rtlCol="0" anchor="ctr"/>
          <a:lstStyle/>
          <a:p>
            <a:pPr algn="ctr"/>
          </a:p>
        </p:txBody>
      </p:sp>
      <p:sp>
        <p:nvSpPr>
          <p:cNvPr id="69" name="TextBox 68"/>
          <p:cNvSpPr txBox="1"/>
          <p:nvPr/>
        </p:nvSpPr>
        <p:spPr>
          <a:xfrm>
            <a:off x="6734556" y="4553712"/>
            <a:ext cx="512064" cy="548640"/>
          </a:xfrm>
          <a:prstGeom prst="rect">
            <a:avLst/>
          </a:prstGeom>
          <a:noFill/>
        </p:spPr>
        <p:txBody>
          <a:bodyPr wrap="square" lIns="0" rIns="0" tIns="0" bIns="0" anchor="ctr">
            <a:spAutoFit/>
          </a:bodyPr>
          <a:lstStyle/>
          <a:p>
            <a:pPr algn="ctr">
              <a:lnSpc>
                <a:spcPct val="128000"/>
              </a:lnSpc>
            </a:pPr>
            <a:r>
              <a:rPr sz="1100" b="1" i="0">
                <a:solidFill>
                  <a:srgbClr val="4A35FF"/>
                </a:solidFill>
                <a:latin typeface="Montserrat"/>
              </a:rPr>
              <a:t>MS</a:t>
            </a:r>
          </a:p>
        </p:txBody>
      </p:sp>
      <p:sp>
        <p:nvSpPr>
          <p:cNvPr id="70" name="TextBox 69"/>
          <p:cNvSpPr txBox="1"/>
          <p:nvPr/>
        </p:nvSpPr>
        <p:spPr>
          <a:xfrm>
            <a:off x="6094476" y="5120640"/>
            <a:ext cx="1769364" cy="292608"/>
          </a:xfrm>
          <a:prstGeom prst="rect">
            <a:avLst/>
          </a:prstGeom>
          <a:noFill/>
        </p:spPr>
        <p:txBody>
          <a:bodyPr wrap="square" lIns="0" rIns="0" tIns="0" bIns="0" anchor="t">
            <a:spAutoFit/>
          </a:bodyPr>
          <a:lstStyle/>
          <a:p>
            <a:pPr algn="ctr">
              <a:lnSpc>
                <a:spcPct val="102000"/>
              </a:lnSpc>
            </a:pPr>
            <a:r>
              <a:rPr sz="800" b="1" i="0">
                <a:solidFill>
                  <a:srgbClr val="16181D"/>
                </a:solidFill>
                <a:latin typeface="Montserrat"/>
              </a:rPr>
              <a:t>Mridul Sharotary</a:t>
            </a:r>
          </a:p>
        </p:txBody>
      </p:sp>
      <p:sp>
        <p:nvSpPr>
          <p:cNvPr id="71" name="TextBox 70"/>
          <p:cNvSpPr txBox="1"/>
          <p:nvPr/>
        </p:nvSpPr>
        <p:spPr>
          <a:xfrm>
            <a:off x="6094476" y="5431536"/>
            <a:ext cx="1769364" cy="310896"/>
          </a:xfrm>
          <a:prstGeom prst="rect">
            <a:avLst/>
          </a:prstGeom>
          <a:noFill/>
        </p:spPr>
        <p:txBody>
          <a:bodyPr wrap="square" lIns="0" rIns="0" tIns="0" bIns="0" anchor="t">
            <a:spAutoFit/>
          </a:bodyPr>
          <a:lstStyle/>
          <a:p>
            <a:pPr algn="ctr">
              <a:lnSpc>
                <a:spcPct val="105000"/>
              </a:lnSpc>
            </a:pPr>
            <a:r>
              <a:rPr sz="700" b="0" i="0">
                <a:solidFill>
                  <a:srgbClr val="6E7180"/>
                </a:solidFill>
                <a:latin typeface="Geist"/>
              </a:rPr>
              <a:t>Planner, EY</a:t>
            </a:r>
          </a:p>
        </p:txBody>
      </p:sp>
      <p:sp>
        <p:nvSpPr>
          <p:cNvPr id="72" name="Oval 71"/>
          <p:cNvSpPr/>
          <p:nvPr/>
        </p:nvSpPr>
        <p:spPr>
          <a:xfrm>
            <a:off x="8577072" y="4572000"/>
            <a:ext cx="512064" cy="512064"/>
          </a:xfrm>
          <a:prstGeom prst="ellipse">
            <a:avLst/>
          </a:prstGeom>
          <a:solidFill>
            <a:srgbClr val="EFEDFF"/>
          </a:solidFill>
          <a:ln>
            <a:noFill/>
          </a:ln>
          <a:effectLst/>
        </p:spPr>
        <p:txBody>
          <a:bodyPr rtlCol="0" anchor="ctr"/>
          <a:lstStyle/>
          <a:p>
            <a:pPr algn="ctr"/>
          </a:p>
        </p:txBody>
      </p:sp>
      <p:sp>
        <p:nvSpPr>
          <p:cNvPr id="73" name="TextBox 72"/>
          <p:cNvSpPr txBox="1"/>
          <p:nvPr/>
        </p:nvSpPr>
        <p:spPr>
          <a:xfrm>
            <a:off x="8577072" y="4553712"/>
            <a:ext cx="512064" cy="548640"/>
          </a:xfrm>
          <a:prstGeom prst="rect">
            <a:avLst/>
          </a:prstGeom>
          <a:noFill/>
        </p:spPr>
        <p:txBody>
          <a:bodyPr wrap="square" lIns="0" rIns="0" tIns="0" bIns="0" anchor="ctr">
            <a:spAutoFit/>
          </a:bodyPr>
          <a:lstStyle/>
          <a:p>
            <a:pPr algn="ctr">
              <a:lnSpc>
                <a:spcPct val="128000"/>
              </a:lnSpc>
            </a:pPr>
            <a:r>
              <a:rPr sz="1100" b="1" i="0">
                <a:solidFill>
                  <a:srgbClr val="4A35FF"/>
                </a:solidFill>
                <a:latin typeface="Montserrat"/>
              </a:rPr>
              <a:t>KK</a:t>
            </a:r>
          </a:p>
        </p:txBody>
      </p:sp>
      <p:sp>
        <p:nvSpPr>
          <p:cNvPr id="74" name="TextBox 73"/>
          <p:cNvSpPr txBox="1"/>
          <p:nvPr/>
        </p:nvSpPr>
        <p:spPr>
          <a:xfrm>
            <a:off x="7936992" y="5120640"/>
            <a:ext cx="1769364" cy="292608"/>
          </a:xfrm>
          <a:prstGeom prst="rect">
            <a:avLst/>
          </a:prstGeom>
          <a:noFill/>
        </p:spPr>
        <p:txBody>
          <a:bodyPr wrap="square" lIns="0" rIns="0" tIns="0" bIns="0" anchor="t">
            <a:spAutoFit/>
          </a:bodyPr>
          <a:lstStyle/>
          <a:p>
            <a:pPr algn="ctr">
              <a:lnSpc>
                <a:spcPct val="102000"/>
              </a:lnSpc>
            </a:pPr>
            <a:r>
              <a:rPr sz="800" b="1" i="0">
                <a:solidFill>
                  <a:srgbClr val="16181D"/>
                </a:solidFill>
                <a:latin typeface="Montserrat"/>
              </a:rPr>
              <a:t>Kushal Khivansara</a:t>
            </a:r>
          </a:p>
        </p:txBody>
      </p:sp>
      <p:sp>
        <p:nvSpPr>
          <p:cNvPr id="75" name="TextBox 74"/>
          <p:cNvSpPr txBox="1"/>
          <p:nvPr/>
        </p:nvSpPr>
        <p:spPr>
          <a:xfrm>
            <a:off x="7936992" y="5431536"/>
            <a:ext cx="1769364" cy="310896"/>
          </a:xfrm>
          <a:prstGeom prst="rect">
            <a:avLst/>
          </a:prstGeom>
          <a:noFill/>
        </p:spPr>
        <p:txBody>
          <a:bodyPr wrap="square" lIns="0" rIns="0" tIns="0" bIns="0" anchor="t">
            <a:spAutoFit/>
          </a:bodyPr>
          <a:lstStyle/>
          <a:p>
            <a:pPr algn="ctr">
              <a:lnSpc>
                <a:spcPct val="105000"/>
              </a:lnSpc>
            </a:pPr>
            <a:r>
              <a:rPr sz="700" b="0" i="0">
                <a:solidFill>
                  <a:srgbClr val="6E7180"/>
                </a:solidFill>
                <a:latin typeface="Geist"/>
              </a:rPr>
              <a:t>TRIP Centre, IIT Delhi</a:t>
            </a:r>
          </a:p>
        </p:txBody>
      </p:sp>
      <p:sp>
        <p:nvSpPr>
          <p:cNvPr id="76" name="Rounded Rectangle 75"/>
          <p:cNvSpPr/>
          <p:nvPr/>
        </p:nvSpPr>
        <p:spPr>
          <a:xfrm>
            <a:off x="566928" y="5870448"/>
            <a:ext cx="11057839" cy="457200"/>
          </a:xfrm>
          <a:prstGeom prst="roundRect">
            <a:avLst>
              <a:gd name="adj" fmla="val 14000"/>
            </a:avLst>
          </a:prstGeom>
          <a:solidFill>
            <a:srgbClr val="F7F7FA"/>
          </a:solidFill>
          <a:ln>
            <a:noFill/>
          </a:ln>
          <a:effectLst/>
        </p:spPr>
        <p:txBody>
          <a:bodyPr rtlCol="0" anchor="ctr"/>
          <a:lstStyle/>
          <a:p>
            <a:pPr algn="ctr"/>
          </a:p>
        </p:txBody>
      </p:sp>
      <p:sp>
        <p:nvSpPr>
          <p:cNvPr id="77" name="TextBox 76"/>
          <p:cNvSpPr txBox="1"/>
          <p:nvPr/>
        </p:nvSpPr>
        <p:spPr>
          <a:xfrm>
            <a:off x="768096" y="5943600"/>
            <a:ext cx="10646359" cy="329184"/>
          </a:xfrm>
          <a:prstGeom prst="rect">
            <a:avLst/>
          </a:prstGeom>
          <a:noFill/>
        </p:spPr>
        <p:txBody>
          <a:bodyPr wrap="square" lIns="0" rIns="0" tIns="0" bIns="0" anchor="t">
            <a:spAutoFit/>
          </a:bodyPr>
          <a:lstStyle/>
          <a:p>
            <a:pPr algn="l">
              <a:lnSpc>
                <a:spcPct val="120000"/>
              </a:lnSpc>
            </a:pPr>
            <a:r>
              <a:rPr sz="900" b="1" i="0">
                <a:solidFill>
                  <a:srgbClr val="16181D"/>
                </a:solidFill>
                <a:latin typeface="Geist"/>
              </a:rPr>
              <a:t>From IIT Delhi, IIT Roorkee, IIT Mandi, IIT Kharagpur, SVNIT, SPA Vijayawada, SPA Bhopal, Vignan University, KPMG and EY </a:t>
            </a:r>
            <a:r>
              <a:rPr sz="900" b="0" i="0">
                <a:solidFill>
                  <a:srgbClr val="6E7180"/>
                </a:solidFill>
                <a:latin typeface="Geist"/>
              </a:rPr>
              <a:t>, the same mix of academia and practice the Working Group draws on.</a:t>
            </a:r>
          </a:p>
        </p:txBody>
      </p:sp>
      <p:cxnSp>
        <p:nvCxnSpPr>
          <p:cNvPr id="78" name="Connector 77"/>
          <p:cNvCxnSpPr/>
          <p:nvPr/>
        </p:nvCxnSpPr>
        <p:spPr>
          <a:xfrm>
            <a:off x="566928" y="6455664"/>
            <a:ext cx="11057839" cy="0"/>
          </a:xfrm>
          <a:prstGeom prst="line">
            <a:avLst/>
          </a:prstGeom>
          <a:ln w="9525">
            <a:solidFill>
              <a:srgbClr val="E8E9EE"/>
            </a:solidFill>
          </a:ln>
          <a:effectLst/>
        </p:spPr>
      </p:cxnSp>
      <p:sp>
        <p:nvSpPr>
          <p:cNvPr id="79" name="TextBox 78"/>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80" name="TextBox 79"/>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24 / 28</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PROJECT RAKSHAK</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PROJECT RAKSHAK, THE LONG VIEW</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Built to be </a:t>
            </a:r>
            <a:r>
              <a:rPr sz="2250" b="1" i="0">
                <a:solidFill>
                  <a:srgbClr val="4A35FF"/>
                </a:solidFill>
                <a:latin typeface="Montserrat"/>
              </a:rPr>
              <a:t>institutionalised</a:t>
            </a:r>
            <a:r>
              <a:rPr sz="2250" b="1" i="0">
                <a:solidFill>
                  <a:srgbClr val="16181D"/>
                </a:solidFill>
                <a:latin typeface="Montserrat"/>
              </a:rPr>
              <a:t>: not built to depend on us</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Three audit tracks matched to road types, and a role for CFI that narrows over time.</a:t>
            </a:r>
          </a:p>
        </p:txBody>
      </p:sp>
      <p:sp>
        <p:nvSpPr>
          <p:cNvPr id="8" name="Rounded Rectangle 7"/>
          <p:cNvSpPr/>
          <p:nvPr/>
        </p:nvSpPr>
        <p:spPr>
          <a:xfrm>
            <a:off x="566928" y="2103120"/>
            <a:ext cx="3611880" cy="1600200"/>
          </a:xfrm>
          <a:prstGeom prst="roundRect">
            <a:avLst>
              <a:gd name="adj" fmla="val 8000"/>
            </a:avLst>
          </a:prstGeom>
          <a:solidFill>
            <a:srgbClr val="F7F7FA"/>
          </a:solidFill>
          <a:ln>
            <a:noFill/>
          </a:ln>
          <a:effectLst/>
        </p:spPr>
        <p:txBody>
          <a:bodyPr rtlCol="0" anchor="ctr"/>
          <a:lstStyle/>
          <a:p>
            <a:pPr algn="ctr"/>
          </a:p>
        </p:txBody>
      </p:sp>
      <p:sp>
        <p:nvSpPr>
          <p:cNvPr id="9" name="Rectangle 8"/>
          <p:cNvSpPr/>
          <p:nvPr/>
        </p:nvSpPr>
        <p:spPr>
          <a:xfrm>
            <a:off x="566928" y="2103120"/>
            <a:ext cx="3611880" cy="384048"/>
          </a:xfrm>
          <a:prstGeom prst="rect">
            <a:avLst/>
          </a:prstGeom>
          <a:solidFill>
            <a:srgbClr val="EFEDFF"/>
          </a:solidFill>
          <a:ln>
            <a:noFill/>
          </a:ln>
          <a:effectLst/>
        </p:spPr>
        <p:txBody>
          <a:bodyPr rtlCol="0" anchor="ctr"/>
          <a:lstStyle/>
          <a:p>
            <a:pPr algn="ctr"/>
          </a:p>
        </p:txBody>
      </p:sp>
      <p:sp>
        <p:nvSpPr>
          <p:cNvPr id="10" name="TextBox 9"/>
          <p:cNvSpPr txBox="1"/>
          <p:nvPr/>
        </p:nvSpPr>
        <p:spPr>
          <a:xfrm>
            <a:off x="713232" y="2167128"/>
            <a:ext cx="3337560" cy="274320"/>
          </a:xfrm>
          <a:prstGeom prst="rect">
            <a:avLst/>
          </a:prstGeom>
          <a:noFill/>
        </p:spPr>
        <p:txBody>
          <a:bodyPr wrap="square" lIns="0" rIns="0" tIns="0" bIns="0" anchor="t">
            <a:spAutoFit/>
          </a:bodyPr>
          <a:lstStyle/>
          <a:p>
            <a:pPr algn="l">
              <a:lnSpc>
                <a:spcPct val="128000"/>
              </a:lnSpc>
            </a:pPr>
            <a:r>
              <a:rPr sz="1100" b="1" i="0">
                <a:solidFill>
                  <a:srgbClr val="4A35FF"/>
                </a:solidFill>
                <a:latin typeface="Montserrat"/>
              </a:rPr>
              <a:t>Track A, Institutional</a:t>
            </a:r>
          </a:p>
        </p:txBody>
      </p:sp>
      <p:sp>
        <p:nvSpPr>
          <p:cNvPr id="11" name="TextBox 10"/>
          <p:cNvSpPr txBox="1"/>
          <p:nvPr/>
        </p:nvSpPr>
        <p:spPr>
          <a:xfrm>
            <a:off x="713232" y="2578608"/>
            <a:ext cx="3319272" cy="548640"/>
          </a:xfrm>
          <a:prstGeom prst="rect">
            <a:avLst/>
          </a:prstGeom>
          <a:noFill/>
        </p:spPr>
        <p:txBody>
          <a:bodyPr wrap="square" lIns="0" rIns="0" tIns="0" bIns="0" anchor="t">
            <a:spAutoFit/>
          </a:bodyPr>
          <a:lstStyle/>
          <a:p>
            <a:pPr algn="l">
              <a:lnSpc>
                <a:spcPct val="125000"/>
              </a:lnSpc>
            </a:pPr>
            <a:r>
              <a:rPr sz="950" b="0" i="0">
                <a:solidFill>
                  <a:srgbClr val="16181D"/>
                </a:solidFill>
                <a:latin typeface="Geist"/>
              </a:rPr>
              <a:t>IIT / NIT / SPA teams under expert mentors</a:t>
            </a:r>
          </a:p>
        </p:txBody>
      </p:sp>
      <p:sp>
        <p:nvSpPr>
          <p:cNvPr id="12" name="TextBox 11"/>
          <p:cNvSpPr txBox="1"/>
          <p:nvPr/>
        </p:nvSpPr>
        <p:spPr>
          <a:xfrm>
            <a:off x="713232" y="3182112"/>
            <a:ext cx="3319272" cy="45720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Urban arterials, in-town state highways, district roads</a:t>
            </a:r>
          </a:p>
        </p:txBody>
      </p:sp>
      <p:sp>
        <p:nvSpPr>
          <p:cNvPr id="13" name="Rounded Rectangle 12"/>
          <p:cNvSpPr/>
          <p:nvPr/>
        </p:nvSpPr>
        <p:spPr>
          <a:xfrm>
            <a:off x="4288536" y="2103120"/>
            <a:ext cx="3611880" cy="1600200"/>
          </a:xfrm>
          <a:prstGeom prst="roundRect">
            <a:avLst>
              <a:gd name="adj" fmla="val 8000"/>
            </a:avLst>
          </a:prstGeom>
          <a:solidFill>
            <a:srgbClr val="F7F7FA"/>
          </a:solidFill>
          <a:ln>
            <a:noFill/>
          </a:ln>
          <a:effectLst/>
        </p:spPr>
        <p:txBody>
          <a:bodyPr rtlCol="0" anchor="ctr"/>
          <a:lstStyle/>
          <a:p>
            <a:pPr algn="ctr"/>
          </a:p>
        </p:txBody>
      </p:sp>
      <p:sp>
        <p:nvSpPr>
          <p:cNvPr id="14" name="Rectangle 13"/>
          <p:cNvSpPr/>
          <p:nvPr/>
        </p:nvSpPr>
        <p:spPr>
          <a:xfrm>
            <a:off x="4288536" y="2103120"/>
            <a:ext cx="3611880" cy="384048"/>
          </a:xfrm>
          <a:prstGeom prst="rect">
            <a:avLst/>
          </a:prstGeom>
          <a:solidFill>
            <a:srgbClr val="E7F4F4"/>
          </a:solidFill>
          <a:ln>
            <a:noFill/>
          </a:ln>
          <a:effectLst/>
        </p:spPr>
        <p:txBody>
          <a:bodyPr rtlCol="0" anchor="ctr"/>
          <a:lstStyle/>
          <a:p>
            <a:pPr algn="ctr"/>
          </a:p>
        </p:txBody>
      </p:sp>
      <p:sp>
        <p:nvSpPr>
          <p:cNvPr id="15" name="TextBox 14"/>
          <p:cNvSpPr txBox="1"/>
          <p:nvPr/>
        </p:nvSpPr>
        <p:spPr>
          <a:xfrm>
            <a:off x="4434840" y="2167128"/>
            <a:ext cx="3337560" cy="274320"/>
          </a:xfrm>
          <a:prstGeom prst="rect">
            <a:avLst/>
          </a:prstGeom>
          <a:noFill/>
        </p:spPr>
        <p:txBody>
          <a:bodyPr wrap="square" lIns="0" rIns="0" tIns="0" bIns="0" anchor="t">
            <a:spAutoFit/>
          </a:bodyPr>
          <a:lstStyle/>
          <a:p>
            <a:pPr algn="l">
              <a:lnSpc>
                <a:spcPct val="128000"/>
              </a:lnSpc>
            </a:pPr>
            <a:r>
              <a:rPr sz="1100" b="1" i="0">
                <a:solidFill>
                  <a:srgbClr val="0E8A8A"/>
                </a:solidFill>
                <a:latin typeface="Montserrat"/>
              </a:rPr>
              <a:t>Track B, NGO partners</a:t>
            </a:r>
          </a:p>
        </p:txBody>
      </p:sp>
      <p:sp>
        <p:nvSpPr>
          <p:cNvPr id="16" name="TextBox 15"/>
          <p:cNvSpPr txBox="1"/>
          <p:nvPr/>
        </p:nvSpPr>
        <p:spPr>
          <a:xfrm>
            <a:off x="4434840" y="2578608"/>
            <a:ext cx="3319272" cy="548640"/>
          </a:xfrm>
          <a:prstGeom prst="rect">
            <a:avLst/>
          </a:prstGeom>
          <a:noFill/>
        </p:spPr>
        <p:txBody>
          <a:bodyPr wrap="square" lIns="0" rIns="0" tIns="0" bIns="0" anchor="t">
            <a:spAutoFit/>
          </a:bodyPr>
          <a:lstStyle/>
          <a:p>
            <a:pPr algn="l">
              <a:lnSpc>
                <a:spcPct val="125000"/>
              </a:lnSpc>
            </a:pPr>
            <a:r>
              <a:rPr sz="950" b="0" i="0">
                <a:solidFill>
                  <a:srgbClr val="16181D"/>
                </a:solidFill>
                <a:latin typeface="Geist"/>
              </a:rPr>
              <a:t>Field teams; desk-reviewed and re-verified by CFI</a:t>
            </a:r>
          </a:p>
        </p:txBody>
      </p:sp>
      <p:sp>
        <p:nvSpPr>
          <p:cNvPr id="17" name="TextBox 16"/>
          <p:cNvSpPr txBox="1"/>
          <p:nvPr/>
        </p:nvSpPr>
        <p:spPr>
          <a:xfrm>
            <a:off x="4434840" y="3182112"/>
            <a:ext cx="3319272" cy="45720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District &amp; peri-urban corridors</a:t>
            </a:r>
          </a:p>
        </p:txBody>
      </p:sp>
      <p:sp>
        <p:nvSpPr>
          <p:cNvPr id="18" name="Rounded Rectangle 17"/>
          <p:cNvSpPr/>
          <p:nvPr/>
        </p:nvSpPr>
        <p:spPr>
          <a:xfrm>
            <a:off x="8010144" y="2103120"/>
            <a:ext cx="3611880" cy="1600200"/>
          </a:xfrm>
          <a:prstGeom prst="roundRect">
            <a:avLst>
              <a:gd name="adj" fmla="val 8000"/>
            </a:avLst>
          </a:prstGeom>
          <a:solidFill>
            <a:srgbClr val="F7F7FA"/>
          </a:solidFill>
          <a:ln>
            <a:noFill/>
          </a:ln>
          <a:effectLst/>
        </p:spPr>
        <p:txBody>
          <a:bodyPr rtlCol="0" anchor="ctr"/>
          <a:lstStyle/>
          <a:p>
            <a:pPr algn="ctr"/>
          </a:p>
        </p:txBody>
      </p:sp>
      <p:sp>
        <p:nvSpPr>
          <p:cNvPr id="19" name="Rectangle 18"/>
          <p:cNvSpPr/>
          <p:nvPr/>
        </p:nvSpPr>
        <p:spPr>
          <a:xfrm>
            <a:off x="8010144" y="2103120"/>
            <a:ext cx="3611880" cy="384048"/>
          </a:xfrm>
          <a:prstGeom prst="rect">
            <a:avLst/>
          </a:prstGeom>
          <a:solidFill>
            <a:srgbClr val="FDF3E3"/>
          </a:solidFill>
          <a:ln>
            <a:noFill/>
          </a:ln>
          <a:effectLst/>
        </p:spPr>
        <p:txBody>
          <a:bodyPr rtlCol="0" anchor="ctr"/>
          <a:lstStyle/>
          <a:p>
            <a:pPr algn="ctr"/>
          </a:p>
        </p:txBody>
      </p:sp>
      <p:sp>
        <p:nvSpPr>
          <p:cNvPr id="20" name="TextBox 19"/>
          <p:cNvSpPr txBox="1"/>
          <p:nvPr/>
        </p:nvSpPr>
        <p:spPr>
          <a:xfrm>
            <a:off x="8156448" y="2167128"/>
            <a:ext cx="3337560" cy="274320"/>
          </a:xfrm>
          <a:prstGeom prst="rect">
            <a:avLst/>
          </a:prstGeom>
          <a:noFill/>
        </p:spPr>
        <p:txBody>
          <a:bodyPr wrap="square" lIns="0" rIns="0" tIns="0" bIns="0" anchor="t">
            <a:spAutoFit/>
          </a:bodyPr>
          <a:lstStyle/>
          <a:p>
            <a:pPr algn="l">
              <a:lnSpc>
                <a:spcPct val="128000"/>
              </a:lnSpc>
            </a:pPr>
            <a:r>
              <a:rPr sz="1100" b="1" i="0">
                <a:solidFill>
                  <a:srgbClr val="E58900"/>
                </a:solidFill>
                <a:latin typeface="Montserrat"/>
              </a:rPr>
              <a:t>Track C, Certified RSAs</a:t>
            </a:r>
          </a:p>
        </p:txBody>
      </p:sp>
      <p:sp>
        <p:nvSpPr>
          <p:cNvPr id="21" name="TextBox 20"/>
          <p:cNvSpPr txBox="1"/>
          <p:nvPr/>
        </p:nvSpPr>
        <p:spPr>
          <a:xfrm>
            <a:off x="8156448" y="2578608"/>
            <a:ext cx="3319272" cy="548640"/>
          </a:xfrm>
          <a:prstGeom prst="rect">
            <a:avLst/>
          </a:prstGeom>
          <a:noFill/>
        </p:spPr>
        <p:txBody>
          <a:bodyPr wrap="square" lIns="0" rIns="0" tIns="0" bIns="0" anchor="t">
            <a:spAutoFit/>
          </a:bodyPr>
          <a:lstStyle/>
          <a:p>
            <a:pPr algn="l">
              <a:lnSpc>
                <a:spcPct val="125000"/>
              </a:lnSpc>
            </a:pPr>
            <a:r>
              <a:rPr sz="950" b="0" i="0">
                <a:solidFill>
                  <a:srgbClr val="16181D"/>
                </a:solidFill>
                <a:latin typeface="Geist"/>
              </a:rPr>
              <a:t>CSIR-CRRI-certified auditors, full IRC SP-88</a:t>
            </a:r>
          </a:p>
        </p:txBody>
      </p:sp>
      <p:sp>
        <p:nvSpPr>
          <p:cNvPr id="22" name="TextBox 21"/>
          <p:cNvSpPr txBox="1"/>
          <p:nvPr/>
        </p:nvSpPr>
        <p:spPr>
          <a:xfrm>
            <a:off x="8156448" y="3182112"/>
            <a:ext cx="3319272" cy="45720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National highways, complex junctions</a:t>
            </a:r>
          </a:p>
        </p:txBody>
      </p:sp>
      <p:sp>
        <p:nvSpPr>
          <p:cNvPr id="23" name="Rounded Rectangle 22"/>
          <p:cNvSpPr/>
          <p:nvPr/>
        </p:nvSpPr>
        <p:spPr>
          <a:xfrm>
            <a:off x="566928" y="4069080"/>
            <a:ext cx="1234440" cy="457200"/>
          </a:xfrm>
          <a:prstGeom prst="roundRect">
            <a:avLst>
              <a:gd name="adj" fmla="val 50000"/>
            </a:avLst>
          </a:prstGeom>
          <a:solidFill>
            <a:srgbClr val="F7F7FA"/>
          </a:solidFill>
          <a:ln>
            <a:noFill/>
          </a:ln>
          <a:effectLst/>
        </p:spPr>
        <p:txBody>
          <a:bodyPr rtlCol="0" anchor="ctr"/>
          <a:lstStyle/>
          <a:p>
            <a:pPr algn="ctr"/>
          </a:p>
        </p:txBody>
      </p:sp>
      <p:sp>
        <p:nvSpPr>
          <p:cNvPr id="24" name="TextBox 23"/>
          <p:cNvSpPr txBox="1"/>
          <p:nvPr/>
        </p:nvSpPr>
        <p:spPr>
          <a:xfrm>
            <a:off x="585216" y="4069080"/>
            <a:ext cx="1197864" cy="457200"/>
          </a:xfrm>
          <a:prstGeom prst="rect">
            <a:avLst/>
          </a:prstGeom>
          <a:noFill/>
        </p:spPr>
        <p:txBody>
          <a:bodyPr wrap="square" lIns="0" rIns="0" tIns="0" bIns="0" anchor="ctr">
            <a:spAutoFit/>
          </a:bodyPr>
          <a:lstStyle/>
          <a:p>
            <a:pPr algn="ctr">
              <a:lnSpc>
                <a:spcPct val="100000"/>
              </a:lnSpc>
            </a:pPr>
            <a:r>
              <a:rPr sz="1000" b="1" i="0">
                <a:solidFill>
                  <a:srgbClr val="4A35FF"/>
                </a:solidFill>
                <a:latin typeface="Montserrat"/>
              </a:rPr>
              <a:t>Today</a:t>
            </a:r>
          </a:p>
        </p:txBody>
      </p:sp>
      <p:sp>
        <p:nvSpPr>
          <p:cNvPr id="25" name="TextBox 24"/>
          <p:cNvSpPr txBox="1"/>
          <p:nvPr/>
        </p:nvSpPr>
        <p:spPr>
          <a:xfrm>
            <a:off x="1984248" y="4114800"/>
            <a:ext cx="9509760" cy="457200"/>
          </a:xfrm>
          <a:prstGeom prst="rect">
            <a:avLst/>
          </a:prstGeom>
          <a:noFill/>
        </p:spPr>
        <p:txBody>
          <a:bodyPr wrap="square" lIns="0" rIns="0" tIns="0" bIns="0" anchor="t">
            <a:spAutoFit/>
          </a:bodyPr>
          <a:lstStyle/>
          <a:p>
            <a:pPr algn="l">
              <a:lnSpc>
                <a:spcPct val="125000"/>
              </a:lnSpc>
            </a:pPr>
            <a:r>
              <a:rPr sz="1050" b="0" i="0">
                <a:solidFill>
                  <a:srgbClr val="6E7180"/>
                </a:solidFill>
                <a:latin typeface="Geist"/>
              </a:rPr>
              <a:t>CFI runs cohorts, quality-controls audits and stewards the public portal.</a:t>
            </a:r>
          </a:p>
        </p:txBody>
      </p:sp>
      <p:sp>
        <p:nvSpPr>
          <p:cNvPr id="26" name="Rounded Rectangle 25"/>
          <p:cNvSpPr/>
          <p:nvPr/>
        </p:nvSpPr>
        <p:spPr>
          <a:xfrm>
            <a:off x="566928" y="4727448"/>
            <a:ext cx="1234440" cy="457200"/>
          </a:xfrm>
          <a:prstGeom prst="roundRect">
            <a:avLst>
              <a:gd name="adj" fmla="val 50000"/>
            </a:avLst>
          </a:prstGeom>
          <a:solidFill>
            <a:srgbClr val="F7F7FA"/>
          </a:solidFill>
          <a:ln>
            <a:noFill/>
          </a:ln>
          <a:effectLst/>
        </p:spPr>
        <p:txBody>
          <a:bodyPr rtlCol="0" anchor="ctr"/>
          <a:lstStyle/>
          <a:p>
            <a:pPr algn="ctr"/>
          </a:p>
        </p:txBody>
      </p:sp>
      <p:sp>
        <p:nvSpPr>
          <p:cNvPr id="27" name="TextBox 26"/>
          <p:cNvSpPr txBox="1"/>
          <p:nvPr/>
        </p:nvSpPr>
        <p:spPr>
          <a:xfrm>
            <a:off x="585216" y="4727448"/>
            <a:ext cx="1197864" cy="457200"/>
          </a:xfrm>
          <a:prstGeom prst="rect">
            <a:avLst/>
          </a:prstGeom>
          <a:noFill/>
        </p:spPr>
        <p:txBody>
          <a:bodyPr wrap="square" lIns="0" rIns="0" tIns="0" bIns="0" anchor="ctr">
            <a:spAutoFit/>
          </a:bodyPr>
          <a:lstStyle/>
          <a:p>
            <a:pPr algn="ctr">
              <a:lnSpc>
                <a:spcPct val="100000"/>
              </a:lnSpc>
            </a:pPr>
            <a:r>
              <a:rPr sz="1000" b="1" i="0">
                <a:solidFill>
                  <a:srgbClr val="0E8A8A"/>
                </a:solidFill>
                <a:latin typeface="Montserrat"/>
              </a:rPr>
              <a:t>Next</a:t>
            </a:r>
          </a:p>
        </p:txBody>
      </p:sp>
      <p:sp>
        <p:nvSpPr>
          <p:cNvPr id="28" name="TextBox 27"/>
          <p:cNvSpPr txBox="1"/>
          <p:nvPr/>
        </p:nvSpPr>
        <p:spPr>
          <a:xfrm>
            <a:off x="1984248" y="4773168"/>
            <a:ext cx="9509760" cy="457200"/>
          </a:xfrm>
          <a:prstGeom prst="rect">
            <a:avLst/>
          </a:prstGeom>
          <a:noFill/>
        </p:spPr>
        <p:txBody>
          <a:bodyPr wrap="square" lIns="0" rIns="0" tIns="0" bIns="0" anchor="t">
            <a:spAutoFit/>
          </a:bodyPr>
          <a:lstStyle/>
          <a:p>
            <a:pPr algn="l">
              <a:lnSpc>
                <a:spcPct val="125000"/>
              </a:lnSpc>
            </a:pPr>
            <a:r>
              <a:rPr sz="1050" b="0" i="0">
                <a:solidFill>
                  <a:srgbClr val="6E7180"/>
                </a:solidFill>
                <a:latin typeface="Geist"/>
              </a:rPr>
              <a:t>Rakshak Audit Manual v1.0 codifies the method; universities field their own teams; NGOs run Track B directly.</a:t>
            </a:r>
          </a:p>
        </p:txBody>
      </p:sp>
      <p:sp>
        <p:nvSpPr>
          <p:cNvPr id="29" name="Rounded Rectangle 28"/>
          <p:cNvSpPr/>
          <p:nvPr/>
        </p:nvSpPr>
        <p:spPr>
          <a:xfrm>
            <a:off x="566928" y="5385816"/>
            <a:ext cx="1234440" cy="457200"/>
          </a:xfrm>
          <a:prstGeom prst="roundRect">
            <a:avLst>
              <a:gd name="adj" fmla="val 50000"/>
            </a:avLst>
          </a:prstGeom>
          <a:solidFill>
            <a:srgbClr val="F7F7FA"/>
          </a:solidFill>
          <a:ln>
            <a:noFill/>
          </a:ln>
          <a:effectLst/>
        </p:spPr>
        <p:txBody>
          <a:bodyPr rtlCol="0" anchor="ctr"/>
          <a:lstStyle/>
          <a:p>
            <a:pPr algn="ctr"/>
          </a:p>
        </p:txBody>
      </p:sp>
      <p:sp>
        <p:nvSpPr>
          <p:cNvPr id="30" name="TextBox 29"/>
          <p:cNvSpPr txBox="1"/>
          <p:nvPr/>
        </p:nvSpPr>
        <p:spPr>
          <a:xfrm>
            <a:off x="585216" y="5385816"/>
            <a:ext cx="1197864" cy="457200"/>
          </a:xfrm>
          <a:prstGeom prst="rect">
            <a:avLst/>
          </a:prstGeom>
          <a:noFill/>
        </p:spPr>
        <p:txBody>
          <a:bodyPr wrap="square" lIns="0" rIns="0" tIns="0" bIns="0" anchor="ctr">
            <a:spAutoFit/>
          </a:bodyPr>
          <a:lstStyle/>
          <a:p>
            <a:pPr algn="ctr">
              <a:lnSpc>
                <a:spcPct val="100000"/>
              </a:lnSpc>
            </a:pPr>
            <a:r>
              <a:rPr sz="1000" b="1" i="0">
                <a:solidFill>
                  <a:srgbClr val="0A9955"/>
                </a:solidFill>
                <a:latin typeface="Montserrat"/>
              </a:rPr>
              <a:t>Mature</a:t>
            </a:r>
          </a:p>
        </p:txBody>
      </p:sp>
      <p:sp>
        <p:nvSpPr>
          <p:cNvPr id="31" name="TextBox 30"/>
          <p:cNvSpPr txBox="1"/>
          <p:nvPr/>
        </p:nvSpPr>
        <p:spPr>
          <a:xfrm>
            <a:off x="1984248" y="5431536"/>
            <a:ext cx="9509760" cy="457200"/>
          </a:xfrm>
          <a:prstGeom prst="rect">
            <a:avLst/>
          </a:prstGeom>
          <a:noFill/>
        </p:spPr>
        <p:txBody>
          <a:bodyPr wrap="square" lIns="0" rIns="0" tIns="0" bIns="0" anchor="t">
            <a:spAutoFit/>
          </a:bodyPr>
          <a:lstStyle/>
          <a:p>
            <a:pPr algn="l">
              <a:lnSpc>
                <a:spcPct val="125000"/>
              </a:lnSpc>
            </a:pPr>
            <a:r>
              <a:rPr sz="1050" b="0" i="0">
                <a:solidFill>
                  <a:srgbClr val="6E7180"/>
                </a:solidFill>
                <a:latin typeface="Geist"/>
              </a:rPr>
              <a:t>States engage certified RSAs for Track C without CFI as intermediary; the portal remains the shared public record.</a:t>
            </a:r>
          </a:p>
        </p:txBody>
      </p:sp>
      <p:cxnSp>
        <p:nvCxnSpPr>
          <p:cNvPr id="32" name="Connector 31"/>
          <p:cNvCxnSpPr/>
          <p:nvPr/>
        </p:nvCxnSpPr>
        <p:spPr>
          <a:xfrm>
            <a:off x="566928" y="6455664"/>
            <a:ext cx="11057839" cy="0"/>
          </a:xfrm>
          <a:prstGeom prst="line">
            <a:avLst/>
          </a:prstGeom>
          <a:ln w="9525">
            <a:solidFill>
              <a:srgbClr val="E8E9EE"/>
            </a:solidFill>
          </a:ln>
          <a:effectLst/>
        </p:spPr>
      </p:cxnSp>
      <p:sp>
        <p:nvSpPr>
          <p:cNvPr id="33" name="TextBox 32"/>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34" name="TextBox 33"/>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25 / 28</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PROJECT RAKSHAK</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VULNERABLE ROAD USERS</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A growing evidence base on </a:t>
            </a:r>
            <a:r>
              <a:rPr sz="2250" b="1" i="0">
                <a:solidFill>
                  <a:srgbClr val="4A35FF"/>
                </a:solidFill>
                <a:latin typeface="Montserrat"/>
              </a:rPr>
              <a:t>those most at risk</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Roughly 70% of India's road crash fatalities are vulnerable road users, pedestrians, motorcyclists, bicyclists.</a:t>
            </a:r>
          </a:p>
        </p:txBody>
      </p:sp>
      <p:sp>
        <p:nvSpPr>
          <p:cNvPr id="8" name="Oval 7"/>
          <p:cNvSpPr/>
          <p:nvPr/>
        </p:nvSpPr>
        <p:spPr>
          <a:xfrm>
            <a:off x="566928" y="2240280"/>
            <a:ext cx="365760" cy="365760"/>
          </a:xfrm>
          <a:prstGeom prst="ellipse">
            <a:avLst/>
          </a:prstGeom>
          <a:solidFill>
            <a:srgbClr val="FDF3E3"/>
          </a:solidFill>
          <a:ln>
            <a:noFill/>
          </a:ln>
          <a:effectLst/>
        </p:spPr>
        <p:txBody>
          <a:bodyPr rtlCol="0" anchor="ctr"/>
          <a:lstStyle/>
          <a:p>
            <a:pPr algn="ctr"/>
          </a:p>
        </p:txBody>
      </p:sp>
      <p:pic>
        <p:nvPicPr>
          <p:cNvPr id="9" name="Picture 8" descr="bike_E58900_256_2.0.png"/>
          <p:cNvPicPr>
            <a:picLocks noChangeAspect="1"/>
          </p:cNvPicPr>
          <p:nvPr/>
        </p:nvPicPr>
        <p:blipFill>
          <a:blip r:embed="rId2"/>
          <a:stretch>
            <a:fillRect/>
          </a:stretch>
        </p:blipFill>
        <p:spPr>
          <a:xfrm>
            <a:off x="654710" y="2328062"/>
            <a:ext cx="190195" cy="190195"/>
          </a:xfrm>
          <a:prstGeom prst="rect">
            <a:avLst/>
          </a:prstGeom>
        </p:spPr>
      </p:pic>
      <p:sp>
        <p:nvSpPr>
          <p:cNvPr id="10" name="TextBox 9"/>
          <p:cNvSpPr txBox="1"/>
          <p:nvPr/>
        </p:nvSpPr>
        <p:spPr>
          <a:xfrm>
            <a:off x="1097280" y="222199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Gig &amp; delivery riders</a:t>
            </a:r>
          </a:p>
        </p:txBody>
      </p:sp>
      <p:sp>
        <p:nvSpPr>
          <p:cNvPr id="11" name="TextBox 10"/>
          <p:cNvSpPr txBox="1"/>
          <p:nvPr/>
        </p:nvSpPr>
        <p:spPr>
          <a:xfrm>
            <a:off x="3566160" y="2221992"/>
            <a:ext cx="379476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'When Risks Become Routine' (Feb 2026): incentive pressure, helmet compliance and training gaps, 300+ rider study, Delhi NCR.</a:t>
            </a:r>
          </a:p>
        </p:txBody>
      </p:sp>
      <p:sp>
        <p:nvSpPr>
          <p:cNvPr id="12" name="Oval 11"/>
          <p:cNvSpPr/>
          <p:nvPr/>
        </p:nvSpPr>
        <p:spPr>
          <a:xfrm>
            <a:off x="566928" y="3154680"/>
            <a:ext cx="365760" cy="365760"/>
          </a:xfrm>
          <a:prstGeom prst="ellipse">
            <a:avLst/>
          </a:prstGeom>
          <a:solidFill>
            <a:srgbClr val="EFEDFF"/>
          </a:solidFill>
          <a:ln>
            <a:noFill/>
          </a:ln>
          <a:effectLst/>
        </p:spPr>
        <p:txBody>
          <a:bodyPr rtlCol="0" anchor="ctr"/>
          <a:lstStyle/>
          <a:p>
            <a:pPr algn="ctr"/>
          </a:p>
        </p:txBody>
      </p:sp>
      <p:pic>
        <p:nvPicPr>
          <p:cNvPr id="13" name="Picture 12" descr="footprints_4A35FF_256_2.0.png"/>
          <p:cNvPicPr>
            <a:picLocks noChangeAspect="1"/>
          </p:cNvPicPr>
          <p:nvPr/>
        </p:nvPicPr>
        <p:blipFill>
          <a:blip r:embed="rId3"/>
          <a:stretch>
            <a:fillRect/>
          </a:stretch>
        </p:blipFill>
        <p:spPr>
          <a:xfrm>
            <a:off x="654710" y="3242462"/>
            <a:ext cx="190195" cy="190195"/>
          </a:xfrm>
          <a:prstGeom prst="rect">
            <a:avLst/>
          </a:prstGeom>
        </p:spPr>
      </p:pic>
      <p:sp>
        <p:nvSpPr>
          <p:cNvPr id="14" name="TextBox 13"/>
          <p:cNvSpPr txBox="1"/>
          <p:nvPr/>
        </p:nvSpPr>
        <p:spPr>
          <a:xfrm>
            <a:off x="1097280" y="313639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Pedestrian-first audits</a:t>
            </a:r>
          </a:p>
        </p:txBody>
      </p:sp>
      <p:sp>
        <p:nvSpPr>
          <p:cNvPr id="15" name="TextBox 14"/>
          <p:cNvSpPr txBox="1"/>
          <p:nvPr/>
        </p:nvSpPr>
        <p:spPr>
          <a:xfrm>
            <a:off x="3566160" y="3136392"/>
            <a:ext cx="379476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Rakshak audits document crossings, footpaths and lighting as designable protections, 900+ stakeholders consulted.</a:t>
            </a:r>
          </a:p>
        </p:txBody>
      </p:sp>
      <p:sp>
        <p:nvSpPr>
          <p:cNvPr id="16" name="Oval 15"/>
          <p:cNvSpPr/>
          <p:nvPr/>
        </p:nvSpPr>
        <p:spPr>
          <a:xfrm>
            <a:off x="566928" y="4069080"/>
            <a:ext cx="365760" cy="365760"/>
          </a:xfrm>
          <a:prstGeom prst="ellipse">
            <a:avLst/>
          </a:prstGeom>
          <a:solidFill>
            <a:srgbClr val="E7F4F4"/>
          </a:solidFill>
          <a:ln>
            <a:noFill/>
          </a:ln>
          <a:effectLst/>
        </p:spPr>
        <p:txBody>
          <a:bodyPr rtlCol="0" anchor="ctr"/>
          <a:lstStyle/>
          <a:p>
            <a:pPr algn="ctr"/>
          </a:p>
        </p:txBody>
      </p:sp>
      <p:pic>
        <p:nvPicPr>
          <p:cNvPr id="17" name="Picture 16" descr="school_0E8A8A_256_2.0.png"/>
          <p:cNvPicPr>
            <a:picLocks noChangeAspect="1"/>
          </p:cNvPicPr>
          <p:nvPr/>
        </p:nvPicPr>
        <p:blipFill>
          <a:blip r:embed="rId4"/>
          <a:stretch>
            <a:fillRect/>
          </a:stretch>
        </p:blipFill>
        <p:spPr>
          <a:xfrm>
            <a:off x="654710" y="4156862"/>
            <a:ext cx="190195" cy="190195"/>
          </a:xfrm>
          <a:prstGeom prst="rect">
            <a:avLst/>
          </a:prstGeom>
        </p:spPr>
      </p:pic>
      <p:sp>
        <p:nvSpPr>
          <p:cNvPr id="18" name="TextBox 17"/>
          <p:cNvSpPr txBox="1"/>
          <p:nvPr/>
        </p:nvSpPr>
        <p:spPr>
          <a:xfrm>
            <a:off x="1097280" y="405079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School zones</a:t>
            </a:r>
          </a:p>
        </p:txBody>
      </p:sp>
      <p:sp>
        <p:nvSpPr>
          <p:cNvPr id="19" name="TextBox 18"/>
          <p:cNvSpPr txBox="1"/>
          <p:nvPr/>
        </p:nvSpPr>
        <p:spPr>
          <a:xfrm>
            <a:off x="3566160" y="4050792"/>
            <a:ext cx="379476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College-led, standards-based school-zone screening under exploration as the next extension of the audit platform.</a:t>
            </a:r>
          </a:p>
        </p:txBody>
      </p:sp>
      <p:sp>
        <p:nvSpPr>
          <p:cNvPr id="20" name="Oval 19"/>
          <p:cNvSpPr/>
          <p:nvPr/>
        </p:nvSpPr>
        <p:spPr>
          <a:xfrm>
            <a:off x="566928" y="4983480"/>
            <a:ext cx="365760" cy="365760"/>
          </a:xfrm>
          <a:prstGeom prst="ellipse">
            <a:avLst/>
          </a:prstGeom>
          <a:solidFill>
            <a:srgbClr val="E9F7F0"/>
          </a:solidFill>
          <a:ln>
            <a:noFill/>
          </a:ln>
          <a:effectLst/>
        </p:spPr>
        <p:txBody>
          <a:bodyPr rtlCol="0" anchor="ctr"/>
          <a:lstStyle/>
          <a:p>
            <a:pPr algn="ctr"/>
          </a:p>
        </p:txBody>
      </p:sp>
      <p:pic>
        <p:nvPicPr>
          <p:cNvPr id="21" name="Picture 20" descr="shield_0A9955_256_2.0.png"/>
          <p:cNvPicPr>
            <a:picLocks noChangeAspect="1"/>
          </p:cNvPicPr>
          <p:nvPr/>
        </p:nvPicPr>
        <p:blipFill>
          <a:blip r:embed="rId5"/>
          <a:stretch>
            <a:fillRect/>
          </a:stretch>
        </p:blipFill>
        <p:spPr>
          <a:xfrm>
            <a:off x="654710" y="5071262"/>
            <a:ext cx="190195" cy="190195"/>
          </a:xfrm>
          <a:prstGeom prst="rect">
            <a:avLst/>
          </a:prstGeom>
        </p:spPr>
      </p:pic>
      <p:sp>
        <p:nvSpPr>
          <p:cNvPr id="22" name="TextBox 21"/>
          <p:cNvSpPr txBox="1"/>
          <p:nvPr/>
        </p:nvSpPr>
        <p:spPr>
          <a:xfrm>
            <a:off x="1097280" y="496519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Enforcement that protects VRUs</a:t>
            </a:r>
          </a:p>
        </p:txBody>
      </p:sp>
      <p:sp>
        <p:nvSpPr>
          <p:cNvPr id="23" name="TextBox 22"/>
          <p:cNvSpPr txBox="1"/>
          <p:nvPr/>
        </p:nvSpPr>
        <p:spPr>
          <a:xfrm>
            <a:off x="3566160" y="4965192"/>
            <a:ext cx="379476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SATARK helps police prioritise the small share of vehicles with the worst records, targeted, fair, technology-led.</a:t>
            </a:r>
          </a:p>
        </p:txBody>
      </p:sp>
      <p:pic>
        <p:nvPicPr>
          <p:cNvPr id="24" name="Picture 23" descr="chart_vru_trends.png"/>
          <p:cNvPicPr>
            <a:picLocks noChangeAspect="1"/>
          </p:cNvPicPr>
          <p:nvPr/>
        </p:nvPicPr>
        <p:blipFill>
          <a:blip r:embed="rId6"/>
          <a:stretch>
            <a:fillRect/>
          </a:stretch>
        </p:blipFill>
        <p:spPr>
          <a:xfrm>
            <a:off x="7772400" y="2240280"/>
            <a:ext cx="2994263" cy="2011680"/>
          </a:xfrm>
          <a:prstGeom prst="rect">
            <a:avLst/>
          </a:prstGeom>
        </p:spPr>
      </p:pic>
      <p:sp>
        <p:nvSpPr>
          <p:cNvPr id="25" name="Rectangle 24"/>
          <p:cNvSpPr/>
          <p:nvPr/>
        </p:nvSpPr>
        <p:spPr>
          <a:xfrm>
            <a:off x="7772400" y="2240280"/>
            <a:ext cx="2994263" cy="2011680"/>
          </a:xfrm>
          <a:prstGeom prst="rect">
            <a:avLst/>
          </a:prstGeom>
          <a:noFill/>
          <a:ln w="12700">
            <a:solidFill>
              <a:srgbClr val="E8E9EE"/>
            </a:solidFill>
          </a:ln>
          <a:effectLst/>
        </p:spPr>
        <p:txBody>
          <a:bodyPr rtlCol="0" anchor="ctr"/>
          <a:lstStyle/>
          <a:p>
            <a:pPr algn="ctr"/>
          </a:p>
        </p:txBody>
      </p:sp>
      <p:sp>
        <p:nvSpPr>
          <p:cNvPr id="26" name="TextBox 25"/>
          <p:cNvSpPr txBox="1"/>
          <p:nvPr/>
        </p:nvSpPr>
        <p:spPr>
          <a:xfrm>
            <a:off x="7772400" y="4297680"/>
            <a:ext cx="2994263" cy="274320"/>
          </a:xfrm>
          <a:prstGeom prst="rect">
            <a:avLst/>
          </a:prstGeom>
          <a:noFill/>
        </p:spPr>
        <p:txBody>
          <a:bodyPr wrap="square" lIns="0" rIns="0" tIns="0" bIns="0" anchor="t">
            <a:spAutoFit/>
          </a:bodyPr>
          <a:lstStyle/>
          <a:p>
            <a:pPr algn="l">
              <a:lnSpc>
                <a:spcPct val="112000"/>
              </a:lnSpc>
            </a:pPr>
            <a:r>
              <a:rPr sz="850" b="0" i="0">
                <a:solidFill>
                  <a:srgbClr val="6E7180"/>
                </a:solidFill>
                <a:latin typeface="Geist"/>
              </a:rPr>
              <a:t>Fatality trends by road-user type, 2014–2023 (MoRTH; via IndiaSpend).</a:t>
            </a:r>
          </a:p>
        </p:txBody>
      </p:sp>
      <p:pic>
        <p:nvPicPr>
          <p:cNvPr id="27" name="Picture 26" descr="ph_gig_riders.jpg_4.20x1.45_0.35.jpg"/>
          <p:cNvPicPr>
            <a:picLocks noChangeAspect="1"/>
          </p:cNvPicPr>
          <p:nvPr/>
        </p:nvPicPr>
        <p:blipFill>
          <a:blip r:embed="rId7"/>
          <a:stretch>
            <a:fillRect/>
          </a:stretch>
        </p:blipFill>
        <p:spPr>
          <a:xfrm>
            <a:off x="7772400" y="4754880"/>
            <a:ext cx="3840480" cy="1325880"/>
          </a:xfrm>
          <a:prstGeom prst="rect">
            <a:avLst/>
          </a:prstGeom>
        </p:spPr>
      </p:pic>
      <p:sp>
        <p:nvSpPr>
          <p:cNvPr id="28" name="Rectangle 27"/>
          <p:cNvSpPr/>
          <p:nvPr/>
        </p:nvSpPr>
        <p:spPr>
          <a:xfrm>
            <a:off x="7772400" y="4754880"/>
            <a:ext cx="3840480" cy="1325880"/>
          </a:xfrm>
          <a:prstGeom prst="rect">
            <a:avLst/>
          </a:prstGeom>
          <a:noFill/>
          <a:ln w="12700">
            <a:solidFill>
              <a:srgbClr val="E8E9EE"/>
            </a:solidFill>
          </a:ln>
          <a:effectLst/>
        </p:spPr>
        <p:txBody>
          <a:bodyPr rtlCol="0" anchor="ctr"/>
          <a:lstStyle/>
          <a:p>
            <a:pPr algn="ctr"/>
          </a:p>
        </p:txBody>
      </p:sp>
      <p:cxnSp>
        <p:nvCxnSpPr>
          <p:cNvPr id="29" name="Connector 28"/>
          <p:cNvCxnSpPr/>
          <p:nvPr/>
        </p:nvCxnSpPr>
        <p:spPr>
          <a:xfrm>
            <a:off x="566928" y="6455664"/>
            <a:ext cx="11057839" cy="0"/>
          </a:xfrm>
          <a:prstGeom prst="line">
            <a:avLst/>
          </a:prstGeom>
          <a:ln w="9525">
            <a:solidFill>
              <a:srgbClr val="E8E9EE"/>
            </a:solidFill>
          </a:ln>
          <a:effectLst/>
        </p:spPr>
      </p:cxnSp>
      <p:sp>
        <p:nvSpPr>
          <p:cNvPr id="30" name="TextBox 29"/>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31" name="TextBox 30"/>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26 / 28</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5 OF 5  ·  OUR CONTRIBUTION</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05 · HOW WE CAN CONTRIBUTE</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Four concrete offers to </a:t>
            </a:r>
            <a:r>
              <a:rPr sz="2250" b="1" i="0">
                <a:solidFill>
                  <a:srgbClr val="4A35FF"/>
                </a:solidFill>
                <a:latin typeface="Montserrat"/>
              </a:rPr>
              <a:t>Working Group 2</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All four are ready today, need no funding from the Board, and can begin within weeks.</a:t>
            </a:r>
          </a:p>
        </p:txBody>
      </p:sp>
      <p:sp>
        <p:nvSpPr>
          <p:cNvPr id="8" name="Rounded Rectangle 7"/>
          <p:cNvSpPr/>
          <p:nvPr/>
        </p:nvSpPr>
        <p:spPr>
          <a:xfrm>
            <a:off x="566928" y="2057400"/>
            <a:ext cx="11055096" cy="841248"/>
          </a:xfrm>
          <a:prstGeom prst="roundRect">
            <a:avLst>
              <a:gd name="adj" fmla="val 10000"/>
            </a:avLst>
          </a:prstGeom>
          <a:solidFill>
            <a:srgbClr val="F7F7FA"/>
          </a:solidFill>
          <a:ln>
            <a:noFill/>
          </a:ln>
          <a:effectLst/>
        </p:spPr>
        <p:txBody>
          <a:bodyPr rtlCol="0" anchor="ctr"/>
          <a:lstStyle/>
          <a:p>
            <a:pPr algn="ctr"/>
          </a:p>
        </p:txBody>
      </p:sp>
      <p:sp>
        <p:nvSpPr>
          <p:cNvPr id="9" name="Oval 8"/>
          <p:cNvSpPr/>
          <p:nvPr/>
        </p:nvSpPr>
        <p:spPr>
          <a:xfrm>
            <a:off x="749808" y="2258568"/>
            <a:ext cx="438912" cy="438912"/>
          </a:xfrm>
          <a:prstGeom prst="ellipse">
            <a:avLst/>
          </a:prstGeom>
          <a:solidFill>
            <a:srgbClr val="EFEDFF"/>
          </a:solidFill>
          <a:ln>
            <a:noFill/>
          </a:ln>
          <a:effectLst/>
        </p:spPr>
        <p:txBody>
          <a:bodyPr rtlCol="0" anchor="ctr"/>
          <a:lstStyle/>
          <a:p>
            <a:pPr algn="ctr"/>
          </a:p>
        </p:txBody>
      </p:sp>
      <p:sp>
        <p:nvSpPr>
          <p:cNvPr id="10" name="TextBox 9"/>
          <p:cNvSpPr txBox="1"/>
          <p:nvPr/>
        </p:nvSpPr>
        <p:spPr>
          <a:xfrm>
            <a:off x="749808" y="2247596"/>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1</a:t>
            </a:r>
          </a:p>
        </p:txBody>
      </p:sp>
      <p:sp>
        <p:nvSpPr>
          <p:cNvPr id="11" name="TextBox 10"/>
          <p:cNvSpPr txBox="1"/>
          <p:nvPr/>
        </p:nvSpPr>
        <p:spPr>
          <a:xfrm>
            <a:off x="1408176" y="2176272"/>
            <a:ext cx="3566160" cy="548640"/>
          </a:xfrm>
          <a:prstGeom prst="rect">
            <a:avLst/>
          </a:prstGeom>
          <a:noFill/>
        </p:spPr>
        <p:txBody>
          <a:bodyPr wrap="square" lIns="0" rIns="0" tIns="0" bIns="0" anchor="t">
            <a:spAutoFit/>
          </a:bodyPr>
          <a:lstStyle/>
          <a:p>
            <a:pPr algn="l">
              <a:lnSpc>
                <a:spcPct val="110000"/>
              </a:lnSpc>
            </a:pPr>
            <a:r>
              <a:rPr sz="1250" b="1" i="0">
                <a:solidFill>
                  <a:srgbClr val="16181D"/>
                </a:solidFill>
                <a:latin typeface="Montserrat"/>
              </a:rPr>
              <a:t>Ready evidence for standard-setting</a:t>
            </a:r>
          </a:p>
        </p:txBody>
      </p:sp>
      <p:sp>
        <p:nvSpPr>
          <p:cNvPr id="12" name="TextBox 11"/>
          <p:cNvSpPr txBox="1"/>
          <p:nvPr/>
        </p:nvSpPr>
        <p:spPr>
          <a:xfrm>
            <a:off x="5138928" y="2176272"/>
            <a:ext cx="6309360" cy="640080"/>
          </a:xfrm>
          <a:prstGeom prst="rect">
            <a:avLst/>
          </a:prstGeom>
          <a:noFill/>
        </p:spPr>
        <p:txBody>
          <a:bodyPr wrap="square" lIns="0" rIns="0" tIns="0" bIns="0" anchor="t">
            <a:spAutoFit/>
          </a:bodyPr>
          <a:lstStyle/>
          <a:p>
            <a:pPr algn="l">
              <a:lnSpc>
                <a:spcPct val="125000"/>
              </a:lnSpc>
            </a:pPr>
            <a:r>
              <a:rPr sz="1000" b="0" i="0">
                <a:solidFill>
                  <a:srgbClr val="6E7180"/>
                </a:solidFill>
                <a:latin typeface="Geist"/>
              </a:rPr>
              <a:t>Site-level audit data, crash-pattern analysis and costed intervention designs across emerging hotspots and official black spots, for rectification protocols and speed-management guidance.</a:t>
            </a:r>
          </a:p>
        </p:txBody>
      </p:sp>
      <p:sp>
        <p:nvSpPr>
          <p:cNvPr id="13" name="Rounded Rectangle 12"/>
          <p:cNvSpPr/>
          <p:nvPr/>
        </p:nvSpPr>
        <p:spPr>
          <a:xfrm>
            <a:off x="566928" y="3026664"/>
            <a:ext cx="11055096" cy="841248"/>
          </a:xfrm>
          <a:prstGeom prst="roundRect">
            <a:avLst>
              <a:gd name="adj" fmla="val 10000"/>
            </a:avLst>
          </a:prstGeom>
          <a:solidFill>
            <a:srgbClr val="FFFFFF"/>
          </a:solidFill>
          <a:ln w="9525">
            <a:solidFill>
              <a:srgbClr val="E8E9EE"/>
            </a:solidFill>
          </a:ln>
          <a:effectLst/>
        </p:spPr>
        <p:txBody>
          <a:bodyPr rtlCol="0" anchor="ctr"/>
          <a:lstStyle/>
          <a:p>
            <a:pPr algn="ctr"/>
          </a:p>
        </p:txBody>
      </p:sp>
      <p:sp>
        <p:nvSpPr>
          <p:cNvPr id="14" name="Oval 13"/>
          <p:cNvSpPr/>
          <p:nvPr/>
        </p:nvSpPr>
        <p:spPr>
          <a:xfrm>
            <a:off x="749808" y="3227832"/>
            <a:ext cx="438912" cy="438912"/>
          </a:xfrm>
          <a:prstGeom prst="ellipse">
            <a:avLst/>
          </a:prstGeom>
          <a:solidFill>
            <a:srgbClr val="EFEDFF"/>
          </a:solidFill>
          <a:ln>
            <a:noFill/>
          </a:ln>
          <a:effectLst/>
        </p:spPr>
        <p:txBody>
          <a:bodyPr rtlCol="0" anchor="ctr"/>
          <a:lstStyle/>
          <a:p>
            <a:pPr algn="ctr"/>
          </a:p>
        </p:txBody>
      </p:sp>
      <p:sp>
        <p:nvSpPr>
          <p:cNvPr id="15" name="TextBox 14"/>
          <p:cNvSpPr txBox="1"/>
          <p:nvPr/>
        </p:nvSpPr>
        <p:spPr>
          <a:xfrm>
            <a:off x="749808" y="3216860"/>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2</a:t>
            </a:r>
          </a:p>
        </p:txBody>
      </p:sp>
      <p:sp>
        <p:nvSpPr>
          <p:cNvPr id="16" name="TextBox 15"/>
          <p:cNvSpPr txBox="1"/>
          <p:nvPr/>
        </p:nvSpPr>
        <p:spPr>
          <a:xfrm>
            <a:off x="1408176" y="3145536"/>
            <a:ext cx="3566160" cy="548640"/>
          </a:xfrm>
          <a:prstGeom prst="rect">
            <a:avLst/>
          </a:prstGeom>
          <a:noFill/>
        </p:spPr>
        <p:txBody>
          <a:bodyPr wrap="square" lIns="0" rIns="0" tIns="0" bIns="0" anchor="t">
            <a:spAutoFit/>
          </a:bodyPr>
          <a:lstStyle/>
          <a:p>
            <a:pPr algn="l">
              <a:lnSpc>
                <a:spcPct val="110000"/>
              </a:lnSpc>
            </a:pPr>
            <a:r>
              <a:rPr sz="1250" b="1" i="0">
                <a:solidFill>
                  <a:srgbClr val="16181D"/>
                </a:solidFill>
                <a:latin typeface="Montserrat"/>
              </a:rPr>
              <a:t>A live testing ground</a:t>
            </a:r>
          </a:p>
        </p:txBody>
      </p:sp>
      <p:sp>
        <p:nvSpPr>
          <p:cNvPr id="17" name="TextBox 16"/>
          <p:cNvSpPr txBox="1"/>
          <p:nvPr/>
        </p:nvSpPr>
        <p:spPr>
          <a:xfrm>
            <a:off x="5138928" y="3145536"/>
            <a:ext cx="6309360" cy="640080"/>
          </a:xfrm>
          <a:prstGeom prst="rect">
            <a:avLst/>
          </a:prstGeom>
          <a:noFill/>
        </p:spPr>
        <p:txBody>
          <a:bodyPr wrap="square" lIns="0" rIns="0" tIns="0" bIns="0" anchor="t">
            <a:spAutoFit/>
          </a:bodyPr>
          <a:lstStyle/>
          <a:p>
            <a:pPr algn="l">
              <a:lnSpc>
                <a:spcPct val="125000"/>
              </a:lnSpc>
            </a:pPr>
            <a:r>
              <a:rPr sz="1000" b="0" i="0">
                <a:solidFill>
                  <a:srgbClr val="6E7180"/>
                </a:solidFill>
                <a:latin typeface="Geist"/>
              </a:rPr>
              <a:t>Active district relationships in Gurugram, South-West Delhi and Jaipur offer a ready pipeline to pilot or stress-test draft recommendations before national rollout.</a:t>
            </a:r>
          </a:p>
        </p:txBody>
      </p:sp>
      <p:sp>
        <p:nvSpPr>
          <p:cNvPr id="18" name="Rounded Rectangle 17"/>
          <p:cNvSpPr/>
          <p:nvPr/>
        </p:nvSpPr>
        <p:spPr>
          <a:xfrm>
            <a:off x="566928" y="3995928"/>
            <a:ext cx="11055096" cy="841248"/>
          </a:xfrm>
          <a:prstGeom prst="roundRect">
            <a:avLst>
              <a:gd name="adj" fmla="val 10000"/>
            </a:avLst>
          </a:prstGeom>
          <a:solidFill>
            <a:srgbClr val="F7F7FA"/>
          </a:solidFill>
          <a:ln>
            <a:noFill/>
          </a:ln>
          <a:effectLst/>
        </p:spPr>
        <p:txBody>
          <a:bodyPr rtlCol="0" anchor="ctr"/>
          <a:lstStyle/>
          <a:p>
            <a:pPr algn="ctr"/>
          </a:p>
        </p:txBody>
      </p:sp>
      <p:sp>
        <p:nvSpPr>
          <p:cNvPr id="19" name="Oval 18"/>
          <p:cNvSpPr/>
          <p:nvPr/>
        </p:nvSpPr>
        <p:spPr>
          <a:xfrm>
            <a:off x="749808" y="4197096"/>
            <a:ext cx="438912" cy="438912"/>
          </a:xfrm>
          <a:prstGeom prst="ellipse">
            <a:avLst/>
          </a:prstGeom>
          <a:solidFill>
            <a:srgbClr val="EFEDFF"/>
          </a:solidFill>
          <a:ln>
            <a:noFill/>
          </a:ln>
          <a:effectLst/>
        </p:spPr>
        <p:txBody>
          <a:bodyPr rtlCol="0" anchor="ctr"/>
          <a:lstStyle/>
          <a:p>
            <a:pPr algn="ctr"/>
          </a:p>
        </p:txBody>
      </p:sp>
      <p:sp>
        <p:nvSpPr>
          <p:cNvPr id="20" name="TextBox 19"/>
          <p:cNvSpPr txBox="1"/>
          <p:nvPr/>
        </p:nvSpPr>
        <p:spPr>
          <a:xfrm>
            <a:off x="749808" y="4186124"/>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3</a:t>
            </a:r>
          </a:p>
        </p:txBody>
      </p:sp>
      <p:sp>
        <p:nvSpPr>
          <p:cNvPr id="21" name="TextBox 20"/>
          <p:cNvSpPr txBox="1"/>
          <p:nvPr/>
        </p:nvSpPr>
        <p:spPr>
          <a:xfrm>
            <a:off x="1408176" y="4114800"/>
            <a:ext cx="3566160" cy="548640"/>
          </a:xfrm>
          <a:prstGeom prst="rect">
            <a:avLst/>
          </a:prstGeom>
          <a:noFill/>
        </p:spPr>
        <p:txBody>
          <a:bodyPr wrap="square" lIns="0" rIns="0" tIns="0" bIns="0" anchor="t">
            <a:spAutoFit/>
          </a:bodyPr>
          <a:lstStyle/>
          <a:p>
            <a:pPr algn="l">
              <a:lnSpc>
                <a:spcPct val="110000"/>
              </a:lnSpc>
            </a:pPr>
            <a:r>
              <a:rPr sz="1250" b="1" i="0">
                <a:solidFill>
                  <a:srgbClr val="16181D"/>
                </a:solidFill>
                <a:latin typeface="Montserrat"/>
              </a:rPr>
              <a:t>Ground-level implementation diagnostics</a:t>
            </a:r>
          </a:p>
        </p:txBody>
      </p:sp>
      <p:sp>
        <p:nvSpPr>
          <p:cNvPr id="22" name="TextBox 21"/>
          <p:cNvSpPr txBox="1"/>
          <p:nvPr/>
        </p:nvSpPr>
        <p:spPr>
          <a:xfrm>
            <a:off x="5138928" y="4114800"/>
            <a:ext cx="6309360" cy="640080"/>
          </a:xfrm>
          <a:prstGeom prst="rect">
            <a:avLst/>
          </a:prstGeom>
          <a:noFill/>
        </p:spPr>
        <p:txBody>
          <a:bodyPr wrap="square" lIns="0" rIns="0" tIns="0" bIns="0" anchor="t">
            <a:spAutoFit/>
          </a:bodyPr>
          <a:lstStyle/>
          <a:p>
            <a:pPr algn="l">
              <a:lnSpc>
                <a:spcPct val="125000"/>
              </a:lnSpc>
            </a:pPr>
            <a:r>
              <a:rPr sz="1000" b="0" i="0">
                <a:solidFill>
                  <a:srgbClr val="6E7180"/>
                </a:solidFill>
                <a:latin typeface="Geist"/>
              </a:rPr>
              <a:t>Granular, field-verified insight into how DRSCs and road-owning agencies actually move, meeting cadence, data use, follow-through.</a:t>
            </a:r>
          </a:p>
        </p:txBody>
      </p:sp>
      <p:sp>
        <p:nvSpPr>
          <p:cNvPr id="23" name="Rounded Rectangle 22"/>
          <p:cNvSpPr/>
          <p:nvPr/>
        </p:nvSpPr>
        <p:spPr>
          <a:xfrm>
            <a:off x="566928" y="4965192"/>
            <a:ext cx="11055096" cy="841248"/>
          </a:xfrm>
          <a:prstGeom prst="roundRect">
            <a:avLst>
              <a:gd name="adj" fmla="val 10000"/>
            </a:avLst>
          </a:prstGeom>
          <a:solidFill>
            <a:srgbClr val="FFFFFF"/>
          </a:solidFill>
          <a:ln w="9525">
            <a:solidFill>
              <a:srgbClr val="E8E9EE"/>
            </a:solidFill>
          </a:ln>
          <a:effectLst/>
        </p:spPr>
        <p:txBody>
          <a:bodyPr rtlCol="0" anchor="ctr"/>
          <a:lstStyle/>
          <a:p>
            <a:pPr algn="ctr"/>
          </a:p>
        </p:txBody>
      </p:sp>
      <p:sp>
        <p:nvSpPr>
          <p:cNvPr id="24" name="Oval 23"/>
          <p:cNvSpPr/>
          <p:nvPr/>
        </p:nvSpPr>
        <p:spPr>
          <a:xfrm>
            <a:off x="749808" y="5166360"/>
            <a:ext cx="438912" cy="438912"/>
          </a:xfrm>
          <a:prstGeom prst="ellipse">
            <a:avLst/>
          </a:prstGeom>
          <a:solidFill>
            <a:srgbClr val="EFEDFF"/>
          </a:solidFill>
          <a:ln>
            <a:noFill/>
          </a:ln>
          <a:effectLst/>
        </p:spPr>
        <p:txBody>
          <a:bodyPr rtlCol="0" anchor="ctr"/>
          <a:lstStyle/>
          <a:p>
            <a:pPr algn="ctr"/>
          </a:p>
        </p:txBody>
      </p:sp>
      <p:sp>
        <p:nvSpPr>
          <p:cNvPr id="25" name="TextBox 24"/>
          <p:cNvSpPr txBox="1"/>
          <p:nvPr/>
        </p:nvSpPr>
        <p:spPr>
          <a:xfrm>
            <a:off x="749808" y="5155388"/>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4</a:t>
            </a:r>
          </a:p>
        </p:txBody>
      </p:sp>
      <p:sp>
        <p:nvSpPr>
          <p:cNvPr id="26" name="TextBox 25"/>
          <p:cNvSpPr txBox="1"/>
          <p:nvPr/>
        </p:nvSpPr>
        <p:spPr>
          <a:xfrm>
            <a:off x="1408176" y="5084064"/>
            <a:ext cx="3566160" cy="548640"/>
          </a:xfrm>
          <a:prstGeom prst="rect">
            <a:avLst/>
          </a:prstGeom>
          <a:noFill/>
        </p:spPr>
        <p:txBody>
          <a:bodyPr wrap="square" lIns="0" rIns="0" tIns="0" bIns="0" anchor="t">
            <a:spAutoFit/>
          </a:bodyPr>
          <a:lstStyle/>
          <a:p>
            <a:pPr algn="l">
              <a:lnSpc>
                <a:spcPct val="110000"/>
              </a:lnSpc>
            </a:pPr>
            <a:r>
              <a:rPr sz="1250" b="1" i="0">
                <a:solidFill>
                  <a:srgbClr val="16181D"/>
                </a:solidFill>
                <a:latin typeface="Montserrat"/>
              </a:rPr>
              <a:t>Technical bench strength on request</a:t>
            </a:r>
          </a:p>
        </p:txBody>
      </p:sp>
      <p:sp>
        <p:nvSpPr>
          <p:cNvPr id="27" name="TextBox 26"/>
          <p:cNvSpPr txBox="1"/>
          <p:nvPr/>
        </p:nvSpPr>
        <p:spPr>
          <a:xfrm>
            <a:off x="5138928" y="5084064"/>
            <a:ext cx="6309360" cy="640080"/>
          </a:xfrm>
          <a:prstGeom prst="rect">
            <a:avLst/>
          </a:prstGeom>
          <a:noFill/>
        </p:spPr>
        <p:txBody>
          <a:bodyPr wrap="square" lIns="0" rIns="0" tIns="0" bIns="0" anchor="t">
            <a:spAutoFit/>
          </a:bodyPr>
          <a:lstStyle/>
          <a:p>
            <a:pPr algn="l">
              <a:lnSpc>
                <a:spcPct val="125000"/>
              </a:lnSpc>
            </a:pPr>
            <a:r>
              <a:rPr sz="1000" b="0" i="0">
                <a:solidFill>
                  <a:srgbClr val="6E7180"/>
                </a:solidFill>
                <a:latin typeface="Geist"/>
              </a:rPr>
              <a:t>Our academic and expert network stands ready for drafting, review and technical input on road design, speed and VRU standards.</a:t>
            </a:r>
          </a:p>
        </p:txBody>
      </p:sp>
      <p:cxnSp>
        <p:nvCxnSpPr>
          <p:cNvPr id="28" name="Connector 27"/>
          <p:cNvCxnSpPr/>
          <p:nvPr/>
        </p:nvCxnSpPr>
        <p:spPr>
          <a:xfrm>
            <a:off x="566928" y="6455664"/>
            <a:ext cx="11057839" cy="0"/>
          </a:xfrm>
          <a:prstGeom prst="line">
            <a:avLst/>
          </a:prstGeom>
          <a:ln w="9525">
            <a:solidFill>
              <a:srgbClr val="E8E9EE"/>
            </a:solidFill>
          </a:ln>
          <a:effectLst/>
        </p:spPr>
      </p:cxnSp>
      <p:sp>
        <p:nvSpPr>
          <p:cNvPr id="29" name="TextBox 28"/>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30" name="TextBox 29"/>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27 / 28</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4A35FF"/>
          </a:solidFill>
          <a:ln>
            <a:noFill/>
          </a:ln>
          <a:effectLst/>
        </p:spPr>
        <p:txBody>
          <a:bodyPr rtlCol="0" anchor="ctr"/>
          <a:lstStyle/>
          <a:p>
            <a:pPr algn="ctr"/>
          </a:p>
        </p:txBody>
      </p:sp>
      <p:pic>
        <p:nvPicPr>
          <p:cNvPr id="3" name="Picture 2" descr="logo_white.png"/>
          <p:cNvPicPr>
            <a:picLocks noChangeAspect="1"/>
          </p:cNvPicPr>
          <p:nvPr/>
        </p:nvPicPr>
        <p:blipFill>
          <a:blip r:embed="rId2"/>
          <a:stretch>
            <a:fillRect/>
          </a:stretch>
        </p:blipFill>
        <p:spPr>
          <a:xfrm>
            <a:off x="566928" y="566928"/>
            <a:ext cx="1828800" cy="252710"/>
          </a:xfrm>
          <a:prstGeom prst="rect">
            <a:avLst/>
          </a:prstGeom>
        </p:spPr>
      </p:pic>
      <p:sp>
        <p:nvSpPr>
          <p:cNvPr id="4" name="TextBox 3"/>
          <p:cNvSpPr txBox="1"/>
          <p:nvPr/>
        </p:nvSpPr>
        <p:spPr>
          <a:xfrm>
            <a:off x="566928" y="1920240"/>
            <a:ext cx="11064240" cy="1280160"/>
          </a:xfrm>
          <a:prstGeom prst="rect">
            <a:avLst/>
          </a:prstGeom>
          <a:noFill/>
        </p:spPr>
        <p:txBody>
          <a:bodyPr wrap="square" lIns="0" rIns="0" tIns="0" bIns="0" anchor="t">
            <a:spAutoFit/>
          </a:bodyPr>
          <a:lstStyle/>
          <a:p>
            <a:pPr algn="l">
              <a:lnSpc>
                <a:spcPct val="120000"/>
              </a:lnSpc>
            </a:pPr>
            <a:r>
              <a:rPr sz="3200" b="1" i="0">
                <a:solidFill>
                  <a:srgbClr val="FFFFFF"/>
                </a:solidFill>
                <a:latin typeface="Montserrat"/>
              </a:rPr>
              <a:t>We would be honoured to contribute</a:t>
            </a:r>
          </a:p>
          <a:p>
            <a:pPr algn="l">
              <a:lnSpc>
                <a:spcPct val="120000"/>
              </a:lnSpc>
            </a:pPr>
            <a:r>
              <a:rPr sz="3200" b="1" i="0">
                <a:solidFill>
                  <a:srgbClr val="FFFFFF"/>
                </a:solidFill>
                <a:latin typeface="Montserrat"/>
              </a:rPr>
              <a:t>to Working Group 2.</a:t>
            </a:r>
          </a:p>
        </p:txBody>
      </p:sp>
      <p:sp>
        <p:nvSpPr>
          <p:cNvPr id="5" name="TextBox 4"/>
          <p:cNvSpPr txBox="1"/>
          <p:nvPr/>
        </p:nvSpPr>
        <p:spPr>
          <a:xfrm>
            <a:off x="566928" y="3520440"/>
            <a:ext cx="10515600" cy="548640"/>
          </a:xfrm>
          <a:prstGeom prst="rect">
            <a:avLst/>
          </a:prstGeom>
          <a:noFill/>
        </p:spPr>
        <p:txBody>
          <a:bodyPr wrap="square" lIns="0" rIns="0" tIns="0" bIns="0" anchor="t">
            <a:spAutoFit/>
          </a:bodyPr>
          <a:lstStyle/>
          <a:p>
            <a:pPr algn="l">
              <a:lnSpc>
                <a:spcPct val="140000"/>
              </a:lnSpc>
            </a:pPr>
            <a:r>
              <a:rPr sz="1250" b="0" i="0">
                <a:solidFill>
                  <a:srgbClr val="C8C0FF"/>
                </a:solidFill>
                <a:latin typeface="Geist"/>
              </a:rPr>
              <a:t>Our evidence, our district relationships, our technology and our expert bench are available to the Board, in whichever form is most useful.</a:t>
            </a:r>
          </a:p>
        </p:txBody>
      </p:sp>
      <p:cxnSp>
        <p:nvCxnSpPr>
          <p:cNvPr id="6" name="Connector 5"/>
          <p:cNvCxnSpPr/>
          <p:nvPr/>
        </p:nvCxnSpPr>
        <p:spPr>
          <a:xfrm>
            <a:off x="566928" y="4315968"/>
            <a:ext cx="4754880" cy="0"/>
          </a:xfrm>
          <a:prstGeom prst="line">
            <a:avLst/>
          </a:prstGeom>
          <a:ln w="12700">
            <a:solidFill>
              <a:srgbClr val="6A55FF"/>
            </a:solidFill>
          </a:ln>
          <a:effectLst/>
        </p:spPr>
      </p:cxnSp>
      <p:sp>
        <p:nvSpPr>
          <p:cNvPr id="7" name="TextBox 6"/>
          <p:cNvSpPr txBox="1"/>
          <p:nvPr/>
        </p:nvSpPr>
        <p:spPr>
          <a:xfrm>
            <a:off x="566928" y="4517136"/>
            <a:ext cx="9875520" cy="777240"/>
          </a:xfrm>
          <a:prstGeom prst="rect">
            <a:avLst/>
          </a:prstGeom>
          <a:noFill/>
        </p:spPr>
        <p:txBody>
          <a:bodyPr wrap="square" lIns="0" rIns="0" tIns="0" bIns="0" anchor="t">
            <a:spAutoFit/>
          </a:bodyPr>
          <a:lstStyle/>
          <a:p>
            <a:pPr algn="l">
              <a:lnSpc>
                <a:spcPct val="135000"/>
              </a:lnSpc>
            </a:pPr>
            <a:r>
              <a:rPr sz="1400" b="1" i="1">
                <a:solidFill>
                  <a:srgbClr val="FFFFFF"/>
                </a:solidFill>
                <a:latin typeface="Montserrat"/>
              </a:rPr>
              <a:t>"We already know what is going wrong. What we need now is more responsibility, more discipline, more respect for life."</a:t>
            </a:r>
          </a:p>
        </p:txBody>
      </p:sp>
      <p:sp>
        <p:nvSpPr>
          <p:cNvPr id="8" name="TextBox 7"/>
          <p:cNvSpPr txBox="1"/>
          <p:nvPr/>
        </p:nvSpPr>
        <p:spPr>
          <a:xfrm>
            <a:off x="566928" y="5175504"/>
            <a:ext cx="7315200" cy="274320"/>
          </a:xfrm>
          <a:prstGeom prst="rect">
            <a:avLst/>
          </a:prstGeom>
          <a:noFill/>
        </p:spPr>
        <p:txBody>
          <a:bodyPr wrap="square" lIns="0" rIns="0" tIns="0" bIns="0" anchor="t">
            <a:spAutoFit/>
          </a:bodyPr>
          <a:lstStyle/>
          <a:p>
            <a:pPr algn="l">
              <a:lnSpc>
                <a:spcPct val="128000"/>
              </a:lnSpc>
            </a:pPr>
            <a:r>
              <a:rPr sz="1000" b="0" i="0">
                <a:solidFill>
                  <a:srgbClr val="C8C0FF"/>
                </a:solidFill>
                <a:latin typeface="Geist"/>
              </a:rPr>
              <a:t>MS Dhoni · Goodwill Ambassador, Crashfree India</a:t>
            </a:r>
          </a:p>
        </p:txBody>
      </p:sp>
      <p:pic>
        <p:nvPicPr>
          <p:cNvPr id="9" name="Picture 8" descr="globe_C8C0FF_256_2.0.png"/>
          <p:cNvPicPr>
            <a:picLocks noChangeAspect="1"/>
          </p:cNvPicPr>
          <p:nvPr/>
        </p:nvPicPr>
        <p:blipFill>
          <a:blip r:embed="rId3"/>
          <a:stretch>
            <a:fillRect/>
          </a:stretch>
        </p:blipFill>
        <p:spPr>
          <a:xfrm>
            <a:off x="566928" y="5614416"/>
            <a:ext cx="256032" cy="256032"/>
          </a:xfrm>
          <a:prstGeom prst="rect">
            <a:avLst/>
          </a:prstGeom>
        </p:spPr>
      </p:pic>
      <p:sp>
        <p:nvSpPr>
          <p:cNvPr id="10" name="TextBox 9"/>
          <p:cNvSpPr txBox="1"/>
          <p:nvPr/>
        </p:nvSpPr>
        <p:spPr>
          <a:xfrm>
            <a:off x="978408" y="5596128"/>
            <a:ext cx="10058400" cy="320040"/>
          </a:xfrm>
          <a:prstGeom prst="rect">
            <a:avLst/>
          </a:prstGeom>
          <a:noFill/>
        </p:spPr>
        <p:txBody>
          <a:bodyPr wrap="square" lIns="0" rIns="0" tIns="0" bIns="0" anchor="t">
            <a:spAutoFit/>
          </a:bodyPr>
          <a:lstStyle/>
          <a:p>
            <a:pPr algn="l">
              <a:lnSpc>
                <a:spcPct val="120000"/>
              </a:lnSpc>
            </a:pPr>
            <a:r>
              <a:rPr sz="1100" b="0" i="0">
                <a:solidFill>
                  <a:srgbClr val="FFFFFF"/>
                </a:solidFill>
                <a:latin typeface="Geist"/>
              </a:rPr>
              <a:t>crashfreeindia.org</a:t>
            </a:r>
          </a:p>
        </p:txBody>
      </p:sp>
      <p:pic>
        <p:nvPicPr>
          <p:cNvPr id="11" name="Picture 10" descr="mail_C8C0FF_256_2.0.png"/>
          <p:cNvPicPr>
            <a:picLocks noChangeAspect="1"/>
          </p:cNvPicPr>
          <p:nvPr/>
        </p:nvPicPr>
        <p:blipFill>
          <a:blip r:embed="rId4"/>
          <a:stretch>
            <a:fillRect/>
          </a:stretch>
        </p:blipFill>
        <p:spPr>
          <a:xfrm>
            <a:off x="566928" y="6035040"/>
            <a:ext cx="256032" cy="256032"/>
          </a:xfrm>
          <a:prstGeom prst="rect">
            <a:avLst/>
          </a:prstGeom>
        </p:spPr>
      </p:pic>
      <p:sp>
        <p:nvSpPr>
          <p:cNvPr id="12" name="TextBox 11"/>
          <p:cNvSpPr txBox="1"/>
          <p:nvPr/>
        </p:nvSpPr>
        <p:spPr>
          <a:xfrm>
            <a:off x="978408" y="6016752"/>
            <a:ext cx="10058400" cy="320040"/>
          </a:xfrm>
          <a:prstGeom prst="rect">
            <a:avLst/>
          </a:prstGeom>
          <a:noFill/>
        </p:spPr>
        <p:txBody>
          <a:bodyPr wrap="square" lIns="0" rIns="0" tIns="0" bIns="0" anchor="t">
            <a:spAutoFit/>
          </a:bodyPr>
          <a:lstStyle/>
          <a:p>
            <a:pPr algn="l">
              <a:lnSpc>
                <a:spcPct val="120000"/>
              </a:lnSpc>
            </a:pPr>
            <a:r>
              <a:rPr sz="1100" b="0" i="0">
                <a:solidFill>
                  <a:srgbClr val="FFFFFF"/>
                </a:solidFill>
                <a:latin typeface="Geist"/>
              </a:rPr>
              <a:t>akhtar@crashfreeindia.org  ·  helpdesk@crashfreeindia.org</a:t>
            </a:r>
          </a:p>
        </p:txBody>
      </p:sp>
      <p:sp>
        <p:nvSpPr>
          <p:cNvPr id="13" name="TextBox 12"/>
          <p:cNvSpPr txBox="1"/>
          <p:nvPr/>
        </p:nvSpPr>
        <p:spPr>
          <a:xfrm>
            <a:off x="566928" y="6446520"/>
            <a:ext cx="10972800" cy="274320"/>
          </a:xfrm>
          <a:prstGeom prst="rect">
            <a:avLst/>
          </a:prstGeom>
          <a:noFill/>
        </p:spPr>
        <p:txBody>
          <a:bodyPr wrap="square" lIns="0" rIns="0" tIns="0" bIns="0" anchor="t">
            <a:spAutoFit/>
          </a:bodyPr>
          <a:lstStyle/>
          <a:p>
            <a:pPr algn="l">
              <a:lnSpc>
                <a:spcPct val="128000"/>
              </a:lnSpc>
            </a:pPr>
            <a:r>
              <a:rPr sz="950" b="0" i="0">
                <a:solidFill>
                  <a:srgbClr val="C8C0FF"/>
                </a:solidFill>
                <a:latin typeface="Geist"/>
              </a:rPr>
              <a:t>Crashfree India · A Cars24 commitment · Operated by Vision Zero Trust, New Delhi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