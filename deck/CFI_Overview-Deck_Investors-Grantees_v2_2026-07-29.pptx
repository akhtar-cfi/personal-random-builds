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1.png"/><Relationship Id="rId4" Type="http://schemas.openxmlformats.org/officeDocument/2006/relationships/image" Target="../media/image3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12.png"/><Relationship Id="rId4" Type="http://schemas.openxmlformats.org/officeDocument/2006/relationships/image" Target="../media/image34.png"/><Relationship Id="rId5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2468880" cy="34115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897112" y="0"/>
            <a:ext cx="3294583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>
            <a:off x="11247120" y="384048"/>
            <a:ext cx="475488" cy="475488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4-Point Star 5"/>
          <p:cNvSpPr/>
          <p:nvPr/>
        </p:nvSpPr>
        <p:spPr>
          <a:xfrm>
            <a:off x="10991088" y="786384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4312" y="155448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C8C0FF"/>
                </a:solidFill>
                <a:latin typeface="Montserrat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2952" y="157276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FFFFFF"/>
                </a:solidFill>
                <a:latin typeface="Montserrat"/>
              </a:rPr>
              <a:t>THE PROBLEM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354312" y="2011680"/>
            <a:ext cx="2331720" cy="0"/>
          </a:xfrm>
          <a:prstGeom prst="line">
            <a:avLst/>
          </a:prstGeom>
          <a:ln w="9525">
            <a:solidFill>
              <a:srgbClr val="6A55FF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9354312" y="2212848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C8C0FF"/>
                </a:solidFill>
                <a:latin typeface="Montserrat"/>
              </a:rPr>
              <a:t>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2952" y="223113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FFFFFF"/>
                </a:solidFill>
                <a:latin typeface="Montserrat"/>
              </a:rPr>
              <a:t>WHO WE ARE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54312" y="2670048"/>
            <a:ext cx="2331720" cy="0"/>
          </a:xfrm>
          <a:prstGeom prst="line">
            <a:avLst/>
          </a:prstGeom>
          <a:ln w="9525">
            <a:solidFill>
              <a:srgbClr val="6A55FF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9354312" y="2871216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C8C0FF"/>
                </a:solidFill>
                <a:latin typeface="Montserrat"/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2952" y="2889504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FFFFFF"/>
                </a:solidFill>
                <a:latin typeface="Montserrat"/>
              </a:rPr>
              <a:t>WHAT WE DO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54312" y="3328416"/>
            <a:ext cx="2331720" cy="0"/>
          </a:xfrm>
          <a:prstGeom prst="line">
            <a:avLst/>
          </a:prstGeom>
          <a:ln w="9525">
            <a:solidFill>
              <a:srgbClr val="6A55FF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9354312" y="3529584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C8C0FF"/>
                </a:solidFill>
                <a:latin typeface="Montserrat"/>
              </a:rPr>
              <a:t>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2952" y="354787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FFFFFF"/>
                </a:solidFill>
                <a:latin typeface="Montserrat"/>
              </a:rPr>
              <a:t>OUR PEOPLE</a:t>
            </a:r>
          </a:p>
        </p:txBody>
      </p:sp>
      <p:pic>
        <p:nvPicPr>
          <p:cNvPr id="18" name="Picture 17" descr="dhoni_cutout_helm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666" y="4297680"/>
            <a:ext cx="1840101" cy="2560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54312" y="40416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C8C0FF"/>
                </a:solidFill>
                <a:latin typeface="Montserrat"/>
              </a:rPr>
              <a:t>MS DHONI · GOODWILL AMBASSADOR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606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CRASHFREE INDIA  ·  A CARS24 COMMITMENT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944368"/>
            <a:ext cx="795527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1A1C1C"/>
                </a:solidFill>
                <a:latin typeface="Montserrat"/>
              </a:rPr>
              <a:t>Systems work because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02736"/>
            <a:ext cx="79552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4A35FF"/>
                </a:solidFill>
                <a:latin typeface="Montserrat"/>
              </a:rPr>
              <a:t>we hold them accountable.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26280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777589"/>
                </a:solidFill>
                <a:latin typeface="Geist"/>
              </a:rPr>
              <a:t>Who we are, what we do, and what we have built — a nonprofit working for zero road deaths in India by 2040.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5989320"/>
            <a:ext cx="7589520" cy="0"/>
          </a:xfrm>
          <a:prstGeom prst="line">
            <a:avLst/>
          </a:prstGeom>
          <a:ln w="12700">
            <a:solidFill>
              <a:srgbClr val="EDEEF2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40080" y="617220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60">
                <a:solidFill>
                  <a:srgbClr val="777589"/>
                </a:solidFill>
                <a:latin typeface="Montserrat"/>
              </a:rPr>
              <a:t>Partner overview  ·  July 2026  ·  crashfreeindia.org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THE PROBLEM · WHY ROAD DEATHS PERSIST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Most road deaths in India are failures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roads and systems — not just of drivers.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0" b="1" i="0">
                <a:solidFill>
                  <a:srgbClr val="4A35FF"/>
                </a:solidFill>
                <a:latin typeface="Montserrat"/>
              </a:rPr>
              <a:t>59%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A1C1C"/>
                </a:solidFill>
                <a:latin typeface="Geist"/>
              </a:rPr>
              <a:t>of road deaths in India involve no traffic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A1C1C"/>
                </a:solidFill>
                <a:latin typeface="Geist"/>
              </a:rPr>
              <a:t>violation by the victim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56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1">
                <a:solidFill>
                  <a:srgbClr val="777589"/>
                </a:solidFill>
                <a:latin typeface="Geist"/>
              </a:rPr>
              <a:t>Ministry of Road Transport &amp; Highways data</a:t>
            </a:r>
          </a:p>
        </p:txBody>
      </p:sp>
      <p:sp>
        <p:nvSpPr>
          <p:cNvPr id="9" name="Oval 8"/>
          <p:cNvSpPr/>
          <p:nvPr/>
        </p:nvSpPr>
        <p:spPr>
          <a:xfrm>
            <a:off x="6035040" y="228600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database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4" y="2386584"/>
            <a:ext cx="256032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93408" y="2267712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Crash records went digital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256032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e-DAR and digitised FIRs make every death traceable to a place, a road design, a file.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0" y="3218688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scan-lin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3319272"/>
            <a:ext cx="256032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93408" y="320040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Vehicles became identifiable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3493008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ANPR cameras and live national vehicle APIs surface repeat offenders instantly.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0" y="4151376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chart-column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4" y="4251960"/>
            <a:ext cx="25603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93408" y="413308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A1C1C"/>
                </a:solidFill>
                <a:latin typeface="Montserrat"/>
              </a:rPr>
              <a:t>Failure became attributable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4425696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Open data ties deaths to specific junctions, specific processes, specific desks.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32120"/>
            <a:ext cx="10911535" cy="50292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1036289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India has strong road-safety laws. What has been missing is an institution that makes them work on the ground.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THE 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THE PROBLEM · THE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21000" b="1" i="0">
                <a:solidFill>
                  <a:srgbClr val="F10015"/>
                </a:solidFill>
                <a:latin typeface="Montserrat"/>
              </a:rPr>
              <a:t>485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 i="0">
                <a:solidFill>
                  <a:srgbClr val="1A1C1C"/>
                </a:solidFill>
                <a:latin typeface="Montserrat"/>
              </a:rPr>
              <a:t>people are killed on Indian roads every single 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4608" y="4343400"/>
            <a:ext cx="2468880" cy="402336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74336" y="4343400"/>
            <a:ext cx="224942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A35FF"/>
                </a:solidFill>
                <a:latin typeface="Montserrat"/>
              </a:rPr>
              <a:t>ONE DEATH EVERY 3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2367" y="5074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 i="0">
                <a:solidFill>
                  <a:srgbClr val="1A1C1C"/>
                </a:solidFill>
                <a:latin typeface="Montserrat"/>
              </a:rPr>
              <a:t>1,77,175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367" y="5532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killed in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1367" y="5074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 i="0">
                <a:solidFill>
                  <a:srgbClr val="1A1C1C"/>
                </a:solidFill>
                <a:latin typeface="Montserrat"/>
              </a:rPr>
              <a:t>66%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367" y="5532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aged 18–34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0367" y="5074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 i="0">
                <a:solidFill>
                  <a:srgbClr val="1A1C1C"/>
                </a:solidFill>
                <a:latin typeface="Montserrat"/>
              </a:rPr>
              <a:t>1% → 11%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0367" y="5532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of world's vehicles → of its road deaths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777589"/>
                </a:solidFill>
                <a:latin typeface="Geist"/>
              </a:rPr>
              <a:t>Source: MoRTH, Road Accidents in India 2024 · Crashfree India Crash Data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THE PROBLEM · THE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1920240" cy="265346"/>
          </a:xfrm>
          <a:prstGeom prst="rect">
            <a:avLst/>
          </a:prstGeom>
        </p:spPr>
      </p:pic>
      <p:sp>
        <p:nvSpPr>
          <p:cNvPr id="4" name="4-Point Star 3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40">
                <a:solidFill>
                  <a:srgbClr val="C8C0FF"/>
                </a:solidFill>
                <a:latin typeface="Montserrat"/>
              </a:rPr>
              <a:t>THE PROBLEM · THREE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Where the system fails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8C0FF"/>
                </a:solidFill>
                <a:latin typeface="Geist"/>
              </a:rPr>
              <a:t>We studied how India responds to a road death. Three gaps repeat everywhere — and no institution owns the follow-through.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3520440" cy="2606040"/>
          </a:xfrm>
          <a:prstGeom prst="roundRect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108960"/>
            <a:ext cx="502920" cy="502920"/>
          </a:xfrm>
          <a:prstGeom prst="ellipse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traffic-cone_FFFF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218688"/>
            <a:ext cx="283464" cy="2834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76732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80">
                <a:solidFill>
                  <a:srgbClr val="C8C0FF"/>
                </a:solidFill>
                <a:latin typeface="Montserrat"/>
              </a:rPr>
              <a:t>GAP 1 · DANGEROUS ROADS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Montserrat"/>
              </a:rPr>
              <a:t>Audits stop at the report.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45152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Hazards get reported and studies get filed — but no institution tracks whether a single fix is ever built.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2834640"/>
            <a:ext cx="3520440" cy="2606040"/>
          </a:xfrm>
          <a:prstGeom prst="roundRect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08576" y="3108960"/>
            <a:ext cx="502920" cy="502920"/>
          </a:xfrm>
          <a:prstGeom prst="ellipse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scale_FFFF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3218688"/>
            <a:ext cx="283464" cy="2834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08576" y="376732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80">
                <a:solidFill>
                  <a:srgbClr val="C8C0FF"/>
                </a:solidFill>
                <a:latin typeface="Montserrat"/>
              </a:rPr>
              <a:t>GAP 2 · COMPENSATION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4041648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Montserrat"/>
              </a:rPr>
              <a:t>₹80,000 Cr sits undelivered.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4645152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10.46 lakh compensation cases pending. In one Gurugram audit: 102 hit-and-run files since 2022 — only 2 settled.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2" y="2834640"/>
            <a:ext cx="3520440" cy="2606040"/>
          </a:xfrm>
          <a:prstGeom prst="roundRect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02752" y="3108960"/>
            <a:ext cx="502920" cy="502920"/>
          </a:xfrm>
          <a:prstGeom prst="ellipse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siren_FFFF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3218688"/>
            <a:ext cx="283464" cy="2834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02752" y="376732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80">
                <a:solidFill>
                  <a:srgbClr val="C8C0FF"/>
                </a:solidFill>
                <a:latin typeface="Montserrat"/>
              </a:rPr>
              <a:t>GAP 3 · ENFORCEMENT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041648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Montserrat"/>
              </a:rPr>
              <a:t>Repeat offenders go unchecked.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645152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46 crore e-challans issued, ~75% unpaid — while roadside enforcement still stops vehicles at random.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42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The distance between what is known and what gets done is the gap Crashfree India was created to close.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C8C0FF"/>
                </a:solidFill>
                <a:latin typeface="Montserrat"/>
              </a:rPr>
              <a:t>THE PROBLEM · THREE GAPS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C8C0FF"/>
                </a:solidFill>
                <a:latin typeface="Montserrat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WHO WE ARE · ABOUT CRASHFREE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A nonprofit institution working towards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zero road deaths in India by 2040.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Launched in June 2025 and funded by Cars24, we identify road-safety failures, get fixes approved by government, and track every fix to completion.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3520440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2898648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calendar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980944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291693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Founded June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355848"/>
            <a:ext cx="3118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Launched by Cars24 with the Indian Road Safety Campaign; roots in a decade of IRSC campus audit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697480"/>
            <a:ext cx="3520440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35424" y="2898648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ndian-rupe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98094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65776" y="291693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$3M over 3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3355848"/>
            <a:ext cx="3118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Cars24's committed institutional funding — programme-first: 71% of FY26-27 budget goes to programmes.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2697480"/>
            <a:ext cx="3520440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0" y="2898648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landmark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6" y="2980944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59952" y="291693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Vision Zero Trust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355848"/>
            <a:ext cx="3118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Registered public trust; trustees include Cars24 co-founder Gajendra Jangid.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61688"/>
            <a:ext cx="3520440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456285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target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645152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71600" y="4581144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One north star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020056"/>
            <a:ext cx="3118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Zero road fatalities in India by 2040 — pursued as system repair, not sensitisation.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4256" y="4361688"/>
            <a:ext cx="3520440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35424" y="456285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map-pin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645152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65776" y="4581144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18 cities and counting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5424" y="5020056"/>
            <a:ext cx="3118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Programmes live across India — Delhi NCR, Jaipur, Indore, Bengaluru, Chennai, Guwahati and more.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8432" y="4361688"/>
            <a:ext cx="3520440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600" y="456285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mic_4A35FF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1896" y="4645152"/>
            <a:ext cx="237744" cy="2377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759952" y="4581144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MS Dhoni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020056"/>
            <a:ext cx="311810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Goodwill Ambassador since April 2026 — lending India's most trusted voice to the cause.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ABOUT CRASHFREE INDIA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WHO WE ARE · 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How we work: audit, advocate,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follow through until the fix is built.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33172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624328"/>
            <a:ext cx="566928" cy="56692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search-check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752344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6112" y="3383280"/>
            <a:ext cx="1819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 spc="120">
                <a:solidFill>
                  <a:srgbClr val="4A35FF"/>
                </a:solidFill>
                <a:latin typeface="Montserrat"/>
              </a:rPr>
              <a:t>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703320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A1C1C"/>
                </a:solidFill>
                <a:latin typeface="Montserrat"/>
              </a:rPr>
              <a:t>Find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142232"/>
            <a:ext cx="181965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Field evidence to IRC / MoRTH standards — blackspots, claim files, enforcement gaps.</a:t>
            </a:r>
          </a:p>
        </p:txBody>
      </p:sp>
      <p:pic>
        <p:nvPicPr>
          <p:cNvPr id="12" name="Picture 11" descr="arrow-right_6A5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3712464"/>
            <a:ext cx="256032" cy="25603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355848" y="2331720"/>
            <a:ext cx="233172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11880" y="2624328"/>
            <a:ext cx="566928" cy="56692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megaphone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2752344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11880" y="3383280"/>
            <a:ext cx="1819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 spc="120">
                <a:solidFill>
                  <a:srgbClr val="4A35FF"/>
                </a:solidFill>
                <a:latin typeface="Montserrat"/>
              </a:rPr>
              <a:t>ADVOCATE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703320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A1C1C"/>
                </a:solidFill>
                <a:latin typeface="Montserrat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142232"/>
            <a:ext cx="181965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Findings published and presented — to district committees, state departments, MoRTH, the press.</a:t>
            </a:r>
          </a:p>
        </p:txBody>
      </p:sp>
      <p:pic>
        <p:nvPicPr>
          <p:cNvPr id="19" name="Picture 18" descr="arrow-right_6A5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76" y="3712464"/>
            <a:ext cx="256032" cy="256032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71616" y="2331720"/>
            <a:ext cx="233172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27648" y="2624328"/>
            <a:ext cx="566928" cy="56692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badge-check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2752344"/>
            <a:ext cx="310896" cy="3108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27648" y="3383280"/>
            <a:ext cx="1819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 spc="120">
                <a:solidFill>
                  <a:srgbClr val="4A35FF"/>
                </a:solidFill>
                <a:latin typeface="Montserrat"/>
              </a:rPr>
              <a:t>ACCOUNTABILITY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703320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A1C1C"/>
                </a:solidFill>
                <a:latin typeface="Montserrat"/>
              </a:rPr>
              <a:t>Unblock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4142232"/>
            <a:ext cx="181965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Every recommendation tracked in public — from approval to build, from claim to payout.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2331720"/>
            <a:ext cx="2999232" cy="301752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2578608"/>
            <a:ext cx="2450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80">
                <a:solidFill>
                  <a:srgbClr val="C8C0FF"/>
                </a:solidFill>
                <a:latin typeface="Montserrat"/>
              </a:rPr>
              <a:t>WHAT WE DELIBERATELY AVOID</a:t>
            </a:r>
          </a:p>
        </p:txBody>
      </p:sp>
      <p:sp>
        <p:nvSpPr>
          <p:cNvPr id="28" name="Oval 27"/>
          <p:cNvSpPr/>
          <p:nvPr/>
        </p:nvSpPr>
        <p:spPr>
          <a:xfrm>
            <a:off x="8823960" y="2990088"/>
            <a:ext cx="237744" cy="237744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x_FFFF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5108" y="3031236"/>
            <a:ext cx="155448" cy="1554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71432" y="2971800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Geist"/>
              </a:rPr>
              <a:t>Awareness-only campaigns</a:t>
            </a:r>
          </a:p>
        </p:txBody>
      </p:sp>
      <p:sp>
        <p:nvSpPr>
          <p:cNvPr id="31" name="Oval 30"/>
          <p:cNvSpPr/>
          <p:nvPr/>
        </p:nvSpPr>
        <p:spPr>
          <a:xfrm>
            <a:off x="8823960" y="3410712"/>
            <a:ext cx="237744" cy="237744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x_FFFF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5108" y="3451860"/>
            <a:ext cx="155448" cy="1554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71432" y="3392424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Geist"/>
              </a:rPr>
              <a:t>Event counts as impact</a:t>
            </a:r>
          </a:p>
        </p:txBody>
      </p:sp>
      <p:sp>
        <p:nvSpPr>
          <p:cNvPr id="34" name="Oval 33"/>
          <p:cNvSpPr/>
          <p:nvPr/>
        </p:nvSpPr>
        <p:spPr>
          <a:xfrm>
            <a:off x="8823960" y="3831336"/>
            <a:ext cx="237744" cy="237744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x_FFFF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5108" y="3872484"/>
            <a:ext cx="155448" cy="15544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71432" y="3813048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Geist"/>
              </a:rPr>
              <a:t>Replacing government's role</a:t>
            </a:r>
          </a:p>
        </p:txBody>
      </p:sp>
      <p:sp>
        <p:nvSpPr>
          <p:cNvPr id="37" name="Oval 36"/>
          <p:cNvSpPr/>
          <p:nvPr/>
        </p:nvSpPr>
        <p:spPr>
          <a:xfrm>
            <a:off x="8823960" y="4251960"/>
            <a:ext cx="237744" cy="237744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x_FFFF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5108" y="4293108"/>
            <a:ext cx="155448" cy="15544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171432" y="4233672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Geist"/>
              </a:rPr>
              <a:t>Reports without follow-up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823960" y="4736592"/>
            <a:ext cx="2450592" cy="0"/>
          </a:xfrm>
          <a:prstGeom prst="line">
            <a:avLst/>
          </a:prstGeom>
          <a:ln w="9525">
            <a:solidFill>
              <a:srgbClr val="6A55FF"/>
            </a:solidFill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8823960" y="4864608"/>
            <a:ext cx="2450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C8C0FF"/>
                </a:solidFill>
                <a:latin typeface="Geist"/>
              </a:rPr>
              <a:t>Every recommendation tracked to implementation.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Institutionally embedded: 4 District Road Safety Committees · MoUs with Jaipur Traffic Police &amp; Gurugram Police · formally tasked by SW Delhi DRSC.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OPERATING MODEL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WHAT WE DO · 01 ROAD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Project Rakshak — engineering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audit dangerous roads; governments fix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A national programme that mobilises trained student teams to audit high-risk locations to official standards and hand authorities ready-to-build fixes.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1755648" cy="14630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25496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4A35FF"/>
                </a:solidFill>
                <a:latin typeface="Montserrat"/>
              </a:rPr>
              <a:t>120+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17556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high-risk locations</a:t>
            </a:r>
          </a:p>
          <a:p>
            <a:pPr algn="ctr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screened nationwide</a:t>
            </a:r>
          </a:p>
        </p:txBody>
      </p:sp>
      <p:pic>
        <p:nvPicPr>
          <p:cNvPr id="10" name="Picture 9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444" y="3319272"/>
            <a:ext cx="219456" cy="2194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642616" y="2697480"/>
            <a:ext cx="1755648" cy="14630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2616" y="2825496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4A35FF"/>
                </a:solidFill>
                <a:latin typeface="Montserrat"/>
              </a:rPr>
              <a:t>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6" y="3429000"/>
            <a:ext cx="17556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sites fully audited,</a:t>
            </a:r>
          </a:p>
          <a:p>
            <a:pPr algn="ctr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incl. 11 official blackspots</a:t>
            </a:r>
          </a:p>
        </p:txBody>
      </p:sp>
      <p:pic>
        <p:nvPicPr>
          <p:cNvPr id="14" name="Picture 13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3319272"/>
            <a:ext cx="219456" cy="21945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645152" y="2697480"/>
            <a:ext cx="1755648" cy="14630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825496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4A35FF"/>
                </a:solidFill>
                <a:latin typeface="Montserrat"/>
              </a:rPr>
              <a:t>25+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429000"/>
            <a:ext cx="17556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written government</a:t>
            </a:r>
          </a:p>
          <a:p>
            <a:pPr algn="ctr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approvals secured</a:t>
            </a:r>
          </a:p>
        </p:txBody>
      </p:sp>
      <p:pic>
        <p:nvPicPr>
          <p:cNvPr id="18" name="Picture 17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516" y="3319272"/>
            <a:ext cx="219456" cy="21945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647688" y="2697480"/>
            <a:ext cx="1755648" cy="146304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825496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FFFFFF"/>
                </a:solidFill>
                <a:latin typeface="Montserrat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3429000"/>
            <a:ext cx="17556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80" b="0" i="0">
                <a:solidFill>
                  <a:srgbClr val="C8C0FF"/>
                </a:solidFill>
                <a:latin typeface="Geist"/>
              </a:rPr>
              <a:t>implementations</a:t>
            </a:r>
          </a:p>
          <a:p>
            <a:pPr algn="ctr">
              <a:lnSpc>
                <a:spcPct val="120000"/>
              </a:lnSpc>
            </a:pPr>
            <a:r>
              <a:rPr sz="880" b="0" i="0">
                <a:solidFill>
                  <a:srgbClr val="C8C0FF"/>
                </a:solidFill>
                <a:latin typeface="Geist"/>
              </a:rPr>
              <a:t>begun on the ground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43400"/>
            <a:ext cx="13716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343400"/>
            <a:ext cx="1152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C1C"/>
                </a:solidFill>
                <a:latin typeface="Montserrat"/>
              </a:rPr>
              <a:t>18 cities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76272" y="4343400"/>
            <a:ext cx="237744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4343400"/>
            <a:ext cx="21579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C1C"/>
                </a:solidFill>
                <a:latin typeface="Montserrat"/>
              </a:rPr>
              <a:t>20 institutions · 9 IITs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18304" y="4343400"/>
            <a:ext cx="2286000" cy="3840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032" y="4343400"/>
            <a:ext cx="20665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C1C"/>
                </a:solidFill>
                <a:latin typeface="Montserrat"/>
              </a:rPr>
              <a:t>900+ stakeholder surveys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937760"/>
            <a:ext cx="7772400" cy="118872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hard-hat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38928"/>
            <a:ext cx="310896" cy="3108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89888" y="5084064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Example: Tejaji Nagar Junction, Indore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5394960"/>
            <a:ext cx="685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Student-audited redesign to IRC / MoRTH standards — signals, lighting, footpaths, speed management — approved by CPWD and the Additional Collector's office. Guided by Prof. Geetam Tiwari (TRIPC, IIT Delhi).</a:t>
            </a:r>
          </a:p>
        </p:txBody>
      </p:sp>
      <p:pic>
        <p:nvPicPr>
          <p:cNvPr id="32" name="Picture 31" descr="india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2331720"/>
            <a:ext cx="2847405" cy="33832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549640" y="58521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i="1">
                <a:solidFill>
                  <a:srgbClr val="777589"/>
                </a:solidFill>
                <a:latin typeface="Geist"/>
              </a:rPr>
              <a:t>Every audit public: crashfreeindia.org/rakshak/dashboard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WHAT WE DO · PROJECT RAKSHAK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WHAT WE DO · 02 ENFORCEMENT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SATARK — an AI platform that helps traffic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police identify and stop high-risk vehicles.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Cameras read every passing number plate and check it against live national records, so officers act on evidence instead of stopping vehicles at random.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1938528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3026664"/>
            <a:ext cx="475488" cy="47548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camera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184" y="3127248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3593592"/>
            <a:ext cx="1938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ANPR camera</a:t>
            </a:r>
          </a:p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reads every plate</a:t>
            </a:r>
          </a:p>
        </p:txBody>
      </p:sp>
      <p:pic>
        <p:nvPicPr>
          <p:cNvPr id="11" name="Picture 10" descr="chevron-right_6A5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3442716"/>
            <a:ext cx="201168" cy="2011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798064" y="2880360"/>
            <a:ext cx="1938528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29584" y="3026664"/>
            <a:ext cx="475488" cy="47548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database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3127248"/>
            <a:ext cx="274320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98064" y="3593592"/>
            <a:ext cx="1938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Live vehicle record</a:t>
            </a:r>
          </a:p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via national APIs</a:t>
            </a:r>
          </a:p>
        </p:txBody>
      </p:sp>
      <p:pic>
        <p:nvPicPr>
          <p:cNvPr id="16" name="Picture 15" descr="chevron-right_6A5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3442716"/>
            <a:ext cx="201168" cy="20116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956048" y="2880360"/>
            <a:ext cx="1938528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87568" y="3026664"/>
            <a:ext cx="475488" cy="47548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list-filter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152" y="3127248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56048" y="3593592"/>
            <a:ext cx="1938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Rule engine flags</a:t>
            </a:r>
          </a:p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habitual offenders</a:t>
            </a:r>
          </a:p>
        </p:txBody>
      </p:sp>
      <p:pic>
        <p:nvPicPr>
          <p:cNvPr id="21" name="Picture 20" descr="chevron-right_6A5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3442716"/>
            <a:ext cx="201168" cy="20116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114032" y="2880360"/>
            <a:ext cx="1938528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45552" y="3026664"/>
            <a:ext cx="475488" cy="47548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tv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6136" y="3127248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14032" y="3593592"/>
            <a:ext cx="1938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Public billboard</a:t>
            </a:r>
          </a:p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names the risk</a:t>
            </a:r>
          </a:p>
        </p:txBody>
      </p:sp>
      <p:pic>
        <p:nvPicPr>
          <p:cNvPr id="26" name="Picture 25" descr="chevron-right_6A5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2" y="3442716"/>
            <a:ext cx="201168" cy="20116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9272016" y="2880360"/>
            <a:ext cx="1938528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03536" y="3026664"/>
            <a:ext cx="475488" cy="47548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shield-check_4A35FF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4120" y="3127248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72016" y="3593592"/>
            <a:ext cx="1938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Officer app routes</a:t>
            </a:r>
          </a:p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the interception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5262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4A35FF"/>
                </a:solidFill>
                <a:latin typeface="Montserrat"/>
              </a:rPr>
              <a:t>3,00,000+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98348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vehicles scanned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1568" y="45262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4A35FF"/>
                </a:solidFill>
                <a:latin typeface="Montserrat"/>
              </a:rPr>
              <a:t>₹30 Cr+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1568" y="498348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pending challans surfaced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63056" y="45262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4A35FF"/>
                </a:solidFill>
                <a:latin typeface="Montserrat"/>
              </a:rPr>
              <a:t>350+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3056" y="498348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high-risk vehicles intercepted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4544" y="45262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4A35FF"/>
                </a:solidFill>
                <a:latin typeface="Montserrat"/>
              </a:rPr>
              <a:t>2 cities 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24544" y="498348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Jaipur &amp; Bengaluru · 5 police approvals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486400"/>
            <a:ext cx="10911535" cy="5486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48640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4A35FF"/>
                </a:solidFill>
                <a:latin typeface="Montserrat"/>
              </a:rPr>
              <a:t>First 72 hours in Jaipur: 1,240 vehicles flagged, 58 intercepted.  ·  100 AI challan billboards already live in Gurugram; 12+ cities in discussion.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WHAT WE DO · SATARK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WHAT WE DO · 03 VICTIM SUPPORT &amp; COMPENSATION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Helping crash victims and families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the compensation the law promises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21208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80">
                <a:solidFill>
                  <a:srgbClr val="777589"/>
                </a:solidFill>
                <a:latin typeface="Montserrat"/>
              </a:rPr>
              <a:t>THE GAP WE DOCUMENTED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 i="0">
                <a:solidFill>
                  <a:srgbClr val="1A1C1C"/>
                </a:solidFill>
                <a:latin typeface="Montserrat"/>
              </a:rPr>
              <a:t>10.46 lakh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962656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 i="0">
                <a:solidFill>
                  <a:srgbClr val="777589"/>
                </a:solidFill>
                <a:latin typeface="Geist"/>
              </a:rPr>
              <a:t>compensation cases pending nationwide — ₹80,000 Cr stuck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02736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 i="0">
                <a:solidFill>
                  <a:srgbClr val="1A1C1C"/>
                </a:solidFill>
                <a:latin typeface="Montserrat"/>
              </a:rPr>
              <a:t>205 vs ~25,000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621024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 i="0">
                <a:solidFill>
                  <a:srgbClr val="777589"/>
                </a:solidFill>
                <a:latin typeface="Geist"/>
              </a:rPr>
              <a:t>hit-and-run claims actually filed vs. eligible crashes (FY22-23)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61104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 i="0">
                <a:solidFill>
                  <a:srgbClr val="1A1C1C"/>
                </a:solidFill>
                <a:latin typeface="Montserrat"/>
              </a:rPr>
              <a:t>3.6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27939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 i="0">
                <a:solidFill>
                  <a:srgbClr val="777589"/>
                </a:solidFill>
                <a:latin typeface="Geist"/>
              </a:rPr>
              <a:t>average wait for a claim — with 20–40 office visits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19472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 i="0">
                <a:solidFill>
                  <a:srgbClr val="1A1C1C"/>
                </a:solidFill>
                <a:latin typeface="Montserrat"/>
              </a:rPr>
              <a:t>2 of 102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93776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 i="0">
                <a:solidFill>
                  <a:srgbClr val="777589"/>
                </a:solidFill>
                <a:latin typeface="Geist"/>
              </a:rPr>
              <a:t>hit-and-run files settled since 2022 in our Gurugram audit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377440"/>
            <a:ext cx="5468112" cy="324612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578608"/>
            <a:ext cx="4919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80">
                <a:solidFill>
                  <a:srgbClr val="C8C0FF"/>
                </a:solidFill>
                <a:latin typeface="Montserrat"/>
              </a:rPr>
              <a:t>THE MACHINERY WE BUILT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2944368"/>
            <a:ext cx="310896" cy="310896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bot_FFFF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516" y="3003804"/>
            <a:ext cx="192024" cy="1920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93992" y="2935224"/>
            <a:ext cx="45079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FFFFFF"/>
                </a:solidFill>
                <a:latin typeface="Geist"/>
              </a:rPr>
              <a:t>Aasha — India's first 24/7 multilingual AI chatbot guiding victims step-by-step, on WhatsApp and voice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3465575"/>
            <a:ext cx="310896" cy="310896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calculator_FFFF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16" y="3525011"/>
            <a:ext cx="192024" cy="19202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93992" y="3456431"/>
            <a:ext cx="45079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FFFFFF"/>
                </a:solidFill>
                <a:latin typeface="Geist"/>
              </a:rPr>
              <a:t>Free Compensation Calculator based on Supreme Court principles (Sarla Verma, Pranay Sethi)</a:t>
            </a:r>
          </a:p>
        </p:txBody>
      </p:sp>
      <p:sp>
        <p:nvSpPr>
          <p:cNvPr id="24" name="Oval 23"/>
          <p:cNvSpPr/>
          <p:nvPr/>
        </p:nvSpPr>
        <p:spPr>
          <a:xfrm>
            <a:off x="6355080" y="3986782"/>
            <a:ext cx="310896" cy="310896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hand-helping_FFFF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516" y="4046218"/>
            <a:ext cx="192024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93992" y="3977638"/>
            <a:ext cx="45079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FFFFFF"/>
                </a:solidFill>
                <a:latin typeface="Geist"/>
              </a:rPr>
              <a:t>Legal helpdesks inside hospital trauma wards — 100+ victims supported in the first 4 days</a:t>
            </a:r>
          </a:p>
        </p:txBody>
      </p:sp>
      <p:sp>
        <p:nvSpPr>
          <p:cNvPr id="27" name="Oval 26"/>
          <p:cNvSpPr/>
          <p:nvPr/>
        </p:nvSpPr>
        <p:spPr>
          <a:xfrm>
            <a:off x="6355080" y="4507989"/>
            <a:ext cx="310896" cy="310896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book-open_FFFF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516" y="4567425"/>
            <a:ext cx="192024" cy="19202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793992" y="4498845"/>
            <a:ext cx="45079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FFFFFF"/>
                </a:solidFill>
                <a:latin typeface="Geist"/>
              </a:rPr>
              <a:t>Plain-language comic books and Hindi guides explaining rights, schemes and the claim process</a:t>
            </a:r>
          </a:p>
        </p:txBody>
      </p:sp>
      <p:sp>
        <p:nvSpPr>
          <p:cNvPr id="30" name="Oval 29"/>
          <p:cNvSpPr/>
          <p:nvPr/>
        </p:nvSpPr>
        <p:spPr>
          <a:xfrm>
            <a:off x="6355080" y="5029196"/>
            <a:ext cx="310896" cy="310896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landmark_FFFF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4516" y="5088632"/>
            <a:ext cx="192024" cy="19202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793992" y="5020052"/>
            <a:ext cx="45079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80" b="0" i="0">
                <a:solidFill>
                  <a:srgbClr val="FFFFFF"/>
                </a:solidFill>
                <a:latin typeface="Geist"/>
              </a:rPr>
              <a:t>‘Justice Unserved’ research presented to MoRTH; claim pipeline being rebuilt with Rajasthan Transport Dept.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777589"/>
                </a:solidFill>
                <a:latin typeface="Geist"/>
              </a:rPr>
              <a:t>‘Justice Unserved’ (launched at IIT Delhi, 2026) is now the reference dataset on why crash compensation fails in India.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WHAT WE DO · VICTIM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WHAT WE DO · 04 OPEN DATA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Public data tools we built so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road-safety problems cannot be ignored.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Four self-updating platforms — free for government, researchers, journalists and citizens.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53492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2898648"/>
            <a:ext cx="420624" cy="420624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map-pinned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2985516"/>
            <a:ext cx="246888" cy="246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08176" y="291693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National Road Defect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324612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AI reads local news in 13 languages across 146 districts — potholes, missing signage, unlit stretches — mapped publicly so authorities can 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2697480"/>
            <a:ext cx="53492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91656" y="2898648"/>
            <a:ext cx="420624" cy="420624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landmark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524" y="2985516"/>
            <a:ext cx="246888" cy="2468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58584" y="291693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Road Safety in Parliament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8584" y="324612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Every parliamentary road-safety question since 2014 — 1,423 of them — searchable by MP and state. 282 sitting Lok Sabha MPs have never asked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97680"/>
            <a:ext cx="53492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248" y="4498848"/>
            <a:ext cx="420624" cy="420624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scale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4585716"/>
            <a:ext cx="246888" cy="2468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08176" y="451713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Supreme Court Litigation Tracker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484632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18 live road-safety cases and 190+ orders, with each government deadline tracked — 11 were already overdue at launch.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4297680"/>
            <a:ext cx="53492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91656" y="4498848"/>
            <a:ext cx="420624" cy="420624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chart-column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524" y="4585716"/>
            <a:ext cx="246888" cy="2468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58584" y="451713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National Crash Data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8584" y="484632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Government crash statistics (2019–2024) turned into report cards for 36 states and 50 cities — free and openly licensed.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6811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60">
                <a:solidFill>
                  <a:srgbClr val="777589"/>
                </a:solidFill>
                <a:latin typeface="Montserrat"/>
              </a:rPr>
              <a:t>‘JUSTICE UNSERVED’, IN PRINT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760720"/>
            <a:ext cx="1324965" cy="34747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760720"/>
            <a:ext cx="110550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4A35FF"/>
                </a:solidFill>
                <a:latin typeface="Montserrat"/>
              </a:rPr>
              <a:t>Deccan Herald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93061" y="5760720"/>
            <a:ext cx="1410004" cy="34747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02789" y="5760720"/>
            <a:ext cx="11905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4A35FF"/>
                </a:solidFill>
                <a:latin typeface="Montserrat"/>
              </a:rPr>
              <a:t>Economic Times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31081" y="5760720"/>
            <a:ext cx="1324965" cy="34747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0809" y="5760720"/>
            <a:ext cx="110550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4A35FF"/>
                </a:solidFill>
                <a:latin typeface="Montserrat"/>
              </a:rPr>
              <a:t>Fortune India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84062" y="5760720"/>
            <a:ext cx="1069848" cy="34747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93790" y="5760720"/>
            <a:ext cx="8503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4A35FF"/>
                </a:solidFill>
                <a:latin typeface="Montserrat"/>
              </a:rPr>
              <a:t>IndiaSpend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81926" y="5760720"/>
            <a:ext cx="1239926" cy="34747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91654" y="5760720"/>
            <a:ext cx="102047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4A35FF"/>
                </a:solidFill>
                <a:latin typeface="Montserrat"/>
              </a:rPr>
              <a:t>Moneycontrol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49868" y="5760720"/>
            <a:ext cx="984808" cy="34747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59596" y="5760720"/>
            <a:ext cx="76535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4A35FF"/>
                </a:solidFill>
                <a:latin typeface="Montserrat"/>
              </a:rPr>
              <a:t>Scroll.in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62692" y="5760720"/>
            <a:ext cx="899769" cy="34747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72420" y="5760720"/>
            <a:ext cx="68031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4A35FF"/>
                </a:solidFill>
                <a:latin typeface="Montserrat"/>
              </a:rPr>
              <a:t>The Wire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WHAT WE DO · OPEN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IMPACT · OUR FIRST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Year one: measurable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across 18 Indian cities.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39572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1M+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852928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citizens reached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36392" y="2286000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39572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852928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cities active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32704" y="2286000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3872" y="239572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25+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3872" y="2852928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govt approvals won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01568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511296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968496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implementations begun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36392" y="3401568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3511296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968496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district committees joined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32704" y="3401568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33872" y="3511296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3872" y="3968496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cities enforcing with SATARK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17136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626864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150+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084064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members &amp; interns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36392" y="4517136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4626864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50+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5084064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experts engaged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32704" y="4517136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33872" y="4626864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10+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3872" y="5084064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national media features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2286000"/>
            <a:ext cx="3182112" cy="361188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22792" y="248716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80">
                <a:solidFill>
                  <a:srgbClr val="C8C0FF"/>
                </a:solidFill>
                <a:latin typeface="Montserrat"/>
              </a:rPr>
              <a:t>THE FIRST 400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2792" y="287121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C8C0FF"/>
                </a:solidFill>
                <a:latin typeface="Montserrat"/>
              </a:rPr>
              <a:t>Jun 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2871216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FFFFFF"/>
                </a:solidFill>
                <a:latin typeface="Geist"/>
              </a:rPr>
              <a:t>Launched as a Cars24 commitment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2792" y="337413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C8C0FF"/>
                </a:solidFill>
                <a:latin typeface="Montserrat"/>
              </a:rPr>
              <a:t>Sep 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374136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FFFFFF"/>
                </a:solidFill>
                <a:latin typeface="Geist"/>
              </a:rPr>
              <a:t>NextMile finale · first AI billboard live in Bengaluru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22792" y="387705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C8C0FF"/>
                </a:solidFill>
                <a:latin typeface="Montserrat"/>
              </a:rPr>
              <a:t>Jan 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3877056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FFFFFF"/>
                </a:solidFill>
                <a:latin typeface="Geist"/>
              </a:rPr>
              <a:t>‘Justice Unserved’ published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22792" y="437997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C8C0FF"/>
                </a:solidFill>
                <a:latin typeface="Montserrat"/>
              </a:rPr>
              <a:t>Apr 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4379976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FFFFFF"/>
                </a:solidFill>
                <a:latin typeface="Geist"/>
              </a:rPr>
              <a:t>IIT Delhi national forum · Dhoni joins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22792" y="488289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C8C0FF"/>
                </a:solidFill>
                <a:latin typeface="Montserrat"/>
              </a:rPr>
              <a:t>Jun 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4882896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FFFFFF"/>
                </a:solidFill>
                <a:latin typeface="Geist"/>
              </a:rPr>
              <a:t>SATARK live with Jaipur Police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22792" y="538581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C8C0FF"/>
                </a:solidFill>
                <a:latin typeface="Montserrat"/>
              </a:rPr>
              <a:t>Jul 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5385816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FFFFFF"/>
                </a:solidFill>
                <a:latin typeface="Geist"/>
              </a:rPr>
              <a:t>Rakshak Cohort 2 · 4 open-data products shipped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760720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777589"/>
                </a:solidFill>
                <a:latin typeface="Geist"/>
              </a:rPr>
              <a:t>Every figure above is from our public dashboard and quarterly updates — audited numbers, not estimates.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IMPACT · OUR FIRST YEAR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1920240" cy="265346"/>
          </a:xfrm>
          <a:prstGeom prst="rect">
            <a:avLst/>
          </a:prstGeom>
        </p:spPr>
      </p:pic>
      <p:sp>
        <p:nvSpPr>
          <p:cNvPr id="4" name="4-Point Star 3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40">
                <a:solidFill>
                  <a:srgbClr val="C8C0FF"/>
                </a:solidFill>
                <a:latin typeface="Montserrat"/>
              </a:rPr>
              <a:t>OUR AMBASSADOR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FFFFFF"/>
                </a:solidFill>
                <a:latin typeface="Montserrat"/>
              </a:rPr>
              <a:t>MS Dhoni is Crashfree India's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C8C0FF"/>
                </a:solidFill>
                <a:latin typeface="Montserrat"/>
              </a:rPr>
              <a:t>Goodwill Ambassador.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Geist"/>
              </a:rPr>
              <a:t>One of India's most trusted public figures joined us in April 2026, unveiled at our national forum at IIT Delhi. His role — lending his voice where it moves people to act:</a:t>
            </a:r>
          </a:p>
        </p:txBody>
      </p:sp>
      <p:pic>
        <p:nvPicPr>
          <p:cNvPr id="10" name="Picture 9" descr="check_C8C0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005071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3977639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8C0FF"/>
                </a:solidFill>
                <a:latin typeface="Geist"/>
              </a:rPr>
              <a:t>Inviting India's students to join Project Rakshak road audits</a:t>
            </a:r>
          </a:p>
        </p:txBody>
      </p:sp>
      <p:pic>
        <p:nvPicPr>
          <p:cNvPr id="12" name="Picture 11" descr="check_C8C0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389119"/>
            <a:ext cx="182880" cy="18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4361687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8C0FF"/>
                </a:solidFill>
                <a:latin typeface="Geist"/>
              </a:rPr>
              <a:t>Championing safer school zones</a:t>
            </a:r>
          </a:p>
        </p:txBody>
      </p:sp>
      <p:pic>
        <p:nvPicPr>
          <p:cNvPr id="14" name="Picture 13" descr="check_C8C0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773167"/>
            <a:ext cx="182880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0120" y="4745735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8C0FF"/>
                </a:solidFill>
                <a:latin typeface="Geist"/>
              </a:rPr>
              <a:t>Spreading awareness of victims' compensation rights and Aasha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4068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1">
                <a:solidFill>
                  <a:srgbClr val="FFFFFF"/>
                </a:solidFill>
                <a:latin typeface="Montserrat"/>
              </a:rPr>
              <a:t>“Because every ride deserves to end safely.”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Announcement covered by Business Standard · The Tribune · The Wire</a:t>
            </a:r>
          </a:p>
        </p:txBody>
      </p:sp>
      <p:pic>
        <p:nvPicPr>
          <p:cNvPr id="18" name="Picture 17" descr="dhoni_cutou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1478" y="1234440"/>
            <a:ext cx="2837394" cy="4663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38160" y="594360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i="1">
                <a:solidFill>
                  <a:srgbClr val="C8C0FF"/>
                </a:solidFill>
                <a:latin typeface="Geist"/>
              </a:rPr>
              <a:t>CFI shoot · June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C8C0FF"/>
                </a:solidFill>
                <a:latin typeface="Montserrat"/>
              </a:rPr>
              <a:t>OUR AMBASSADOR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C8C0FF"/>
                </a:solidFill>
                <a:latin typeface="Montserrat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OUR PEOPLE · BOARD OF ADVISORS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Guided by two of India's foremost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road-safety experts.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49240" cy="21214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496312"/>
            <a:ext cx="731520" cy="731520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9631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 i="0">
                <a:solidFill>
                  <a:srgbClr val="FFFFFF"/>
                </a:solidFill>
                <a:latin typeface="Montserrat"/>
              </a:rPr>
              <a:t>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478024"/>
            <a:ext cx="3977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C1C"/>
                </a:solidFill>
                <a:latin typeface="Montserrat"/>
              </a:rPr>
              <a:t>Piyush Tewari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825496"/>
            <a:ext cx="3977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4A35FF"/>
                </a:solidFill>
                <a:latin typeface="Montserrat"/>
              </a:rPr>
              <a:t>Founder &amp; CEO, SaveLIFE Foundation</a:t>
            </a:r>
          </a:p>
        </p:txBody>
      </p:sp>
      <p:sp>
        <p:nvSpPr>
          <p:cNvPr id="11" name="Oval 10"/>
          <p:cNvSpPr/>
          <p:nvPr/>
        </p:nvSpPr>
        <p:spPr>
          <a:xfrm>
            <a:off x="1801368" y="3255264"/>
            <a:ext cx="73152" cy="73152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3191256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Architect of India's Good Samaritan Law (Supreme Court, 2016)</a:t>
            </a:r>
          </a:p>
        </p:txBody>
      </p:sp>
      <p:sp>
        <p:nvSpPr>
          <p:cNvPr id="13" name="Oval 12"/>
          <p:cNvSpPr/>
          <p:nvPr/>
        </p:nvSpPr>
        <p:spPr>
          <a:xfrm>
            <a:off x="1801368" y="3639312"/>
            <a:ext cx="73152" cy="73152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3575304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Built the Zero Fatality Corridor model — ~40% fewer deaths on Mumbai–Pune Expressway; now scaling with MoRTH</a:t>
            </a:r>
          </a:p>
        </p:txBody>
      </p:sp>
      <p:sp>
        <p:nvSpPr>
          <p:cNvPr id="15" name="Oval 14"/>
          <p:cNvSpPr/>
          <p:nvPr/>
        </p:nvSpPr>
        <p:spPr>
          <a:xfrm>
            <a:off x="1801368" y="4023360"/>
            <a:ext cx="73152" cy="73152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3959352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Rolex Award for Enterprise · Elevate Prize · MPA, Harvard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240280"/>
            <a:ext cx="5349240" cy="21214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20" y="2496312"/>
            <a:ext cx="731520" cy="731520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496312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 i="0">
                <a:solidFill>
                  <a:srgbClr val="FFFFFF"/>
                </a:solidFill>
                <a:latin typeface="Montserrat"/>
              </a:rPr>
              <a:t>GT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478024"/>
            <a:ext cx="3977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C1C"/>
                </a:solidFill>
                <a:latin typeface="Montserrat"/>
              </a:rPr>
              <a:t>Prof. (Dr.) Geetam Tiwari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2825496"/>
            <a:ext cx="3977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4A35FF"/>
                </a:solidFill>
                <a:latin typeface="Montserrat"/>
              </a:rPr>
              <a:t>Professor Emerita, TRIPC, IIT Delhi</a:t>
            </a:r>
          </a:p>
        </p:txBody>
      </p:sp>
      <p:sp>
        <p:nvSpPr>
          <p:cNvPr id="22" name="Oval 21"/>
          <p:cNvSpPr/>
          <p:nvPr/>
        </p:nvSpPr>
        <p:spPr>
          <a:xfrm>
            <a:off x="7351776" y="3255264"/>
            <a:ext cx="73152" cy="73152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62088" y="3191256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Three decades leading India's foremost road-safety research centre — a WHO Collaborating Centre</a:t>
            </a:r>
          </a:p>
        </p:txBody>
      </p:sp>
      <p:sp>
        <p:nvSpPr>
          <p:cNvPr id="24" name="Oval 23"/>
          <p:cNvSpPr/>
          <p:nvPr/>
        </p:nvSpPr>
        <p:spPr>
          <a:xfrm>
            <a:off x="7351776" y="3639312"/>
            <a:ext cx="73152" cy="73152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62088" y="3575304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Global authority on vulnerable road users &amp; safe-system design · PhD, University of Illinois Chicago</a:t>
            </a:r>
          </a:p>
        </p:txBody>
      </p:sp>
      <p:sp>
        <p:nvSpPr>
          <p:cNvPr id="26" name="Oval 25"/>
          <p:cNvSpPr/>
          <p:nvPr/>
        </p:nvSpPr>
        <p:spPr>
          <a:xfrm>
            <a:off x="7351776" y="4023360"/>
            <a:ext cx="73152" cy="73152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62088" y="3959352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Guides Project Rakshak's audit methodology; anchors our Expert Consortium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537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80">
                <a:solidFill>
                  <a:srgbClr val="777589"/>
                </a:solidFill>
                <a:latin typeface="Montserrat"/>
              </a:rPr>
              <a:t>THE EXPERT BENCH BEHIND OUR AUDITS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828032"/>
            <a:ext cx="3520440" cy="43891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86918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1" i="0">
                <a:solidFill>
                  <a:srgbClr val="1A1C1C"/>
                </a:solidFill>
                <a:latin typeface="Montserrat"/>
              </a:rPr>
              <a:t>Justice J. R. Midha (Retd.)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070348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Delhi High Court · FastDAR architect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4256" y="4828032"/>
            <a:ext cx="3520440" cy="43891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486918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1" i="0">
                <a:solidFill>
                  <a:srgbClr val="1A1C1C"/>
                </a:solidFill>
                <a:latin typeface="Montserrat"/>
              </a:rPr>
              <a:t>Dr. S. Velmurugan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5070348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Head, Traffic Engg. &amp; Safety, CSIR-CRRI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8432" y="4828032"/>
            <a:ext cx="3520440" cy="43891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93024" y="4869180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1" i="0">
                <a:solidFill>
                  <a:srgbClr val="1A1C1C"/>
                </a:solidFill>
                <a:latin typeface="Montserrat"/>
              </a:rPr>
              <a:t>Dr. Richa Ahuja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3024" y="5070348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IIT Kharagpur · Rakshak advisor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340096"/>
            <a:ext cx="3520440" cy="43891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381244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1" i="0">
                <a:solidFill>
                  <a:srgbClr val="1A1C1C"/>
                </a:solidFill>
                <a:latin typeface="Montserrat"/>
              </a:rPr>
              <a:t>Akhilesh Srivastava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5582412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IRF India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34256" y="5340096"/>
            <a:ext cx="3520440" cy="43891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98848" y="5381244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1" i="0">
                <a:solidFill>
                  <a:srgbClr val="1A1C1C"/>
                </a:solidFill>
                <a:latin typeface="Montserrat"/>
              </a:rPr>
              <a:t>Col. Sanjeev Sharma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98848" y="5582412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CoERS, IIT Madras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28432" y="5340096"/>
            <a:ext cx="3520440" cy="43891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93024" y="5381244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1" i="0">
                <a:solidFill>
                  <a:srgbClr val="1A1C1C"/>
                </a:solidFill>
                <a:latin typeface="Montserrat"/>
              </a:rPr>
              <a:t>Sarika Panda Bhatt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5582412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Raahgiri Foundation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852160"/>
            <a:ext cx="3520440" cy="43891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589330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1" i="0">
                <a:solidFill>
                  <a:srgbClr val="1A1C1C"/>
                </a:solidFill>
                <a:latin typeface="Montserrat"/>
              </a:rPr>
              <a:t>B. N. Puri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" y="6094476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Transport economist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34256" y="5852160"/>
            <a:ext cx="3520440" cy="43891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98848" y="589330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1" i="0">
                <a:solidFill>
                  <a:srgbClr val="1A1C1C"/>
                </a:solidFill>
                <a:latin typeface="Montserrat"/>
              </a:rPr>
              <a:t>Dr. P. K. Sikdar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8848" y="6094476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Ex-Director, CRRI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28432" y="5852160"/>
            <a:ext cx="3520440" cy="43891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93024" y="589330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1" i="0">
                <a:solidFill>
                  <a:srgbClr val="1A1C1C"/>
                </a:solidFill>
                <a:latin typeface="Montserrat"/>
              </a:rPr>
              <a:t>A. M. Rao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6094476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Traffic engineering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BOARD OF ADVISORS &amp; EXPERTS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OUR PEOPLE ·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A full-time team of eight, three trustees,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and 75+ engineering interns nationwide.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1284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60">
                <a:solidFill>
                  <a:srgbClr val="777589"/>
                </a:solidFill>
                <a:latin typeface="Montserrat"/>
              </a:rPr>
              <a:t>TRUSTEES · VISION ZERO 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3520440" cy="11704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697480"/>
            <a:ext cx="548640" cy="548640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7004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Amar Srivastava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4436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President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64408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Founder, Indian Road Safety Council — 50,000+ volunteers · Diana Award 2019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2514600"/>
            <a:ext cx="3520440" cy="11704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17136" y="2697480"/>
            <a:ext cx="548640" cy="548640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697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DG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2936" y="267004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Deepanshu Gupta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6" y="294436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Managing Trustee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3264408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Founder, IRSC · Global Youth Coalition for Road Safety leadership 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2" y="2514600"/>
            <a:ext cx="3520440" cy="11704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11312" y="2697480"/>
            <a:ext cx="548640" cy="548640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2697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GJ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2" y="267004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Gajendra Jangid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2" y="294436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General Secretary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3264408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Co-founder, Cars24 · ex-Schlumberger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91363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60">
                <a:solidFill>
                  <a:srgbClr val="777589"/>
                </a:solidFill>
                <a:latin typeface="Montserrat"/>
              </a:rPr>
              <a:t>FULL-TIME TEAM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206240"/>
            <a:ext cx="26334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8096" y="433425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33425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AH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4297680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Akhtar Hussain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4535424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4A35FF"/>
                </a:solidFill>
                <a:latin typeface="Geist"/>
              </a:rPr>
              <a:t>Mission Lead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1872" y="473659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777589"/>
                </a:solidFill>
                <a:latin typeface="Geist"/>
              </a:rPr>
              <a:t>IIT Delhi · ex-Bain &amp; Co., Deloitte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01568" y="4206240"/>
            <a:ext cx="26334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29584" y="433425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9584" y="433425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4297680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Shubham Kumar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4535424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4A35FF"/>
                </a:solidFill>
                <a:latin typeface="Geist"/>
              </a:rPr>
              <a:t>Policy Advocacy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473659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777589"/>
                </a:solidFill>
                <a:latin typeface="Geist"/>
              </a:rPr>
              <a:t>DU + NALSAR · byline: Scroll.in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6" y="4206240"/>
            <a:ext cx="26334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91072" y="433425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433425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MY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4848" y="4297680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Muskan Yadav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4848" y="4535424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4A35FF"/>
                </a:solidFill>
                <a:latin typeface="Geist"/>
              </a:rPr>
              <a:t>Programs · Infrastructure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4848" y="473659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777589"/>
                </a:solidFill>
                <a:latin typeface="Geist"/>
              </a:rPr>
              <a:t>TISS Mumbai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24544" y="4206240"/>
            <a:ext cx="26334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052560" y="433425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433425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46336" y="4297680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Aastha Shreeharsh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4535424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4A35FF"/>
                </a:solidFill>
                <a:latin typeface="Geist"/>
              </a:rPr>
              <a:t>Strategy &amp; Operations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46336" y="473659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777589"/>
                </a:solidFill>
                <a:latin typeface="Geist"/>
              </a:rPr>
              <a:t>HKUST · quoted in The Wire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5175504"/>
            <a:ext cx="26334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68096" y="530352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53035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61872" y="5266944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Rohan Sharma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61872" y="5504688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4A35FF"/>
                </a:solidFill>
                <a:latin typeface="Geist"/>
              </a:rPr>
              <a:t>Cause Marketing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61872" y="5705856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777589"/>
                </a:solidFill>
                <a:latin typeface="Geist"/>
              </a:rPr>
              <a:t/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01568" y="5175504"/>
            <a:ext cx="26334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529584" y="530352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29584" y="53035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IR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23360" y="5266944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Ishita Rathore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23360" y="5504688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4A35FF"/>
                </a:solidFill>
                <a:latin typeface="Geist"/>
              </a:rPr>
              <a:t>People &amp; Culture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23360" y="5705856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777589"/>
                </a:solidFill>
                <a:latin typeface="Geist"/>
              </a:rPr>
              <a:t/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63056" y="5175504"/>
            <a:ext cx="26334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91072" y="530352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91072" y="53035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YY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84848" y="5266944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Yuvraj Yadav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84848" y="5504688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4A35FF"/>
                </a:solidFill>
                <a:latin typeface="Geist"/>
              </a:rPr>
              <a:t>Product Design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84848" y="5705856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777589"/>
                </a:solidFill>
                <a:latin typeface="Geist"/>
              </a:rPr>
              <a:t/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24544" y="5175504"/>
            <a:ext cx="2633472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052560" y="530352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52560" y="53035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SK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46336" y="5266944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Shipra Kushwaha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46336" y="5504688"/>
            <a:ext cx="1901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4A35FF"/>
                </a:solidFill>
                <a:latin typeface="Geist"/>
              </a:rPr>
              <a:t>Graphic Design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46336" y="5705856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777589"/>
                </a:solidFill>
                <a:latin typeface="Geist"/>
              </a:rPr>
              <a:t/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6108192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1">
                <a:solidFill>
                  <a:srgbClr val="777589"/>
                </a:solidFill>
                <a:latin typeface="Geist"/>
              </a:rPr>
              <a:t>+ 75+ part-time road-engineering interns across India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THE TEAM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920240" cy="265346"/>
          </a:xfrm>
          <a:prstGeom prst="rect">
            <a:avLst/>
          </a:prstGeom>
        </p:spPr>
      </p:pic>
      <p:sp>
        <p:nvSpPr>
          <p:cNvPr id="4" name="4-Point Star 3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40">
                <a:solidFill>
                  <a:srgbClr val="C8C0FF"/>
                </a:solidFill>
                <a:latin typeface="Montserrat"/>
              </a:rPr>
              <a:t>THE YEAR AHEAD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881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Year two: fewer bets, deeper districts,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and more fixes built on the ground.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8C0FF"/>
                </a:solidFill>
                <a:latin typeface="Montserrat"/>
              </a:rPr>
              <a:t>Every three minutes, a life is lost on an Indian road. Join us in changing that.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206240"/>
            <a:ext cx="10881360" cy="0"/>
          </a:xfrm>
          <a:prstGeom prst="line">
            <a:avLst/>
          </a:prstGeom>
          <a:ln w="9525">
            <a:solidFill>
              <a:srgbClr val="6A55FF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640080" y="44074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80">
                <a:solidFill>
                  <a:srgbClr val="C8C0FF"/>
                </a:solidFill>
                <a:latin typeface="Montserrat"/>
              </a:rPr>
              <a:t>YEAR TWO, WITH YOU — THE TARGETS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800600"/>
            <a:ext cx="128016" cy="128016"/>
          </a:xfrm>
          <a:prstGeom prst="ellipse">
            <a:avLst/>
          </a:prstGeom>
          <a:solidFill>
            <a:srgbClr val="C8C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548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150+ blackspots audited by the national pipeline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166360"/>
            <a:ext cx="128016" cy="128016"/>
          </a:xfrm>
          <a:prstGeom prst="ellipse">
            <a:avLst/>
          </a:prstGeom>
          <a:solidFill>
            <a:srgbClr val="C8C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1206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Model districts: Gurugram · SW Delhi · Jaipur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532120"/>
            <a:ext cx="128016" cy="128016"/>
          </a:xfrm>
          <a:prstGeom prst="ellipse">
            <a:avLst/>
          </a:prstGeom>
          <a:solidFill>
            <a:srgbClr val="C8C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4864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12+ district-committee presentations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5897880"/>
            <a:ext cx="128016" cy="128016"/>
          </a:xfrm>
          <a:prstGeom prst="ellipse">
            <a:avLst/>
          </a:prstGeom>
          <a:solidFill>
            <a:srgbClr val="C8C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8521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Rakshak Audit Manual v1.0 — usable by NHAI without rework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4074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80">
                <a:solidFill>
                  <a:srgbClr val="C8C0FF"/>
                </a:solidFill>
                <a:latin typeface="Montserrat"/>
              </a:rPr>
              <a:t>START THE CONVERSATION</a:t>
            </a:r>
          </a:p>
        </p:txBody>
      </p:sp>
      <p:pic>
        <p:nvPicPr>
          <p:cNvPr id="20" name="Picture 19" descr="globe_C8C0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764024"/>
            <a:ext cx="219456" cy="2194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31152" y="4754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crashfreeindia.org</a:t>
            </a:r>
          </a:p>
        </p:txBody>
      </p:sp>
      <p:pic>
        <p:nvPicPr>
          <p:cNvPr id="22" name="Picture 21" descr="mail_C8C0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5148072"/>
            <a:ext cx="219456" cy="2194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31152" y="51389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helpdesk@crashfreeindia.org</a:t>
            </a:r>
          </a:p>
        </p:txBody>
      </p:sp>
      <p:pic>
        <p:nvPicPr>
          <p:cNvPr id="24" name="Picture 23" descr="bar-chart-3_C8C0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5532120"/>
            <a:ext cx="219456" cy="2194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31152" y="55229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Live proof: crashfreeindia.org/rakshak/dashboard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C8C0FF"/>
                </a:solidFill>
                <a:latin typeface="Montserrat"/>
              </a:rPr>
              <a:t>Crashfree India · A Cars24 Commitment · operated by Vision Zero Trust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