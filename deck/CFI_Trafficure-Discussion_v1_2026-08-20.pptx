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5.png"/><Relationship Id="rId7" Type="http://schemas.openxmlformats.org/officeDocument/2006/relationships/image" Target="../media/image1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5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1691640" cy="2337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24367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1" i="0" spc="180">
                <a:solidFill>
                  <a:srgbClr val="6E7180"/>
                </a:solidFill>
                <a:latin typeface="Montserrat"/>
              </a:rPr>
              <a:t>AUGUST 2026  ·  NEW DELHI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i="0" spc="200">
                <a:solidFill>
                  <a:srgbClr val="4A35FF"/>
                </a:solidFill>
                <a:latin typeface="Montserrat"/>
              </a:rPr>
              <a:t>FOR DISCUSSION  ·  CRASHFREE INDIA × TRAFFICURE · GOOGLE MAPS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56816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6181D"/>
                </a:solidFill>
                <a:latin typeface="Montserrat"/>
              </a:rPr>
              <a:t>The safety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3464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4A35FF"/>
                </a:solidFill>
                <a:latin typeface="Montserrat"/>
              </a:rPr>
              <a:t>Traffic data already manages congestion.</a:t>
            </a:r>
          </a:p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4A35FF"/>
                </a:solidFill>
                <a:latin typeface="Montserrat"/>
              </a:rPr>
              <a:t>Together it can start preventing crashes.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425196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gaug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4339742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8992" y="4297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TraffiCure has proved the traffic layer: Pune from 20 to 26.8 km/h, 964 roads live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818888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zap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4906670"/>
            <a:ext cx="190195" cy="1901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8992" y="4864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RMI's May 2026 feeds carry safety signals: harsh braking, vehicle counts, incidents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5385816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school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5473598"/>
            <a:ext cx="190195" cy="1901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2" y="543153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We bring the safety products and the government seats to put them to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0936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Ideas to shape together, each pressure-tested. Nothing here is a commitment.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7327" y="63093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crashfreeindia.org</a:t>
            </a:r>
          </a:p>
        </p:txBody>
      </p:sp>
      <p:pic>
        <p:nvPicPr>
          <p:cNvPr id="19" name="Picture 18" descr="slide_ssi_ind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1051560"/>
            <a:ext cx="3246120" cy="2536031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366760" y="1051560"/>
            <a:ext cx="3246120" cy="2536031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633311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School Safety Index, Delhi NCR prototype, live.</a:t>
            </a:r>
          </a:p>
        </p:txBody>
      </p:sp>
      <p:pic>
        <p:nvPicPr>
          <p:cNvPr id="22" name="Picture 21" descr="defect_live.png_3.55x1.60_0.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4160520"/>
            <a:ext cx="3246120" cy="14630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366760" y="4160520"/>
            <a:ext cx="3246120" cy="146304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56692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Road-Infrastructure Defect Repository, live.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01 · WHY THIS CONVERSATION, NOW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Three facts that were not true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six months ago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Our read of the moment, stated plainly so it can be corrected.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358444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103120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gauge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8" y="2199680"/>
            <a:ext cx="209214" cy="2092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0160" y="2157984"/>
            <a:ext cx="2715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60">
                <a:solidFill>
                  <a:srgbClr val="16181D"/>
                </a:solidFill>
                <a:latin typeface="Montserrat"/>
              </a:rPr>
              <a:t>TRAFFICURE PROVED THE TRAFFIC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61488"/>
            <a:ext cx="321868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Pune, Jan 2026: </a:t>
            </a:r>
            <a:r>
              <a:rPr sz="950" b="0" i="0">
                <a:solidFill>
                  <a:srgbClr val="6E7180"/>
                </a:solidFill>
                <a:latin typeface="Geist"/>
              </a:rPr>
              <a:t>964 roads watched every 2 minutes, no hardware. </a:t>
            </a:r>
            <a:r>
              <a:rPr sz="950" b="1" i="0">
                <a:solidFill>
                  <a:srgbClr val="16181D"/>
                </a:solidFill>
                <a:latin typeface="Geist"/>
              </a:rPr>
              <a:t>20 → 26.8 km/h </a:t>
            </a:r>
            <a:r>
              <a:rPr sz="950" b="0" i="0">
                <a:solidFill>
                  <a:srgbClr val="6E7180"/>
                </a:solidFill>
                <a:latin typeface="Geist"/>
              </a:rPr>
              <a:t>average speed, measured by the police. </a:t>
            </a:r>
            <a:r>
              <a:rPr sz="950" b="0" i="0">
                <a:solidFill>
                  <a:srgbClr val="6E7180"/>
                </a:solidFill>
                <a:latin typeface="Geist"/>
              </a:rPr>
              <a:t>Data became a ranked junction list and an engineering brief to the municipal corporation. Fixes got built.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920240"/>
            <a:ext cx="358444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60" y="2103120"/>
            <a:ext cx="402336" cy="402336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zap_B26A00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120" y="2199680"/>
            <a:ext cx="209214" cy="20921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10912" y="2157984"/>
            <a:ext cx="2715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60">
                <a:solidFill>
                  <a:srgbClr val="16181D"/>
                </a:solidFill>
                <a:latin typeface="Montserrat"/>
              </a:rPr>
              <a:t>RMI NOW CARRIES SAFETY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61488"/>
            <a:ext cx="321868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May 2026, experimental: </a:t>
            </a:r>
            <a:r>
              <a:rPr sz="950" b="0" i="0">
                <a:solidFill>
                  <a:srgbClr val="6E7180"/>
                </a:solidFill>
                <a:latin typeface="Geist"/>
              </a:rPr>
              <a:t>hourly vehicle counts, harsh-braking events at intersection scale, and user-reported incidents. </a:t>
            </a:r>
            <a:r>
              <a:rPr sz="950" b="0" i="0">
                <a:solidFill>
                  <a:srgbClr val="6E7180"/>
                </a:solidFill>
                <a:latin typeface="Geist"/>
              </a:rPr>
              <a:t>“The safety signal nobody else has… the first proxy for road-design risk at network scale.” </a:t>
            </a:r>
            <a:r>
              <a:rPr sz="950" b="0" i="0">
                <a:solidFill>
                  <a:srgbClr val="6E7180"/>
                </a:solidFill>
                <a:latin typeface="Geist"/>
              </a:rPr>
              <a:t>— TraffiCure's own RMI guide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1920240"/>
            <a:ext cx="358444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11312" y="2103120"/>
            <a:ext cx="402336" cy="402336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school_0A9955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872" y="2199680"/>
            <a:ext cx="209214" cy="20921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41664" y="2157984"/>
            <a:ext cx="2715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60">
                <a:solidFill>
                  <a:srgbClr val="16181D"/>
                </a:solidFill>
                <a:latin typeface="Montserrat"/>
              </a:rPr>
              <a:t>NOBODY HAS BUILT THE SAFETY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761488"/>
            <a:ext cx="321868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Congestion has a product. </a:t>
            </a:r>
            <a:r>
              <a:rPr sz="950" b="0" i="0">
                <a:solidFill>
                  <a:srgbClr val="6E7180"/>
                </a:solidFill>
                <a:latin typeface="Geist"/>
              </a:rPr>
              <a:t>Safety does not, yet. </a:t>
            </a:r>
            <a:r>
              <a:rPr sz="950" b="0" i="0">
                <a:solidFill>
                  <a:srgbClr val="6E7180"/>
                </a:solidFill>
                <a:latin typeface="Geist"/>
              </a:rPr>
              <a:t>Turning these signals into safer school zones, junctions and corridors needs safety method, field verification and standing inside government. </a:t>
            </a:r>
            <a:r>
              <a:rPr sz="950" b="1" i="0">
                <a:solidFill>
                  <a:srgbClr val="16181D"/>
                </a:solidFill>
                <a:latin typeface="Geist"/>
              </a:rPr>
              <a:t>That is what we do all day.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49240"/>
            <a:ext cx="11057839" cy="713232"/>
          </a:xfrm>
          <a:prstGeom prst="roundRect">
            <a:avLst>
              <a:gd name="adj" fmla="val 16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440680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4A35FF"/>
                </a:solidFill>
                <a:latin typeface="Geist"/>
              </a:rPr>
              <a:t>The shape we see: </a:t>
            </a:r>
            <a:r>
              <a:rPr sz="1150" b="0" i="0">
                <a:solidFill>
                  <a:srgbClr val="4A35FF"/>
                </a:solidFill>
                <a:latin typeface="Geist"/>
              </a:rPr>
              <a:t>TraffiCure proves time saved. Together, the same feed can prove lives saved — two products, one pipeline, and a wider government door for both.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HOW THIS DECK IS ORGANISED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66928" y="69494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Mostly ideas,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each one pressure-tested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1755648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4467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435608" y="1755648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school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946" y="1860986"/>
            <a:ext cx="228234" cy="2282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03120" y="16916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The idea we lead with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99339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180"/>
                </a:solidFill>
                <a:latin typeface="Geist"/>
              </a:rPr>
              <a:t>School Safety Index × speed data: prototype built, launch with government planned.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4567" y="179222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04 – 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05456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8096" y="2688336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67736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435608" y="2688336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layers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946" y="2793674"/>
            <a:ext cx="228234" cy="22823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103120" y="262432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Three more to shape together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926080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180"/>
                </a:solidFill>
                <a:latin typeface="Geist"/>
              </a:rPr>
              <a:t>The near-miss map, proving every fix, and SATARK deployment intelligence.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24567" y="27249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06 – 08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38144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8096" y="3621024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610052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1435608" y="3621024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lightbulb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946" y="3726362"/>
            <a:ext cx="228234" cy="22823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03120" y="3557016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Further out on the shelf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858768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180"/>
                </a:solidFill>
                <a:latin typeface="Geist"/>
              </a:rPr>
              <a:t>Three smaller directions, each with its own caveat attached.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24567" y="3657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09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370832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8096" y="4553712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54274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1435608" y="4553712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handshake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0946" y="4659050"/>
            <a:ext cx="228234" cy="22823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103120" y="4489704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What each side brings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4791456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180"/>
                </a:solidFill>
                <a:latin typeface="Geist"/>
              </a:rPr>
              <a:t>The partnership shape, and the government doors we can open together.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24567" y="45902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10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303520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8096" y="5486400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47542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1435608" y="5486400"/>
            <a:ext cx="438912" cy="438912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building-2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0946" y="5591738"/>
            <a:ext cx="228234" cy="22823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103120" y="54223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About us · SATARK · the 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5724144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180"/>
                </a:solidFill>
                <a:latin typeface="Geist"/>
              </a:rPr>
              <a:t>Who we are, SATARK in the field, a 90-day plan with a decision gate, and our questions.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24567" y="552297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11 – 14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IDEA 01 · SCHOOLS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IDEA 01, THE ONE WE LEAD WITH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School Safety Index: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the prototype is already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 public 0–100 grade for the road outside every school gate, anchored to IRC:SP:32, India's school-zone standard.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05740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map-pin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2145182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20391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Delhi NCR prototype,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39112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3,814 schools mapped via the Places API; 90% with usable Street View imagery; pilot report cards published with pinned photo evidence.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990088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scan-line_0A9955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3077870"/>
            <a:ext cx="190195" cy="1901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2971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Method before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7180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AI desk audit against a 44-check IRC:SP:32 rubric, independently verified before anything is published. It grades the road, never the school.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3922776"/>
            <a:ext cx="365760" cy="365760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landmark_B26A00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4010558"/>
            <a:ext cx="190195" cy="1901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39044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Launch with government, planned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904488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We are preparing the public launch with a government partner: our four District Road Safety Committee seats carry the worst-graded zones into the statutory forum, and student teams field-verify them.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4855464"/>
            <a:ext cx="365760" cy="365760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ocket_0E8A8A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4943246"/>
            <a:ext cx="190195" cy="1901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483717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The next city is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837176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Jaipur: 1,572 schools mapped, 361 GPS-located blackspot crashes from police records, corridors already defined on our Google Cloud project.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98932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What it cannot see today: </a:t>
            </a:r>
            <a:r>
              <a:rPr sz="950" b="0" i="0">
                <a:solidFill>
                  <a:srgbClr val="6E7180"/>
                </a:solidFill>
                <a:latin typeface="Geist"/>
              </a:rPr>
              <a:t>the speed of traffic past the gate. A photograph never shows it.</a:t>
            </a:r>
          </a:p>
        </p:txBody>
      </p:sp>
      <p:pic>
        <p:nvPicPr>
          <p:cNvPr id="25" name="Picture 24" descr="slide_ssi_ind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011680"/>
            <a:ext cx="2691993" cy="21031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818120" y="2011680"/>
            <a:ext cx="2691993" cy="210312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4160520"/>
            <a:ext cx="26919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The index, worst grades first.</a:t>
            </a:r>
          </a:p>
        </p:txBody>
      </p:sp>
      <p:pic>
        <p:nvPicPr>
          <p:cNvPr id="28" name="Picture 27" descr="opt_slide_ssi_school_15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4343400"/>
            <a:ext cx="2173659" cy="17830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7818120" y="4343400"/>
            <a:ext cx="2173659" cy="178308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6172200"/>
            <a:ext cx="21736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 school's report card, evidence pinned.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IDEA 01 · SCHOOLS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IDEA 01, WORKING TOGETHER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Add the one input a photograph cannot give: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speed past the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Imagery shows the missing crossing. TraffiCure's feed shows the danger moving through it, hour by hour, school-run by school-run.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10312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gauge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2190902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20848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Speed-exposure per school zone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8483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Share of school-run hours with traffic above safe speed at the gate, from RMI segment speeds; harsh-braking points near gates as the risk flag.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072384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git-compare_0A9955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3160166"/>
            <a:ext cx="190195" cy="1901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305409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One ranking, by measured danger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054096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Imagery grade × measured speed × vehicle counts as exposure: every school ranked by danger, not by anecdote — and re-measured after a district builds the fix.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041648"/>
            <a:ext cx="365760" cy="365760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handshake_0E8A8A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4129430"/>
            <a:ext cx="190195" cy="1901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4023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How we would split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023360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We hold method, verification, the public index and the DRSC seats. TraffiCure holds the feed and corridor tooling. The launch names both.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57800"/>
            <a:ext cx="6812280" cy="868680"/>
          </a:xfrm>
          <a:prstGeom prst="roundRect">
            <a:avLst>
              <a:gd name="adj" fmla="val 12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5358384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4A35FF"/>
                </a:solidFill>
                <a:latin typeface="Geist"/>
              </a:rPr>
              <a:t>A first for India: </a:t>
            </a:r>
            <a:r>
              <a:rPr sz="1050" b="0" i="0">
                <a:solidFill>
                  <a:srgbClr val="4A35FF"/>
                </a:solidFill>
                <a:latin typeface="Geist"/>
              </a:rPr>
              <a:t>no one has published measured speed outside school gates at city scale. The index gives that number a public home and a government audience.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011680"/>
            <a:ext cx="3840480" cy="41148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55280" y="217627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2176272"/>
            <a:ext cx="15179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Montserrat"/>
              </a:rPr>
              <a:t>PRESSURE TEST</a:t>
            </a:r>
          </a:p>
        </p:txBody>
      </p:sp>
      <p:pic>
        <p:nvPicPr>
          <p:cNvPr id="25" name="Picture 24" descr="shield-check_B26A00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2651760"/>
            <a:ext cx="237744" cy="23774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84464" y="2633472"/>
            <a:ext cx="3145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Must be true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880360"/>
            <a:ext cx="314553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RMI segments resolve the short streets outside gates, and school-run-hour slices are supported; terms allow a nonprofit public index to cite the data with attribution.</a:t>
            </a:r>
          </a:p>
        </p:txBody>
      </p:sp>
      <p:pic>
        <p:nvPicPr>
          <p:cNvPr id="28" name="Picture 27" descr="file-x_B26A00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3785616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84464" y="3767328"/>
            <a:ext cx="3145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Where it breaks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4014216"/>
            <a:ext cx="314553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If segments are too coarse for 30-metre gate zones, or the experimental feeds are thin in Delhi and Jaipur, the speed layer stays anecdote. And a public index must survive a school district challenging its grade.</a:t>
            </a:r>
          </a:p>
        </p:txBody>
      </p:sp>
      <p:pic>
        <p:nvPicPr>
          <p:cNvPr id="31" name="Picture 30" descr="timer_B26A00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4919472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84464" y="4901184"/>
            <a:ext cx="3145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How we find out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5148072"/>
            <a:ext cx="314553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One working session on 10 gate corridors we have already defined. Pull real segments, check granularity and density against our field audits of the same gates. A week, not a quarter.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IDEA 02 · NEAR-MISSES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IDEA 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Harsh braking: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the near-miss map, validated against real crashes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Crash data arrives after the funeral. Braking data arrives every day. The question worth answering: does one predict the other on Indian roads?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14884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map-pin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2236622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21305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What we 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3055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361 GPS-located crashes at Jaipur's notified blackspots (police e-DAR, via our DRSC seat), 96 mapped clusters, and a live national defect repository with 500+ locations.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154680"/>
            <a:ext cx="365760" cy="365760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zap_B26A00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3242462"/>
            <a:ext cx="190195" cy="1901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313639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What the feed adds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13639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Anonymised harsh-braking points at intersection scale — TraffiCure calls it the safety signal nobody else has. Overlaid on known crash sites, it can be tested, not assumed.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160520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file-search_0A9955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4248302"/>
            <a:ext cx="190195" cy="1901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41422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What it becomes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14223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An India-first validation study: where braking predicts crashes, authorities get a risk-ranked corridor list before the next fatality — and Google gets published, citable evidence from India.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34924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Worst case, we learn the feed's limits. Best case, </a:t>
            </a:r>
            <a:r>
              <a:rPr sz="1050" b="1" i="0">
                <a:solidFill>
                  <a:srgbClr val="16181D"/>
                </a:solidFill>
                <a:latin typeface="Geist"/>
              </a:rPr>
              <a:t>India's road-risk maps stop waiting for people to die first.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011680"/>
            <a:ext cx="3840480" cy="41148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80" y="217627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2176272"/>
            <a:ext cx="15179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Montserrat"/>
              </a:rPr>
              <a:t>PRESSURE TEST</a:t>
            </a:r>
          </a:p>
        </p:txBody>
      </p:sp>
      <p:pic>
        <p:nvPicPr>
          <p:cNvPr id="24" name="Picture 23" descr="shield-check_B26A00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2651760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84464" y="2633472"/>
            <a:ext cx="3145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Must be true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2880360"/>
            <a:ext cx="314553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Braking events are dense enough per junction to be statistically usable, and the anonymisation thresholds still leave signal on two-wheeler-heavy Indian streets.</a:t>
            </a:r>
          </a:p>
        </p:txBody>
      </p:sp>
      <p:pic>
        <p:nvPicPr>
          <p:cNvPr id="27" name="Picture 26" descr="file-x_B26A00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3785616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84464" y="3767328"/>
            <a:ext cx="3145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Where it breaks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4014216"/>
            <a:ext cx="314553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Braking correlates with congestion, not danger — chaos that never crashes. If the correlation with e-DAR crash sites is weak, this is a research note, not a product.</a:t>
            </a:r>
          </a:p>
        </p:txBody>
      </p:sp>
      <p:pic>
        <p:nvPicPr>
          <p:cNvPr id="30" name="Picture 29" descr="timer_B26A00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4919472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84464" y="4901184"/>
            <a:ext cx="3145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How we find out fast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5148072"/>
            <a:ext cx="314553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 4-week overlay on Jaipur's 96 clusters: braking density at crash sites vs matched control junctions. Clear threshold agreed up front — publish either way.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IDEA 03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IDEA 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Prove every fix: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before-and-after for road safety spending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Pune used the feed to prove a decongestion plan worked. The same instrument can prove safety works — nobody has pointed it there.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14884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hard-hat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2236622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21305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The pipeline exists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3055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15 Rakshak sites are in implementation now and 75+ implementations are targeted this year — speed humps, crossings, junction geometry, each with a known build date.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154680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git-compare_0A9955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3242462"/>
            <a:ext cx="190195" cy="1901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313639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The measurement is one subscription 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13639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Corridor speeds and counts before the fix, after the fix, against control corridors. Today India evaluates road-safety works by inspection photos; this gives them a measured outcome.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160520"/>
            <a:ext cx="365760" cy="365760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landmark_0E8A8A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4248302"/>
            <a:ext cx="190195" cy="1901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41422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Where it lands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14223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Every before-after goes to the District Road Safety Committee in the statutory record, onto our public dashboard — and into TraffiCure's case-study shelf as the first safety deployments.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39496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6181D"/>
                </a:solidFill>
                <a:latin typeface="Geist"/>
              </a:rPr>
              <a:t>This is the cheapest idea in the deck, </a:t>
            </a:r>
            <a:r>
              <a:rPr sz="1050" b="0" i="0">
                <a:solidFill>
                  <a:srgbClr val="6E7180"/>
                </a:solidFill>
                <a:latin typeface="Geist"/>
              </a:rPr>
              <a:t>and the fastest to show working: the fixes are being built either way.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011680"/>
            <a:ext cx="3840480" cy="41148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80" y="217627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2176272"/>
            <a:ext cx="15179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Montserrat"/>
              </a:rPr>
              <a:t>PRESSURE TEST</a:t>
            </a:r>
          </a:p>
        </p:txBody>
      </p:sp>
      <p:pic>
        <p:nvPicPr>
          <p:cNvPr id="24" name="Picture 23" descr="shield-check_B26A00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2651760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84464" y="2633472"/>
            <a:ext cx="3145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Must be true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2880360"/>
            <a:ext cx="314553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Corridors can be subscribed before construction starts (baseline needs weeks of history), and speed changes at fixed sites clear the noise of seasons, weather and traffic growth.</a:t>
            </a:r>
          </a:p>
        </p:txBody>
      </p:sp>
      <p:pic>
        <p:nvPicPr>
          <p:cNvPr id="27" name="Picture 26" descr="file-x_B26A00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3785616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84464" y="3767328"/>
            <a:ext cx="3145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Where it breaks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4014216"/>
            <a:ext cx="314553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Attribution: speeds move for many reasons. Without control corridors and honest stats, a sceptical engineer dismisses it — and one over-claimed result poisons the method.</a:t>
            </a:r>
          </a:p>
        </p:txBody>
      </p:sp>
      <p:pic>
        <p:nvPicPr>
          <p:cNvPr id="30" name="Picture 29" descr="timer_B26A00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4919472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84464" y="4901184"/>
            <a:ext cx="3145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How we find out fast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5148072"/>
            <a:ext cx="314553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Pick 2 sites entering construction this quarter, subscribe now, pre-register the analysis with control corridors. First honest result inside 90 days of the build.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IDEA 04 ·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IDEA 04, EXPLORATORY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SATARK × the feed: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enforcement standing where the risk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An early idea, listed honestly. It builds only on assets we already run with police partners, and carries no commitments.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14884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cpu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2236622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21305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What already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3055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SATARK screens vehicles for police in Jaipur, Bengaluru and Gurugram: 3,00,000+ screened, 350+ intercepted, challan billboards live. MoUs govern all of it.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154680"/>
            <a:ext cx="365760" cy="365760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gauge_B26A00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3242462"/>
            <a:ext cx="190195" cy="1901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313639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What the feed could add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13639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 weekly view of where and when speeding concentrates near people — so patrols, camera vans, billboards and SATARK sites stand where the risk is, corridor-hour by corridor-hour.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160520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shield-check_0A9955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4248302"/>
            <a:ext cx="190195" cy="1901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41422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How we keep it honest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14223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Success measured as speeds before and after a deployment, never as challan counts. RMI stays aggregate — no plates, no individual vehicles. Any pilot starts small, inside an existing MoU.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39496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6181D"/>
                </a:solidFill>
                <a:latin typeface="Geist"/>
              </a:rPr>
              <a:t>Everything named here is ours or the police's. </a:t>
            </a:r>
            <a:r>
              <a:rPr sz="1050" b="0" i="0">
                <a:solidFill>
                  <a:srgbClr val="6E7180"/>
                </a:solidFill>
                <a:latin typeface="Geist"/>
              </a:rPr>
              <a:t>No third party is required for a first version.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011680"/>
            <a:ext cx="3840480" cy="41148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80" y="217627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2176272"/>
            <a:ext cx="15179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Montserrat"/>
              </a:rPr>
              <a:t>PRESSURE TEST</a:t>
            </a:r>
          </a:p>
        </p:txBody>
      </p:sp>
      <p:pic>
        <p:nvPicPr>
          <p:cNvPr id="24" name="Picture 23" descr="shield-check_B26A00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2651760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84464" y="2633472"/>
            <a:ext cx="3145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Must be true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2880360"/>
            <a:ext cx="314553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Police continue to pull this — the MoUs and three years of working trust are the asset — and the speeding-concentration view is granular enough to move a patrol roster.</a:t>
            </a:r>
          </a:p>
        </p:txBody>
      </p:sp>
      <p:pic>
        <p:nvPicPr>
          <p:cNvPr id="27" name="Picture 26" descr="file-x_B26A00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3785616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84464" y="3767328"/>
            <a:ext cx="3145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Where it breaks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4014216"/>
            <a:ext cx="314553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Optics: 'Google data guiding enforcement' can be misread as surveillance. The aggregate-only line must hold absolutely, and the police must own every decision.</a:t>
            </a:r>
          </a:p>
        </p:txBody>
      </p:sp>
      <p:pic>
        <p:nvPicPr>
          <p:cNvPr id="30" name="Picture 29" descr="timer_B26A00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4919472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84464" y="4901184"/>
            <a:ext cx="3145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How we find out fast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5148072"/>
            <a:ext cx="314553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One city, four weeks: hand Jaipur Traffic Police a weekly speeding-concentration map for existing patrol corridors. If rosters change, it works. If not, we shelve it.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THE SHELF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FURTHER OUT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Three more on the shelf,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each with its caveat attached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Not proposals yet. Listed so the conversation can pick anything up, or put it 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358444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212848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bot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8" y="2309408"/>
            <a:ext cx="209214" cy="2092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0160" y="2249424"/>
            <a:ext cx="27157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Incident feed × the under-reporting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71800"/>
            <a:ext cx="3218688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Maps users report crashes police never record. Compare the incident feed against FIR and e-DAR records in our districts to size India's crash under-reporting, a number policy people cite for a decade.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4800600"/>
            <a:ext cx="3328416" cy="73152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873752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6181D"/>
                </a:solidFill>
                <a:latin typeface="Geist"/>
              </a:rPr>
              <a:t>Caveat: incident reports are noisy and unverified; needs careful matching before any claim.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011680"/>
            <a:ext cx="358444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0560" y="2212848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rout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120" y="2309408"/>
            <a:ext cx="209214" cy="20921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10912" y="2249424"/>
            <a:ext cx="27157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Safe-route research for two-wheelers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971800"/>
            <a:ext cx="3218688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Join our audit and crash data with speed layers to ask whether a marginally slower route is materially safer, starting with the delivery riders we already study.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4800600"/>
            <a:ext cx="3328416" cy="73152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4873752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6181D"/>
                </a:solidFill>
                <a:latin typeface="Geist"/>
              </a:rPr>
              <a:t>Caveat: research first; a consumer nudge is Google's call, never ours.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2011680"/>
            <a:ext cx="358444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1312" y="2212848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school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872" y="2309408"/>
            <a:ext cx="209214" cy="20921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741664" y="2249424"/>
            <a:ext cx="27157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School-run advisories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2971800"/>
            <a:ext cx="3218688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Where the index and speed data agree a gate is dangerous at 8 am, that knowledge could reach parents and schools through channels Google already owns.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6448" y="4800600"/>
            <a:ext cx="3328416" cy="73152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6" y="4873752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16181D"/>
                </a:solidFill>
                <a:latin typeface="Geist"/>
              </a:rPr>
              <a:t>Caveat: only after the index and speed layer are validated; advisories without method invite panic.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THE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03 · WHAT EACH SIDE BRINGS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A partnerships channel into government,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and a clean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Cities buy operations software. Safety products stay public and free. The pilots that prove both run through doors we already hold open.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121408"/>
            <a:ext cx="4992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 spc="160">
                <a:solidFill>
                  <a:srgbClr val="4A35FF"/>
                </a:solidFill>
                <a:latin typeface="Montserrat"/>
              </a:rPr>
              <a:t>WHAT WE BRING</a:t>
            </a:r>
          </a:p>
        </p:txBody>
      </p:sp>
      <p:pic>
        <p:nvPicPr>
          <p:cNvPr id="10" name="Picture 9" descr="landmar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487168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5568" y="2468880"/>
            <a:ext cx="46451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Standing inside government: seats on 4 District Road Safety Committees, MoUs with Jaipur and Gurugram police, 25+ written authority approvals across six states, EoIs before NRSB working groups.</a:t>
            </a:r>
          </a:p>
        </p:txBody>
      </p:sp>
      <p:pic>
        <p:nvPicPr>
          <p:cNvPr id="12" name="Picture 11" descr="search-chec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328416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" y="3310128"/>
            <a:ext cx="46451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Safety method that survives review: IRC and MoRTH-anchored audits, adversarial verification, student field teams in 18 cities.</a:t>
            </a:r>
          </a:p>
        </p:txBody>
      </p:sp>
      <p:pic>
        <p:nvPicPr>
          <p:cNvPr id="14" name="Picture 13" descr="glob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169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" y="4151376"/>
            <a:ext cx="46451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Public products and credibility: live index and repository, national press coverage, MS Dhoni as Goodwill Ambassador.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6596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121408"/>
            <a:ext cx="4992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 spc="160">
                <a:solidFill>
                  <a:srgbClr val="0A9955"/>
                </a:solidFill>
                <a:latin typeface="Montserrat"/>
              </a:rPr>
              <a:t>WHAT TRAFFICURE + GOOGLE BRING</a:t>
            </a:r>
          </a:p>
        </p:txBody>
      </p:sp>
      <p:pic>
        <p:nvPicPr>
          <p:cNvPr id="18" name="Picture 17" descr="gauge_0A9955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487168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66560" y="2468880"/>
            <a:ext cx="46451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The data layer nothing else matches: every road, every 2 minutes, plus the May 2026 safety feeds — no hardware, weeks to deploy.</a:t>
            </a:r>
          </a:p>
        </p:txBody>
      </p:sp>
      <p:pic>
        <p:nvPicPr>
          <p:cNvPr id="20" name="Picture 19" descr="cpu_0A9955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3328416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66560" y="3310128"/>
            <a:ext cx="46451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A working product and playbook: TraffiCure live with Pune City Traffic Police, corridors measured in four cities, activation in 4–8 weeks.</a:t>
            </a:r>
          </a:p>
        </p:txBody>
      </p:sp>
      <p:pic>
        <p:nvPicPr>
          <p:cNvPr id="22" name="Picture 21" descr="handshake_0A9955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416966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66560" y="4151376"/>
            <a:ext cx="46451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Reach and legitimacy: a Premier Partner network and the Google name, which opens rooms and closes doubts.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12080"/>
            <a:ext cx="11057839" cy="868680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5321808"/>
            <a:ext cx="106006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6181D"/>
                </a:solidFill>
                <a:latin typeface="Geist"/>
              </a:rPr>
              <a:t>The clean split: </a:t>
            </a:r>
            <a:r>
              <a:rPr sz="1050" b="0" i="0">
                <a:solidFill>
                  <a:srgbClr val="6E7180"/>
                </a:solidFill>
                <a:latin typeface="Geist"/>
              </a:rPr>
              <a:t>no money needs to move between us. Cities subscribe to TraffiCure for operations; our safety products stay public, free and attributed; joint district pilots become the reference deployments that open the next city for everyone.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04 · ABOUT 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Six lines of work,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one connected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 nonprofit registered as the Vision Zero Trust · Co-founded by Cars24 and the Indian Road Safety Council · 18 cities · everything below is 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plementation_work.jpg_3.95x1.28_0.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38528"/>
            <a:ext cx="3611880" cy="11704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1938528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182112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Project Rakshak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419856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Student-led road audits, fixed with authorities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785616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31 sites · 15 in 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938528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satark_billboard.jpg_3.95x1.28_0.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938528"/>
            <a:ext cx="3611880" cy="117043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88536" y="1938528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3182112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SATARK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419856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AI support that helps police find high-risk vehicles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785616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3,00,000+ vehicles screened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1938528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ph_helpdesk_desk.jpg_3.95x1.28_0.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938528"/>
            <a:ext cx="3611880" cy="117043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10144" y="1938528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182112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Victim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419856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Aasha chatbot, calculator, hospital helpdesks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785616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100+ victims helped in first 4 days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206240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sctracker.png_3.95x1.28_0.0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206240"/>
            <a:ext cx="3611880" cy="117043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66928" y="4206240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44982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Open public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5687568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Four self-updating data platforms, free to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605332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36 states &amp; 50 cities covered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8536" y="4206240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slide_ssi_school.png_3.95x1.28_0.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8536" y="4206240"/>
            <a:ext cx="3611880" cy="117043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288536" y="4206240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2" y="544982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School Safety Index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5687568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Public grading of school-zone road safety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6552" y="605332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3,814 Delhi NCR schools mapped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0144" y="4206240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ph_ideathon_winners.jpg_3.95x1.28_0.2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144" y="4206240"/>
            <a:ext cx="3611880" cy="117043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010144" y="4206240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544982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Youth &amp; policy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687568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NextMile ideathon and national dialogue series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605332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2,000+ participants engaged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04 · ABOUT US, SATARK IN THE FIELD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SATARK: AI that helps police stop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the right vehicle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Built with Cars24 engineers. Reads number plates, checks government records, and alerts officers to repeat offenders, in real time.</a:t>
            </a:r>
          </a:p>
        </p:txBody>
      </p:sp>
      <p:pic>
        <p:nvPicPr>
          <p:cNvPr id="8" name="Picture 7" descr="satark_billboard.jpg_4.35x2.65_0.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3977639" cy="2423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1965960"/>
            <a:ext cx="3977639" cy="242316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434840"/>
            <a:ext cx="3977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Rambagh Circle, Jaipur, live plate, pending challans and dues on a public billboard.</a:t>
            </a:r>
          </a:p>
        </p:txBody>
      </p:sp>
      <p:pic>
        <p:nvPicPr>
          <p:cNvPr id="11" name="Picture 10" descr="satark_officer_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965960"/>
            <a:ext cx="1828800" cy="215028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709160" y="1965960"/>
            <a:ext cx="1828800" cy="2150283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4161963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Officer view, challans,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RC &amp; compliance status.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9202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3,00,000+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3774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vehicles screened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9202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₹30 Cr+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3774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pending challan value identified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816352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350+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2735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high-risk vehicles intercepted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816352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70,019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2735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vehicles found with pending challans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84848" y="3767328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767328"/>
            <a:ext cx="22037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A9955"/>
                </a:solidFill>
                <a:latin typeface="Montserrat"/>
              </a:rPr>
              <a:t>LIVE · Jaipur &amp; Bengaluru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76732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3767328"/>
            <a:ext cx="1563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NEW · Gurugram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26110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Bengaluru's Trinity Circle billboard was India's first, covered by Deccan Herald and national press. Pune and Ahmedabad are next.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2688" y="5358384"/>
            <a:ext cx="10326319" cy="0"/>
          </a:xfrm>
          <a:prstGeom prst="line">
            <a:avLst/>
          </a:prstGeom>
          <a:ln w="12700">
            <a:solidFill>
              <a:srgbClr val="E8E9EE"/>
            </a:solidFill>
          </a:ln>
          <a:effectLst/>
        </p:spPr>
      </p:cxnSp>
      <p:sp>
        <p:nvSpPr>
          <p:cNvPr id="28" name="Oval 27"/>
          <p:cNvSpPr/>
          <p:nvPr/>
        </p:nvSpPr>
        <p:spPr>
          <a:xfrm>
            <a:off x="1038586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camera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24" y="5244266"/>
            <a:ext cx="228234" cy="22823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ANPR camera</a:t>
            </a:r>
          </a:p>
        </p:txBody>
      </p:sp>
      <p:sp>
        <p:nvSpPr>
          <p:cNvPr id="31" name="Oval 30"/>
          <p:cNvSpPr/>
          <p:nvPr/>
        </p:nvSpPr>
        <p:spPr>
          <a:xfrm>
            <a:off x="242081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scan-line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6153" y="5244266"/>
            <a:ext cx="228234" cy="22823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4915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Plate read</a:t>
            </a:r>
          </a:p>
        </p:txBody>
      </p:sp>
      <p:sp>
        <p:nvSpPr>
          <p:cNvPr id="34" name="Oval 33"/>
          <p:cNvSpPr/>
          <p:nvPr/>
        </p:nvSpPr>
        <p:spPr>
          <a:xfrm>
            <a:off x="380304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databas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8383" y="5244266"/>
            <a:ext cx="228234" cy="22823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33138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Records check</a:t>
            </a:r>
          </a:p>
        </p:txBody>
      </p:sp>
      <p:sp>
        <p:nvSpPr>
          <p:cNvPr id="37" name="Oval 36"/>
          <p:cNvSpPr/>
          <p:nvPr/>
        </p:nvSpPr>
        <p:spPr>
          <a:xfrm>
            <a:off x="518527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alert-triangle_4A35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0613" y="5244266"/>
            <a:ext cx="228234" cy="22823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1361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Risk flag</a:t>
            </a:r>
          </a:p>
        </p:txBody>
      </p:sp>
      <p:sp>
        <p:nvSpPr>
          <p:cNvPr id="40" name="Oval 39"/>
          <p:cNvSpPr/>
          <p:nvPr/>
        </p:nvSpPr>
        <p:spPr>
          <a:xfrm>
            <a:off x="656750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bell-ring_4A35FF_256_2.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2843" y="5244266"/>
            <a:ext cx="228234" cy="22823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9584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Officer alert</a:t>
            </a:r>
          </a:p>
        </p:txBody>
      </p:sp>
      <p:sp>
        <p:nvSpPr>
          <p:cNvPr id="43" name="Oval 42"/>
          <p:cNvSpPr/>
          <p:nvPr/>
        </p:nvSpPr>
        <p:spPr>
          <a:xfrm>
            <a:off x="794973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monitor_4A35FF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5073" y="5244266"/>
            <a:ext cx="228234" cy="22823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47807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Billboard</a:t>
            </a:r>
          </a:p>
        </p:txBody>
      </p:sp>
      <p:sp>
        <p:nvSpPr>
          <p:cNvPr id="46" name="Oval 45"/>
          <p:cNvSpPr/>
          <p:nvPr/>
        </p:nvSpPr>
        <p:spPr>
          <a:xfrm>
            <a:off x="933196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hand_4A35FF_256_2.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7303" y="5244266"/>
            <a:ext cx="228234" cy="22823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86030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Interception</a:t>
            </a:r>
          </a:p>
        </p:txBody>
      </p:sp>
      <p:sp>
        <p:nvSpPr>
          <p:cNvPr id="49" name="Oval 48"/>
          <p:cNvSpPr/>
          <p:nvPr/>
        </p:nvSpPr>
        <p:spPr>
          <a:xfrm>
            <a:off x="1071419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shield-check_4A35FF_256_2.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19533" y="5244266"/>
            <a:ext cx="228234" cy="22823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24253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Enforcement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05 · THE PLAN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Ninety days,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with a decision gate at the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Small, funded on our side, and honest: each idea carries its own kill-test. What survives, scales.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358444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194560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8358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31136"/>
            <a:ext cx="2715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40">
                <a:solidFill>
                  <a:srgbClr val="4A35FF"/>
                </a:solidFill>
                <a:latin typeface="Montserrat"/>
              </a:rPr>
              <a:t>WEEKS 1 –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68880"/>
            <a:ext cx="27157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The technical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71800"/>
            <a:ext cx="321868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Lepton + Maps + CFI at one table, on real data: 10 school-gate corridors and Jaipur's 96 crash clusters, already defined on our configured cloud project. Granularity and density answered in the room.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011680"/>
            <a:ext cx="358444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0560" y="2194560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18358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2231136"/>
            <a:ext cx="2715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40">
                <a:solidFill>
                  <a:srgbClr val="4A35FF"/>
                </a:solidFill>
                <a:latin typeface="Montserrat"/>
              </a:rPr>
              <a:t>WEEKS 3 –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468880"/>
            <a:ext cx="27157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Two pressure tests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971800"/>
            <a:ext cx="321868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The SSI speed layer scored on ~100 school zones in one city, and the harsh-braking overlay against Jaipur's crash sites — thresholds agreed up front, results shared either way.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2" y="2011680"/>
            <a:ext cx="358444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11312" y="2194560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218358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1664" y="2231136"/>
            <a:ext cx="2715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40">
                <a:solidFill>
                  <a:srgbClr val="4A35FF"/>
                </a:solidFill>
                <a:latin typeface="Montserrat"/>
              </a:rPr>
              <a:t>WEEKS 9 –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1664" y="2468880"/>
            <a:ext cx="27157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Into the statutory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2971800"/>
            <a:ext cx="321868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Surviving results go to the District Road Safety Committees and into the public index; before-after subscriptions start on 2 Rakshak sites entering construction; the government launch of the index is scoped with a named partner.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303520"/>
            <a:ext cx="11057839" cy="77724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5394960"/>
            <a:ext cx="106006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6181D"/>
                </a:solidFill>
                <a:latin typeface="Geist"/>
              </a:rPr>
              <a:t>Day 90, the gate: </a:t>
            </a:r>
            <a:r>
              <a:rPr sz="1050" b="0" i="0">
                <a:solidFill>
                  <a:srgbClr val="16181D"/>
                </a:solidFill>
                <a:latin typeface="Geist"/>
              </a:rPr>
              <a:t>each idea is scaled, reshaped, or shelved — in writing. Our side runs at no cost to Google. The one ask: feed access for public-good use, with attribution on everything we publish.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THE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05 · FOR TOMORROW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Four questions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we bring to the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Held loosely. The ranking of ideas is ours to lose; the starting point is yours to shape.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6" y="2212848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database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45" y="2313797"/>
            <a:ext cx="218724" cy="2187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0" y="228600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Access and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761488"/>
            <a:ext cx="495604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Can a nonprofit safety layer sit on the feed — harsh braking and counts included — with terms that allow a public, attributed index? What does that take, and through whom: Google, Lepton, or both?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19088" y="2212848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gaug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037" y="2313797"/>
            <a:ext cx="218724" cy="2187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22592" y="228600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The granularity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761488"/>
            <a:ext cx="495604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On the short urban streets outside school gates, what segment resolution and experimental-feed density should we honestly expect in Delhi and Jaipur?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95928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8096" y="4197096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landmar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45" y="4298045"/>
            <a:ext cx="218724" cy="2187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427024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Which doors matter to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745736"/>
            <a:ext cx="495604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Which cities and stories help TraffiCure and RMI most in the next two quarters? Our committee seats, police MoUs and NRSB engagement work best when pointed somewhere specific.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95928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4197096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rocket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037" y="4298045"/>
            <a:ext cx="218724" cy="2187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22592" y="427024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The working session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745736"/>
            <a:ext cx="495604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Can we fix a date for the Lepton + Maps + CFI technical session? Our corridors, zones and cloud project are ready this week.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66928"/>
            <a:ext cx="1828800" cy="2527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8288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Traffic data already runs the daily commute.</a:t>
            </a:r>
          </a:p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Together it can start preventing the crash.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474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C8C0FF"/>
                </a:solidFill>
                <a:latin typeface="Geist"/>
              </a:rPr>
              <a:t>Every idea in this deck is offered with its own kill-test attached. We would rather shelve three honestly than overclaim 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4206240"/>
            <a:ext cx="4754880" cy="0"/>
          </a:xfrm>
          <a:prstGeom prst="line">
            <a:avLst/>
          </a:prstGeom>
          <a:ln w="12700">
            <a:solidFill>
              <a:srgbClr val="6A55FF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66928" y="44805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Akhtar Hussain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79145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Mission Lead · akhtar@crashfreeindia.org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44805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Deepanshu Gupta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479145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Trustee · deepanshu@crashfreeindia.org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8" y="44805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Gajendra Jangid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8" y="479145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Trustee · gajendra@crashfreeindia.org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Crashfree India · A Cars24 commitment · Operated by Vision Zero Trust, New Delhi · crashfreeindia.org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