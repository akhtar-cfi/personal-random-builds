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1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14.png"/><Relationship Id="rId4" Type="http://schemas.openxmlformats.org/officeDocument/2006/relationships/image" Target="../media/image15.png"/><Relationship Id="rId5" Type="http://schemas.openxmlformats.org/officeDocument/2006/relationships/image" Target="../media/image16.png"/><Relationship Id="rId6" Type="http://schemas.openxmlformats.org/officeDocument/2006/relationships/image" Target="../media/image17.png"/><Relationship Id="rId7" Type="http://schemas.openxmlformats.org/officeDocument/2006/relationships/image" Target="../media/image1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image" Target="../media/image20.png"/><Relationship Id="rId4" Type="http://schemas.openxmlformats.org/officeDocument/2006/relationships/image" Target="../media/image21.png"/><Relationship Id="rId5" Type="http://schemas.openxmlformats.org/officeDocument/2006/relationships/image" Target="../media/image2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image" Target="../media/image24.png"/><Relationship Id="rId4" Type="http://schemas.openxmlformats.org/officeDocument/2006/relationships/image" Target="../media/image25.png"/><Relationship Id="rId5" Type="http://schemas.openxmlformats.org/officeDocument/2006/relationships/image" Target="../media/image26.png"/><Relationship Id="rId6" Type="http://schemas.openxmlformats.org/officeDocument/2006/relationships/image" Target="../media/image27.png"/><Relationship Id="rId7" Type="http://schemas.openxmlformats.org/officeDocument/2006/relationships/image" Target="../media/image28.png"/><Relationship Id="rId8" Type="http://schemas.openxmlformats.org/officeDocument/2006/relationships/image" Target="../media/image29.png"/><Relationship Id="rId9" Type="http://schemas.openxmlformats.org/officeDocument/2006/relationships/image" Target="../media/image3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image" Target="../media/image31.png"/><Relationship Id="rId4" Type="http://schemas.openxmlformats.org/officeDocument/2006/relationships/image" Target="../media/image32.png"/><Relationship Id="rId5" Type="http://schemas.openxmlformats.org/officeDocument/2006/relationships/image" Target="../media/image33.png"/><Relationship Id="rId6" Type="http://schemas.openxmlformats.org/officeDocument/2006/relationships/image" Target="../media/image30.png"/><Relationship Id="rId7" Type="http://schemas.openxmlformats.org/officeDocument/2006/relationships/image" Target="../media/image34.png"/><Relationship Id="rId8" Type="http://schemas.openxmlformats.org/officeDocument/2006/relationships/image" Target="../media/image35.png"/><Relationship Id="rId9" Type="http://schemas.openxmlformats.org/officeDocument/2006/relationships/image" Target="../media/image36.png"/><Relationship Id="rId10" Type="http://schemas.openxmlformats.org/officeDocument/2006/relationships/image" Target="../media/image37.png"/><Relationship Id="rId11" Type="http://schemas.openxmlformats.org/officeDocument/2006/relationships/image" Target="../media/image3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 Id="rId3" Type="http://schemas.openxmlformats.org/officeDocument/2006/relationships/image" Target="../media/image31.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40.png"/><Relationship Id="rId7" Type="http://schemas.openxmlformats.org/officeDocument/2006/relationships/image" Target="../media/image41.png"/><Relationship Id="rId8" Type="http://schemas.openxmlformats.org/officeDocument/2006/relationships/image" Target="../media/image42.png"/><Relationship Id="rId9" Type="http://schemas.openxmlformats.org/officeDocument/2006/relationships/image" Target="../media/image4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png"/><Relationship Id="rId3" Type="http://schemas.openxmlformats.org/officeDocument/2006/relationships/image" Target="../media/image45.png"/><Relationship Id="rId4" Type="http://schemas.openxmlformats.org/officeDocument/2006/relationships/image" Target="../media/image46.png"/><Relationship Id="rId5" Type="http://schemas.openxmlformats.org/officeDocument/2006/relationships/image" Target="../media/image47.png"/><Relationship Id="rId6" Type="http://schemas.openxmlformats.org/officeDocument/2006/relationships/image" Target="../media/image4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image" Target="../media/image49.png"/><Relationship Id="rId4" Type="http://schemas.openxmlformats.org/officeDocument/2006/relationships/image" Target="../media/image50.png"/><Relationship Id="rId5" Type="http://schemas.openxmlformats.org/officeDocument/2006/relationships/image" Target="../media/image51.png"/><Relationship Id="rId6" Type="http://schemas.openxmlformats.org/officeDocument/2006/relationships/image" Target="../media/image52.png"/><Relationship Id="rId7" Type="http://schemas.openxmlformats.org/officeDocument/2006/relationships/image" Target="../media/image5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4.png"/><Relationship Id="rId3" Type="http://schemas.openxmlformats.org/officeDocument/2006/relationships/image" Target="../media/image55.png"/><Relationship Id="rId4" Type="http://schemas.openxmlformats.org/officeDocument/2006/relationships/image" Target="../media/image56.png"/><Relationship Id="rId5" Type="http://schemas.openxmlformats.org/officeDocument/2006/relationships/image" Target="../media/image57.png"/><Relationship Id="rId6" Type="http://schemas.openxmlformats.org/officeDocument/2006/relationships/image" Target="../media/image58.png"/><Relationship Id="rId7" Type="http://schemas.openxmlformats.org/officeDocument/2006/relationships/image" Target="../media/image59.png"/><Relationship Id="rId8" Type="http://schemas.openxmlformats.org/officeDocument/2006/relationships/image" Target="../media/image6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1.png"/><Relationship Id="rId3" Type="http://schemas.openxmlformats.org/officeDocument/2006/relationships/image" Target="../media/image62.png"/><Relationship Id="rId4" Type="http://schemas.openxmlformats.org/officeDocument/2006/relationships/image" Target="../media/image15.png"/><Relationship Id="rId5" Type="http://schemas.openxmlformats.org/officeDocument/2006/relationships/image" Target="../media/image63.png"/><Relationship Id="rId6" Type="http://schemas.openxmlformats.org/officeDocument/2006/relationships/image" Target="../media/image6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image" Target="../media/image19.png"/><Relationship Id="rId4" Type="http://schemas.openxmlformats.org/officeDocument/2006/relationships/image" Target="../media/image65.png"/><Relationship Id="rId5" Type="http://schemas.openxmlformats.org/officeDocument/2006/relationships/image" Target="../media/image27.png"/><Relationship Id="rId6" Type="http://schemas.openxmlformats.org/officeDocument/2006/relationships/image" Target="../media/image39.png"/><Relationship Id="rId7" Type="http://schemas.openxmlformats.org/officeDocument/2006/relationships/image" Target="../media/image66.png"/><Relationship Id="rId8" Type="http://schemas.openxmlformats.org/officeDocument/2006/relationships/image" Target="../media/image17.png"/><Relationship Id="rId9" Type="http://schemas.openxmlformats.org/officeDocument/2006/relationships/image" Target="../media/image24.png"/><Relationship Id="rId10" Type="http://schemas.openxmlformats.org/officeDocument/2006/relationships/image" Target="../media/image25.png"/><Relationship Id="rId11" Type="http://schemas.openxmlformats.org/officeDocument/2006/relationships/image" Target="../media/image52.png"/><Relationship Id="rId12" Type="http://schemas.openxmlformats.org/officeDocument/2006/relationships/image" Target="../media/image67.png"/><Relationship Id="rId13" Type="http://schemas.openxmlformats.org/officeDocument/2006/relationships/image" Target="../media/image30.png"/><Relationship Id="rId14" Type="http://schemas.openxmlformats.org/officeDocument/2006/relationships/image" Target="../media/image68.png"/><Relationship Id="rId15" Type="http://schemas.openxmlformats.org/officeDocument/2006/relationships/image" Target="../media/image69.png"/><Relationship Id="rId16" Type="http://schemas.openxmlformats.org/officeDocument/2006/relationships/image" Target="../media/image58.png"/><Relationship Id="rId17" Type="http://schemas.openxmlformats.org/officeDocument/2006/relationships/image" Target="../media/image70.png"/><Relationship Id="rId18" Type="http://schemas.openxmlformats.org/officeDocument/2006/relationships/image" Target="../media/image71.png"/><Relationship Id="rId19" Type="http://schemas.openxmlformats.org/officeDocument/2006/relationships/image" Target="../media/image72.png"/><Relationship Id="rId20" Type="http://schemas.openxmlformats.org/officeDocument/2006/relationships/image" Target="../media/image73.png"/><Relationship Id="rId21" Type="http://schemas.openxmlformats.org/officeDocument/2006/relationships/image" Target="../media/image7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5.png"/><Relationship Id="rId3" Type="http://schemas.openxmlformats.org/officeDocument/2006/relationships/image" Target="../media/image7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image" Target="../media/image58.png"/><Relationship Id="rId4" Type="http://schemas.openxmlformats.org/officeDocument/2006/relationships/image" Target="../media/image69.png"/><Relationship Id="rId5" Type="http://schemas.openxmlformats.org/officeDocument/2006/relationships/image" Target="../media/image77.png"/><Relationship Id="rId6" Type="http://schemas.openxmlformats.org/officeDocument/2006/relationships/image" Target="../media/image4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8.png"/><Relationship Id="rId3" Type="http://schemas.openxmlformats.org/officeDocument/2006/relationships/image" Target="../media/image3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9.png"/><Relationship Id="rId3" Type="http://schemas.openxmlformats.org/officeDocument/2006/relationships/image" Target="../media/image80.png"/><Relationship Id="rId4" Type="http://schemas.openxmlformats.org/officeDocument/2006/relationships/image" Target="../media/image81.png"/><Relationship Id="rId5" Type="http://schemas.openxmlformats.org/officeDocument/2006/relationships/image" Target="../media/image82.png"/><Relationship Id="rId6" Type="http://schemas.openxmlformats.org/officeDocument/2006/relationships/image" Target="../media/image83.png"/><Relationship Id="rId7" Type="http://schemas.openxmlformats.org/officeDocument/2006/relationships/image" Target="../media/image8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5.png"/><Relationship Id="rId3" Type="http://schemas.openxmlformats.org/officeDocument/2006/relationships/image" Target="../media/image86.png"/><Relationship Id="rId4" Type="http://schemas.openxmlformats.org/officeDocument/2006/relationships/image" Target="../media/image87.png"/><Relationship Id="rId5" Type="http://schemas.openxmlformats.org/officeDocument/2006/relationships/image" Target="../media/image88.png"/><Relationship Id="rId6" Type="http://schemas.openxmlformats.org/officeDocument/2006/relationships/image" Target="../media/image89.png"/><Relationship Id="rId7" Type="http://schemas.openxmlformats.org/officeDocument/2006/relationships/image" Target="../media/image68.png"/><Relationship Id="rId8" Type="http://schemas.openxmlformats.org/officeDocument/2006/relationships/image" Target="../media/image8.png"/><Relationship Id="rId9" Type="http://schemas.openxmlformats.org/officeDocument/2006/relationships/image" Target="../media/image70.png"/><Relationship Id="rId10" Type="http://schemas.openxmlformats.org/officeDocument/2006/relationships/image" Target="../media/image30.png"/><Relationship Id="rId11" Type="http://schemas.openxmlformats.org/officeDocument/2006/relationships/image" Target="../media/image58.png"/><Relationship Id="rId12" Type="http://schemas.openxmlformats.org/officeDocument/2006/relationships/image" Target="../media/image69.png"/><Relationship Id="rId13" Type="http://schemas.openxmlformats.org/officeDocument/2006/relationships/image" Target="../media/image8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0.png"/><Relationship Id="rId3" Type="http://schemas.openxmlformats.org/officeDocument/2006/relationships/image" Target="../media/image91.png"/><Relationship Id="rId4" Type="http://schemas.openxmlformats.org/officeDocument/2006/relationships/image" Target="../media/image92.png"/><Relationship Id="rId5" Type="http://schemas.openxmlformats.org/officeDocument/2006/relationships/image" Target="../media/image9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4.png"/><Relationship Id="rId3" Type="http://schemas.openxmlformats.org/officeDocument/2006/relationships/image" Target="../media/image95.png"/><Relationship Id="rId4" Type="http://schemas.openxmlformats.org/officeDocument/2006/relationships/image" Target="../media/image96.png"/><Relationship Id="rId5" Type="http://schemas.openxmlformats.org/officeDocument/2006/relationships/image" Target="../media/image48.png"/><Relationship Id="rId6" Type="http://schemas.openxmlformats.org/officeDocument/2006/relationships/image" Target="../media/image3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7.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pic>
        <p:nvPicPr>
          <p:cNvPr id="3" name="Picture 2" descr="logo_blue.png"/>
          <p:cNvPicPr>
            <a:picLocks noChangeAspect="1"/>
          </p:cNvPicPr>
          <p:nvPr/>
        </p:nvPicPr>
        <p:blipFill>
          <a:blip r:embed="rId2"/>
          <a:stretch>
            <a:fillRect/>
          </a:stretch>
        </p:blipFill>
        <p:spPr>
          <a:xfrm>
            <a:off x="566928" y="475488"/>
            <a:ext cx="1783080" cy="246392"/>
          </a:xfrm>
          <a:prstGeom prst="rect">
            <a:avLst/>
          </a:prstGeom>
        </p:spPr>
      </p:pic>
      <p:sp>
        <p:nvSpPr>
          <p:cNvPr id="4" name="TextBox 3"/>
          <p:cNvSpPr txBox="1"/>
          <p:nvPr/>
        </p:nvSpPr>
        <p:spPr>
          <a:xfrm>
            <a:off x="7967167" y="530352"/>
            <a:ext cx="3657600" cy="274320"/>
          </a:xfrm>
          <a:prstGeom prst="rect">
            <a:avLst/>
          </a:prstGeom>
          <a:noFill/>
        </p:spPr>
        <p:txBody>
          <a:bodyPr wrap="square" lIns="0" rIns="0" tIns="0" bIns="0" anchor="t">
            <a:spAutoFit/>
          </a:bodyPr>
          <a:lstStyle/>
          <a:p>
            <a:pPr algn="r">
              <a:lnSpc>
                <a:spcPct val="128000"/>
              </a:lnSpc>
            </a:pPr>
            <a:r>
              <a:rPr sz="900" b="1" i="0" spc="180">
                <a:solidFill>
                  <a:srgbClr val="6E7180"/>
                </a:solidFill>
                <a:latin typeface="Montserrat"/>
              </a:rPr>
              <a:t>SEPTEMBER 2026   ·   JAIPUR → RAJASTHAN</a:t>
            </a:r>
          </a:p>
        </p:txBody>
      </p:sp>
      <p:sp>
        <p:nvSpPr>
          <p:cNvPr id="5" name="TextBox 4"/>
          <p:cNvSpPr txBox="1"/>
          <p:nvPr/>
        </p:nvSpPr>
        <p:spPr>
          <a:xfrm>
            <a:off x="566928" y="1737360"/>
            <a:ext cx="8229600" cy="274320"/>
          </a:xfrm>
          <a:prstGeom prst="rect">
            <a:avLst/>
          </a:prstGeom>
          <a:noFill/>
        </p:spPr>
        <p:txBody>
          <a:bodyPr wrap="square" lIns="0" rIns="0" tIns="0" bIns="0" anchor="t">
            <a:spAutoFit/>
          </a:bodyPr>
          <a:lstStyle/>
          <a:p>
            <a:pPr algn="l">
              <a:lnSpc>
                <a:spcPct val="128000"/>
              </a:lnSpc>
            </a:pPr>
            <a:r>
              <a:rPr sz="1100" b="1" i="0" spc="240">
                <a:solidFill>
                  <a:srgbClr val="4A35FF"/>
                </a:solidFill>
                <a:latin typeface="Montserrat"/>
              </a:rPr>
              <a:t>TEAM INDUCTION BRIEF</a:t>
            </a:r>
          </a:p>
        </p:txBody>
      </p:sp>
      <p:cxnSp>
        <p:nvCxnSpPr>
          <p:cNvPr id="6" name="Connector 5"/>
          <p:cNvCxnSpPr/>
          <p:nvPr/>
        </p:nvCxnSpPr>
        <p:spPr>
          <a:xfrm>
            <a:off x="566928" y="2084831"/>
            <a:ext cx="640080" cy="0"/>
          </a:xfrm>
          <a:prstGeom prst="line">
            <a:avLst/>
          </a:prstGeom>
          <a:ln w="31750">
            <a:solidFill>
              <a:srgbClr val="4A35FF"/>
            </a:solidFill>
          </a:ln>
          <a:effectLst/>
        </p:spPr>
      </p:cxnSp>
      <p:sp>
        <p:nvSpPr>
          <p:cNvPr id="7" name="TextBox 6"/>
          <p:cNvSpPr txBox="1"/>
          <p:nvPr/>
        </p:nvSpPr>
        <p:spPr>
          <a:xfrm>
            <a:off x="566928" y="2286000"/>
            <a:ext cx="8229600" cy="914400"/>
          </a:xfrm>
          <a:prstGeom prst="rect">
            <a:avLst/>
          </a:prstGeom>
          <a:noFill/>
        </p:spPr>
        <p:txBody>
          <a:bodyPr wrap="square" lIns="0" rIns="0" tIns="0" bIns="0" anchor="t">
            <a:spAutoFit/>
          </a:bodyPr>
          <a:lstStyle/>
          <a:p>
            <a:pPr algn="l">
              <a:lnSpc>
                <a:spcPct val="100000"/>
              </a:lnSpc>
            </a:pPr>
            <a:r>
              <a:rPr sz="5800" b="1" i="0">
                <a:solidFill>
                  <a:srgbClr val="16181D"/>
                </a:solidFill>
                <a:latin typeface="Montserrat"/>
              </a:rPr>
              <a:t>SAHAJ</a:t>
            </a:r>
          </a:p>
        </p:txBody>
      </p:sp>
      <p:sp>
        <p:nvSpPr>
          <p:cNvPr id="8" name="TextBox 7"/>
          <p:cNvSpPr txBox="1"/>
          <p:nvPr/>
        </p:nvSpPr>
        <p:spPr>
          <a:xfrm>
            <a:off x="566928" y="3310128"/>
            <a:ext cx="10607040" cy="548640"/>
          </a:xfrm>
          <a:prstGeom prst="rect">
            <a:avLst/>
          </a:prstGeom>
          <a:noFill/>
        </p:spPr>
        <p:txBody>
          <a:bodyPr wrap="square" lIns="0" rIns="0" tIns="0" bIns="0" anchor="t">
            <a:spAutoFit/>
          </a:bodyPr>
          <a:lstStyle/>
          <a:p>
            <a:pPr algn="l">
              <a:lnSpc>
                <a:spcPct val="120000"/>
              </a:lnSpc>
            </a:pPr>
            <a:r>
              <a:rPr sz="1700" b="1" i="0">
                <a:solidFill>
                  <a:srgbClr val="16181D"/>
                </a:solidFill>
                <a:latin typeface="Montserrat"/>
              </a:rPr>
              <a:t>The Hit-and-Run Compensation Portal — </a:t>
            </a:r>
            <a:r>
              <a:rPr sz="1700" b="1" i="0">
                <a:solidFill>
                  <a:srgbClr val="4A35FF"/>
                </a:solidFill>
                <a:latin typeface="Montserrat"/>
              </a:rPr>
              <a:t>and the production rebuild we're starting together</a:t>
            </a:r>
          </a:p>
        </p:txBody>
      </p:sp>
      <p:sp>
        <p:nvSpPr>
          <p:cNvPr id="9" name="Oval 8"/>
          <p:cNvSpPr/>
          <p:nvPr/>
        </p:nvSpPr>
        <p:spPr>
          <a:xfrm>
            <a:off x="566928" y="4343400"/>
            <a:ext cx="384048" cy="384048"/>
          </a:xfrm>
          <a:prstGeom prst="ellipse">
            <a:avLst/>
          </a:prstGeom>
          <a:solidFill>
            <a:srgbClr val="EFEDFF"/>
          </a:solidFill>
          <a:ln>
            <a:noFill/>
          </a:ln>
          <a:effectLst/>
        </p:spPr>
        <p:txBody>
          <a:bodyPr rtlCol="0" anchor="ctr"/>
          <a:lstStyle/>
          <a:p>
            <a:pPr algn="ctr"/>
          </a:p>
        </p:txBody>
      </p:sp>
      <p:pic>
        <p:nvPicPr>
          <p:cNvPr id="10" name="Picture 9" descr="route_4A35FF_256_2.0.png"/>
          <p:cNvPicPr>
            <a:picLocks noChangeAspect="1"/>
          </p:cNvPicPr>
          <p:nvPr/>
        </p:nvPicPr>
        <p:blipFill>
          <a:blip r:embed="rId3"/>
          <a:stretch>
            <a:fillRect/>
          </a:stretch>
        </p:blipFill>
        <p:spPr>
          <a:xfrm>
            <a:off x="659099" y="4435571"/>
            <a:ext cx="199704" cy="199704"/>
          </a:xfrm>
          <a:prstGeom prst="rect">
            <a:avLst/>
          </a:prstGeom>
        </p:spPr>
      </p:pic>
      <p:sp>
        <p:nvSpPr>
          <p:cNvPr id="11" name="TextBox 10"/>
          <p:cNvSpPr txBox="1"/>
          <p:nvPr/>
        </p:nvSpPr>
        <p:spPr>
          <a:xfrm>
            <a:off x="1097280" y="4315968"/>
            <a:ext cx="1828800" cy="365760"/>
          </a:xfrm>
          <a:prstGeom prst="rect">
            <a:avLst/>
          </a:prstGeom>
          <a:noFill/>
        </p:spPr>
        <p:txBody>
          <a:bodyPr wrap="square" lIns="0" rIns="0" tIns="0" bIns="0" anchor="ctr">
            <a:spAutoFit/>
          </a:bodyPr>
          <a:lstStyle/>
          <a:p>
            <a:pPr algn="l">
              <a:lnSpc>
                <a:spcPct val="128000"/>
              </a:lnSpc>
            </a:pPr>
            <a:r>
              <a:rPr sz="1150" b="1" i="0">
                <a:solidFill>
                  <a:srgbClr val="16181D"/>
                </a:solidFill>
                <a:latin typeface="Montserrat"/>
              </a:rPr>
              <a:t>What it is</a:t>
            </a:r>
          </a:p>
        </p:txBody>
      </p:sp>
      <p:sp>
        <p:nvSpPr>
          <p:cNvPr id="12" name="TextBox 11"/>
          <p:cNvSpPr txBox="1"/>
          <p:nvPr/>
        </p:nvSpPr>
        <p:spPr>
          <a:xfrm>
            <a:off x="2715768" y="4315968"/>
            <a:ext cx="8595360" cy="457200"/>
          </a:xfrm>
          <a:prstGeom prst="rect">
            <a:avLst/>
          </a:prstGeom>
          <a:noFill/>
        </p:spPr>
        <p:txBody>
          <a:bodyPr wrap="square" lIns="0" rIns="0" tIns="0" bIns="0" anchor="ctr">
            <a:spAutoFit/>
          </a:bodyPr>
          <a:lstStyle/>
          <a:p>
            <a:pPr algn="l">
              <a:lnSpc>
                <a:spcPct val="115000"/>
              </a:lnSpc>
            </a:pPr>
            <a:r>
              <a:rPr sz="1100" b="0" i="0">
                <a:solidFill>
                  <a:srgbClr val="6E7180"/>
                </a:solidFill>
                <a:latin typeface="Geist"/>
              </a:rPr>
              <a:t>A tracked digital pipeline for the ₹2 lakh the law already owes hit-and-run families.</a:t>
            </a:r>
          </a:p>
        </p:txBody>
      </p:sp>
      <p:sp>
        <p:nvSpPr>
          <p:cNvPr id="13" name="Oval 12"/>
          <p:cNvSpPr/>
          <p:nvPr/>
        </p:nvSpPr>
        <p:spPr>
          <a:xfrm>
            <a:off x="566928" y="4910328"/>
            <a:ext cx="384048" cy="384048"/>
          </a:xfrm>
          <a:prstGeom prst="ellipse">
            <a:avLst/>
          </a:prstGeom>
          <a:solidFill>
            <a:srgbClr val="EFEDFF"/>
          </a:solidFill>
          <a:ln>
            <a:noFill/>
          </a:ln>
          <a:effectLst/>
        </p:spPr>
        <p:txBody>
          <a:bodyPr rtlCol="0" anchor="ctr"/>
          <a:lstStyle/>
          <a:p>
            <a:pPr algn="ctr"/>
          </a:p>
        </p:txBody>
      </p:sp>
      <p:pic>
        <p:nvPicPr>
          <p:cNvPr id="14" name="Picture 13" descr="map-pin_4A35FF_256_2.0.png"/>
          <p:cNvPicPr>
            <a:picLocks noChangeAspect="1"/>
          </p:cNvPicPr>
          <p:nvPr/>
        </p:nvPicPr>
        <p:blipFill>
          <a:blip r:embed="rId4"/>
          <a:stretch>
            <a:fillRect/>
          </a:stretch>
        </p:blipFill>
        <p:spPr>
          <a:xfrm>
            <a:off x="659099" y="5002499"/>
            <a:ext cx="199704" cy="199704"/>
          </a:xfrm>
          <a:prstGeom prst="rect">
            <a:avLst/>
          </a:prstGeom>
        </p:spPr>
      </p:pic>
      <p:sp>
        <p:nvSpPr>
          <p:cNvPr id="15" name="TextBox 14"/>
          <p:cNvSpPr txBox="1"/>
          <p:nvPr/>
        </p:nvSpPr>
        <p:spPr>
          <a:xfrm>
            <a:off x="1097280" y="4882896"/>
            <a:ext cx="1828800" cy="365760"/>
          </a:xfrm>
          <a:prstGeom prst="rect">
            <a:avLst/>
          </a:prstGeom>
          <a:noFill/>
        </p:spPr>
        <p:txBody>
          <a:bodyPr wrap="square" lIns="0" rIns="0" tIns="0" bIns="0" anchor="ctr">
            <a:spAutoFit/>
          </a:bodyPr>
          <a:lstStyle/>
          <a:p>
            <a:pPr algn="l">
              <a:lnSpc>
                <a:spcPct val="128000"/>
              </a:lnSpc>
            </a:pPr>
            <a:r>
              <a:rPr sz="1150" b="1" i="0">
                <a:solidFill>
                  <a:srgbClr val="16181D"/>
                </a:solidFill>
                <a:latin typeface="Montserrat"/>
              </a:rPr>
              <a:t>Where it is</a:t>
            </a:r>
          </a:p>
        </p:txBody>
      </p:sp>
      <p:sp>
        <p:nvSpPr>
          <p:cNvPr id="16" name="TextBox 15"/>
          <p:cNvSpPr txBox="1"/>
          <p:nvPr/>
        </p:nvSpPr>
        <p:spPr>
          <a:xfrm>
            <a:off x="2715768" y="4882896"/>
            <a:ext cx="8595360" cy="457200"/>
          </a:xfrm>
          <a:prstGeom prst="rect">
            <a:avLst/>
          </a:prstGeom>
          <a:noFill/>
        </p:spPr>
        <p:txBody>
          <a:bodyPr wrap="square" lIns="0" rIns="0" tIns="0" bIns="0" anchor="ctr">
            <a:spAutoFit/>
          </a:bodyPr>
          <a:lstStyle/>
          <a:p>
            <a:pPr algn="l">
              <a:lnSpc>
                <a:spcPct val="115000"/>
              </a:lnSpc>
            </a:pPr>
            <a:r>
              <a:rPr sz="1100" b="0" i="0">
                <a:solidFill>
                  <a:srgbClr val="6E7180"/>
                </a:solidFill>
                <a:latin typeface="Geist"/>
              </a:rPr>
              <a:t>Live on the ground in Jaipur for a month; now rebuilding for all of Rajasthan, then other states.</a:t>
            </a:r>
          </a:p>
        </p:txBody>
      </p:sp>
      <p:sp>
        <p:nvSpPr>
          <p:cNvPr id="17" name="Oval 16"/>
          <p:cNvSpPr/>
          <p:nvPr/>
        </p:nvSpPr>
        <p:spPr>
          <a:xfrm>
            <a:off x="566928" y="5477256"/>
            <a:ext cx="384048" cy="384048"/>
          </a:xfrm>
          <a:prstGeom prst="ellipse">
            <a:avLst/>
          </a:prstGeom>
          <a:solidFill>
            <a:srgbClr val="EFEDFF"/>
          </a:solidFill>
          <a:ln>
            <a:noFill/>
          </a:ln>
          <a:effectLst/>
        </p:spPr>
        <p:txBody>
          <a:bodyPr rtlCol="0" anchor="ctr"/>
          <a:lstStyle/>
          <a:p>
            <a:pPr algn="ctr"/>
          </a:p>
        </p:txBody>
      </p:sp>
      <p:pic>
        <p:nvPicPr>
          <p:cNvPr id="18" name="Picture 17" descr="hammer_4A35FF_256_2.0.png"/>
          <p:cNvPicPr>
            <a:picLocks noChangeAspect="1"/>
          </p:cNvPicPr>
          <p:nvPr/>
        </p:nvPicPr>
        <p:blipFill>
          <a:blip r:embed="rId5"/>
          <a:stretch>
            <a:fillRect/>
          </a:stretch>
        </p:blipFill>
        <p:spPr>
          <a:xfrm>
            <a:off x="659099" y="5569427"/>
            <a:ext cx="199704" cy="199704"/>
          </a:xfrm>
          <a:prstGeom prst="rect">
            <a:avLst/>
          </a:prstGeom>
        </p:spPr>
      </p:pic>
      <p:sp>
        <p:nvSpPr>
          <p:cNvPr id="19" name="TextBox 18"/>
          <p:cNvSpPr txBox="1"/>
          <p:nvPr/>
        </p:nvSpPr>
        <p:spPr>
          <a:xfrm>
            <a:off x="1097280" y="5449824"/>
            <a:ext cx="1828800" cy="365760"/>
          </a:xfrm>
          <a:prstGeom prst="rect">
            <a:avLst/>
          </a:prstGeom>
          <a:noFill/>
        </p:spPr>
        <p:txBody>
          <a:bodyPr wrap="square" lIns="0" rIns="0" tIns="0" bIns="0" anchor="ctr">
            <a:spAutoFit/>
          </a:bodyPr>
          <a:lstStyle/>
          <a:p>
            <a:pPr algn="l">
              <a:lnSpc>
                <a:spcPct val="128000"/>
              </a:lnSpc>
            </a:pPr>
            <a:r>
              <a:rPr sz="1150" b="1" i="0">
                <a:solidFill>
                  <a:srgbClr val="16181D"/>
                </a:solidFill>
                <a:latin typeface="Montserrat"/>
              </a:rPr>
              <a:t>Why you're here</a:t>
            </a:r>
          </a:p>
        </p:txBody>
      </p:sp>
      <p:sp>
        <p:nvSpPr>
          <p:cNvPr id="20" name="TextBox 19"/>
          <p:cNvSpPr txBox="1"/>
          <p:nvPr/>
        </p:nvSpPr>
        <p:spPr>
          <a:xfrm>
            <a:off x="2715768" y="5449824"/>
            <a:ext cx="8595360" cy="457200"/>
          </a:xfrm>
          <a:prstGeom prst="rect">
            <a:avLst/>
          </a:prstGeom>
          <a:noFill/>
        </p:spPr>
        <p:txBody>
          <a:bodyPr wrap="square" lIns="0" rIns="0" tIns="0" bIns="0" anchor="ctr">
            <a:spAutoFit/>
          </a:bodyPr>
          <a:lstStyle/>
          <a:p>
            <a:pPr algn="l">
              <a:lnSpc>
                <a:spcPct val="115000"/>
              </a:lnSpc>
            </a:pPr>
            <a:r>
              <a:rPr sz="1100" b="0" i="0">
                <a:solidFill>
                  <a:srgbClr val="6E7180"/>
                </a:solidFill>
                <a:latin typeface="Geist"/>
              </a:rPr>
              <a:t>Audit it, harden it for scale, and close the last gaps — while the live pilot keeps running.</a:t>
            </a:r>
          </a:p>
        </p:txBody>
      </p:sp>
      <p:sp>
        <p:nvSpPr>
          <p:cNvPr id="21" name="TextBox 20"/>
          <p:cNvSpPr txBox="1"/>
          <p:nvPr/>
        </p:nvSpPr>
        <p:spPr>
          <a:xfrm>
            <a:off x="566928" y="6327648"/>
            <a:ext cx="8412480" cy="274320"/>
          </a:xfrm>
          <a:prstGeom prst="rect">
            <a:avLst/>
          </a:prstGeom>
          <a:noFill/>
        </p:spPr>
        <p:txBody>
          <a:bodyPr wrap="square" lIns="0" rIns="0" tIns="0" bIns="0" anchor="t">
            <a:spAutoFit/>
          </a:bodyPr>
          <a:lstStyle/>
          <a:p>
            <a:pPr algn="l">
              <a:lnSpc>
                <a:spcPct val="128000"/>
              </a:lnSpc>
            </a:pPr>
            <a:r>
              <a:rPr sz="950" b="0" i="0">
                <a:solidFill>
                  <a:srgbClr val="6E7180"/>
                </a:solidFill>
                <a:latin typeface="Geist"/>
              </a:rPr>
              <a:t>Prepared for the incoming engineering &amp; product team   ·   Crashfree India × Rajasthan Transport &amp; Road Safety Dept.</a:t>
            </a:r>
          </a:p>
        </p:txBody>
      </p:sp>
      <p:sp>
        <p:nvSpPr>
          <p:cNvPr id="22" name="TextBox 21"/>
          <p:cNvSpPr txBox="1"/>
          <p:nvPr/>
        </p:nvSpPr>
        <p:spPr>
          <a:xfrm>
            <a:off x="9247327" y="6327648"/>
            <a:ext cx="2377440" cy="274320"/>
          </a:xfrm>
          <a:prstGeom prst="rect">
            <a:avLst/>
          </a:prstGeom>
          <a:noFill/>
        </p:spPr>
        <p:txBody>
          <a:bodyPr wrap="square" lIns="0" rIns="0" tIns="0" bIns="0" anchor="t">
            <a:spAutoFit/>
          </a:bodyPr>
          <a:lstStyle/>
          <a:p>
            <a:pPr algn="r">
              <a:lnSpc>
                <a:spcPct val="128000"/>
              </a:lnSpc>
            </a:pPr>
            <a:r>
              <a:rPr sz="950" b="1" i="0">
                <a:solidFill>
                  <a:srgbClr val="4A35FF"/>
                </a:solidFill>
                <a:latin typeface="Montserrat"/>
              </a:rPr>
              <a:t>crashfreeindia.org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66928" y="274320"/>
            <a:ext cx="82296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BEFORE THE SLIDES</a:t>
            </a:r>
          </a:p>
        </p:txBody>
      </p:sp>
      <p:cxnSp>
        <p:nvCxnSpPr>
          <p:cNvPr id="4" name="Connector 3"/>
          <p:cNvCxnSpPr/>
          <p:nvPr/>
        </p:nvCxnSpPr>
        <p:spPr>
          <a:xfrm>
            <a:off x="566928" y="566928"/>
            <a:ext cx="502920" cy="0"/>
          </a:xfrm>
          <a:prstGeom prst="line">
            <a:avLst/>
          </a:prstGeom>
          <a:ln w="25400">
            <a:solidFill>
              <a:srgbClr val="4A35FF"/>
            </a:solidFill>
          </a:ln>
          <a:effectLst/>
        </p:spPr>
      </p:cxnSp>
      <p:sp>
        <p:nvSpPr>
          <p:cNvPr id="5" name="TextBox 4"/>
          <p:cNvSpPr txBox="1"/>
          <p:nvPr/>
        </p:nvSpPr>
        <p:spPr>
          <a:xfrm>
            <a:off x="566928" y="694944"/>
            <a:ext cx="10972800" cy="457200"/>
          </a:xfrm>
          <a:prstGeom prst="rect">
            <a:avLst/>
          </a:prstGeom>
          <a:noFill/>
        </p:spPr>
        <p:txBody>
          <a:bodyPr wrap="square" lIns="0" rIns="0" tIns="0" bIns="0" anchor="t">
            <a:spAutoFit/>
          </a:bodyPr>
          <a:lstStyle/>
          <a:p>
            <a:pPr algn="l">
              <a:lnSpc>
                <a:spcPct val="110000"/>
              </a:lnSpc>
            </a:pPr>
            <a:r>
              <a:rPr sz="2250" b="1" i="0">
                <a:solidFill>
                  <a:srgbClr val="16181D"/>
                </a:solidFill>
                <a:latin typeface="Montserrat"/>
              </a:rPr>
              <a:t>A note to the </a:t>
            </a:r>
            <a:r>
              <a:rPr sz="2250" b="1" i="0">
                <a:solidFill>
                  <a:srgbClr val="4A35FF"/>
                </a:solidFill>
                <a:latin typeface="Montserrat"/>
              </a:rPr>
              <a:t>team</a:t>
            </a:r>
          </a:p>
        </p:txBody>
      </p:sp>
      <p:sp>
        <p:nvSpPr>
          <p:cNvPr id="6" name="Rectangle 5"/>
          <p:cNvSpPr/>
          <p:nvPr/>
        </p:nvSpPr>
        <p:spPr>
          <a:xfrm>
            <a:off x="1389888" y="1298448"/>
            <a:ext cx="9418320" cy="4892040"/>
          </a:xfrm>
          <a:prstGeom prst="rect">
            <a:avLst/>
          </a:prstGeom>
          <a:solidFill>
            <a:srgbClr val="FFFFFF"/>
          </a:solidFill>
          <a:ln w="15240">
            <a:solidFill>
              <a:srgbClr val="E8E9EE"/>
            </a:solidFill>
          </a:ln>
          <a:effectLst/>
        </p:spPr>
        <p:txBody>
          <a:bodyPr rtlCol="0" anchor="ctr"/>
          <a:lstStyle/>
          <a:p>
            <a:pPr algn="ctr"/>
          </a:p>
        </p:txBody>
      </p:sp>
      <p:sp>
        <p:nvSpPr>
          <p:cNvPr id="7" name="Rectangle 6"/>
          <p:cNvSpPr/>
          <p:nvPr/>
        </p:nvSpPr>
        <p:spPr>
          <a:xfrm>
            <a:off x="1389888" y="1298448"/>
            <a:ext cx="9418320" cy="54864"/>
          </a:xfrm>
          <a:prstGeom prst="rect">
            <a:avLst/>
          </a:prstGeom>
          <a:solidFill>
            <a:srgbClr val="4A35FF"/>
          </a:solidFill>
          <a:ln>
            <a:noFill/>
          </a:ln>
          <a:effectLst/>
        </p:spPr>
        <p:txBody>
          <a:bodyPr rtlCol="0" anchor="ctr"/>
          <a:lstStyle/>
          <a:p>
            <a:pPr algn="ctr"/>
          </a:p>
        </p:txBody>
      </p:sp>
      <p:pic>
        <p:nvPicPr>
          <p:cNvPr id="8" name="Picture 7" descr="logo_blue.png"/>
          <p:cNvPicPr>
            <a:picLocks noChangeAspect="1"/>
          </p:cNvPicPr>
          <p:nvPr/>
        </p:nvPicPr>
        <p:blipFill>
          <a:blip r:embed="rId2"/>
          <a:stretch>
            <a:fillRect/>
          </a:stretch>
        </p:blipFill>
        <p:spPr>
          <a:xfrm>
            <a:off x="1847088" y="1572768"/>
            <a:ext cx="1280160" cy="176897"/>
          </a:xfrm>
          <a:prstGeom prst="rect">
            <a:avLst/>
          </a:prstGeom>
        </p:spPr>
      </p:pic>
      <p:sp>
        <p:nvSpPr>
          <p:cNvPr id="9" name="TextBox 8"/>
          <p:cNvSpPr txBox="1"/>
          <p:nvPr/>
        </p:nvSpPr>
        <p:spPr>
          <a:xfrm>
            <a:off x="7699248" y="1609344"/>
            <a:ext cx="2651760" cy="274320"/>
          </a:xfrm>
          <a:prstGeom prst="rect">
            <a:avLst/>
          </a:prstGeom>
          <a:noFill/>
        </p:spPr>
        <p:txBody>
          <a:bodyPr wrap="square" lIns="0" rIns="0" tIns="0" bIns="0" anchor="t">
            <a:spAutoFit/>
          </a:bodyPr>
          <a:lstStyle/>
          <a:p>
            <a:pPr algn="r">
              <a:lnSpc>
                <a:spcPct val="128000"/>
              </a:lnSpc>
            </a:pPr>
            <a:r>
              <a:rPr sz="950" b="0" i="0">
                <a:solidFill>
                  <a:srgbClr val="6E7180"/>
                </a:solidFill>
                <a:latin typeface="Geist"/>
              </a:rPr>
              <a:t>Jaipur · September 2026</a:t>
            </a:r>
          </a:p>
        </p:txBody>
      </p:sp>
      <p:sp>
        <p:nvSpPr>
          <p:cNvPr id="10" name="TextBox 9"/>
          <p:cNvSpPr txBox="1"/>
          <p:nvPr/>
        </p:nvSpPr>
        <p:spPr>
          <a:xfrm>
            <a:off x="1847088" y="2167128"/>
            <a:ext cx="8503920" cy="3108960"/>
          </a:xfrm>
          <a:prstGeom prst="rect">
            <a:avLst/>
          </a:prstGeom>
          <a:noFill/>
        </p:spPr>
        <p:txBody>
          <a:bodyPr wrap="square" lIns="0" rIns="0" tIns="0" bIns="0" anchor="t">
            <a:spAutoFit/>
          </a:bodyPr>
          <a:lstStyle/>
          <a:p>
            <a:pPr algn="l">
              <a:lnSpc>
                <a:spcPct val="140000"/>
              </a:lnSpc>
              <a:spcAft>
                <a:spcPts val="1100"/>
              </a:spcAft>
            </a:pPr>
            <a:r>
              <a:rPr sz="1100" b="0" i="0">
                <a:solidFill>
                  <a:srgbClr val="16181D"/>
                </a:solidFill>
                <a:latin typeface="Geist"/>
              </a:rPr>
              <a:t>Thank you for stepping up for this. It is a critical piece of work — it can decide whether a grieving family actually receives the ₹2 lakh the law already entitles them to, and it can set a national benchmark for how “AI for good” is scaled to fix real beneficiary systems.</a:t>
            </a:r>
          </a:p>
          <a:p>
            <a:pPr algn="l">
              <a:lnSpc>
                <a:spcPct val="140000"/>
              </a:lnSpc>
              <a:spcAft>
                <a:spcPts val="1100"/>
              </a:spcAft>
            </a:pPr>
            <a:r>
              <a:rPr sz="1100" b="0" i="0">
                <a:solidFill>
                  <a:srgbClr val="16181D"/>
                </a:solidFill>
                <a:latin typeface="Geist"/>
              </a:rPr>
              <a:t>Here is the honest picture. The scheme is sound; the paper pipeline is where families fall through. We built SAHAJ to digitise that exact statutory chain, ran it live in Jaipur for a month, and learned a great deal about the ground reality. The current platform got us here fast, but much of it is vibe-coded — fine at pilot volume, not yet ready for a state. That is the job now: look at every part critically, keep the live pilot stable, and rebuild it to production grade.</a:t>
            </a:r>
          </a:p>
          <a:p>
            <a:pPr algn="l">
              <a:lnSpc>
                <a:spcPct val="140000"/>
              </a:lnSpc>
              <a:spcAft>
                <a:spcPts val="1100"/>
              </a:spcAft>
            </a:pPr>
            <a:r>
              <a:rPr sz="1100" b="0" i="0">
                <a:solidFill>
                  <a:srgbClr val="16181D"/>
                </a:solidFill>
                <a:latin typeface="Geist"/>
              </a:rPr>
              <a:t>This deck is your on-ramp: what the project is, how the process works end to end, how the system is built, where we are, and exactly where we need your help. Please come to our call with questions — challenge anything that looks wrong.</a:t>
            </a:r>
          </a:p>
        </p:txBody>
      </p:sp>
      <p:sp>
        <p:nvSpPr>
          <p:cNvPr id="11" name="TextBox 10"/>
          <p:cNvSpPr txBox="1"/>
          <p:nvPr/>
        </p:nvSpPr>
        <p:spPr>
          <a:xfrm>
            <a:off x="1847088" y="5230368"/>
            <a:ext cx="8503920" cy="274320"/>
          </a:xfrm>
          <a:prstGeom prst="rect">
            <a:avLst/>
          </a:prstGeom>
          <a:noFill/>
        </p:spPr>
        <p:txBody>
          <a:bodyPr wrap="square" lIns="0" rIns="0" tIns="0" bIns="0" anchor="t">
            <a:spAutoFit/>
          </a:bodyPr>
          <a:lstStyle/>
          <a:p>
            <a:pPr algn="l">
              <a:lnSpc>
                <a:spcPct val="128000"/>
              </a:lnSpc>
            </a:pPr>
            <a:r>
              <a:rPr sz="1100" b="0" i="0">
                <a:solidFill>
                  <a:srgbClr val="16181D"/>
                </a:solidFill>
                <a:latin typeface="Geist"/>
              </a:rPr>
              <a:t>Respectfully,</a:t>
            </a:r>
          </a:p>
        </p:txBody>
      </p:sp>
      <p:sp>
        <p:nvSpPr>
          <p:cNvPr id="12" name="TextBox 11"/>
          <p:cNvSpPr txBox="1"/>
          <p:nvPr/>
        </p:nvSpPr>
        <p:spPr>
          <a:xfrm>
            <a:off x="1847088" y="5504688"/>
            <a:ext cx="8503920" cy="274320"/>
          </a:xfrm>
          <a:prstGeom prst="rect">
            <a:avLst/>
          </a:prstGeom>
          <a:noFill/>
        </p:spPr>
        <p:txBody>
          <a:bodyPr wrap="square" lIns="0" rIns="0" tIns="0" bIns="0" anchor="t">
            <a:spAutoFit/>
          </a:bodyPr>
          <a:lstStyle/>
          <a:p>
            <a:pPr algn="l">
              <a:lnSpc>
                <a:spcPct val="128000"/>
              </a:lnSpc>
            </a:pPr>
            <a:r>
              <a:rPr sz="1150" b="1" i="0">
                <a:solidFill>
                  <a:srgbClr val="16181D"/>
                </a:solidFill>
                <a:latin typeface="Montserrat"/>
              </a:rPr>
              <a:t>Akhtar Hussain</a:t>
            </a:r>
          </a:p>
        </p:txBody>
      </p:sp>
      <p:sp>
        <p:nvSpPr>
          <p:cNvPr id="13" name="TextBox 12"/>
          <p:cNvSpPr txBox="1"/>
          <p:nvPr/>
        </p:nvSpPr>
        <p:spPr>
          <a:xfrm>
            <a:off x="1847088" y="5724144"/>
            <a:ext cx="8503920" cy="237744"/>
          </a:xfrm>
          <a:prstGeom prst="rect">
            <a:avLst/>
          </a:prstGeom>
          <a:noFill/>
        </p:spPr>
        <p:txBody>
          <a:bodyPr wrap="square" lIns="0" rIns="0" tIns="0" bIns="0" anchor="t">
            <a:spAutoFit/>
          </a:bodyPr>
          <a:lstStyle/>
          <a:p>
            <a:pPr algn="l">
              <a:lnSpc>
                <a:spcPct val="128000"/>
              </a:lnSpc>
            </a:pPr>
            <a:r>
              <a:rPr sz="950" b="0" i="0">
                <a:solidFill>
                  <a:srgbClr val="6E7180"/>
                </a:solidFill>
                <a:latin typeface="Geist"/>
              </a:rPr>
              <a:t>Mission Lead, Crashfree India   ·   akhtar@crashfreeindia.org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566928" y="274320"/>
            <a:ext cx="82296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HOW THIS BRIEF IS ORGANISED</a:t>
            </a:r>
          </a:p>
        </p:txBody>
      </p:sp>
      <p:cxnSp>
        <p:nvCxnSpPr>
          <p:cNvPr id="4" name="Connector 3"/>
          <p:cNvCxnSpPr/>
          <p:nvPr/>
        </p:nvCxnSpPr>
        <p:spPr>
          <a:xfrm>
            <a:off x="566928" y="566928"/>
            <a:ext cx="502920" cy="0"/>
          </a:xfrm>
          <a:prstGeom prst="line">
            <a:avLst/>
          </a:prstGeom>
          <a:ln w="25400">
            <a:solidFill>
              <a:srgbClr val="4A35FF"/>
            </a:solidFill>
          </a:ln>
          <a:effectLst/>
        </p:spPr>
      </p:cxnSp>
      <p:sp>
        <p:nvSpPr>
          <p:cNvPr id="5" name="TextBox 4"/>
          <p:cNvSpPr txBox="1"/>
          <p:nvPr/>
        </p:nvSpPr>
        <p:spPr>
          <a:xfrm>
            <a:off x="566928" y="694944"/>
            <a:ext cx="10972800" cy="457200"/>
          </a:xfrm>
          <a:prstGeom prst="rect">
            <a:avLst/>
          </a:prstGeom>
          <a:noFill/>
        </p:spPr>
        <p:txBody>
          <a:bodyPr wrap="square" lIns="0" rIns="0" tIns="0" bIns="0" anchor="t">
            <a:spAutoFit/>
          </a:bodyPr>
          <a:lstStyle/>
          <a:p>
            <a:pPr algn="l">
              <a:lnSpc>
                <a:spcPct val="110000"/>
              </a:lnSpc>
            </a:pPr>
            <a:r>
              <a:rPr sz="2250" b="1" i="0">
                <a:solidFill>
                  <a:srgbClr val="16181D"/>
                </a:solidFill>
                <a:latin typeface="Montserrat"/>
              </a:rPr>
              <a:t>Five sections, </a:t>
            </a:r>
            <a:r>
              <a:rPr sz="2250" b="1" i="0">
                <a:solidFill>
                  <a:srgbClr val="4A35FF"/>
                </a:solidFill>
                <a:latin typeface="Montserrat"/>
              </a:rPr>
              <a:t>from why it matters to where you come in</a:t>
            </a:r>
          </a:p>
        </p:txBody>
      </p:sp>
      <p:sp>
        <p:nvSpPr>
          <p:cNvPr id="6" name="Rounded Rectangle 5"/>
          <p:cNvSpPr/>
          <p:nvPr/>
        </p:nvSpPr>
        <p:spPr>
          <a:xfrm>
            <a:off x="566928" y="1572768"/>
            <a:ext cx="11057839" cy="804672"/>
          </a:xfrm>
          <a:prstGeom prst="roundRect">
            <a:avLst>
              <a:gd name="adj" fmla="val 10000"/>
            </a:avLst>
          </a:prstGeom>
          <a:solidFill>
            <a:srgbClr val="F7F7FA"/>
          </a:solidFill>
          <a:ln>
            <a:noFill/>
          </a:ln>
          <a:effectLst/>
        </p:spPr>
        <p:txBody>
          <a:bodyPr rtlCol="0" anchor="ctr"/>
          <a:lstStyle/>
          <a:p>
            <a:pPr algn="ctr"/>
          </a:p>
        </p:txBody>
      </p:sp>
      <p:sp>
        <p:nvSpPr>
          <p:cNvPr id="7" name="Oval 6"/>
          <p:cNvSpPr/>
          <p:nvPr/>
        </p:nvSpPr>
        <p:spPr>
          <a:xfrm>
            <a:off x="768096" y="1755648"/>
            <a:ext cx="438912" cy="438912"/>
          </a:xfrm>
          <a:prstGeom prst="ellipse">
            <a:avLst/>
          </a:prstGeom>
          <a:solidFill>
            <a:srgbClr val="EFEDFF"/>
          </a:solidFill>
          <a:ln>
            <a:noFill/>
          </a:ln>
          <a:effectLst/>
        </p:spPr>
        <p:txBody>
          <a:bodyPr rtlCol="0" anchor="ctr"/>
          <a:lstStyle/>
          <a:p>
            <a:pPr algn="ctr"/>
          </a:p>
        </p:txBody>
      </p:sp>
      <p:sp>
        <p:nvSpPr>
          <p:cNvPr id="8" name="TextBox 7"/>
          <p:cNvSpPr txBox="1"/>
          <p:nvPr/>
        </p:nvSpPr>
        <p:spPr>
          <a:xfrm>
            <a:off x="768096" y="1744676"/>
            <a:ext cx="438912" cy="438912"/>
          </a:xfrm>
          <a:prstGeom prst="rect">
            <a:avLst/>
          </a:prstGeom>
          <a:noFill/>
        </p:spPr>
        <p:txBody>
          <a:bodyPr wrap="square" lIns="0" rIns="0" tIns="0" bIns="0" anchor="ctr">
            <a:spAutoFit/>
          </a:bodyPr>
          <a:lstStyle/>
          <a:p>
            <a:pPr algn="ctr">
              <a:lnSpc>
                <a:spcPct val="100000"/>
              </a:lnSpc>
            </a:pPr>
            <a:r>
              <a:rPr sz="1300" b="1" i="0">
                <a:solidFill>
                  <a:srgbClr val="4A35FF"/>
                </a:solidFill>
                <a:latin typeface="Montserrat"/>
              </a:rPr>
              <a:t>1</a:t>
            </a:r>
          </a:p>
        </p:txBody>
      </p:sp>
      <p:sp>
        <p:nvSpPr>
          <p:cNvPr id="9" name="Oval 8"/>
          <p:cNvSpPr/>
          <p:nvPr/>
        </p:nvSpPr>
        <p:spPr>
          <a:xfrm>
            <a:off x="1435608" y="1755648"/>
            <a:ext cx="438912" cy="438912"/>
          </a:xfrm>
          <a:prstGeom prst="ellipse">
            <a:avLst/>
          </a:prstGeom>
          <a:solidFill>
            <a:srgbClr val="EFEDFF"/>
          </a:solidFill>
          <a:ln>
            <a:noFill/>
          </a:ln>
          <a:effectLst/>
        </p:spPr>
        <p:txBody>
          <a:bodyPr rtlCol="0" anchor="ctr"/>
          <a:lstStyle/>
          <a:p>
            <a:pPr algn="ctr"/>
          </a:p>
        </p:txBody>
      </p:sp>
      <p:pic>
        <p:nvPicPr>
          <p:cNvPr id="10" name="Picture 9" descr="target_4A35FF_256_2.0.png"/>
          <p:cNvPicPr>
            <a:picLocks noChangeAspect="1"/>
          </p:cNvPicPr>
          <p:nvPr/>
        </p:nvPicPr>
        <p:blipFill>
          <a:blip r:embed="rId2"/>
          <a:stretch>
            <a:fillRect/>
          </a:stretch>
        </p:blipFill>
        <p:spPr>
          <a:xfrm>
            <a:off x="1540946" y="1860986"/>
            <a:ext cx="228234" cy="228234"/>
          </a:xfrm>
          <a:prstGeom prst="rect">
            <a:avLst/>
          </a:prstGeom>
        </p:spPr>
      </p:pic>
      <p:sp>
        <p:nvSpPr>
          <p:cNvPr id="11" name="TextBox 10"/>
          <p:cNvSpPr txBox="1"/>
          <p:nvPr/>
        </p:nvSpPr>
        <p:spPr>
          <a:xfrm>
            <a:off x="2103120" y="1700784"/>
            <a:ext cx="5943600" cy="365760"/>
          </a:xfrm>
          <a:prstGeom prst="rect">
            <a:avLst/>
          </a:prstGeom>
          <a:noFill/>
        </p:spPr>
        <p:txBody>
          <a:bodyPr wrap="square" lIns="0" rIns="0" tIns="0" bIns="0" anchor="t">
            <a:spAutoFit/>
          </a:bodyPr>
          <a:lstStyle/>
          <a:p>
            <a:pPr algn="l">
              <a:lnSpc>
                <a:spcPct val="100000"/>
              </a:lnSpc>
            </a:pPr>
            <a:r>
              <a:rPr sz="1300" b="1" i="0">
                <a:solidFill>
                  <a:srgbClr val="16181D"/>
                </a:solidFill>
                <a:latin typeface="Montserrat"/>
              </a:rPr>
              <a:t>The mission</a:t>
            </a:r>
          </a:p>
        </p:txBody>
      </p:sp>
      <p:sp>
        <p:nvSpPr>
          <p:cNvPr id="12" name="TextBox 11"/>
          <p:cNvSpPr txBox="1"/>
          <p:nvPr/>
        </p:nvSpPr>
        <p:spPr>
          <a:xfrm>
            <a:off x="2103120" y="2002536"/>
            <a:ext cx="7863840" cy="320040"/>
          </a:xfrm>
          <a:prstGeom prst="rect">
            <a:avLst/>
          </a:prstGeom>
          <a:noFill/>
        </p:spPr>
        <p:txBody>
          <a:bodyPr wrap="square" lIns="0" rIns="0" tIns="0" bIns="0" anchor="t">
            <a:spAutoFit/>
          </a:bodyPr>
          <a:lstStyle/>
          <a:p>
            <a:pPr algn="l">
              <a:lnSpc>
                <a:spcPct val="112000"/>
              </a:lnSpc>
            </a:pPr>
            <a:r>
              <a:rPr sz="1050" b="0" i="0">
                <a:solidFill>
                  <a:srgbClr val="6E7180"/>
                </a:solidFill>
                <a:latin typeface="Geist"/>
              </a:rPr>
              <a:t>The problem, what SAHAJ is, and who is behind it.</a:t>
            </a:r>
          </a:p>
        </p:txBody>
      </p:sp>
      <p:sp>
        <p:nvSpPr>
          <p:cNvPr id="13" name="TextBox 12"/>
          <p:cNvSpPr txBox="1"/>
          <p:nvPr/>
        </p:nvSpPr>
        <p:spPr>
          <a:xfrm>
            <a:off x="10024567" y="1792224"/>
            <a:ext cx="1417320" cy="365760"/>
          </a:xfrm>
          <a:prstGeom prst="rect">
            <a:avLst/>
          </a:prstGeom>
          <a:noFill/>
        </p:spPr>
        <p:txBody>
          <a:bodyPr wrap="square" lIns="0" rIns="0" tIns="0" bIns="0" anchor="t">
            <a:spAutoFit/>
          </a:bodyPr>
          <a:lstStyle/>
          <a:p>
            <a:pPr algn="r">
              <a:lnSpc>
                <a:spcPct val="128000"/>
              </a:lnSpc>
            </a:pPr>
            <a:r>
              <a:rPr sz="1200" b="1" i="0">
                <a:solidFill>
                  <a:srgbClr val="4A35FF"/>
                </a:solidFill>
                <a:latin typeface="Montserrat"/>
              </a:rPr>
              <a:t>04 – 06</a:t>
            </a:r>
          </a:p>
        </p:txBody>
      </p:sp>
      <p:sp>
        <p:nvSpPr>
          <p:cNvPr id="14" name="Rounded Rectangle 13"/>
          <p:cNvSpPr/>
          <p:nvPr/>
        </p:nvSpPr>
        <p:spPr>
          <a:xfrm>
            <a:off x="566928" y="2505456"/>
            <a:ext cx="11057839" cy="804672"/>
          </a:xfrm>
          <a:prstGeom prst="roundRect">
            <a:avLst>
              <a:gd name="adj" fmla="val 10000"/>
            </a:avLst>
          </a:prstGeom>
          <a:solidFill>
            <a:srgbClr val="FFFFFF"/>
          </a:solidFill>
          <a:ln w="9525">
            <a:solidFill>
              <a:srgbClr val="E8E9EE"/>
            </a:solidFill>
          </a:ln>
          <a:effectLst/>
        </p:spPr>
        <p:txBody>
          <a:bodyPr rtlCol="0" anchor="ctr"/>
          <a:lstStyle/>
          <a:p>
            <a:pPr algn="ctr"/>
          </a:p>
        </p:txBody>
      </p:sp>
      <p:sp>
        <p:nvSpPr>
          <p:cNvPr id="15" name="Oval 14"/>
          <p:cNvSpPr/>
          <p:nvPr/>
        </p:nvSpPr>
        <p:spPr>
          <a:xfrm>
            <a:off x="768096" y="2688336"/>
            <a:ext cx="438912" cy="438912"/>
          </a:xfrm>
          <a:prstGeom prst="ellipse">
            <a:avLst/>
          </a:prstGeom>
          <a:solidFill>
            <a:srgbClr val="EFEDFF"/>
          </a:solidFill>
          <a:ln>
            <a:noFill/>
          </a:ln>
          <a:effectLst/>
        </p:spPr>
        <p:txBody>
          <a:bodyPr rtlCol="0" anchor="ctr"/>
          <a:lstStyle/>
          <a:p>
            <a:pPr algn="ctr"/>
          </a:p>
        </p:txBody>
      </p:sp>
      <p:sp>
        <p:nvSpPr>
          <p:cNvPr id="16" name="TextBox 15"/>
          <p:cNvSpPr txBox="1"/>
          <p:nvPr/>
        </p:nvSpPr>
        <p:spPr>
          <a:xfrm>
            <a:off x="768096" y="2677364"/>
            <a:ext cx="438912" cy="438912"/>
          </a:xfrm>
          <a:prstGeom prst="rect">
            <a:avLst/>
          </a:prstGeom>
          <a:noFill/>
        </p:spPr>
        <p:txBody>
          <a:bodyPr wrap="square" lIns="0" rIns="0" tIns="0" bIns="0" anchor="ctr">
            <a:spAutoFit/>
          </a:bodyPr>
          <a:lstStyle/>
          <a:p>
            <a:pPr algn="ctr">
              <a:lnSpc>
                <a:spcPct val="100000"/>
              </a:lnSpc>
            </a:pPr>
            <a:r>
              <a:rPr sz="1300" b="1" i="0">
                <a:solidFill>
                  <a:srgbClr val="4A35FF"/>
                </a:solidFill>
                <a:latin typeface="Montserrat"/>
              </a:rPr>
              <a:t>2</a:t>
            </a:r>
          </a:p>
        </p:txBody>
      </p:sp>
      <p:sp>
        <p:nvSpPr>
          <p:cNvPr id="17" name="Oval 16"/>
          <p:cNvSpPr/>
          <p:nvPr/>
        </p:nvSpPr>
        <p:spPr>
          <a:xfrm>
            <a:off x="1435608" y="2688336"/>
            <a:ext cx="438912" cy="438912"/>
          </a:xfrm>
          <a:prstGeom prst="ellipse">
            <a:avLst/>
          </a:prstGeom>
          <a:solidFill>
            <a:srgbClr val="EFEDFF"/>
          </a:solidFill>
          <a:ln>
            <a:noFill/>
          </a:ln>
          <a:effectLst/>
        </p:spPr>
        <p:txBody>
          <a:bodyPr rtlCol="0" anchor="ctr"/>
          <a:lstStyle/>
          <a:p>
            <a:pPr algn="ctr"/>
          </a:p>
        </p:txBody>
      </p:sp>
      <p:pic>
        <p:nvPicPr>
          <p:cNvPr id="18" name="Picture 17" descr="workflow_4A35FF_256_2.0.png"/>
          <p:cNvPicPr>
            <a:picLocks noChangeAspect="1"/>
          </p:cNvPicPr>
          <p:nvPr/>
        </p:nvPicPr>
        <p:blipFill>
          <a:blip r:embed="rId3"/>
          <a:stretch>
            <a:fillRect/>
          </a:stretch>
        </p:blipFill>
        <p:spPr>
          <a:xfrm>
            <a:off x="1540946" y="2793674"/>
            <a:ext cx="228234" cy="228234"/>
          </a:xfrm>
          <a:prstGeom prst="rect">
            <a:avLst/>
          </a:prstGeom>
        </p:spPr>
      </p:pic>
      <p:sp>
        <p:nvSpPr>
          <p:cNvPr id="19" name="TextBox 18"/>
          <p:cNvSpPr txBox="1"/>
          <p:nvPr/>
        </p:nvSpPr>
        <p:spPr>
          <a:xfrm>
            <a:off x="2103120" y="2633472"/>
            <a:ext cx="5943600" cy="365760"/>
          </a:xfrm>
          <a:prstGeom prst="rect">
            <a:avLst/>
          </a:prstGeom>
          <a:noFill/>
        </p:spPr>
        <p:txBody>
          <a:bodyPr wrap="square" lIns="0" rIns="0" tIns="0" bIns="0" anchor="t">
            <a:spAutoFit/>
          </a:bodyPr>
          <a:lstStyle/>
          <a:p>
            <a:pPr algn="l">
              <a:lnSpc>
                <a:spcPct val="100000"/>
              </a:lnSpc>
            </a:pPr>
            <a:r>
              <a:rPr sz="1300" b="1" i="0">
                <a:solidFill>
                  <a:srgbClr val="16181D"/>
                </a:solidFill>
                <a:latin typeface="Montserrat"/>
              </a:rPr>
              <a:t>How SAHAJ works</a:t>
            </a:r>
          </a:p>
        </p:txBody>
      </p:sp>
      <p:sp>
        <p:nvSpPr>
          <p:cNvPr id="20" name="TextBox 19"/>
          <p:cNvSpPr txBox="1"/>
          <p:nvPr/>
        </p:nvSpPr>
        <p:spPr>
          <a:xfrm>
            <a:off x="2103120" y="2935224"/>
            <a:ext cx="7863840" cy="320040"/>
          </a:xfrm>
          <a:prstGeom prst="rect">
            <a:avLst/>
          </a:prstGeom>
          <a:noFill/>
        </p:spPr>
        <p:txBody>
          <a:bodyPr wrap="square" lIns="0" rIns="0" tIns="0" bIns="0" anchor="t">
            <a:spAutoFit/>
          </a:bodyPr>
          <a:lstStyle/>
          <a:p>
            <a:pPr algn="l">
              <a:lnSpc>
                <a:spcPct val="112000"/>
              </a:lnSpc>
            </a:pPr>
            <a:r>
              <a:rPr sz="1050" b="0" i="0">
                <a:solidFill>
                  <a:srgbClr val="6E7180"/>
                </a:solidFill>
                <a:latin typeface="Geist"/>
              </a:rPr>
              <a:t>The statutory chain, the ten roles, the end-to-end flow, the family experience.</a:t>
            </a:r>
          </a:p>
        </p:txBody>
      </p:sp>
      <p:sp>
        <p:nvSpPr>
          <p:cNvPr id="21" name="TextBox 20"/>
          <p:cNvSpPr txBox="1"/>
          <p:nvPr/>
        </p:nvSpPr>
        <p:spPr>
          <a:xfrm>
            <a:off x="10024567" y="2724912"/>
            <a:ext cx="1417320" cy="365760"/>
          </a:xfrm>
          <a:prstGeom prst="rect">
            <a:avLst/>
          </a:prstGeom>
          <a:noFill/>
        </p:spPr>
        <p:txBody>
          <a:bodyPr wrap="square" lIns="0" rIns="0" tIns="0" bIns="0" anchor="t">
            <a:spAutoFit/>
          </a:bodyPr>
          <a:lstStyle/>
          <a:p>
            <a:pPr algn="r">
              <a:lnSpc>
                <a:spcPct val="128000"/>
              </a:lnSpc>
            </a:pPr>
            <a:r>
              <a:rPr sz="1200" b="1" i="0">
                <a:solidFill>
                  <a:srgbClr val="4A35FF"/>
                </a:solidFill>
                <a:latin typeface="Montserrat"/>
              </a:rPr>
              <a:t>07 – 11</a:t>
            </a:r>
          </a:p>
        </p:txBody>
      </p:sp>
      <p:sp>
        <p:nvSpPr>
          <p:cNvPr id="22" name="Rounded Rectangle 21"/>
          <p:cNvSpPr/>
          <p:nvPr/>
        </p:nvSpPr>
        <p:spPr>
          <a:xfrm>
            <a:off x="566928" y="3438144"/>
            <a:ext cx="11057839" cy="804672"/>
          </a:xfrm>
          <a:prstGeom prst="roundRect">
            <a:avLst>
              <a:gd name="adj" fmla="val 10000"/>
            </a:avLst>
          </a:prstGeom>
          <a:solidFill>
            <a:srgbClr val="F7F7FA"/>
          </a:solidFill>
          <a:ln>
            <a:noFill/>
          </a:ln>
          <a:effectLst/>
        </p:spPr>
        <p:txBody>
          <a:bodyPr rtlCol="0" anchor="ctr"/>
          <a:lstStyle/>
          <a:p>
            <a:pPr algn="ctr"/>
          </a:p>
        </p:txBody>
      </p:sp>
      <p:sp>
        <p:nvSpPr>
          <p:cNvPr id="23" name="Oval 22"/>
          <p:cNvSpPr/>
          <p:nvPr/>
        </p:nvSpPr>
        <p:spPr>
          <a:xfrm>
            <a:off x="768096" y="3621024"/>
            <a:ext cx="438912" cy="438912"/>
          </a:xfrm>
          <a:prstGeom prst="ellipse">
            <a:avLst/>
          </a:prstGeom>
          <a:solidFill>
            <a:srgbClr val="EFEDFF"/>
          </a:solidFill>
          <a:ln>
            <a:noFill/>
          </a:ln>
          <a:effectLst/>
        </p:spPr>
        <p:txBody>
          <a:bodyPr rtlCol="0" anchor="ctr"/>
          <a:lstStyle/>
          <a:p>
            <a:pPr algn="ctr"/>
          </a:p>
        </p:txBody>
      </p:sp>
      <p:sp>
        <p:nvSpPr>
          <p:cNvPr id="24" name="TextBox 23"/>
          <p:cNvSpPr txBox="1"/>
          <p:nvPr/>
        </p:nvSpPr>
        <p:spPr>
          <a:xfrm>
            <a:off x="768096" y="3610052"/>
            <a:ext cx="438912" cy="438912"/>
          </a:xfrm>
          <a:prstGeom prst="rect">
            <a:avLst/>
          </a:prstGeom>
          <a:noFill/>
        </p:spPr>
        <p:txBody>
          <a:bodyPr wrap="square" lIns="0" rIns="0" tIns="0" bIns="0" anchor="ctr">
            <a:spAutoFit/>
          </a:bodyPr>
          <a:lstStyle/>
          <a:p>
            <a:pPr algn="ctr">
              <a:lnSpc>
                <a:spcPct val="100000"/>
              </a:lnSpc>
            </a:pPr>
            <a:r>
              <a:rPr sz="1300" b="1" i="0">
                <a:solidFill>
                  <a:srgbClr val="4A35FF"/>
                </a:solidFill>
                <a:latin typeface="Montserrat"/>
              </a:rPr>
              <a:t>3</a:t>
            </a:r>
          </a:p>
        </p:txBody>
      </p:sp>
      <p:sp>
        <p:nvSpPr>
          <p:cNvPr id="25" name="Oval 24"/>
          <p:cNvSpPr/>
          <p:nvPr/>
        </p:nvSpPr>
        <p:spPr>
          <a:xfrm>
            <a:off x="1435608" y="3621024"/>
            <a:ext cx="438912" cy="438912"/>
          </a:xfrm>
          <a:prstGeom prst="ellipse">
            <a:avLst/>
          </a:prstGeom>
          <a:solidFill>
            <a:srgbClr val="EFEDFF"/>
          </a:solidFill>
          <a:ln>
            <a:noFill/>
          </a:ln>
          <a:effectLst/>
        </p:spPr>
        <p:txBody>
          <a:bodyPr rtlCol="0" anchor="ctr"/>
          <a:lstStyle/>
          <a:p>
            <a:pPr algn="ctr"/>
          </a:p>
        </p:txBody>
      </p:sp>
      <p:pic>
        <p:nvPicPr>
          <p:cNvPr id="26" name="Picture 25" descr="layers_4A35FF_256_2.0.png"/>
          <p:cNvPicPr>
            <a:picLocks noChangeAspect="1"/>
          </p:cNvPicPr>
          <p:nvPr/>
        </p:nvPicPr>
        <p:blipFill>
          <a:blip r:embed="rId4"/>
          <a:stretch>
            <a:fillRect/>
          </a:stretch>
        </p:blipFill>
        <p:spPr>
          <a:xfrm>
            <a:off x="1540946" y="3726362"/>
            <a:ext cx="228234" cy="228234"/>
          </a:xfrm>
          <a:prstGeom prst="rect">
            <a:avLst/>
          </a:prstGeom>
        </p:spPr>
      </p:pic>
      <p:sp>
        <p:nvSpPr>
          <p:cNvPr id="27" name="TextBox 26"/>
          <p:cNvSpPr txBox="1"/>
          <p:nvPr/>
        </p:nvSpPr>
        <p:spPr>
          <a:xfrm>
            <a:off x="2103120" y="3566160"/>
            <a:ext cx="5943600" cy="365760"/>
          </a:xfrm>
          <a:prstGeom prst="rect">
            <a:avLst/>
          </a:prstGeom>
          <a:noFill/>
        </p:spPr>
        <p:txBody>
          <a:bodyPr wrap="square" lIns="0" rIns="0" tIns="0" bIns="0" anchor="t">
            <a:spAutoFit/>
          </a:bodyPr>
          <a:lstStyle/>
          <a:p>
            <a:pPr algn="l">
              <a:lnSpc>
                <a:spcPct val="100000"/>
              </a:lnSpc>
            </a:pPr>
            <a:r>
              <a:rPr sz="1300" b="1" i="0">
                <a:solidFill>
                  <a:srgbClr val="16181D"/>
                </a:solidFill>
                <a:latin typeface="Montserrat"/>
              </a:rPr>
              <a:t>Under the hood</a:t>
            </a:r>
          </a:p>
        </p:txBody>
      </p:sp>
      <p:sp>
        <p:nvSpPr>
          <p:cNvPr id="28" name="TextBox 27"/>
          <p:cNvSpPr txBox="1"/>
          <p:nvPr/>
        </p:nvSpPr>
        <p:spPr>
          <a:xfrm>
            <a:off x="2103120" y="3867912"/>
            <a:ext cx="7863840" cy="320040"/>
          </a:xfrm>
          <a:prstGeom prst="rect">
            <a:avLst/>
          </a:prstGeom>
          <a:noFill/>
        </p:spPr>
        <p:txBody>
          <a:bodyPr wrap="square" lIns="0" rIns="0" tIns="0" bIns="0" anchor="t">
            <a:spAutoFit/>
          </a:bodyPr>
          <a:lstStyle/>
          <a:p>
            <a:pPr algn="l">
              <a:lnSpc>
                <a:spcPct val="112000"/>
              </a:lnSpc>
            </a:pPr>
            <a:r>
              <a:rPr sz="1050" b="0" i="0">
                <a:solidFill>
                  <a:srgbClr val="6E7180"/>
                </a:solidFill>
                <a:latin typeface="Geist"/>
              </a:rPr>
              <a:t>Architecture, the database-as-boundary security model, and the modular design.</a:t>
            </a:r>
          </a:p>
        </p:txBody>
      </p:sp>
      <p:sp>
        <p:nvSpPr>
          <p:cNvPr id="29" name="TextBox 28"/>
          <p:cNvSpPr txBox="1"/>
          <p:nvPr/>
        </p:nvSpPr>
        <p:spPr>
          <a:xfrm>
            <a:off x="10024567" y="3657600"/>
            <a:ext cx="1417320" cy="365760"/>
          </a:xfrm>
          <a:prstGeom prst="rect">
            <a:avLst/>
          </a:prstGeom>
          <a:noFill/>
        </p:spPr>
        <p:txBody>
          <a:bodyPr wrap="square" lIns="0" rIns="0" tIns="0" bIns="0" anchor="t">
            <a:spAutoFit/>
          </a:bodyPr>
          <a:lstStyle/>
          <a:p>
            <a:pPr algn="r">
              <a:lnSpc>
                <a:spcPct val="128000"/>
              </a:lnSpc>
            </a:pPr>
            <a:r>
              <a:rPr sz="1200" b="1" i="0">
                <a:solidFill>
                  <a:srgbClr val="4A35FF"/>
                </a:solidFill>
                <a:latin typeface="Montserrat"/>
              </a:rPr>
              <a:t>12 – 14</a:t>
            </a:r>
          </a:p>
        </p:txBody>
      </p:sp>
      <p:sp>
        <p:nvSpPr>
          <p:cNvPr id="30" name="Rounded Rectangle 29"/>
          <p:cNvSpPr/>
          <p:nvPr/>
        </p:nvSpPr>
        <p:spPr>
          <a:xfrm>
            <a:off x="566928" y="4370832"/>
            <a:ext cx="11057839" cy="804672"/>
          </a:xfrm>
          <a:prstGeom prst="roundRect">
            <a:avLst>
              <a:gd name="adj" fmla="val 10000"/>
            </a:avLst>
          </a:prstGeom>
          <a:solidFill>
            <a:srgbClr val="FFFFFF"/>
          </a:solidFill>
          <a:ln w="9525">
            <a:solidFill>
              <a:srgbClr val="E8E9EE"/>
            </a:solidFill>
          </a:ln>
          <a:effectLst/>
        </p:spPr>
        <p:txBody>
          <a:bodyPr rtlCol="0" anchor="ctr"/>
          <a:lstStyle/>
          <a:p>
            <a:pPr algn="ctr"/>
          </a:p>
        </p:txBody>
      </p:sp>
      <p:sp>
        <p:nvSpPr>
          <p:cNvPr id="31" name="Oval 30"/>
          <p:cNvSpPr/>
          <p:nvPr/>
        </p:nvSpPr>
        <p:spPr>
          <a:xfrm>
            <a:off x="768096" y="4553712"/>
            <a:ext cx="438912" cy="438912"/>
          </a:xfrm>
          <a:prstGeom prst="ellipse">
            <a:avLst/>
          </a:prstGeom>
          <a:solidFill>
            <a:srgbClr val="EFEDFF"/>
          </a:solidFill>
          <a:ln>
            <a:noFill/>
          </a:ln>
          <a:effectLst/>
        </p:spPr>
        <p:txBody>
          <a:bodyPr rtlCol="0" anchor="ctr"/>
          <a:lstStyle/>
          <a:p>
            <a:pPr algn="ctr"/>
          </a:p>
        </p:txBody>
      </p:sp>
      <p:sp>
        <p:nvSpPr>
          <p:cNvPr id="32" name="TextBox 31"/>
          <p:cNvSpPr txBox="1"/>
          <p:nvPr/>
        </p:nvSpPr>
        <p:spPr>
          <a:xfrm>
            <a:off x="768096" y="4542740"/>
            <a:ext cx="438912" cy="438912"/>
          </a:xfrm>
          <a:prstGeom prst="rect">
            <a:avLst/>
          </a:prstGeom>
          <a:noFill/>
        </p:spPr>
        <p:txBody>
          <a:bodyPr wrap="square" lIns="0" rIns="0" tIns="0" bIns="0" anchor="ctr">
            <a:spAutoFit/>
          </a:bodyPr>
          <a:lstStyle/>
          <a:p>
            <a:pPr algn="ctr">
              <a:lnSpc>
                <a:spcPct val="100000"/>
              </a:lnSpc>
            </a:pPr>
            <a:r>
              <a:rPr sz="1300" b="1" i="0">
                <a:solidFill>
                  <a:srgbClr val="4A35FF"/>
                </a:solidFill>
                <a:latin typeface="Montserrat"/>
              </a:rPr>
              <a:t>4</a:t>
            </a:r>
          </a:p>
        </p:txBody>
      </p:sp>
      <p:sp>
        <p:nvSpPr>
          <p:cNvPr id="33" name="Oval 32"/>
          <p:cNvSpPr/>
          <p:nvPr/>
        </p:nvSpPr>
        <p:spPr>
          <a:xfrm>
            <a:off x="1435608" y="4553712"/>
            <a:ext cx="438912" cy="438912"/>
          </a:xfrm>
          <a:prstGeom prst="ellipse">
            <a:avLst/>
          </a:prstGeom>
          <a:solidFill>
            <a:srgbClr val="EFEDFF"/>
          </a:solidFill>
          <a:ln>
            <a:noFill/>
          </a:ln>
          <a:effectLst/>
        </p:spPr>
        <p:txBody>
          <a:bodyPr rtlCol="0" anchor="ctr"/>
          <a:lstStyle/>
          <a:p>
            <a:pPr algn="ctr"/>
          </a:p>
        </p:txBody>
      </p:sp>
      <p:pic>
        <p:nvPicPr>
          <p:cNvPr id="34" name="Picture 33" descr="gauge_4A35FF_256_2.0.png"/>
          <p:cNvPicPr>
            <a:picLocks noChangeAspect="1"/>
          </p:cNvPicPr>
          <p:nvPr/>
        </p:nvPicPr>
        <p:blipFill>
          <a:blip r:embed="rId5"/>
          <a:stretch>
            <a:fillRect/>
          </a:stretch>
        </p:blipFill>
        <p:spPr>
          <a:xfrm>
            <a:off x="1540946" y="4659050"/>
            <a:ext cx="228234" cy="228234"/>
          </a:xfrm>
          <a:prstGeom prst="rect">
            <a:avLst/>
          </a:prstGeom>
        </p:spPr>
      </p:pic>
      <p:sp>
        <p:nvSpPr>
          <p:cNvPr id="35" name="TextBox 34"/>
          <p:cNvSpPr txBox="1"/>
          <p:nvPr/>
        </p:nvSpPr>
        <p:spPr>
          <a:xfrm>
            <a:off x="2103120" y="4498848"/>
            <a:ext cx="5943600" cy="365760"/>
          </a:xfrm>
          <a:prstGeom prst="rect">
            <a:avLst/>
          </a:prstGeom>
          <a:noFill/>
        </p:spPr>
        <p:txBody>
          <a:bodyPr wrap="square" lIns="0" rIns="0" tIns="0" bIns="0" anchor="t">
            <a:spAutoFit/>
          </a:bodyPr>
          <a:lstStyle/>
          <a:p>
            <a:pPr algn="l">
              <a:lnSpc>
                <a:spcPct val="100000"/>
              </a:lnSpc>
            </a:pPr>
            <a:r>
              <a:rPr sz="1300" b="1" i="0">
                <a:solidFill>
                  <a:srgbClr val="16181D"/>
                </a:solidFill>
                <a:latin typeface="Montserrat"/>
              </a:rPr>
              <a:t>Where we are</a:t>
            </a:r>
          </a:p>
        </p:txBody>
      </p:sp>
      <p:sp>
        <p:nvSpPr>
          <p:cNvPr id="36" name="TextBox 35"/>
          <p:cNvSpPr txBox="1"/>
          <p:nvPr/>
        </p:nvSpPr>
        <p:spPr>
          <a:xfrm>
            <a:off x="2103120" y="4800600"/>
            <a:ext cx="7863840" cy="320040"/>
          </a:xfrm>
          <a:prstGeom prst="rect">
            <a:avLst/>
          </a:prstGeom>
          <a:noFill/>
        </p:spPr>
        <p:txBody>
          <a:bodyPr wrap="square" lIns="0" rIns="0" tIns="0" bIns="0" anchor="t">
            <a:spAutoFit/>
          </a:bodyPr>
          <a:lstStyle/>
          <a:p>
            <a:pPr algn="l">
              <a:lnSpc>
                <a:spcPct val="112000"/>
              </a:lnSpc>
            </a:pPr>
            <a:r>
              <a:rPr sz="1050" b="0" i="0">
                <a:solidFill>
                  <a:srgbClr val="6E7180"/>
                </a:solidFill>
                <a:latin typeface="Geist"/>
              </a:rPr>
              <a:t>What is live, the honest gaps, and the No.1 risk: adoption.</a:t>
            </a:r>
          </a:p>
        </p:txBody>
      </p:sp>
      <p:sp>
        <p:nvSpPr>
          <p:cNvPr id="37" name="TextBox 36"/>
          <p:cNvSpPr txBox="1"/>
          <p:nvPr/>
        </p:nvSpPr>
        <p:spPr>
          <a:xfrm>
            <a:off x="10024567" y="4590288"/>
            <a:ext cx="1417320" cy="365760"/>
          </a:xfrm>
          <a:prstGeom prst="rect">
            <a:avLst/>
          </a:prstGeom>
          <a:noFill/>
        </p:spPr>
        <p:txBody>
          <a:bodyPr wrap="square" lIns="0" rIns="0" tIns="0" bIns="0" anchor="t">
            <a:spAutoFit/>
          </a:bodyPr>
          <a:lstStyle/>
          <a:p>
            <a:pPr algn="r">
              <a:lnSpc>
                <a:spcPct val="128000"/>
              </a:lnSpc>
            </a:pPr>
            <a:r>
              <a:rPr sz="1200" b="1" i="0">
                <a:solidFill>
                  <a:srgbClr val="4A35FF"/>
                </a:solidFill>
                <a:latin typeface="Montserrat"/>
              </a:rPr>
              <a:t>15 – 17</a:t>
            </a:r>
          </a:p>
        </p:txBody>
      </p:sp>
      <p:sp>
        <p:nvSpPr>
          <p:cNvPr id="38" name="Rounded Rectangle 37"/>
          <p:cNvSpPr/>
          <p:nvPr/>
        </p:nvSpPr>
        <p:spPr>
          <a:xfrm>
            <a:off x="566928" y="5303520"/>
            <a:ext cx="11057839" cy="804672"/>
          </a:xfrm>
          <a:prstGeom prst="roundRect">
            <a:avLst>
              <a:gd name="adj" fmla="val 10000"/>
            </a:avLst>
          </a:prstGeom>
          <a:solidFill>
            <a:srgbClr val="F7F7FA"/>
          </a:solidFill>
          <a:ln>
            <a:noFill/>
          </a:ln>
          <a:effectLst/>
        </p:spPr>
        <p:txBody>
          <a:bodyPr rtlCol="0" anchor="ctr"/>
          <a:lstStyle/>
          <a:p>
            <a:pPr algn="ctr"/>
          </a:p>
        </p:txBody>
      </p:sp>
      <p:sp>
        <p:nvSpPr>
          <p:cNvPr id="39" name="Oval 38"/>
          <p:cNvSpPr/>
          <p:nvPr/>
        </p:nvSpPr>
        <p:spPr>
          <a:xfrm>
            <a:off x="768096" y="5486400"/>
            <a:ext cx="438912" cy="438912"/>
          </a:xfrm>
          <a:prstGeom prst="ellipse">
            <a:avLst/>
          </a:prstGeom>
          <a:solidFill>
            <a:srgbClr val="EFEDFF"/>
          </a:solidFill>
          <a:ln>
            <a:noFill/>
          </a:ln>
          <a:effectLst/>
        </p:spPr>
        <p:txBody>
          <a:bodyPr rtlCol="0" anchor="ctr"/>
          <a:lstStyle/>
          <a:p>
            <a:pPr algn="ctr"/>
          </a:p>
        </p:txBody>
      </p:sp>
      <p:sp>
        <p:nvSpPr>
          <p:cNvPr id="40" name="TextBox 39"/>
          <p:cNvSpPr txBox="1"/>
          <p:nvPr/>
        </p:nvSpPr>
        <p:spPr>
          <a:xfrm>
            <a:off x="768096" y="5475428"/>
            <a:ext cx="438912" cy="438912"/>
          </a:xfrm>
          <a:prstGeom prst="rect">
            <a:avLst/>
          </a:prstGeom>
          <a:noFill/>
        </p:spPr>
        <p:txBody>
          <a:bodyPr wrap="square" lIns="0" rIns="0" tIns="0" bIns="0" anchor="ctr">
            <a:spAutoFit/>
          </a:bodyPr>
          <a:lstStyle/>
          <a:p>
            <a:pPr algn="ctr">
              <a:lnSpc>
                <a:spcPct val="100000"/>
              </a:lnSpc>
            </a:pPr>
            <a:r>
              <a:rPr sz="1300" b="1" i="0">
                <a:solidFill>
                  <a:srgbClr val="4A35FF"/>
                </a:solidFill>
                <a:latin typeface="Montserrat"/>
              </a:rPr>
              <a:t>5</a:t>
            </a:r>
          </a:p>
        </p:txBody>
      </p:sp>
      <p:sp>
        <p:nvSpPr>
          <p:cNvPr id="41" name="Oval 40"/>
          <p:cNvSpPr/>
          <p:nvPr/>
        </p:nvSpPr>
        <p:spPr>
          <a:xfrm>
            <a:off x="1435608" y="5486400"/>
            <a:ext cx="438912" cy="438912"/>
          </a:xfrm>
          <a:prstGeom prst="ellipse">
            <a:avLst/>
          </a:prstGeom>
          <a:solidFill>
            <a:srgbClr val="EFEDFF"/>
          </a:solidFill>
          <a:ln>
            <a:noFill/>
          </a:ln>
          <a:effectLst/>
        </p:spPr>
        <p:txBody>
          <a:bodyPr rtlCol="0" anchor="ctr"/>
          <a:lstStyle/>
          <a:p>
            <a:pPr algn="ctr"/>
          </a:p>
        </p:txBody>
      </p:sp>
      <p:pic>
        <p:nvPicPr>
          <p:cNvPr id="42" name="Picture 41" descr="hammer_4A35FF_256_2.0.png"/>
          <p:cNvPicPr>
            <a:picLocks noChangeAspect="1"/>
          </p:cNvPicPr>
          <p:nvPr/>
        </p:nvPicPr>
        <p:blipFill>
          <a:blip r:embed="rId6"/>
          <a:stretch>
            <a:fillRect/>
          </a:stretch>
        </p:blipFill>
        <p:spPr>
          <a:xfrm>
            <a:off x="1540946" y="5591738"/>
            <a:ext cx="228234" cy="228234"/>
          </a:xfrm>
          <a:prstGeom prst="rect">
            <a:avLst/>
          </a:prstGeom>
        </p:spPr>
      </p:pic>
      <p:sp>
        <p:nvSpPr>
          <p:cNvPr id="43" name="TextBox 42"/>
          <p:cNvSpPr txBox="1"/>
          <p:nvPr/>
        </p:nvSpPr>
        <p:spPr>
          <a:xfrm>
            <a:off x="2103120" y="5431536"/>
            <a:ext cx="5943600" cy="365760"/>
          </a:xfrm>
          <a:prstGeom prst="rect">
            <a:avLst/>
          </a:prstGeom>
          <a:noFill/>
        </p:spPr>
        <p:txBody>
          <a:bodyPr wrap="square" lIns="0" rIns="0" tIns="0" bIns="0" anchor="t">
            <a:spAutoFit/>
          </a:bodyPr>
          <a:lstStyle/>
          <a:p>
            <a:pPr algn="l">
              <a:lnSpc>
                <a:spcPct val="100000"/>
              </a:lnSpc>
            </a:pPr>
            <a:r>
              <a:rPr sz="1300" b="1" i="0">
                <a:solidFill>
                  <a:srgbClr val="16181D"/>
                </a:solidFill>
                <a:latin typeface="Montserrat"/>
              </a:rPr>
              <a:t>Where you come in</a:t>
            </a:r>
          </a:p>
        </p:txBody>
      </p:sp>
      <p:sp>
        <p:nvSpPr>
          <p:cNvPr id="44" name="TextBox 43"/>
          <p:cNvSpPr txBox="1"/>
          <p:nvPr/>
        </p:nvSpPr>
        <p:spPr>
          <a:xfrm>
            <a:off x="2103120" y="5733288"/>
            <a:ext cx="7863840" cy="320040"/>
          </a:xfrm>
          <a:prstGeom prst="rect">
            <a:avLst/>
          </a:prstGeom>
          <a:noFill/>
        </p:spPr>
        <p:txBody>
          <a:bodyPr wrap="square" lIns="0" rIns="0" tIns="0" bIns="0" anchor="t">
            <a:spAutoFit/>
          </a:bodyPr>
          <a:lstStyle/>
          <a:p>
            <a:pPr algn="l">
              <a:lnSpc>
                <a:spcPct val="112000"/>
              </a:lnSpc>
            </a:pPr>
            <a:r>
              <a:rPr sz="1050" b="0" i="0">
                <a:solidFill>
                  <a:srgbClr val="6E7180"/>
                </a:solidFill>
                <a:latin typeface="Geist"/>
              </a:rPr>
              <a:t>The rebuild mandate, the workstreams, how we'll work, and your first week.</a:t>
            </a:r>
          </a:p>
        </p:txBody>
      </p:sp>
      <p:sp>
        <p:nvSpPr>
          <p:cNvPr id="45" name="TextBox 44"/>
          <p:cNvSpPr txBox="1"/>
          <p:nvPr/>
        </p:nvSpPr>
        <p:spPr>
          <a:xfrm>
            <a:off x="10024567" y="5522976"/>
            <a:ext cx="1417320" cy="365760"/>
          </a:xfrm>
          <a:prstGeom prst="rect">
            <a:avLst/>
          </a:prstGeom>
          <a:noFill/>
        </p:spPr>
        <p:txBody>
          <a:bodyPr wrap="square" lIns="0" rIns="0" tIns="0" bIns="0" anchor="t">
            <a:spAutoFit/>
          </a:bodyPr>
          <a:lstStyle/>
          <a:p>
            <a:pPr algn="r">
              <a:lnSpc>
                <a:spcPct val="128000"/>
              </a:lnSpc>
            </a:pPr>
            <a:r>
              <a:rPr sz="1200" b="1" i="0">
                <a:solidFill>
                  <a:srgbClr val="4A35FF"/>
                </a:solidFill>
                <a:latin typeface="Montserrat"/>
              </a:rPr>
              <a:t>18 – 22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7692847" y="274320"/>
            <a:ext cx="3931920" cy="219456"/>
          </a:xfrm>
          <a:prstGeom prst="rect">
            <a:avLst/>
          </a:prstGeom>
          <a:noFill/>
        </p:spPr>
        <p:txBody>
          <a:bodyPr wrap="square" lIns="0" rIns="0" tIns="0" bIns="0" anchor="t">
            <a:spAutoFit/>
          </a:bodyPr>
          <a:lstStyle/>
          <a:p>
            <a:pPr algn="r">
              <a:lnSpc>
                <a:spcPct val="128000"/>
              </a:lnSpc>
            </a:pPr>
            <a:r>
              <a:rPr sz="800" b="1" i="0" spc="150">
                <a:solidFill>
                  <a:srgbClr val="6E7180"/>
                </a:solidFill>
                <a:latin typeface="Montserrat"/>
              </a:rPr>
              <a:t>SECTION 1 OF 5   ·   THE MISSION</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01 · THE MISSION</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The money is real and waiting — </a:t>
            </a:r>
            <a:r>
              <a:rPr sz="2250" b="1" i="0">
                <a:solidFill>
                  <a:srgbClr val="4A35FF"/>
                </a:solidFill>
                <a:latin typeface="Montserrat"/>
              </a:rPr>
              <a:t>the pipeline is where it dies</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Under the Hit-and-Run Compensation Scheme, 2022, the family of someone killed by an unidentified vehicle is owed ₹2,00,000 (₹50,000 for grievous injury) from a national fund. No lawyer, no fee, no deadline. Yet most families never see it.</a:t>
            </a:r>
          </a:p>
        </p:txBody>
      </p:sp>
      <p:sp>
        <p:nvSpPr>
          <p:cNvPr id="8" name="Rounded Rectangle 7"/>
          <p:cNvSpPr/>
          <p:nvPr/>
        </p:nvSpPr>
        <p:spPr>
          <a:xfrm>
            <a:off x="566928" y="2286000"/>
            <a:ext cx="2615184" cy="1280160"/>
          </a:xfrm>
          <a:prstGeom prst="roundRect">
            <a:avLst>
              <a:gd name="adj" fmla="val 12000"/>
            </a:avLst>
          </a:prstGeom>
          <a:solidFill>
            <a:srgbClr val="F7F7FA"/>
          </a:solidFill>
          <a:ln>
            <a:noFill/>
          </a:ln>
          <a:effectLst/>
        </p:spPr>
        <p:txBody>
          <a:bodyPr rtlCol="0" anchor="ctr"/>
          <a:lstStyle/>
          <a:p>
            <a:pPr algn="ctr"/>
          </a:p>
        </p:txBody>
      </p:sp>
      <p:sp>
        <p:nvSpPr>
          <p:cNvPr id="9" name="TextBox 8"/>
          <p:cNvSpPr txBox="1"/>
          <p:nvPr/>
        </p:nvSpPr>
        <p:spPr>
          <a:xfrm>
            <a:off x="768096" y="2414016"/>
            <a:ext cx="2249424" cy="502920"/>
          </a:xfrm>
          <a:prstGeom prst="rect">
            <a:avLst/>
          </a:prstGeom>
          <a:noFill/>
        </p:spPr>
        <p:txBody>
          <a:bodyPr wrap="square" lIns="0" rIns="0" tIns="0" bIns="0" anchor="t">
            <a:spAutoFit/>
          </a:bodyPr>
          <a:lstStyle/>
          <a:p>
            <a:pPr algn="l">
              <a:lnSpc>
                <a:spcPct val="100000"/>
              </a:lnSpc>
            </a:pPr>
            <a:r>
              <a:rPr sz="2600" b="1" i="0">
                <a:solidFill>
                  <a:srgbClr val="4A35FF"/>
                </a:solidFill>
                <a:latin typeface="Montserrat"/>
              </a:rPr>
              <a:t>68,584</a:t>
            </a:r>
          </a:p>
        </p:txBody>
      </p:sp>
      <p:sp>
        <p:nvSpPr>
          <p:cNvPr id="10" name="TextBox 9"/>
          <p:cNvSpPr txBox="1"/>
          <p:nvPr/>
        </p:nvSpPr>
        <p:spPr>
          <a:xfrm>
            <a:off x="768096" y="2926080"/>
            <a:ext cx="2249424" cy="548640"/>
          </a:xfrm>
          <a:prstGeom prst="rect">
            <a:avLst/>
          </a:prstGeom>
          <a:noFill/>
        </p:spPr>
        <p:txBody>
          <a:bodyPr wrap="square" lIns="0" rIns="0" tIns="0" bIns="0" anchor="t">
            <a:spAutoFit/>
          </a:bodyPr>
          <a:lstStyle/>
          <a:p>
            <a:pPr algn="l">
              <a:lnSpc>
                <a:spcPct val="115000"/>
              </a:lnSpc>
            </a:pPr>
            <a:r>
              <a:rPr sz="950" b="0" i="0">
                <a:solidFill>
                  <a:srgbClr val="6E7180"/>
                </a:solidFill>
                <a:latin typeface="Geist"/>
              </a:rPr>
              <a:t>hit-and-run crashes</a:t>
            </a:r>
          </a:p>
          <a:p>
            <a:pPr algn="l">
              <a:lnSpc>
                <a:spcPct val="115000"/>
              </a:lnSpc>
            </a:pPr>
            <a:r>
              <a:rPr sz="950" b="0" i="0">
                <a:solidFill>
                  <a:srgbClr val="6E7180"/>
                </a:solidFill>
                <a:latin typeface="Geist"/>
              </a:rPr>
              <a:t>recorded in 2024</a:t>
            </a:r>
          </a:p>
        </p:txBody>
      </p:sp>
      <p:sp>
        <p:nvSpPr>
          <p:cNvPr id="11" name="Rounded Rectangle 10"/>
          <p:cNvSpPr/>
          <p:nvPr/>
        </p:nvSpPr>
        <p:spPr>
          <a:xfrm>
            <a:off x="3319272" y="2286000"/>
            <a:ext cx="2615184" cy="1280160"/>
          </a:xfrm>
          <a:prstGeom prst="roundRect">
            <a:avLst>
              <a:gd name="adj" fmla="val 12000"/>
            </a:avLst>
          </a:prstGeom>
          <a:solidFill>
            <a:srgbClr val="F7F7FA"/>
          </a:solidFill>
          <a:ln>
            <a:noFill/>
          </a:ln>
          <a:effectLst/>
        </p:spPr>
        <p:txBody>
          <a:bodyPr rtlCol="0" anchor="ctr"/>
          <a:lstStyle/>
          <a:p>
            <a:pPr algn="ctr"/>
          </a:p>
        </p:txBody>
      </p:sp>
      <p:sp>
        <p:nvSpPr>
          <p:cNvPr id="12" name="TextBox 11"/>
          <p:cNvSpPr txBox="1"/>
          <p:nvPr/>
        </p:nvSpPr>
        <p:spPr>
          <a:xfrm>
            <a:off x="3520440" y="2414016"/>
            <a:ext cx="2249424" cy="502920"/>
          </a:xfrm>
          <a:prstGeom prst="rect">
            <a:avLst/>
          </a:prstGeom>
          <a:noFill/>
        </p:spPr>
        <p:txBody>
          <a:bodyPr wrap="square" lIns="0" rIns="0" tIns="0" bIns="0" anchor="t">
            <a:spAutoFit/>
          </a:bodyPr>
          <a:lstStyle/>
          <a:p>
            <a:pPr algn="l">
              <a:lnSpc>
                <a:spcPct val="100000"/>
              </a:lnSpc>
            </a:pPr>
            <a:r>
              <a:rPr sz="2600" b="1" i="0">
                <a:solidFill>
                  <a:srgbClr val="4A35FF"/>
                </a:solidFill>
                <a:latin typeface="Montserrat"/>
              </a:rPr>
              <a:t>9,813</a:t>
            </a:r>
          </a:p>
        </p:txBody>
      </p:sp>
      <p:sp>
        <p:nvSpPr>
          <p:cNvPr id="13" name="TextBox 12"/>
          <p:cNvSpPr txBox="1"/>
          <p:nvPr/>
        </p:nvSpPr>
        <p:spPr>
          <a:xfrm>
            <a:off x="3520440" y="2926080"/>
            <a:ext cx="2249424" cy="548640"/>
          </a:xfrm>
          <a:prstGeom prst="rect">
            <a:avLst/>
          </a:prstGeom>
          <a:noFill/>
        </p:spPr>
        <p:txBody>
          <a:bodyPr wrap="square" lIns="0" rIns="0" tIns="0" bIns="0" anchor="t">
            <a:spAutoFit/>
          </a:bodyPr>
          <a:lstStyle/>
          <a:p>
            <a:pPr algn="l">
              <a:lnSpc>
                <a:spcPct val="115000"/>
              </a:lnSpc>
            </a:pPr>
            <a:r>
              <a:rPr sz="950" b="0" i="0">
                <a:solidFill>
                  <a:srgbClr val="6E7180"/>
                </a:solidFill>
                <a:latin typeface="Geist"/>
              </a:rPr>
              <a:t>compensation claims</a:t>
            </a:r>
          </a:p>
          <a:p>
            <a:pPr algn="l">
              <a:lnSpc>
                <a:spcPct val="115000"/>
              </a:lnSpc>
            </a:pPr>
            <a:r>
              <a:rPr sz="950" b="0" i="0">
                <a:solidFill>
                  <a:srgbClr val="6E7180"/>
                </a:solidFill>
                <a:latin typeface="Geist"/>
              </a:rPr>
              <a:t>registered, FY25-26</a:t>
            </a:r>
          </a:p>
        </p:txBody>
      </p:sp>
      <p:sp>
        <p:nvSpPr>
          <p:cNvPr id="14" name="Rounded Rectangle 13"/>
          <p:cNvSpPr/>
          <p:nvPr/>
        </p:nvSpPr>
        <p:spPr>
          <a:xfrm>
            <a:off x="6071616" y="2286000"/>
            <a:ext cx="2615184" cy="1280160"/>
          </a:xfrm>
          <a:prstGeom prst="roundRect">
            <a:avLst>
              <a:gd name="adj" fmla="val 12000"/>
            </a:avLst>
          </a:prstGeom>
          <a:solidFill>
            <a:srgbClr val="F7F7FA"/>
          </a:solidFill>
          <a:ln>
            <a:noFill/>
          </a:ln>
          <a:effectLst/>
        </p:spPr>
        <p:txBody>
          <a:bodyPr rtlCol="0" anchor="ctr"/>
          <a:lstStyle/>
          <a:p>
            <a:pPr algn="ctr"/>
          </a:p>
        </p:txBody>
      </p:sp>
      <p:sp>
        <p:nvSpPr>
          <p:cNvPr id="15" name="TextBox 14"/>
          <p:cNvSpPr txBox="1"/>
          <p:nvPr/>
        </p:nvSpPr>
        <p:spPr>
          <a:xfrm>
            <a:off x="6272784" y="2414016"/>
            <a:ext cx="2249424" cy="502920"/>
          </a:xfrm>
          <a:prstGeom prst="rect">
            <a:avLst/>
          </a:prstGeom>
          <a:noFill/>
        </p:spPr>
        <p:txBody>
          <a:bodyPr wrap="square" lIns="0" rIns="0" tIns="0" bIns="0" anchor="t">
            <a:spAutoFit/>
          </a:bodyPr>
          <a:lstStyle/>
          <a:p>
            <a:pPr algn="l">
              <a:lnSpc>
                <a:spcPct val="100000"/>
              </a:lnSpc>
            </a:pPr>
            <a:r>
              <a:rPr sz="2600" b="1" i="0">
                <a:solidFill>
                  <a:srgbClr val="E58900"/>
                </a:solidFill>
                <a:latin typeface="Montserrat"/>
              </a:rPr>
              <a:t>≈ 1 in 7</a:t>
            </a:r>
          </a:p>
        </p:txBody>
      </p:sp>
      <p:sp>
        <p:nvSpPr>
          <p:cNvPr id="16" name="TextBox 15"/>
          <p:cNvSpPr txBox="1"/>
          <p:nvPr/>
        </p:nvSpPr>
        <p:spPr>
          <a:xfrm>
            <a:off x="6272784" y="2926080"/>
            <a:ext cx="2249424" cy="548640"/>
          </a:xfrm>
          <a:prstGeom prst="rect">
            <a:avLst/>
          </a:prstGeom>
          <a:noFill/>
        </p:spPr>
        <p:txBody>
          <a:bodyPr wrap="square" lIns="0" rIns="0" tIns="0" bIns="0" anchor="t">
            <a:spAutoFit/>
          </a:bodyPr>
          <a:lstStyle/>
          <a:p>
            <a:pPr algn="l">
              <a:lnSpc>
                <a:spcPct val="115000"/>
              </a:lnSpc>
            </a:pPr>
            <a:r>
              <a:rPr sz="950" b="0" i="0">
                <a:solidFill>
                  <a:srgbClr val="6E7180"/>
                </a:solidFill>
                <a:latin typeface="Geist"/>
              </a:rPr>
              <a:t>crashes that convert</a:t>
            </a:r>
          </a:p>
          <a:p>
            <a:pPr algn="l">
              <a:lnSpc>
                <a:spcPct val="115000"/>
              </a:lnSpc>
            </a:pPr>
            <a:r>
              <a:rPr sz="950" b="0" i="0">
                <a:solidFill>
                  <a:srgbClr val="6E7180"/>
                </a:solidFill>
                <a:latin typeface="Geist"/>
              </a:rPr>
              <a:t>to a claim, nationally</a:t>
            </a:r>
          </a:p>
        </p:txBody>
      </p:sp>
      <p:sp>
        <p:nvSpPr>
          <p:cNvPr id="17" name="Rounded Rectangle 16"/>
          <p:cNvSpPr/>
          <p:nvPr/>
        </p:nvSpPr>
        <p:spPr>
          <a:xfrm>
            <a:off x="8823960" y="2286000"/>
            <a:ext cx="2615184" cy="1280160"/>
          </a:xfrm>
          <a:prstGeom prst="roundRect">
            <a:avLst>
              <a:gd name="adj" fmla="val 12000"/>
            </a:avLst>
          </a:prstGeom>
          <a:solidFill>
            <a:srgbClr val="F7F7FA"/>
          </a:solidFill>
          <a:ln>
            <a:noFill/>
          </a:ln>
          <a:effectLst/>
        </p:spPr>
        <p:txBody>
          <a:bodyPr rtlCol="0" anchor="ctr"/>
          <a:lstStyle/>
          <a:p>
            <a:pPr algn="ctr"/>
          </a:p>
        </p:txBody>
      </p:sp>
      <p:sp>
        <p:nvSpPr>
          <p:cNvPr id="18" name="TextBox 17"/>
          <p:cNvSpPr txBox="1"/>
          <p:nvPr/>
        </p:nvSpPr>
        <p:spPr>
          <a:xfrm>
            <a:off x="9025128" y="2414016"/>
            <a:ext cx="2249424" cy="502920"/>
          </a:xfrm>
          <a:prstGeom prst="rect">
            <a:avLst/>
          </a:prstGeom>
          <a:noFill/>
        </p:spPr>
        <p:txBody>
          <a:bodyPr wrap="square" lIns="0" rIns="0" tIns="0" bIns="0" anchor="t">
            <a:spAutoFit/>
          </a:bodyPr>
          <a:lstStyle/>
          <a:p>
            <a:pPr algn="l">
              <a:lnSpc>
                <a:spcPct val="100000"/>
              </a:lnSpc>
            </a:pPr>
            <a:r>
              <a:rPr sz="2600" b="1" i="0">
                <a:solidFill>
                  <a:srgbClr val="E58900"/>
                </a:solidFill>
                <a:latin typeface="Montserrat"/>
              </a:rPr>
              <a:t>27%</a:t>
            </a:r>
          </a:p>
        </p:txBody>
      </p:sp>
      <p:sp>
        <p:nvSpPr>
          <p:cNvPr id="19" name="TextBox 18"/>
          <p:cNvSpPr txBox="1"/>
          <p:nvPr/>
        </p:nvSpPr>
        <p:spPr>
          <a:xfrm>
            <a:off x="9025128" y="2926080"/>
            <a:ext cx="2249424" cy="548640"/>
          </a:xfrm>
          <a:prstGeom prst="rect">
            <a:avLst/>
          </a:prstGeom>
          <a:noFill/>
        </p:spPr>
        <p:txBody>
          <a:bodyPr wrap="square" lIns="0" rIns="0" tIns="0" bIns="0" anchor="t">
            <a:spAutoFit/>
          </a:bodyPr>
          <a:lstStyle/>
          <a:p>
            <a:pPr algn="l">
              <a:lnSpc>
                <a:spcPct val="115000"/>
              </a:lnSpc>
            </a:pPr>
            <a:r>
              <a:rPr sz="950" b="0" i="0">
                <a:solidFill>
                  <a:srgbClr val="6E7180"/>
                </a:solidFill>
                <a:latin typeface="Geist"/>
              </a:rPr>
              <a:t>of Rajasthan's H&amp;R cases</a:t>
            </a:r>
          </a:p>
          <a:p>
            <a:pPr algn="l">
              <a:lnSpc>
                <a:spcPct val="115000"/>
              </a:lnSpc>
            </a:pPr>
            <a:r>
              <a:rPr sz="950" b="0" i="0">
                <a:solidFill>
                  <a:srgbClr val="6E7180"/>
                </a:solidFill>
                <a:latin typeface="Geist"/>
              </a:rPr>
              <a:t>ever reach the SDM desk</a:t>
            </a:r>
          </a:p>
        </p:txBody>
      </p:sp>
      <p:sp>
        <p:nvSpPr>
          <p:cNvPr id="20" name="TextBox 19"/>
          <p:cNvSpPr txBox="1"/>
          <p:nvPr/>
        </p:nvSpPr>
        <p:spPr>
          <a:xfrm>
            <a:off x="566928" y="3840480"/>
            <a:ext cx="10972800" cy="274320"/>
          </a:xfrm>
          <a:prstGeom prst="rect">
            <a:avLst/>
          </a:prstGeom>
          <a:noFill/>
        </p:spPr>
        <p:txBody>
          <a:bodyPr wrap="square" lIns="0" rIns="0" tIns="0" bIns="0" anchor="t">
            <a:spAutoFit/>
          </a:bodyPr>
          <a:lstStyle/>
          <a:p>
            <a:pPr algn="l">
              <a:lnSpc>
                <a:spcPct val="128000"/>
              </a:lnSpc>
            </a:pPr>
            <a:r>
              <a:rPr sz="900" b="1" i="0" spc="160">
                <a:solidFill>
                  <a:srgbClr val="6E7180"/>
                </a:solidFill>
                <a:latin typeface="Montserrat"/>
              </a:rPr>
              <a:t>WHY ELIGIBLE FAMILIES FALL THROUGH</a:t>
            </a:r>
          </a:p>
        </p:txBody>
      </p:sp>
      <p:sp>
        <p:nvSpPr>
          <p:cNvPr id="21" name="Oval 20"/>
          <p:cNvSpPr/>
          <p:nvPr/>
        </p:nvSpPr>
        <p:spPr>
          <a:xfrm>
            <a:off x="566928" y="4206240"/>
            <a:ext cx="365760" cy="365760"/>
          </a:xfrm>
          <a:prstGeom prst="ellipse">
            <a:avLst/>
          </a:prstGeom>
          <a:solidFill>
            <a:srgbClr val="EFEDFF"/>
          </a:solidFill>
          <a:ln>
            <a:noFill/>
          </a:ln>
          <a:effectLst/>
        </p:spPr>
        <p:txBody>
          <a:bodyPr rtlCol="0" anchor="ctr"/>
          <a:lstStyle/>
          <a:p>
            <a:pPr algn="ctr"/>
          </a:p>
        </p:txBody>
      </p:sp>
      <p:pic>
        <p:nvPicPr>
          <p:cNvPr id="22" name="Picture 21" descr="eye-off_4A35FF_256_2.0.png"/>
          <p:cNvPicPr>
            <a:picLocks noChangeAspect="1"/>
          </p:cNvPicPr>
          <p:nvPr/>
        </p:nvPicPr>
        <p:blipFill>
          <a:blip r:embed="rId2"/>
          <a:stretch>
            <a:fillRect/>
          </a:stretch>
        </p:blipFill>
        <p:spPr>
          <a:xfrm>
            <a:off x="654710" y="4294022"/>
            <a:ext cx="190195" cy="190195"/>
          </a:xfrm>
          <a:prstGeom prst="rect">
            <a:avLst/>
          </a:prstGeom>
        </p:spPr>
      </p:pic>
      <p:sp>
        <p:nvSpPr>
          <p:cNvPr id="23" name="TextBox 22"/>
          <p:cNvSpPr txBox="1"/>
          <p:nvPr/>
        </p:nvSpPr>
        <p:spPr>
          <a:xfrm>
            <a:off x="1097280" y="4187952"/>
            <a:ext cx="2377440" cy="457200"/>
          </a:xfrm>
          <a:prstGeom prst="rect">
            <a:avLst/>
          </a:prstGeom>
          <a:noFill/>
        </p:spPr>
        <p:txBody>
          <a:bodyPr wrap="square" lIns="0" rIns="0" tIns="0" bIns="0" anchor="t">
            <a:spAutoFit/>
          </a:bodyPr>
          <a:lstStyle/>
          <a:p>
            <a:pPr algn="l">
              <a:lnSpc>
                <a:spcPct val="105000"/>
              </a:lnSpc>
            </a:pPr>
            <a:r>
              <a:rPr sz="1200" b="1" i="0">
                <a:solidFill>
                  <a:srgbClr val="16181D"/>
                </a:solidFill>
                <a:latin typeface="Montserrat"/>
              </a:rPr>
              <a:t>Nobody knows</a:t>
            </a:r>
          </a:p>
        </p:txBody>
      </p:sp>
      <p:sp>
        <p:nvSpPr>
          <p:cNvPr id="24" name="TextBox 23"/>
          <p:cNvSpPr txBox="1"/>
          <p:nvPr/>
        </p:nvSpPr>
        <p:spPr>
          <a:xfrm>
            <a:off x="3566160" y="4187952"/>
            <a:ext cx="7909560" cy="685800"/>
          </a:xfrm>
          <a:prstGeom prst="rect">
            <a:avLst/>
          </a:prstGeom>
          <a:noFill/>
        </p:spPr>
        <p:txBody>
          <a:bodyPr wrap="square" lIns="0" rIns="0" tIns="0" bIns="0" anchor="t">
            <a:spAutoFit/>
          </a:bodyPr>
          <a:lstStyle/>
          <a:p>
            <a:pPr algn="l">
              <a:lnSpc>
                <a:spcPct val="122000"/>
              </a:lnSpc>
            </a:pPr>
            <a:r>
              <a:rPr sz="1050" b="0" i="0">
                <a:solidFill>
                  <a:srgbClr val="6E7180"/>
                </a:solidFill>
                <a:latin typeface="Geist"/>
              </a:rPr>
              <a:t>Families don't know the scheme exists; touts and lawyers capture those who do.</a:t>
            </a:r>
          </a:p>
        </p:txBody>
      </p:sp>
      <p:sp>
        <p:nvSpPr>
          <p:cNvPr id="25" name="Oval 24"/>
          <p:cNvSpPr/>
          <p:nvPr/>
        </p:nvSpPr>
        <p:spPr>
          <a:xfrm>
            <a:off x="566928" y="4754880"/>
            <a:ext cx="365760" cy="365760"/>
          </a:xfrm>
          <a:prstGeom prst="ellipse">
            <a:avLst/>
          </a:prstGeom>
          <a:solidFill>
            <a:srgbClr val="E9F7F0"/>
          </a:solidFill>
          <a:ln>
            <a:noFill/>
          </a:ln>
          <a:effectLst/>
        </p:spPr>
        <p:txBody>
          <a:bodyPr rtlCol="0" anchor="ctr"/>
          <a:lstStyle/>
          <a:p>
            <a:pPr algn="ctr"/>
          </a:p>
        </p:txBody>
      </p:sp>
      <p:pic>
        <p:nvPicPr>
          <p:cNvPr id="26" name="Picture 25" descr="files_0A9955_256_2.0.png"/>
          <p:cNvPicPr>
            <a:picLocks noChangeAspect="1"/>
          </p:cNvPicPr>
          <p:nvPr/>
        </p:nvPicPr>
        <p:blipFill>
          <a:blip r:embed="rId3"/>
          <a:stretch>
            <a:fillRect/>
          </a:stretch>
        </p:blipFill>
        <p:spPr>
          <a:xfrm>
            <a:off x="654710" y="4842662"/>
            <a:ext cx="190195" cy="190195"/>
          </a:xfrm>
          <a:prstGeom prst="rect">
            <a:avLst/>
          </a:prstGeom>
        </p:spPr>
      </p:pic>
      <p:sp>
        <p:nvSpPr>
          <p:cNvPr id="27" name="TextBox 26"/>
          <p:cNvSpPr txBox="1"/>
          <p:nvPr/>
        </p:nvSpPr>
        <p:spPr>
          <a:xfrm>
            <a:off x="1097280" y="4736592"/>
            <a:ext cx="2377440" cy="457200"/>
          </a:xfrm>
          <a:prstGeom prst="rect">
            <a:avLst/>
          </a:prstGeom>
          <a:noFill/>
        </p:spPr>
        <p:txBody>
          <a:bodyPr wrap="square" lIns="0" rIns="0" tIns="0" bIns="0" anchor="t">
            <a:spAutoFit/>
          </a:bodyPr>
          <a:lstStyle/>
          <a:p>
            <a:pPr algn="l">
              <a:lnSpc>
                <a:spcPct val="105000"/>
              </a:lnSpc>
            </a:pPr>
            <a:r>
              <a:rPr sz="1200" b="1" i="0">
                <a:solidFill>
                  <a:srgbClr val="16181D"/>
                </a:solidFill>
                <a:latin typeface="Montserrat"/>
              </a:rPr>
              <a:t>Four offices, on paper</a:t>
            </a:r>
          </a:p>
        </p:txBody>
      </p:sp>
      <p:sp>
        <p:nvSpPr>
          <p:cNvPr id="28" name="TextBox 27"/>
          <p:cNvSpPr txBox="1"/>
          <p:nvPr/>
        </p:nvSpPr>
        <p:spPr>
          <a:xfrm>
            <a:off x="3566160" y="4736592"/>
            <a:ext cx="7909560" cy="685800"/>
          </a:xfrm>
          <a:prstGeom prst="rect">
            <a:avLst/>
          </a:prstGeom>
          <a:noFill/>
        </p:spPr>
        <p:txBody>
          <a:bodyPr wrap="square" lIns="0" rIns="0" tIns="0" bIns="0" anchor="t">
            <a:spAutoFit/>
          </a:bodyPr>
          <a:lstStyle/>
          <a:p>
            <a:pPr algn="l">
              <a:lnSpc>
                <a:spcPct val="122000"/>
              </a:lnSpc>
            </a:pPr>
            <a:r>
              <a:rPr sz="1050" b="0" i="0">
                <a:solidFill>
                  <a:srgbClr val="6E7180"/>
                </a:solidFill>
                <a:latin typeface="Geist"/>
              </a:rPr>
              <a:t>The claim crosses police → SDM → DM/Collector → insurer council; no one sees the whole chain.</a:t>
            </a:r>
          </a:p>
        </p:txBody>
      </p:sp>
      <p:sp>
        <p:nvSpPr>
          <p:cNvPr id="29" name="Oval 28"/>
          <p:cNvSpPr/>
          <p:nvPr/>
        </p:nvSpPr>
        <p:spPr>
          <a:xfrm>
            <a:off x="566928" y="5303520"/>
            <a:ext cx="365760" cy="365760"/>
          </a:xfrm>
          <a:prstGeom prst="ellipse">
            <a:avLst/>
          </a:prstGeom>
          <a:solidFill>
            <a:srgbClr val="E7F4F4"/>
          </a:solidFill>
          <a:ln>
            <a:noFill/>
          </a:ln>
          <a:effectLst/>
        </p:spPr>
        <p:txBody>
          <a:bodyPr rtlCol="0" anchor="ctr"/>
          <a:lstStyle/>
          <a:p>
            <a:pPr algn="ctr"/>
          </a:p>
        </p:txBody>
      </p:sp>
      <p:pic>
        <p:nvPicPr>
          <p:cNvPr id="30" name="Picture 29" descr="timer-off_0E8A8A_256_2.0.png"/>
          <p:cNvPicPr>
            <a:picLocks noChangeAspect="1"/>
          </p:cNvPicPr>
          <p:nvPr/>
        </p:nvPicPr>
        <p:blipFill>
          <a:blip r:embed="rId4"/>
          <a:stretch>
            <a:fillRect/>
          </a:stretch>
        </p:blipFill>
        <p:spPr>
          <a:xfrm>
            <a:off x="654710" y="5391302"/>
            <a:ext cx="190195" cy="190195"/>
          </a:xfrm>
          <a:prstGeom prst="rect">
            <a:avLst/>
          </a:prstGeom>
        </p:spPr>
      </p:pic>
      <p:sp>
        <p:nvSpPr>
          <p:cNvPr id="31" name="TextBox 30"/>
          <p:cNvSpPr txBox="1"/>
          <p:nvPr/>
        </p:nvSpPr>
        <p:spPr>
          <a:xfrm>
            <a:off x="1097280" y="5285232"/>
            <a:ext cx="2377440" cy="457200"/>
          </a:xfrm>
          <a:prstGeom prst="rect">
            <a:avLst/>
          </a:prstGeom>
          <a:noFill/>
        </p:spPr>
        <p:txBody>
          <a:bodyPr wrap="square" lIns="0" rIns="0" tIns="0" bIns="0" anchor="t">
            <a:spAutoFit/>
          </a:bodyPr>
          <a:lstStyle/>
          <a:p>
            <a:pPr algn="l">
              <a:lnSpc>
                <a:spcPct val="105000"/>
              </a:lnSpc>
            </a:pPr>
            <a:r>
              <a:rPr sz="1200" b="1" i="0">
                <a:solidFill>
                  <a:srgbClr val="16181D"/>
                </a:solidFill>
                <a:latin typeface="Montserrat"/>
              </a:rPr>
              <a:t>Clocks nobody keeps</a:t>
            </a:r>
          </a:p>
        </p:txBody>
      </p:sp>
      <p:sp>
        <p:nvSpPr>
          <p:cNvPr id="32" name="TextBox 31"/>
          <p:cNvSpPr txBox="1"/>
          <p:nvPr/>
        </p:nvSpPr>
        <p:spPr>
          <a:xfrm>
            <a:off x="3566160" y="5285232"/>
            <a:ext cx="7909560" cy="685800"/>
          </a:xfrm>
          <a:prstGeom prst="rect">
            <a:avLst/>
          </a:prstGeom>
          <a:noFill/>
        </p:spPr>
        <p:txBody>
          <a:bodyPr wrap="square" lIns="0" rIns="0" tIns="0" bIns="0" anchor="t">
            <a:spAutoFit/>
          </a:bodyPr>
          <a:lstStyle/>
          <a:p>
            <a:pPr algn="l">
              <a:lnSpc>
                <a:spcPct val="122000"/>
              </a:lnSpc>
            </a:pPr>
            <a:r>
              <a:rPr sz="1050" b="0" i="0">
                <a:solidFill>
                  <a:srgbClr val="6E7180"/>
                </a:solidFill>
                <a:latin typeface="Geist"/>
              </a:rPr>
              <a:t>Statutory limits (1 month enquiry, 15 days sanction) exist on paper, but nothing measures or enforces them.</a:t>
            </a:r>
          </a:p>
        </p:txBody>
      </p:sp>
      <p:sp>
        <p:nvSpPr>
          <p:cNvPr id="33" name="Oval 32"/>
          <p:cNvSpPr/>
          <p:nvPr/>
        </p:nvSpPr>
        <p:spPr>
          <a:xfrm>
            <a:off x="566928" y="5852160"/>
            <a:ext cx="365760" cy="365760"/>
          </a:xfrm>
          <a:prstGeom prst="ellipse">
            <a:avLst/>
          </a:prstGeom>
          <a:solidFill>
            <a:srgbClr val="FDF3E3"/>
          </a:solidFill>
          <a:ln>
            <a:noFill/>
          </a:ln>
          <a:effectLst/>
        </p:spPr>
        <p:txBody>
          <a:bodyPr rtlCol="0" anchor="ctr"/>
          <a:lstStyle/>
          <a:p>
            <a:pPr algn="ctr"/>
          </a:p>
        </p:txBody>
      </p:sp>
      <p:pic>
        <p:nvPicPr>
          <p:cNvPr id="34" name="Picture 33" descr="file-x_E58900_256_2.0.png"/>
          <p:cNvPicPr>
            <a:picLocks noChangeAspect="1"/>
          </p:cNvPicPr>
          <p:nvPr/>
        </p:nvPicPr>
        <p:blipFill>
          <a:blip r:embed="rId5"/>
          <a:stretch>
            <a:fillRect/>
          </a:stretch>
        </p:blipFill>
        <p:spPr>
          <a:xfrm>
            <a:off x="654710" y="5939942"/>
            <a:ext cx="190195" cy="190195"/>
          </a:xfrm>
          <a:prstGeom prst="rect">
            <a:avLst/>
          </a:prstGeom>
        </p:spPr>
      </p:pic>
      <p:sp>
        <p:nvSpPr>
          <p:cNvPr id="35" name="TextBox 34"/>
          <p:cNvSpPr txBox="1"/>
          <p:nvPr/>
        </p:nvSpPr>
        <p:spPr>
          <a:xfrm>
            <a:off x="1097280" y="5833872"/>
            <a:ext cx="2377440" cy="457200"/>
          </a:xfrm>
          <a:prstGeom prst="rect">
            <a:avLst/>
          </a:prstGeom>
          <a:noFill/>
        </p:spPr>
        <p:txBody>
          <a:bodyPr wrap="square" lIns="0" rIns="0" tIns="0" bIns="0" anchor="t">
            <a:spAutoFit/>
          </a:bodyPr>
          <a:lstStyle/>
          <a:p>
            <a:pPr algn="l">
              <a:lnSpc>
                <a:spcPct val="105000"/>
              </a:lnSpc>
            </a:pPr>
            <a:r>
              <a:rPr sz="1200" b="1" i="0">
                <a:solidFill>
                  <a:srgbClr val="16181D"/>
                </a:solidFill>
                <a:latin typeface="Montserrat"/>
              </a:rPr>
              <a:t>So cases die between desks</a:t>
            </a:r>
          </a:p>
        </p:txBody>
      </p:sp>
      <p:sp>
        <p:nvSpPr>
          <p:cNvPr id="36" name="TextBox 35"/>
          <p:cNvSpPr txBox="1"/>
          <p:nvPr/>
        </p:nvSpPr>
        <p:spPr>
          <a:xfrm>
            <a:off x="3566160" y="5833872"/>
            <a:ext cx="7909560" cy="685800"/>
          </a:xfrm>
          <a:prstGeom prst="rect">
            <a:avLst/>
          </a:prstGeom>
          <a:noFill/>
        </p:spPr>
        <p:txBody>
          <a:bodyPr wrap="square" lIns="0" rIns="0" tIns="0" bIns="0" anchor="t">
            <a:spAutoFit/>
          </a:bodyPr>
          <a:lstStyle/>
          <a:p>
            <a:pPr algn="l">
              <a:lnSpc>
                <a:spcPct val="122000"/>
              </a:lnSpc>
            </a:pPr>
            <a:r>
              <a:rPr sz="1050" b="0" i="0">
                <a:solidFill>
                  <a:srgbClr val="6E7180"/>
                </a:solidFill>
                <a:latin typeface="Geist"/>
              </a:rPr>
              <a:t>In Jaipur East, 0 of 303 registered hit-and-run cases moved to the compensation desk at all.</a:t>
            </a:r>
          </a:p>
        </p:txBody>
      </p:sp>
      <p:sp>
        <p:nvSpPr>
          <p:cNvPr id="37" name="TextBox 36"/>
          <p:cNvSpPr txBox="1"/>
          <p:nvPr/>
        </p:nvSpPr>
        <p:spPr>
          <a:xfrm>
            <a:off x="566928" y="6144768"/>
            <a:ext cx="10972800" cy="201168"/>
          </a:xfrm>
          <a:prstGeom prst="rect">
            <a:avLst/>
          </a:prstGeom>
          <a:noFill/>
        </p:spPr>
        <p:txBody>
          <a:bodyPr wrap="square" lIns="0" rIns="0" tIns="0" bIns="0" anchor="t">
            <a:spAutoFit/>
          </a:bodyPr>
          <a:lstStyle/>
          <a:p>
            <a:pPr algn="l">
              <a:lnSpc>
                <a:spcPct val="128000"/>
              </a:lnSpc>
            </a:pPr>
            <a:r>
              <a:rPr sz="800" b="0" i="0">
                <a:solidFill>
                  <a:srgbClr val="6E7180"/>
                </a:solidFill>
                <a:latin typeface="Geist"/>
              </a:rPr>
              <a:t>Sources: Lok Sabha USQ 6419 (02.04.2026); Rajasthan Police compilation, Apr 2022 – Mar 2024.</a:t>
            </a:r>
          </a:p>
        </p:txBody>
      </p:sp>
      <p:cxnSp>
        <p:nvCxnSpPr>
          <p:cNvPr id="38" name="Connector 37"/>
          <p:cNvCxnSpPr/>
          <p:nvPr/>
        </p:nvCxnSpPr>
        <p:spPr>
          <a:xfrm>
            <a:off x="566928" y="6455664"/>
            <a:ext cx="11057839" cy="0"/>
          </a:xfrm>
          <a:prstGeom prst="line">
            <a:avLst/>
          </a:prstGeom>
          <a:ln w="9525">
            <a:solidFill>
              <a:srgbClr val="E8E9EE"/>
            </a:solidFill>
          </a:ln>
          <a:effectLst/>
        </p:spPr>
      </p:cxnSp>
      <p:sp>
        <p:nvSpPr>
          <p:cNvPr id="39" name="TextBox 38"/>
          <p:cNvSpPr txBox="1"/>
          <p:nvPr/>
        </p:nvSpPr>
        <p:spPr>
          <a:xfrm>
            <a:off x="566928" y="6528816"/>
            <a:ext cx="86868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SAHAJ — Team Induction Brief   ·   Confidential</a:t>
            </a:r>
          </a:p>
        </p:txBody>
      </p:sp>
      <p:sp>
        <p:nvSpPr>
          <p:cNvPr id="40" name="TextBox 39"/>
          <p:cNvSpPr txBox="1"/>
          <p:nvPr/>
        </p:nvSpPr>
        <p:spPr>
          <a:xfrm>
            <a:off x="10344607" y="6528816"/>
            <a:ext cx="128016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04 / 22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7692847" y="274320"/>
            <a:ext cx="3931920" cy="219456"/>
          </a:xfrm>
          <a:prstGeom prst="rect">
            <a:avLst/>
          </a:prstGeom>
          <a:noFill/>
        </p:spPr>
        <p:txBody>
          <a:bodyPr wrap="square" lIns="0" rIns="0" tIns="0" bIns="0" anchor="t">
            <a:spAutoFit/>
          </a:bodyPr>
          <a:lstStyle/>
          <a:p>
            <a:pPr algn="r">
              <a:lnSpc>
                <a:spcPct val="128000"/>
              </a:lnSpc>
            </a:pPr>
            <a:r>
              <a:rPr sz="800" b="1" i="0" spc="150">
                <a:solidFill>
                  <a:srgbClr val="6E7180"/>
                </a:solidFill>
                <a:latin typeface="Montserrat"/>
              </a:rPr>
              <a:t>SECTION 1 OF 5   ·   THE MISSION</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01 · THE MISSION</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SAHAJ: a tracked pipeline for money </a:t>
            </a:r>
            <a:r>
              <a:rPr sz="2250" b="1" i="0">
                <a:solidFill>
                  <a:srgbClr val="4A35FF"/>
                </a:solidFill>
                <a:latin typeface="Montserrat"/>
              </a:rPr>
              <a:t>the law already sanctioned</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It digitises the exact statutory chain — no rule change needed. The officer starts a case in two minutes; the family submits documents from WhatsApp with no login; every officer sees what is pending on them, and for how long.</a:t>
            </a:r>
          </a:p>
        </p:txBody>
      </p:sp>
      <p:sp>
        <p:nvSpPr>
          <p:cNvPr id="8" name="Rounded Rectangle 7"/>
          <p:cNvSpPr/>
          <p:nvPr/>
        </p:nvSpPr>
        <p:spPr>
          <a:xfrm>
            <a:off x="566928" y="2103120"/>
            <a:ext cx="5349240" cy="1097280"/>
          </a:xfrm>
          <a:prstGeom prst="roundRect">
            <a:avLst>
              <a:gd name="adj" fmla="val 8000"/>
            </a:avLst>
          </a:prstGeom>
          <a:solidFill>
            <a:srgbClr val="FFFFFF"/>
          </a:solidFill>
          <a:ln w="9525">
            <a:solidFill>
              <a:srgbClr val="E8E9EE"/>
            </a:solidFill>
          </a:ln>
          <a:effectLst/>
        </p:spPr>
        <p:txBody>
          <a:bodyPr rtlCol="0" anchor="ctr"/>
          <a:lstStyle/>
          <a:p>
            <a:pPr algn="ctr"/>
          </a:p>
        </p:txBody>
      </p:sp>
      <p:sp>
        <p:nvSpPr>
          <p:cNvPr id="9" name="Oval 8"/>
          <p:cNvSpPr/>
          <p:nvPr/>
        </p:nvSpPr>
        <p:spPr>
          <a:xfrm>
            <a:off x="749808" y="2286000"/>
            <a:ext cx="420624" cy="420624"/>
          </a:xfrm>
          <a:prstGeom prst="ellipse">
            <a:avLst/>
          </a:prstGeom>
          <a:solidFill>
            <a:srgbClr val="EFEDFF"/>
          </a:solidFill>
          <a:ln>
            <a:noFill/>
          </a:ln>
          <a:effectLst/>
        </p:spPr>
        <p:txBody>
          <a:bodyPr rtlCol="0" anchor="ctr"/>
          <a:lstStyle/>
          <a:p>
            <a:pPr algn="ctr"/>
          </a:p>
        </p:txBody>
      </p:sp>
      <p:pic>
        <p:nvPicPr>
          <p:cNvPr id="10" name="Picture 9" descr="hand-heart_4A35FF_256_2.0.png"/>
          <p:cNvPicPr>
            <a:picLocks noChangeAspect="1"/>
          </p:cNvPicPr>
          <p:nvPr/>
        </p:nvPicPr>
        <p:blipFill>
          <a:blip r:embed="rId2"/>
          <a:stretch>
            <a:fillRect/>
          </a:stretch>
        </p:blipFill>
        <p:spPr>
          <a:xfrm>
            <a:off x="850757" y="2386949"/>
            <a:ext cx="218724" cy="218724"/>
          </a:xfrm>
          <a:prstGeom prst="rect">
            <a:avLst/>
          </a:prstGeom>
        </p:spPr>
      </p:pic>
      <p:sp>
        <p:nvSpPr>
          <p:cNvPr id="11" name="TextBox 10"/>
          <p:cNvSpPr txBox="1"/>
          <p:nvPr/>
        </p:nvSpPr>
        <p:spPr>
          <a:xfrm>
            <a:off x="1316736" y="2249424"/>
            <a:ext cx="4434840" cy="320040"/>
          </a:xfrm>
          <a:prstGeom prst="rect">
            <a:avLst/>
          </a:prstGeom>
          <a:noFill/>
        </p:spPr>
        <p:txBody>
          <a:bodyPr wrap="square" lIns="0" rIns="0" tIns="0" bIns="0" anchor="t">
            <a:spAutoFit/>
          </a:bodyPr>
          <a:lstStyle/>
          <a:p>
            <a:pPr algn="l">
              <a:lnSpc>
                <a:spcPct val="100000"/>
              </a:lnSpc>
            </a:pPr>
            <a:r>
              <a:rPr sz="1200" b="1" i="0">
                <a:solidFill>
                  <a:srgbClr val="16181D"/>
                </a:solidFill>
                <a:latin typeface="Montserrat"/>
              </a:rPr>
              <a:t>Zero burden on the family</a:t>
            </a:r>
          </a:p>
        </p:txBody>
      </p:sp>
      <p:sp>
        <p:nvSpPr>
          <p:cNvPr id="12" name="TextBox 11"/>
          <p:cNvSpPr txBox="1"/>
          <p:nvPr/>
        </p:nvSpPr>
        <p:spPr>
          <a:xfrm>
            <a:off x="1316736" y="2578608"/>
            <a:ext cx="4434840" cy="548640"/>
          </a:xfrm>
          <a:prstGeom prst="rect">
            <a:avLst/>
          </a:prstGeom>
          <a:noFill/>
        </p:spPr>
        <p:txBody>
          <a:bodyPr wrap="square" lIns="0" rIns="0" tIns="0" bIns="0" anchor="t">
            <a:spAutoFit/>
          </a:bodyPr>
          <a:lstStyle/>
          <a:p>
            <a:pPr algn="l">
              <a:lnSpc>
                <a:spcPct val="118000"/>
              </a:lnSpc>
            </a:pPr>
            <a:r>
              <a:rPr sz="1000" b="0" i="0">
                <a:solidFill>
                  <a:srgbClr val="6E7180"/>
                </a:solidFill>
                <a:latin typeface="Geist"/>
              </a:rPr>
              <a:t>No app, no account, no password on first contact. A WhatsApp/SMS link, photos of documents, done.</a:t>
            </a:r>
          </a:p>
        </p:txBody>
      </p:sp>
      <p:sp>
        <p:nvSpPr>
          <p:cNvPr id="13" name="Rounded Rectangle 12"/>
          <p:cNvSpPr/>
          <p:nvPr/>
        </p:nvSpPr>
        <p:spPr>
          <a:xfrm>
            <a:off x="566928" y="3337560"/>
            <a:ext cx="5349240" cy="1097280"/>
          </a:xfrm>
          <a:prstGeom prst="roundRect">
            <a:avLst>
              <a:gd name="adj" fmla="val 8000"/>
            </a:avLst>
          </a:prstGeom>
          <a:solidFill>
            <a:srgbClr val="FFFFFF"/>
          </a:solidFill>
          <a:ln w="9525">
            <a:solidFill>
              <a:srgbClr val="E8E9EE"/>
            </a:solidFill>
          </a:ln>
          <a:effectLst/>
        </p:spPr>
        <p:txBody>
          <a:bodyPr rtlCol="0" anchor="ctr"/>
          <a:lstStyle/>
          <a:p>
            <a:pPr algn="ctr"/>
          </a:p>
        </p:txBody>
      </p:sp>
      <p:sp>
        <p:nvSpPr>
          <p:cNvPr id="14" name="Oval 13"/>
          <p:cNvSpPr/>
          <p:nvPr/>
        </p:nvSpPr>
        <p:spPr>
          <a:xfrm>
            <a:off x="749808" y="3520440"/>
            <a:ext cx="420624" cy="420624"/>
          </a:xfrm>
          <a:prstGeom prst="ellipse">
            <a:avLst/>
          </a:prstGeom>
          <a:solidFill>
            <a:srgbClr val="E9F7F0"/>
          </a:solidFill>
          <a:ln>
            <a:noFill/>
          </a:ln>
          <a:effectLst/>
        </p:spPr>
        <p:txBody>
          <a:bodyPr rtlCol="0" anchor="ctr"/>
          <a:lstStyle/>
          <a:p>
            <a:pPr algn="ctr"/>
          </a:p>
        </p:txBody>
      </p:sp>
      <p:pic>
        <p:nvPicPr>
          <p:cNvPr id="15" name="Picture 14" descr="languages_0A9955_256_2.0.png"/>
          <p:cNvPicPr>
            <a:picLocks noChangeAspect="1"/>
          </p:cNvPicPr>
          <p:nvPr/>
        </p:nvPicPr>
        <p:blipFill>
          <a:blip r:embed="rId3"/>
          <a:stretch>
            <a:fillRect/>
          </a:stretch>
        </p:blipFill>
        <p:spPr>
          <a:xfrm>
            <a:off x="850757" y="3621389"/>
            <a:ext cx="218724" cy="218724"/>
          </a:xfrm>
          <a:prstGeom prst="rect">
            <a:avLst/>
          </a:prstGeom>
        </p:spPr>
      </p:pic>
      <p:sp>
        <p:nvSpPr>
          <p:cNvPr id="16" name="TextBox 15"/>
          <p:cNvSpPr txBox="1"/>
          <p:nvPr/>
        </p:nvSpPr>
        <p:spPr>
          <a:xfrm>
            <a:off x="1316736" y="3483864"/>
            <a:ext cx="4434840" cy="320040"/>
          </a:xfrm>
          <a:prstGeom prst="rect">
            <a:avLst/>
          </a:prstGeom>
          <a:noFill/>
        </p:spPr>
        <p:txBody>
          <a:bodyPr wrap="square" lIns="0" rIns="0" tIns="0" bIns="0" anchor="t">
            <a:spAutoFit/>
          </a:bodyPr>
          <a:lstStyle/>
          <a:p>
            <a:pPr algn="l">
              <a:lnSpc>
                <a:spcPct val="100000"/>
              </a:lnSpc>
            </a:pPr>
            <a:r>
              <a:rPr sz="1200" b="1" i="0">
                <a:solidFill>
                  <a:srgbClr val="16181D"/>
                </a:solidFill>
                <a:latin typeface="Montserrat"/>
              </a:rPr>
              <a:t>Hindi-first, cheap-phone-first</a:t>
            </a:r>
          </a:p>
        </p:txBody>
      </p:sp>
      <p:sp>
        <p:nvSpPr>
          <p:cNvPr id="17" name="TextBox 16"/>
          <p:cNvSpPr txBox="1"/>
          <p:nvPr/>
        </p:nvSpPr>
        <p:spPr>
          <a:xfrm>
            <a:off x="1316736" y="3813048"/>
            <a:ext cx="4434840" cy="548640"/>
          </a:xfrm>
          <a:prstGeom prst="rect">
            <a:avLst/>
          </a:prstGeom>
          <a:noFill/>
        </p:spPr>
        <p:txBody>
          <a:bodyPr wrap="square" lIns="0" rIns="0" tIns="0" bIns="0" anchor="t">
            <a:spAutoFit/>
          </a:bodyPr>
          <a:lstStyle/>
          <a:p>
            <a:pPr algn="l">
              <a:lnSpc>
                <a:spcPct val="118000"/>
              </a:lnSpc>
            </a:pPr>
            <a:r>
              <a:rPr sz="1000" b="0" i="0">
                <a:solidFill>
                  <a:srgbClr val="6E7180"/>
                </a:solidFill>
                <a:latin typeface="Geist"/>
              </a:rPr>
              <a:t>Defaults to Hindi, English one click away; works on the cheapest phone the family owns.</a:t>
            </a:r>
          </a:p>
        </p:txBody>
      </p:sp>
      <p:sp>
        <p:nvSpPr>
          <p:cNvPr id="18" name="Rounded Rectangle 17"/>
          <p:cNvSpPr/>
          <p:nvPr/>
        </p:nvSpPr>
        <p:spPr>
          <a:xfrm>
            <a:off x="566928" y="4572000"/>
            <a:ext cx="5349240" cy="1097280"/>
          </a:xfrm>
          <a:prstGeom prst="roundRect">
            <a:avLst>
              <a:gd name="adj" fmla="val 8000"/>
            </a:avLst>
          </a:prstGeom>
          <a:solidFill>
            <a:srgbClr val="FFFFFF"/>
          </a:solidFill>
          <a:ln w="9525">
            <a:solidFill>
              <a:srgbClr val="E8E9EE"/>
            </a:solidFill>
          </a:ln>
          <a:effectLst/>
        </p:spPr>
        <p:txBody>
          <a:bodyPr rtlCol="0" anchor="ctr"/>
          <a:lstStyle/>
          <a:p>
            <a:pPr algn="ctr"/>
          </a:p>
        </p:txBody>
      </p:sp>
      <p:sp>
        <p:nvSpPr>
          <p:cNvPr id="19" name="Oval 18"/>
          <p:cNvSpPr/>
          <p:nvPr/>
        </p:nvSpPr>
        <p:spPr>
          <a:xfrm>
            <a:off x="749808" y="4754880"/>
            <a:ext cx="420624" cy="420624"/>
          </a:xfrm>
          <a:prstGeom prst="ellipse">
            <a:avLst/>
          </a:prstGeom>
          <a:solidFill>
            <a:srgbClr val="E7F4F4"/>
          </a:solidFill>
          <a:ln>
            <a:noFill/>
          </a:ln>
          <a:effectLst/>
        </p:spPr>
        <p:txBody>
          <a:bodyPr rtlCol="0" anchor="ctr"/>
          <a:lstStyle/>
          <a:p>
            <a:pPr algn="ctr"/>
          </a:p>
        </p:txBody>
      </p:sp>
      <p:pic>
        <p:nvPicPr>
          <p:cNvPr id="20" name="Picture 19" descr="git-merge_0E8A8A_256_2.0.png"/>
          <p:cNvPicPr>
            <a:picLocks noChangeAspect="1"/>
          </p:cNvPicPr>
          <p:nvPr/>
        </p:nvPicPr>
        <p:blipFill>
          <a:blip r:embed="rId4"/>
          <a:stretch>
            <a:fillRect/>
          </a:stretch>
        </p:blipFill>
        <p:spPr>
          <a:xfrm>
            <a:off x="850757" y="4855829"/>
            <a:ext cx="218724" cy="218724"/>
          </a:xfrm>
          <a:prstGeom prst="rect">
            <a:avLst/>
          </a:prstGeom>
        </p:spPr>
      </p:pic>
      <p:sp>
        <p:nvSpPr>
          <p:cNvPr id="21" name="TextBox 20"/>
          <p:cNvSpPr txBox="1"/>
          <p:nvPr/>
        </p:nvSpPr>
        <p:spPr>
          <a:xfrm>
            <a:off x="1316736" y="4718304"/>
            <a:ext cx="4434840" cy="320040"/>
          </a:xfrm>
          <a:prstGeom prst="rect">
            <a:avLst/>
          </a:prstGeom>
          <a:noFill/>
        </p:spPr>
        <p:txBody>
          <a:bodyPr wrap="square" lIns="0" rIns="0" tIns="0" bIns="0" anchor="t">
            <a:spAutoFit/>
          </a:bodyPr>
          <a:lstStyle/>
          <a:p>
            <a:pPr algn="l">
              <a:lnSpc>
                <a:spcPct val="100000"/>
              </a:lnSpc>
            </a:pPr>
            <a:r>
              <a:rPr sz="1200" b="1" i="0">
                <a:solidFill>
                  <a:srgbClr val="16181D"/>
                </a:solidFill>
                <a:latin typeface="Montserrat"/>
              </a:rPr>
              <a:t>The statutory chain, digitised as-is</a:t>
            </a:r>
          </a:p>
        </p:txBody>
      </p:sp>
      <p:sp>
        <p:nvSpPr>
          <p:cNvPr id="22" name="TextBox 21"/>
          <p:cNvSpPr txBox="1"/>
          <p:nvPr/>
        </p:nvSpPr>
        <p:spPr>
          <a:xfrm>
            <a:off x="1316736" y="5047488"/>
            <a:ext cx="4434840" cy="548640"/>
          </a:xfrm>
          <a:prstGeom prst="rect">
            <a:avLst/>
          </a:prstGeom>
          <a:noFill/>
        </p:spPr>
        <p:txBody>
          <a:bodyPr wrap="square" lIns="0" rIns="0" tIns="0" bIns="0" anchor="t">
            <a:spAutoFit/>
          </a:bodyPr>
          <a:lstStyle/>
          <a:p>
            <a:pPr algn="l">
              <a:lnSpc>
                <a:spcPct val="118000"/>
              </a:lnSpc>
            </a:pPr>
            <a:r>
              <a:rPr sz="1000" b="0" i="0">
                <a:solidFill>
                  <a:srgbClr val="6E7180"/>
                </a:solidFill>
                <a:latin typeface="Geist"/>
              </a:rPr>
              <a:t>Mirrors the legal roles and the four forms (I–IV) rather than inventing a parallel process.</a:t>
            </a:r>
          </a:p>
        </p:txBody>
      </p:sp>
      <p:sp>
        <p:nvSpPr>
          <p:cNvPr id="23" name="Rounded Rectangle 22"/>
          <p:cNvSpPr/>
          <p:nvPr/>
        </p:nvSpPr>
        <p:spPr>
          <a:xfrm>
            <a:off x="6144768" y="2103120"/>
            <a:ext cx="5349240" cy="1097280"/>
          </a:xfrm>
          <a:prstGeom prst="roundRect">
            <a:avLst>
              <a:gd name="adj" fmla="val 8000"/>
            </a:avLst>
          </a:prstGeom>
          <a:solidFill>
            <a:srgbClr val="FFFFFF"/>
          </a:solidFill>
          <a:ln w="9525">
            <a:solidFill>
              <a:srgbClr val="E8E9EE"/>
            </a:solidFill>
          </a:ln>
          <a:effectLst/>
        </p:spPr>
        <p:txBody>
          <a:bodyPr rtlCol="0" anchor="ctr"/>
          <a:lstStyle/>
          <a:p>
            <a:pPr algn="ctr"/>
          </a:p>
        </p:txBody>
      </p:sp>
      <p:sp>
        <p:nvSpPr>
          <p:cNvPr id="24" name="Oval 23"/>
          <p:cNvSpPr/>
          <p:nvPr/>
        </p:nvSpPr>
        <p:spPr>
          <a:xfrm>
            <a:off x="6327648" y="2286000"/>
            <a:ext cx="420624" cy="420624"/>
          </a:xfrm>
          <a:prstGeom prst="ellipse">
            <a:avLst/>
          </a:prstGeom>
          <a:solidFill>
            <a:srgbClr val="FDF3E3"/>
          </a:solidFill>
          <a:ln>
            <a:noFill/>
          </a:ln>
          <a:effectLst/>
        </p:spPr>
        <p:txBody>
          <a:bodyPr rtlCol="0" anchor="ctr"/>
          <a:lstStyle/>
          <a:p>
            <a:pPr algn="ctr"/>
          </a:p>
        </p:txBody>
      </p:sp>
      <p:pic>
        <p:nvPicPr>
          <p:cNvPr id="25" name="Picture 24" descr="timer_E58900_256_2.0.png"/>
          <p:cNvPicPr>
            <a:picLocks noChangeAspect="1"/>
          </p:cNvPicPr>
          <p:nvPr/>
        </p:nvPicPr>
        <p:blipFill>
          <a:blip r:embed="rId5"/>
          <a:stretch>
            <a:fillRect/>
          </a:stretch>
        </p:blipFill>
        <p:spPr>
          <a:xfrm>
            <a:off x="6428597" y="2386949"/>
            <a:ext cx="218724" cy="218724"/>
          </a:xfrm>
          <a:prstGeom prst="rect">
            <a:avLst/>
          </a:prstGeom>
        </p:spPr>
      </p:pic>
      <p:sp>
        <p:nvSpPr>
          <p:cNvPr id="26" name="TextBox 25"/>
          <p:cNvSpPr txBox="1"/>
          <p:nvPr/>
        </p:nvSpPr>
        <p:spPr>
          <a:xfrm>
            <a:off x="6894576" y="2249424"/>
            <a:ext cx="4434840" cy="320040"/>
          </a:xfrm>
          <a:prstGeom prst="rect">
            <a:avLst/>
          </a:prstGeom>
          <a:noFill/>
        </p:spPr>
        <p:txBody>
          <a:bodyPr wrap="square" lIns="0" rIns="0" tIns="0" bIns="0" anchor="t">
            <a:spAutoFit/>
          </a:bodyPr>
          <a:lstStyle/>
          <a:p>
            <a:pPr algn="l">
              <a:lnSpc>
                <a:spcPct val="100000"/>
              </a:lnSpc>
            </a:pPr>
            <a:r>
              <a:rPr sz="1200" b="1" i="0">
                <a:solidFill>
                  <a:srgbClr val="16181D"/>
                </a:solidFill>
                <a:latin typeface="Montserrat"/>
              </a:rPr>
              <a:t>Clocks as SLAs</a:t>
            </a:r>
          </a:p>
        </p:txBody>
      </p:sp>
      <p:sp>
        <p:nvSpPr>
          <p:cNvPr id="27" name="TextBox 26"/>
          <p:cNvSpPr txBox="1"/>
          <p:nvPr/>
        </p:nvSpPr>
        <p:spPr>
          <a:xfrm>
            <a:off x="6894576" y="2578608"/>
            <a:ext cx="4434840" cy="548640"/>
          </a:xfrm>
          <a:prstGeom prst="rect">
            <a:avLst/>
          </a:prstGeom>
          <a:noFill/>
        </p:spPr>
        <p:txBody>
          <a:bodyPr wrap="square" lIns="0" rIns="0" tIns="0" bIns="0" anchor="t">
            <a:spAutoFit/>
          </a:bodyPr>
          <a:lstStyle/>
          <a:p>
            <a:pPr algn="l">
              <a:lnSpc>
                <a:spcPct val="118000"/>
              </a:lnSpc>
            </a:pPr>
            <a:r>
              <a:rPr sz="1000" b="0" i="0">
                <a:solidFill>
                  <a:srgbClr val="6E7180"/>
                </a:solidFill>
                <a:latin typeface="Geist"/>
              </a:rPr>
              <a:t>Every case shows who it's pending on and for how long; the clock counts only active days.</a:t>
            </a:r>
          </a:p>
        </p:txBody>
      </p:sp>
      <p:sp>
        <p:nvSpPr>
          <p:cNvPr id="28" name="Rounded Rectangle 27"/>
          <p:cNvSpPr/>
          <p:nvPr/>
        </p:nvSpPr>
        <p:spPr>
          <a:xfrm>
            <a:off x="6144768" y="3337560"/>
            <a:ext cx="5349240" cy="1097280"/>
          </a:xfrm>
          <a:prstGeom prst="roundRect">
            <a:avLst>
              <a:gd name="adj" fmla="val 8000"/>
            </a:avLst>
          </a:prstGeom>
          <a:solidFill>
            <a:srgbClr val="FFFFFF"/>
          </a:solidFill>
          <a:ln w="9525">
            <a:solidFill>
              <a:srgbClr val="E8E9EE"/>
            </a:solidFill>
          </a:ln>
          <a:effectLst/>
        </p:spPr>
        <p:txBody>
          <a:bodyPr rtlCol="0" anchor="ctr"/>
          <a:lstStyle/>
          <a:p>
            <a:pPr algn="ctr"/>
          </a:p>
        </p:txBody>
      </p:sp>
      <p:sp>
        <p:nvSpPr>
          <p:cNvPr id="29" name="Oval 28"/>
          <p:cNvSpPr/>
          <p:nvPr/>
        </p:nvSpPr>
        <p:spPr>
          <a:xfrm>
            <a:off x="6327648" y="3520440"/>
            <a:ext cx="420624" cy="420624"/>
          </a:xfrm>
          <a:prstGeom prst="ellipse">
            <a:avLst/>
          </a:prstGeom>
          <a:solidFill>
            <a:srgbClr val="EFEDFF"/>
          </a:solidFill>
          <a:ln>
            <a:noFill/>
          </a:ln>
          <a:effectLst/>
        </p:spPr>
        <p:txBody>
          <a:bodyPr rtlCol="0" anchor="ctr"/>
          <a:lstStyle/>
          <a:p>
            <a:pPr algn="ctr"/>
          </a:p>
        </p:txBody>
      </p:sp>
      <p:pic>
        <p:nvPicPr>
          <p:cNvPr id="30" name="Picture 29" descr="smartphone_4A35FF_256_2.0.png"/>
          <p:cNvPicPr>
            <a:picLocks noChangeAspect="1"/>
          </p:cNvPicPr>
          <p:nvPr/>
        </p:nvPicPr>
        <p:blipFill>
          <a:blip r:embed="rId6"/>
          <a:stretch>
            <a:fillRect/>
          </a:stretch>
        </p:blipFill>
        <p:spPr>
          <a:xfrm>
            <a:off x="6428597" y="3621389"/>
            <a:ext cx="218724" cy="218724"/>
          </a:xfrm>
          <a:prstGeom prst="rect">
            <a:avLst/>
          </a:prstGeom>
        </p:spPr>
      </p:pic>
      <p:sp>
        <p:nvSpPr>
          <p:cNvPr id="31" name="TextBox 30"/>
          <p:cNvSpPr txBox="1"/>
          <p:nvPr/>
        </p:nvSpPr>
        <p:spPr>
          <a:xfrm>
            <a:off x="6894576" y="3483864"/>
            <a:ext cx="4434840" cy="320040"/>
          </a:xfrm>
          <a:prstGeom prst="rect">
            <a:avLst/>
          </a:prstGeom>
          <a:noFill/>
        </p:spPr>
        <p:txBody>
          <a:bodyPr wrap="square" lIns="0" rIns="0" tIns="0" bIns="0" anchor="t">
            <a:spAutoFit/>
          </a:bodyPr>
          <a:lstStyle/>
          <a:p>
            <a:pPr algn="l">
              <a:lnSpc>
                <a:spcPct val="100000"/>
              </a:lnSpc>
            </a:pPr>
            <a:r>
              <a:rPr sz="1200" b="1" i="0">
                <a:solidFill>
                  <a:srgbClr val="16181D"/>
                </a:solidFill>
                <a:latin typeface="Montserrat"/>
              </a:rPr>
              <a:t>Behaves like an installed app</a:t>
            </a:r>
          </a:p>
        </p:txBody>
      </p:sp>
      <p:sp>
        <p:nvSpPr>
          <p:cNvPr id="32" name="TextBox 31"/>
          <p:cNvSpPr txBox="1"/>
          <p:nvPr/>
        </p:nvSpPr>
        <p:spPr>
          <a:xfrm>
            <a:off x="6894576" y="3813048"/>
            <a:ext cx="4434840" cy="548640"/>
          </a:xfrm>
          <a:prstGeom prst="rect">
            <a:avLst/>
          </a:prstGeom>
          <a:noFill/>
        </p:spPr>
        <p:txBody>
          <a:bodyPr wrap="square" lIns="0" rIns="0" tIns="0" bIns="0" anchor="t">
            <a:spAutoFit/>
          </a:bodyPr>
          <a:lstStyle/>
          <a:p>
            <a:pPr algn="l">
              <a:lnSpc>
                <a:spcPct val="118000"/>
              </a:lnSpc>
            </a:pPr>
            <a:r>
              <a:rPr sz="1000" b="0" i="0">
                <a:solidFill>
                  <a:srgbClr val="6E7180"/>
                </a:solidFill>
                <a:latin typeface="Geist"/>
              </a:rPr>
              <a:t>Officers aren't browser users. The officer app installs to the home screen (PWA) — no app store, same backend.</a:t>
            </a:r>
          </a:p>
        </p:txBody>
      </p:sp>
      <p:sp>
        <p:nvSpPr>
          <p:cNvPr id="33" name="Rounded Rectangle 32"/>
          <p:cNvSpPr/>
          <p:nvPr/>
        </p:nvSpPr>
        <p:spPr>
          <a:xfrm>
            <a:off x="6144768" y="4572000"/>
            <a:ext cx="5349240" cy="1097280"/>
          </a:xfrm>
          <a:prstGeom prst="roundRect">
            <a:avLst>
              <a:gd name="adj" fmla="val 8000"/>
            </a:avLst>
          </a:prstGeom>
          <a:solidFill>
            <a:srgbClr val="FFFFFF"/>
          </a:solidFill>
          <a:ln w="9525">
            <a:solidFill>
              <a:srgbClr val="E8E9EE"/>
            </a:solidFill>
          </a:ln>
          <a:effectLst/>
        </p:spPr>
        <p:txBody>
          <a:bodyPr rtlCol="0" anchor="ctr"/>
          <a:lstStyle/>
          <a:p>
            <a:pPr algn="ctr"/>
          </a:p>
        </p:txBody>
      </p:sp>
      <p:sp>
        <p:nvSpPr>
          <p:cNvPr id="34" name="Oval 33"/>
          <p:cNvSpPr/>
          <p:nvPr/>
        </p:nvSpPr>
        <p:spPr>
          <a:xfrm>
            <a:off x="6327648" y="4754880"/>
            <a:ext cx="420624" cy="420624"/>
          </a:xfrm>
          <a:prstGeom prst="ellipse">
            <a:avLst/>
          </a:prstGeom>
          <a:solidFill>
            <a:srgbClr val="E9F7F0"/>
          </a:solidFill>
          <a:ln>
            <a:noFill/>
          </a:ln>
          <a:effectLst/>
        </p:spPr>
        <p:txBody>
          <a:bodyPr rtlCol="0" anchor="ctr"/>
          <a:lstStyle/>
          <a:p>
            <a:pPr algn="ctr"/>
          </a:p>
        </p:txBody>
      </p:sp>
      <p:pic>
        <p:nvPicPr>
          <p:cNvPr id="35" name="Picture 34" descr="scan-line_0A9955_256_2.0.png"/>
          <p:cNvPicPr>
            <a:picLocks noChangeAspect="1"/>
          </p:cNvPicPr>
          <p:nvPr/>
        </p:nvPicPr>
        <p:blipFill>
          <a:blip r:embed="rId7"/>
          <a:stretch>
            <a:fillRect/>
          </a:stretch>
        </p:blipFill>
        <p:spPr>
          <a:xfrm>
            <a:off x="6428597" y="4855829"/>
            <a:ext cx="218724" cy="218724"/>
          </a:xfrm>
          <a:prstGeom prst="rect">
            <a:avLst/>
          </a:prstGeom>
        </p:spPr>
      </p:pic>
      <p:sp>
        <p:nvSpPr>
          <p:cNvPr id="36" name="TextBox 35"/>
          <p:cNvSpPr txBox="1"/>
          <p:nvPr/>
        </p:nvSpPr>
        <p:spPr>
          <a:xfrm>
            <a:off x="6894576" y="4718304"/>
            <a:ext cx="4434840" cy="320040"/>
          </a:xfrm>
          <a:prstGeom prst="rect">
            <a:avLst/>
          </a:prstGeom>
          <a:noFill/>
        </p:spPr>
        <p:txBody>
          <a:bodyPr wrap="square" lIns="0" rIns="0" tIns="0" bIns="0" anchor="t">
            <a:spAutoFit/>
          </a:bodyPr>
          <a:lstStyle/>
          <a:p>
            <a:pPr algn="l">
              <a:lnSpc>
                <a:spcPct val="100000"/>
              </a:lnSpc>
            </a:pPr>
            <a:r>
              <a:rPr sz="1200" b="1" i="0">
                <a:solidFill>
                  <a:srgbClr val="16181D"/>
                </a:solidFill>
                <a:latin typeface="Montserrat"/>
              </a:rPr>
              <a:t>No duplicate data entry, in the end</a:t>
            </a:r>
          </a:p>
        </p:txBody>
      </p:sp>
      <p:sp>
        <p:nvSpPr>
          <p:cNvPr id="37" name="TextBox 36"/>
          <p:cNvSpPr txBox="1"/>
          <p:nvPr/>
        </p:nvSpPr>
        <p:spPr>
          <a:xfrm>
            <a:off x="6894576" y="5047488"/>
            <a:ext cx="4434840" cy="548640"/>
          </a:xfrm>
          <a:prstGeom prst="rect">
            <a:avLst/>
          </a:prstGeom>
          <a:noFill/>
        </p:spPr>
        <p:txBody>
          <a:bodyPr wrap="square" lIns="0" rIns="0" tIns="0" bIns="0" anchor="t">
            <a:spAutoFit/>
          </a:bodyPr>
          <a:lstStyle/>
          <a:p>
            <a:pPr algn="l">
              <a:lnSpc>
                <a:spcPct val="118000"/>
              </a:lnSpc>
            </a:pPr>
            <a:r>
              <a:rPr sz="1000" b="0" i="0">
                <a:solidFill>
                  <a:srgbClr val="6E7180"/>
                </a:solidFill>
                <a:latin typeface="Geist"/>
              </a:rPr>
              <a:t>The FIR facts already sit in police systems; the long-term first mile is a CCTNS/e-DAR feed, not a new screen.</a:t>
            </a:r>
          </a:p>
        </p:txBody>
      </p:sp>
      <p:cxnSp>
        <p:nvCxnSpPr>
          <p:cNvPr id="38" name="Connector 37"/>
          <p:cNvCxnSpPr/>
          <p:nvPr/>
        </p:nvCxnSpPr>
        <p:spPr>
          <a:xfrm>
            <a:off x="566928" y="6455664"/>
            <a:ext cx="11057839" cy="0"/>
          </a:xfrm>
          <a:prstGeom prst="line">
            <a:avLst/>
          </a:prstGeom>
          <a:ln w="9525">
            <a:solidFill>
              <a:srgbClr val="E8E9EE"/>
            </a:solidFill>
          </a:ln>
          <a:effectLst/>
        </p:spPr>
      </p:cxnSp>
      <p:sp>
        <p:nvSpPr>
          <p:cNvPr id="39" name="TextBox 38"/>
          <p:cNvSpPr txBox="1"/>
          <p:nvPr/>
        </p:nvSpPr>
        <p:spPr>
          <a:xfrm>
            <a:off x="566928" y="6528816"/>
            <a:ext cx="86868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SAHAJ — Team Induction Brief   ·   Confidential</a:t>
            </a:r>
          </a:p>
        </p:txBody>
      </p:sp>
      <p:sp>
        <p:nvSpPr>
          <p:cNvPr id="40" name="TextBox 39"/>
          <p:cNvSpPr txBox="1"/>
          <p:nvPr/>
        </p:nvSpPr>
        <p:spPr>
          <a:xfrm>
            <a:off x="10344607" y="6528816"/>
            <a:ext cx="128016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05 / 22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7692847" y="274320"/>
            <a:ext cx="3931920" cy="219456"/>
          </a:xfrm>
          <a:prstGeom prst="rect">
            <a:avLst/>
          </a:prstGeom>
          <a:noFill/>
        </p:spPr>
        <p:txBody>
          <a:bodyPr wrap="square" lIns="0" rIns="0" tIns="0" bIns="0" anchor="t">
            <a:spAutoFit/>
          </a:bodyPr>
          <a:lstStyle/>
          <a:p>
            <a:pPr algn="r">
              <a:lnSpc>
                <a:spcPct val="128000"/>
              </a:lnSpc>
            </a:pPr>
            <a:r>
              <a:rPr sz="800" b="1" i="0" spc="150">
                <a:solidFill>
                  <a:srgbClr val="6E7180"/>
                </a:solidFill>
                <a:latin typeface="Montserrat"/>
              </a:rPr>
              <a:t>SECTION 1 OF 5   ·   THE MISSION</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01 · THE MISSION</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Who is behind SAHAJ, and </a:t>
            </a:r>
            <a:r>
              <a:rPr sz="2250" b="1" i="0">
                <a:solidFill>
                  <a:srgbClr val="4A35FF"/>
                </a:solidFill>
                <a:latin typeface="Montserrat"/>
              </a:rPr>
              <a:t>who it's built for</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SAHAJ is one build inside Crashfree India's compensation vertical, made at the request of the Rajasthan Transport &amp; Road Safety Department.</a:t>
            </a:r>
          </a:p>
        </p:txBody>
      </p:sp>
      <p:sp>
        <p:nvSpPr>
          <p:cNvPr id="8" name="Oval 7"/>
          <p:cNvSpPr/>
          <p:nvPr/>
        </p:nvSpPr>
        <p:spPr>
          <a:xfrm>
            <a:off x="566928" y="2148840"/>
            <a:ext cx="457200" cy="457200"/>
          </a:xfrm>
          <a:prstGeom prst="ellipse">
            <a:avLst/>
          </a:prstGeom>
          <a:solidFill>
            <a:srgbClr val="EFEDFF"/>
          </a:solidFill>
          <a:ln>
            <a:noFill/>
          </a:ln>
          <a:effectLst/>
        </p:spPr>
        <p:txBody>
          <a:bodyPr rtlCol="0" anchor="ctr"/>
          <a:lstStyle/>
          <a:p>
            <a:pPr algn="ctr"/>
          </a:p>
        </p:txBody>
      </p:sp>
      <p:pic>
        <p:nvPicPr>
          <p:cNvPr id="9" name="Picture 8" descr="building-2_4A35FF_256_2.0.png"/>
          <p:cNvPicPr>
            <a:picLocks noChangeAspect="1"/>
          </p:cNvPicPr>
          <p:nvPr/>
        </p:nvPicPr>
        <p:blipFill>
          <a:blip r:embed="rId2"/>
          <a:stretch>
            <a:fillRect/>
          </a:stretch>
        </p:blipFill>
        <p:spPr>
          <a:xfrm>
            <a:off x="676656" y="2258568"/>
            <a:ext cx="237744" cy="237744"/>
          </a:xfrm>
          <a:prstGeom prst="rect">
            <a:avLst/>
          </a:prstGeom>
        </p:spPr>
      </p:pic>
      <p:sp>
        <p:nvSpPr>
          <p:cNvPr id="10" name="TextBox 9"/>
          <p:cNvSpPr txBox="1"/>
          <p:nvPr/>
        </p:nvSpPr>
        <p:spPr>
          <a:xfrm>
            <a:off x="1207008" y="2130552"/>
            <a:ext cx="5760720" cy="320040"/>
          </a:xfrm>
          <a:prstGeom prst="rect">
            <a:avLst/>
          </a:prstGeom>
          <a:noFill/>
        </p:spPr>
        <p:txBody>
          <a:bodyPr wrap="square" lIns="0" rIns="0" tIns="0" bIns="0" anchor="t">
            <a:spAutoFit/>
          </a:bodyPr>
          <a:lstStyle/>
          <a:p>
            <a:pPr algn="l">
              <a:lnSpc>
                <a:spcPct val="100000"/>
              </a:lnSpc>
            </a:pPr>
            <a:r>
              <a:rPr sz="1300" b="1" i="0">
                <a:solidFill>
                  <a:srgbClr val="16181D"/>
                </a:solidFill>
                <a:latin typeface="Montserrat"/>
              </a:rPr>
              <a:t>Crashfree India (CFI)</a:t>
            </a:r>
          </a:p>
        </p:txBody>
      </p:sp>
      <p:sp>
        <p:nvSpPr>
          <p:cNvPr id="11" name="TextBox 10"/>
          <p:cNvSpPr txBox="1"/>
          <p:nvPr/>
        </p:nvSpPr>
        <p:spPr>
          <a:xfrm>
            <a:off x="1207008" y="2459736"/>
            <a:ext cx="5760720" cy="822960"/>
          </a:xfrm>
          <a:prstGeom prst="rect">
            <a:avLst/>
          </a:prstGeom>
          <a:noFill/>
        </p:spPr>
        <p:txBody>
          <a:bodyPr wrap="square" lIns="0" rIns="0" tIns="0" bIns="0" anchor="t">
            <a:spAutoFit/>
          </a:bodyPr>
          <a:lstStyle/>
          <a:p>
            <a:pPr algn="l">
              <a:lnSpc>
                <a:spcPct val="124000"/>
              </a:lnSpc>
            </a:pPr>
            <a:r>
              <a:rPr sz="1050" b="0" i="0">
                <a:solidFill>
                  <a:srgbClr val="6E7180"/>
                </a:solidFill>
                <a:latin typeface="Geist"/>
              </a:rPr>
              <a:t>A road-safety nonprofit registered as the Vision Zero Trust, co-founded with the Indian Road Safety Council, backed by a 3-year, US$3M commitment from Cars24. MS Dhoni is Goodwill Ambassador.</a:t>
            </a:r>
          </a:p>
        </p:txBody>
      </p:sp>
      <p:sp>
        <p:nvSpPr>
          <p:cNvPr id="12" name="Oval 11"/>
          <p:cNvSpPr/>
          <p:nvPr/>
        </p:nvSpPr>
        <p:spPr>
          <a:xfrm>
            <a:off x="566928" y="3383280"/>
            <a:ext cx="457200" cy="457200"/>
          </a:xfrm>
          <a:prstGeom prst="ellipse">
            <a:avLst/>
          </a:prstGeom>
          <a:solidFill>
            <a:srgbClr val="E9F7F0"/>
          </a:solidFill>
          <a:ln>
            <a:noFill/>
          </a:ln>
          <a:effectLst/>
        </p:spPr>
        <p:txBody>
          <a:bodyPr rtlCol="0" anchor="ctr"/>
          <a:lstStyle/>
          <a:p>
            <a:pPr algn="ctr"/>
          </a:p>
        </p:txBody>
      </p:sp>
      <p:pic>
        <p:nvPicPr>
          <p:cNvPr id="13" name="Picture 12" descr="landmark_0A9955_256_2.0.png"/>
          <p:cNvPicPr>
            <a:picLocks noChangeAspect="1"/>
          </p:cNvPicPr>
          <p:nvPr/>
        </p:nvPicPr>
        <p:blipFill>
          <a:blip r:embed="rId3"/>
          <a:stretch>
            <a:fillRect/>
          </a:stretch>
        </p:blipFill>
        <p:spPr>
          <a:xfrm>
            <a:off x="676656" y="3493008"/>
            <a:ext cx="237744" cy="237744"/>
          </a:xfrm>
          <a:prstGeom prst="rect">
            <a:avLst/>
          </a:prstGeom>
        </p:spPr>
      </p:pic>
      <p:sp>
        <p:nvSpPr>
          <p:cNvPr id="14" name="TextBox 13"/>
          <p:cNvSpPr txBox="1"/>
          <p:nvPr/>
        </p:nvSpPr>
        <p:spPr>
          <a:xfrm>
            <a:off x="1207008" y="3364992"/>
            <a:ext cx="5760720" cy="320040"/>
          </a:xfrm>
          <a:prstGeom prst="rect">
            <a:avLst/>
          </a:prstGeom>
          <a:noFill/>
        </p:spPr>
        <p:txBody>
          <a:bodyPr wrap="square" lIns="0" rIns="0" tIns="0" bIns="0" anchor="t">
            <a:spAutoFit/>
          </a:bodyPr>
          <a:lstStyle/>
          <a:p>
            <a:pPr algn="l">
              <a:lnSpc>
                <a:spcPct val="100000"/>
              </a:lnSpc>
            </a:pPr>
            <a:r>
              <a:rPr sz="1300" b="1" i="0">
                <a:solidFill>
                  <a:srgbClr val="16181D"/>
                </a:solidFill>
                <a:latin typeface="Montserrat"/>
              </a:rPr>
              <a:t>The government partner</a:t>
            </a:r>
          </a:p>
        </p:txBody>
      </p:sp>
      <p:sp>
        <p:nvSpPr>
          <p:cNvPr id="15" name="TextBox 14"/>
          <p:cNvSpPr txBox="1"/>
          <p:nvPr/>
        </p:nvSpPr>
        <p:spPr>
          <a:xfrm>
            <a:off x="1207008" y="3694176"/>
            <a:ext cx="5760720" cy="822960"/>
          </a:xfrm>
          <a:prstGeom prst="rect">
            <a:avLst/>
          </a:prstGeom>
          <a:noFill/>
        </p:spPr>
        <p:txBody>
          <a:bodyPr wrap="square" lIns="0" rIns="0" tIns="0" bIns="0" anchor="t">
            <a:spAutoFit/>
          </a:bodyPr>
          <a:lstStyle/>
          <a:p>
            <a:pPr algn="l">
              <a:lnSpc>
                <a:spcPct val="124000"/>
              </a:lnSpc>
            </a:pPr>
            <a:r>
              <a:rPr sz="1050" b="0" i="0">
                <a:solidFill>
                  <a:srgbClr val="6E7180"/>
                </a:solidFill>
                <a:latin typeface="Geist"/>
              </a:rPr>
              <a:t>Rajasthan Transport &amp; Road Safety Department — the pilot's owner. CFI holds working seats on district road-safety committees and MoUs with police.</a:t>
            </a:r>
          </a:p>
        </p:txBody>
      </p:sp>
      <p:sp>
        <p:nvSpPr>
          <p:cNvPr id="16" name="Oval 15"/>
          <p:cNvSpPr/>
          <p:nvPr/>
        </p:nvSpPr>
        <p:spPr>
          <a:xfrm>
            <a:off x="566928" y="4617720"/>
            <a:ext cx="457200" cy="457200"/>
          </a:xfrm>
          <a:prstGeom prst="ellipse">
            <a:avLst/>
          </a:prstGeom>
          <a:solidFill>
            <a:srgbClr val="E7F4F4"/>
          </a:solidFill>
          <a:ln>
            <a:noFill/>
          </a:ln>
          <a:effectLst/>
        </p:spPr>
        <p:txBody>
          <a:bodyPr rtlCol="0" anchor="ctr"/>
          <a:lstStyle/>
          <a:p>
            <a:pPr algn="ctr"/>
          </a:p>
        </p:txBody>
      </p:sp>
      <p:pic>
        <p:nvPicPr>
          <p:cNvPr id="17" name="Picture 16" descr="scale_0E8A8A_256_2.0.png"/>
          <p:cNvPicPr>
            <a:picLocks noChangeAspect="1"/>
          </p:cNvPicPr>
          <p:nvPr/>
        </p:nvPicPr>
        <p:blipFill>
          <a:blip r:embed="rId4"/>
          <a:stretch>
            <a:fillRect/>
          </a:stretch>
        </p:blipFill>
        <p:spPr>
          <a:xfrm>
            <a:off x="676656" y="4727448"/>
            <a:ext cx="237744" cy="237744"/>
          </a:xfrm>
          <a:prstGeom prst="rect">
            <a:avLst/>
          </a:prstGeom>
        </p:spPr>
      </p:pic>
      <p:sp>
        <p:nvSpPr>
          <p:cNvPr id="18" name="TextBox 17"/>
          <p:cNvSpPr txBox="1"/>
          <p:nvPr/>
        </p:nvSpPr>
        <p:spPr>
          <a:xfrm>
            <a:off x="1207008" y="4599432"/>
            <a:ext cx="5760720" cy="320040"/>
          </a:xfrm>
          <a:prstGeom prst="rect">
            <a:avLst/>
          </a:prstGeom>
          <a:noFill/>
        </p:spPr>
        <p:txBody>
          <a:bodyPr wrap="square" lIns="0" rIns="0" tIns="0" bIns="0" anchor="t">
            <a:spAutoFit/>
          </a:bodyPr>
          <a:lstStyle/>
          <a:p>
            <a:pPr algn="l">
              <a:lnSpc>
                <a:spcPct val="100000"/>
              </a:lnSpc>
            </a:pPr>
            <a:r>
              <a:rPr sz="1300" b="1" i="0">
                <a:solidFill>
                  <a:srgbClr val="16181D"/>
                </a:solidFill>
                <a:latin typeface="Montserrat"/>
              </a:rPr>
              <a:t>The compensation vertical</a:t>
            </a:r>
          </a:p>
        </p:txBody>
      </p:sp>
      <p:sp>
        <p:nvSpPr>
          <p:cNvPr id="19" name="TextBox 18"/>
          <p:cNvSpPr txBox="1"/>
          <p:nvPr/>
        </p:nvSpPr>
        <p:spPr>
          <a:xfrm>
            <a:off x="1207008" y="4928616"/>
            <a:ext cx="5760720" cy="822960"/>
          </a:xfrm>
          <a:prstGeom prst="rect">
            <a:avLst/>
          </a:prstGeom>
          <a:noFill/>
        </p:spPr>
        <p:txBody>
          <a:bodyPr wrap="square" lIns="0" rIns="0" tIns="0" bIns="0" anchor="t">
            <a:spAutoFit/>
          </a:bodyPr>
          <a:lstStyle/>
          <a:p>
            <a:pPr algn="l">
              <a:lnSpc>
                <a:spcPct val="124000"/>
              </a:lnSpc>
            </a:pPr>
            <a:r>
              <a:rPr sz="1050" b="0" i="0">
                <a:solidFill>
                  <a:srgbClr val="6E7180"/>
                </a:solidFill>
                <a:latin typeface="Geist"/>
              </a:rPr>
              <a:t>CFI maps where compensation stalls, builds tools families can use, and sits inside district machinery to help files move. SAHAJ is the software spine of that work.</a:t>
            </a:r>
          </a:p>
        </p:txBody>
      </p:sp>
      <p:sp>
        <p:nvSpPr>
          <p:cNvPr id="20" name="Rounded Rectangle 19"/>
          <p:cNvSpPr/>
          <p:nvPr/>
        </p:nvSpPr>
        <p:spPr>
          <a:xfrm>
            <a:off x="7360920" y="2103120"/>
            <a:ext cx="4251960" cy="3977639"/>
          </a:xfrm>
          <a:prstGeom prst="roundRect">
            <a:avLst>
              <a:gd name="adj" fmla="val 8000"/>
            </a:avLst>
          </a:prstGeom>
          <a:solidFill>
            <a:srgbClr val="F7F7FA"/>
          </a:solidFill>
          <a:ln>
            <a:noFill/>
          </a:ln>
          <a:effectLst/>
        </p:spPr>
        <p:txBody>
          <a:bodyPr rtlCol="0" anchor="ctr"/>
          <a:lstStyle/>
          <a:p>
            <a:pPr algn="ctr"/>
          </a:p>
        </p:txBody>
      </p:sp>
      <p:sp>
        <p:nvSpPr>
          <p:cNvPr id="21" name="Oval 20"/>
          <p:cNvSpPr/>
          <p:nvPr/>
        </p:nvSpPr>
        <p:spPr>
          <a:xfrm>
            <a:off x="7589520" y="2331720"/>
            <a:ext cx="402336" cy="402336"/>
          </a:xfrm>
          <a:prstGeom prst="ellipse">
            <a:avLst/>
          </a:prstGeom>
          <a:solidFill>
            <a:srgbClr val="EFEDFF"/>
          </a:solidFill>
          <a:ln>
            <a:noFill/>
          </a:ln>
          <a:effectLst/>
        </p:spPr>
        <p:txBody>
          <a:bodyPr rtlCol="0" anchor="ctr"/>
          <a:lstStyle/>
          <a:p>
            <a:pPr algn="ctr"/>
          </a:p>
        </p:txBody>
      </p:sp>
      <p:pic>
        <p:nvPicPr>
          <p:cNvPr id="22" name="Picture 21" descr="info_4A35FF_256_2.0.png"/>
          <p:cNvPicPr>
            <a:picLocks noChangeAspect="1"/>
          </p:cNvPicPr>
          <p:nvPr/>
        </p:nvPicPr>
        <p:blipFill>
          <a:blip r:embed="rId5"/>
          <a:stretch>
            <a:fillRect/>
          </a:stretch>
        </p:blipFill>
        <p:spPr>
          <a:xfrm>
            <a:off x="7686080" y="2428280"/>
            <a:ext cx="209214" cy="209214"/>
          </a:xfrm>
          <a:prstGeom prst="rect">
            <a:avLst/>
          </a:prstGeom>
        </p:spPr>
      </p:pic>
      <p:sp>
        <p:nvSpPr>
          <p:cNvPr id="23" name="TextBox 22"/>
          <p:cNvSpPr txBox="1"/>
          <p:nvPr/>
        </p:nvSpPr>
        <p:spPr>
          <a:xfrm>
            <a:off x="8119872" y="2350008"/>
            <a:ext cx="3337560" cy="365760"/>
          </a:xfrm>
          <a:prstGeom prst="rect">
            <a:avLst/>
          </a:prstGeom>
          <a:noFill/>
        </p:spPr>
        <p:txBody>
          <a:bodyPr wrap="square" lIns="0" rIns="0" tIns="0" bIns="0" anchor="t">
            <a:spAutoFit/>
          </a:bodyPr>
          <a:lstStyle/>
          <a:p>
            <a:pPr algn="l">
              <a:lnSpc>
                <a:spcPct val="128000"/>
              </a:lnSpc>
            </a:pPr>
            <a:r>
              <a:rPr sz="1250" b="1" i="0">
                <a:solidFill>
                  <a:srgbClr val="16181D"/>
                </a:solidFill>
                <a:latin typeface="Montserrat"/>
              </a:rPr>
              <a:t>A quick note on names</a:t>
            </a:r>
          </a:p>
        </p:txBody>
      </p:sp>
      <p:sp>
        <p:nvSpPr>
          <p:cNvPr id="24" name="TextBox 23"/>
          <p:cNvSpPr txBox="1"/>
          <p:nvPr/>
        </p:nvSpPr>
        <p:spPr>
          <a:xfrm>
            <a:off x="7589520" y="2926080"/>
            <a:ext cx="3794760" cy="274320"/>
          </a:xfrm>
          <a:prstGeom prst="rect">
            <a:avLst/>
          </a:prstGeom>
          <a:noFill/>
        </p:spPr>
        <p:txBody>
          <a:bodyPr wrap="square" lIns="0" rIns="0" tIns="0" bIns="0" anchor="t">
            <a:spAutoFit/>
          </a:bodyPr>
          <a:lstStyle/>
          <a:p>
            <a:pPr algn="l">
              <a:lnSpc>
                <a:spcPct val="128000"/>
              </a:lnSpc>
            </a:pPr>
            <a:r>
              <a:rPr sz="1100" b="1" i="0">
                <a:solidFill>
                  <a:srgbClr val="4A35FF"/>
                </a:solidFill>
                <a:latin typeface="Montserrat"/>
              </a:rPr>
              <a:t>SAHAJ</a:t>
            </a:r>
          </a:p>
        </p:txBody>
      </p:sp>
      <p:sp>
        <p:nvSpPr>
          <p:cNvPr id="25" name="TextBox 24"/>
          <p:cNvSpPr txBox="1"/>
          <p:nvPr/>
        </p:nvSpPr>
        <p:spPr>
          <a:xfrm>
            <a:off x="7589520" y="3163824"/>
            <a:ext cx="3794760" cy="457200"/>
          </a:xfrm>
          <a:prstGeom prst="rect">
            <a:avLst/>
          </a:prstGeom>
          <a:noFill/>
        </p:spPr>
        <p:txBody>
          <a:bodyPr wrap="square" lIns="0" rIns="0" tIns="0" bIns="0" anchor="t">
            <a:spAutoFit/>
          </a:bodyPr>
          <a:lstStyle/>
          <a:p>
            <a:pPr algn="l">
              <a:lnSpc>
                <a:spcPct val="115000"/>
              </a:lnSpc>
            </a:pPr>
            <a:r>
              <a:rPr sz="950" b="0" i="0">
                <a:solidFill>
                  <a:srgbClr val="6E7180"/>
                </a:solidFill>
                <a:latin typeface="Geist"/>
              </a:rPr>
              <a:t>the portal / product (this project)</a:t>
            </a:r>
          </a:p>
        </p:txBody>
      </p:sp>
      <p:sp>
        <p:nvSpPr>
          <p:cNvPr id="26" name="TextBox 25"/>
          <p:cNvSpPr txBox="1"/>
          <p:nvPr/>
        </p:nvSpPr>
        <p:spPr>
          <a:xfrm>
            <a:off x="7589520" y="3675888"/>
            <a:ext cx="3794760" cy="274320"/>
          </a:xfrm>
          <a:prstGeom prst="rect">
            <a:avLst/>
          </a:prstGeom>
          <a:noFill/>
        </p:spPr>
        <p:txBody>
          <a:bodyPr wrap="square" lIns="0" rIns="0" tIns="0" bIns="0" anchor="t">
            <a:spAutoFit/>
          </a:bodyPr>
          <a:lstStyle/>
          <a:p>
            <a:pPr algn="l">
              <a:lnSpc>
                <a:spcPct val="128000"/>
              </a:lnSpc>
            </a:pPr>
            <a:r>
              <a:rPr sz="1100" b="1" i="0">
                <a:solidFill>
                  <a:srgbClr val="4A35FF"/>
                </a:solidFill>
                <a:latin typeface="Montserrat"/>
              </a:rPr>
              <a:t>crash_claim_cfi</a:t>
            </a:r>
          </a:p>
        </p:txBody>
      </p:sp>
      <p:sp>
        <p:nvSpPr>
          <p:cNvPr id="27" name="TextBox 26"/>
          <p:cNvSpPr txBox="1"/>
          <p:nvPr/>
        </p:nvSpPr>
        <p:spPr>
          <a:xfrm>
            <a:off x="7589520" y="3913632"/>
            <a:ext cx="3794760" cy="457200"/>
          </a:xfrm>
          <a:prstGeom prst="rect">
            <a:avLst/>
          </a:prstGeom>
          <a:noFill/>
        </p:spPr>
        <p:txBody>
          <a:bodyPr wrap="square" lIns="0" rIns="0" tIns="0" bIns="0" anchor="t">
            <a:spAutoFit/>
          </a:bodyPr>
          <a:lstStyle/>
          <a:p>
            <a:pPr algn="l">
              <a:lnSpc>
                <a:spcPct val="115000"/>
              </a:lnSpc>
            </a:pPr>
            <a:r>
              <a:rPr sz="950" b="0" i="0">
                <a:solidFill>
                  <a:srgbClr val="6E7180"/>
                </a:solidFill>
                <a:latin typeface="Geist"/>
              </a:rPr>
              <a:t>the repository / package name</a:t>
            </a:r>
          </a:p>
        </p:txBody>
      </p:sp>
      <p:sp>
        <p:nvSpPr>
          <p:cNvPr id="28" name="TextBox 27"/>
          <p:cNvSpPr txBox="1"/>
          <p:nvPr/>
        </p:nvSpPr>
        <p:spPr>
          <a:xfrm>
            <a:off x="7589520" y="4425696"/>
            <a:ext cx="3794760" cy="274320"/>
          </a:xfrm>
          <a:prstGeom prst="rect">
            <a:avLst/>
          </a:prstGeom>
          <a:noFill/>
        </p:spPr>
        <p:txBody>
          <a:bodyPr wrap="square" lIns="0" rIns="0" tIns="0" bIns="0" anchor="t">
            <a:spAutoFit/>
          </a:bodyPr>
          <a:lstStyle/>
          <a:p>
            <a:pPr algn="l">
              <a:lnSpc>
                <a:spcPct val="128000"/>
              </a:lnSpc>
            </a:pPr>
            <a:r>
              <a:rPr sz="1100" b="1" i="0">
                <a:solidFill>
                  <a:srgbClr val="4A35FF"/>
                </a:solidFill>
                <a:latin typeface="Montserrat"/>
              </a:rPr>
              <a:t>Sahay / Aasha</a:t>
            </a:r>
          </a:p>
        </p:txBody>
      </p:sp>
      <p:sp>
        <p:nvSpPr>
          <p:cNvPr id="29" name="TextBox 28"/>
          <p:cNvSpPr txBox="1"/>
          <p:nvPr/>
        </p:nvSpPr>
        <p:spPr>
          <a:xfrm>
            <a:off x="7589520" y="4663440"/>
            <a:ext cx="3794760" cy="457200"/>
          </a:xfrm>
          <a:prstGeom prst="rect">
            <a:avLst/>
          </a:prstGeom>
          <a:noFill/>
        </p:spPr>
        <p:txBody>
          <a:bodyPr wrap="square" lIns="0" rIns="0" tIns="0" bIns="0" anchor="t">
            <a:spAutoFit/>
          </a:bodyPr>
          <a:lstStyle/>
          <a:p>
            <a:pPr algn="l">
              <a:lnSpc>
                <a:spcPct val="115000"/>
              </a:lnSpc>
            </a:pPr>
            <a:r>
              <a:rPr sz="950" b="0" i="0">
                <a:solidFill>
                  <a:srgbClr val="6E7180"/>
                </a:solidFill>
                <a:latin typeface="Geist"/>
              </a:rPr>
              <a:t>earlier names for the WhatsApp bot &amp; AI helper in older mockups</a:t>
            </a:r>
          </a:p>
        </p:txBody>
      </p:sp>
      <p:sp>
        <p:nvSpPr>
          <p:cNvPr id="30" name="TextBox 29"/>
          <p:cNvSpPr txBox="1"/>
          <p:nvPr/>
        </p:nvSpPr>
        <p:spPr>
          <a:xfrm>
            <a:off x="7589520" y="5175504"/>
            <a:ext cx="3794760" cy="274320"/>
          </a:xfrm>
          <a:prstGeom prst="rect">
            <a:avLst/>
          </a:prstGeom>
          <a:noFill/>
        </p:spPr>
        <p:txBody>
          <a:bodyPr wrap="square" lIns="0" rIns="0" tIns="0" bIns="0" anchor="t">
            <a:spAutoFit/>
          </a:bodyPr>
          <a:lstStyle/>
          <a:p>
            <a:pPr algn="l">
              <a:lnSpc>
                <a:spcPct val="128000"/>
              </a:lnSpc>
            </a:pPr>
            <a:r>
              <a:rPr sz="1100" b="1" i="0">
                <a:solidFill>
                  <a:srgbClr val="4A35FF"/>
                </a:solidFill>
                <a:latin typeface="Montserrat"/>
              </a:rPr>
              <a:t>HRCCS</a:t>
            </a:r>
          </a:p>
        </p:txBody>
      </p:sp>
      <p:sp>
        <p:nvSpPr>
          <p:cNvPr id="31" name="TextBox 30"/>
          <p:cNvSpPr txBox="1"/>
          <p:nvPr/>
        </p:nvSpPr>
        <p:spPr>
          <a:xfrm>
            <a:off x="7589520" y="5413248"/>
            <a:ext cx="3794760" cy="457200"/>
          </a:xfrm>
          <a:prstGeom prst="rect">
            <a:avLst/>
          </a:prstGeom>
          <a:noFill/>
        </p:spPr>
        <p:txBody>
          <a:bodyPr wrap="square" lIns="0" rIns="0" tIns="0" bIns="0" anchor="t">
            <a:spAutoFit/>
          </a:bodyPr>
          <a:lstStyle/>
          <a:p>
            <a:pPr algn="l">
              <a:lnSpc>
                <a:spcPct val="115000"/>
              </a:lnSpc>
            </a:pPr>
            <a:r>
              <a:rPr sz="950" b="0" i="0">
                <a:solidFill>
                  <a:srgbClr val="6E7180"/>
                </a:solidFill>
                <a:latin typeface="Geist"/>
              </a:rPr>
              <a:t>“Hit-and-Run Compensation” in older CFI docs</a:t>
            </a:r>
          </a:p>
        </p:txBody>
      </p:sp>
      <p:cxnSp>
        <p:nvCxnSpPr>
          <p:cNvPr id="32" name="Connector 31"/>
          <p:cNvCxnSpPr/>
          <p:nvPr/>
        </p:nvCxnSpPr>
        <p:spPr>
          <a:xfrm>
            <a:off x="566928" y="6455664"/>
            <a:ext cx="11057839" cy="0"/>
          </a:xfrm>
          <a:prstGeom prst="line">
            <a:avLst/>
          </a:prstGeom>
          <a:ln w="9525">
            <a:solidFill>
              <a:srgbClr val="E8E9EE"/>
            </a:solidFill>
          </a:ln>
          <a:effectLst/>
        </p:spPr>
      </p:cxnSp>
      <p:sp>
        <p:nvSpPr>
          <p:cNvPr id="33" name="TextBox 32"/>
          <p:cNvSpPr txBox="1"/>
          <p:nvPr/>
        </p:nvSpPr>
        <p:spPr>
          <a:xfrm>
            <a:off x="566928" y="6528816"/>
            <a:ext cx="86868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SAHAJ — Team Induction Brief   ·   Confidential</a:t>
            </a:r>
          </a:p>
        </p:txBody>
      </p:sp>
      <p:sp>
        <p:nvSpPr>
          <p:cNvPr id="34" name="TextBox 33"/>
          <p:cNvSpPr txBox="1"/>
          <p:nvPr/>
        </p:nvSpPr>
        <p:spPr>
          <a:xfrm>
            <a:off x="10344607" y="6528816"/>
            <a:ext cx="128016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06 / 22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7692847" y="274320"/>
            <a:ext cx="3931920" cy="219456"/>
          </a:xfrm>
          <a:prstGeom prst="rect">
            <a:avLst/>
          </a:prstGeom>
          <a:noFill/>
        </p:spPr>
        <p:txBody>
          <a:bodyPr wrap="square" lIns="0" rIns="0" tIns="0" bIns="0" anchor="t">
            <a:spAutoFit/>
          </a:bodyPr>
          <a:lstStyle/>
          <a:p>
            <a:pPr algn="r">
              <a:lnSpc>
                <a:spcPct val="128000"/>
              </a:lnSpc>
            </a:pPr>
            <a:r>
              <a:rPr sz="800" b="1" i="0" spc="150">
                <a:solidFill>
                  <a:srgbClr val="6E7180"/>
                </a:solidFill>
                <a:latin typeface="Montserrat"/>
              </a:rPr>
              <a:t>SECTION 2 OF 5   ·   HOW SAHAJ WORKS</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02 · HOW SAHAJ WORKS</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The statutory chain, and </a:t>
            </a:r>
            <a:r>
              <a:rPr sz="2250" b="1" i="0">
                <a:solidFill>
                  <a:srgbClr val="4A35FF"/>
                </a:solidFill>
                <a:latin typeface="Montserrat"/>
              </a:rPr>
              <a:t>the four forms it runs on</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Knowing these before the flow makes everything after it obvious. A claim crosses four statutory desks (a few districts add two or three more), each with its own form and its own clock.</a:t>
            </a:r>
          </a:p>
        </p:txBody>
      </p:sp>
      <p:sp>
        <p:nvSpPr>
          <p:cNvPr id="8" name="Rounded Rectangle 7"/>
          <p:cNvSpPr/>
          <p:nvPr/>
        </p:nvSpPr>
        <p:spPr>
          <a:xfrm>
            <a:off x="566928" y="2240280"/>
            <a:ext cx="2615184" cy="1600200"/>
          </a:xfrm>
          <a:prstGeom prst="roundRect">
            <a:avLst>
              <a:gd name="adj" fmla="val 8000"/>
            </a:avLst>
          </a:prstGeom>
          <a:solidFill>
            <a:srgbClr val="FFFFFF"/>
          </a:solidFill>
          <a:ln w="9525">
            <a:solidFill>
              <a:srgbClr val="E8E9EE"/>
            </a:solidFill>
          </a:ln>
          <a:effectLst/>
        </p:spPr>
        <p:txBody>
          <a:bodyPr rtlCol="0" anchor="ctr"/>
          <a:lstStyle/>
          <a:p>
            <a:pPr algn="ctr"/>
          </a:p>
        </p:txBody>
      </p:sp>
      <p:sp>
        <p:nvSpPr>
          <p:cNvPr id="9" name="Oval 8"/>
          <p:cNvSpPr/>
          <p:nvPr/>
        </p:nvSpPr>
        <p:spPr>
          <a:xfrm>
            <a:off x="768096" y="2423160"/>
            <a:ext cx="457200" cy="457200"/>
          </a:xfrm>
          <a:prstGeom prst="ellipse">
            <a:avLst/>
          </a:prstGeom>
          <a:solidFill>
            <a:srgbClr val="E7F4F4"/>
          </a:solidFill>
          <a:ln>
            <a:noFill/>
          </a:ln>
          <a:effectLst/>
        </p:spPr>
        <p:txBody>
          <a:bodyPr rtlCol="0" anchor="ctr"/>
          <a:lstStyle/>
          <a:p>
            <a:pPr algn="ctr"/>
          </a:p>
        </p:txBody>
      </p:sp>
      <p:pic>
        <p:nvPicPr>
          <p:cNvPr id="10" name="Picture 9" descr="file-text_0E8A8A_256_2.0.png"/>
          <p:cNvPicPr>
            <a:picLocks noChangeAspect="1"/>
          </p:cNvPicPr>
          <p:nvPr/>
        </p:nvPicPr>
        <p:blipFill>
          <a:blip r:embed="rId2"/>
          <a:stretch>
            <a:fillRect/>
          </a:stretch>
        </p:blipFill>
        <p:spPr>
          <a:xfrm>
            <a:off x="877824" y="2532888"/>
            <a:ext cx="237744" cy="237744"/>
          </a:xfrm>
          <a:prstGeom prst="rect">
            <a:avLst/>
          </a:prstGeom>
        </p:spPr>
      </p:pic>
      <p:sp>
        <p:nvSpPr>
          <p:cNvPr id="11" name="TextBox 10"/>
          <p:cNvSpPr txBox="1"/>
          <p:nvPr/>
        </p:nvSpPr>
        <p:spPr>
          <a:xfrm>
            <a:off x="1344168" y="2432304"/>
            <a:ext cx="1700784" cy="320040"/>
          </a:xfrm>
          <a:prstGeom prst="rect">
            <a:avLst/>
          </a:prstGeom>
          <a:noFill/>
        </p:spPr>
        <p:txBody>
          <a:bodyPr wrap="square" lIns="0" rIns="0" tIns="0" bIns="0" anchor="t">
            <a:spAutoFit/>
          </a:bodyPr>
          <a:lstStyle/>
          <a:p>
            <a:pPr algn="l">
              <a:lnSpc>
                <a:spcPct val="128000"/>
              </a:lnSpc>
            </a:pPr>
            <a:r>
              <a:rPr sz="1400" b="1" i="0">
                <a:solidFill>
                  <a:srgbClr val="16181D"/>
                </a:solidFill>
                <a:latin typeface="Montserrat"/>
              </a:rPr>
              <a:t>Form I</a:t>
            </a:r>
          </a:p>
        </p:txBody>
      </p:sp>
      <p:sp>
        <p:nvSpPr>
          <p:cNvPr id="12" name="TextBox 11"/>
          <p:cNvSpPr txBox="1"/>
          <p:nvPr/>
        </p:nvSpPr>
        <p:spPr>
          <a:xfrm>
            <a:off x="1344168" y="2743200"/>
            <a:ext cx="1700784" cy="274320"/>
          </a:xfrm>
          <a:prstGeom prst="rect">
            <a:avLst/>
          </a:prstGeom>
          <a:noFill/>
        </p:spPr>
        <p:txBody>
          <a:bodyPr wrap="square" lIns="0" rIns="0" tIns="0" bIns="0" anchor="t">
            <a:spAutoFit/>
          </a:bodyPr>
          <a:lstStyle/>
          <a:p>
            <a:pPr algn="l">
              <a:lnSpc>
                <a:spcPct val="128000"/>
              </a:lnSpc>
            </a:pPr>
            <a:r>
              <a:rPr sz="1000" b="1" i="0">
                <a:solidFill>
                  <a:srgbClr val="6E7180"/>
                </a:solidFill>
                <a:latin typeface="Montserrat"/>
              </a:rPr>
              <a:t>Application</a:t>
            </a:r>
          </a:p>
        </p:txBody>
      </p:sp>
      <p:sp>
        <p:nvSpPr>
          <p:cNvPr id="13" name="TextBox 12"/>
          <p:cNvSpPr txBox="1"/>
          <p:nvPr/>
        </p:nvSpPr>
        <p:spPr>
          <a:xfrm>
            <a:off x="768096" y="3154680"/>
            <a:ext cx="2212848" cy="640080"/>
          </a:xfrm>
          <a:prstGeom prst="rect">
            <a:avLst/>
          </a:prstGeom>
          <a:noFill/>
        </p:spPr>
        <p:txBody>
          <a:bodyPr wrap="square" lIns="0" rIns="0" tIns="0" bIns="0" anchor="t">
            <a:spAutoFit/>
          </a:bodyPr>
          <a:lstStyle/>
          <a:p>
            <a:pPr algn="l">
              <a:lnSpc>
                <a:spcPct val="120000"/>
              </a:lnSpc>
            </a:pPr>
            <a:r>
              <a:rPr sz="950" b="0" i="0">
                <a:solidFill>
                  <a:srgbClr val="6E7180"/>
                </a:solidFill>
                <a:latin typeface="Geist"/>
              </a:rPr>
              <a:t>Family fills &amp; uploads a photo</a:t>
            </a:r>
          </a:p>
        </p:txBody>
      </p:sp>
      <p:sp>
        <p:nvSpPr>
          <p:cNvPr id="14" name="Rounded Rectangle 13"/>
          <p:cNvSpPr/>
          <p:nvPr/>
        </p:nvSpPr>
        <p:spPr>
          <a:xfrm>
            <a:off x="3319272" y="2240280"/>
            <a:ext cx="2615184" cy="1600200"/>
          </a:xfrm>
          <a:prstGeom prst="roundRect">
            <a:avLst>
              <a:gd name="adj" fmla="val 8000"/>
            </a:avLst>
          </a:prstGeom>
          <a:solidFill>
            <a:srgbClr val="FFFFFF"/>
          </a:solidFill>
          <a:ln w="9525">
            <a:solidFill>
              <a:srgbClr val="E8E9EE"/>
            </a:solidFill>
          </a:ln>
          <a:effectLst/>
        </p:spPr>
        <p:txBody>
          <a:bodyPr rtlCol="0" anchor="ctr"/>
          <a:lstStyle/>
          <a:p>
            <a:pPr algn="ctr"/>
          </a:p>
        </p:txBody>
      </p:sp>
      <p:sp>
        <p:nvSpPr>
          <p:cNvPr id="15" name="Oval 14"/>
          <p:cNvSpPr/>
          <p:nvPr/>
        </p:nvSpPr>
        <p:spPr>
          <a:xfrm>
            <a:off x="3520440" y="2423160"/>
            <a:ext cx="457200" cy="457200"/>
          </a:xfrm>
          <a:prstGeom prst="ellipse">
            <a:avLst/>
          </a:prstGeom>
          <a:solidFill>
            <a:srgbClr val="EFEDFF"/>
          </a:solidFill>
          <a:ln>
            <a:noFill/>
          </a:ln>
          <a:effectLst/>
        </p:spPr>
        <p:txBody>
          <a:bodyPr rtlCol="0" anchor="ctr"/>
          <a:lstStyle/>
          <a:p>
            <a:pPr algn="ctr"/>
          </a:p>
        </p:txBody>
      </p:sp>
      <p:pic>
        <p:nvPicPr>
          <p:cNvPr id="16" name="Picture 15" descr="file-check_4A35FF_256_2.0.png"/>
          <p:cNvPicPr>
            <a:picLocks noChangeAspect="1"/>
          </p:cNvPicPr>
          <p:nvPr/>
        </p:nvPicPr>
        <p:blipFill>
          <a:blip r:embed="rId3"/>
          <a:stretch>
            <a:fillRect/>
          </a:stretch>
        </p:blipFill>
        <p:spPr>
          <a:xfrm>
            <a:off x="3630168" y="2532888"/>
            <a:ext cx="237744" cy="237744"/>
          </a:xfrm>
          <a:prstGeom prst="rect">
            <a:avLst/>
          </a:prstGeom>
        </p:spPr>
      </p:pic>
      <p:sp>
        <p:nvSpPr>
          <p:cNvPr id="17" name="TextBox 16"/>
          <p:cNvSpPr txBox="1"/>
          <p:nvPr/>
        </p:nvSpPr>
        <p:spPr>
          <a:xfrm>
            <a:off x="4096512" y="2432304"/>
            <a:ext cx="1700784" cy="320040"/>
          </a:xfrm>
          <a:prstGeom prst="rect">
            <a:avLst/>
          </a:prstGeom>
          <a:noFill/>
        </p:spPr>
        <p:txBody>
          <a:bodyPr wrap="square" lIns="0" rIns="0" tIns="0" bIns="0" anchor="t">
            <a:spAutoFit/>
          </a:bodyPr>
          <a:lstStyle/>
          <a:p>
            <a:pPr algn="l">
              <a:lnSpc>
                <a:spcPct val="128000"/>
              </a:lnSpc>
            </a:pPr>
            <a:r>
              <a:rPr sz="1400" b="1" i="0">
                <a:solidFill>
                  <a:srgbClr val="16181D"/>
                </a:solidFill>
                <a:latin typeface="Montserrat"/>
              </a:rPr>
              <a:t>Form II</a:t>
            </a:r>
          </a:p>
        </p:txBody>
      </p:sp>
      <p:sp>
        <p:nvSpPr>
          <p:cNvPr id="18" name="TextBox 17"/>
          <p:cNvSpPr txBox="1"/>
          <p:nvPr/>
        </p:nvSpPr>
        <p:spPr>
          <a:xfrm>
            <a:off x="4096512" y="2743200"/>
            <a:ext cx="1700784" cy="274320"/>
          </a:xfrm>
          <a:prstGeom prst="rect">
            <a:avLst/>
          </a:prstGeom>
          <a:noFill/>
        </p:spPr>
        <p:txBody>
          <a:bodyPr wrap="square" lIns="0" rIns="0" tIns="0" bIns="0" anchor="t">
            <a:spAutoFit/>
          </a:bodyPr>
          <a:lstStyle/>
          <a:p>
            <a:pPr algn="l">
              <a:lnSpc>
                <a:spcPct val="128000"/>
              </a:lnSpc>
            </a:pPr>
            <a:r>
              <a:rPr sz="1000" b="1" i="0">
                <a:solidFill>
                  <a:srgbClr val="6E7180"/>
                </a:solidFill>
                <a:latin typeface="Montserrat"/>
              </a:rPr>
              <a:t>Enquiry report</a:t>
            </a:r>
          </a:p>
        </p:txBody>
      </p:sp>
      <p:sp>
        <p:nvSpPr>
          <p:cNvPr id="19" name="TextBox 18"/>
          <p:cNvSpPr txBox="1"/>
          <p:nvPr/>
        </p:nvSpPr>
        <p:spPr>
          <a:xfrm>
            <a:off x="3520440" y="3154680"/>
            <a:ext cx="2212848" cy="640080"/>
          </a:xfrm>
          <a:prstGeom prst="rect">
            <a:avLst/>
          </a:prstGeom>
          <a:noFill/>
        </p:spPr>
        <p:txBody>
          <a:bodyPr wrap="square" lIns="0" rIns="0" tIns="0" bIns="0" anchor="t">
            <a:spAutoFit/>
          </a:bodyPr>
          <a:lstStyle/>
          <a:p>
            <a:pPr algn="l">
              <a:lnSpc>
                <a:spcPct val="120000"/>
              </a:lnSpc>
            </a:pPr>
            <a:r>
              <a:rPr sz="950" b="0" i="0">
                <a:solidFill>
                  <a:srgbClr val="6E7180"/>
                </a:solidFill>
                <a:latin typeface="Geist"/>
              </a:rPr>
              <a:t>CEO (SDM) — generated, e-signed</a:t>
            </a:r>
          </a:p>
        </p:txBody>
      </p:sp>
      <p:sp>
        <p:nvSpPr>
          <p:cNvPr id="20" name="Rounded Rectangle 19"/>
          <p:cNvSpPr/>
          <p:nvPr/>
        </p:nvSpPr>
        <p:spPr>
          <a:xfrm>
            <a:off x="6071616" y="2240280"/>
            <a:ext cx="2615184" cy="1600200"/>
          </a:xfrm>
          <a:prstGeom prst="roundRect">
            <a:avLst>
              <a:gd name="adj" fmla="val 8000"/>
            </a:avLst>
          </a:prstGeom>
          <a:solidFill>
            <a:srgbClr val="FFFFFF"/>
          </a:solidFill>
          <a:ln w="9525">
            <a:solidFill>
              <a:srgbClr val="E8E9EE"/>
            </a:solidFill>
          </a:ln>
          <a:effectLst/>
        </p:spPr>
        <p:txBody>
          <a:bodyPr rtlCol="0" anchor="ctr"/>
          <a:lstStyle/>
          <a:p>
            <a:pPr algn="ctr"/>
          </a:p>
        </p:txBody>
      </p:sp>
      <p:sp>
        <p:nvSpPr>
          <p:cNvPr id="21" name="Oval 20"/>
          <p:cNvSpPr/>
          <p:nvPr/>
        </p:nvSpPr>
        <p:spPr>
          <a:xfrm>
            <a:off x="6272784" y="2423160"/>
            <a:ext cx="457200" cy="457200"/>
          </a:xfrm>
          <a:prstGeom prst="ellipse">
            <a:avLst/>
          </a:prstGeom>
          <a:solidFill>
            <a:srgbClr val="EFEDFF"/>
          </a:solidFill>
          <a:ln>
            <a:noFill/>
          </a:ln>
          <a:effectLst/>
        </p:spPr>
        <p:txBody>
          <a:bodyPr rtlCol="0" anchor="ctr"/>
          <a:lstStyle/>
          <a:p>
            <a:pPr algn="ctr"/>
          </a:p>
        </p:txBody>
      </p:sp>
      <p:pic>
        <p:nvPicPr>
          <p:cNvPr id="22" name="Picture 21" descr="stamp_4A35FF_256_2.0.png"/>
          <p:cNvPicPr>
            <a:picLocks noChangeAspect="1"/>
          </p:cNvPicPr>
          <p:nvPr/>
        </p:nvPicPr>
        <p:blipFill>
          <a:blip r:embed="rId4"/>
          <a:stretch>
            <a:fillRect/>
          </a:stretch>
        </p:blipFill>
        <p:spPr>
          <a:xfrm>
            <a:off x="6382512" y="2532888"/>
            <a:ext cx="237744" cy="237744"/>
          </a:xfrm>
          <a:prstGeom prst="rect">
            <a:avLst/>
          </a:prstGeom>
        </p:spPr>
      </p:pic>
      <p:sp>
        <p:nvSpPr>
          <p:cNvPr id="23" name="TextBox 22"/>
          <p:cNvSpPr txBox="1"/>
          <p:nvPr/>
        </p:nvSpPr>
        <p:spPr>
          <a:xfrm>
            <a:off x="6848856" y="2432304"/>
            <a:ext cx="1700784" cy="320040"/>
          </a:xfrm>
          <a:prstGeom prst="rect">
            <a:avLst/>
          </a:prstGeom>
          <a:noFill/>
        </p:spPr>
        <p:txBody>
          <a:bodyPr wrap="square" lIns="0" rIns="0" tIns="0" bIns="0" anchor="t">
            <a:spAutoFit/>
          </a:bodyPr>
          <a:lstStyle/>
          <a:p>
            <a:pPr algn="l">
              <a:lnSpc>
                <a:spcPct val="128000"/>
              </a:lnSpc>
            </a:pPr>
            <a:r>
              <a:rPr sz="1400" b="1" i="0">
                <a:solidFill>
                  <a:srgbClr val="16181D"/>
                </a:solidFill>
                <a:latin typeface="Montserrat"/>
              </a:rPr>
              <a:t>Form III</a:t>
            </a:r>
          </a:p>
        </p:txBody>
      </p:sp>
      <p:sp>
        <p:nvSpPr>
          <p:cNvPr id="24" name="TextBox 23"/>
          <p:cNvSpPr txBox="1"/>
          <p:nvPr/>
        </p:nvSpPr>
        <p:spPr>
          <a:xfrm>
            <a:off x="6848856" y="2743200"/>
            <a:ext cx="1700784" cy="274320"/>
          </a:xfrm>
          <a:prstGeom prst="rect">
            <a:avLst/>
          </a:prstGeom>
          <a:noFill/>
        </p:spPr>
        <p:txBody>
          <a:bodyPr wrap="square" lIns="0" rIns="0" tIns="0" bIns="0" anchor="t">
            <a:spAutoFit/>
          </a:bodyPr>
          <a:lstStyle/>
          <a:p>
            <a:pPr algn="l">
              <a:lnSpc>
                <a:spcPct val="128000"/>
              </a:lnSpc>
            </a:pPr>
            <a:r>
              <a:rPr sz="1000" b="1" i="0">
                <a:solidFill>
                  <a:srgbClr val="6E7180"/>
                </a:solidFill>
                <a:latin typeface="Montserrat"/>
              </a:rPr>
              <a:t>Sanction order</a:t>
            </a:r>
          </a:p>
        </p:txBody>
      </p:sp>
      <p:sp>
        <p:nvSpPr>
          <p:cNvPr id="25" name="TextBox 24"/>
          <p:cNvSpPr txBox="1"/>
          <p:nvPr/>
        </p:nvSpPr>
        <p:spPr>
          <a:xfrm>
            <a:off x="6272784" y="3154680"/>
            <a:ext cx="2212848" cy="640080"/>
          </a:xfrm>
          <a:prstGeom prst="rect">
            <a:avLst/>
          </a:prstGeom>
          <a:noFill/>
        </p:spPr>
        <p:txBody>
          <a:bodyPr wrap="square" lIns="0" rIns="0" tIns="0" bIns="0" anchor="t">
            <a:spAutoFit/>
          </a:bodyPr>
          <a:lstStyle/>
          <a:p>
            <a:pPr algn="l">
              <a:lnSpc>
                <a:spcPct val="120000"/>
              </a:lnSpc>
            </a:pPr>
            <a:r>
              <a:rPr sz="950" b="0" i="0">
                <a:solidFill>
                  <a:srgbClr val="6E7180"/>
                </a:solidFill>
                <a:latin typeface="Geist"/>
              </a:rPr>
              <a:t>CSC (DM) — amount locked to Form II</a:t>
            </a:r>
          </a:p>
        </p:txBody>
      </p:sp>
      <p:sp>
        <p:nvSpPr>
          <p:cNvPr id="26" name="Rounded Rectangle 25"/>
          <p:cNvSpPr/>
          <p:nvPr/>
        </p:nvSpPr>
        <p:spPr>
          <a:xfrm>
            <a:off x="8823960" y="2240280"/>
            <a:ext cx="2615184" cy="1600200"/>
          </a:xfrm>
          <a:prstGeom prst="roundRect">
            <a:avLst>
              <a:gd name="adj" fmla="val 8000"/>
            </a:avLst>
          </a:prstGeom>
          <a:solidFill>
            <a:srgbClr val="FFFFFF"/>
          </a:solidFill>
          <a:ln w="9525">
            <a:solidFill>
              <a:srgbClr val="E8E9EE"/>
            </a:solidFill>
          </a:ln>
          <a:effectLst/>
        </p:spPr>
        <p:txBody>
          <a:bodyPr rtlCol="0" anchor="ctr"/>
          <a:lstStyle/>
          <a:p>
            <a:pPr algn="ctr"/>
          </a:p>
        </p:txBody>
      </p:sp>
      <p:sp>
        <p:nvSpPr>
          <p:cNvPr id="27" name="Oval 26"/>
          <p:cNvSpPr/>
          <p:nvPr/>
        </p:nvSpPr>
        <p:spPr>
          <a:xfrm>
            <a:off x="9025128" y="2423160"/>
            <a:ext cx="457200" cy="457200"/>
          </a:xfrm>
          <a:prstGeom prst="ellipse">
            <a:avLst/>
          </a:prstGeom>
          <a:solidFill>
            <a:srgbClr val="E7F4F4"/>
          </a:solidFill>
          <a:ln>
            <a:noFill/>
          </a:ln>
          <a:effectLst/>
        </p:spPr>
        <p:txBody>
          <a:bodyPr rtlCol="0" anchor="ctr"/>
          <a:lstStyle/>
          <a:p>
            <a:pPr algn="ctr"/>
          </a:p>
        </p:txBody>
      </p:sp>
      <p:pic>
        <p:nvPicPr>
          <p:cNvPr id="28" name="Picture 27" descr="file-signature_0E8A8A_256_2.0.png"/>
          <p:cNvPicPr>
            <a:picLocks noChangeAspect="1"/>
          </p:cNvPicPr>
          <p:nvPr/>
        </p:nvPicPr>
        <p:blipFill>
          <a:blip r:embed="rId5"/>
          <a:stretch>
            <a:fillRect/>
          </a:stretch>
        </p:blipFill>
        <p:spPr>
          <a:xfrm>
            <a:off x="9134856" y="2532888"/>
            <a:ext cx="237744" cy="237744"/>
          </a:xfrm>
          <a:prstGeom prst="rect">
            <a:avLst/>
          </a:prstGeom>
        </p:spPr>
      </p:pic>
      <p:sp>
        <p:nvSpPr>
          <p:cNvPr id="29" name="TextBox 28"/>
          <p:cNvSpPr txBox="1"/>
          <p:nvPr/>
        </p:nvSpPr>
        <p:spPr>
          <a:xfrm>
            <a:off x="9601200" y="2432304"/>
            <a:ext cx="1700784" cy="320040"/>
          </a:xfrm>
          <a:prstGeom prst="rect">
            <a:avLst/>
          </a:prstGeom>
          <a:noFill/>
        </p:spPr>
        <p:txBody>
          <a:bodyPr wrap="square" lIns="0" rIns="0" tIns="0" bIns="0" anchor="t">
            <a:spAutoFit/>
          </a:bodyPr>
          <a:lstStyle/>
          <a:p>
            <a:pPr algn="l">
              <a:lnSpc>
                <a:spcPct val="128000"/>
              </a:lnSpc>
            </a:pPr>
            <a:r>
              <a:rPr sz="1400" b="1" i="0">
                <a:solidFill>
                  <a:srgbClr val="16181D"/>
                </a:solidFill>
                <a:latin typeface="Montserrat"/>
              </a:rPr>
              <a:t>Form IV</a:t>
            </a:r>
          </a:p>
        </p:txBody>
      </p:sp>
      <p:sp>
        <p:nvSpPr>
          <p:cNvPr id="30" name="TextBox 29"/>
          <p:cNvSpPr txBox="1"/>
          <p:nvPr/>
        </p:nvSpPr>
        <p:spPr>
          <a:xfrm>
            <a:off x="9601200" y="2743200"/>
            <a:ext cx="1700784" cy="274320"/>
          </a:xfrm>
          <a:prstGeom prst="rect">
            <a:avLst/>
          </a:prstGeom>
          <a:noFill/>
        </p:spPr>
        <p:txBody>
          <a:bodyPr wrap="square" lIns="0" rIns="0" tIns="0" bIns="0" anchor="t">
            <a:spAutoFit/>
          </a:bodyPr>
          <a:lstStyle/>
          <a:p>
            <a:pPr algn="l">
              <a:lnSpc>
                <a:spcPct val="128000"/>
              </a:lnSpc>
            </a:pPr>
            <a:r>
              <a:rPr sz="1000" b="1" i="0">
                <a:solidFill>
                  <a:srgbClr val="6E7180"/>
                </a:solidFill>
                <a:latin typeface="Montserrat"/>
              </a:rPr>
              <a:t>Undertaking</a:t>
            </a:r>
          </a:p>
        </p:txBody>
      </p:sp>
      <p:sp>
        <p:nvSpPr>
          <p:cNvPr id="31" name="TextBox 30"/>
          <p:cNvSpPr txBox="1"/>
          <p:nvPr/>
        </p:nvSpPr>
        <p:spPr>
          <a:xfrm>
            <a:off x="9025128" y="3154680"/>
            <a:ext cx="2212848" cy="640080"/>
          </a:xfrm>
          <a:prstGeom prst="rect">
            <a:avLst/>
          </a:prstGeom>
          <a:noFill/>
        </p:spPr>
        <p:txBody>
          <a:bodyPr wrap="square" lIns="0" rIns="0" tIns="0" bIns="0" anchor="t">
            <a:spAutoFit/>
          </a:bodyPr>
          <a:lstStyle/>
          <a:p>
            <a:pPr algn="l">
              <a:lnSpc>
                <a:spcPct val="120000"/>
              </a:lnSpc>
            </a:pPr>
            <a:r>
              <a:rPr sz="950" b="0" i="0">
                <a:solidFill>
                  <a:srgbClr val="6E7180"/>
                </a:solidFill>
                <a:latin typeface="Geist"/>
              </a:rPr>
              <a:t>Family — no other claim for this accident</a:t>
            </a:r>
          </a:p>
        </p:txBody>
      </p:sp>
      <p:sp>
        <p:nvSpPr>
          <p:cNvPr id="32" name="TextBox 31"/>
          <p:cNvSpPr txBox="1"/>
          <p:nvPr/>
        </p:nvSpPr>
        <p:spPr>
          <a:xfrm>
            <a:off x="566928" y="4160520"/>
            <a:ext cx="10972800" cy="274320"/>
          </a:xfrm>
          <a:prstGeom prst="rect">
            <a:avLst/>
          </a:prstGeom>
          <a:noFill/>
        </p:spPr>
        <p:txBody>
          <a:bodyPr wrap="square" lIns="0" rIns="0" tIns="0" bIns="0" anchor="t">
            <a:spAutoFit/>
          </a:bodyPr>
          <a:lstStyle/>
          <a:p>
            <a:pPr algn="l">
              <a:lnSpc>
                <a:spcPct val="128000"/>
              </a:lnSpc>
            </a:pPr>
            <a:r>
              <a:rPr sz="900" b="1" i="0" spc="160">
                <a:solidFill>
                  <a:srgbClr val="6E7180"/>
                </a:solidFill>
                <a:latin typeface="Montserrat"/>
              </a:rPr>
              <a:t>THE FOUR DESKS, AND WHO SITS AT EACH</a:t>
            </a:r>
          </a:p>
        </p:txBody>
      </p:sp>
      <p:sp>
        <p:nvSpPr>
          <p:cNvPr id="33" name="Rounded Rectangle 32"/>
          <p:cNvSpPr/>
          <p:nvPr/>
        </p:nvSpPr>
        <p:spPr>
          <a:xfrm>
            <a:off x="566928" y="4572000"/>
            <a:ext cx="2352979" cy="1234440"/>
          </a:xfrm>
          <a:prstGeom prst="roundRect">
            <a:avLst>
              <a:gd name="adj" fmla="val 10000"/>
            </a:avLst>
          </a:prstGeom>
          <a:solidFill>
            <a:srgbClr val="F7F7FA"/>
          </a:solidFill>
          <a:ln>
            <a:noFill/>
          </a:ln>
          <a:effectLst/>
        </p:spPr>
        <p:txBody>
          <a:bodyPr rtlCol="0" anchor="ctr"/>
          <a:lstStyle/>
          <a:p>
            <a:pPr algn="ctr"/>
          </a:p>
        </p:txBody>
      </p:sp>
      <p:sp>
        <p:nvSpPr>
          <p:cNvPr id="34" name="Oval 33"/>
          <p:cNvSpPr/>
          <p:nvPr/>
        </p:nvSpPr>
        <p:spPr>
          <a:xfrm>
            <a:off x="768096" y="4773168"/>
            <a:ext cx="457200" cy="457200"/>
          </a:xfrm>
          <a:prstGeom prst="ellipse">
            <a:avLst/>
          </a:prstGeom>
          <a:solidFill>
            <a:srgbClr val="EFEDFF"/>
          </a:solidFill>
          <a:ln>
            <a:noFill/>
          </a:ln>
          <a:effectLst/>
        </p:spPr>
        <p:txBody>
          <a:bodyPr rtlCol="0" anchor="ctr"/>
          <a:lstStyle/>
          <a:p>
            <a:pPr algn="ctr"/>
          </a:p>
        </p:txBody>
      </p:sp>
      <p:pic>
        <p:nvPicPr>
          <p:cNvPr id="35" name="Picture 34" descr="shield_4A35FF_256_2.0.png"/>
          <p:cNvPicPr>
            <a:picLocks noChangeAspect="1"/>
          </p:cNvPicPr>
          <p:nvPr/>
        </p:nvPicPr>
        <p:blipFill>
          <a:blip r:embed="rId6"/>
          <a:stretch>
            <a:fillRect/>
          </a:stretch>
        </p:blipFill>
        <p:spPr>
          <a:xfrm>
            <a:off x="877824" y="4882896"/>
            <a:ext cx="237744" cy="237744"/>
          </a:xfrm>
          <a:prstGeom prst="rect">
            <a:avLst/>
          </a:prstGeom>
        </p:spPr>
      </p:pic>
      <p:sp>
        <p:nvSpPr>
          <p:cNvPr id="36" name="TextBox 35"/>
          <p:cNvSpPr txBox="1"/>
          <p:nvPr/>
        </p:nvSpPr>
        <p:spPr>
          <a:xfrm>
            <a:off x="768096" y="5321808"/>
            <a:ext cx="1987219" cy="274320"/>
          </a:xfrm>
          <a:prstGeom prst="rect">
            <a:avLst/>
          </a:prstGeom>
          <a:noFill/>
        </p:spPr>
        <p:txBody>
          <a:bodyPr wrap="square" lIns="0" rIns="0" tIns="0" bIns="0" anchor="t">
            <a:spAutoFit/>
          </a:bodyPr>
          <a:lstStyle/>
          <a:p>
            <a:pPr algn="l">
              <a:lnSpc>
                <a:spcPct val="128000"/>
              </a:lnSpc>
            </a:pPr>
            <a:r>
              <a:rPr sz="1200" b="1" i="0">
                <a:solidFill>
                  <a:srgbClr val="16181D"/>
                </a:solidFill>
                <a:latin typeface="Montserrat"/>
              </a:rPr>
              <a:t>Police station</a:t>
            </a:r>
          </a:p>
        </p:txBody>
      </p:sp>
      <p:sp>
        <p:nvSpPr>
          <p:cNvPr id="37" name="TextBox 36"/>
          <p:cNvSpPr txBox="1"/>
          <p:nvPr/>
        </p:nvSpPr>
        <p:spPr>
          <a:xfrm>
            <a:off x="768096" y="5559552"/>
            <a:ext cx="1987219" cy="274320"/>
          </a:xfrm>
          <a:prstGeom prst="rect">
            <a:avLst/>
          </a:prstGeom>
          <a:noFill/>
        </p:spPr>
        <p:txBody>
          <a:bodyPr wrap="square" lIns="0" rIns="0" tIns="0" bIns="0" anchor="t">
            <a:spAutoFit/>
          </a:bodyPr>
          <a:lstStyle/>
          <a:p>
            <a:pPr algn="l">
              <a:lnSpc>
                <a:spcPct val="128000"/>
              </a:lnSpc>
            </a:pPr>
            <a:r>
              <a:rPr sz="950" b="0" i="0">
                <a:solidFill>
                  <a:srgbClr val="6E7180"/>
                </a:solidFill>
                <a:latin typeface="Geist"/>
              </a:rPr>
              <a:t>Investigating Officer (IO)</a:t>
            </a:r>
          </a:p>
        </p:txBody>
      </p:sp>
      <p:sp>
        <p:nvSpPr>
          <p:cNvPr id="38" name="TextBox 37"/>
          <p:cNvSpPr txBox="1"/>
          <p:nvPr/>
        </p:nvSpPr>
        <p:spPr>
          <a:xfrm>
            <a:off x="2938195" y="4937760"/>
            <a:ext cx="512064" cy="365760"/>
          </a:xfrm>
          <a:prstGeom prst="rect">
            <a:avLst/>
          </a:prstGeom>
          <a:noFill/>
        </p:spPr>
        <p:txBody>
          <a:bodyPr wrap="square" lIns="0" rIns="0" tIns="0" bIns="0" anchor="t">
            <a:spAutoFit/>
          </a:bodyPr>
          <a:lstStyle/>
          <a:p>
            <a:pPr algn="ctr">
              <a:lnSpc>
                <a:spcPct val="128000"/>
              </a:lnSpc>
            </a:pPr>
            <a:r>
              <a:rPr sz="2000" b="0" i="0">
                <a:solidFill>
                  <a:srgbClr val="4A35FF"/>
                </a:solidFill>
                <a:latin typeface="Geist"/>
              </a:rPr>
              <a:t>→</a:t>
            </a:r>
          </a:p>
        </p:txBody>
      </p:sp>
      <p:sp>
        <p:nvSpPr>
          <p:cNvPr id="39" name="Rounded Rectangle 38"/>
          <p:cNvSpPr/>
          <p:nvPr/>
        </p:nvSpPr>
        <p:spPr>
          <a:xfrm>
            <a:off x="3468547" y="4572000"/>
            <a:ext cx="2352979" cy="1234440"/>
          </a:xfrm>
          <a:prstGeom prst="roundRect">
            <a:avLst>
              <a:gd name="adj" fmla="val 10000"/>
            </a:avLst>
          </a:prstGeom>
          <a:solidFill>
            <a:srgbClr val="F7F7FA"/>
          </a:solidFill>
          <a:ln>
            <a:noFill/>
          </a:ln>
          <a:effectLst/>
        </p:spPr>
        <p:txBody>
          <a:bodyPr rtlCol="0" anchor="ctr"/>
          <a:lstStyle/>
          <a:p>
            <a:pPr algn="ctr"/>
          </a:p>
        </p:txBody>
      </p:sp>
      <p:sp>
        <p:nvSpPr>
          <p:cNvPr id="40" name="Oval 39"/>
          <p:cNvSpPr/>
          <p:nvPr/>
        </p:nvSpPr>
        <p:spPr>
          <a:xfrm>
            <a:off x="3669715" y="4773168"/>
            <a:ext cx="457200" cy="457200"/>
          </a:xfrm>
          <a:prstGeom prst="ellipse">
            <a:avLst/>
          </a:prstGeom>
          <a:solidFill>
            <a:srgbClr val="EFEDFF"/>
          </a:solidFill>
          <a:ln>
            <a:noFill/>
          </a:ln>
          <a:effectLst/>
        </p:spPr>
        <p:txBody>
          <a:bodyPr rtlCol="0" anchor="ctr"/>
          <a:lstStyle/>
          <a:p>
            <a:pPr algn="ctr"/>
          </a:p>
        </p:txBody>
      </p:sp>
      <p:pic>
        <p:nvPicPr>
          <p:cNvPr id="41" name="Picture 40" descr="user-check_4A35FF_256_2.0.png"/>
          <p:cNvPicPr>
            <a:picLocks noChangeAspect="1"/>
          </p:cNvPicPr>
          <p:nvPr/>
        </p:nvPicPr>
        <p:blipFill>
          <a:blip r:embed="rId7"/>
          <a:stretch>
            <a:fillRect/>
          </a:stretch>
        </p:blipFill>
        <p:spPr>
          <a:xfrm>
            <a:off x="3779443" y="4882896"/>
            <a:ext cx="237744" cy="237744"/>
          </a:xfrm>
          <a:prstGeom prst="rect">
            <a:avLst/>
          </a:prstGeom>
        </p:spPr>
      </p:pic>
      <p:sp>
        <p:nvSpPr>
          <p:cNvPr id="42" name="TextBox 41"/>
          <p:cNvSpPr txBox="1"/>
          <p:nvPr/>
        </p:nvSpPr>
        <p:spPr>
          <a:xfrm>
            <a:off x="3669715" y="5321808"/>
            <a:ext cx="1987219" cy="274320"/>
          </a:xfrm>
          <a:prstGeom prst="rect">
            <a:avLst/>
          </a:prstGeom>
          <a:noFill/>
        </p:spPr>
        <p:txBody>
          <a:bodyPr wrap="square" lIns="0" rIns="0" tIns="0" bIns="0" anchor="t">
            <a:spAutoFit/>
          </a:bodyPr>
          <a:lstStyle/>
          <a:p>
            <a:pPr algn="l">
              <a:lnSpc>
                <a:spcPct val="128000"/>
              </a:lnSpc>
            </a:pPr>
            <a:r>
              <a:rPr sz="1200" b="1" i="0">
                <a:solidFill>
                  <a:srgbClr val="16181D"/>
                </a:solidFill>
                <a:latin typeface="Montserrat"/>
              </a:rPr>
              <a:t>Sub-division</a:t>
            </a:r>
          </a:p>
        </p:txBody>
      </p:sp>
      <p:sp>
        <p:nvSpPr>
          <p:cNvPr id="43" name="TextBox 42"/>
          <p:cNvSpPr txBox="1"/>
          <p:nvPr/>
        </p:nvSpPr>
        <p:spPr>
          <a:xfrm>
            <a:off x="3669715" y="5559552"/>
            <a:ext cx="1987219" cy="274320"/>
          </a:xfrm>
          <a:prstGeom prst="rect">
            <a:avLst/>
          </a:prstGeom>
          <a:noFill/>
        </p:spPr>
        <p:txBody>
          <a:bodyPr wrap="square" lIns="0" rIns="0" tIns="0" bIns="0" anchor="t">
            <a:spAutoFit/>
          </a:bodyPr>
          <a:lstStyle/>
          <a:p>
            <a:pPr algn="l">
              <a:lnSpc>
                <a:spcPct val="128000"/>
              </a:lnSpc>
            </a:pPr>
            <a:r>
              <a:rPr sz="950" b="0" i="0">
                <a:solidFill>
                  <a:srgbClr val="6E7180"/>
                </a:solidFill>
                <a:latin typeface="Geist"/>
              </a:rPr>
              <a:t>CEO — Tahsildar / SDO</a:t>
            </a:r>
          </a:p>
        </p:txBody>
      </p:sp>
      <p:sp>
        <p:nvSpPr>
          <p:cNvPr id="44" name="TextBox 43"/>
          <p:cNvSpPr txBox="1"/>
          <p:nvPr/>
        </p:nvSpPr>
        <p:spPr>
          <a:xfrm>
            <a:off x="5839815" y="4937760"/>
            <a:ext cx="512064" cy="365760"/>
          </a:xfrm>
          <a:prstGeom prst="rect">
            <a:avLst/>
          </a:prstGeom>
          <a:noFill/>
        </p:spPr>
        <p:txBody>
          <a:bodyPr wrap="square" lIns="0" rIns="0" tIns="0" bIns="0" anchor="t">
            <a:spAutoFit/>
          </a:bodyPr>
          <a:lstStyle/>
          <a:p>
            <a:pPr algn="ctr">
              <a:lnSpc>
                <a:spcPct val="128000"/>
              </a:lnSpc>
            </a:pPr>
            <a:r>
              <a:rPr sz="2000" b="0" i="0">
                <a:solidFill>
                  <a:srgbClr val="4A35FF"/>
                </a:solidFill>
                <a:latin typeface="Geist"/>
              </a:rPr>
              <a:t>→</a:t>
            </a:r>
          </a:p>
        </p:txBody>
      </p:sp>
      <p:sp>
        <p:nvSpPr>
          <p:cNvPr id="45" name="Rounded Rectangle 44"/>
          <p:cNvSpPr/>
          <p:nvPr/>
        </p:nvSpPr>
        <p:spPr>
          <a:xfrm>
            <a:off x="6370167" y="4572000"/>
            <a:ext cx="2352979" cy="1234440"/>
          </a:xfrm>
          <a:prstGeom prst="roundRect">
            <a:avLst>
              <a:gd name="adj" fmla="val 10000"/>
            </a:avLst>
          </a:prstGeom>
          <a:solidFill>
            <a:srgbClr val="F7F7FA"/>
          </a:solidFill>
          <a:ln>
            <a:noFill/>
          </a:ln>
          <a:effectLst/>
        </p:spPr>
        <p:txBody>
          <a:bodyPr rtlCol="0" anchor="ctr"/>
          <a:lstStyle/>
          <a:p>
            <a:pPr algn="ctr"/>
          </a:p>
        </p:txBody>
      </p:sp>
      <p:sp>
        <p:nvSpPr>
          <p:cNvPr id="46" name="Oval 45"/>
          <p:cNvSpPr/>
          <p:nvPr/>
        </p:nvSpPr>
        <p:spPr>
          <a:xfrm>
            <a:off x="6571335" y="4773168"/>
            <a:ext cx="457200" cy="457200"/>
          </a:xfrm>
          <a:prstGeom prst="ellipse">
            <a:avLst/>
          </a:prstGeom>
          <a:solidFill>
            <a:srgbClr val="EFEDFF"/>
          </a:solidFill>
          <a:ln>
            <a:noFill/>
          </a:ln>
          <a:effectLst/>
        </p:spPr>
        <p:txBody>
          <a:bodyPr rtlCol="0" anchor="ctr"/>
          <a:lstStyle/>
          <a:p>
            <a:pPr algn="ctr"/>
          </a:p>
        </p:txBody>
      </p:sp>
      <p:pic>
        <p:nvPicPr>
          <p:cNvPr id="47" name="Picture 46" descr="landmark_4A35FF_256_2.0.png"/>
          <p:cNvPicPr>
            <a:picLocks noChangeAspect="1"/>
          </p:cNvPicPr>
          <p:nvPr/>
        </p:nvPicPr>
        <p:blipFill>
          <a:blip r:embed="rId8"/>
          <a:stretch>
            <a:fillRect/>
          </a:stretch>
        </p:blipFill>
        <p:spPr>
          <a:xfrm>
            <a:off x="6681063" y="4882896"/>
            <a:ext cx="237744" cy="237744"/>
          </a:xfrm>
          <a:prstGeom prst="rect">
            <a:avLst/>
          </a:prstGeom>
        </p:spPr>
      </p:pic>
      <p:sp>
        <p:nvSpPr>
          <p:cNvPr id="48" name="TextBox 47"/>
          <p:cNvSpPr txBox="1"/>
          <p:nvPr/>
        </p:nvSpPr>
        <p:spPr>
          <a:xfrm>
            <a:off x="6571335" y="5321808"/>
            <a:ext cx="1987219" cy="274320"/>
          </a:xfrm>
          <a:prstGeom prst="rect">
            <a:avLst/>
          </a:prstGeom>
          <a:noFill/>
        </p:spPr>
        <p:txBody>
          <a:bodyPr wrap="square" lIns="0" rIns="0" tIns="0" bIns="0" anchor="t">
            <a:spAutoFit/>
          </a:bodyPr>
          <a:lstStyle/>
          <a:p>
            <a:pPr algn="l">
              <a:lnSpc>
                <a:spcPct val="128000"/>
              </a:lnSpc>
            </a:pPr>
            <a:r>
              <a:rPr sz="1200" b="1" i="0">
                <a:solidFill>
                  <a:srgbClr val="16181D"/>
                </a:solidFill>
                <a:latin typeface="Montserrat"/>
              </a:rPr>
              <a:t>District</a:t>
            </a:r>
          </a:p>
        </p:txBody>
      </p:sp>
      <p:sp>
        <p:nvSpPr>
          <p:cNvPr id="49" name="TextBox 48"/>
          <p:cNvSpPr txBox="1"/>
          <p:nvPr/>
        </p:nvSpPr>
        <p:spPr>
          <a:xfrm>
            <a:off x="6571335" y="5559552"/>
            <a:ext cx="1987219" cy="274320"/>
          </a:xfrm>
          <a:prstGeom prst="rect">
            <a:avLst/>
          </a:prstGeom>
          <a:noFill/>
        </p:spPr>
        <p:txBody>
          <a:bodyPr wrap="square" lIns="0" rIns="0" tIns="0" bIns="0" anchor="t">
            <a:spAutoFit/>
          </a:bodyPr>
          <a:lstStyle/>
          <a:p>
            <a:pPr algn="l">
              <a:lnSpc>
                <a:spcPct val="128000"/>
              </a:lnSpc>
            </a:pPr>
            <a:r>
              <a:rPr sz="950" b="0" i="0">
                <a:solidFill>
                  <a:srgbClr val="6E7180"/>
                </a:solidFill>
                <a:latin typeface="Geist"/>
              </a:rPr>
              <a:t>CSC — DM / Collector</a:t>
            </a:r>
          </a:p>
        </p:txBody>
      </p:sp>
      <p:sp>
        <p:nvSpPr>
          <p:cNvPr id="50" name="TextBox 49"/>
          <p:cNvSpPr txBox="1"/>
          <p:nvPr/>
        </p:nvSpPr>
        <p:spPr>
          <a:xfrm>
            <a:off x="8741435" y="4937760"/>
            <a:ext cx="512064" cy="365760"/>
          </a:xfrm>
          <a:prstGeom prst="rect">
            <a:avLst/>
          </a:prstGeom>
          <a:noFill/>
        </p:spPr>
        <p:txBody>
          <a:bodyPr wrap="square" lIns="0" rIns="0" tIns="0" bIns="0" anchor="t">
            <a:spAutoFit/>
          </a:bodyPr>
          <a:lstStyle/>
          <a:p>
            <a:pPr algn="ctr">
              <a:lnSpc>
                <a:spcPct val="128000"/>
              </a:lnSpc>
            </a:pPr>
            <a:r>
              <a:rPr sz="2000" b="0" i="0">
                <a:solidFill>
                  <a:srgbClr val="4A35FF"/>
                </a:solidFill>
                <a:latin typeface="Geist"/>
              </a:rPr>
              <a:t>→</a:t>
            </a:r>
          </a:p>
        </p:txBody>
      </p:sp>
      <p:sp>
        <p:nvSpPr>
          <p:cNvPr id="51" name="Rounded Rectangle 50"/>
          <p:cNvSpPr/>
          <p:nvPr/>
        </p:nvSpPr>
        <p:spPr>
          <a:xfrm>
            <a:off x="9271787" y="4572000"/>
            <a:ext cx="2352979" cy="1234440"/>
          </a:xfrm>
          <a:prstGeom prst="roundRect">
            <a:avLst>
              <a:gd name="adj" fmla="val 10000"/>
            </a:avLst>
          </a:prstGeom>
          <a:solidFill>
            <a:srgbClr val="F7F7FA"/>
          </a:solidFill>
          <a:ln>
            <a:noFill/>
          </a:ln>
          <a:effectLst/>
        </p:spPr>
        <p:txBody>
          <a:bodyPr rtlCol="0" anchor="ctr"/>
          <a:lstStyle/>
          <a:p>
            <a:pPr algn="ctr"/>
          </a:p>
        </p:txBody>
      </p:sp>
      <p:sp>
        <p:nvSpPr>
          <p:cNvPr id="52" name="Oval 51"/>
          <p:cNvSpPr/>
          <p:nvPr/>
        </p:nvSpPr>
        <p:spPr>
          <a:xfrm>
            <a:off x="9472955" y="4773168"/>
            <a:ext cx="457200" cy="457200"/>
          </a:xfrm>
          <a:prstGeom prst="ellipse">
            <a:avLst/>
          </a:prstGeom>
          <a:solidFill>
            <a:srgbClr val="EFEDFF"/>
          </a:solidFill>
          <a:ln>
            <a:noFill/>
          </a:ln>
          <a:effectLst/>
        </p:spPr>
        <p:txBody>
          <a:bodyPr rtlCol="0" anchor="ctr"/>
          <a:lstStyle/>
          <a:p>
            <a:pPr algn="ctr"/>
          </a:p>
        </p:txBody>
      </p:sp>
      <p:pic>
        <p:nvPicPr>
          <p:cNvPr id="53" name="Picture 52" descr="banknote_4A35FF_256_2.0.png"/>
          <p:cNvPicPr>
            <a:picLocks noChangeAspect="1"/>
          </p:cNvPicPr>
          <p:nvPr/>
        </p:nvPicPr>
        <p:blipFill>
          <a:blip r:embed="rId9"/>
          <a:stretch>
            <a:fillRect/>
          </a:stretch>
        </p:blipFill>
        <p:spPr>
          <a:xfrm>
            <a:off x="9582683" y="4882896"/>
            <a:ext cx="237744" cy="237744"/>
          </a:xfrm>
          <a:prstGeom prst="rect">
            <a:avLst/>
          </a:prstGeom>
        </p:spPr>
      </p:pic>
      <p:sp>
        <p:nvSpPr>
          <p:cNvPr id="54" name="TextBox 53"/>
          <p:cNvSpPr txBox="1"/>
          <p:nvPr/>
        </p:nvSpPr>
        <p:spPr>
          <a:xfrm>
            <a:off x="9472955" y="5321808"/>
            <a:ext cx="1987219" cy="274320"/>
          </a:xfrm>
          <a:prstGeom prst="rect">
            <a:avLst/>
          </a:prstGeom>
          <a:noFill/>
        </p:spPr>
        <p:txBody>
          <a:bodyPr wrap="square" lIns="0" rIns="0" tIns="0" bIns="0" anchor="t">
            <a:spAutoFit/>
          </a:bodyPr>
          <a:lstStyle/>
          <a:p>
            <a:pPr algn="l">
              <a:lnSpc>
                <a:spcPct val="128000"/>
              </a:lnSpc>
            </a:pPr>
            <a:r>
              <a:rPr sz="1200" b="1" i="0">
                <a:solidFill>
                  <a:srgbClr val="16181D"/>
                </a:solidFill>
                <a:latin typeface="Montserrat"/>
              </a:rPr>
              <a:t>Insurer council</a:t>
            </a:r>
          </a:p>
        </p:txBody>
      </p:sp>
      <p:sp>
        <p:nvSpPr>
          <p:cNvPr id="55" name="TextBox 54"/>
          <p:cNvSpPr txBox="1"/>
          <p:nvPr/>
        </p:nvSpPr>
        <p:spPr>
          <a:xfrm>
            <a:off x="9472955" y="5559552"/>
            <a:ext cx="1987219" cy="274320"/>
          </a:xfrm>
          <a:prstGeom prst="rect">
            <a:avLst/>
          </a:prstGeom>
          <a:noFill/>
        </p:spPr>
        <p:txBody>
          <a:bodyPr wrap="square" lIns="0" rIns="0" tIns="0" bIns="0" anchor="t">
            <a:spAutoFit/>
          </a:bodyPr>
          <a:lstStyle/>
          <a:p>
            <a:pPr algn="l">
              <a:lnSpc>
                <a:spcPct val="128000"/>
              </a:lnSpc>
            </a:pPr>
            <a:r>
              <a:rPr sz="950" b="0" i="0">
                <a:solidFill>
                  <a:srgbClr val="6E7180"/>
                </a:solidFill>
                <a:latin typeface="Geist"/>
              </a:rPr>
              <a:t>GI Council (GIC) + settlement</a:t>
            </a:r>
          </a:p>
        </p:txBody>
      </p:sp>
      <p:sp>
        <p:nvSpPr>
          <p:cNvPr id="56" name="TextBox 55"/>
          <p:cNvSpPr txBox="1"/>
          <p:nvPr/>
        </p:nvSpPr>
        <p:spPr>
          <a:xfrm>
            <a:off x="566928" y="6053328"/>
            <a:ext cx="10972800" cy="228600"/>
          </a:xfrm>
          <a:prstGeom prst="rect">
            <a:avLst/>
          </a:prstGeom>
          <a:noFill/>
        </p:spPr>
        <p:txBody>
          <a:bodyPr wrap="square" lIns="0" rIns="0" tIns="0" bIns="0" anchor="t">
            <a:spAutoFit/>
          </a:bodyPr>
          <a:lstStyle/>
          <a:p>
            <a:pPr algn="l">
              <a:lnSpc>
                <a:spcPct val="120000"/>
              </a:lnSpc>
            </a:pPr>
            <a:r>
              <a:rPr sz="1000" b="0" i="0">
                <a:solidFill>
                  <a:srgbClr val="16181D"/>
                </a:solidFill>
                <a:latin typeface="Geist"/>
              </a:rPr>
              <a:t>Statutory clock end-to-end ≈ 60 days:  1 month enquiry (CEO)  +  15 days sanction (CSC)  +  15 days payment (GIC).</a:t>
            </a:r>
          </a:p>
        </p:txBody>
      </p:sp>
      <p:cxnSp>
        <p:nvCxnSpPr>
          <p:cNvPr id="57" name="Connector 56"/>
          <p:cNvCxnSpPr/>
          <p:nvPr/>
        </p:nvCxnSpPr>
        <p:spPr>
          <a:xfrm>
            <a:off x="566928" y="6455664"/>
            <a:ext cx="11057839" cy="0"/>
          </a:xfrm>
          <a:prstGeom prst="line">
            <a:avLst/>
          </a:prstGeom>
          <a:ln w="9525">
            <a:solidFill>
              <a:srgbClr val="E8E9EE"/>
            </a:solidFill>
          </a:ln>
          <a:effectLst/>
        </p:spPr>
      </p:cxnSp>
      <p:sp>
        <p:nvSpPr>
          <p:cNvPr id="58" name="TextBox 57"/>
          <p:cNvSpPr txBox="1"/>
          <p:nvPr/>
        </p:nvSpPr>
        <p:spPr>
          <a:xfrm>
            <a:off x="566928" y="6528816"/>
            <a:ext cx="86868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SAHAJ — Team Induction Brief   ·   Confidential</a:t>
            </a:r>
          </a:p>
        </p:txBody>
      </p:sp>
      <p:sp>
        <p:nvSpPr>
          <p:cNvPr id="59" name="TextBox 58"/>
          <p:cNvSpPr txBox="1"/>
          <p:nvPr/>
        </p:nvSpPr>
        <p:spPr>
          <a:xfrm>
            <a:off x="10344607" y="6528816"/>
            <a:ext cx="128016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07 / 22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7692847" y="274320"/>
            <a:ext cx="3931920" cy="219456"/>
          </a:xfrm>
          <a:prstGeom prst="rect">
            <a:avLst/>
          </a:prstGeom>
          <a:noFill/>
        </p:spPr>
        <p:txBody>
          <a:bodyPr wrap="square" lIns="0" rIns="0" tIns="0" bIns="0" anchor="t">
            <a:spAutoFit/>
          </a:bodyPr>
          <a:lstStyle/>
          <a:p>
            <a:pPr algn="r">
              <a:lnSpc>
                <a:spcPct val="128000"/>
              </a:lnSpc>
            </a:pPr>
            <a:r>
              <a:rPr sz="800" b="1" i="0" spc="150">
                <a:solidFill>
                  <a:srgbClr val="6E7180"/>
                </a:solidFill>
                <a:latin typeface="Montserrat"/>
              </a:rPr>
              <a:t>SECTION 2 OF 5   ·   HOW SAHAJ WORKS</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02 · HOW SAHAJ WORKS</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Ten roles cover the whole chain — </a:t>
            </a:r>
            <a:r>
              <a:rPr sz="2250" b="1" i="0">
                <a:solidFill>
                  <a:srgbClr val="4A35FF"/>
                </a:solidFill>
                <a:latin typeface="Montserrat"/>
              </a:rPr>
              <a:t>each sees only its jurisdiction</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Everyone below the state level is provisioned from within the portal by the level above them. Access is scoped in the database itself, not just the menu.</a:t>
            </a:r>
          </a:p>
        </p:txBody>
      </p:sp>
      <p:sp>
        <p:nvSpPr>
          <p:cNvPr id="8" name="Oval 7"/>
          <p:cNvSpPr/>
          <p:nvPr/>
        </p:nvSpPr>
        <p:spPr>
          <a:xfrm>
            <a:off x="566928" y="2103120"/>
            <a:ext cx="384048" cy="384048"/>
          </a:xfrm>
          <a:prstGeom prst="ellipse">
            <a:avLst/>
          </a:prstGeom>
          <a:solidFill>
            <a:srgbClr val="EFEDFF"/>
          </a:solidFill>
          <a:ln>
            <a:noFill/>
          </a:ln>
          <a:effectLst/>
        </p:spPr>
        <p:txBody>
          <a:bodyPr rtlCol="0" anchor="ctr"/>
          <a:lstStyle/>
          <a:p>
            <a:pPr algn="ctr"/>
          </a:p>
        </p:txBody>
      </p:sp>
      <p:pic>
        <p:nvPicPr>
          <p:cNvPr id="9" name="Picture 8" descr="shield_4A35FF_256_2.0.png"/>
          <p:cNvPicPr>
            <a:picLocks noChangeAspect="1"/>
          </p:cNvPicPr>
          <p:nvPr/>
        </p:nvPicPr>
        <p:blipFill>
          <a:blip r:embed="rId2"/>
          <a:stretch>
            <a:fillRect/>
          </a:stretch>
        </p:blipFill>
        <p:spPr>
          <a:xfrm>
            <a:off x="659099" y="2195291"/>
            <a:ext cx="199704" cy="199704"/>
          </a:xfrm>
          <a:prstGeom prst="rect">
            <a:avLst/>
          </a:prstGeom>
        </p:spPr>
      </p:pic>
      <p:sp>
        <p:nvSpPr>
          <p:cNvPr id="10" name="TextBox 9"/>
          <p:cNvSpPr txBox="1"/>
          <p:nvPr/>
        </p:nvSpPr>
        <p:spPr>
          <a:xfrm>
            <a:off x="1097280" y="2084832"/>
            <a:ext cx="4846320" cy="274320"/>
          </a:xfrm>
          <a:prstGeom prst="rect">
            <a:avLst/>
          </a:prstGeom>
          <a:noFill/>
        </p:spPr>
        <p:txBody>
          <a:bodyPr wrap="square" lIns="0" rIns="0" tIns="0" bIns="0" anchor="t">
            <a:spAutoFit/>
          </a:bodyPr>
          <a:lstStyle/>
          <a:p>
            <a:pPr algn="l">
              <a:lnSpc>
                <a:spcPct val="128000"/>
              </a:lnSpc>
            </a:pPr>
            <a:r>
              <a:rPr sz="1150" b="1" i="0">
                <a:solidFill>
                  <a:srgbClr val="16181D"/>
                </a:solidFill>
                <a:latin typeface="Montserrat"/>
              </a:rPr>
              <a:t>Police IO / SHO</a:t>
            </a:r>
          </a:p>
        </p:txBody>
      </p:sp>
      <p:sp>
        <p:nvSpPr>
          <p:cNvPr id="11" name="TextBox 10"/>
          <p:cNvSpPr txBox="1"/>
          <p:nvPr/>
        </p:nvSpPr>
        <p:spPr>
          <a:xfrm>
            <a:off x="1097280" y="2350008"/>
            <a:ext cx="4937760" cy="502920"/>
          </a:xfrm>
          <a:prstGeom prst="rect">
            <a:avLst/>
          </a:prstGeom>
          <a:noFill/>
        </p:spPr>
        <p:txBody>
          <a:bodyPr wrap="square" lIns="0" rIns="0" tIns="0" bIns="0" anchor="t">
            <a:spAutoFit/>
          </a:bodyPr>
          <a:lstStyle/>
          <a:p>
            <a:pPr algn="l">
              <a:lnSpc>
                <a:spcPct val="116000"/>
              </a:lnSpc>
            </a:pPr>
            <a:r>
              <a:rPr sz="950" b="0" i="0">
                <a:solidFill>
                  <a:srgbClr val="6E7180"/>
                </a:solidFill>
                <a:latin typeface="Geist"/>
              </a:rPr>
              <a:t>Registers cases from the FIR, uploads it, shares the family's link, submits complete files.</a:t>
            </a:r>
          </a:p>
        </p:txBody>
      </p:sp>
      <p:sp>
        <p:nvSpPr>
          <p:cNvPr id="12" name="Oval 11"/>
          <p:cNvSpPr/>
          <p:nvPr/>
        </p:nvSpPr>
        <p:spPr>
          <a:xfrm>
            <a:off x="566928" y="2944368"/>
            <a:ext cx="384048" cy="384048"/>
          </a:xfrm>
          <a:prstGeom prst="ellipse">
            <a:avLst/>
          </a:prstGeom>
          <a:solidFill>
            <a:srgbClr val="E9F7F0"/>
          </a:solidFill>
          <a:ln>
            <a:noFill/>
          </a:ln>
          <a:effectLst/>
        </p:spPr>
        <p:txBody>
          <a:bodyPr rtlCol="0" anchor="ctr"/>
          <a:lstStyle/>
          <a:p>
            <a:pPr algn="ctr"/>
          </a:p>
        </p:txBody>
      </p:sp>
      <p:pic>
        <p:nvPicPr>
          <p:cNvPr id="13" name="Picture 12" descr="smartphone_0A9955_256_2.0.png"/>
          <p:cNvPicPr>
            <a:picLocks noChangeAspect="1"/>
          </p:cNvPicPr>
          <p:nvPr/>
        </p:nvPicPr>
        <p:blipFill>
          <a:blip r:embed="rId3"/>
          <a:stretch>
            <a:fillRect/>
          </a:stretch>
        </p:blipFill>
        <p:spPr>
          <a:xfrm>
            <a:off x="659099" y="3036539"/>
            <a:ext cx="199704" cy="199704"/>
          </a:xfrm>
          <a:prstGeom prst="rect">
            <a:avLst/>
          </a:prstGeom>
        </p:spPr>
      </p:pic>
      <p:sp>
        <p:nvSpPr>
          <p:cNvPr id="14" name="TextBox 13"/>
          <p:cNvSpPr txBox="1"/>
          <p:nvPr/>
        </p:nvSpPr>
        <p:spPr>
          <a:xfrm>
            <a:off x="1097280" y="2926080"/>
            <a:ext cx="4846320" cy="274320"/>
          </a:xfrm>
          <a:prstGeom prst="rect">
            <a:avLst/>
          </a:prstGeom>
          <a:noFill/>
        </p:spPr>
        <p:txBody>
          <a:bodyPr wrap="square" lIns="0" rIns="0" tIns="0" bIns="0" anchor="t">
            <a:spAutoFit/>
          </a:bodyPr>
          <a:lstStyle/>
          <a:p>
            <a:pPr algn="l">
              <a:lnSpc>
                <a:spcPct val="128000"/>
              </a:lnSpc>
            </a:pPr>
            <a:r>
              <a:rPr sz="1150" b="1" i="0">
                <a:solidFill>
                  <a:srgbClr val="16181D"/>
                </a:solidFill>
                <a:latin typeface="Montserrat"/>
              </a:rPr>
              <a:t>Claimant / family</a:t>
            </a:r>
          </a:p>
        </p:txBody>
      </p:sp>
      <p:sp>
        <p:nvSpPr>
          <p:cNvPr id="15" name="TextBox 14"/>
          <p:cNvSpPr txBox="1"/>
          <p:nvPr/>
        </p:nvSpPr>
        <p:spPr>
          <a:xfrm>
            <a:off x="1097280" y="3191256"/>
            <a:ext cx="4937760" cy="502920"/>
          </a:xfrm>
          <a:prstGeom prst="rect">
            <a:avLst/>
          </a:prstGeom>
          <a:noFill/>
        </p:spPr>
        <p:txBody>
          <a:bodyPr wrap="square" lIns="0" rIns="0" tIns="0" bIns="0" anchor="t">
            <a:spAutoFit/>
          </a:bodyPr>
          <a:lstStyle/>
          <a:p>
            <a:pPr algn="l">
              <a:lnSpc>
                <a:spcPct val="116000"/>
              </a:lnSpc>
            </a:pPr>
            <a:r>
              <a:rPr sz="950" b="0" i="0">
                <a:solidFill>
                  <a:srgbClr val="6E7180"/>
                </a:solidFill>
                <a:latin typeface="Geist"/>
              </a:rPr>
              <a:t>Uploads documents via WhatsApp or a zero-login page; no password, ever.</a:t>
            </a:r>
          </a:p>
        </p:txBody>
      </p:sp>
      <p:sp>
        <p:nvSpPr>
          <p:cNvPr id="16" name="Oval 15"/>
          <p:cNvSpPr/>
          <p:nvPr/>
        </p:nvSpPr>
        <p:spPr>
          <a:xfrm>
            <a:off x="566928" y="3785616"/>
            <a:ext cx="384048" cy="384048"/>
          </a:xfrm>
          <a:prstGeom prst="ellipse">
            <a:avLst/>
          </a:prstGeom>
          <a:solidFill>
            <a:srgbClr val="E7F4F4"/>
          </a:solidFill>
          <a:ln>
            <a:noFill/>
          </a:ln>
          <a:effectLst/>
        </p:spPr>
        <p:txBody>
          <a:bodyPr rtlCol="0" anchor="ctr"/>
          <a:lstStyle/>
          <a:p>
            <a:pPr algn="ctr"/>
          </a:p>
        </p:txBody>
      </p:sp>
      <p:pic>
        <p:nvPicPr>
          <p:cNvPr id="17" name="Picture 16" descr="user-check_0E8A8A_256_2.0.png"/>
          <p:cNvPicPr>
            <a:picLocks noChangeAspect="1"/>
          </p:cNvPicPr>
          <p:nvPr/>
        </p:nvPicPr>
        <p:blipFill>
          <a:blip r:embed="rId4"/>
          <a:stretch>
            <a:fillRect/>
          </a:stretch>
        </p:blipFill>
        <p:spPr>
          <a:xfrm>
            <a:off x="659099" y="3877787"/>
            <a:ext cx="199704" cy="199704"/>
          </a:xfrm>
          <a:prstGeom prst="rect">
            <a:avLst/>
          </a:prstGeom>
        </p:spPr>
      </p:pic>
      <p:sp>
        <p:nvSpPr>
          <p:cNvPr id="18" name="TextBox 17"/>
          <p:cNvSpPr txBox="1"/>
          <p:nvPr/>
        </p:nvSpPr>
        <p:spPr>
          <a:xfrm>
            <a:off x="1097280" y="3767328"/>
            <a:ext cx="4846320" cy="274320"/>
          </a:xfrm>
          <a:prstGeom prst="rect">
            <a:avLst/>
          </a:prstGeom>
          <a:noFill/>
        </p:spPr>
        <p:txBody>
          <a:bodyPr wrap="square" lIns="0" rIns="0" tIns="0" bIns="0" anchor="t">
            <a:spAutoFit/>
          </a:bodyPr>
          <a:lstStyle/>
          <a:p>
            <a:pPr algn="l">
              <a:lnSpc>
                <a:spcPct val="128000"/>
              </a:lnSpc>
            </a:pPr>
            <a:r>
              <a:rPr sz="1150" b="1" i="0">
                <a:solidFill>
                  <a:srgbClr val="16181D"/>
                </a:solidFill>
                <a:latin typeface="Montserrat"/>
              </a:rPr>
              <a:t>CEO — SDM / Tahsildar</a:t>
            </a:r>
          </a:p>
        </p:txBody>
      </p:sp>
      <p:sp>
        <p:nvSpPr>
          <p:cNvPr id="19" name="TextBox 18"/>
          <p:cNvSpPr txBox="1"/>
          <p:nvPr/>
        </p:nvSpPr>
        <p:spPr>
          <a:xfrm>
            <a:off x="1097280" y="4032504"/>
            <a:ext cx="4937760" cy="502920"/>
          </a:xfrm>
          <a:prstGeom prst="rect">
            <a:avLst/>
          </a:prstGeom>
          <a:noFill/>
        </p:spPr>
        <p:txBody>
          <a:bodyPr wrap="square" lIns="0" rIns="0" tIns="0" bIns="0" anchor="t">
            <a:spAutoFit/>
          </a:bodyPr>
          <a:lstStyle/>
          <a:p>
            <a:pPr algn="l">
              <a:lnSpc>
                <a:spcPct val="116000"/>
              </a:lnSpc>
            </a:pPr>
            <a:r>
              <a:rPr sz="950" b="0" i="0">
                <a:solidFill>
                  <a:srgbClr val="6E7180"/>
                </a:solidFill>
                <a:latin typeface="Geist"/>
              </a:rPr>
              <a:t>Verifies each document, files Form II with an OTP e-sign. Clock: 1 month.</a:t>
            </a:r>
          </a:p>
        </p:txBody>
      </p:sp>
      <p:sp>
        <p:nvSpPr>
          <p:cNvPr id="20" name="Oval 19"/>
          <p:cNvSpPr/>
          <p:nvPr/>
        </p:nvSpPr>
        <p:spPr>
          <a:xfrm>
            <a:off x="566928" y="4626864"/>
            <a:ext cx="384048" cy="384048"/>
          </a:xfrm>
          <a:prstGeom prst="ellipse">
            <a:avLst/>
          </a:prstGeom>
          <a:solidFill>
            <a:srgbClr val="FDF3E3"/>
          </a:solidFill>
          <a:ln>
            <a:noFill/>
          </a:ln>
          <a:effectLst/>
        </p:spPr>
        <p:txBody>
          <a:bodyPr rtlCol="0" anchor="ctr"/>
          <a:lstStyle/>
          <a:p>
            <a:pPr algn="ctr"/>
          </a:p>
        </p:txBody>
      </p:sp>
      <p:pic>
        <p:nvPicPr>
          <p:cNvPr id="21" name="Picture 20" descr="stamp_E58900_256_2.0.png"/>
          <p:cNvPicPr>
            <a:picLocks noChangeAspect="1"/>
          </p:cNvPicPr>
          <p:nvPr/>
        </p:nvPicPr>
        <p:blipFill>
          <a:blip r:embed="rId5"/>
          <a:stretch>
            <a:fillRect/>
          </a:stretch>
        </p:blipFill>
        <p:spPr>
          <a:xfrm>
            <a:off x="659099" y="4719035"/>
            <a:ext cx="199704" cy="199704"/>
          </a:xfrm>
          <a:prstGeom prst="rect">
            <a:avLst/>
          </a:prstGeom>
        </p:spPr>
      </p:pic>
      <p:sp>
        <p:nvSpPr>
          <p:cNvPr id="22" name="TextBox 21"/>
          <p:cNvSpPr txBox="1"/>
          <p:nvPr/>
        </p:nvSpPr>
        <p:spPr>
          <a:xfrm>
            <a:off x="1097280" y="4608576"/>
            <a:ext cx="4846320" cy="274320"/>
          </a:xfrm>
          <a:prstGeom prst="rect">
            <a:avLst/>
          </a:prstGeom>
          <a:noFill/>
        </p:spPr>
        <p:txBody>
          <a:bodyPr wrap="square" lIns="0" rIns="0" tIns="0" bIns="0" anchor="t">
            <a:spAutoFit/>
          </a:bodyPr>
          <a:lstStyle/>
          <a:p>
            <a:pPr algn="l">
              <a:lnSpc>
                <a:spcPct val="128000"/>
              </a:lnSpc>
            </a:pPr>
            <a:r>
              <a:rPr sz="1150" b="1" i="0">
                <a:solidFill>
                  <a:srgbClr val="16181D"/>
                </a:solidFill>
                <a:latin typeface="Montserrat"/>
              </a:rPr>
              <a:t>CSC — DM / Collector</a:t>
            </a:r>
          </a:p>
        </p:txBody>
      </p:sp>
      <p:sp>
        <p:nvSpPr>
          <p:cNvPr id="23" name="TextBox 22"/>
          <p:cNvSpPr txBox="1"/>
          <p:nvPr/>
        </p:nvSpPr>
        <p:spPr>
          <a:xfrm>
            <a:off x="1097280" y="4873752"/>
            <a:ext cx="4937760" cy="502920"/>
          </a:xfrm>
          <a:prstGeom prst="rect">
            <a:avLst/>
          </a:prstGeom>
          <a:noFill/>
        </p:spPr>
        <p:txBody>
          <a:bodyPr wrap="square" lIns="0" rIns="0" tIns="0" bIns="0" anchor="t">
            <a:spAutoFit/>
          </a:bodyPr>
          <a:lstStyle/>
          <a:p>
            <a:pPr algn="l">
              <a:lnSpc>
                <a:spcPct val="116000"/>
              </a:lnSpc>
            </a:pPr>
            <a:r>
              <a:rPr sz="950" b="0" i="0">
                <a:solidFill>
                  <a:srgbClr val="6E7180"/>
                </a:solidFill>
                <a:latin typeface="Geist"/>
              </a:rPr>
              <a:t>Sanctions Form III, can revert or hold, handles GIC queries. Clock: 15 days.</a:t>
            </a:r>
          </a:p>
        </p:txBody>
      </p:sp>
      <p:sp>
        <p:nvSpPr>
          <p:cNvPr id="24" name="Oval 23"/>
          <p:cNvSpPr/>
          <p:nvPr/>
        </p:nvSpPr>
        <p:spPr>
          <a:xfrm>
            <a:off x="566928" y="5468112"/>
            <a:ext cx="384048" cy="384048"/>
          </a:xfrm>
          <a:prstGeom prst="ellipse">
            <a:avLst/>
          </a:prstGeom>
          <a:solidFill>
            <a:srgbClr val="EFEDFF"/>
          </a:solidFill>
          <a:ln>
            <a:noFill/>
          </a:ln>
          <a:effectLst/>
        </p:spPr>
        <p:txBody>
          <a:bodyPr rtlCol="0" anchor="ctr"/>
          <a:lstStyle/>
          <a:p>
            <a:pPr algn="ctr"/>
          </a:p>
        </p:txBody>
      </p:sp>
      <p:pic>
        <p:nvPicPr>
          <p:cNvPr id="25" name="Picture 24" descr="banknote_4A35FF_256_2.0.png"/>
          <p:cNvPicPr>
            <a:picLocks noChangeAspect="1"/>
          </p:cNvPicPr>
          <p:nvPr/>
        </p:nvPicPr>
        <p:blipFill>
          <a:blip r:embed="rId6"/>
          <a:stretch>
            <a:fillRect/>
          </a:stretch>
        </p:blipFill>
        <p:spPr>
          <a:xfrm>
            <a:off x="659099" y="5560283"/>
            <a:ext cx="199704" cy="199704"/>
          </a:xfrm>
          <a:prstGeom prst="rect">
            <a:avLst/>
          </a:prstGeom>
        </p:spPr>
      </p:pic>
      <p:sp>
        <p:nvSpPr>
          <p:cNvPr id="26" name="TextBox 25"/>
          <p:cNvSpPr txBox="1"/>
          <p:nvPr/>
        </p:nvSpPr>
        <p:spPr>
          <a:xfrm>
            <a:off x="1097280" y="5449824"/>
            <a:ext cx="4846320" cy="274320"/>
          </a:xfrm>
          <a:prstGeom prst="rect">
            <a:avLst/>
          </a:prstGeom>
          <a:noFill/>
        </p:spPr>
        <p:txBody>
          <a:bodyPr wrap="square" lIns="0" rIns="0" tIns="0" bIns="0" anchor="t">
            <a:spAutoFit/>
          </a:bodyPr>
          <a:lstStyle/>
          <a:p>
            <a:pPr algn="l">
              <a:lnSpc>
                <a:spcPct val="128000"/>
              </a:lnSpc>
            </a:pPr>
            <a:r>
              <a:rPr sz="1150" b="1" i="0">
                <a:solidFill>
                  <a:srgbClr val="16181D"/>
                </a:solidFill>
                <a:latin typeface="Montserrat"/>
              </a:rPr>
              <a:t>Settlement / GIC desk</a:t>
            </a:r>
          </a:p>
        </p:txBody>
      </p:sp>
      <p:sp>
        <p:nvSpPr>
          <p:cNvPr id="27" name="TextBox 26"/>
          <p:cNvSpPr txBox="1"/>
          <p:nvPr/>
        </p:nvSpPr>
        <p:spPr>
          <a:xfrm>
            <a:off x="1097280" y="5715000"/>
            <a:ext cx="4937760" cy="502920"/>
          </a:xfrm>
          <a:prstGeom prst="rect">
            <a:avLst/>
          </a:prstGeom>
          <a:noFill/>
        </p:spPr>
        <p:txBody>
          <a:bodyPr wrap="square" lIns="0" rIns="0" tIns="0" bIns="0" anchor="t">
            <a:spAutoFit/>
          </a:bodyPr>
          <a:lstStyle/>
          <a:p>
            <a:pPr algn="l">
              <a:lnSpc>
                <a:spcPct val="116000"/>
              </a:lnSpc>
            </a:pPr>
            <a:r>
              <a:rPr sz="950" b="0" i="0">
                <a:solidFill>
                  <a:srgbClr val="6E7180"/>
                </a:solidFill>
                <a:latin typeface="Geist"/>
              </a:rPr>
              <a:t>Works the sanctioned queue, records the payment UTR, marks the case PAID.</a:t>
            </a:r>
          </a:p>
        </p:txBody>
      </p:sp>
      <p:sp>
        <p:nvSpPr>
          <p:cNvPr id="28" name="Oval 27"/>
          <p:cNvSpPr/>
          <p:nvPr/>
        </p:nvSpPr>
        <p:spPr>
          <a:xfrm>
            <a:off x="6373368" y="2103120"/>
            <a:ext cx="384048" cy="384048"/>
          </a:xfrm>
          <a:prstGeom prst="ellipse">
            <a:avLst/>
          </a:prstGeom>
          <a:solidFill>
            <a:srgbClr val="EFEDFF"/>
          </a:solidFill>
          <a:ln>
            <a:noFill/>
          </a:ln>
          <a:effectLst/>
        </p:spPr>
        <p:txBody>
          <a:bodyPr rtlCol="0" anchor="ctr"/>
          <a:lstStyle/>
          <a:p>
            <a:pPr algn="ctr"/>
          </a:p>
        </p:txBody>
      </p:sp>
      <p:pic>
        <p:nvPicPr>
          <p:cNvPr id="29" name="Picture 28" descr="user-cog_4A35FF_256_2.0.png"/>
          <p:cNvPicPr>
            <a:picLocks noChangeAspect="1"/>
          </p:cNvPicPr>
          <p:nvPr/>
        </p:nvPicPr>
        <p:blipFill>
          <a:blip r:embed="rId7"/>
          <a:stretch>
            <a:fillRect/>
          </a:stretch>
        </p:blipFill>
        <p:spPr>
          <a:xfrm>
            <a:off x="6465539" y="2195291"/>
            <a:ext cx="199704" cy="199704"/>
          </a:xfrm>
          <a:prstGeom prst="rect">
            <a:avLst/>
          </a:prstGeom>
        </p:spPr>
      </p:pic>
      <p:sp>
        <p:nvSpPr>
          <p:cNvPr id="30" name="TextBox 29"/>
          <p:cNvSpPr txBox="1"/>
          <p:nvPr/>
        </p:nvSpPr>
        <p:spPr>
          <a:xfrm>
            <a:off x="6903720" y="2084832"/>
            <a:ext cx="4846320" cy="274320"/>
          </a:xfrm>
          <a:prstGeom prst="rect">
            <a:avLst/>
          </a:prstGeom>
          <a:noFill/>
        </p:spPr>
        <p:txBody>
          <a:bodyPr wrap="square" lIns="0" rIns="0" tIns="0" bIns="0" anchor="t">
            <a:spAutoFit/>
          </a:bodyPr>
          <a:lstStyle/>
          <a:p>
            <a:pPr algn="l">
              <a:lnSpc>
                <a:spcPct val="128000"/>
              </a:lnSpc>
            </a:pPr>
            <a:r>
              <a:rPr sz="1150" b="1" i="0">
                <a:solidFill>
                  <a:srgbClr val="16181D"/>
                </a:solidFill>
                <a:latin typeface="Montserrat"/>
              </a:rPr>
              <a:t>Program Coordinator</a:t>
            </a:r>
          </a:p>
        </p:txBody>
      </p:sp>
      <p:sp>
        <p:nvSpPr>
          <p:cNvPr id="31" name="TextBox 30"/>
          <p:cNvSpPr txBox="1"/>
          <p:nvPr/>
        </p:nvSpPr>
        <p:spPr>
          <a:xfrm>
            <a:off x="6903720" y="2350008"/>
            <a:ext cx="4937760" cy="502920"/>
          </a:xfrm>
          <a:prstGeom prst="rect">
            <a:avLst/>
          </a:prstGeom>
          <a:noFill/>
        </p:spPr>
        <p:txBody>
          <a:bodyPr wrap="square" lIns="0" rIns="0" tIns="0" bIns="0" anchor="t">
            <a:spAutoFit/>
          </a:bodyPr>
          <a:lstStyle/>
          <a:p>
            <a:pPr algn="l">
              <a:lnSpc>
                <a:spcPct val="116000"/>
              </a:lnSpc>
            </a:pPr>
            <a:r>
              <a:rPr sz="950" b="0" i="0">
                <a:solidFill>
                  <a:srgbClr val="6E7180"/>
                </a:solidFill>
                <a:latin typeface="Geist"/>
              </a:rPr>
              <a:t>CFI-embedded operator who digitises the legacy paper backlog. Can never sign.</a:t>
            </a:r>
          </a:p>
        </p:txBody>
      </p:sp>
      <p:sp>
        <p:nvSpPr>
          <p:cNvPr id="32" name="Oval 31"/>
          <p:cNvSpPr/>
          <p:nvPr/>
        </p:nvSpPr>
        <p:spPr>
          <a:xfrm>
            <a:off x="6373368" y="2944368"/>
            <a:ext cx="384048" cy="384048"/>
          </a:xfrm>
          <a:prstGeom prst="ellipse">
            <a:avLst/>
          </a:prstGeom>
          <a:solidFill>
            <a:srgbClr val="E9F7F0"/>
          </a:solidFill>
          <a:ln>
            <a:noFill/>
          </a:ln>
          <a:effectLst/>
        </p:spPr>
        <p:txBody>
          <a:bodyPr rtlCol="0" anchor="ctr"/>
          <a:lstStyle/>
          <a:p>
            <a:pPr algn="ctr"/>
          </a:p>
        </p:txBody>
      </p:sp>
      <p:pic>
        <p:nvPicPr>
          <p:cNvPr id="33" name="Picture 32" descr="building-2_0A9955_256_2.0.png"/>
          <p:cNvPicPr>
            <a:picLocks noChangeAspect="1"/>
          </p:cNvPicPr>
          <p:nvPr/>
        </p:nvPicPr>
        <p:blipFill>
          <a:blip r:embed="rId8"/>
          <a:stretch>
            <a:fillRect/>
          </a:stretch>
        </p:blipFill>
        <p:spPr>
          <a:xfrm>
            <a:off x="6465539" y="3036539"/>
            <a:ext cx="199704" cy="199704"/>
          </a:xfrm>
          <a:prstGeom prst="rect">
            <a:avLst/>
          </a:prstGeom>
        </p:spPr>
      </p:pic>
      <p:sp>
        <p:nvSpPr>
          <p:cNvPr id="34" name="TextBox 33"/>
          <p:cNvSpPr txBox="1"/>
          <p:nvPr/>
        </p:nvSpPr>
        <p:spPr>
          <a:xfrm>
            <a:off x="6903720" y="2926080"/>
            <a:ext cx="4846320" cy="274320"/>
          </a:xfrm>
          <a:prstGeom prst="rect">
            <a:avLst/>
          </a:prstGeom>
          <a:noFill/>
        </p:spPr>
        <p:txBody>
          <a:bodyPr wrap="square" lIns="0" rIns="0" tIns="0" bIns="0" anchor="t">
            <a:spAutoFit/>
          </a:bodyPr>
          <a:lstStyle/>
          <a:p>
            <a:pPr algn="l">
              <a:lnSpc>
                <a:spcPct val="128000"/>
              </a:lnSpc>
            </a:pPr>
            <a:r>
              <a:rPr sz="1150" b="1" i="0">
                <a:solidFill>
                  <a:srgbClr val="16181D"/>
                </a:solidFill>
                <a:latin typeface="Montserrat"/>
              </a:rPr>
              <a:t>District admin</a:t>
            </a:r>
          </a:p>
        </p:txBody>
      </p:sp>
      <p:sp>
        <p:nvSpPr>
          <p:cNvPr id="35" name="TextBox 34"/>
          <p:cNvSpPr txBox="1"/>
          <p:nvPr/>
        </p:nvSpPr>
        <p:spPr>
          <a:xfrm>
            <a:off x="6903720" y="3191256"/>
            <a:ext cx="4937760" cy="502920"/>
          </a:xfrm>
          <a:prstGeom prst="rect">
            <a:avLst/>
          </a:prstGeom>
          <a:noFill/>
        </p:spPr>
        <p:txBody>
          <a:bodyPr wrap="square" lIns="0" rIns="0" tIns="0" bIns="0" anchor="t">
            <a:spAutoFit/>
          </a:bodyPr>
          <a:lstStyle/>
          <a:p>
            <a:pPr algn="l">
              <a:lnSpc>
                <a:spcPct val="116000"/>
              </a:lnSpc>
            </a:pPr>
            <a:r>
              <a:rPr sz="950" b="0" i="0">
                <a:solidFill>
                  <a:srgbClr val="6E7180"/>
                </a:solidFill>
                <a:latin typeface="Geist"/>
              </a:rPr>
              <a:t>District dashboard, tehsil drill-down, staff &amp; jurisdiction management, reports.</a:t>
            </a:r>
          </a:p>
        </p:txBody>
      </p:sp>
      <p:sp>
        <p:nvSpPr>
          <p:cNvPr id="36" name="Oval 35"/>
          <p:cNvSpPr/>
          <p:nvPr/>
        </p:nvSpPr>
        <p:spPr>
          <a:xfrm>
            <a:off x="6373368" y="3785616"/>
            <a:ext cx="384048" cy="384048"/>
          </a:xfrm>
          <a:prstGeom prst="ellipse">
            <a:avLst/>
          </a:prstGeom>
          <a:solidFill>
            <a:srgbClr val="E7F4F4"/>
          </a:solidFill>
          <a:ln>
            <a:noFill/>
          </a:ln>
          <a:effectLst/>
        </p:spPr>
        <p:txBody>
          <a:bodyPr rtlCol="0" anchor="ctr"/>
          <a:lstStyle/>
          <a:p>
            <a:pPr algn="ctr"/>
          </a:p>
        </p:txBody>
      </p:sp>
      <p:pic>
        <p:nvPicPr>
          <p:cNvPr id="37" name="Picture 36" descr="landmark_0E8A8A_256_2.0.png"/>
          <p:cNvPicPr>
            <a:picLocks noChangeAspect="1"/>
          </p:cNvPicPr>
          <p:nvPr/>
        </p:nvPicPr>
        <p:blipFill>
          <a:blip r:embed="rId9"/>
          <a:stretch>
            <a:fillRect/>
          </a:stretch>
        </p:blipFill>
        <p:spPr>
          <a:xfrm>
            <a:off x="6465539" y="3877787"/>
            <a:ext cx="199704" cy="199704"/>
          </a:xfrm>
          <a:prstGeom prst="rect">
            <a:avLst/>
          </a:prstGeom>
        </p:spPr>
      </p:pic>
      <p:sp>
        <p:nvSpPr>
          <p:cNvPr id="38" name="TextBox 37"/>
          <p:cNvSpPr txBox="1"/>
          <p:nvPr/>
        </p:nvSpPr>
        <p:spPr>
          <a:xfrm>
            <a:off x="6903720" y="3767328"/>
            <a:ext cx="4846320" cy="274320"/>
          </a:xfrm>
          <a:prstGeom prst="rect">
            <a:avLst/>
          </a:prstGeom>
          <a:noFill/>
        </p:spPr>
        <p:txBody>
          <a:bodyPr wrap="square" lIns="0" rIns="0" tIns="0" bIns="0" anchor="t">
            <a:spAutoFit/>
          </a:bodyPr>
          <a:lstStyle/>
          <a:p>
            <a:pPr algn="l">
              <a:lnSpc>
                <a:spcPct val="128000"/>
              </a:lnSpc>
            </a:pPr>
            <a:r>
              <a:rPr sz="1150" b="1" i="0">
                <a:solidFill>
                  <a:srgbClr val="16181D"/>
                </a:solidFill>
                <a:latin typeface="Montserrat"/>
              </a:rPr>
              <a:t>State admin</a:t>
            </a:r>
          </a:p>
        </p:txBody>
      </p:sp>
      <p:sp>
        <p:nvSpPr>
          <p:cNvPr id="39" name="TextBox 38"/>
          <p:cNvSpPr txBox="1"/>
          <p:nvPr/>
        </p:nvSpPr>
        <p:spPr>
          <a:xfrm>
            <a:off x="6903720" y="4032504"/>
            <a:ext cx="4937760" cy="502920"/>
          </a:xfrm>
          <a:prstGeom prst="rect">
            <a:avLst/>
          </a:prstGeom>
          <a:noFill/>
        </p:spPr>
        <p:txBody>
          <a:bodyPr wrap="square" lIns="0" rIns="0" tIns="0" bIns="0" anchor="t">
            <a:spAutoFit/>
          </a:bodyPr>
          <a:lstStyle/>
          <a:p>
            <a:pPr algn="l">
              <a:lnSpc>
                <a:spcPct val="116000"/>
              </a:lnSpc>
            </a:pPr>
            <a:r>
              <a:rPr sz="950" b="0" i="0">
                <a:solidFill>
                  <a:srgbClr val="6E7180"/>
                </a:solidFill>
                <a:latin typeface="Geist"/>
              </a:rPr>
              <a:t>State overview, district league table, all reports, broadcasts, analytics.</a:t>
            </a:r>
          </a:p>
        </p:txBody>
      </p:sp>
      <p:sp>
        <p:nvSpPr>
          <p:cNvPr id="40" name="Oval 39"/>
          <p:cNvSpPr/>
          <p:nvPr/>
        </p:nvSpPr>
        <p:spPr>
          <a:xfrm>
            <a:off x="6373368" y="4626864"/>
            <a:ext cx="384048" cy="384048"/>
          </a:xfrm>
          <a:prstGeom prst="ellipse">
            <a:avLst/>
          </a:prstGeom>
          <a:solidFill>
            <a:srgbClr val="FDF3E3"/>
          </a:solidFill>
          <a:ln>
            <a:noFill/>
          </a:ln>
          <a:effectLst/>
        </p:spPr>
        <p:txBody>
          <a:bodyPr rtlCol="0" anchor="ctr"/>
          <a:lstStyle/>
          <a:p>
            <a:pPr algn="ctr"/>
          </a:p>
        </p:txBody>
      </p:sp>
      <p:pic>
        <p:nvPicPr>
          <p:cNvPr id="41" name="Picture 40" descr="eye_E58900_256_2.0.png"/>
          <p:cNvPicPr>
            <a:picLocks noChangeAspect="1"/>
          </p:cNvPicPr>
          <p:nvPr/>
        </p:nvPicPr>
        <p:blipFill>
          <a:blip r:embed="rId10"/>
          <a:stretch>
            <a:fillRect/>
          </a:stretch>
        </p:blipFill>
        <p:spPr>
          <a:xfrm>
            <a:off x="6465539" y="4719035"/>
            <a:ext cx="199704" cy="199704"/>
          </a:xfrm>
          <a:prstGeom prst="rect">
            <a:avLst/>
          </a:prstGeom>
        </p:spPr>
      </p:pic>
      <p:sp>
        <p:nvSpPr>
          <p:cNvPr id="42" name="TextBox 41"/>
          <p:cNvSpPr txBox="1"/>
          <p:nvPr/>
        </p:nvSpPr>
        <p:spPr>
          <a:xfrm>
            <a:off x="6903720" y="4608576"/>
            <a:ext cx="4846320" cy="274320"/>
          </a:xfrm>
          <a:prstGeom prst="rect">
            <a:avLst/>
          </a:prstGeom>
          <a:noFill/>
        </p:spPr>
        <p:txBody>
          <a:bodyPr wrap="square" lIns="0" rIns="0" tIns="0" bIns="0" anchor="t">
            <a:spAutoFit/>
          </a:bodyPr>
          <a:lstStyle/>
          <a:p>
            <a:pPr algn="l">
              <a:lnSpc>
                <a:spcPct val="128000"/>
              </a:lnSpc>
            </a:pPr>
            <a:r>
              <a:rPr sz="1150" b="1" i="0">
                <a:solidFill>
                  <a:srgbClr val="16181D"/>
                </a:solidFill>
                <a:latin typeface="Montserrat"/>
              </a:rPr>
              <a:t>Viewer</a:t>
            </a:r>
          </a:p>
        </p:txBody>
      </p:sp>
      <p:sp>
        <p:nvSpPr>
          <p:cNvPr id="43" name="TextBox 42"/>
          <p:cNvSpPr txBox="1"/>
          <p:nvPr/>
        </p:nvSpPr>
        <p:spPr>
          <a:xfrm>
            <a:off x="6903720" y="4873752"/>
            <a:ext cx="4937760" cy="502920"/>
          </a:xfrm>
          <a:prstGeom prst="rect">
            <a:avLst/>
          </a:prstGeom>
          <a:noFill/>
        </p:spPr>
        <p:txBody>
          <a:bodyPr wrap="square" lIns="0" rIns="0" tIns="0" bIns="0" anchor="t">
            <a:spAutoFit/>
          </a:bodyPr>
          <a:lstStyle/>
          <a:p>
            <a:pPr algn="l">
              <a:lnSpc>
                <a:spcPct val="116000"/>
              </a:lnSpc>
            </a:pPr>
            <a:r>
              <a:rPr sz="950" b="0" i="0">
                <a:solidFill>
                  <a:srgbClr val="6E7180"/>
                </a:solidFill>
                <a:latin typeface="Geist"/>
              </a:rPr>
              <a:t>Read-only oversight (e.g. DLSA, auditor) for an assigned jurisdiction — no writes.</a:t>
            </a:r>
          </a:p>
        </p:txBody>
      </p:sp>
      <p:sp>
        <p:nvSpPr>
          <p:cNvPr id="44" name="Oval 43"/>
          <p:cNvSpPr/>
          <p:nvPr/>
        </p:nvSpPr>
        <p:spPr>
          <a:xfrm>
            <a:off x="6373368" y="5468112"/>
            <a:ext cx="384048" cy="384048"/>
          </a:xfrm>
          <a:prstGeom prst="ellipse">
            <a:avLst/>
          </a:prstGeom>
          <a:solidFill>
            <a:srgbClr val="EFEDFF"/>
          </a:solidFill>
          <a:ln>
            <a:noFill/>
          </a:ln>
          <a:effectLst/>
        </p:spPr>
        <p:txBody>
          <a:bodyPr rtlCol="0" anchor="ctr"/>
          <a:lstStyle/>
          <a:p>
            <a:pPr algn="ctr"/>
          </a:p>
        </p:txBody>
      </p:sp>
      <p:pic>
        <p:nvPicPr>
          <p:cNvPr id="45" name="Picture 44" descr="settings-2_4A35FF_256_2.0.png"/>
          <p:cNvPicPr>
            <a:picLocks noChangeAspect="1"/>
          </p:cNvPicPr>
          <p:nvPr/>
        </p:nvPicPr>
        <p:blipFill>
          <a:blip r:embed="rId11"/>
          <a:stretch>
            <a:fillRect/>
          </a:stretch>
        </p:blipFill>
        <p:spPr>
          <a:xfrm>
            <a:off x="6465539" y="5560283"/>
            <a:ext cx="199704" cy="199704"/>
          </a:xfrm>
          <a:prstGeom prst="rect">
            <a:avLst/>
          </a:prstGeom>
        </p:spPr>
      </p:pic>
      <p:sp>
        <p:nvSpPr>
          <p:cNvPr id="46" name="TextBox 45"/>
          <p:cNvSpPr txBox="1"/>
          <p:nvPr/>
        </p:nvSpPr>
        <p:spPr>
          <a:xfrm>
            <a:off x="6903720" y="5449824"/>
            <a:ext cx="4846320" cy="274320"/>
          </a:xfrm>
          <a:prstGeom prst="rect">
            <a:avLst/>
          </a:prstGeom>
          <a:noFill/>
        </p:spPr>
        <p:txBody>
          <a:bodyPr wrap="square" lIns="0" rIns="0" tIns="0" bIns="0" anchor="t">
            <a:spAutoFit/>
          </a:bodyPr>
          <a:lstStyle/>
          <a:p>
            <a:pPr algn="l">
              <a:lnSpc>
                <a:spcPct val="128000"/>
              </a:lnSpc>
            </a:pPr>
            <a:r>
              <a:rPr sz="1150" b="1" i="0">
                <a:solidFill>
                  <a:srgbClr val="16181D"/>
                </a:solidFill>
                <a:latin typeface="Montserrat"/>
              </a:rPr>
              <a:t>Super admin (CFI)</a:t>
            </a:r>
          </a:p>
        </p:txBody>
      </p:sp>
      <p:sp>
        <p:nvSpPr>
          <p:cNvPr id="47" name="TextBox 46"/>
          <p:cNvSpPr txBox="1"/>
          <p:nvPr/>
        </p:nvSpPr>
        <p:spPr>
          <a:xfrm>
            <a:off x="6903720" y="5715000"/>
            <a:ext cx="4937760" cy="502920"/>
          </a:xfrm>
          <a:prstGeom prst="rect">
            <a:avLst/>
          </a:prstGeom>
          <a:noFill/>
        </p:spPr>
        <p:txBody>
          <a:bodyPr wrap="square" lIns="0" rIns="0" tIns="0" bIns="0" anchor="t">
            <a:spAutoFit/>
          </a:bodyPr>
          <a:lstStyle/>
          <a:p>
            <a:pPr algn="l">
              <a:lnSpc>
                <a:spcPct val="116000"/>
              </a:lnSpc>
            </a:pPr>
            <a:r>
              <a:rPr sz="950" b="0" i="0">
                <a:solidFill>
                  <a:srgbClr val="6E7180"/>
                </a:solidFill>
                <a:latin typeface="Geist"/>
              </a:rPr>
              <a:t>Creates states/districts, global audit, AI usage console, system health.</a:t>
            </a:r>
          </a:p>
        </p:txBody>
      </p:sp>
      <p:cxnSp>
        <p:nvCxnSpPr>
          <p:cNvPr id="48" name="Connector 47"/>
          <p:cNvCxnSpPr/>
          <p:nvPr/>
        </p:nvCxnSpPr>
        <p:spPr>
          <a:xfrm>
            <a:off x="566928" y="6455664"/>
            <a:ext cx="11057839" cy="0"/>
          </a:xfrm>
          <a:prstGeom prst="line">
            <a:avLst/>
          </a:prstGeom>
          <a:ln w="9525">
            <a:solidFill>
              <a:srgbClr val="E8E9EE"/>
            </a:solidFill>
          </a:ln>
          <a:effectLst/>
        </p:spPr>
      </p:cxnSp>
      <p:sp>
        <p:nvSpPr>
          <p:cNvPr id="49" name="TextBox 48"/>
          <p:cNvSpPr txBox="1"/>
          <p:nvPr/>
        </p:nvSpPr>
        <p:spPr>
          <a:xfrm>
            <a:off x="566928" y="6528816"/>
            <a:ext cx="86868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SAHAJ — Team Induction Brief   ·   Confidential</a:t>
            </a:r>
          </a:p>
        </p:txBody>
      </p:sp>
      <p:sp>
        <p:nvSpPr>
          <p:cNvPr id="50" name="TextBox 49"/>
          <p:cNvSpPr txBox="1"/>
          <p:nvPr/>
        </p:nvSpPr>
        <p:spPr>
          <a:xfrm>
            <a:off x="10344607" y="6528816"/>
            <a:ext cx="128016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08 / 22</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7692847" y="274320"/>
            <a:ext cx="3931920" cy="219456"/>
          </a:xfrm>
          <a:prstGeom prst="rect">
            <a:avLst/>
          </a:prstGeom>
          <a:noFill/>
        </p:spPr>
        <p:txBody>
          <a:bodyPr wrap="square" lIns="0" rIns="0" tIns="0" bIns="0" anchor="t">
            <a:spAutoFit/>
          </a:bodyPr>
          <a:lstStyle/>
          <a:p>
            <a:pPr algn="r">
              <a:lnSpc>
                <a:spcPct val="128000"/>
              </a:lnSpc>
            </a:pPr>
            <a:r>
              <a:rPr sz="800" b="1" i="0" spc="150">
                <a:solidFill>
                  <a:srgbClr val="6E7180"/>
                </a:solidFill>
                <a:latin typeface="Montserrat"/>
              </a:rPr>
              <a:t>SECTION 2 OF 5   ·   HOW SAHAJ WORKS</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02 · HOW SAHAJ WORKS</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From FIR to ₹2 lakh in the bank: </a:t>
            </a:r>
            <a:r>
              <a:rPr sz="2250" b="1" i="0">
                <a:solidFill>
                  <a:srgbClr val="4A35FF"/>
                </a:solidFill>
                <a:latin typeface="Montserrat"/>
              </a:rPr>
              <a:t>one tracked pipeline</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Six stages, each with a statutory clock. Blue = an officer acts; green = the family; the arrows between are automated (SMS/WhatsApp, nudges, an AI voice call, bilingual status).</a:t>
            </a:r>
          </a:p>
        </p:txBody>
      </p:sp>
      <p:sp>
        <p:nvSpPr>
          <p:cNvPr id="8" name="Rounded Rectangle 7"/>
          <p:cNvSpPr/>
          <p:nvPr/>
        </p:nvSpPr>
        <p:spPr>
          <a:xfrm>
            <a:off x="566928" y="2331720"/>
            <a:ext cx="1690573" cy="2331720"/>
          </a:xfrm>
          <a:prstGeom prst="roundRect">
            <a:avLst>
              <a:gd name="adj" fmla="val 7000"/>
            </a:avLst>
          </a:prstGeom>
          <a:solidFill>
            <a:srgbClr val="FFFFFF"/>
          </a:solidFill>
          <a:ln w="9525">
            <a:solidFill>
              <a:srgbClr val="E8E9EE"/>
            </a:solidFill>
          </a:ln>
          <a:effectLst/>
        </p:spPr>
        <p:txBody>
          <a:bodyPr rtlCol="0" anchor="ctr"/>
          <a:lstStyle/>
          <a:p>
            <a:pPr algn="ctr"/>
          </a:p>
        </p:txBody>
      </p:sp>
      <p:sp>
        <p:nvSpPr>
          <p:cNvPr id="9" name="Oval 8"/>
          <p:cNvSpPr/>
          <p:nvPr/>
        </p:nvSpPr>
        <p:spPr>
          <a:xfrm>
            <a:off x="713232" y="2514600"/>
            <a:ext cx="457200" cy="457200"/>
          </a:xfrm>
          <a:prstGeom prst="ellipse">
            <a:avLst/>
          </a:prstGeom>
          <a:solidFill>
            <a:srgbClr val="EFEDFF"/>
          </a:solidFill>
          <a:ln>
            <a:noFill/>
          </a:ln>
          <a:effectLst/>
        </p:spPr>
        <p:txBody>
          <a:bodyPr rtlCol="0" anchor="ctr"/>
          <a:lstStyle/>
          <a:p>
            <a:pPr algn="ctr"/>
          </a:p>
        </p:txBody>
      </p:sp>
      <p:pic>
        <p:nvPicPr>
          <p:cNvPr id="10" name="Picture 9" descr="clipboard-list_4A35FF_256_2.0.png"/>
          <p:cNvPicPr>
            <a:picLocks noChangeAspect="1"/>
          </p:cNvPicPr>
          <p:nvPr/>
        </p:nvPicPr>
        <p:blipFill>
          <a:blip r:embed="rId2"/>
          <a:stretch>
            <a:fillRect/>
          </a:stretch>
        </p:blipFill>
        <p:spPr>
          <a:xfrm>
            <a:off x="822960" y="2624328"/>
            <a:ext cx="237744" cy="237744"/>
          </a:xfrm>
          <a:prstGeom prst="rect">
            <a:avLst/>
          </a:prstGeom>
        </p:spPr>
      </p:pic>
      <p:sp>
        <p:nvSpPr>
          <p:cNvPr id="11" name="TextBox 10"/>
          <p:cNvSpPr txBox="1"/>
          <p:nvPr/>
        </p:nvSpPr>
        <p:spPr>
          <a:xfrm>
            <a:off x="713232" y="3081528"/>
            <a:ext cx="1397965" cy="274320"/>
          </a:xfrm>
          <a:prstGeom prst="rect">
            <a:avLst/>
          </a:prstGeom>
          <a:noFill/>
        </p:spPr>
        <p:txBody>
          <a:bodyPr wrap="square" lIns="0" rIns="0" tIns="0" bIns="0" anchor="t">
            <a:spAutoFit/>
          </a:bodyPr>
          <a:lstStyle/>
          <a:p>
            <a:pPr algn="l">
              <a:lnSpc>
                <a:spcPct val="100000"/>
              </a:lnSpc>
            </a:pPr>
            <a:r>
              <a:rPr sz="1150" b="1" i="0">
                <a:solidFill>
                  <a:srgbClr val="16181D"/>
                </a:solidFill>
                <a:latin typeface="Montserrat"/>
              </a:rPr>
              <a:t>Police IO</a:t>
            </a:r>
          </a:p>
        </p:txBody>
      </p:sp>
      <p:sp>
        <p:nvSpPr>
          <p:cNvPr id="12" name="TextBox 11"/>
          <p:cNvSpPr txBox="1"/>
          <p:nvPr/>
        </p:nvSpPr>
        <p:spPr>
          <a:xfrm>
            <a:off x="713232" y="3374135"/>
            <a:ext cx="1397965" cy="685800"/>
          </a:xfrm>
          <a:prstGeom prst="rect">
            <a:avLst/>
          </a:prstGeom>
          <a:noFill/>
        </p:spPr>
        <p:txBody>
          <a:bodyPr wrap="square" lIns="0" rIns="0" tIns="0" bIns="0" anchor="t">
            <a:spAutoFit/>
          </a:bodyPr>
          <a:lstStyle/>
          <a:p>
            <a:pPr algn="l">
              <a:lnSpc>
                <a:spcPct val="120000"/>
              </a:lnSpc>
            </a:pPr>
            <a:r>
              <a:rPr sz="950" b="0" i="0">
                <a:solidFill>
                  <a:srgbClr val="6E7180"/>
                </a:solidFill>
                <a:latin typeface="Geist"/>
              </a:rPr>
              <a:t>Registers the case</a:t>
            </a:r>
          </a:p>
          <a:p>
            <a:pPr algn="l">
              <a:lnSpc>
                <a:spcPct val="120000"/>
              </a:lnSpc>
            </a:pPr>
            <a:r>
              <a:rPr sz="950" b="0" i="0">
                <a:solidFill>
                  <a:srgbClr val="6E7180"/>
                </a:solidFill>
                <a:latin typeface="Geist"/>
              </a:rPr>
              <a:t>from the FIR (2 min)</a:t>
            </a:r>
          </a:p>
        </p:txBody>
      </p:sp>
      <p:cxnSp>
        <p:nvCxnSpPr>
          <p:cNvPr id="13" name="Connector 12"/>
          <p:cNvCxnSpPr/>
          <p:nvPr/>
        </p:nvCxnSpPr>
        <p:spPr>
          <a:xfrm>
            <a:off x="713232.0" y="4114800"/>
            <a:ext cx="1397965.166666667" cy="0"/>
          </a:xfrm>
          <a:prstGeom prst="line">
            <a:avLst/>
          </a:prstGeom>
          <a:ln w="9525">
            <a:solidFill>
              <a:srgbClr val="E8E9EE"/>
            </a:solidFill>
          </a:ln>
          <a:effectLst/>
        </p:spPr>
      </p:cxnSp>
      <p:sp>
        <p:nvSpPr>
          <p:cNvPr id="14" name="Rounded Rectangle 13"/>
          <p:cNvSpPr/>
          <p:nvPr/>
        </p:nvSpPr>
        <p:spPr>
          <a:xfrm>
            <a:off x="713232" y="4215384"/>
            <a:ext cx="1397965" cy="329184"/>
          </a:xfrm>
          <a:prstGeom prst="roundRect">
            <a:avLst>
              <a:gd name="adj" fmla="val 50000"/>
            </a:avLst>
          </a:prstGeom>
          <a:solidFill>
            <a:srgbClr val="F7F7FA"/>
          </a:solidFill>
          <a:ln>
            <a:noFill/>
          </a:ln>
          <a:effectLst/>
        </p:spPr>
        <p:txBody>
          <a:bodyPr rtlCol="0" anchor="ctr"/>
          <a:lstStyle/>
          <a:p>
            <a:pPr algn="ctr"/>
          </a:p>
        </p:txBody>
      </p:sp>
      <p:sp>
        <p:nvSpPr>
          <p:cNvPr id="15" name="TextBox 14"/>
          <p:cNvSpPr txBox="1"/>
          <p:nvPr/>
        </p:nvSpPr>
        <p:spPr>
          <a:xfrm>
            <a:off x="731520" y="4215384"/>
            <a:ext cx="1361389" cy="329184"/>
          </a:xfrm>
          <a:prstGeom prst="rect">
            <a:avLst/>
          </a:prstGeom>
          <a:noFill/>
        </p:spPr>
        <p:txBody>
          <a:bodyPr wrap="square" lIns="0" rIns="0" tIns="0" bIns="0" anchor="ctr">
            <a:spAutoFit/>
          </a:bodyPr>
          <a:lstStyle/>
          <a:p>
            <a:pPr algn="ctr">
              <a:lnSpc>
                <a:spcPct val="100000"/>
              </a:lnSpc>
            </a:pPr>
            <a:r>
              <a:rPr sz="900" b="1" i="0">
                <a:solidFill>
                  <a:srgbClr val="4A35FF"/>
                </a:solidFill>
                <a:latin typeface="Montserrat"/>
              </a:rPr>
              <a:t>instant</a:t>
            </a:r>
          </a:p>
        </p:txBody>
      </p:sp>
      <p:sp>
        <p:nvSpPr>
          <p:cNvPr id="16" name="TextBox 15"/>
          <p:cNvSpPr txBox="1"/>
          <p:nvPr/>
        </p:nvSpPr>
        <p:spPr>
          <a:xfrm>
            <a:off x="2239213" y="3246120"/>
            <a:ext cx="237744" cy="365760"/>
          </a:xfrm>
          <a:prstGeom prst="rect">
            <a:avLst/>
          </a:prstGeom>
          <a:noFill/>
        </p:spPr>
        <p:txBody>
          <a:bodyPr wrap="square" lIns="0" rIns="0" tIns="0" bIns="0" anchor="t">
            <a:spAutoFit/>
          </a:bodyPr>
          <a:lstStyle/>
          <a:p>
            <a:pPr algn="ctr">
              <a:lnSpc>
                <a:spcPct val="128000"/>
              </a:lnSpc>
            </a:pPr>
            <a:r>
              <a:rPr sz="1500" b="0" i="0">
                <a:solidFill>
                  <a:srgbClr val="6E7180"/>
                </a:solidFill>
                <a:latin typeface="Geist"/>
              </a:rPr>
              <a:t>→</a:t>
            </a:r>
          </a:p>
        </p:txBody>
      </p:sp>
      <p:sp>
        <p:nvSpPr>
          <p:cNvPr id="17" name="Rounded Rectangle 16"/>
          <p:cNvSpPr/>
          <p:nvPr/>
        </p:nvSpPr>
        <p:spPr>
          <a:xfrm>
            <a:off x="2440381" y="2331720"/>
            <a:ext cx="1690573" cy="2331720"/>
          </a:xfrm>
          <a:prstGeom prst="roundRect">
            <a:avLst>
              <a:gd name="adj" fmla="val 7000"/>
            </a:avLst>
          </a:prstGeom>
          <a:solidFill>
            <a:srgbClr val="FFFFFF"/>
          </a:solidFill>
          <a:ln w="9525">
            <a:solidFill>
              <a:srgbClr val="E8E9EE"/>
            </a:solidFill>
          </a:ln>
          <a:effectLst/>
        </p:spPr>
        <p:txBody>
          <a:bodyPr rtlCol="0" anchor="ctr"/>
          <a:lstStyle/>
          <a:p>
            <a:pPr algn="ctr"/>
          </a:p>
        </p:txBody>
      </p:sp>
      <p:sp>
        <p:nvSpPr>
          <p:cNvPr id="18" name="Oval 17"/>
          <p:cNvSpPr/>
          <p:nvPr/>
        </p:nvSpPr>
        <p:spPr>
          <a:xfrm>
            <a:off x="2586685" y="2514600"/>
            <a:ext cx="457200" cy="457200"/>
          </a:xfrm>
          <a:prstGeom prst="ellipse">
            <a:avLst/>
          </a:prstGeom>
          <a:solidFill>
            <a:srgbClr val="E9F7F0"/>
          </a:solidFill>
          <a:ln>
            <a:noFill/>
          </a:ln>
          <a:effectLst/>
        </p:spPr>
        <p:txBody>
          <a:bodyPr rtlCol="0" anchor="ctr"/>
          <a:lstStyle/>
          <a:p>
            <a:pPr algn="ctr"/>
          </a:p>
        </p:txBody>
      </p:sp>
      <p:pic>
        <p:nvPicPr>
          <p:cNvPr id="19" name="Picture 18" descr="smartphone_0A9955_256_2.0.png"/>
          <p:cNvPicPr>
            <a:picLocks noChangeAspect="1"/>
          </p:cNvPicPr>
          <p:nvPr/>
        </p:nvPicPr>
        <p:blipFill>
          <a:blip r:embed="rId3"/>
          <a:stretch>
            <a:fillRect/>
          </a:stretch>
        </p:blipFill>
        <p:spPr>
          <a:xfrm>
            <a:off x="2696413" y="2624328"/>
            <a:ext cx="237744" cy="237744"/>
          </a:xfrm>
          <a:prstGeom prst="rect">
            <a:avLst/>
          </a:prstGeom>
        </p:spPr>
      </p:pic>
      <p:sp>
        <p:nvSpPr>
          <p:cNvPr id="20" name="TextBox 19"/>
          <p:cNvSpPr txBox="1"/>
          <p:nvPr/>
        </p:nvSpPr>
        <p:spPr>
          <a:xfrm>
            <a:off x="2586685" y="3081528"/>
            <a:ext cx="1397965" cy="274320"/>
          </a:xfrm>
          <a:prstGeom prst="rect">
            <a:avLst/>
          </a:prstGeom>
          <a:noFill/>
        </p:spPr>
        <p:txBody>
          <a:bodyPr wrap="square" lIns="0" rIns="0" tIns="0" bIns="0" anchor="t">
            <a:spAutoFit/>
          </a:bodyPr>
          <a:lstStyle/>
          <a:p>
            <a:pPr algn="l">
              <a:lnSpc>
                <a:spcPct val="100000"/>
              </a:lnSpc>
            </a:pPr>
            <a:r>
              <a:rPr sz="1150" b="1" i="0">
                <a:solidFill>
                  <a:srgbClr val="16181D"/>
                </a:solidFill>
                <a:latin typeface="Montserrat"/>
              </a:rPr>
              <a:t>Family</a:t>
            </a:r>
          </a:p>
        </p:txBody>
      </p:sp>
      <p:sp>
        <p:nvSpPr>
          <p:cNvPr id="21" name="TextBox 20"/>
          <p:cNvSpPr txBox="1"/>
          <p:nvPr/>
        </p:nvSpPr>
        <p:spPr>
          <a:xfrm>
            <a:off x="2586685" y="3374135"/>
            <a:ext cx="1397965" cy="685800"/>
          </a:xfrm>
          <a:prstGeom prst="rect">
            <a:avLst/>
          </a:prstGeom>
          <a:noFill/>
        </p:spPr>
        <p:txBody>
          <a:bodyPr wrap="square" lIns="0" rIns="0" tIns="0" bIns="0" anchor="t">
            <a:spAutoFit/>
          </a:bodyPr>
          <a:lstStyle/>
          <a:p>
            <a:pPr algn="l">
              <a:lnSpc>
                <a:spcPct val="120000"/>
              </a:lnSpc>
            </a:pPr>
            <a:r>
              <a:rPr sz="950" b="0" i="0">
                <a:solidFill>
                  <a:srgbClr val="6E7180"/>
                </a:solidFill>
                <a:latin typeface="Geist"/>
              </a:rPr>
              <a:t>Uploads 7 docs on</a:t>
            </a:r>
          </a:p>
          <a:p>
            <a:pPr algn="l">
              <a:lnSpc>
                <a:spcPct val="120000"/>
              </a:lnSpc>
            </a:pPr>
            <a:r>
              <a:rPr sz="950" b="0" i="0">
                <a:solidFill>
                  <a:srgbClr val="6E7180"/>
                </a:solidFill>
                <a:latin typeface="Geist"/>
              </a:rPr>
              <a:t>WhatsApp — no login</a:t>
            </a:r>
          </a:p>
        </p:txBody>
      </p:sp>
      <p:cxnSp>
        <p:nvCxnSpPr>
          <p:cNvPr id="22" name="Connector 21"/>
          <p:cNvCxnSpPr/>
          <p:nvPr/>
        </p:nvCxnSpPr>
        <p:spPr>
          <a:xfrm>
            <a:off x="2586685.166666667" y="4114800"/>
            <a:ext cx="1397965.166666667" cy="0"/>
          </a:xfrm>
          <a:prstGeom prst="line">
            <a:avLst/>
          </a:prstGeom>
          <a:ln w="9525">
            <a:solidFill>
              <a:srgbClr val="E8E9EE"/>
            </a:solidFill>
          </a:ln>
          <a:effectLst/>
        </p:spPr>
      </p:cxnSp>
      <p:sp>
        <p:nvSpPr>
          <p:cNvPr id="23" name="Rounded Rectangle 22"/>
          <p:cNvSpPr/>
          <p:nvPr/>
        </p:nvSpPr>
        <p:spPr>
          <a:xfrm>
            <a:off x="2586685" y="4215384"/>
            <a:ext cx="1397965" cy="329184"/>
          </a:xfrm>
          <a:prstGeom prst="roundRect">
            <a:avLst>
              <a:gd name="adj" fmla="val 50000"/>
            </a:avLst>
          </a:prstGeom>
          <a:solidFill>
            <a:srgbClr val="F7F7FA"/>
          </a:solidFill>
          <a:ln>
            <a:noFill/>
          </a:ln>
          <a:effectLst/>
        </p:spPr>
        <p:txBody>
          <a:bodyPr rtlCol="0" anchor="ctr"/>
          <a:lstStyle/>
          <a:p>
            <a:pPr algn="ctr"/>
          </a:p>
        </p:txBody>
      </p:sp>
      <p:sp>
        <p:nvSpPr>
          <p:cNvPr id="24" name="TextBox 23"/>
          <p:cNvSpPr txBox="1"/>
          <p:nvPr/>
        </p:nvSpPr>
        <p:spPr>
          <a:xfrm>
            <a:off x="2604973" y="4215384"/>
            <a:ext cx="1361389" cy="329184"/>
          </a:xfrm>
          <a:prstGeom prst="rect">
            <a:avLst/>
          </a:prstGeom>
          <a:noFill/>
        </p:spPr>
        <p:txBody>
          <a:bodyPr wrap="square" lIns="0" rIns="0" tIns="0" bIns="0" anchor="ctr">
            <a:spAutoFit/>
          </a:bodyPr>
          <a:lstStyle/>
          <a:p>
            <a:pPr algn="ctr">
              <a:lnSpc>
                <a:spcPct val="100000"/>
              </a:lnSpc>
            </a:pPr>
            <a:r>
              <a:rPr sz="900" b="1" i="0">
                <a:solidFill>
                  <a:srgbClr val="0A9955"/>
                </a:solidFill>
                <a:latin typeface="Montserrat"/>
              </a:rPr>
              <a:t>no login</a:t>
            </a:r>
          </a:p>
        </p:txBody>
      </p:sp>
      <p:sp>
        <p:nvSpPr>
          <p:cNvPr id="25" name="TextBox 24"/>
          <p:cNvSpPr txBox="1"/>
          <p:nvPr/>
        </p:nvSpPr>
        <p:spPr>
          <a:xfrm>
            <a:off x="4112666" y="3246120"/>
            <a:ext cx="237744" cy="365760"/>
          </a:xfrm>
          <a:prstGeom prst="rect">
            <a:avLst/>
          </a:prstGeom>
          <a:noFill/>
        </p:spPr>
        <p:txBody>
          <a:bodyPr wrap="square" lIns="0" rIns="0" tIns="0" bIns="0" anchor="t">
            <a:spAutoFit/>
          </a:bodyPr>
          <a:lstStyle/>
          <a:p>
            <a:pPr algn="ctr">
              <a:lnSpc>
                <a:spcPct val="128000"/>
              </a:lnSpc>
            </a:pPr>
            <a:r>
              <a:rPr sz="1500" b="0" i="0">
                <a:solidFill>
                  <a:srgbClr val="6E7180"/>
                </a:solidFill>
                <a:latin typeface="Geist"/>
              </a:rPr>
              <a:t>→</a:t>
            </a:r>
          </a:p>
        </p:txBody>
      </p:sp>
      <p:sp>
        <p:nvSpPr>
          <p:cNvPr id="26" name="Rounded Rectangle 25"/>
          <p:cNvSpPr/>
          <p:nvPr/>
        </p:nvSpPr>
        <p:spPr>
          <a:xfrm>
            <a:off x="4313834" y="2331720"/>
            <a:ext cx="1690573" cy="2331720"/>
          </a:xfrm>
          <a:prstGeom prst="roundRect">
            <a:avLst>
              <a:gd name="adj" fmla="val 7000"/>
            </a:avLst>
          </a:prstGeom>
          <a:solidFill>
            <a:srgbClr val="FFFFFF"/>
          </a:solidFill>
          <a:ln w="9525">
            <a:solidFill>
              <a:srgbClr val="E8E9EE"/>
            </a:solidFill>
          </a:ln>
          <a:effectLst/>
        </p:spPr>
        <p:txBody>
          <a:bodyPr rtlCol="0" anchor="ctr"/>
          <a:lstStyle/>
          <a:p>
            <a:pPr algn="ctr"/>
          </a:p>
        </p:txBody>
      </p:sp>
      <p:sp>
        <p:nvSpPr>
          <p:cNvPr id="27" name="Oval 26"/>
          <p:cNvSpPr/>
          <p:nvPr/>
        </p:nvSpPr>
        <p:spPr>
          <a:xfrm>
            <a:off x="4460138" y="2514600"/>
            <a:ext cx="457200" cy="457200"/>
          </a:xfrm>
          <a:prstGeom prst="ellipse">
            <a:avLst/>
          </a:prstGeom>
          <a:solidFill>
            <a:srgbClr val="EFEDFF"/>
          </a:solidFill>
          <a:ln>
            <a:noFill/>
          </a:ln>
          <a:effectLst/>
        </p:spPr>
        <p:txBody>
          <a:bodyPr rtlCol="0" anchor="ctr"/>
          <a:lstStyle/>
          <a:p>
            <a:pPr algn="ctr"/>
          </a:p>
        </p:txBody>
      </p:sp>
      <p:pic>
        <p:nvPicPr>
          <p:cNvPr id="28" name="Picture 27" descr="file-check_4A35FF_256_2.0.png"/>
          <p:cNvPicPr>
            <a:picLocks noChangeAspect="1"/>
          </p:cNvPicPr>
          <p:nvPr/>
        </p:nvPicPr>
        <p:blipFill>
          <a:blip r:embed="rId4"/>
          <a:stretch>
            <a:fillRect/>
          </a:stretch>
        </p:blipFill>
        <p:spPr>
          <a:xfrm>
            <a:off x="4569866" y="2624328"/>
            <a:ext cx="237744" cy="237744"/>
          </a:xfrm>
          <a:prstGeom prst="rect">
            <a:avLst/>
          </a:prstGeom>
        </p:spPr>
      </p:pic>
      <p:sp>
        <p:nvSpPr>
          <p:cNvPr id="29" name="TextBox 28"/>
          <p:cNvSpPr txBox="1"/>
          <p:nvPr/>
        </p:nvSpPr>
        <p:spPr>
          <a:xfrm>
            <a:off x="4460138" y="3081528"/>
            <a:ext cx="1397965" cy="274320"/>
          </a:xfrm>
          <a:prstGeom prst="rect">
            <a:avLst/>
          </a:prstGeom>
          <a:noFill/>
        </p:spPr>
        <p:txBody>
          <a:bodyPr wrap="square" lIns="0" rIns="0" tIns="0" bIns="0" anchor="t">
            <a:spAutoFit/>
          </a:bodyPr>
          <a:lstStyle/>
          <a:p>
            <a:pPr algn="l">
              <a:lnSpc>
                <a:spcPct val="100000"/>
              </a:lnSpc>
            </a:pPr>
            <a:r>
              <a:rPr sz="1150" b="1" i="0">
                <a:solidFill>
                  <a:srgbClr val="16181D"/>
                </a:solidFill>
                <a:latin typeface="Montserrat"/>
              </a:rPr>
              <a:t>CEO / SDM</a:t>
            </a:r>
          </a:p>
        </p:txBody>
      </p:sp>
      <p:sp>
        <p:nvSpPr>
          <p:cNvPr id="30" name="TextBox 29"/>
          <p:cNvSpPr txBox="1"/>
          <p:nvPr/>
        </p:nvSpPr>
        <p:spPr>
          <a:xfrm>
            <a:off x="4460138" y="3374135"/>
            <a:ext cx="1397965" cy="685800"/>
          </a:xfrm>
          <a:prstGeom prst="rect">
            <a:avLst/>
          </a:prstGeom>
          <a:noFill/>
        </p:spPr>
        <p:txBody>
          <a:bodyPr wrap="square" lIns="0" rIns="0" tIns="0" bIns="0" anchor="t">
            <a:spAutoFit/>
          </a:bodyPr>
          <a:lstStyle/>
          <a:p>
            <a:pPr algn="l">
              <a:lnSpc>
                <a:spcPct val="120000"/>
              </a:lnSpc>
            </a:pPr>
            <a:r>
              <a:rPr sz="950" b="0" i="0">
                <a:solidFill>
                  <a:srgbClr val="6E7180"/>
                </a:solidFill>
                <a:latin typeface="Geist"/>
              </a:rPr>
              <a:t>Verifies docs +</a:t>
            </a:r>
          </a:p>
          <a:p>
            <a:pPr algn="l">
              <a:lnSpc>
                <a:spcPct val="120000"/>
              </a:lnSpc>
            </a:pPr>
            <a:r>
              <a:rPr sz="950" b="0" i="0">
                <a:solidFill>
                  <a:srgbClr val="6E7180"/>
                </a:solidFill>
                <a:latin typeface="Geist"/>
              </a:rPr>
              <a:t>signs Form II</a:t>
            </a:r>
          </a:p>
        </p:txBody>
      </p:sp>
      <p:cxnSp>
        <p:nvCxnSpPr>
          <p:cNvPr id="31" name="Connector 30"/>
          <p:cNvCxnSpPr/>
          <p:nvPr/>
        </p:nvCxnSpPr>
        <p:spPr>
          <a:xfrm>
            <a:off x="4460138.333333334" y="4114800"/>
            <a:ext cx="1397965.166666667" cy="0"/>
          </a:xfrm>
          <a:prstGeom prst="line">
            <a:avLst/>
          </a:prstGeom>
          <a:ln w="9525">
            <a:solidFill>
              <a:srgbClr val="E8E9EE"/>
            </a:solidFill>
          </a:ln>
          <a:effectLst/>
        </p:spPr>
      </p:cxnSp>
      <p:sp>
        <p:nvSpPr>
          <p:cNvPr id="32" name="Rounded Rectangle 31"/>
          <p:cNvSpPr/>
          <p:nvPr/>
        </p:nvSpPr>
        <p:spPr>
          <a:xfrm>
            <a:off x="4460138" y="4215384"/>
            <a:ext cx="1397965" cy="329184"/>
          </a:xfrm>
          <a:prstGeom prst="roundRect">
            <a:avLst>
              <a:gd name="adj" fmla="val 50000"/>
            </a:avLst>
          </a:prstGeom>
          <a:solidFill>
            <a:srgbClr val="F7F7FA"/>
          </a:solidFill>
          <a:ln>
            <a:noFill/>
          </a:ln>
          <a:effectLst/>
        </p:spPr>
        <p:txBody>
          <a:bodyPr rtlCol="0" anchor="ctr"/>
          <a:lstStyle/>
          <a:p>
            <a:pPr algn="ctr"/>
          </a:p>
        </p:txBody>
      </p:sp>
      <p:sp>
        <p:nvSpPr>
          <p:cNvPr id="33" name="TextBox 32"/>
          <p:cNvSpPr txBox="1"/>
          <p:nvPr/>
        </p:nvSpPr>
        <p:spPr>
          <a:xfrm>
            <a:off x="4478426" y="4215384"/>
            <a:ext cx="1361389" cy="329184"/>
          </a:xfrm>
          <a:prstGeom prst="rect">
            <a:avLst/>
          </a:prstGeom>
          <a:noFill/>
        </p:spPr>
        <p:txBody>
          <a:bodyPr wrap="square" lIns="0" rIns="0" tIns="0" bIns="0" anchor="ctr">
            <a:spAutoFit/>
          </a:bodyPr>
          <a:lstStyle/>
          <a:p>
            <a:pPr algn="ctr">
              <a:lnSpc>
                <a:spcPct val="100000"/>
              </a:lnSpc>
            </a:pPr>
            <a:r>
              <a:rPr sz="900" b="1" i="0">
                <a:solidFill>
                  <a:srgbClr val="4A35FF"/>
                </a:solidFill>
                <a:latin typeface="Montserrat"/>
              </a:rPr>
              <a:t>30 days</a:t>
            </a:r>
          </a:p>
        </p:txBody>
      </p:sp>
      <p:sp>
        <p:nvSpPr>
          <p:cNvPr id="34" name="TextBox 33"/>
          <p:cNvSpPr txBox="1"/>
          <p:nvPr/>
        </p:nvSpPr>
        <p:spPr>
          <a:xfrm>
            <a:off x="5986119" y="3246120"/>
            <a:ext cx="237744" cy="365760"/>
          </a:xfrm>
          <a:prstGeom prst="rect">
            <a:avLst/>
          </a:prstGeom>
          <a:noFill/>
        </p:spPr>
        <p:txBody>
          <a:bodyPr wrap="square" lIns="0" rIns="0" tIns="0" bIns="0" anchor="t">
            <a:spAutoFit/>
          </a:bodyPr>
          <a:lstStyle/>
          <a:p>
            <a:pPr algn="ctr">
              <a:lnSpc>
                <a:spcPct val="128000"/>
              </a:lnSpc>
            </a:pPr>
            <a:r>
              <a:rPr sz="1500" b="0" i="0">
                <a:solidFill>
                  <a:srgbClr val="6E7180"/>
                </a:solidFill>
                <a:latin typeface="Geist"/>
              </a:rPr>
              <a:t>→</a:t>
            </a:r>
          </a:p>
        </p:txBody>
      </p:sp>
      <p:sp>
        <p:nvSpPr>
          <p:cNvPr id="35" name="Rounded Rectangle 34"/>
          <p:cNvSpPr/>
          <p:nvPr/>
        </p:nvSpPr>
        <p:spPr>
          <a:xfrm>
            <a:off x="6187287" y="2331720"/>
            <a:ext cx="1690573" cy="2331720"/>
          </a:xfrm>
          <a:prstGeom prst="roundRect">
            <a:avLst>
              <a:gd name="adj" fmla="val 7000"/>
            </a:avLst>
          </a:prstGeom>
          <a:solidFill>
            <a:srgbClr val="FFFFFF"/>
          </a:solidFill>
          <a:ln w="9525">
            <a:solidFill>
              <a:srgbClr val="E8E9EE"/>
            </a:solidFill>
          </a:ln>
          <a:effectLst/>
        </p:spPr>
        <p:txBody>
          <a:bodyPr rtlCol="0" anchor="ctr"/>
          <a:lstStyle/>
          <a:p>
            <a:pPr algn="ctr"/>
          </a:p>
        </p:txBody>
      </p:sp>
      <p:sp>
        <p:nvSpPr>
          <p:cNvPr id="36" name="Oval 35"/>
          <p:cNvSpPr/>
          <p:nvPr/>
        </p:nvSpPr>
        <p:spPr>
          <a:xfrm>
            <a:off x="6333591" y="2514600"/>
            <a:ext cx="457200" cy="457200"/>
          </a:xfrm>
          <a:prstGeom prst="ellipse">
            <a:avLst/>
          </a:prstGeom>
          <a:solidFill>
            <a:srgbClr val="EFEDFF"/>
          </a:solidFill>
          <a:ln>
            <a:noFill/>
          </a:ln>
          <a:effectLst/>
        </p:spPr>
        <p:txBody>
          <a:bodyPr rtlCol="0" anchor="ctr"/>
          <a:lstStyle/>
          <a:p>
            <a:pPr algn="ctr"/>
          </a:p>
        </p:txBody>
      </p:sp>
      <p:pic>
        <p:nvPicPr>
          <p:cNvPr id="37" name="Picture 36" descr="stamp_4A35FF_256_2.0.png"/>
          <p:cNvPicPr>
            <a:picLocks noChangeAspect="1"/>
          </p:cNvPicPr>
          <p:nvPr/>
        </p:nvPicPr>
        <p:blipFill>
          <a:blip r:embed="rId5"/>
          <a:stretch>
            <a:fillRect/>
          </a:stretch>
        </p:blipFill>
        <p:spPr>
          <a:xfrm>
            <a:off x="6443319" y="2624328"/>
            <a:ext cx="237744" cy="237744"/>
          </a:xfrm>
          <a:prstGeom prst="rect">
            <a:avLst/>
          </a:prstGeom>
        </p:spPr>
      </p:pic>
      <p:sp>
        <p:nvSpPr>
          <p:cNvPr id="38" name="TextBox 37"/>
          <p:cNvSpPr txBox="1"/>
          <p:nvPr/>
        </p:nvSpPr>
        <p:spPr>
          <a:xfrm>
            <a:off x="6333591" y="3081528"/>
            <a:ext cx="1397965" cy="274320"/>
          </a:xfrm>
          <a:prstGeom prst="rect">
            <a:avLst/>
          </a:prstGeom>
          <a:noFill/>
        </p:spPr>
        <p:txBody>
          <a:bodyPr wrap="square" lIns="0" rIns="0" tIns="0" bIns="0" anchor="t">
            <a:spAutoFit/>
          </a:bodyPr>
          <a:lstStyle/>
          <a:p>
            <a:pPr algn="l">
              <a:lnSpc>
                <a:spcPct val="100000"/>
              </a:lnSpc>
            </a:pPr>
            <a:r>
              <a:rPr sz="1150" b="1" i="0">
                <a:solidFill>
                  <a:srgbClr val="16181D"/>
                </a:solidFill>
                <a:latin typeface="Montserrat"/>
              </a:rPr>
              <a:t>CSC / DM</a:t>
            </a:r>
          </a:p>
        </p:txBody>
      </p:sp>
      <p:sp>
        <p:nvSpPr>
          <p:cNvPr id="39" name="TextBox 38"/>
          <p:cNvSpPr txBox="1"/>
          <p:nvPr/>
        </p:nvSpPr>
        <p:spPr>
          <a:xfrm>
            <a:off x="6333591" y="3374135"/>
            <a:ext cx="1397965" cy="685800"/>
          </a:xfrm>
          <a:prstGeom prst="rect">
            <a:avLst/>
          </a:prstGeom>
          <a:noFill/>
        </p:spPr>
        <p:txBody>
          <a:bodyPr wrap="square" lIns="0" rIns="0" tIns="0" bIns="0" anchor="t">
            <a:spAutoFit/>
          </a:bodyPr>
          <a:lstStyle/>
          <a:p>
            <a:pPr algn="l">
              <a:lnSpc>
                <a:spcPct val="120000"/>
              </a:lnSpc>
            </a:pPr>
            <a:r>
              <a:rPr sz="950" b="0" i="0">
                <a:solidFill>
                  <a:srgbClr val="6E7180"/>
                </a:solidFill>
                <a:latin typeface="Geist"/>
              </a:rPr>
              <a:t>Sanctions +</a:t>
            </a:r>
          </a:p>
          <a:p>
            <a:pPr algn="l">
              <a:lnSpc>
                <a:spcPct val="120000"/>
              </a:lnSpc>
            </a:pPr>
            <a:r>
              <a:rPr sz="950" b="0" i="0">
                <a:solidFill>
                  <a:srgbClr val="6E7180"/>
                </a:solidFill>
                <a:latin typeface="Geist"/>
              </a:rPr>
              <a:t>signs Form III</a:t>
            </a:r>
          </a:p>
        </p:txBody>
      </p:sp>
      <p:cxnSp>
        <p:nvCxnSpPr>
          <p:cNvPr id="40" name="Connector 39"/>
          <p:cNvCxnSpPr/>
          <p:nvPr/>
        </p:nvCxnSpPr>
        <p:spPr>
          <a:xfrm>
            <a:off x="6333591.5" y="4114800"/>
            <a:ext cx="1397965.166666667" cy="0"/>
          </a:xfrm>
          <a:prstGeom prst="line">
            <a:avLst/>
          </a:prstGeom>
          <a:ln w="9525">
            <a:solidFill>
              <a:srgbClr val="E8E9EE"/>
            </a:solidFill>
          </a:ln>
          <a:effectLst/>
        </p:spPr>
      </p:cxnSp>
      <p:sp>
        <p:nvSpPr>
          <p:cNvPr id="41" name="Rounded Rectangle 40"/>
          <p:cNvSpPr/>
          <p:nvPr/>
        </p:nvSpPr>
        <p:spPr>
          <a:xfrm>
            <a:off x="6333591" y="4215384"/>
            <a:ext cx="1397965" cy="329184"/>
          </a:xfrm>
          <a:prstGeom prst="roundRect">
            <a:avLst>
              <a:gd name="adj" fmla="val 50000"/>
            </a:avLst>
          </a:prstGeom>
          <a:solidFill>
            <a:srgbClr val="F7F7FA"/>
          </a:solidFill>
          <a:ln>
            <a:noFill/>
          </a:ln>
          <a:effectLst/>
        </p:spPr>
        <p:txBody>
          <a:bodyPr rtlCol="0" anchor="ctr"/>
          <a:lstStyle/>
          <a:p>
            <a:pPr algn="ctr"/>
          </a:p>
        </p:txBody>
      </p:sp>
      <p:sp>
        <p:nvSpPr>
          <p:cNvPr id="42" name="TextBox 41"/>
          <p:cNvSpPr txBox="1"/>
          <p:nvPr/>
        </p:nvSpPr>
        <p:spPr>
          <a:xfrm>
            <a:off x="6351879" y="4215384"/>
            <a:ext cx="1361389" cy="329184"/>
          </a:xfrm>
          <a:prstGeom prst="rect">
            <a:avLst/>
          </a:prstGeom>
          <a:noFill/>
        </p:spPr>
        <p:txBody>
          <a:bodyPr wrap="square" lIns="0" rIns="0" tIns="0" bIns="0" anchor="ctr">
            <a:spAutoFit/>
          </a:bodyPr>
          <a:lstStyle/>
          <a:p>
            <a:pPr algn="ctr">
              <a:lnSpc>
                <a:spcPct val="100000"/>
              </a:lnSpc>
            </a:pPr>
            <a:r>
              <a:rPr sz="900" b="1" i="0">
                <a:solidFill>
                  <a:srgbClr val="4A35FF"/>
                </a:solidFill>
                <a:latin typeface="Montserrat"/>
              </a:rPr>
              <a:t>15 days</a:t>
            </a:r>
          </a:p>
        </p:txBody>
      </p:sp>
      <p:sp>
        <p:nvSpPr>
          <p:cNvPr id="43" name="TextBox 42"/>
          <p:cNvSpPr txBox="1"/>
          <p:nvPr/>
        </p:nvSpPr>
        <p:spPr>
          <a:xfrm>
            <a:off x="7859572" y="3246120"/>
            <a:ext cx="237744" cy="365760"/>
          </a:xfrm>
          <a:prstGeom prst="rect">
            <a:avLst/>
          </a:prstGeom>
          <a:noFill/>
        </p:spPr>
        <p:txBody>
          <a:bodyPr wrap="square" lIns="0" rIns="0" tIns="0" bIns="0" anchor="t">
            <a:spAutoFit/>
          </a:bodyPr>
          <a:lstStyle/>
          <a:p>
            <a:pPr algn="ctr">
              <a:lnSpc>
                <a:spcPct val="128000"/>
              </a:lnSpc>
            </a:pPr>
            <a:r>
              <a:rPr sz="1500" b="0" i="0">
                <a:solidFill>
                  <a:srgbClr val="6E7180"/>
                </a:solidFill>
                <a:latin typeface="Geist"/>
              </a:rPr>
              <a:t>→</a:t>
            </a:r>
          </a:p>
        </p:txBody>
      </p:sp>
      <p:sp>
        <p:nvSpPr>
          <p:cNvPr id="44" name="Rounded Rectangle 43"/>
          <p:cNvSpPr/>
          <p:nvPr/>
        </p:nvSpPr>
        <p:spPr>
          <a:xfrm>
            <a:off x="8060740" y="2331720"/>
            <a:ext cx="1690573" cy="2331720"/>
          </a:xfrm>
          <a:prstGeom prst="roundRect">
            <a:avLst>
              <a:gd name="adj" fmla="val 7000"/>
            </a:avLst>
          </a:prstGeom>
          <a:solidFill>
            <a:srgbClr val="FFFFFF"/>
          </a:solidFill>
          <a:ln w="9525">
            <a:solidFill>
              <a:srgbClr val="E8E9EE"/>
            </a:solidFill>
          </a:ln>
          <a:effectLst/>
        </p:spPr>
        <p:txBody>
          <a:bodyPr rtlCol="0" anchor="ctr"/>
          <a:lstStyle/>
          <a:p>
            <a:pPr algn="ctr"/>
          </a:p>
        </p:txBody>
      </p:sp>
      <p:sp>
        <p:nvSpPr>
          <p:cNvPr id="45" name="Oval 44"/>
          <p:cNvSpPr/>
          <p:nvPr/>
        </p:nvSpPr>
        <p:spPr>
          <a:xfrm>
            <a:off x="8207044" y="2514600"/>
            <a:ext cx="457200" cy="457200"/>
          </a:xfrm>
          <a:prstGeom prst="ellipse">
            <a:avLst/>
          </a:prstGeom>
          <a:solidFill>
            <a:srgbClr val="E9F7F0"/>
          </a:solidFill>
          <a:ln>
            <a:noFill/>
          </a:ln>
          <a:effectLst/>
        </p:spPr>
        <p:txBody>
          <a:bodyPr rtlCol="0" anchor="ctr"/>
          <a:lstStyle/>
          <a:p>
            <a:pPr algn="ctr"/>
          </a:p>
        </p:txBody>
      </p:sp>
      <p:pic>
        <p:nvPicPr>
          <p:cNvPr id="46" name="Picture 45" descr="banknote_0A9955_256_2.0.png"/>
          <p:cNvPicPr>
            <a:picLocks noChangeAspect="1"/>
          </p:cNvPicPr>
          <p:nvPr/>
        </p:nvPicPr>
        <p:blipFill>
          <a:blip r:embed="rId6"/>
          <a:stretch>
            <a:fillRect/>
          </a:stretch>
        </p:blipFill>
        <p:spPr>
          <a:xfrm>
            <a:off x="8316772" y="2624328"/>
            <a:ext cx="237744" cy="237744"/>
          </a:xfrm>
          <a:prstGeom prst="rect">
            <a:avLst/>
          </a:prstGeom>
        </p:spPr>
      </p:pic>
      <p:sp>
        <p:nvSpPr>
          <p:cNvPr id="47" name="TextBox 46"/>
          <p:cNvSpPr txBox="1"/>
          <p:nvPr/>
        </p:nvSpPr>
        <p:spPr>
          <a:xfrm>
            <a:off x="8207044" y="3081528"/>
            <a:ext cx="1397965" cy="274320"/>
          </a:xfrm>
          <a:prstGeom prst="rect">
            <a:avLst/>
          </a:prstGeom>
          <a:noFill/>
        </p:spPr>
        <p:txBody>
          <a:bodyPr wrap="square" lIns="0" rIns="0" tIns="0" bIns="0" anchor="t">
            <a:spAutoFit/>
          </a:bodyPr>
          <a:lstStyle/>
          <a:p>
            <a:pPr algn="l">
              <a:lnSpc>
                <a:spcPct val="100000"/>
              </a:lnSpc>
            </a:pPr>
            <a:r>
              <a:rPr sz="1150" b="1" i="0">
                <a:solidFill>
                  <a:srgbClr val="16181D"/>
                </a:solidFill>
                <a:latin typeface="Montserrat"/>
              </a:rPr>
              <a:t>GIC / Settlement</a:t>
            </a:r>
          </a:p>
        </p:txBody>
      </p:sp>
      <p:sp>
        <p:nvSpPr>
          <p:cNvPr id="48" name="TextBox 47"/>
          <p:cNvSpPr txBox="1"/>
          <p:nvPr/>
        </p:nvSpPr>
        <p:spPr>
          <a:xfrm>
            <a:off x="8207044" y="3374135"/>
            <a:ext cx="1397965" cy="685800"/>
          </a:xfrm>
          <a:prstGeom prst="rect">
            <a:avLst/>
          </a:prstGeom>
          <a:noFill/>
        </p:spPr>
        <p:txBody>
          <a:bodyPr wrap="square" lIns="0" rIns="0" tIns="0" bIns="0" anchor="t">
            <a:spAutoFit/>
          </a:bodyPr>
          <a:lstStyle/>
          <a:p>
            <a:pPr algn="l">
              <a:lnSpc>
                <a:spcPct val="120000"/>
              </a:lnSpc>
            </a:pPr>
            <a:r>
              <a:rPr sz="950" b="0" i="0">
                <a:solidFill>
                  <a:srgbClr val="6E7180"/>
                </a:solidFill>
                <a:latin typeface="Geist"/>
              </a:rPr>
              <a:t>Pays the UTR into</a:t>
            </a:r>
          </a:p>
          <a:p>
            <a:pPr algn="l">
              <a:lnSpc>
                <a:spcPct val="120000"/>
              </a:lnSpc>
            </a:pPr>
            <a:r>
              <a:rPr sz="950" b="0" i="0">
                <a:solidFill>
                  <a:srgbClr val="6E7180"/>
                </a:solidFill>
                <a:latin typeface="Geist"/>
              </a:rPr>
              <a:t>the bank account</a:t>
            </a:r>
          </a:p>
        </p:txBody>
      </p:sp>
      <p:cxnSp>
        <p:nvCxnSpPr>
          <p:cNvPr id="49" name="Connector 48"/>
          <p:cNvCxnSpPr/>
          <p:nvPr/>
        </p:nvCxnSpPr>
        <p:spPr>
          <a:xfrm>
            <a:off x="8207044.666666667" y="4114800"/>
            <a:ext cx="1397965.166666667" cy="0"/>
          </a:xfrm>
          <a:prstGeom prst="line">
            <a:avLst/>
          </a:prstGeom>
          <a:ln w="9525">
            <a:solidFill>
              <a:srgbClr val="E8E9EE"/>
            </a:solidFill>
          </a:ln>
          <a:effectLst/>
        </p:spPr>
      </p:cxnSp>
      <p:sp>
        <p:nvSpPr>
          <p:cNvPr id="50" name="Rounded Rectangle 49"/>
          <p:cNvSpPr/>
          <p:nvPr/>
        </p:nvSpPr>
        <p:spPr>
          <a:xfrm>
            <a:off x="8207044" y="4215384"/>
            <a:ext cx="1397965" cy="329184"/>
          </a:xfrm>
          <a:prstGeom prst="roundRect">
            <a:avLst>
              <a:gd name="adj" fmla="val 50000"/>
            </a:avLst>
          </a:prstGeom>
          <a:solidFill>
            <a:srgbClr val="F7F7FA"/>
          </a:solidFill>
          <a:ln>
            <a:noFill/>
          </a:ln>
          <a:effectLst/>
        </p:spPr>
        <p:txBody>
          <a:bodyPr rtlCol="0" anchor="ctr"/>
          <a:lstStyle/>
          <a:p>
            <a:pPr algn="ctr"/>
          </a:p>
        </p:txBody>
      </p:sp>
      <p:sp>
        <p:nvSpPr>
          <p:cNvPr id="51" name="TextBox 50"/>
          <p:cNvSpPr txBox="1"/>
          <p:nvPr/>
        </p:nvSpPr>
        <p:spPr>
          <a:xfrm>
            <a:off x="8225332" y="4215384"/>
            <a:ext cx="1361389" cy="329184"/>
          </a:xfrm>
          <a:prstGeom prst="rect">
            <a:avLst/>
          </a:prstGeom>
          <a:noFill/>
        </p:spPr>
        <p:txBody>
          <a:bodyPr wrap="square" lIns="0" rIns="0" tIns="0" bIns="0" anchor="ctr">
            <a:spAutoFit/>
          </a:bodyPr>
          <a:lstStyle/>
          <a:p>
            <a:pPr algn="ctr">
              <a:lnSpc>
                <a:spcPct val="100000"/>
              </a:lnSpc>
            </a:pPr>
            <a:r>
              <a:rPr sz="900" b="1" i="0">
                <a:solidFill>
                  <a:srgbClr val="0A9955"/>
                </a:solidFill>
                <a:latin typeface="Montserrat"/>
              </a:rPr>
              <a:t>15 days</a:t>
            </a:r>
          </a:p>
        </p:txBody>
      </p:sp>
      <p:sp>
        <p:nvSpPr>
          <p:cNvPr id="52" name="TextBox 51"/>
          <p:cNvSpPr txBox="1"/>
          <p:nvPr/>
        </p:nvSpPr>
        <p:spPr>
          <a:xfrm>
            <a:off x="9733025" y="3246120"/>
            <a:ext cx="237744" cy="365760"/>
          </a:xfrm>
          <a:prstGeom prst="rect">
            <a:avLst/>
          </a:prstGeom>
          <a:noFill/>
        </p:spPr>
        <p:txBody>
          <a:bodyPr wrap="square" lIns="0" rIns="0" tIns="0" bIns="0" anchor="t">
            <a:spAutoFit/>
          </a:bodyPr>
          <a:lstStyle/>
          <a:p>
            <a:pPr algn="ctr">
              <a:lnSpc>
                <a:spcPct val="128000"/>
              </a:lnSpc>
            </a:pPr>
            <a:r>
              <a:rPr sz="1500" b="0" i="0">
                <a:solidFill>
                  <a:srgbClr val="6E7180"/>
                </a:solidFill>
                <a:latin typeface="Geist"/>
              </a:rPr>
              <a:t>→</a:t>
            </a:r>
          </a:p>
        </p:txBody>
      </p:sp>
      <p:sp>
        <p:nvSpPr>
          <p:cNvPr id="53" name="Rounded Rectangle 52"/>
          <p:cNvSpPr/>
          <p:nvPr/>
        </p:nvSpPr>
        <p:spPr>
          <a:xfrm>
            <a:off x="9934193" y="2331720"/>
            <a:ext cx="1690573" cy="2331720"/>
          </a:xfrm>
          <a:prstGeom prst="roundRect">
            <a:avLst>
              <a:gd name="adj" fmla="val 7000"/>
            </a:avLst>
          </a:prstGeom>
          <a:solidFill>
            <a:srgbClr val="FFFFFF"/>
          </a:solidFill>
          <a:ln w="9525">
            <a:solidFill>
              <a:srgbClr val="E8E9EE"/>
            </a:solidFill>
          </a:ln>
          <a:effectLst/>
        </p:spPr>
        <p:txBody>
          <a:bodyPr rtlCol="0" anchor="ctr"/>
          <a:lstStyle/>
          <a:p>
            <a:pPr algn="ctr"/>
          </a:p>
        </p:txBody>
      </p:sp>
      <p:sp>
        <p:nvSpPr>
          <p:cNvPr id="54" name="Oval 53"/>
          <p:cNvSpPr/>
          <p:nvPr/>
        </p:nvSpPr>
        <p:spPr>
          <a:xfrm>
            <a:off x="10080497" y="2514600"/>
            <a:ext cx="457200" cy="457200"/>
          </a:xfrm>
          <a:prstGeom prst="ellipse">
            <a:avLst/>
          </a:prstGeom>
          <a:solidFill>
            <a:srgbClr val="E9F7F0"/>
          </a:solidFill>
          <a:ln>
            <a:noFill/>
          </a:ln>
          <a:effectLst/>
        </p:spPr>
        <p:txBody>
          <a:bodyPr rtlCol="0" anchor="ctr"/>
          <a:lstStyle/>
          <a:p>
            <a:pPr algn="ctr"/>
          </a:p>
        </p:txBody>
      </p:sp>
      <p:pic>
        <p:nvPicPr>
          <p:cNvPr id="55" name="Picture 54" descr="badge-check_0A9955_256_2.0.png"/>
          <p:cNvPicPr>
            <a:picLocks noChangeAspect="1"/>
          </p:cNvPicPr>
          <p:nvPr/>
        </p:nvPicPr>
        <p:blipFill>
          <a:blip r:embed="rId7"/>
          <a:stretch>
            <a:fillRect/>
          </a:stretch>
        </p:blipFill>
        <p:spPr>
          <a:xfrm>
            <a:off x="10190225" y="2624328"/>
            <a:ext cx="237744" cy="237744"/>
          </a:xfrm>
          <a:prstGeom prst="rect">
            <a:avLst/>
          </a:prstGeom>
        </p:spPr>
      </p:pic>
      <p:sp>
        <p:nvSpPr>
          <p:cNvPr id="56" name="TextBox 55"/>
          <p:cNvSpPr txBox="1"/>
          <p:nvPr/>
        </p:nvSpPr>
        <p:spPr>
          <a:xfrm>
            <a:off x="10080497" y="3081528"/>
            <a:ext cx="1397965" cy="274320"/>
          </a:xfrm>
          <a:prstGeom prst="rect">
            <a:avLst/>
          </a:prstGeom>
          <a:noFill/>
        </p:spPr>
        <p:txBody>
          <a:bodyPr wrap="square" lIns="0" rIns="0" tIns="0" bIns="0" anchor="t">
            <a:spAutoFit/>
          </a:bodyPr>
          <a:lstStyle/>
          <a:p>
            <a:pPr algn="l">
              <a:lnSpc>
                <a:spcPct val="100000"/>
              </a:lnSpc>
            </a:pPr>
            <a:r>
              <a:rPr sz="1150" b="1" i="0">
                <a:solidFill>
                  <a:srgbClr val="16181D"/>
                </a:solidFill>
                <a:latin typeface="Montserrat"/>
              </a:rPr>
              <a:t>PAID</a:t>
            </a:r>
          </a:p>
        </p:txBody>
      </p:sp>
      <p:sp>
        <p:nvSpPr>
          <p:cNvPr id="57" name="TextBox 56"/>
          <p:cNvSpPr txBox="1"/>
          <p:nvPr/>
        </p:nvSpPr>
        <p:spPr>
          <a:xfrm>
            <a:off x="10080497" y="3374135"/>
            <a:ext cx="1397965" cy="685800"/>
          </a:xfrm>
          <a:prstGeom prst="rect">
            <a:avLst/>
          </a:prstGeom>
          <a:noFill/>
        </p:spPr>
        <p:txBody>
          <a:bodyPr wrap="square" lIns="0" rIns="0" tIns="0" bIns="0" anchor="t">
            <a:spAutoFit/>
          </a:bodyPr>
          <a:lstStyle/>
          <a:p>
            <a:pPr algn="l">
              <a:lnSpc>
                <a:spcPct val="120000"/>
              </a:lnSpc>
            </a:pPr>
            <a:r>
              <a:rPr sz="950" b="0" i="0">
                <a:solidFill>
                  <a:srgbClr val="6E7180"/>
                </a:solidFill>
                <a:latin typeface="Geist"/>
              </a:rPr>
              <a:t>Terminal state,</a:t>
            </a:r>
          </a:p>
          <a:p>
            <a:pPr algn="l">
              <a:lnSpc>
                <a:spcPct val="120000"/>
              </a:lnSpc>
            </a:pPr>
            <a:r>
              <a:rPr sz="950" b="0" i="0">
                <a:solidFill>
                  <a:srgbClr val="6E7180"/>
                </a:solidFill>
                <a:latin typeface="Geist"/>
              </a:rPr>
              <a:t>full audit trail</a:t>
            </a:r>
          </a:p>
        </p:txBody>
      </p:sp>
      <p:cxnSp>
        <p:nvCxnSpPr>
          <p:cNvPr id="58" name="Connector 57"/>
          <p:cNvCxnSpPr/>
          <p:nvPr/>
        </p:nvCxnSpPr>
        <p:spPr>
          <a:xfrm>
            <a:off x="10080497.833333334" y="4114800"/>
            <a:ext cx="1397965.166666666" cy="0"/>
          </a:xfrm>
          <a:prstGeom prst="line">
            <a:avLst/>
          </a:prstGeom>
          <a:ln w="9525">
            <a:solidFill>
              <a:srgbClr val="E8E9EE"/>
            </a:solidFill>
          </a:ln>
          <a:effectLst/>
        </p:spPr>
      </p:cxnSp>
      <p:sp>
        <p:nvSpPr>
          <p:cNvPr id="59" name="Rounded Rectangle 58"/>
          <p:cNvSpPr/>
          <p:nvPr/>
        </p:nvSpPr>
        <p:spPr>
          <a:xfrm>
            <a:off x="10080497" y="4215384"/>
            <a:ext cx="1397965" cy="329184"/>
          </a:xfrm>
          <a:prstGeom prst="roundRect">
            <a:avLst>
              <a:gd name="adj" fmla="val 50000"/>
            </a:avLst>
          </a:prstGeom>
          <a:solidFill>
            <a:srgbClr val="F7F7FA"/>
          </a:solidFill>
          <a:ln>
            <a:noFill/>
          </a:ln>
          <a:effectLst/>
        </p:spPr>
        <p:txBody>
          <a:bodyPr rtlCol="0" anchor="ctr"/>
          <a:lstStyle/>
          <a:p>
            <a:pPr algn="ctr"/>
          </a:p>
        </p:txBody>
      </p:sp>
      <p:sp>
        <p:nvSpPr>
          <p:cNvPr id="60" name="TextBox 59"/>
          <p:cNvSpPr txBox="1"/>
          <p:nvPr/>
        </p:nvSpPr>
        <p:spPr>
          <a:xfrm>
            <a:off x="10098785" y="4215384"/>
            <a:ext cx="1361389" cy="329184"/>
          </a:xfrm>
          <a:prstGeom prst="rect">
            <a:avLst/>
          </a:prstGeom>
          <a:noFill/>
        </p:spPr>
        <p:txBody>
          <a:bodyPr wrap="square" lIns="0" rIns="0" tIns="0" bIns="0" anchor="ctr">
            <a:spAutoFit/>
          </a:bodyPr>
          <a:lstStyle/>
          <a:p>
            <a:pPr algn="ctr">
              <a:lnSpc>
                <a:spcPct val="100000"/>
              </a:lnSpc>
            </a:pPr>
            <a:r>
              <a:rPr sz="900" b="1" i="0">
                <a:solidFill>
                  <a:srgbClr val="0A9955"/>
                </a:solidFill>
                <a:latin typeface="Montserrat"/>
              </a:rPr>
              <a:t>≈ 60 d</a:t>
            </a:r>
          </a:p>
        </p:txBody>
      </p:sp>
      <p:sp>
        <p:nvSpPr>
          <p:cNvPr id="61" name="Rounded Rectangle 60"/>
          <p:cNvSpPr/>
          <p:nvPr/>
        </p:nvSpPr>
        <p:spPr>
          <a:xfrm>
            <a:off x="566928" y="4937760"/>
            <a:ext cx="5440680" cy="1051560"/>
          </a:xfrm>
          <a:prstGeom prst="roundRect">
            <a:avLst>
              <a:gd name="adj" fmla="val 10000"/>
            </a:avLst>
          </a:prstGeom>
          <a:solidFill>
            <a:srgbClr val="F7F7FA"/>
          </a:solidFill>
          <a:ln>
            <a:noFill/>
          </a:ln>
          <a:effectLst/>
        </p:spPr>
        <p:txBody>
          <a:bodyPr rtlCol="0" anchor="ctr"/>
          <a:lstStyle/>
          <a:p>
            <a:pPr algn="ctr"/>
          </a:p>
        </p:txBody>
      </p:sp>
      <p:sp>
        <p:nvSpPr>
          <p:cNvPr id="62" name="Oval 61"/>
          <p:cNvSpPr/>
          <p:nvPr/>
        </p:nvSpPr>
        <p:spPr>
          <a:xfrm>
            <a:off x="749808" y="5120640"/>
            <a:ext cx="384048" cy="384048"/>
          </a:xfrm>
          <a:prstGeom prst="ellipse">
            <a:avLst/>
          </a:prstGeom>
          <a:solidFill>
            <a:srgbClr val="FDF3E3"/>
          </a:solidFill>
          <a:ln>
            <a:noFill/>
          </a:ln>
          <a:effectLst/>
        </p:spPr>
        <p:txBody>
          <a:bodyPr rtlCol="0" anchor="ctr"/>
          <a:lstStyle/>
          <a:p>
            <a:pPr algn="ctr"/>
          </a:p>
        </p:txBody>
      </p:sp>
      <p:pic>
        <p:nvPicPr>
          <p:cNvPr id="63" name="Picture 62" descr="car-front_E58900_256_2.0.png"/>
          <p:cNvPicPr>
            <a:picLocks noChangeAspect="1"/>
          </p:cNvPicPr>
          <p:nvPr/>
        </p:nvPicPr>
        <p:blipFill>
          <a:blip r:embed="rId8"/>
          <a:stretch>
            <a:fillRect/>
          </a:stretch>
        </p:blipFill>
        <p:spPr>
          <a:xfrm>
            <a:off x="841979" y="5212811"/>
            <a:ext cx="199704" cy="199704"/>
          </a:xfrm>
          <a:prstGeom prst="rect">
            <a:avLst/>
          </a:prstGeom>
        </p:spPr>
      </p:pic>
      <p:sp>
        <p:nvSpPr>
          <p:cNvPr id="64" name="TextBox 63"/>
          <p:cNvSpPr txBox="1"/>
          <p:nvPr/>
        </p:nvSpPr>
        <p:spPr>
          <a:xfrm>
            <a:off x="1280160" y="5102352"/>
            <a:ext cx="4572000" cy="274320"/>
          </a:xfrm>
          <a:prstGeom prst="rect">
            <a:avLst/>
          </a:prstGeom>
          <a:noFill/>
        </p:spPr>
        <p:txBody>
          <a:bodyPr wrap="square" lIns="0" rIns="0" tIns="0" bIns="0" anchor="t">
            <a:spAutoFit/>
          </a:bodyPr>
          <a:lstStyle/>
          <a:p>
            <a:pPr algn="l">
              <a:lnSpc>
                <a:spcPct val="128000"/>
              </a:lnSpc>
            </a:pPr>
            <a:r>
              <a:rPr sz="1100" b="1" i="0">
                <a:solidFill>
                  <a:srgbClr val="16181D"/>
                </a:solidFill>
                <a:latin typeface="Montserrat"/>
              </a:rPr>
              <a:t>Before stage 1</a:t>
            </a:r>
          </a:p>
        </p:txBody>
      </p:sp>
      <p:sp>
        <p:nvSpPr>
          <p:cNvPr id="65" name="TextBox 64"/>
          <p:cNvSpPr txBox="1"/>
          <p:nvPr/>
        </p:nvSpPr>
        <p:spPr>
          <a:xfrm>
            <a:off x="1280160" y="5358384"/>
            <a:ext cx="4480560" cy="548640"/>
          </a:xfrm>
          <a:prstGeom prst="rect">
            <a:avLst/>
          </a:prstGeom>
          <a:noFill/>
        </p:spPr>
        <p:txBody>
          <a:bodyPr wrap="square" lIns="0" rIns="0" tIns="0" bIns="0" anchor="t">
            <a:spAutoFit/>
          </a:bodyPr>
          <a:lstStyle/>
          <a:p>
            <a:pPr algn="l">
              <a:lnSpc>
                <a:spcPct val="118000"/>
              </a:lnSpc>
            </a:pPr>
            <a:r>
              <a:rPr sz="950" b="0" i="0">
                <a:solidFill>
                  <a:srgbClr val="6E7180"/>
                </a:solidFill>
                <a:latin typeface="Geist"/>
              </a:rPr>
              <a:t>The FIR &amp; e-DAR entry happen as today; SAHAJ doesn't replace them. If the vehicle is later traced, the case leaves the scheme.</a:t>
            </a:r>
          </a:p>
        </p:txBody>
      </p:sp>
      <p:sp>
        <p:nvSpPr>
          <p:cNvPr id="66" name="Rounded Rectangle 65"/>
          <p:cNvSpPr/>
          <p:nvPr/>
        </p:nvSpPr>
        <p:spPr>
          <a:xfrm>
            <a:off x="6190488" y="4937760"/>
            <a:ext cx="5440680" cy="1051560"/>
          </a:xfrm>
          <a:prstGeom prst="roundRect">
            <a:avLst>
              <a:gd name="adj" fmla="val 10000"/>
            </a:avLst>
          </a:prstGeom>
          <a:solidFill>
            <a:srgbClr val="EFEDFF"/>
          </a:solidFill>
          <a:ln>
            <a:noFill/>
          </a:ln>
          <a:effectLst/>
        </p:spPr>
        <p:txBody>
          <a:bodyPr rtlCol="0" anchor="ctr"/>
          <a:lstStyle/>
          <a:p>
            <a:pPr algn="ctr"/>
          </a:p>
        </p:txBody>
      </p:sp>
      <p:sp>
        <p:nvSpPr>
          <p:cNvPr id="67" name="Oval 66"/>
          <p:cNvSpPr/>
          <p:nvPr/>
        </p:nvSpPr>
        <p:spPr>
          <a:xfrm>
            <a:off x="6373368" y="5120640"/>
            <a:ext cx="384048" cy="384048"/>
          </a:xfrm>
          <a:prstGeom prst="ellipse">
            <a:avLst/>
          </a:prstGeom>
          <a:solidFill>
            <a:srgbClr val="FFFFFF"/>
          </a:solidFill>
          <a:ln>
            <a:noFill/>
          </a:ln>
          <a:effectLst/>
        </p:spPr>
        <p:txBody>
          <a:bodyPr rtlCol="0" anchor="ctr"/>
          <a:lstStyle/>
          <a:p>
            <a:pPr algn="ctr"/>
          </a:p>
        </p:txBody>
      </p:sp>
      <p:pic>
        <p:nvPicPr>
          <p:cNvPr id="68" name="Picture 67" descr="circle-check_4A35FF_256_2.0.png"/>
          <p:cNvPicPr>
            <a:picLocks noChangeAspect="1"/>
          </p:cNvPicPr>
          <p:nvPr/>
        </p:nvPicPr>
        <p:blipFill>
          <a:blip r:embed="rId9"/>
          <a:stretch>
            <a:fillRect/>
          </a:stretch>
        </p:blipFill>
        <p:spPr>
          <a:xfrm>
            <a:off x="6465539" y="5212811"/>
            <a:ext cx="199704" cy="199704"/>
          </a:xfrm>
          <a:prstGeom prst="rect">
            <a:avLst/>
          </a:prstGeom>
        </p:spPr>
      </p:pic>
      <p:sp>
        <p:nvSpPr>
          <p:cNvPr id="69" name="TextBox 68"/>
          <p:cNvSpPr txBox="1"/>
          <p:nvPr/>
        </p:nvSpPr>
        <p:spPr>
          <a:xfrm>
            <a:off x="6903720" y="5102352"/>
            <a:ext cx="4572000" cy="274320"/>
          </a:xfrm>
          <a:prstGeom prst="rect">
            <a:avLst/>
          </a:prstGeom>
          <a:noFill/>
        </p:spPr>
        <p:txBody>
          <a:bodyPr wrap="square" lIns="0" rIns="0" tIns="0" bIns="0" anchor="t">
            <a:spAutoFit/>
          </a:bodyPr>
          <a:lstStyle/>
          <a:p>
            <a:pPr algn="l">
              <a:lnSpc>
                <a:spcPct val="128000"/>
              </a:lnSpc>
            </a:pPr>
            <a:r>
              <a:rPr sz="1100" b="1" i="0">
                <a:solidFill>
                  <a:srgbClr val="4A35FF"/>
                </a:solidFill>
                <a:latin typeface="Montserrat"/>
              </a:rPr>
              <a:t>Every state change is logged</a:t>
            </a:r>
          </a:p>
        </p:txBody>
      </p:sp>
      <p:sp>
        <p:nvSpPr>
          <p:cNvPr id="70" name="TextBox 69"/>
          <p:cNvSpPr txBox="1"/>
          <p:nvPr/>
        </p:nvSpPr>
        <p:spPr>
          <a:xfrm>
            <a:off x="6903720" y="5358384"/>
            <a:ext cx="4480560" cy="548640"/>
          </a:xfrm>
          <a:prstGeom prst="rect">
            <a:avLst/>
          </a:prstGeom>
          <a:noFill/>
        </p:spPr>
        <p:txBody>
          <a:bodyPr wrap="square" lIns="0" rIns="0" tIns="0" bIns="0" anchor="t">
            <a:spAutoFit/>
          </a:bodyPr>
          <a:lstStyle/>
          <a:p>
            <a:pPr algn="l">
              <a:lnSpc>
                <a:spcPct val="118000"/>
              </a:lnSpc>
            </a:pPr>
            <a:r>
              <a:rPr sz="950" b="0" i="0">
                <a:solidFill>
                  <a:srgbClr val="4A35FF"/>
                </a:solidFill>
                <a:latin typeface="Geist"/>
              </a:rPr>
              <a:t>Actor, role, before/after and time — append-only. Holds pause the clock; PAID is immutable and needs a UTR.</a:t>
            </a:r>
          </a:p>
        </p:txBody>
      </p:sp>
      <p:cxnSp>
        <p:nvCxnSpPr>
          <p:cNvPr id="71" name="Connector 70"/>
          <p:cNvCxnSpPr/>
          <p:nvPr/>
        </p:nvCxnSpPr>
        <p:spPr>
          <a:xfrm>
            <a:off x="566928" y="6455664"/>
            <a:ext cx="11057839" cy="0"/>
          </a:xfrm>
          <a:prstGeom prst="line">
            <a:avLst/>
          </a:prstGeom>
          <a:ln w="9525">
            <a:solidFill>
              <a:srgbClr val="E8E9EE"/>
            </a:solidFill>
          </a:ln>
          <a:effectLst/>
        </p:spPr>
      </p:cxnSp>
      <p:sp>
        <p:nvSpPr>
          <p:cNvPr id="72" name="TextBox 71"/>
          <p:cNvSpPr txBox="1"/>
          <p:nvPr/>
        </p:nvSpPr>
        <p:spPr>
          <a:xfrm>
            <a:off x="566928" y="6528816"/>
            <a:ext cx="86868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SAHAJ — Team Induction Brief   ·   Confidential</a:t>
            </a:r>
          </a:p>
        </p:txBody>
      </p:sp>
      <p:sp>
        <p:nvSpPr>
          <p:cNvPr id="73" name="TextBox 72"/>
          <p:cNvSpPr txBox="1"/>
          <p:nvPr/>
        </p:nvSpPr>
        <p:spPr>
          <a:xfrm>
            <a:off x="10344607" y="6528816"/>
            <a:ext cx="128016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09 / 22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7692847" y="274320"/>
            <a:ext cx="3931920" cy="219456"/>
          </a:xfrm>
          <a:prstGeom prst="rect">
            <a:avLst/>
          </a:prstGeom>
          <a:noFill/>
        </p:spPr>
        <p:txBody>
          <a:bodyPr wrap="square" lIns="0" rIns="0" tIns="0" bIns="0" anchor="t">
            <a:spAutoFit/>
          </a:bodyPr>
          <a:lstStyle/>
          <a:p>
            <a:pPr algn="r">
              <a:lnSpc>
                <a:spcPct val="128000"/>
              </a:lnSpc>
            </a:pPr>
            <a:r>
              <a:rPr sz="800" b="1" i="0" spc="150">
                <a:solidFill>
                  <a:srgbClr val="6E7180"/>
                </a:solidFill>
                <a:latin typeface="Montserrat"/>
              </a:rPr>
              <a:t>SECTION 2 OF 5   ·   HOW SAHAJ WORKS</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02 · HOW SAHAJ WORKS</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The family side — </a:t>
            </a:r>
            <a:r>
              <a:rPr sz="2250" b="1" i="0">
                <a:solidFill>
                  <a:srgbClr val="4A35FF"/>
                </a:solidFill>
                <a:latin typeface="Montserrat"/>
              </a:rPr>
              <a:t>the part that moves the number</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Everything here assumes a bereaved, feature-phone-adjacent user reached on WhatsApp. If the automation fails, it degrades to manual — the family is never stuck.</a:t>
            </a:r>
          </a:p>
        </p:txBody>
      </p:sp>
      <p:sp>
        <p:nvSpPr>
          <p:cNvPr id="8" name="Oval 7"/>
          <p:cNvSpPr/>
          <p:nvPr/>
        </p:nvSpPr>
        <p:spPr>
          <a:xfrm>
            <a:off x="566928" y="2148840"/>
            <a:ext cx="402336" cy="402336"/>
          </a:xfrm>
          <a:prstGeom prst="ellipse">
            <a:avLst/>
          </a:prstGeom>
          <a:solidFill>
            <a:srgbClr val="EFEDFF"/>
          </a:solidFill>
          <a:ln>
            <a:noFill/>
          </a:ln>
          <a:effectLst/>
        </p:spPr>
        <p:txBody>
          <a:bodyPr rtlCol="0" anchor="ctr"/>
          <a:lstStyle/>
          <a:p>
            <a:pPr algn="ctr"/>
          </a:p>
        </p:txBody>
      </p:sp>
      <p:pic>
        <p:nvPicPr>
          <p:cNvPr id="9" name="Picture 8" descr="link_4A35FF_256_2.0.png"/>
          <p:cNvPicPr>
            <a:picLocks noChangeAspect="1"/>
          </p:cNvPicPr>
          <p:nvPr/>
        </p:nvPicPr>
        <p:blipFill>
          <a:blip r:embed="rId2"/>
          <a:stretch>
            <a:fillRect/>
          </a:stretch>
        </p:blipFill>
        <p:spPr>
          <a:xfrm>
            <a:off x="663488" y="2245400"/>
            <a:ext cx="209214" cy="209214"/>
          </a:xfrm>
          <a:prstGeom prst="rect">
            <a:avLst/>
          </a:prstGeom>
        </p:spPr>
      </p:pic>
      <p:sp>
        <p:nvSpPr>
          <p:cNvPr id="10" name="TextBox 9"/>
          <p:cNvSpPr txBox="1"/>
          <p:nvPr/>
        </p:nvSpPr>
        <p:spPr>
          <a:xfrm>
            <a:off x="1133856" y="2130552"/>
            <a:ext cx="2377440" cy="457200"/>
          </a:xfrm>
          <a:prstGeom prst="rect">
            <a:avLst/>
          </a:prstGeom>
          <a:noFill/>
        </p:spPr>
        <p:txBody>
          <a:bodyPr wrap="square" lIns="0" rIns="0" tIns="0" bIns="0" anchor="t">
            <a:spAutoFit/>
          </a:bodyPr>
          <a:lstStyle/>
          <a:p>
            <a:pPr algn="l">
              <a:lnSpc>
                <a:spcPct val="105000"/>
              </a:lnSpc>
            </a:pPr>
            <a:r>
              <a:rPr sz="1200" b="1" i="0">
                <a:solidFill>
                  <a:srgbClr val="16181D"/>
                </a:solidFill>
                <a:latin typeface="Montserrat"/>
              </a:rPr>
              <a:t>Magic link, zero login</a:t>
            </a:r>
          </a:p>
        </p:txBody>
      </p:sp>
      <p:sp>
        <p:nvSpPr>
          <p:cNvPr id="11" name="TextBox 10"/>
          <p:cNvSpPr txBox="1"/>
          <p:nvPr/>
        </p:nvSpPr>
        <p:spPr>
          <a:xfrm>
            <a:off x="3602736" y="2130552"/>
            <a:ext cx="7872984" cy="685800"/>
          </a:xfrm>
          <a:prstGeom prst="rect">
            <a:avLst/>
          </a:prstGeom>
          <a:noFill/>
        </p:spPr>
        <p:txBody>
          <a:bodyPr wrap="square" lIns="0" rIns="0" tIns="0" bIns="0" anchor="t">
            <a:spAutoFit/>
          </a:bodyPr>
          <a:lstStyle/>
          <a:p>
            <a:pPr algn="l">
              <a:lnSpc>
                <a:spcPct val="122000"/>
              </a:lnSpc>
            </a:pPr>
            <a:r>
              <a:rPr sz="1050" b="0" i="0">
                <a:solidFill>
                  <a:srgbClr val="6E7180"/>
                </a:solidFill>
                <a:latin typeface="Geist"/>
              </a:rPr>
              <a:t>The SMS/WhatsApp link opens a government-styled page listing the documents needed, in plain Hindi. Photos upload from the camera.</a:t>
            </a:r>
          </a:p>
        </p:txBody>
      </p:sp>
      <p:sp>
        <p:nvSpPr>
          <p:cNvPr id="12" name="Oval 11"/>
          <p:cNvSpPr/>
          <p:nvPr/>
        </p:nvSpPr>
        <p:spPr>
          <a:xfrm>
            <a:off x="566928" y="2926080"/>
            <a:ext cx="402336" cy="402336"/>
          </a:xfrm>
          <a:prstGeom prst="ellipse">
            <a:avLst/>
          </a:prstGeom>
          <a:solidFill>
            <a:srgbClr val="E9F7F0"/>
          </a:solidFill>
          <a:ln>
            <a:noFill/>
          </a:ln>
          <a:effectLst/>
        </p:spPr>
        <p:txBody>
          <a:bodyPr rtlCol="0" anchor="ctr"/>
          <a:lstStyle/>
          <a:p>
            <a:pPr algn="ctr"/>
          </a:p>
        </p:txBody>
      </p:sp>
      <p:pic>
        <p:nvPicPr>
          <p:cNvPr id="13" name="Picture 12" descr="bot_0A9955_256_2.0.png"/>
          <p:cNvPicPr>
            <a:picLocks noChangeAspect="1"/>
          </p:cNvPicPr>
          <p:nvPr/>
        </p:nvPicPr>
        <p:blipFill>
          <a:blip r:embed="rId3"/>
          <a:stretch>
            <a:fillRect/>
          </a:stretch>
        </p:blipFill>
        <p:spPr>
          <a:xfrm>
            <a:off x="663488" y="3022640"/>
            <a:ext cx="209214" cy="209214"/>
          </a:xfrm>
          <a:prstGeom prst="rect">
            <a:avLst/>
          </a:prstGeom>
        </p:spPr>
      </p:pic>
      <p:sp>
        <p:nvSpPr>
          <p:cNvPr id="14" name="TextBox 13"/>
          <p:cNvSpPr txBox="1"/>
          <p:nvPr/>
        </p:nvSpPr>
        <p:spPr>
          <a:xfrm>
            <a:off x="1133856" y="2907792"/>
            <a:ext cx="2377440" cy="457200"/>
          </a:xfrm>
          <a:prstGeom prst="rect">
            <a:avLst/>
          </a:prstGeom>
          <a:noFill/>
        </p:spPr>
        <p:txBody>
          <a:bodyPr wrap="square" lIns="0" rIns="0" tIns="0" bIns="0" anchor="t">
            <a:spAutoFit/>
          </a:bodyPr>
          <a:lstStyle/>
          <a:p>
            <a:pPr algn="l">
              <a:lnSpc>
                <a:spcPct val="105000"/>
              </a:lnSpc>
            </a:pPr>
            <a:r>
              <a:rPr sz="1200" b="1" i="0">
                <a:solidFill>
                  <a:srgbClr val="16181D"/>
                </a:solidFill>
                <a:latin typeface="Montserrat"/>
              </a:rPr>
              <a:t>WhatsApp bot</a:t>
            </a:r>
          </a:p>
        </p:txBody>
      </p:sp>
      <p:sp>
        <p:nvSpPr>
          <p:cNvPr id="15" name="TextBox 14"/>
          <p:cNvSpPr txBox="1"/>
          <p:nvPr/>
        </p:nvSpPr>
        <p:spPr>
          <a:xfrm>
            <a:off x="3602736" y="2907792"/>
            <a:ext cx="7872984" cy="685800"/>
          </a:xfrm>
          <a:prstGeom prst="rect">
            <a:avLst/>
          </a:prstGeom>
          <a:noFill/>
        </p:spPr>
        <p:txBody>
          <a:bodyPr wrap="square" lIns="0" rIns="0" tIns="0" bIns="0" anchor="t">
            <a:spAutoFit/>
          </a:bodyPr>
          <a:lstStyle/>
          <a:p>
            <a:pPr algn="l">
              <a:lnSpc>
                <a:spcPct val="122000"/>
              </a:lnSpc>
            </a:pPr>
            <a:r>
              <a:rPr sz="1050" b="0" i="0">
                <a:solidFill>
                  <a:srgbClr val="6E7180"/>
                </a:solidFill>
                <a:latin typeface="Geist"/>
              </a:rPr>
              <a:t>The family just sends photos. An AI vision check files each one — or, if it's a valid but wrong document, files it under the right slot; after 3 tries it files anyway for manual review.</a:t>
            </a:r>
          </a:p>
        </p:txBody>
      </p:sp>
      <p:sp>
        <p:nvSpPr>
          <p:cNvPr id="16" name="Oval 15"/>
          <p:cNvSpPr/>
          <p:nvPr/>
        </p:nvSpPr>
        <p:spPr>
          <a:xfrm>
            <a:off x="566928" y="3703320"/>
            <a:ext cx="402336" cy="402336"/>
          </a:xfrm>
          <a:prstGeom prst="ellipse">
            <a:avLst/>
          </a:prstGeom>
          <a:solidFill>
            <a:srgbClr val="E7F4F4"/>
          </a:solidFill>
          <a:ln>
            <a:noFill/>
          </a:ln>
          <a:effectLst/>
        </p:spPr>
        <p:txBody>
          <a:bodyPr rtlCol="0" anchor="ctr"/>
          <a:lstStyle/>
          <a:p>
            <a:pPr algn="ctr"/>
          </a:p>
        </p:txBody>
      </p:sp>
      <p:pic>
        <p:nvPicPr>
          <p:cNvPr id="17" name="Picture 16" descr="shield-question_0E8A8A_256_2.0.png"/>
          <p:cNvPicPr>
            <a:picLocks noChangeAspect="1"/>
          </p:cNvPicPr>
          <p:nvPr/>
        </p:nvPicPr>
        <p:blipFill>
          <a:blip r:embed="rId4"/>
          <a:stretch>
            <a:fillRect/>
          </a:stretch>
        </p:blipFill>
        <p:spPr>
          <a:xfrm>
            <a:off x="663488" y="3799880"/>
            <a:ext cx="209214" cy="209214"/>
          </a:xfrm>
          <a:prstGeom prst="rect">
            <a:avLst/>
          </a:prstGeom>
        </p:spPr>
      </p:pic>
      <p:sp>
        <p:nvSpPr>
          <p:cNvPr id="18" name="TextBox 17"/>
          <p:cNvSpPr txBox="1"/>
          <p:nvPr/>
        </p:nvSpPr>
        <p:spPr>
          <a:xfrm>
            <a:off x="1133856" y="3685032"/>
            <a:ext cx="2377440" cy="457200"/>
          </a:xfrm>
          <a:prstGeom prst="rect">
            <a:avLst/>
          </a:prstGeom>
          <a:noFill/>
        </p:spPr>
        <p:txBody>
          <a:bodyPr wrap="square" lIns="0" rIns="0" tIns="0" bIns="0" anchor="t">
            <a:spAutoFit/>
          </a:bodyPr>
          <a:lstStyle/>
          <a:p>
            <a:pPr algn="l">
              <a:lnSpc>
                <a:spcPct val="105000"/>
              </a:lnSpc>
            </a:pPr>
            <a:r>
              <a:rPr sz="1200" b="1" i="0">
                <a:solidFill>
                  <a:srgbClr val="16181D"/>
                </a:solidFill>
                <a:latin typeface="Montserrat"/>
              </a:rPr>
              <a:t>Scam-fear handling</a:t>
            </a:r>
          </a:p>
        </p:txBody>
      </p:sp>
      <p:sp>
        <p:nvSpPr>
          <p:cNvPr id="19" name="TextBox 18"/>
          <p:cNvSpPr txBox="1"/>
          <p:nvPr/>
        </p:nvSpPr>
        <p:spPr>
          <a:xfrm>
            <a:off x="3602736" y="3685032"/>
            <a:ext cx="7872984" cy="685800"/>
          </a:xfrm>
          <a:prstGeom prst="rect">
            <a:avLst/>
          </a:prstGeom>
          <a:noFill/>
        </p:spPr>
        <p:txBody>
          <a:bodyPr wrap="square" lIns="0" rIns="0" tIns="0" bIns="0" anchor="t">
            <a:spAutoFit/>
          </a:bodyPr>
          <a:lstStyle/>
          <a:p>
            <a:pPr algn="l">
              <a:lnSpc>
                <a:spcPct val="122000"/>
              </a:lnSpc>
            </a:pPr>
            <a:r>
              <a:rPr sz="1050" b="0" i="0">
                <a:solidFill>
                  <a:srgbClr val="6E7180"/>
                </a:solidFill>
                <a:latin typeface="Geist"/>
              </a:rPr>
              <a:t>The bot names the scheme and the department first; free-text questions get scheme-scoped answers, including “is this a fraud?” reassurance.</a:t>
            </a:r>
          </a:p>
        </p:txBody>
      </p:sp>
      <p:sp>
        <p:nvSpPr>
          <p:cNvPr id="20" name="Oval 19"/>
          <p:cNvSpPr/>
          <p:nvPr/>
        </p:nvSpPr>
        <p:spPr>
          <a:xfrm>
            <a:off x="566928" y="4480560"/>
            <a:ext cx="402336" cy="402336"/>
          </a:xfrm>
          <a:prstGeom prst="ellipse">
            <a:avLst/>
          </a:prstGeom>
          <a:solidFill>
            <a:srgbClr val="FDF3E3"/>
          </a:solidFill>
          <a:ln>
            <a:noFill/>
          </a:ln>
          <a:effectLst/>
        </p:spPr>
        <p:txBody>
          <a:bodyPr rtlCol="0" anchor="ctr"/>
          <a:lstStyle/>
          <a:p>
            <a:pPr algn="ctr"/>
          </a:p>
        </p:txBody>
      </p:sp>
      <p:pic>
        <p:nvPicPr>
          <p:cNvPr id="21" name="Picture 20" descr="phone-call_E58900_256_2.0.png"/>
          <p:cNvPicPr>
            <a:picLocks noChangeAspect="1"/>
          </p:cNvPicPr>
          <p:nvPr/>
        </p:nvPicPr>
        <p:blipFill>
          <a:blip r:embed="rId5"/>
          <a:stretch>
            <a:fillRect/>
          </a:stretch>
        </p:blipFill>
        <p:spPr>
          <a:xfrm>
            <a:off x="663488" y="4577120"/>
            <a:ext cx="209214" cy="209214"/>
          </a:xfrm>
          <a:prstGeom prst="rect">
            <a:avLst/>
          </a:prstGeom>
        </p:spPr>
      </p:pic>
      <p:sp>
        <p:nvSpPr>
          <p:cNvPr id="22" name="TextBox 21"/>
          <p:cNvSpPr txBox="1"/>
          <p:nvPr/>
        </p:nvSpPr>
        <p:spPr>
          <a:xfrm>
            <a:off x="1133856" y="4462272"/>
            <a:ext cx="2377440" cy="457200"/>
          </a:xfrm>
          <a:prstGeom prst="rect">
            <a:avLst/>
          </a:prstGeom>
          <a:noFill/>
        </p:spPr>
        <p:txBody>
          <a:bodyPr wrap="square" lIns="0" rIns="0" tIns="0" bIns="0" anchor="t">
            <a:spAutoFit/>
          </a:bodyPr>
          <a:lstStyle/>
          <a:p>
            <a:pPr algn="l">
              <a:lnSpc>
                <a:spcPct val="105000"/>
              </a:lnSpc>
            </a:pPr>
            <a:r>
              <a:rPr sz="1200" b="1" i="0">
                <a:solidFill>
                  <a:srgbClr val="16181D"/>
                </a:solidFill>
                <a:latin typeface="Montserrat"/>
              </a:rPr>
              <a:t>Nudges, then an AI voice call</a:t>
            </a:r>
          </a:p>
        </p:txBody>
      </p:sp>
      <p:sp>
        <p:nvSpPr>
          <p:cNvPr id="23" name="TextBox 22"/>
          <p:cNvSpPr txBox="1"/>
          <p:nvPr/>
        </p:nvSpPr>
        <p:spPr>
          <a:xfrm>
            <a:off x="3602736" y="4462272"/>
            <a:ext cx="7872984" cy="685800"/>
          </a:xfrm>
          <a:prstGeom prst="rect">
            <a:avLst/>
          </a:prstGeom>
          <a:noFill/>
        </p:spPr>
        <p:txBody>
          <a:bodyPr wrap="square" lIns="0" rIns="0" tIns="0" bIns="0" anchor="t">
            <a:spAutoFit/>
          </a:bodyPr>
          <a:lstStyle/>
          <a:p>
            <a:pPr algn="l">
              <a:lnSpc>
                <a:spcPct val="122000"/>
              </a:lnSpc>
            </a:pPr>
            <a:r>
              <a:rPr sz="1050" b="0" i="0">
                <a:solidFill>
                  <a:srgbClr val="6E7180"/>
                </a:solidFill>
                <a:latin typeface="Geist"/>
              </a:rPr>
              <a:t>If documents don't arrive, capped WhatsApp/SMS nudges follow; after a wait, an AI voice call in natural Hindi explains the scheme and what to send.</a:t>
            </a:r>
          </a:p>
        </p:txBody>
      </p:sp>
      <p:sp>
        <p:nvSpPr>
          <p:cNvPr id="24" name="Oval 23"/>
          <p:cNvSpPr/>
          <p:nvPr/>
        </p:nvSpPr>
        <p:spPr>
          <a:xfrm>
            <a:off x="566928" y="5257800"/>
            <a:ext cx="402336" cy="402336"/>
          </a:xfrm>
          <a:prstGeom prst="ellipse">
            <a:avLst/>
          </a:prstGeom>
          <a:solidFill>
            <a:srgbClr val="EFEDFF"/>
          </a:solidFill>
          <a:ln>
            <a:noFill/>
          </a:ln>
          <a:effectLst/>
        </p:spPr>
        <p:txBody>
          <a:bodyPr rtlCol="0" anchor="ctr"/>
          <a:lstStyle/>
          <a:p>
            <a:pPr algn="ctr"/>
          </a:p>
        </p:txBody>
      </p:sp>
      <p:pic>
        <p:nvPicPr>
          <p:cNvPr id="25" name="Picture 24" descr="key-round_4A35FF_256_2.0.png"/>
          <p:cNvPicPr>
            <a:picLocks noChangeAspect="1"/>
          </p:cNvPicPr>
          <p:nvPr/>
        </p:nvPicPr>
        <p:blipFill>
          <a:blip r:embed="rId6"/>
          <a:stretch>
            <a:fillRect/>
          </a:stretch>
        </p:blipFill>
        <p:spPr>
          <a:xfrm>
            <a:off x="663488" y="5354360"/>
            <a:ext cx="209214" cy="209214"/>
          </a:xfrm>
          <a:prstGeom prst="rect">
            <a:avLst/>
          </a:prstGeom>
        </p:spPr>
      </p:pic>
      <p:sp>
        <p:nvSpPr>
          <p:cNvPr id="26" name="TextBox 25"/>
          <p:cNvSpPr txBox="1"/>
          <p:nvPr/>
        </p:nvSpPr>
        <p:spPr>
          <a:xfrm>
            <a:off x="1133856" y="5239512"/>
            <a:ext cx="2377440" cy="457200"/>
          </a:xfrm>
          <a:prstGeom prst="rect">
            <a:avLst/>
          </a:prstGeom>
          <a:noFill/>
        </p:spPr>
        <p:txBody>
          <a:bodyPr wrap="square" lIns="0" rIns="0" tIns="0" bIns="0" anchor="t">
            <a:spAutoFit/>
          </a:bodyPr>
          <a:lstStyle/>
          <a:p>
            <a:pPr algn="l">
              <a:lnSpc>
                <a:spcPct val="105000"/>
              </a:lnSpc>
            </a:pPr>
            <a:r>
              <a:rPr sz="1200" b="1" i="0">
                <a:solidFill>
                  <a:srgbClr val="16181D"/>
                </a:solidFill>
                <a:latin typeface="Montserrat"/>
              </a:rPr>
              <a:t>Status without a password</a:t>
            </a:r>
          </a:p>
        </p:txBody>
      </p:sp>
      <p:sp>
        <p:nvSpPr>
          <p:cNvPr id="27" name="TextBox 26"/>
          <p:cNvSpPr txBox="1"/>
          <p:nvPr/>
        </p:nvSpPr>
        <p:spPr>
          <a:xfrm>
            <a:off x="3602736" y="5239512"/>
            <a:ext cx="7872984" cy="685800"/>
          </a:xfrm>
          <a:prstGeom prst="rect">
            <a:avLst/>
          </a:prstGeom>
          <a:noFill/>
        </p:spPr>
        <p:txBody>
          <a:bodyPr wrap="square" lIns="0" rIns="0" tIns="0" bIns="0" anchor="t">
            <a:spAutoFit/>
          </a:bodyPr>
          <a:lstStyle/>
          <a:p>
            <a:pPr algn="l">
              <a:lnSpc>
                <a:spcPct val="122000"/>
              </a:lnSpc>
            </a:pPr>
            <a:r>
              <a:rPr sz="1050" b="0" i="0">
                <a:solidFill>
                  <a:srgbClr val="6E7180"/>
                </a:solidFill>
                <a:latin typeface="Geist"/>
              </a:rPr>
              <a:t>An OTP on the registered phone opens a read-only claim dashboard any time. Rejections and demands arrive as bilingual WhatsApp/SMS with the reason.</a:t>
            </a:r>
          </a:p>
        </p:txBody>
      </p:sp>
      <p:cxnSp>
        <p:nvCxnSpPr>
          <p:cNvPr id="28" name="Connector 27"/>
          <p:cNvCxnSpPr/>
          <p:nvPr/>
        </p:nvCxnSpPr>
        <p:spPr>
          <a:xfrm>
            <a:off x="566928" y="6455664"/>
            <a:ext cx="11057839" cy="0"/>
          </a:xfrm>
          <a:prstGeom prst="line">
            <a:avLst/>
          </a:prstGeom>
          <a:ln w="9525">
            <a:solidFill>
              <a:srgbClr val="E8E9EE"/>
            </a:solidFill>
          </a:ln>
          <a:effectLst/>
        </p:spPr>
      </p:cxnSp>
      <p:sp>
        <p:nvSpPr>
          <p:cNvPr id="29" name="TextBox 28"/>
          <p:cNvSpPr txBox="1"/>
          <p:nvPr/>
        </p:nvSpPr>
        <p:spPr>
          <a:xfrm>
            <a:off x="566928" y="6528816"/>
            <a:ext cx="86868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SAHAJ — Team Induction Brief   ·   Confidential</a:t>
            </a:r>
          </a:p>
        </p:txBody>
      </p:sp>
      <p:sp>
        <p:nvSpPr>
          <p:cNvPr id="30" name="TextBox 29"/>
          <p:cNvSpPr txBox="1"/>
          <p:nvPr/>
        </p:nvSpPr>
        <p:spPr>
          <a:xfrm>
            <a:off x="10344607" y="6528816"/>
            <a:ext cx="128016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10 / 22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7692847" y="274320"/>
            <a:ext cx="3931920" cy="219456"/>
          </a:xfrm>
          <a:prstGeom prst="rect">
            <a:avLst/>
          </a:prstGeom>
          <a:noFill/>
        </p:spPr>
        <p:txBody>
          <a:bodyPr wrap="square" lIns="0" rIns="0" tIns="0" bIns="0" anchor="t">
            <a:spAutoFit/>
          </a:bodyPr>
          <a:lstStyle/>
          <a:p>
            <a:pPr algn="r">
              <a:lnSpc>
                <a:spcPct val="128000"/>
              </a:lnSpc>
            </a:pPr>
            <a:r>
              <a:rPr sz="800" b="1" i="0" spc="150">
                <a:solidFill>
                  <a:srgbClr val="6E7180"/>
                </a:solidFill>
                <a:latin typeface="Montserrat"/>
              </a:rPr>
              <a:t>SECTION 2 OF 5   ·   HOW SAHAJ WORKS</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02 · HOW SAHAJ WORKS</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One backend, </a:t>
            </a:r>
            <a:r>
              <a:rPr sz="2250" b="1" i="0">
                <a:solidFill>
                  <a:srgbClr val="4A35FF"/>
                </a:solidFill>
                <a:latin typeface="Montserrat"/>
              </a:rPr>
              <a:t>a workspace shaped for each desk</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Same accounts, same data as the web — the officer app just installs like an app. Here's what each surface does.</a:t>
            </a:r>
          </a:p>
        </p:txBody>
      </p:sp>
      <p:sp>
        <p:nvSpPr>
          <p:cNvPr id="8" name="Rounded Rectangle 7"/>
          <p:cNvSpPr/>
          <p:nvPr/>
        </p:nvSpPr>
        <p:spPr>
          <a:xfrm>
            <a:off x="566928" y="2194560"/>
            <a:ext cx="3611880" cy="1783080"/>
          </a:xfrm>
          <a:prstGeom prst="roundRect">
            <a:avLst>
              <a:gd name="adj" fmla="val 7000"/>
            </a:avLst>
          </a:prstGeom>
          <a:solidFill>
            <a:srgbClr val="FFFFFF"/>
          </a:solidFill>
          <a:ln w="9525">
            <a:solidFill>
              <a:srgbClr val="E8E9EE"/>
            </a:solidFill>
          </a:ln>
          <a:effectLst/>
        </p:spPr>
        <p:txBody>
          <a:bodyPr rtlCol="0" anchor="ctr"/>
          <a:lstStyle/>
          <a:p>
            <a:pPr algn="ctr"/>
          </a:p>
        </p:txBody>
      </p:sp>
      <p:sp>
        <p:nvSpPr>
          <p:cNvPr id="9" name="Oval 8"/>
          <p:cNvSpPr/>
          <p:nvPr/>
        </p:nvSpPr>
        <p:spPr>
          <a:xfrm>
            <a:off x="749808" y="2377440"/>
            <a:ext cx="420624" cy="420624"/>
          </a:xfrm>
          <a:prstGeom prst="ellipse">
            <a:avLst/>
          </a:prstGeom>
          <a:solidFill>
            <a:srgbClr val="EFEDFF"/>
          </a:solidFill>
          <a:ln>
            <a:noFill/>
          </a:ln>
          <a:effectLst/>
        </p:spPr>
        <p:txBody>
          <a:bodyPr rtlCol="0" anchor="ctr"/>
          <a:lstStyle/>
          <a:p>
            <a:pPr algn="ctr"/>
          </a:p>
        </p:txBody>
      </p:sp>
      <p:pic>
        <p:nvPicPr>
          <p:cNvPr id="10" name="Picture 9" descr="smartphone_4A35FF_256_2.0.png"/>
          <p:cNvPicPr>
            <a:picLocks noChangeAspect="1"/>
          </p:cNvPicPr>
          <p:nvPr/>
        </p:nvPicPr>
        <p:blipFill>
          <a:blip r:embed="rId2"/>
          <a:stretch>
            <a:fillRect/>
          </a:stretch>
        </p:blipFill>
        <p:spPr>
          <a:xfrm>
            <a:off x="850757" y="2478389"/>
            <a:ext cx="218724" cy="218724"/>
          </a:xfrm>
          <a:prstGeom prst="rect">
            <a:avLst/>
          </a:prstGeom>
        </p:spPr>
      </p:pic>
      <p:sp>
        <p:nvSpPr>
          <p:cNvPr id="11" name="TextBox 10"/>
          <p:cNvSpPr txBox="1"/>
          <p:nvPr/>
        </p:nvSpPr>
        <p:spPr>
          <a:xfrm>
            <a:off x="1298448" y="2414016"/>
            <a:ext cx="2743200" cy="365760"/>
          </a:xfrm>
          <a:prstGeom prst="rect">
            <a:avLst/>
          </a:prstGeom>
          <a:noFill/>
        </p:spPr>
        <p:txBody>
          <a:bodyPr wrap="square" lIns="0" rIns="0" tIns="0" bIns="0" anchor="t">
            <a:spAutoFit/>
          </a:bodyPr>
          <a:lstStyle/>
          <a:p>
            <a:pPr algn="l">
              <a:lnSpc>
                <a:spcPct val="102000"/>
              </a:lnSpc>
            </a:pPr>
            <a:r>
              <a:rPr sz="1150" b="1" i="0">
                <a:solidFill>
                  <a:srgbClr val="16181D"/>
                </a:solidFill>
                <a:latin typeface="Montserrat"/>
              </a:rPr>
              <a:t>Police IO (installable)</a:t>
            </a:r>
          </a:p>
        </p:txBody>
      </p:sp>
      <p:sp>
        <p:nvSpPr>
          <p:cNvPr id="12" name="TextBox 11"/>
          <p:cNvSpPr txBox="1"/>
          <p:nvPr/>
        </p:nvSpPr>
        <p:spPr>
          <a:xfrm>
            <a:off x="749808" y="2944368"/>
            <a:ext cx="3246120" cy="914400"/>
          </a:xfrm>
          <a:prstGeom prst="rect">
            <a:avLst/>
          </a:prstGeom>
          <a:noFill/>
        </p:spPr>
        <p:txBody>
          <a:bodyPr wrap="square" lIns="0" rIns="0" tIns="0" bIns="0" anchor="t">
            <a:spAutoFit/>
          </a:bodyPr>
          <a:lstStyle/>
          <a:p>
            <a:pPr algn="l">
              <a:lnSpc>
                <a:spcPct val="120000"/>
              </a:lnSpc>
            </a:pPr>
            <a:r>
              <a:rPr sz="950" b="0" i="0">
                <a:solidFill>
                  <a:srgbClr val="6E7180"/>
                </a:solidFill>
                <a:latin typeface="Geist"/>
              </a:rPr>
              <a:t>Registration form, inline grid &amp; bulk Excel import; a “pending from you” column; one-tap family link; vehicle-traced reporting.</a:t>
            </a:r>
          </a:p>
        </p:txBody>
      </p:sp>
      <p:sp>
        <p:nvSpPr>
          <p:cNvPr id="13" name="Rounded Rectangle 12"/>
          <p:cNvSpPr/>
          <p:nvPr/>
        </p:nvSpPr>
        <p:spPr>
          <a:xfrm>
            <a:off x="4288536" y="2194560"/>
            <a:ext cx="3611880" cy="1783080"/>
          </a:xfrm>
          <a:prstGeom prst="roundRect">
            <a:avLst>
              <a:gd name="adj" fmla="val 7000"/>
            </a:avLst>
          </a:prstGeom>
          <a:solidFill>
            <a:srgbClr val="FFFFFF"/>
          </a:solidFill>
          <a:ln w="9525">
            <a:solidFill>
              <a:srgbClr val="E8E9EE"/>
            </a:solidFill>
          </a:ln>
          <a:effectLst/>
        </p:spPr>
        <p:txBody>
          <a:bodyPr rtlCol="0" anchor="ctr"/>
          <a:lstStyle/>
          <a:p>
            <a:pPr algn="ctr"/>
          </a:p>
        </p:txBody>
      </p:sp>
      <p:sp>
        <p:nvSpPr>
          <p:cNvPr id="14" name="Oval 13"/>
          <p:cNvSpPr/>
          <p:nvPr/>
        </p:nvSpPr>
        <p:spPr>
          <a:xfrm>
            <a:off x="4471416" y="2377440"/>
            <a:ext cx="420624" cy="420624"/>
          </a:xfrm>
          <a:prstGeom prst="ellipse">
            <a:avLst/>
          </a:prstGeom>
          <a:solidFill>
            <a:srgbClr val="E9F7F0"/>
          </a:solidFill>
          <a:ln>
            <a:noFill/>
          </a:ln>
          <a:effectLst/>
        </p:spPr>
        <p:txBody>
          <a:bodyPr rtlCol="0" anchor="ctr"/>
          <a:lstStyle/>
          <a:p>
            <a:pPr algn="ctr"/>
          </a:p>
        </p:txBody>
      </p:sp>
      <p:pic>
        <p:nvPicPr>
          <p:cNvPr id="15" name="Picture 14" descr="columns-2_0A9955_256_2.0.png"/>
          <p:cNvPicPr>
            <a:picLocks noChangeAspect="1"/>
          </p:cNvPicPr>
          <p:nvPr/>
        </p:nvPicPr>
        <p:blipFill>
          <a:blip r:embed="rId3"/>
          <a:stretch>
            <a:fillRect/>
          </a:stretch>
        </p:blipFill>
        <p:spPr>
          <a:xfrm>
            <a:off x="4572365" y="2478389"/>
            <a:ext cx="218724" cy="218724"/>
          </a:xfrm>
          <a:prstGeom prst="rect">
            <a:avLst/>
          </a:prstGeom>
        </p:spPr>
      </p:pic>
      <p:sp>
        <p:nvSpPr>
          <p:cNvPr id="16" name="TextBox 15"/>
          <p:cNvSpPr txBox="1"/>
          <p:nvPr/>
        </p:nvSpPr>
        <p:spPr>
          <a:xfrm>
            <a:off x="5020056" y="2414016"/>
            <a:ext cx="2743200" cy="365760"/>
          </a:xfrm>
          <a:prstGeom prst="rect">
            <a:avLst/>
          </a:prstGeom>
          <a:noFill/>
        </p:spPr>
        <p:txBody>
          <a:bodyPr wrap="square" lIns="0" rIns="0" tIns="0" bIns="0" anchor="t">
            <a:spAutoFit/>
          </a:bodyPr>
          <a:lstStyle/>
          <a:p>
            <a:pPr algn="l">
              <a:lnSpc>
                <a:spcPct val="102000"/>
              </a:lnSpc>
            </a:pPr>
            <a:r>
              <a:rPr sz="1150" b="1" i="0">
                <a:solidFill>
                  <a:srgbClr val="16181D"/>
                </a:solidFill>
                <a:latin typeface="Montserrat"/>
              </a:rPr>
              <a:t>CEO / CSC desks</a:t>
            </a:r>
          </a:p>
        </p:txBody>
      </p:sp>
      <p:sp>
        <p:nvSpPr>
          <p:cNvPr id="17" name="TextBox 16"/>
          <p:cNvSpPr txBox="1"/>
          <p:nvPr/>
        </p:nvSpPr>
        <p:spPr>
          <a:xfrm>
            <a:off x="4471416" y="2944368"/>
            <a:ext cx="3246120" cy="914400"/>
          </a:xfrm>
          <a:prstGeom prst="rect">
            <a:avLst/>
          </a:prstGeom>
          <a:noFill/>
        </p:spPr>
        <p:txBody>
          <a:bodyPr wrap="square" lIns="0" rIns="0" tIns="0" bIns="0" anchor="t">
            <a:spAutoFit/>
          </a:bodyPr>
          <a:lstStyle/>
          <a:p>
            <a:pPr algn="l">
              <a:lnSpc>
                <a:spcPct val="120000"/>
              </a:lnSpc>
            </a:pPr>
            <a:r>
              <a:rPr sz="950" b="0" i="0">
                <a:solidFill>
                  <a:srgbClr val="6E7180"/>
                </a:solidFill>
                <a:latin typeface="Geist"/>
              </a:rPr>
              <a:t>Split-screen document viewer with verify / flag / send-back (bilingual reasons); Form II / III prepared from case data and OTP e-signed.</a:t>
            </a:r>
          </a:p>
        </p:txBody>
      </p:sp>
      <p:sp>
        <p:nvSpPr>
          <p:cNvPr id="18" name="Rounded Rectangle 17"/>
          <p:cNvSpPr/>
          <p:nvPr/>
        </p:nvSpPr>
        <p:spPr>
          <a:xfrm>
            <a:off x="8010144" y="2194560"/>
            <a:ext cx="3611880" cy="1783080"/>
          </a:xfrm>
          <a:prstGeom prst="roundRect">
            <a:avLst>
              <a:gd name="adj" fmla="val 7000"/>
            </a:avLst>
          </a:prstGeom>
          <a:solidFill>
            <a:srgbClr val="FFFFFF"/>
          </a:solidFill>
          <a:ln w="9525">
            <a:solidFill>
              <a:srgbClr val="E8E9EE"/>
            </a:solidFill>
          </a:ln>
          <a:effectLst/>
        </p:spPr>
        <p:txBody>
          <a:bodyPr rtlCol="0" anchor="ctr"/>
          <a:lstStyle/>
          <a:p>
            <a:pPr algn="ctr"/>
          </a:p>
        </p:txBody>
      </p:sp>
      <p:sp>
        <p:nvSpPr>
          <p:cNvPr id="19" name="Oval 18"/>
          <p:cNvSpPr/>
          <p:nvPr/>
        </p:nvSpPr>
        <p:spPr>
          <a:xfrm>
            <a:off x="8193024" y="2377440"/>
            <a:ext cx="420624" cy="420624"/>
          </a:xfrm>
          <a:prstGeom prst="ellipse">
            <a:avLst/>
          </a:prstGeom>
          <a:solidFill>
            <a:srgbClr val="E7F4F4"/>
          </a:solidFill>
          <a:ln>
            <a:noFill/>
          </a:ln>
          <a:effectLst/>
        </p:spPr>
        <p:txBody>
          <a:bodyPr rtlCol="0" anchor="ctr"/>
          <a:lstStyle/>
          <a:p>
            <a:pPr algn="ctr"/>
          </a:p>
        </p:txBody>
      </p:sp>
      <p:pic>
        <p:nvPicPr>
          <p:cNvPr id="20" name="Picture 19" descr="banknote_0E8A8A_256_2.0.png"/>
          <p:cNvPicPr>
            <a:picLocks noChangeAspect="1"/>
          </p:cNvPicPr>
          <p:nvPr/>
        </p:nvPicPr>
        <p:blipFill>
          <a:blip r:embed="rId4"/>
          <a:stretch>
            <a:fillRect/>
          </a:stretch>
        </p:blipFill>
        <p:spPr>
          <a:xfrm>
            <a:off x="8293973" y="2478389"/>
            <a:ext cx="218724" cy="218724"/>
          </a:xfrm>
          <a:prstGeom prst="rect">
            <a:avLst/>
          </a:prstGeom>
        </p:spPr>
      </p:pic>
      <p:sp>
        <p:nvSpPr>
          <p:cNvPr id="21" name="TextBox 20"/>
          <p:cNvSpPr txBox="1"/>
          <p:nvPr/>
        </p:nvSpPr>
        <p:spPr>
          <a:xfrm>
            <a:off x="8741664" y="2414016"/>
            <a:ext cx="2743200" cy="365760"/>
          </a:xfrm>
          <a:prstGeom prst="rect">
            <a:avLst/>
          </a:prstGeom>
          <a:noFill/>
        </p:spPr>
        <p:txBody>
          <a:bodyPr wrap="square" lIns="0" rIns="0" tIns="0" bIns="0" anchor="t">
            <a:spAutoFit/>
          </a:bodyPr>
          <a:lstStyle/>
          <a:p>
            <a:pPr algn="l">
              <a:lnSpc>
                <a:spcPct val="102000"/>
              </a:lnSpc>
            </a:pPr>
            <a:r>
              <a:rPr sz="1150" b="1" i="0">
                <a:solidFill>
                  <a:srgbClr val="16181D"/>
                </a:solidFill>
                <a:latin typeface="Montserrat"/>
              </a:rPr>
              <a:t>Settlement desk</a:t>
            </a:r>
          </a:p>
        </p:txBody>
      </p:sp>
      <p:sp>
        <p:nvSpPr>
          <p:cNvPr id="22" name="TextBox 21"/>
          <p:cNvSpPr txBox="1"/>
          <p:nvPr/>
        </p:nvSpPr>
        <p:spPr>
          <a:xfrm>
            <a:off x="8193024" y="2944368"/>
            <a:ext cx="3246120" cy="914400"/>
          </a:xfrm>
          <a:prstGeom prst="rect">
            <a:avLst/>
          </a:prstGeom>
          <a:noFill/>
        </p:spPr>
        <p:txBody>
          <a:bodyPr wrap="square" lIns="0" rIns="0" tIns="0" bIns="0" anchor="t">
            <a:spAutoFit/>
          </a:bodyPr>
          <a:lstStyle/>
          <a:p>
            <a:pPr algn="l">
              <a:lnSpc>
                <a:spcPct val="120000"/>
              </a:lnSpc>
            </a:pPr>
            <a:r>
              <a:rPr sz="950" b="0" i="0">
                <a:solidFill>
                  <a:srgbClr val="6E7180"/>
                </a:solidFill>
                <a:latin typeface="Geist"/>
              </a:rPr>
              <a:t>Queue of sanctioned cases; record the bank UTR and mark PAID — the one action that closes a case. (Least-built surface today.)</a:t>
            </a:r>
          </a:p>
        </p:txBody>
      </p:sp>
      <p:sp>
        <p:nvSpPr>
          <p:cNvPr id="23" name="Rounded Rectangle 22"/>
          <p:cNvSpPr/>
          <p:nvPr/>
        </p:nvSpPr>
        <p:spPr>
          <a:xfrm>
            <a:off x="566928" y="4142232"/>
            <a:ext cx="3611880" cy="1783080"/>
          </a:xfrm>
          <a:prstGeom prst="roundRect">
            <a:avLst>
              <a:gd name="adj" fmla="val 7000"/>
            </a:avLst>
          </a:prstGeom>
          <a:solidFill>
            <a:srgbClr val="FFFFFF"/>
          </a:solidFill>
          <a:ln w="9525">
            <a:solidFill>
              <a:srgbClr val="E8E9EE"/>
            </a:solidFill>
          </a:ln>
          <a:effectLst/>
        </p:spPr>
        <p:txBody>
          <a:bodyPr rtlCol="0" anchor="ctr"/>
          <a:lstStyle/>
          <a:p>
            <a:pPr algn="ctr"/>
          </a:p>
        </p:txBody>
      </p:sp>
      <p:sp>
        <p:nvSpPr>
          <p:cNvPr id="24" name="Oval 23"/>
          <p:cNvSpPr/>
          <p:nvPr/>
        </p:nvSpPr>
        <p:spPr>
          <a:xfrm>
            <a:off x="749808" y="4325112"/>
            <a:ext cx="420624" cy="420624"/>
          </a:xfrm>
          <a:prstGeom prst="ellipse">
            <a:avLst/>
          </a:prstGeom>
          <a:solidFill>
            <a:srgbClr val="FDF3E3"/>
          </a:solidFill>
          <a:ln>
            <a:noFill/>
          </a:ln>
          <a:effectLst/>
        </p:spPr>
        <p:txBody>
          <a:bodyPr rtlCol="0" anchor="ctr"/>
          <a:lstStyle/>
          <a:p>
            <a:pPr algn="ctr"/>
          </a:p>
        </p:txBody>
      </p:sp>
      <p:pic>
        <p:nvPicPr>
          <p:cNvPr id="25" name="Picture 24" descr="folder-clock_E58900_256_2.0.png"/>
          <p:cNvPicPr>
            <a:picLocks noChangeAspect="1"/>
          </p:cNvPicPr>
          <p:nvPr/>
        </p:nvPicPr>
        <p:blipFill>
          <a:blip r:embed="rId5"/>
          <a:stretch>
            <a:fillRect/>
          </a:stretch>
        </p:blipFill>
        <p:spPr>
          <a:xfrm>
            <a:off x="850757" y="4426061"/>
            <a:ext cx="218724" cy="218724"/>
          </a:xfrm>
          <a:prstGeom prst="rect">
            <a:avLst/>
          </a:prstGeom>
        </p:spPr>
      </p:pic>
      <p:sp>
        <p:nvSpPr>
          <p:cNvPr id="26" name="TextBox 25"/>
          <p:cNvSpPr txBox="1"/>
          <p:nvPr/>
        </p:nvSpPr>
        <p:spPr>
          <a:xfrm>
            <a:off x="1298448" y="4361688"/>
            <a:ext cx="2743200" cy="365760"/>
          </a:xfrm>
          <a:prstGeom prst="rect">
            <a:avLst/>
          </a:prstGeom>
          <a:noFill/>
        </p:spPr>
        <p:txBody>
          <a:bodyPr wrap="square" lIns="0" rIns="0" tIns="0" bIns="0" anchor="t">
            <a:spAutoFit/>
          </a:bodyPr>
          <a:lstStyle/>
          <a:p>
            <a:pPr algn="l">
              <a:lnSpc>
                <a:spcPct val="102000"/>
              </a:lnSpc>
            </a:pPr>
            <a:r>
              <a:rPr sz="1150" b="1" i="0">
                <a:solidFill>
                  <a:srgbClr val="16181D"/>
                </a:solidFill>
                <a:latin typeface="Montserrat"/>
              </a:rPr>
              <a:t>Coordinator backlog</a:t>
            </a:r>
          </a:p>
        </p:txBody>
      </p:sp>
      <p:sp>
        <p:nvSpPr>
          <p:cNvPr id="27" name="TextBox 26"/>
          <p:cNvSpPr txBox="1"/>
          <p:nvPr/>
        </p:nvSpPr>
        <p:spPr>
          <a:xfrm>
            <a:off x="749808" y="4892040"/>
            <a:ext cx="3246120" cy="914400"/>
          </a:xfrm>
          <a:prstGeom prst="rect">
            <a:avLst/>
          </a:prstGeom>
          <a:noFill/>
        </p:spPr>
        <p:txBody>
          <a:bodyPr wrap="square" lIns="0" rIns="0" tIns="0" bIns="0" anchor="t">
            <a:spAutoFit/>
          </a:bodyPr>
          <a:lstStyle/>
          <a:p>
            <a:pPr algn="l">
              <a:lnSpc>
                <a:spcPct val="120000"/>
              </a:lnSpc>
            </a:pPr>
            <a:r>
              <a:rPr sz="950" b="0" i="0">
                <a:solidFill>
                  <a:srgbClr val="6E7180"/>
                </a:solidFill>
                <a:latin typeface="Geist"/>
              </a:rPr>
              <a:t>A wizard to register legacy paper cases and move them through the real state machine, attaching scans of the wet-signed forms.</a:t>
            </a:r>
          </a:p>
        </p:txBody>
      </p:sp>
      <p:sp>
        <p:nvSpPr>
          <p:cNvPr id="28" name="Rounded Rectangle 27"/>
          <p:cNvSpPr/>
          <p:nvPr/>
        </p:nvSpPr>
        <p:spPr>
          <a:xfrm>
            <a:off x="4288536" y="4142232"/>
            <a:ext cx="3611880" cy="1783080"/>
          </a:xfrm>
          <a:prstGeom prst="roundRect">
            <a:avLst>
              <a:gd name="adj" fmla="val 7000"/>
            </a:avLst>
          </a:prstGeom>
          <a:solidFill>
            <a:srgbClr val="FFFFFF"/>
          </a:solidFill>
          <a:ln w="9525">
            <a:solidFill>
              <a:srgbClr val="E8E9EE"/>
            </a:solidFill>
          </a:ln>
          <a:effectLst/>
        </p:spPr>
        <p:txBody>
          <a:bodyPr rtlCol="0" anchor="ctr"/>
          <a:lstStyle/>
          <a:p>
            <a:pPr algn="ctr"/>
          </a:p>
        </p:txBody>
      </p:sp>
      <p:sp>
        <p:nvSpPr>
          <p:cNvPr id="29" name="Oval 28"/>
          <p:cNvSpPr/>
          <p:nvPr/>
        </p:nvSpPr>
        <p:spPr>
          <a:xfrm>
            <a:off x="4471416" y="4325112"/>
            <a:ext cx="420624" cy="420624"/>
          </a:xfrm>
          <a:prstGeom prst="ellipse">
            <a:avLst/>
          </a:prstGeom>
          <a:solidFill>
            <a:srgbClr val="EFEDFF"/>
          </a:solidFill>
          <a:ln>
            <a:noFill/>
          </a:ln>
          <a:effectLst/>
        </p:spPr>
        <p:txBody>
          <a:bodyPr rtlCol="0" anchor="ctr"/>
          <a:lstStyle/>
          <a:p>
            <a:pPr algn="ctr"/>
          </a:p>
        </p:txBody>
      </p:sp>
      <p:pic>
        <p:nvPicPr>
          <p:cNvPr id="30" name="Picture 29" descr="layout-dashboard_4A35FF_256_2.0.png"/>
          <p:cNvPicPr>
            <a:picLocks noChangeAspect="1"/>
          </p:cNvPicPr>
          <p:nvPr/>
        </p:nvPicPr>
        <p:blipFill>
          <a:blip r:embed="rId6"/>
          <a:stretch>
            <a:fillRect/>
          </a:stretch>
        </p:blipFill>
        <p:spPr>
          <a:xfrm>
            <a:off x="4572365" y="4426061"/>
            <a:ext cx="218724" cy="218724"/>
          </a:xfrm>
          <a:prstGeom prst="rect">
            <a:avLst/>
          </a:prstGeom>
        </p:spPr>
      </p:pic>
      <p:sp>
        <p:nvSpPr>
          <p:cNvPr id="31" name="TextBox 30"/>
          <p:cNvSpPr txBox="1"/>
          <p:nvPr/>
        </p:nvSpPr>
        <p:spPr>
          <a:xfrm>
            <a:off x="5020056" y="4361688"/>
            <a:ext cx="2743200" cy="365760"/>
          </a:xfrm>
          <a:prstGeom prst="rect">
            <a:avLst/>
          </a:prstGeom>
          <a:noFill/>
        </p:spPr>
        <p:txBody>
          <a:bodyPr wrap="square" lIns="0" rIns="0" tIns="0" bIns="0" anchor="t">
            <a:spAutoFit/>
          </a:bodyPr>
          <a:lstStyle/>
          <a:p>
            <a:pPr algn="l">
              <a:lnSpc>
                <a:spcPct val="102000"/>
              </a:lnSpc>
            </a:pPr>
            <a:r>
              <a:rPr sz="1150" b="1" i="0">
                <a:solidFill>
                  <a:srgbClr val="16181D"/>
                </a:solidFill>
                <a:latin typeface="Montserrat"/>
              </a:rPr>
              <a:t>District &amp; state admin</a:t>
            </a:r>
          </a:p>
        </p:txBody>
      </p:sp>
      <p:sp>
        <p:nvSpPr>
          <p:cNvPr id="32" name="TextBox 31"/>
          <p:cNvSpPr txBox="1"/>
          <p:nvPr/>
        </p:nvSpPr>
        <p:spPr>
          <a:xfrm>
            <a:off x="4471416" y="4892040"/>
            <a:ext cx="3246120" cy="914400"/>
          </a:xfrm>
          <a:prstGeom prst="rect">
            <a:avLst/>
          </a:prstGeom>
          <a:noFill/>
        </p:spPr>
        <p:txBody>
          <a:bodyPr wrap="square" lIns="0" rIns="0" tIns="0" bIns="0" anchor="t">
            <a:spAutoFit/>
          </a:bodyPr>
          <a:lstStyle/>
          <a:p>
            <a:pPr algn="l">
              <a:lnSpc>
                <a:spcPct val="120000"/>
              </a:lnSpc>
            </a:pPr>
            <a:r>
              <a:rPr sz="950" b="0" i="0">
                <a:solidFill>
                  <a:srgbClr val="6E7180"/>
                </a:solidFill>
                <a:latin typeface="Geist"/>
              </a:rPr>
              <a:t>Funnel dashboard, an Action Center ordered by SLA urgency, stuck-case &amp; breach views, downloadable reports, staff management.</a:t>
            </a:r>
          </a:p>
        </p:txBody>
      </p:sp>
      <p:sp>
        <p:nvSpPr>
          <p:cNvPr id="33" name="Rounded Rectangle 32"/>
          <p:cNvSpPr/>
          <p:nvPr/>
        </p:nvSpPr>
        <p:spPr>
          <a:xfrm>
            <a:off x="8010144" y="4142232"/>
            <a:ext cx="3611880" cy="1783080"/>
          </a:xfrm>
          <a:prstGeom prst="roundRect">
            <a:avLst>
              <a:gd name="adj" fmla="val 7000"/>
            </a:avLst>
          </a:prstGeom>
          <a:solidFill>
            <a:srgbClr val="FFFFFF"/>
          </a:solidFill>
          <a:ln w="9525">
            <a:solidFill>
              <a:srgbClr val="E8E9EE"/>
            </a:solidFill>
          </a:ln>
          <a:effectLst/>
        </p:spPr>
        <p:txBody>
          <a:bodyPr rtlCol="0" anchor="ctr"/>
          <a:lstStyle/>
          <a:p>
            <a:pPr algn="ctr"/>
          </a:p>
        </p:txBody>
      </p:sp>
      <p:sp>
        <p:nvSpPr>
          <p:cNvPr id="34" name="Oval 33"/>
          <p:cNvSpPr/>
          <p:nvPr/>
        </p:nvSpPr>
        <p:spPr>
          <a:xfrm>
            <a:off x="8193024" y="4325112"/>
            <a:ext cx="420624" cy="420624"/>
          </a:xfrm>
          <a:prstGeom prst="ellipse">
            <a:avLst/>
          </a:prstGeom>
          <a:solidFill>
            <a:srgbClr val="E9F7F0"/>
          </a:solidFill>
          <a:ln>
            <a:noFill/>
          </a:ln>
          <a:effectLst/>
        </p:spPr>
        <p:txBody>
          <a:bodyPr rtlCol="0" anchor="ctr"/>
          <a:lstStyle/>
          <a:p>
            <a:pPr algn="ctr"/>
          </a:p>
        </p:txBody>
      </p:sp>
      <p:pic>
        <p:nvPicPr>
          <p:cNvPr id="35" name="Picture 34" descr="settings-2_0A9955_256_2.0.png"/>
          <p:cNvPicPr>
            <a:picLocks noChangeAspect="1"/>
          </p:cNvPicPr>
          <p:nvPr/>
        </p:nvPicPr>
        <p:blipFill>
          <a:blip r:embed="rId7"/>
          <a:stretch>
            <a:fillRect/>
          </a:stretch>
        </p:blipFill>
        <p:spPr>
          <a:xfrm>
            <a:off x="8293973" y="4426061"/>
            <a:ext cx="218724" cy="218724"/>
          </a:xfrm>
          <a:prstGeom prst="rect">
            <a:avLst/>
          </a:prstGeom>
        </p:spPr>
      </p:pic>
      <p:sp>
        <p:nvSpPr>
          <p:cNvPr id="36" name="TextBox 35"/>
          <p:cNvSpPr txBox="1"/>
          <p:nvPr/>
        </p:nvSpPr>
        <p:spPr>
          <a:xfrm>
            <a:off x="8741664" y="4361688"/>
            <a:ext cx="2743200" cy="365760"/>
          </a:xfrm>
          <a:prstGeom prst="rect">
            <a:avLst/>
          </a:prstGeom>
          <a:noFill/>
        </p:spPr>
        <p:txBody>
          <a:bodyPr wrap="square" lIns="0" rIns="0" tIns="0" bIns="0" anchor="t">
            <a:spAutoFit/>
          </a:bodyPr>
          <a:lstStyle/>
          <a:p>
            <a:pPr algn="l">
              <a:lnSpc>
                <a:spcPct val="102000"/>
              </a:lnSpc>
            </a:pPr>
            <a:r>
              <a:rPr sz="1150" b="1" i="0">
                <a:solidFill>
                  <a:srgbClr val="16181D"/>
                </a:solidFill>
                <a:latin typeface="Montserrat"/>
              </a:rPr>
              <a:t>Super admin (CFI)</a:t>
            </a:r>
          </a:p>
        </p:txBody>
      </p:sp>
      <p:sp>
        <p:nvSpPr>
          <p:cNvPr id="37" name="TextBox 36"/>
          <p:cNvSpPr txBox="1"/>
          <p:nvPr/>
        </p:nvSpPr>
        <p:spPr>
          <a:xfrm>
            <a:off x="8193024" y="4892040"/>
            <a:ext cx="3246120" cy="914400"/>
          </a:xfrm>
          <a:prstGeom prst="rect">
            <a:avLst/>
          </a:prstGeom>
          <a:noFill/>
        </p:spPr>
        <p:txBody>
          <a:bodyPr wrap="square" lIns="0" rIns="0" tIns="0" bIns="0" anchor="t">
            <a:spAutoFit/>
          </a:bodyPr>
          <a:lstStyle/>
          <a:p>
            <a:pPr algn="l">
              <a:lnSpc>
                <a:spcPct val="120000"/>
              </a:lnSpc>
            </a:pPr>
            <a:r>
              <a:rPr sz="950" b="0" i="0">
                <a:solidFill>
                  <a:srgbClr val="6E7180"/>
                </a:solidFill>
                <a:latin typeface="Geist"/>
              </a:rPr>
              <a:t>Jurisdiction CRUD across states, global audit, an AI usage &amp; performance console. Demo data never counts in real statistics.</a:t>
            </a:r>
          </a:p>
        </p:txBody>
      </p:sp>
      <p:cxnSp>
        <p:nvCxnSpPr>
          <p:cNvPr id="38" name="Connector 37"/>
          <p:cNvCxnSpPr/>
          <p:nvPr/>
        </p:nvCxnSpPr>
        <p:spPr>
          <a:xfrm>
            <a:off x="566928" y="6455664"/>
            <a:ext cx="11057839" cy="0"/>
          </a:xfrm>
          <a:prstGeom prst="line">
            <a:avLst/>
          </a:prstGeom>
          <a:ln w="9525">
            <a:solidFill>
              <a:srgbClr val="E8E9EE"/>
            </a:solidFill>
          </a:ln>
          <a:effectLst/>
        </p:spPr>
      </p:cxnSp>
      <p:sp>
        <p:nvSpPr>
          <p:cNvPr id="39" name="TextBox 38"/>
          <p:cNvSpPr txBox="1"/>
          <p:nvPr/>
        </p:nvSpPr>
        <p:spPr>
          <a:xfrm>
            <a:off x="566928" y="6528816"/>
            <a:ext cx="86868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SAHAJ — Team Induction Brief   ·   Confidential</a:t>
            </a:r>
          </a:p>
        </p:txBody>
      </p:sp>
      <p:sp>
        <p:nvSpPr>
          <p:cNvPr id="40" name="TextBox 39"/>
          <p:cNvSpPr txBox="1"/>
          <p:nvPr/>
        </p:nvSpPr>
        <p:spPr>
          <a:xfrm>
            <a:off x="10344607" y="6528816"/>
            <a:ext cx="128016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11 / 22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7692847" y="274320"/>
            <a:ext cx="3931920" cy="219456"/>
          </a:xfrm>
          <a:prstGeom prst="rect">
            <a:avLst/>
          </a:prstGeom>
          <a:noFill/>
        </p:spPr>
        <p:txBody>
          <a:bodyPr wrap="square" lIns="0" rIns="0" tIns="0" bIns="0" anchor="t">
            <a:spAutoFit/>
          </a:bodyPr>
          <a:lstStyle/>
          <a:p>
            <a:pPr algn="r">
              <a:lnSpc>
                <a:spcPct val="128000"/>
              </a:lnSpc>
            </a:pPr>
            <a:r>
              <a:rPr sz="800" b="1" i="0" spc="150">
                <a:solidFill>
                  <a:srgbClr val="6E7180"/>
                </a:solidFill>
                <a:latin typeface="Montserrat"/>
              </a:rPr>
              <a:t>SECTION 3 OF 5   ·   UNDER THE HOOD</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03 · UNDER THE HOOD</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One Next.js app over Postgres — </a:t>
            </a:r>
            <a:r>
              <a:rPr sz="2250" b="1" i="0">
                <a:solidFill>
                  <a:srgbClr val="4A35FF"/>
                </a:solidFill>
                <a:latin typeface="Montserrat"/>
              </a:rPr>
              <a:t>the database is the API's backstop</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There is no separate API tier: Server Actions are the API, and every one re-checks authorisation before the database's own row-level rules apply.</a:t>
            </a:r>
          </a:p>
        </p:txBody>
      </p:sp>
      <p:sp>
        <p:nvSpPr>
          <p:cNvPr id="8" name="Rounded Rectangle 7"/>
          <p:cNvSpPr/>
          <p:nvPr/>
        </p:nvSpPr>
        <p:spPr>
          <a:xfrm>
            <a:off x="566928" y="2148840"/>
            <a:ext cx="3520440" cy="2286000"/>
          </a:xfrm>
          <a:prstGeom prst="roundRect">
            <a:avLst>
              <a:gd name="adj" fmla="val 7000"/>
            </a:avLst>
          </a:prstGeom>
          <a:solidFill>
            <a:srgbClr val="FFFFFF"/>
          </a:solidFill>
          <a:ln w="9525">
            <a:solidFill>
              <a:srgbClr val="E8E9EE"/>
            </a:solidFill>
          </a:ln>
          <a:effectLst/>
        </p:spPr>
        <p:txBody>
          <a:bodyPr rtlCol="0" anchor="ctr"/>
          <a:lstStyle/>
          <a:p>
            <a:pPr algn="ctr"/>
          </a:p>
        </p:txBody>
      </p:sp>
      <p:sp>
        <p:nvSpPr>
          <p:cNvPr id="9" name="Oval 8"/>
          <p:cNvSpPr/>
          <p:nvPr/>
        </p:nvSpPr>
        <p:spPr>
          <a:xfrm>
            <a:off x="749808" y="2331720"/>
            <a:ext cx="457200" cy="457200"/>
          </a:xfrm>
          <a:prstGeom prst="ellipse">
            <a:avLst/>
          </a:prstGeom>
          <a:solidFill>
            <a:srgbClr val="E7F4F4"/>
          </a:solidFill>
          <a:ln>
            <a:noFill/>
          </a:ln>
          <a:effectLst/>
        </p:spPr>
        <p:txBody>
          <a:bodyPr rtlCol="0" anchor="ctr"/>
          <a:lstStyle/>
          <a:p>
            <a:pPr algn="ctr"/>
          </a:p>
        </p:txBody>
      </p:sp>
      <p:pic>
        <p:nvPicPr>
          <p:cNvPr id="10" name="Picture 9" descr="smartphone_0E8A8A_256_2.0.png"/>
          <p:cNvPicPr>
            <a:picLocks noChangeAspect="1"/>
          </p:cNvPicPr>
          <p:nvPr/>
        </p:nvPicPr>
        <p:blipFill>
          <a:blip r:embed="rId2"/>
          <a:stretch>
            <a:fillRect/>
          </a:stretch>
        </p:blipFill>
        <p:spPr>
          <a:xfrm>
            <a:off x="859536" y="2441448"/>
            <a:ext cx="237744" cy="237744"/>
          </a:xfrm>
          <a:prstGeom prst="rect">
            <a:avLst/>
          </a:prstGeom>
        </p:spPr>
      </p:pic>
      <p:sp>
        <p:nvSpPr>
          <p:cNvPr id="11" name="TextBox 10"/>
          <p:cNvSpPr txBox="1"/>
          <p:nvPr/>
        </p:nvSpPr>
        <p:spPr>
          <a:xfrm>
            <a:off x="1316736" y="2368296"/>
            <a:ext cx="2606040" cy="365760"/>
          </a:xfrm>
          <a:prstGeom prst="rect">
            <a:avLst/>
          </a:prstGeom>
          <a:noFill/>
        </p:spPr>
        <p:txBody>
          <a:bodyPr wrap="square" lIns="0" rIns="0" tIns="0" bIns="0" anchor="t">
            <a:spAutoFit/>
          </a:bodyPr>
          <a:lstStyle/>
          <a:p>
            <a:pPr algn="l">
              <a:lnSpc>
                <a:spcPct val="100000"/>
              </a:lnSpc>
            </a:pPr>
            <a:r>
              <a:rPr sz="1250" b="1" i="0">
                <a:solidFill>
                  <a:srgbClr val="16181D"/>
                </a:solidFill>
                <a:latin typeface="Montserrat"/>
              </a:rPr>
              <a:t>Clients</a:t>
            </a:r>
          </a:p>
        </p:txBody>
      </p:sp>
      <p:sp>
        <p:nvSpPr>
          <p:cNvPr id="12" name="TextBox 11"/>
          <p:cNvSpPr txBox="1"/>
          <p:nvPr/>
        </p:nvSpPr>
        <p:spPr>
          <a:xfrm>
            <a:off x="786384" y="2926080"/>
            <a:ext cx="3081528" cy="365760"/>
          </a:xfrm>
          <a:prstGeom prst="rect">
            <a:avLst/>
          </a:prstGeom>
          <a:noFill/>
        </p:spPr>
        <p:txBody>
          <a:bodyPr wrap="square" lIns="0" rIns="0" tIns="0" bIns="0" anchor="t">
            <a:spAutoFit/>
          </a:bodyPr>
          <a:lstStyle/>
          <a:p>
            <a:pPr algn="l">
              <a:lnSpc>
                <a:spcPct val="115000"/>
              </a:lnSpc>
            </a:pPr>
            <a:r>
              <a:rPr sz="1000" b="0" i="0">
                <a:solidFill>
                  <a:srgbClr val="6E7180"/>
                </a:solidFill>
                <a:latin typeface="Geist"/>
              </a:rPr>
              <a:t>•  Officer app — installable PWA</a:t>
            </a:r>
          </a:p>
        </p:txBody>
      </p:sp>
      <p:sp>
        <p:nvSpPr>
          <p:cNvPr id="13" name="TextBox 12"/>
          <p:cNvSpPr txBox="1"/>
          <p:nvPr/>
        </p:nvSpPr>
        <p:spPr>
          <a:xfrm>
            <a:off x="786384" y="3310128"/>
            <a:ext cx="3081528" cy="365760"/>
          </a:xfrm>
          <a:prstGeom prst="rect">
            <a:avLst/>
          </a:prstGeom>
          <a:noFill/>
        </p:spPr>
        <p:txBody>
          <a:bodyPr wrap="square" lIns="0" rIns="0" tIns="0" bIns="0" anchor="t">
            <a:spAutoFit/>
          </a:bodyPr>
          <a:lstStyle/>
          <a:p>
            <a:pPr algn="l">
              <a:lnSpc>
                <a:spcPct val="115000"/>
              </a:lnSpc>
            </a:pPr>
            <a:r>
              <a:rPr sz="1000" b="0" i="0">
                <a:solidFill>
                  <a:srgbClr val="6E7180"/>
                </a:solidFill>
                <a:latin typeface="Geist"/>
              </a:rPr>
              <a:t>•  Family — WhatsApp / SMS / voice</a:t>
            </a:r>
          </a:p>
        </p:txBody>
      </p:sp>
      <p:sp>
        <p:nvSpPr>
          <p:cNvPr id="14" name="TextBox 13"/>
          <p:cNvSpPr txBox="1"/>
          <p:nvPr/>
        </p:nvSpPr>
        <p:spPr>
          <a:xfrm>
            <a:off x="786384" y="3694176"/>
            <a:ext cx="3081528" cy="365760"/>
          </a:xfrm>
          <a:prstGeom prst="rect">
            <a:avLst/>
          </a:prstGeom>
          <a:noFill/>
        </p:spPr>
        <p:txBody>
          <a:bodyPr wrap="square" lIns="0" rIns="0" tIns="0" bIns="0" anchor="t">
            <a:spAutoFit/>
          </a:bodyPr>
          <a:lstStyle/>
          <a:p>
            <a:pPr algn="l">
              <a:lnSpc>
                <a:spcPct val="115000"/>
              </a:lnSpc>
            </a:pPr>
            <a:r>
              <a:rPr sz="1000" b="0" i="0">
                <a:solidFill>
                  <a:srgbClr val="6E7180"/>
                </a:solidFill>
                <a:latin typeface="Geist"/>
              </a:rPr>
              <a:t>•  Hindi default, English switch</a:t>
            </a:r>
          </a:p>
        </p:txBody>
      </p:sp>
      <p:sp>
        <p:nvSpPr>
          <p:cNvPr id="15" name="Rounded Rectangle 14"/>
          <p:cNvSpPr/>
          <p:nvPr/>
        </p:nvSpPr>
        <p:spPr>
          <a:xfrm>
            <a:off x="4315967" y="2148840"/>
            <a:ext cx="3520440" cy="2286000"/>
          </a:xfrm>
          <a:prstGeom prst="roundRect">
            <a:avLst>
              <a:gd name="adj" fmla="val 7000"/>
            </a:avLst>
          </a:prstGeom>
          <a:solidFill>
            <a:srgbClr val="FFFFFF"/>
          </a:solidFill>
          <a:ln w="9525">
            <a:solidFill>
              <a:srgbClr val="E8E9EE"/>
            </a:solidFill>
          </a:ln>
          <a:effectLst/>
        </p:spPr>
        <p:txBody>
          <a:bodyPr rtlCol="0" anchor="ctr"/>
          <a:lstStyle/>
          <a:p>
            <a:pPr algn="ctr"/>
          </a:p>
        </p:txBody>
      </p:sp>
      <p:sp>
        <p:nvSpPr>
          <p:cNvPr id="16" name="Oval 15"/>
          <p:cNvSpPr/>
          <p:nvPr/>
        </p:nvSpPr>
        <p:spPr>
          <a:xfrm>
            <a:off x="4498847" y="2331720"/>
            <a:ext cx="457200" cy="457200"/>
          </a:xfrm>
          <a:prstGeom prst="ellipse">
            <a:avLst/>
          </a:prstGeom>
          <a:solidFill>
            <a:srgbClr val="EFEDFF"/>
          </a:solidFill>
          <a:ln>
            <a:noFill/>
          </a:ln>
          <a:effectLst/>
        </p:spPr>
        <p:txBody>
          <a:bodyPr rtlCol="0" anchor="ctr"/>
          <a:lstStyle/>
          <a:p>
            <a:pPr algn="ctr"/>
          </a:p>
        </p:txBody>
      </p:sp>
      <p:pic>
        <p:nvPicPr>
          <p:cNvPr id="17" name="Picture 16" descr="server_4A35FF_256_2.0.png"/>
          <p:cNvPicPr>
            <a:picLocks noChangeAspect="1"/>
          </p:cNvPicPr>
          <p:nvPr/>
        </p:nvPicPr>
        <p:blipFill>
          <a:blip r:embed="rId3"/>
          <a:stretch>
            <a:fillRect/>
          </a:stretch>
        </p:blipFill>
        <p:spPr>
          <a:xfrm>
            <a:off x="4608575" y="2441448"/>
            <a:ext cx="237744" cy="237744"/>
          </a:xfrm>
          <a:prstGeom prst="rect">
            <a:avLst/>
          </a:prstGeom>
        </p:spPr>
      </p:pic>
      <p:sp>
        <p:nvSpPr>
          <p:cNvPr id="18" name="TextBox 17"/>
          <p:cNvSpPr txBox="1"/>
          <p:nvPr/>
        </p:nvSpPr>
        <p:spPr>
          <a:xfrm>
            <a:off x="5065775" y="2368296"/>
            <a:ext cx="2606040" cy="365760"/>
          </a:xfrm>
          <a:prstGeom prst="rect">
            <a:avLst/>
          </a:prstGeom>
          <a:noFill/>
        </p:spPr>
        <p:txBody>
          <a:bodyPr wrap="square" lIns="0" rIns="0" tIns="0" bIns="0" anchor="t">
            <a:spAutoFit/>
          </a:bodyPr>
          <a:lstStyle/>
          <a:p>
            <a:pPr algn="l">
              <a:lnSpc>
                <a:spcPct val="100000"/>
              </a:lnSpc>
            </a:pPr>
            <a:r>
              <a:rPr sz="1250" b="1" i="0">
                <a:solidFill>
                  <a:srgbClr val="16181D"/>
                </a:solidFill>
                <a:latin typeface="Montserrat"/>
              </a:rPr>
              <a:t>SAHAJ app</a:t>
            </a:r>
          </a:p>
        </p:txBody>
      </p:sp>
      <p:sp>
        <p:nvSpPr>
          <p:cNvPr id="19" name="TextBox 18"/>
          <p:cNvSpPr txBox="1"/>
          <p:nvPr/>
        </p:nvSpPr>
        <p:spPr>
          <a:xfrm>
            <a:off x="4535423" y="2926080"/>
            <a:ext cx="3081528" cy="365760"/>
          </a:xfrm>
          <a:prstGeom prst="rect">
            <a:avLst/>
          </a:prstGeom>
          <a:noFill/>
        </p:spPr>
        <p:txBody>
          <a:bodyPr wrap="square" lIns="0" rIns="0" tIns="0" bIns="0" anchor="t">
            <a:spAutoFit/>
          </a:bodyPr>
          <a:lstStyle/>
          <a:p>
            <a:pPr algn="l">
              <a:lnSpc>
                <a:spcPct val="115000"/>
              </a:lnSpc>
            </a:pPr>
            <a:r>
              <a:rPr sz="1000" b="0" i="0">
                <a:solidFill>
                  <a:srgbClr val="6E7180"/>
                </a:solidFill>
                <a:latin typeface="Geist"/>
              </a:rPr>
              <a:t>•  Next.js 16 · React 19 · AntD Pro</a:t>
            </a:r>
          </a:p>
        </p:txBody>
      </p:sp>
      <p:sp>
        <p:nvSpPr>
          <p:cNvPr id="20" name="TextBox 19"/>
          <p:cNvSpPr txBox="1"/>
          <p:nvPr/>
        </p:nvSpPr>
        <p:spPr>
          <a:xfrm>
            <a:off x="4535423" y="3310128"/>
            <a:ext cx="3081528" cy="365760"/>
          </a:xfrm>
          <a:prstGeom prst="rect">
            <a:avLst/>
          </a:prstGeom>
          <a:noFill/>
        </p:spPr>
        <p:txBody>
          <a:bodyPr wrap="square" lIns="0" rIns="0" tIns="0" bIns="0" anchor="t">
            <a:spAutoFit/>
          </a:bodyPr>
          <a:lstStyle/>
          <a:p>
            <a:pPr algn="l">
              <a:lnSpc>
                <a:spcPct val="115000"/>
              </a:lnSpc>
            </a:pPr>
            <a:r>
              <a:rPr sz="1000" b="0" i="0">
                <a:solidFill>
                  <a:srgbClr val="6E7180"/>
                </a:solidFill>
                <a:latin typeface="Geist"/>
              </a:rPr>
              <a:t>•  Server Actions = the API</a:t>
            </a:r>
          </a:p>
        </p:txBody>
      </p:sp>
      <p:sp>
        <p:nvSpPr>
          <p:cNvPr id="21" name="TextBox 20"/>
          <p:cNvSpPr txBox="1"/>
          <p:nvPr/>
        </p:nvSpPr>
        <p:spPr>
          <a:xfrm>
            <a:off x="4535423" y="3694176"/>
            <a:ext cx="3081528" cy="365760"/>
          </a:xfrm>
          <a:prstGeom prst="rect">
            <a:avLst/>
          </a:prstGeom>
          <a:noFill/>
        </p:spPr>
        <p:txBody>
          <a:bodyPr wrap="square" lIns="0" rIns="0" tIns="0" bIns="0" anchor="t">
            <a:spAutoFit/>
          </a:bodyPr>
          <a:lstStyle/>
          <a:p>
            <a:pPr algn="l">
              <a:lnSpc>
                <a:spcPct val="115000"/>
              </a:lnSpc>
            </a:pPr>
            <a:r>
              <a:rPr sz="1000" b="0" i="0">
                <a:solidFill>
                  <a:srgbClr val="6E7180"/>
                </a:solidFill>
                <a:latin typeface="Geist"/>
              </a:rPr>
              <a:t>•  Scheduled crons (nudges, calls, report)</a:t>
            </a:r>
          </a:p>
        </p:txBody>
      </p:sp>
      <p:sp>
        <p:nvSpPr>
          <p:cNvPr id="22" name="Rounded Rectangle 21"/>
          <p:cNvSpPr/>
          <p:nvPr/>
        </p:nvSpPr>
        <p:spPr>
          <a:xfrm>
            <a:off x="8065007" y="2148840"/>
            <a:ext cx="3566160" cy="2286000"/>
          </a:xfrm>
          <a:prstGeom prst="roundRect">
            <a:avLst>
              <a:gd name="adj" fmla="val 7000"/>
            </a:avLst>
          </a:prstGeom>
          <a:solidFill>
            <a:srgbClr val="FFFFFF"/>
          </a:solidFill>
          <a:ln w="9525">
            <a:solidFill>
              <a:srgbClr val="E8E9EE"/>
            </a:solidFill>
          </a:ln>
          <a:effectLst/>
        </p:spPr>
        <p:txBody>
          <a:bodyPr rtlCol="0" anchor="ctr"/>
          <a:lstStyle/>
          <a:p>
            <a:pPr algn="ctr"/>
          </a:p>
        </p:txBody>
      </p:sp>
      <p:sp>
        <p:nvSpPr>
          <p:cNvPr id="23" name="Oval 22"/>
          <p:cNvSpPr/>
          <p:nvPr/>
        </p:nvSpPr>
        <p:spPr>
          <a:xfrm>
            <a:off x="8247887" y="2331720"/>
            <a:ext cx="457200" cy="457200"/>
          </a:xfrm>
          <a:prstGeom prst="ellipse">
            <a:avLst/>
          </a:prstGeom>
          <a:solidFill>
            <a:srgbClr val="E9F7F0"/>
          </a:solidFill>
          <a:ln>
            <a:noFill/>
          </a:ln>
          <a:effectLst/>
        </p:spPr>
        <p:txBody>
          <a:bodyPr rtlCol="0" anchor="ctr"/>
          <a:lstStyle/>
          <a:p>
            <a:pPr algn="ctr"/>
          </a:p>
        </p:txBody>
      </p:sp>
      <p:pic>
        <p:nvPicPr>
          <p:cNvPr id="24" name="Picture 23" descr="database_0A9955_256_2.0.png"/>
          <p:cNvPicPr>
            <a:picLocks noChangeAspect="1"/>
          </p:cNvPicPr>
          <p:nvPr/>
        </p:nvPicPr>
        <p:blipFill>
          <a:blip r:embed="rId4"/>
          <a:stretch>
            <a:fillRect/>
          </a:stretch>
        </p:blipFill>
        <p:spPr>
          <a:xfrm>
            <a:off x="8357615" y="2441448"/>
            <a:ext cx="237744" cy="237744"/>
          </a:xfrm>
          <a:prstGeom prst="rect">
            <a:avLst/>
          </a:prstGeom>
        </p:spPr>
      </p:pic>
      <p:sp>
        <p:nvSpPr>
          <p:cNvPr id="25" name="TextBox 24"/>
          <p:cNvSpPr txBox="1"/>
          <p:nvPr/>
        </p:nvSpPr>
        <p:spPr>
          <a:xfrm>
            <a:off x="8814815" y="2368296"/>
            <a:ext cx="2651760" cy="365760"/>
          </a:xfrm>
          <a:prstGeom prst="rect">
            <a:avLst/>
          </a:prstGeom>
          <a:noFill/>
        </p:spPr>
        <p:txBody>
          <a:bodyPr wrap="square" lIns="0" rIns="0" tIns="0" bIns="0" anchor="t">
            <a:spAutoFit/>
          </a:bodyPr>
          <a:lstStyle/>
          <a:p>
            <a:pPr algn="l">
              <a:lnSpc>
                <a:spcPct val="100000"/>
              </a:lnSpc>
            </a:pPr>
            <a:r>
              <a:rPr sz="1250" b="1" i="0">
                <a:solidFill>
                  <a:srgbClr val="16181D"/>
                </a:solidFill>
                <a:latin typeface="Montserrat"/>
              </a:rPr>
              <a:t>Supabase / Postgres</a:t>
            </a:r>
          </a:p>
        </p:txBody>
      </p:sp>
      <p:sp>
        <p:nvSpPr>
          <p:cNvPr id="26" name="TextBox 25"/>
          <p:cNvSpPr txBox="1"/>
          <p:nvPr/>
        </p:nvSpPr>
        <p:spPr>
          <a:xfrm>
            <a:off x="8284463" y="2926080"/>
            <a:ext cx="3127248" cy="365760"/>
          </a:xfrm>
          <a:prstGeom prst="rect">
            <a:avLst/>
          </a:prstGeom>
          <a:noFill/>
        </p:spPr>
        <p:txBody>
          <a:bodyPr wrap="square" lIns="0" rIns="0" tIns="0" bIns="0" anchor="t">
            <a:spAutoFit/>
          </a:bodyPr>
          <a:lstStyle/>
          <a:p>
            <a:pPr algn="l">
              <a:lnSpc>
                <a:spcPct val="115000"/>
              </a:lnSpc>
            </a:pPr>
            <a:r>
              <a:rPr sz="1000" b="0" i="0">
                <a:solidFill>
                  <a:srgbClr val="6E7180"/>
                </a:solidFill>
                <a:latin typeface="Geist"/>
              </a:rPr>
              <a:t>•  Row-level security on every table</a:t>
            </a:r>
          </a:p>
        </p:txBody>
      </p:sp>
      <p:sp>
        <p:nvSpPr>
          <p:cNvPr id="27" name="TextBox 26"/>
          <p:cNvSpPr txBox="1"/>
          <p:nvPr/>
        </p:nvSpPr>
        <p:spPr>
          <a:xfrm>
            <a:off x="8284463" y="3310128"/>
            <a:ext cx="3127248" cy="365760"/>
          </a:xfrm>
          <a:prstGeom prst="rect">
            <a:avLst/>
          </a:prstGeom>
          <a:noFill/>
        </p:spPr>
        <p:txBody>
          <a:bodyPr wrap="square" lIns="0" rIns="0" tIns="0" bIns="0" anchor="t">
            <a:spAutoFit/>
          </a:bodyPr>
          <a:lstStyle/>
          <a:p>
            <a:pPr algn="l">
              <a:lnSpc>
                <a:spcPct val="115000"/>
              </a:lnSpc>
            </a:pPr>
            <a:r>
              <a:rPr sz="1000" b="0" i="0">
                <a:solidFill>
                  <a:srgbClr val="6E7180"/>
                </a:solidFill>
                <a:latin typeface="Geist"/>
              </a:rPr>
              <a:t>•  Auth · Storage · Realtime · Edge fns</a:t>
            </a:r>
          </a:p>
        </p:txBody>
      </p:sp>
      <p:sp>
        <p:nvSpPr>
          <p:cNvPr id="28" name="TextBox 27"/>
          <p:cNvSpPr txBox="1"/>
          <p:nvPr/>
        </p:nvSpPr>
        <p:spPr>
          <a:xfrm>
            <a:off x="8284463" y="3694176"/>
            <a:ext cx="3127248" cy="365760"/>
          </a:xfrm>
          <a:prstGeom prst="rect">
            <a:avLst/>
          </a:prstGeom>
          <a:noFill/>
        </p:spPr>
        <p:txBody>
          <a:bodyPr wrap="square" lIns="0" rIns="0" tIns="0" bIns="0" anchor="t">
            <a:spAutoFit/>
          </a:bodyPr>
          <a:lstStyle/>
          <a:p>
            <a:pPr algn="l">
              <a:lnSpc>
                <a:spcPct val="115000"/>
              </a:lnSpc>
            </a:pPr>
            <a:r>
              <a:rPr sz="1000" b="0" i="0">
                <a:solidFill>
                  <a:srgbClr val="6E7180"/>
                </a:solidFill>
                <a:latin typeface="Geist"/>
              </a:rPr>
              <a:t>•  Region: Mumbai (data in India)</a:t>
            </a:r>
          </a:p>
        </p:txBody>
      </p:sp>
      <p:sp>
        <p:nvSpPr>
          <p:cNvPr id="29" name="TextBox 28"/>
          <p:cNvSpPr txBox="1"/>
          <p:nvPr/>
        </p:nvSpPr>
        <p:spPr>
          <a:xfrm>
            <a:off x="566928" y="4709160"/>
            <a:ext cx="10972800" cy="274320"/>
          </a:xfrm>
          <a:prstGeom prst="rect">
            <a:avLst/>
          </a:prstGeom>
          <a:noFill/>
        </p:spPr>
        <p:txBody>
          <a:bodyPr wrap="square" lIns="0" rIns="0" tIns="0" bIns="0" anchor="t">
            <a:spAutoFit/>
          </a:bodyPr>
          <a:lstStyle/>
          <a:p>
            <a:pPr algn="l">
              <a:lnSpc>
                <a:spcPct val="128000"/>
              </a:lnSpc>
            </a:pPr>
            <a:r>
              <a:rPr sz="900" b="1" i="0" spc="140">
                <a:solidFill>
                  <a:srgbClr val="6E7180"/>
                </a:solidFill>
                <a:latin typeface="Montserrat"/>
              </a:rPr>
              <a:t>EXTERNAL SERVICES (SWAPPABLE, INDIA-RESIDENT WHERE IT MATTERS)</a:t>
            </a:r>
          </a:p>
        </p:txBody>
      </p:sp>
      <p:sp>
        <p:nvSpPr>
          <p:cNvPr id="30" name="Rounded Rectangle 29"/>
          <p:cNvSpPr/>
          <p:nvPr/>
        </p:nvSpPr>
        <p:spPr>
          <a:xfrm>
            <a:off x="566928" y="5029200"/>
            <a:ext cx="2688336" cy="868680"/>
          </a:xfrm>
          <a:prstGeom prst="roundRect">
            <a:avLst>
              <a:gd name="adj" fmla="val 10000"/>
            </a:avLst>
          </a:prstGeom>
          <a:solidFill>
            <a:srgbClr val="F7F7FA"/>
          </a:solidFill>
          <a:ln>
            <a:noFill/>
          </a:ln>
          <a:effectLst/>
        </p:spPr>
        <p:txBody>
          <a:bodyPr rtlCol="0" anchor="ctr"/>
          <a:lstStyle/>
          <a:p>
            <a:pPr algn="ctr"/>
          </a:p>
        </p:txBody>
      </p:sp>
      <p:sp>
        <p:nvSpPr>
          <p:cNvPr id="31" name="Oval 30"/>
          <p:cNvSpPr/>
          <p:nvPr/>
        </p:nvSpPr>
        <p:spPr>
          <a:xfrm>
            <a:off x="731520" y="5230368"/>
            <a:ext cx="384048" cy="384048"/>
          </a:xfrm>
          <a:prstGeom prst="ellipse">
            <a:avLst/>
          </a:prstGeom>
          <a:solidFill>
            <a:srgbClr val="EFEDFF"/>
          </a:solidFill>
          <a:ln>
            <a:noFill/>
          </a:ln>
          <a:effectLst/>
        </p:spPr>
        <p:txBody>
          <a:bodyPr rtlCol="0" anchor="ctr"/>
          <a:lstStyle/>
          <a:p>
            <a:pPr algn="ctr"/>
          </a:p>
        </p:txBody>
      </p:sp>
      <p:pic>
        <p:nvPicPr>
          <p:cNvPr id="32" name="Picture 31" descr="message-circle_4A35FF_256_2.0.png"/>
          <p:cNvPicPr>
            <a:picLocks noChangeAspect="1"/>
          </p:cNvPicPr>
          <p:nvPr/>
        </p:nvPicPr>
        <p:blipFill>
          <a:blip r:embed="rId5"/>
          <a:stretch>
            <a:fillRect/>
          </a:stretch>
        </p:blipFill>
        <p:spPr>
          <a:xfrm>
            <a:off x="823691" y="5322539"/>
            <a:ext cx="199704" cy="199704"/>
          </a:xfrm>
          <a:prstGeom prst="rect">
            <a:avLst/>
          </a:prstGeom>
        </p:spPr>
      </p:pic>
      <p:sp>
        <p:nvSpPr>
          <p:cNvPr id="33" name="TextBox 32"/>
          <p:cNvSpPr txBox="1"/>
          <p:nvPr/>
        </p:nvSpPr>
        <p:spPr>
          <a:xfrm>
            <a:off x="1243584" y="5175504"/>
            <a:ext cx="1865376" cy="274320"/>
          </a:xfrm>
          <a:prstGeom prst="rect">
            <a:avLst/>
          </a:prstGeom>
          <a:noFill/>
        </p:spPr>
        <p:txBody>
          <a:bodyPr wrap="square" lIns="0" rIns="0" tIns="0" bIns="0" anchor="t">
            <a:spAutoFit/>
          </a:bodyPr>
          <a:lstStyle/>
          <a:p>
            <a:pPr algn="l">
              <a:lnSpc>
                <a:spcPct val="128000"/>
              </a:lnSpc>
            </a:pPr>
            <a:r>
              <a:rPr sz="1100" b="1" i="0">
                <a:solidFill>
                  <a:srgbClr val="16181D"/>
                </a:solidFill>
                <a:latin typeface="Montserrat"/>
              </a:rPr>
              <a:t>MSG91</a:t>
            </a:r>
          </a:p>
        </p:txBody>
      </p:sp>
      <p:sp>
        <p:nvSpPr>
          <p:cNvPr id="34" name="TextBox 33"/>
          <p:cNvSpPr txBox="1"/>
          <p:nvPr/>
        </p:nvSpPr>
        <p:spPr>
          <a:xfrm>
            <a:off x="1243584" y="5440680"/>
            <a:ext cx="1865376" cy="365760"/>
          </a:xfrm>
          <a:prstGeom prst="rect">
            <a:avLst/>
          </a:prstGeom>
          <a:noFill/>
        </p:spPr>
        <p:txBody>
          <a:bodyPr wrap="square" lIns="0" rIns="0" tIns="0" bIns="0" anchor="t">
            <a:spAutoFit/>
          </a:bodyPr>
          <a:lstStyle/>
          <a:p>
            <a:pPr algn="l">
              <a:lnSpc>
                <a:spcPct val="110000"/>
              </a:lnSpc>
            </a:pPr>
            <a:r>
              <a:rPr sz="900" b="0" i="0">
                <a:solidFill>
                  <a:srgbClr val="6E7180"/>
                </a:solidFill>
                <a:latin typeface="Geist"/>
              </a:rPr>
              <a:t>WhatsApp + SMS + OTP (DLT)</a:t>
            </a:r>
          </a:p>
        </p:txBody>
      </p:sp>
      <p:sp>
        <p:nvSpPr>
          <p:cNvPr id="35" name="Rounded Rectangle 34"/>
          <p:cNvSpPr/>
          <p:nvPr/>
        </p:nvSpPr>
        <p:spPr>
          <a:xfrm>
            <a:off x="3383280" y="5029200"/>
            <a:ext cx="2688336" cy="868680"/>
          </a:xfrm>
          <a:prstGeom prst="roundRect">
            <a:avLst>
              <a:gd name="adj" fmla="val 10000"/>
            </a:avLst>
          </a:prstGeom>
          <a:solidFill>
            <a:srgbClr val="F7F7FA"/>
          </a:solidFill>
          <a:ln>
            <a:noFill/>
          </a:ln>
          <a:effectLst/>
        </p:spPr>
        <p:txBody>
          <a:bodyPr rtlCol="0" anchor="ctr"/>
          <a:lstStyle/>
          <a:p>
            <a:pPr algn="ctr"/>
          </a:p>
        </p:txBody>
      </p:sp>
      <p:sp>
        <p:nvSpPr>
          <p:cNvPr id="36" name="Oval 35"/>
          <p:cNvSpPr/>
          <p:nvPr/>
        </p:nvSpPr>
        <p:spPr>
          <a:xfrm>
            <a:off x="3547872" y="5230368"/>
            <a:ext cx="384048" cy="384048"/>
          </a:xfrm>
          <a:prstGeom prst="ellipse">
            <a:avLst/>
          </a:prstGeom>
          <a:solidFill>
            <a:srgbClr val="EFEDFF"/>
          </a:solidFill>
          <a:ln>
            <a:noFill/>
          </a:ln>
          <a:effectLst/>
        </p:spPr>
        <p:txBody>
          <a:bodyPr rtlCol="0" anchor="ctr"/>
          <a:lstStyle/>
          <a:p>
            <a:pPr algn="ctr"/>
          </a:p>
        </p:txBody>
      </p:sp>
      <p:pic>
        <p:nvPicPr>
          <p:cNvPr id="37" name="Picture 36" descr="scan-text_4A35FF_256_2.0.png"/>
          <p:cNvPicPr>
            <a:picLocks noChangeAspect="1"/>
          </p:cNvPicPr>
          <p:nvPr/>
        </p:nvPicPr>
        <p:blipFill>
          <a:blip r:embed="rId6"/>
          <a:stretch>
            <a:fillRect/>
          </a:stretch>
        </p:blipFill>
        <p:spPr>
          <a:xfrm>
            <a:off x="3640043" y="5322539"/>
            <a:ext cx="199704" cy="199704"/>
          </a:xfrm>
          <a:prstGeom prst="rect">
            <a:avLst/>
          </a:prstGeom>
        </p:spPr>
      </p:pic>
      <p:sp>
        <p:nvSpPr>
          <p:cNvPr id="38" name="TextBox 37"/>
          <p:cNvSpPr txBox="1"/>
          <p:nvPr/>
        </p:nvSpPr>
        <p:spPr>
          <a:xfrm>
            <a:off x="4059936" y="5175504"/>
            <a:ext cx="1865376" cy="274320"/>
          </a:xfrm>
          <a:prstGeom prst="rect">
            <a:avLst/>
          </a:prstGeom>
          <a:noFill/>
        </p:spPr>
        <p:txBody>
          <a:bodyPr wrap="square" lIns="0" rIns="0" tIns="0" bIns="0" anchor="t">
            <a:spAutoFit/>
          </a:bodyPr>
          <a:lstStyle/>
          <a:p>
            <a:pPr algn="l">
              <a:lnSpc>
                <a:spcPct val="128000"/>
              </a:lnSpc>
            </a:pPr>
            <a:r>
              <a:rPr sz="1100" b="1" i="0">
                <a:solidFill>
                  <a:srgbClr val="16181D"/>
                </a:solidFill>
                <a:latin typeface="Montserrat"/>
              </a:rPr>
              <a:t>Vision AI</a:t>
            </a:r>
          </a:p>
        </p:txBody>
      </p:sp>
      <p:sp>
        <p:nvSpPr>
          <p:cNvPr id="39" name="TextBox 38"/>
          <p:cNvSpPr txBox="1"/>
          <p:nvPr/>
        </p:nvSpPr>
        <p:spPr>
          <a:xfrm>
            <a:off x="4059936" y="5440680"/>
            <a:ext cx="1865376" cy="365760"/>
          </a:xfrm>
          <a:prstGeom prst="rect">
            <a:avLst/>
          </a:prstGeom>
          <a:noFill/>
        </p:spPr>
        <p:txBody>
          <a:bodyPr wrap="square" lIns="0" rIns="0" tIns="0" bIns="0" anchor="t">
            <a:spAutoFit/>
          </a:bodyPr>
          <a:lstStyle/>
          <a:p>
            <a:pPr algn="l">
              <a:lnSpc>
                <a:spcPct val="110000"/>
              </a:lnSpc>
            </a:pPr>
            <a:r>
              <a:rPr sz="900" b="0" i="0">
                <a:solidFill>
                  <a:srgbClr val="6E7180"/>
                </a:solidFill>
                <a:latin typeface="Geist"/>
              </a:rPr>
              <a:t>document checks (optional)</a:t>
            </a:r>
          </a:p>
        </p:txBody>
      </p:sp>
      <p:sp>
        <p:nvSpPr>
          <p:cNvPr id="40" name="Rounded Rectangle 39"/>
          <p:cNvSpPr/>
          <p:nvPr/>
        </p:nvSpPr>
        <p:spPr>
          <a:xfrm>
            <a:off x="6199632" y="5029200"/>
            <a:ext cx="2688336" cy="868680"/>
          </a:xfrm>
          <a:prstGeom prst="roundRect">
            <a:avLst>
              <a:gd name="adj" fmla="val 10000"/>
            </a:avLst>
          </a:prstGeom>
          <a:solidFill>
            <a:srgbClr val="F7F7FA"/>
          </a:solidFill>
          <a:ln>
            <a:noFill/>
          </a:ln>
          <a:effectLst/>
        </p:spPr>
        <p:txBody>
          <a:bodyPr rtlCol="0" anchor="ctr"/>
          <a:lstStyle/>
          <a:p>
            <a:pPr algn="ctr"/>
          </a:p>
        </p:txBody>
      </p:sp>
      <p:sp>
        <p:nvSpPr>
          <p:cNvPr id="41" name="Oval 40"/>
          <p:cNvSpPr/>
          <p:nvPr/>
        </p:nvSpPr>
        <p:spPr>
          <a:xfrm>
            <a:off x="6364224" y="5230368"/>
            <a:ext cx="384048" cy="384048"/>
          </a:xfrm>
          <a:prstGeom prst="ellipse">
            <a:avLst/>
          </a:prstGeom>
          <a:solidFill>
            <a:srgbClr val="EFEDFF"/>
          </a:solidFill>
          <a:ln>
            <a:noFill/>
          </a:ln>
          <a:effectLst/>
        </p:spPr>
        <p:txBody>
          <a:bodyPr rtlCol="0" anchor="ctr"/>
          <a:lstStyle/>
          <a:p>
            <a:pPr algn="ctr"/>
          </a:p>
        </p:txBody>
      </p:sp>
      <p:pic>
        <p:nvPicPr>
          <p:cNvPr id="42" name="Picture 41" descr="phone-call_4A35FF_256_2.0.png"/>
          <p:cNvPicPr>
            <a:picLocks noChangeAspect="1"/>
          </p:cNvPicPr>
          <p:nvPr/>
        </p:nvPicPr>
        <p:blipFill>
          <a:blip r:embed="rId7"/>
          <a:stretch>
            <a:fillRect/>
          </a:stretch>
        </p:blipFill>
        <p:spPr>
          <a:xfrm>
            <a:off x="6456395" y="5322539"/>
            <a:ext cx="199704" cy="199704"/>
          </a:xfrm>
          <a:prstGeom prst="rect">
            <a:avLst/>
          </a:prstGeom>
        </p:spPr>
      </p:pic>
      <p:sp>
        <p:nvSpPr>
          <p:cNvPr id="43" name="TextBox 42"/>
          <p:cNvSpPr txBox="1"/>
          <p:nvPr/>
        </p:nvSpPr>
        <p:spPr>
          <a:xfrm>
            <a:off x="6876288" y="5175504"/>
            <a:ext cx="1865376" cy="274320"/>
          </a:xfrm>
          <a:prstGeom prst="rect">
            <a:avLst/>
          </a:prstGeom>
          <a:noFill/>
        </p:spPr>
        <p:txBody>
          <a:bodyPr wrap="square" lIns="0" rIns="0" tIns="0" bIns="0" anchor="t">
            <a:spAutoFit/>
          </a:bodyPr>
          <a:lstStyle/>
          <a:p>
            <a:pPr algn="l">
              <a:lnSpc>
                <a:spcPct val="128000"/>
              </a:lnSpc>
            </a:pPr>
            <a:r>
              <a:rPr sz="1100" b="1" i="0">
                <a:solidFill>
                  <a:srgbClr val="16181D"/>
                </a:solidFill>
                <a:latin typeface="Montserrat"/>
              </a:rPr>
              <a:t>Voice AI</a:t>
            </a:r>
          </a:p>
        </p:txBody>
      </p:sp>
      <p:sp>
        <p:nvSpPr>
          <p:cNvPr id="44" name="TextBox 43"/>
          <p:cNvSpPr txBox="1"/>
          <p:nvPr/>
        </p:nvSpPr>
        <p:spPr>
          <a:xfrm>
            <a:off x="6876288" y="5440680"/>
            <a:ext cx="1865376" cy="365760"/>
          </a:xfrm>
          <a:prstGeom prst="rect">
            <a:avLst/>
          </a:prstGeom>
          <a:noFill/>
        </p:spPr>
        <p:txBody>
          <a:bodyPr wrap="square" lIns="0" rIns="0" tIns="0" bIns="0" anchor="t">
            <a:spAutoFit/>
          </a:bodyPr>
          <a:lstStyle/>
          <a:p>
            <a:pPr algn="l">
              <a:lnSpc>
                <a:spcPct val="110000"/>
              </a:lnSpc>
            </a:pPr>
            <a:r>
              <a:rPr sz="900" b="0" i="0">
                <a:solidFill>
                  <a:srgbClr val="6E7180"/>
                </a:solidFill>
                <a:latin typeface="Geist"/>
              </a:rPr>
              <a:t>Hindi follow-up calls</a:t>
            </a:r>
          </a:p>
        </p:txBody>
      </p:sp>
      <p:sp>
        <p:nvSpPr>
          <p:cNvPr id="45" name="Rounded Rectangle 44"/>
          <p:cNvSpPr/>
          <p:nvPr/>
        </p:nvSpPr>
        <p:spPr>
          <a:xfrm>
            <a:off x="9015984" y="5029200"/>
            <a:ext cx="2688336" cy="868680"/>
          </a:xfrm>
          <a:prstGeom prst="roundRect">
            <a:avLst>
              <a:gd name="adj" fmla="val 10000"/>
            </a:avLst>
          </a:prstGeom>
          <a:solidFill>
            <a:srgbClr val="F7F7FA"/>
          </a:solidFill>
          <a:ln>
            <a:noFill/>
          </a:ln>
          <a:effectLst/>
        </p:spPr>
        <p:txBody>
          <a:bodyPr rtlCol="0" anchor="ctr"/>
          <a:lstStyle/>
          <a:p>
            <a:pPr algn="ctr"/>
          </a:p>
        </p:txBody>
      </p:sp>
      <p:sp>
        <p:nvSpPr>
          <p:cNvPr id="46" name="Oval 45"/>
          <p:cNvSpPr/>
          <p:nvPr/>
        </p:nvSpPr>
        <p:spPr>
          <a:xfrm>
            <a:off x="9180576" y="5230368"/>
            <a:ext cx="384048" cy="384048"/>
          </a:xfrm>
          <a:prstGeom prst="ellipse">
            <a:avLst/>
          </a:prstGeom>
          <a:solidFill>
            <a:srgbClr val="EFEDFF"/>
          </a:solidFill>
          <a:ln>
            <a:noFill/>
          </a:ln>
          <a:effectLst/>
        </p:spPr>
        <p:txBody>
          <a:bodyPr rtlCol="0" anchor="ctr"/>
          <a:lstStyle/>
          <a:p>
            <a:pPr algn="ctr"/>
          </a:p>
        </p:txBody>
      </p:sp>
      <p:pic>
        <p:nvPicPr>
          <p:cNvPr id="47" name="Picture 46" descr="file-text_4A35FF_256_2.0.png"/>
          <p:cNvPicPr>
            <a:picLocks noChangeAspect="1"/>
          </p:cNvPicPr>
          <p:nvPr/>
        </p:nvPicPr>
        <p:blipFill>
          <a:blip r:embed="rId8"/>
          <a:stretch>
            <a:fillRect/>
          </a:stretch>
        </p:blipFill>
        <p:spPr>
          <a:xfrm>
            <a:off x="9272747" y="5322539"/>
            <a:ext cx="199704" cy="199704"/>
          </a:xfrm>
          <a:prstGeom prst="rect">
            <a:avLst/>
          </a:prstGeom>
        </p:spPr>
      </p:pic>
      <p:sp>
        <p:nvSpPr>
          <p:cNvPr id="48" name="TextBox 47"/>
          <p:cNvSpPr txBox="1"/>
          <p:nvPr/>
        </p:nvSpPr>
        <p:spPr>
          <a:xfrm>
            <a:off x="9692640" y="5175504"/>
            <a:ext cx="1865376" cy="274320"/>
          </a:xfrm>
          <a:prstGeom prst="rect">
            <a:avLst/>
          </a:prstGeom>
          <a:noFill/>
        </p:spPr>
        <p:txBody>
          <a:bodyPr wrap="square" lIns="0" rIns="0" tIns="0" bIns="0" anchor="t">
            <a:spAutoFit/>
          </a:bodyPr>
          <a:lstStyle/>
          <a:p>
            <a:pPr algn="l">
              <a:lnSpc>
                <a:spcPct val="128000"/>
              </a:lnSpc>
            </a:pPr>
            <a:r>
              <a:rPr sz="1100" b="1" i="0">
                <a:solidFill>
                  <a:srgbClr val="16181D"/>
                </a:solidFill>
                <a:latin typeface="Montserrat"/>
              </a:rPr>
              <a:t>pdf-lib</a:t>
            </a:r>
          </a:p>
        </p:txBody>
      </p:sp>
      <p:sp>
        <p:nvSpPr>
          <p:cNvPr id="49" name="TextBox 48"/>
          <p:cNvSpPr txBox="1"/>
          <p:nvPr/>
        </p:nvSpPr>
        <p:spPr>
          <a:xfrm>
            <a:off x="9692640" y="5440680"/>
            <a:ext cx="1865376" cy="365760"/>
          </a:xfrm>
          <a:prstGeom prst="rect">
            <a:avLst/>
          </a:prstGeom>
          <a:noFill/>
        </p:spPr>
        <p:txBody>
          <a:bodyPr wrap="square" lIns="0" rIns="0" tIns="0" bIns="0" anchor="t">
            <a:spAutoFit/>
          </a:bodyPr>
          <a:lstStyle/>
          <a:p>
            <a:pPr algn="l">
              <a:lnSpc>
                <a:spcPct val="110000"/>
              </a:lnSpc>
            </a:pPr>
            <a:r>
              <a:rPr sz="900" b="0" i="0">
                <a:solidFill>
                  <a:srgbClr val="6E7180"/>
                </a:solidFill>
                <a:latin typeface="Geist"/>
              </a:rPr>
              <a:t>Devanagari statutory forms</a:t>
            </a:r>
          </a:p>
        </p:txBody>
      </p:sp>
      <p:sp>
        <p:nvSpPr>
          <p:cNvPr id="50" name="TextBox 49"/>
          <p:cNvSpPr txBox="1"/>
          <p:nvPr/>
        </p:nvSpPr>
        <p:spPr>
          <a:xfrm>
            <a:off x="566928" y="6053328"/>
            <a:ext cx="10972800" cy="228600"/>
          </a:xfrm>
          <a:prstGeom prst="rect">
            <a:avLst/>
          </a:prstGeom>
          <a:noFill/>
        </p:spPr>
        <p:txBody>
          <a:bodyPr wrap="square" lIns="0" rIns="0" tIns="0" bIns="0" anchor="t">
            <a:spAutoFit/>
          </a:bodyPr>
          <a:lstStyle/>
          <a:p>
            <a:pPr algn="l">
              <a:lnSpc>
                <a:spcPct val="120000"/>
              </a:lnSpc>
            </a:pPr>
            <a:r>
              <a:rPr sz="950" b="0" i="0">
                <a:solidFill>
                  <a:srgbClr val="16181D"/>
                </a:solidFill>
                <a:latin typeface="Geist"/>
              </a:rPr>
              <a:t>Stack today: Next.js 16 (App Router, Turbopack) · Supabase Postgres 16 · MSG91 · Vercel (Mumbai) · ~64 migrations · 607 automated tests.</a:t>
            </a:r>
          </a:p>
        </p:txBody>
      </p:sp>
      <p:cxnSp>
        <p:nvCxnSpPr>
          <p:cNvPr id="51" name="Connector 50"/>
          <p:cNvCxnSpPr/>
          <p:nvPr/>
        </p:nvCxnSpPr>
        <p:spPr>
          <a:xfrm>
            <a:off x="566928" y="6455664"/>
            <a:ext cx="11057839" cy="0"/>
          </a:xfrm>
          <a:prstGeom prst="line">
            <a:avLst/>
          </a:prstGeom>
          <a:ln w="9525">
            <a:solidFill>
              <a:srgbClr val="E8E9EE"/>
            </a:solidFill>
          </a:ln>
          <a:effectLst/>
        </p:spPr>
      </p:cxnSp>
      <p:sp>
        <p:nvSpPr>
          <p:cNvPr id="52" name="TextBox 51"/>
          <p:cNvSpPr txBox="1"/>
          <p:nvPr/>
        </p:nvSpPr>
        <p:spPr>
          <a:xfrm>
            <a:off x="566928" y="6528816"/>
            <a:ext cx="86868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SAHAJ — Team Induction Brief   ·   Confidential</a:t>
            </a:r>
          </a:p>
        </p:txBody>
      </p:sp>
      <p:sp>
        <p:nvSpPr>
          <p:cNvPr id="53" name="TextBox 52"/>
          <p:cNvSpPr txBox="1"/>
          <p:nvPr/>
        </p:nvSpPr>
        <p:spPr>
          <a:xfrm>
            <a:off x="10344607" y="6528816"/>
            <a:ext cx="128016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12 / 22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7692847" y="274320"/>
            <a:ext cx="3931920" cy="219456"/>
          </a:xfrm>
          <a:prstGeom prst="rect">
            <a:avLst/>
          </a:prstGeom>
          <a:noFill/>
        </p:spPr>
        <p:txBody>
          <a:bodyPr wrap="square" lIns="0" rIns="0" tIns="0" bIns="0" anchor="t">
            <a:spAutoFit/>
          </a:bodyPr>
          <a:lstStyle/>
          <a:p>
            <a:pPr algn="r">
              <a:lnSpc>
                <a:spcPct val="128000"/>
              </a:lnSpc>
            </a:pPr>
            <a:r>
              <a:rPr sz="800" b="1" i="0" spc="150">
                <a:solidFill>
                  <a:srgbClr val="6E7180"/>
                </a:solidFill>
                <a:latin typeface="Montserrat"/>
              </a:rPr>
              <a:t>SECTION 3 OF 5   ·   UNDER THE HOOD</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03 · UNDER THE HOOD</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The one idea to hold on to: </a:t>
            </a:r>
            <a:r>
              <a:rPr sz="2250" b="1" i="0">
                <a:solidFill>
                  <a:srgbClr val="4A35FF"/>
                </a:solidFill>
                <a:latin typeface="Montserrat"/>
              </a:rPr>
              <a:t>the database is the boundary</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Screens and APIs can have bugs; these rules hold even then, because they live in Postgres itself. This is the non-negotiable that must survive the rebuild.</a:t>
            </a:r>
          </a:p>
        </p:txBody>
      </p:sp>
      <p:sp>
        <p:nvSpPr>
          <p:cNvPr id="8" name="Oval 7"/>
          <p:cNvSpPr/>
          <p:nvPr/>
        </p:nvSpPr>
        <p:spPr>
          <a:xfrm>
            <a:off x="566928" y="2103120"/>
            <a:ext cx="402336" cy="402336"/>
          </a:xfrm>
          <a:prstGeom prst="ellipse">
            <a:avLst/>
          </a:prstGeom>
          <a:solidFill>
            <a:srgbClr val="EFEDFF"/>
          </a:solidFill>
          <a:ln>
            <a:noFill/>
          </a:ln>
          <a:effectLst/>
        </p:spPr>
        <p:txBody>
          <a:bodyPr rtlCol="0" anchor="ctr"/>
          <a:lstStyle/>
          <a:p>
            <a:pPr algn="ctr"/>
          </a:p>
        </p:txBody>
      </p:sp>
      <p:pic>
        <p:nvPicPr>
          <p:cNvPr id="9" name="Picture 8" descr="table-2_4A35FF_256_2.0.png"/>
          <p:cNvPicPr>
            <a:picLocks noChangeAspect="1"/>
          </p:cNvPicPr>
          <p:nvPr/>
        </p:nvPicPr>
        <p:blipFill>
          <a:blip r:embed="rId2"/>
          <a:stretch>
            <a:fillRect/>
          </a:stretch>
        </p:blipFill>
        <p:spPr>
          <a:xfrm>
            <a:off x="663488" y="2199680"/>
            <a:ext cx="209214" cy="209214"/>
          </a:xfrm>
          <a:prstGeom prst="rect">
            <a:avLst/>
          </a:prstGeom>
        </p:spPr>
      </p:pic>
      <p:sp>
        <p:nvSpPr>
          <p:cNvPr id="10" name="TextBox 9"/>
          <p:cNvSpPr txBox="1"/>
          <p:nvPr/>
        </p:nvSpPr>
        <p:spPr>
          <a:xfrm>
            <a:off x="1133856" y="2084832"/>
            <a:ext cx="2377440" cy="457200"/>
          </a:xfrm>
          <a:prstGeom prst="rect">
            <a:avLst/>
          </a:prstGeom>
          <a:noFill/>
        </p:spPr>
        <p:txBody>
          <a:bodyPr wrap="square" lIns="0" rIns="0" tIns="0" bIns="0" anchor="t">
            <a:spAutoFit/>
          </a:bodyPr>
          <a:lstStyle/>
          <a:p>
            <a:pPr algn="l">
              <a:lnSpc>
                <a:spcPct val="105000"/>
              </a:lnSpc>
            </a:pPr>
            <a:r>
              <a:rPr sz="1200" b="1" i="0">
                <a:solidFill>
                  <a:srgbClr val="16181D"/>
                </a:solidFill>
                <a:latin typeface="Montserrat"/>
              </a:rPr>
              <a:t>Row-level security on every table</a:t>
            </a:r>
          </a:p>
        </p:txBody>
      </p:sp>
      <p:sp>
        <p:nvSpPr>
          <p:cNvPr id="11" name="TextBox 10"/>
          <p:cNvSpPr txBox="1"/>
          <p:nvPr/>
        </p:nvSpPr>
        <p:spPr>
          <a:xfrm>
            <a:off x="3602736" y="2084832"/>
            <a:ext cx="7872984" cy="685800"/>
          </a:xfrm>
          <a:prstGeom prst="rect">
            <a:avLst/>
          </a:prstGeom>
          <a:noFill/>
        </p:spPr>
        <p:txBody>
          <a:bodyPr wrap="square" lIns="0" rIns="0" tIns="0" bIns="0" anchor="t">
            <a:spAutoFit/>
          </a:bodyPr>
          <a:lstStyle/>
          <a:p>
            <a:pPr algn="l">
              <a:lnSpc>
                <a:spcPct val="122000"/>
              </a:lnSpc>
            </a:pPr>
            <a:r>
              <a:rPr sz="1030" b="0" i="0">
                <a:solidFill>
                  <a:srgbClr val="6E7180"/>
                </a:solidFill>
                <a:latin typeface="Geist"/>
              </a:rPr>
              <a:t>Each query is scoped to the officer's jurisdiction in the DB. The UI's role-filtered menus are cosmetic; the server re-checks everything.</a:t>
            </a:r>
          </a:p>
        </p:txBody>
      </p:sp>
      <p:sp>
        <p:nvSpPr>
          <p:cNvPr id="12" name="Oval 11"/>
          <p:cNvSpPr/>
          <p:nvPr/>
        </p:nvSpPr>
        <p:spPr>
          <a:xfrm>
            <a:off x="566928" y="2761488"/>
            <a:ext cx="402336" cy="402336"/>
          </a:xfrm>
          <a:prstGeom prst="ellipse">
            <a:avLst/>
          </a:prstGeom>
          <a:solidFill>
            <a:srgbClr val="E9F7F0"/>
          </a:solidFill>
          <a:ln>
            <a:noFill/>
          </a:ln>
          <a:effectLst/>
        </p:spPr>
        <p:txBody>
          <a:bodyPr rtlCol="0" anchor="ctr"/>
          <a:lstStyle/>
          <a:p>
            <a:pPr algn="ctr"/>
          </a:p>
        </p:txBody>
      </p:sp>
      <p:pic>
        <p:nvPicPr>
          <p:cNvPr id="13" name="Picture 12" descr="key-round_0A9955_256_2.0.png"/>
          <p:cNvPicPr>
            <a:picLocks noChangeAspect="1"/>
          </p:cNvPicPr>
          <p:nvPr/>
        </p:nvPicPr>
        <p:blipFill>
          <a:blip r:embed="rId3"/>
          <a:stretch>
            <a:fillRect/>
          </a:stretch>
        </p:blipFill>
        <p:spPr>
          <a:xfrm>
            <a:off x="663488" y="2858048"/>
            <a:ext cx="209214" cy="209214"/>
          </a:xfrm>
          <a:prstGeom prst="rect">
            <a:avLst/>
          </a:prstGeom>
        </p:spPr>
      </p:pic>
      <p:sp>
        <p:nvSpPr>
          <p:cNvPr id="14" name="TextBox 13"/>
          <p:cNvSpPr txBox="1"/>
          <p:nvPr/>
        </p:nvSpPr>
        <p:spPr>
          <a:xfrm>
            <a:off x="1133856" y="2743200"/>
            <a:ext cx="2377440" cy="457200"/>
          </a:xfrm>
          <a:prstGeom prst="rect">
            <a:avLst/>
          </a:prstGeom>
          <a:noFill/>
        </p:spPr>
        <p:txBody>
          <a:bodyPr wrap="square" lIns="0" rIns="0" tIns="0" bIns="0" anchor="t">
            <a:spAutoFit/>
          </a:bodyPr>
          <a:lstStyle/>
          <a:p>
            <a:pPr algn="l">
              <a:lnSpc>
                <a:spcPct val="105000"/>
              </a:lnSpc>
            </a:pPr>
            <a:r>
              <a:rPr sz="1200" b="1" i="0">
                <a:solidFill>
                  <a:srgbClr val="16181D"/>
                </a:solidFill>
                <a:latin typeface="Montserrat"/>
              </a:rPr>
              <a:t>Roles ride in verified tokens</a:t>
            </a:r>
          </a:p>
        </p:txBody>
      </p:sp>
      <p:sp>
        <p:nvSpPr>
          <p:cNvPr id="15" name="TextBox 14"/>
          <p:cNvSpPr txBox="1"/>
          <p:nvPr/>
        </p:nvSpPr>
        <p:spPr>
          <a:xfrm>
            <a:off x="3602736" y="2743200"/>
            <a:ext cx="7872984" cy="685800"/>
          </a:xfrm>
          <a:prstGeom prst="rect">
            <a:avLst/>
          </a:prstGeom>
          <a:noFill/>
        </p:spPr>
        <p:txBody>
          <a:bodyPr wrap="square" lIns="0" rIns="0" tIns="0" bIns="0" anchor="t">
            <a:spAutoFit/>
          </a:bodyPr>
          <a:lstStyle/>
          <a:p>
            <a:pPr algn="l">
              <a:lnSpc>
                <a:spcPct val="122000"/>
              </a:lnSpc>
            </a:pPr>
            <a:r>
              <a:rPr sz="1030" b="0" i="0">
                <a:solidFill>
                  <a:srgbClr val="6E7180"/>
                </a:solidFill>
                <a:latin typeface="Geist"/>
              </a:rPr>
              <a:t>Role + jurisdiction are embedded in the signed login token; anything unreadable fails closed to the least-privileged role. No role is claimable from the client.</a:t>
            </a:r>
          </a:p>
        </p:txBody>
      </p:sp>
      <p:sp>
        <p:nvSpPr>
          <p:cNvPr id="16" name="Oval 15"/>
          <p:cNvSpPr/>
          <p:nvPr/>
        </p:nvSpPr>
        <p:spPr>
          <a:xfrm>
            <a:off x="566928" y="3419856"/>
            <a:ext cx="402336" cy="402336"/>
          </a:xfrm>
          <a:prstGeom prst="ellipse">
            <a:avLst/>
          </a:prstGeom>
          <a:solidFill>
            <a:srgbClr val="E7F4F4"/>
          </a:solidFill>
          <a:ln>
            <a:noFill/>
          </a:ln>
          <a:effectLst/>
        </p:spPr>
        <p:txBody>
          <a:bodyPr rtlCol="0" anchor="ctr"/>
          <a:lstStyle/>
          <a:p>
            <a:pPr algn="ctr"/>
          </a:p>
        </p:txBody>
      </p:sp>
      <p:pic>
        <p:nvPicPr>
          <p:cNvPr id="17" name="Picture 16" descr="git-merge_0E8A8A_256_2.0.png"/>
          <p:cNvPicPr>
            <a:picLocks noChangeAspect="1"/>
          </p:cNvPicPr>
          <p:nvPr/>
        </p:nvPicPr>
        <p:blipFill>
          <a:blip r:embed="rId4"/>
          <a:stretch>
            <a:fillRect/>
          </a:stretch>
        </p:blipFill>
        <p:spPr>
          <a:xfrm>
            <a:off x="663488" y="3516416"/>
            <a:ext cx="209214" cy="209214"/>
          </a:xfrm>
          <a:prstGeom prst="rect">
            <a:avLst/>
          </a:prstGeom>
        </p:spPr>
      </p:pic>
      <p:sp>
        <p:nvSpPr>
          <p:cNvPr id="18" name="TextBox 17"/>
          <p:cNvSpPr txBox="1"/>
          <p:nvPr/>
        </p:nvSpPr>
        <p:spPr>
          <a:xfrm>
            <a:off x="1133856" y="3401568"/>
            <a:ext cx="2377440" cy="457200"/>
          </a:xfrm>
          <a:prstGeom prst="rect">
            <a:avLst/>
          </a:prstGeom>
          <a:noFill/>
        </p:spPr>
        <p:txBody>
          <a:bodyPr wrap="square" lIns="0" rIns="0" tIns="0" bIns="0" anchor="t">
            <a:spAutoFit/>
          </a:bodyPr>
          <a:lstStyle/>
          <a:p>
            <a:pPr algn="l">
              <a:lnSpc>
                <a:spcPct val="105000"/>
              </a:lnSpc>
            </a:pPr>
            <a:r>
              <a:rPr sz="1200" b="1" i="0">
                <a:solidFill>
                  <a:srgbClr val="16181D"/>
                </a:solidFill>
                <a:latin typeface="Montserrat"/>
              </a:rPr>
              <a:t>A state-machine trigger binds everyone</a:t>
            </a:r>
          </a:p>
        </p:txBody>
      </p:sp>
      <p:sp>
        <p:nvSpPr>
          <p:cNvPr id="19" name="TextBox 18"/>
          <p:cNvSpPr txBox="1"/>
          <p:nvPr/>
        </p:nvSpPr>
        <p:spPr>
          <a:xfrm>
            <a:off x="3602736" y="3401568"/>
            <a:ext cx="7872984" cy="685800"/>
          </a:xfrm>
          <a:prstGeom prst="rect">
            <a:avLst/>
          </a:prstGeom>
          <a:noFill/>
        </p:spPr>
        <p:txBody>
          <a:bodyPr wrap="square" lIns="0" rIns="0" tIns="0" bIns="0" anchor="t">
            <a:spAutoFit/>
          </a:bodyPr>
          <a:lstStyle/>
          <a:p>
            <a:pPr algn="l">
              <a:lnSpc>
                <a:spcPct val="122000"/>
              </a:lnSpc>
            </a:pPr>
            <a:r>
              <a:rPr sz="1030" b="0" i="0">
                <a:solidFill>
                  <a:srgbClr val="6E7180"/>
                </a:solidFill>
                <a:latin typeface="Geist"/>
              </a:rPr>
              <a:t>Incl. admins and the service key: no case created mid-flow, amount capped to the statutory tier, Form II before Form III, PAID needs a UTR, terminal states immutable. No back door.</a:t>
            </a:r>
          </a:p>
        </p:txBody>
      </p:sp>
      <p:sp>
        <p:nvSpPr>
          <p:cNvPr id="20" name="Oval 19"/>
          <p:cNvSpPr/>
          <p:nvPr/>
        </p:nvSpPr>
        <p:spPr>
          <a:xfrm>
            <a:off x="566928" y="4078224"/>
            <a:ext cx="402336" cy="402336"/>
          </a:xfrm>
          <a:prstGeom prst="ellipse">
            <a:avLst/>
          </a:prstGeom>
          <a:solidFill>
            <a:srgbClr val="FDF3E3"/>
          </a:solidFill>
          <a:ln>
            <a:noFill/>
          </a:ln>
          <a:effectLst/>
        </p:spPr>
        <p:txBody>
          <a:bodyPr rtlCol="0" anchor="ctr"/>
          <a:lstStyle/>
          <a:p>
            <a:pPr algn="ctr"/>
          </a:p>
        </p:txBody>
      </p:sp>
      <p:pic>
        <p:nvPicPr>
          <p:cNvPr id="21" name="Picture 20" descr="folder-lock_E58900_256_2.0.png"/>
          <p:cNvPicPr>
            <a:picLocks noChangeAspect="1"/>
          </p:cNvPicPr>
          <p:nvPr/>
        </p:nvPicPr>
        <p:blipFill>
          <a:blip r:embed="rId5"/>
          <a:stretch>
            <a:fillRect/>
          </a:stretch>
        </p:blipFill>
        <p:spPr>
          <a:xfrm>
            <a:off x="663488" y="4174784"/>
            <a:ext cx="209214" cy="209214"/>
          </a:xfrm>
          <a:prstGeom prst="rect">
            <a:avLst/>
          </a:prstGeom>
        </p:spPr>
      </p:pic>
      <p:sp>
        <p:nvSpPr>
          <p:cNvPr id="22" name="TextBox 21"/>
          <p:cNvSpPr txBox="1"/>
          <p:nvPr/>
        </p:nvSpPr>
        <p:spPr>
          <a:xfrm>
            <a:off x="1133856" y="4059936"/>
            <a:ext cx="2377440" cy="457200"/>
          </a:xfrm>
          <a:prstGeom prst="rect">
            <a:avLst/>
          </a:prstGeom>
          <a:noFill/>
        </p:spPr>
        <p:txBody>
          <a:bodyPr wrap="square" lIns="0" rIns="0" tIns="0" bIns="0" anchor="t">
            <a:spAutoFit/>
          </a:bodyPr>
          <a:lstStyle/>
          <a:p>
            <a:pPr algn="l">
              <a:lnSpc>
                <a:spcPct val="105000"/>
              </a:lnSpc>
            </a:pPr>
            <a:r>
              <a:rPr sz="1200" b="1" i="0">
                <a:solidFill>
                  <a:srgbClr val="16181D"/>
                </a:solidFill>
                <a:latin typeface="Montserrat"/>
              </a:rPr>
              <a:t>Documents in deny-all storage</a:t>
            </a:r>
          </a:p>
        </p:txBody>
      </p:sp>
      <p:sp>
        <p:nvSpPr>
          <p:cNvPr id="23" name="TextBox 22"/>
          <p:cNvSpPr txBox="1"/>
          <p:nvPr/>
        </p:nvSpPr>
        <p:spPr>
          <a:xfrm>
            <a:off x="3602736" y="4059936"/>
            <a:ext cx="7872984" cy="685800"/>
          </a:xfrm>
          <a:prstGeom prst="rect">
            <a:avLst/>
          </a:prstGeom>
          <a:noFill/>
        </p:spPr>
        <p:txBody>
          <a:bodyPr wrap="square" lIns="0" rIns="0" tIns="0" bIns="0" anchor="t">
            <a:spAutoFit/>
          </a:bodyPr>
          <a:lstStyle/>
          <a:p>
            <a:pPr algn="l">
              <a:lnSpc>
                <a:spcPct val="122000"/>
              </a:lnSpc>
            </a:pPr>
            <a:r>
              <a:rPr sz="1030" b="0" i="0">
                <a:solidFill>
                  <a:srgbClr val="6E7180"/>
                </a:solidFill>
                <a:latin typeface="Geist"/>
              </a:rPr>
              <a:t>The only way to a file is a short-lived signed URL issued after the server checks authorisation. The service key never reaches a browser.</a:t>
            </a:r>
          </a:p>
        </p:txBody>
      </p:sp>
      <p:sp>
        <p:nvSpPr>
          <p:cNvPr id="24" name="Oval 23"/>
          <p:cNvSpPr/>
          <p:nvPr/>
        </p:nvSpPr>
        <p:spPr>
          <a:xfrm>
            <a:off x="566928" y="4736592"/>
            <a:ext cx="402336" cy="402336"/>
          </a:xfrm>
          <a:prstGeom prst="ellipse">
            <a:avLst/>
          </a:prstGeom>
          <a:solidFill>
            <a:srgbClr val="EFEDFF"/>
          </a:solidFill>
          <a:ln>
            <a:noFill/>
          </a:ln>
          <a:effectLst/>
        </p:spPr>
        <p:txBody>
          <a:bodyPr rtlCol="0" anchor="ctr"/>
          <a:lstStyle/>
          <a:p>
            <a:pPr algn="ctr"/>
          </a:p>
        </p:txBody>
      </p:sp>
      <p:pic>
        <p:nvPicPr>
          <p:cNvPr id="25" name="Picture 24" descr="scroll-text_4A35FF_256_2.0.png"/>
          <p:cNvPicPr>
            <a:picLocks noChangeAspect="1"/>
          </p:cNvPicPr>
          <p:nvPr/>
        </p:nvPicPr>
        <p:blipFill>
          <a:blip r:embed="rId6"/>
          <a:stretch>
            <a:fillRect/>
          </a:stretch>
        </p:blipFill>
        <p:spPr>
          <a:xfrm>
            <a:off x="663488" y="4833152"/>
            <a:ext cx="209214" cy="209214"/>
          </a:xfrm>
          <a:prstGeom prst="rect">
            <a:avLst/>
          </a:prstGeom>
        </p:spPr>
      </p:pic>
      <p:sp>
        <p:nvSpPr>
          <p:cNvPr id="26" name="TextBox 25"/>
          <p:cNvSpPr txBox="1"/>
          <p:nvPr/>
        </p:nvSpPr>
        <p:spPr>
          <a:xfrm>
            <a:off x="1133856" y="4718304"/>
            <a:ext cx="2377440" cy="457200"/>
          </a:xfrm>
          <a:prstGeom prst="rect">
            <a:avLst/>
          </a:prstGeom>
          <a:noFill/>
        </p:spPr>
        <p:txBody>
          <a:bodyPr wrap="square" lIns="0" rIns="0" tIns="0" bIns="0" anchor="t">
            <a:spAutoFit/>
          </a:bodyPr>
          <a:lstStyle/>
          <a:p>
            <a:pPr algn="l">
              <a:lnSpc>
                <a:spcPct val="105000"/>
              </a:lnSpc>
            </a:pPr>
            <a:r>
              <a:rPr sz="1200" b="1" i="0">
                <a:solidFill>
                  <a:srgbClr val="16181D"/>
                </a:solidFill>
                <a:latin typeface="Montserrat"/>
              </a:rPr>
              <a:t>Full, append-only audit log</a:t>
            </a:r>
          </a:p>
        </p:txBody>
      </p:sp>
      <p:sp>
        <p:nvSpPr>
          <p:cNvPr id="27" name="TextBox 26"/>
          <p:cNvSpPr txBox="1"/>
          <p:nvPr/>
        </p:nvSpPr>
        <p:spPr>
          <a:xfrm>
            <a:off x="3602736" y="4718304"/>
            <a:ext cx="7872984" cy="685800"/>
          </a:xfrm>
          <a:prstGeom prst="rect">
            <a:avLst/>
          </a:prstGeom>
          <a:noFill/>
        </p:spPr>
        <p:txBody>
          <a:bodyPr wrap="square" lIns="0" rIns="0" tIns="0" bIns="0" anchor="t">
            <a:spAutoFit/>
          </a:bodyPr>
          <a:lstStyle/>
          <a:p>
            <a:pPr algn="l">
              <a:lnSpc>
                <a:spcPct val="122000"/>
              </a:lnSpc>
            </a:pPr>
            <a:r>
              <a:rPr sz="1030" b="0" i="0">
                <a:solidFill>
                  <a:srgbClr val="6E7180"/>
                </a:solidFill>
                <a:latin typeface="Geist"/>
              </a:rPr>
              <a:t>Every state change records actor, role, before/after and time. Magic links are hashed &amp; expiring; OTPs verified in constant time.</a:t>
            </a:r>
          </a:p>
        </p:txBody>
      </p:sp>
      <p:sp>
        <p:nvSpPr>
          <p:cNvPr id="28" name="Rounded Rectangle 27"/>
          <p:cNvSpPr/>
          <p:nvPr/>
        </p:nvSpPr>
        <p:spPr>
          <a:xfrm>
            <a:off x="566928" y="5486400"/>
            <a:ext cx="11057839" cy="658368"/>
          </a:xfrm>
          <a:prstGeom prst="roundRect">
            <a:avLst>
              <a:gd name="adj" fmla="val 14000"/>
            </a:avLst>
          </a:prstGeom>
          <a:solidFill>
            <a:srgbClr val="EFEDFF"/>
          </a:solidFill>
          <a:ln>
            <a:noFill/>
          </a:ln>
          <a:effectLst/>
        </p:spPr>
        <p:txBody>
          <a:bodyPr rtlCol="0" anchor="ctr"/>
          <a:lstStyle/>
          <a:p>
            <a:pPr algn="ctr"/>
          </a:p>
        </p:txBody>
      </p:sp>
      <p:sp>
        <p:nvSpPr>
          <p:cNvPr id="29" name="TextBox 28"/>
          <p:cNvSpPr txBox="1"/>
          <p:nvPr/>
        </p:nvSpPr>
        <p:spPr>
          <a:xfrm>
            <a:off x="795528" y="5614416"/>
            <a:ext cx="10600639" cy="457200"/>
          </a:xfrm>
          <a:prstGeom prst="rect">
            <a:avLst/>
          </a:prstGeom>
          <a:noFill/>
        </p:spPr>
        <p:txBody>
          <a:bodyPr wrap="square" lIns="0" rIns="0" tIns="0" bIns="0" anchor="t">
            <a:spAutoFit/>
          </a:bodyPr>
          <a:lstStyle/>
          <a:p>
            <a:pPr algn="l">
              <a:lnSpc>
                <a:spcPct val="125000"/>
              </a:lnSpc>
            </a:pPr>
            <a:r>
              <a:rPr sz="1050" b="1" i="0">
                <a:solidFill>
                  <a:srgbClr val="4A35FF"/>
                </a:solidFill>
                <a:latin typeface="Geist"/>
              </a:rPr>
              <a:t>Survives the rebuild as-is: </a:t>
            </a:r>
            <a:r>
              <a:rPr sz="1050" b="0" i="0">
                <a:solidFill>
                  <a:srgbClr val="4A35FF"/>
                </a:solidFill>
                <a:latin typeface="Geist"/>
              </a:rPr>
              <a:t>this model, jurisdiction + role claims, the append-only ledger, and OTP-signed statutory forms. First-day task: rotate every secret — the build-time keys must not be the running keys.</a:t>
            </a:r>
          </a:p>
        </p:txBody>
      </p:sp>
      <p:cxnSp>
        <p:nvCxnSpPr>
          <p:cNvPr id="30" name="Connector 29"/>
          <p:cNvCxnSpPr/>
          <p:nvPr/>
        </p:nvCxnSpPr>
        <p:spPr>
          <a:xfrm>
            <a:off x="566928" y="6455664"/>
            <a:ext cx="11057839" cy="0"/>
          </a:xfrm>
          <a:prstGeom prst="line">
            <a:avLst/>
          </a:prstGeom>
          <a:ln w="9525">
            <a:solidFill>
              <a:srgbClr val="E8E9EE"/>
            </a:solidFill>
          </a:ln>
          <a:effectLst/>
        </p:spPr>
      </p:cxnSp>
      <p:sp>
        <p:nvSpPr>
          <p:cNvPr id="31" name="TextBox 30"/>
          <p:cNvSpPr txBox="1"/>
          <p:nvPr/>
        </p:nvSpPr>
        <p:spPr>
          <a:xfrm>
            <a:off x="566928" y="6528816"/>
            <a:ext cx="86868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SAHAJ — Team Induction Brief   ·   Confidential</a:t>
            </a:r>
          </a:p>
        </p:txBody>
      </p:sp>
      <p:sp>
        <p:nvSpPr>
          <p:cNvPr id="32" name="TextBox 31"/>
          <p:cNvSpPr txBox="1"/>
          <p:nvPr/>
        </p:nvSpPr>
        <p:spPr>
          <a:xfrm>
            <a:off x="10344607" y="6528816"/>
            <a:ext cx="128016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13 / 22</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7692847" y="274320"/>
            <a:ext cx="3931920" cy="219456"/>
          </a:xfrm>
          <a:prstGeom prst="rect">
            <a:avLst/>
          </a:prstGeom>
          <a:noFill/>
        </p:spPr>
        <p:txBody>
          <a:bodyPr wrap="square" lIns="0" rIns="0" tIns="0" bIns="0" anchor="t">
            <a:spAutoFit/>
          </a:bodyPr>
          <a:lstStyle/>
          <a:p>
            <a:pPr algn="r">
              <a:lnSpc>
                <a:spcPct val="128000"/>
              </a:lnSpc>
            </a:pPr>
            <a:r>
              <a:rPr sz="800" b="1" i="0" spc="150">
                <a:solidFill>
                  <a:srgbClr val="6E7180"/>
                </a:solidFill>
                <a:latin typeface="Montserrat"/>
              </a:rPr>
              <a:t>SECTION 3 OF 5   ·   UNDER THE HOOD</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03 · UNDER THE HOOD</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Modular &amp; multi-tenant — </a:t>
            </a:r>
            <a:r>
              <a:rPr sz="2250" b="1" i="0">
                <a:solidFill>
                  <a:srgbClr val="4A35FF"/>
                </a:solidFill>
                <a:latin typeface="Montserrat"/>
              </a:rPr>
              <a:t>a new district is a workbook, not a deploy</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Built to serve any Indian state. One security kernel; feature modules around it; each deployment is just another set of jurisdictions.</a:t>
            </a:r>
          </a:p>
        </p:txBody>
      </p:sp>
      <p:sp>
        <p:nvSpPr>
          <p:cNvPr id="8" name="TextBox 7"/>
          <p:cNvSpPr txBox="1"/>
          <p:nvPr/>
        </p:nvSpPr>
        <p:spPr>
          <a:xfrm>
            <a:off x="566928" y="2011680"/>
            <a:ext cx="3657600" cy="256032"/>
          </a:xfrm>
          <a:prstGeom prst="rect">
            <a:avLst/>
          </a:prstGeom>
          <a:noFill/>
        </p:spPr>
        <p:txBody>
          <a:bodyPr wrap="square" lIns="0" rIns="0" tIns="0" bIns="0" anchor="t">
            <a:spAutoFit/>
          </a:bodyPr>
          <a:lstStyle/>
          <a:p>
            <a:pPr algn="l">
              <a:lnSpc>
                <a:spcPct val="128000"/>
              </a:lnSpc>
            </a:pPr>
            <a:r>
              <a:rPr sz="900" b="1" i="0" spc="140">
                <a:solidFill>
                  <a:srgbClr val="6E7180"/>
                </a:solidFill>
                <a:latin typeface="Montserrat"/>
              </a:rPr>
              <a:t>ONE JURISDICTION SPINE</a:t>
            </a:r>
          </a:p>
        </p:txBody>
      </p:sp>
      <p:sp>
        <p:nvSpPr>
          <p:cNvPr id="9" name="Rounded Rectangle 8"/>
          <p:cNvSpPr/>
          <p:nvPr/>
        </p:nvSpPr>
        <p:spPr>
          <a:xfrm>
            <a:off x="566928" y="2331720"/>
            <a:ext cx="3383280" cy="457200"/>
          </a:xfrm>
          <a:prstGeom prst="roundRect">
            <a:avLst>
              <a:gd name="adj" fmla="val 12000"/>
            </a:avLst>
          </a:prstGeom>
          <a:solidFill>
            <a:srgbClr val="F7F7FA"/>
          </a:solidFill>
          <a:ln>
            <a:noFill/>
          </a:ln>
          <a:effectLst/>
        </p:spPr>
        <p:txBody>
          <a:bodyPr rtlCol="0" anchor="ctr"/>
          <a:lstStyle/>
          <a:p>
            <a:pPr algn="ctr"/>
          </a:p>
        </p:txBody>
      </p:sp>
      <p:sp>
        <p:nvSpPr>
          <p:cNvPr id="10" name="Oval 9"/>
          <p:cNvSpPr/>
          <p:nvPr/>
        </p:nvSpPr>
        <p:spPr>
          <a:xfrm>
            <a:off x="658368" y="2377440"/>
            <a:ext cx="365760" cy="365760"/>
          </a:xfrm>
          <a:prstGeom prst="ellipse">
            <a:avLst/>
          </a:prstGeom>
          <a:solidFill>
            <a:srgbClr val="EFEDFF"/>
          </a:solidFill>
          <a:ln>
            <a:noFill/>
          </a:ln>
          <a:effectLst/>
        </p:spPr>
        <p:txBody>
          <a:bodyPr rtlCol="0" anchor="ctr"/>
          <a:lstStyle/>
          <a:p>
            <a:pPr algn="ctr"/>
          </a:p>
        </p:txBody>
      </p:sp>
      <p:pic>
        <p:nvPicPr>
          <p:cNvPr id="11" name="Picture 10" descr="landmark_4A35FF_256_2.0.png"/>
          <p:cNvPicPr>
            <a:picLocks noChangeAspect="1"/>
          </p:cNvPicPr>
          <p:nvPr/>
        </p:nvPicPr>
        <p:blipFill>
          <a:blip r:embed="rId2"/>
          <a:stretch>
            <a:fillRect/>
          </a:stretch>
        </p:blipFill>
        <p:spPr>
          <a:xfrm>
            <a:off x="746150" y="2465222"/>
            <a:ext cx="190195" cy="190195"/>
          </a:xfrm>
          <a:prstGeom prst="rect">
            <a:avLst/>
          </a:prstGeom>
        </p:spPr>
      </p:pic>
      <p:sp>
        <p:nvSpPr>
          <p:cNvPr id="12" name="TextBox 11"/>
          <p:cNvSpPr txBox="1"/>
          <p:nvPr/>
        </p:nvSpPr>
        <p:spPr>
          <a:xfrm>
            <a:off x="1133856" y="2331720"/>
            <a:ext cx="2743200" cy="457200"/>
          </a:xfrm>
          <a:prstGeom prst="rect">
            <a:avLst/>
          </a:prstGeom>
          <a:noFill/>
        </p:spPr>
        <p:txBody>
          <a:bodyPr wrap="square" lIns="0" rIns="0" tIns="0" bIns="0" anchor="ctr">
            <a:spAutoFit/>
          </a:bodyPr>
          <a:lstStyle/>
          <a:p>
            <a:pPr algn="l">
              <a:lnSpc>
                <a:spcPct val="128000"/>
              </a:lnSpc>
            </a:pPr>
            <a:r>
              <a:rPr sz="1150" b="1" i="0">
                <a:solidFill>
                  <a:srgbClr val="16181D"/>
                </a:solidFill>
                <a:latin typeface="Montserrat"/>
              </a:rPr>
              <a:t>State</a:t>
            </a:r>
          </a:p>
        </p:txBody>
      </p:sp>
      <p:sp>
        <p:nvSpPr>
          <p:cNvPr id="13" name="TextBox 12"/>
          <p:cNvSpPr txBox="1"/>
          <p:nvPr/>
        </p:nvSpPr>
        <p:spPr>
          <a:xfrm>
            <a:off x="2029968" y="2752344"/>
            <a:ext cx="365760" cy="182880"/>
          </a:xfrm>
          <a:prstGeom prst="rect">
            <a:avLst/>
          </a:prstGeom>
          <a:noFill/>
        </p:spPr>
        <p:txBody>
          <a:bodyPr wrap="square" lIns="0" rIns="0" tIns="0" bIns="0" anchor="t">
            <a:spAutoFit/>
          </a:bodyPr>
          <a:lstStyle/>
          <a:p>
            <a:pPr algn="l">
              <a:lnSpc>
                <a:spcPct val="128000"/>
              </a:lnSpc>
            </a:pPr>
            <a:r>
              <a:rPr sz="1200" b="0" i="0">
                <a:solidFill>
                  <a:srgbClr val="6E7180"/>
                </a:solidFill>
                <a:latin typeface="Geist"/>
              </a:rPr>
              <a:t>↓</a:t>
            </a:r>
          </a:p>
        </p:txBody>
      </p:sp>
      <p:sp>
        <p:nvSpPr>
          <p:cNvPr id="14" name="Rounded Rectangle 13"/>
          <p:cNvSpPr/>
          <p:nvPr/>
        </p:nvSpPr>
        <p:spPr>
          <a:xfrm>
            <a:off x="566928" y="2898648"/>
            <a:ext cx="3383280" cy="457200"/>
          </a:xfrm>
          <a:prstGeom prst="roundRect">
            <a:avLst>
              <a:gd name="adj" fmla="val 12000"/>
            </a:avLst>
          </a:prstGeom>
          <a:solidFill>
            <a:srgbClr val="F7F7FA"/>
          </a:solidFill>
          <a:ln>
            <a:noFill/>
          </a:ln>
          <a:effectLst/>
        </p:spPr>
        <p:txBody>
          <a:bodyPr rtlCol="0" anchor="ctr"/>
          <a:lstStyle/>
          <a:p>
            <a:pPr algn="ctr"/>
          </a:p>
        </p:txBody>
      </p:sp>
      <p:sp>
        <p:nvSpPr>
          <p:cNvPr id="15" name="Oval 14"/>
          <p:cNvSpPr/>
          <p:nvPr/>
        </p:nvSpPr>
        <p:spPr>
          <a:xfrm>
            <a:off x="658368" y="2944368"/>
            <a:ext cx="365760" cy="365760"/>
          </a:xfrm>
          <a:prstGeom prst="ellipse">
            <a:avLst/>
          </a:prstGeom>
          <a:solidFill>
            <a:srgbClr val="EFEDFF"/>
          </a:solidFill>
          <a:ln>
            <a:noFill/>
          </a:ln>
          <a:effectLst/>
        </p:spPr>
        <p:txBody>
          <a:bodyPr rtlCol="0" anchor="ctr"/>
          <a:lstStyle/>
          <a:p>
            <a:pPr algn="ctr"/>
          </a:p>
        </p:txBody>
      </p:sp>
      <p:pic>
        <p:nvPicPr>
          <p:cNvPr id="16" name="Picture 15" descr="building-2_4A35FF_256_2.0.png"/>
          <p:cNvPicPr>
            <a:picLocks noChangeAspect="1"/>
          </p:cNvPicPr>
          <p:nvPr/>
        </p:nvPicPr>
        <p:blipFill>
          <a:blip r:embed="rId3"/>
          <a:stretch>
            <a:fillRect/>
          </a:stretch>
        </p:blipFill>
        <p:spPr>
          <a:xfrm>
            <a:off x="746150" y="3032150"/>
            <a:ext cx="190195" cy="190195"/>
          </a:xfrm>
          <a:prstGeom prst="rect">
            <a:avLst/>
          </a:prstGeom>
        </p:spPr>
      </p:pic>
      <p:sp>
        <p:nvSpPr>
          <p:cNvPr id="17" name="TextBox 16"/>
          <p:cNvSpPr txBox="1"/>
          <p:nvPr/>
        </p:nvSpPr>
        <p:spPr>
          <a:xfrm>
            <a:off x="1133856" y="2898648"/>
            <a:ext cx="2743200" cy="457200"/>
          </a:xfrm>
          <a:prstGeom prst="rect">
            <a:avLst/>
          </a:prstGeom>
          <a:noFill/>
        </p:spPr>
        <p:txBody>
          <a:bodyPr wrap="square" lIns="0" rIns="0" tIns="0" bIns="0" anchor="ctr">
            <a:spAutoFit/>
          </a:bodyPr>
          <a:lstStyle/>
          <a:p>
            <a:pPr algn="l">
              <a:lnSpc>
                <a:spcPct val="128000"/>
              </a:lnSpc>
            </a:pPr>
            <a:r>
              <a:rPr sz="1150" b="1" i="0">
                <a:solidFill>
                  <a:srgbClr val="16181D"/>
                </a:solidFill>
                <a:latin typeface="Montserrat"/>
              </a:rPr>
              <a:t>District</a:t>
            </a:r>
          </a:p>
        </p:txBody>
      </p:sp>
      <p:sp>
        <p:nvSpPr>
          <p:cNvPr id="18" name="TextBox 17"/>
          <p:cNvSpPr txBox="1"/>
          <p:nvPr/>
        </p:nvSpPr>
        <p:spPr>
          <a:xfrm>
            <a:off x="2029968" y="3319272"/>
            <a:ext cx="365760" cy="182880"/>
          </a:xfrm>
          <a:prstGeom prst="rect">
            <a:avLst/>
          </a:prstGeom>
          <a:noFill/>
        </p:spPr>
        <p:txBody>
          <a:bodyPr wrap="square" lIns="0" rIns="0" tIns="0" bIns="0" anchor="t">
            <a:spAutoFit/>
          </a:bodyPr>
          <a:lstStyle/>
          <a:p>
            <a:pPr algn="l">
              <a:lnSpc>
                <a:spcPct val="128000"/>
              </a:lnSpc>
            </a:pPr>
            <a:r>
              <a:rPr sz="1200" b="0" i="0">
                <a:solidFill>
                  <a:srgbClr val="6E7180"/>
                </a:solidFill>
                <a:latin typeface="Geist"/>
              </a:rPr>
              <a:t>↓</a:t>
            </a:r>
          </a:p>
        </p:txBody>
      </p:sp>
      <p:sp>
        <p:nvSpPr>
          <p:cNvPr id="19" name="Rounded Rectangle 18"/>
          <p:cNvSpPr/>
          <p:nvPr/>
        </p:nvSpPr>
        <p:spPr>
          <a:xfrm>
            <a:off x="566928" y="3465576"/>
            <a:ext cx="3383280" cy="457200"/>
          </a:xfrm>
          <a:prstGeom prst="roundRect">
            <a:avLst>
              <a:gd name="adj" fmla="val 12000"/>
            </a:avLst>
          </a:prstGeom>
          <a:solidFill>
            <a:srgbClr val="F7F7FA"/>
          </a:solidFill>
          <a:ln>
            <a:noFill/>
          </a:ln>
          <a:effectLst/>
        </p:spPr>
        <p:txBody>
          <a:bodyPr rtlCol="0" anchor="ctr"/>
          <a:lstStyle/>
          <a:p>
            <a:pPr algn="ctr"/>
          </a:p>
        </p:txBody>
      </p:sp>
      <p:sp>
        <p:nvSpPr>
          <p:cNvPr id="20" name="Oval 19"/>
          <p:cNvSpPr/>
          <p:nvPr/>
        </p:nvSpPr>
        <p:spPr>
          <a:xfrm>
            <a:off x="658368" y="3511296"/>
            <a:ext cx="365760" cy="365760"/>
          </a:xfrm>
          <a:prstGeom prst="ellipse">
            <a:avLst/>
          </a:prstGeom>
          <a:solidFill>
            <a:srgbClr val="EFEDFF"/>
          </a:solidFill>
          <a:ln>
            <a:noFill/>
          </a:ln>
          <a:effectLst/>
        </p:spPr>
        <p:txBody>
          <a:bodyPr rtlCol="0" anchor="ctr"/>
          <a:lstStyle/>
          <a:p>
            <a:pPr algn="ctr"/>
          </a:p>
        </p:txBody>
      </p:sp>
      <p:pic>
        <p:nvPicPr>
          <p:cNvPr id="21" name="Picture 20" descr="map_4A35FF_256_2.0.png"/>
          <p:cNvPicPr>
            <a:picLocks noChangeAspect="1"/>
          </p:cNvPicPr>
          <p:nvPr/>
        </p:nvPicPr>
        <p:blipFill>
          <a:blip r:embed="rId4"/>
          <a:stretch>
            <a:fillRect/>
          </a:stretch>
        </p:blipFill>
        <p:spPr>
          <a:xfrm>
            <a:off x="746150" y="3599078"/>
            <a:ext cx="190195" cy="190195"/>
          </a:xfrm>
          <a:prstGeom prst="rect">
            <a:avLst/>
          </a:prstGeom>
        </p:spPr>
      </p:pic>
      <p:sp>
        <p:nvSpPr>
          <p:cNvPr id="22" name="TextBox 21"/>
          <p:cNvSpPr txBox="1"/>
          <p:nvPr/>
        </p:nvSpPr>
        <p:spPr>
          <a:xfrm>
            <a:off x="1133856" y="3465576"/>
            <a:ext cx="2743200" cy="457200"/>
          </a:xfrm>
          <a:prstGeom prst="rect">
            <a:avLst/>
          </a:prstGeom>
          <a:noFill/>
        </p:spPr>
        <p:txBody>
          <a:bodyPr wrap="square" lIns="0" rIns="0" tIns="0" bIns="0" anchor="ctr">
            <a:spAutoFit/>
          </a:bodyPr>
          <a:lstStyle/>
          <a:p>
            <a:pPr algn="l">
              <a:lnSpc>
                <a:spcPct val="128000"/>
              </a:lnSpc>
            </a:pPr>
            <a:r>
              <a:rPr sz="1150" b="1" i="0">
                <a:solidFill>
                  <a:srgbClr val="16181D"/>
                </a:solidFill>
                <a:latin typeface="Montserrat"/>
              </a:rPr>
              <a:t>Subdivision (Tehsil)</a:t>
            </a:r>
          </a:p>
        </p:txBody>
      </p:sp>
      <p:sp>
        <p:nvSpPr>
          <p:cNvPr id="23" name="TextBox 22"/>
          <p:cNvSpPr txBox="1"/>
          <p:nvPr/>
        </p:nvSpPr>
        <p:spPr>
          <a:xfrm>
            <a:off x="2029968" y="3886200"/>
            <a:ext cx="365760" cy="182880"/>
          </a:xfrm>
          <a:prstGeom prst="rect">
            <a:avLst/>
          </a:prstGeom>
          <a:noFill/>
        </p:spPr>
        <p:txBody>
          <a:bodyPr wrap="square" lIns="0" rIns="0" tIns="0" bIns="0" anchor="t">
            <a:spAutoFit/>
          </a:bodyPr>
          <a:lstStyle/>
          <a:p>
            <a:pPr algn="l">
              <a:lnSpc>
                <a:spcPct val="128000"/>
              </a:lnSpc>
            </a:pPr>
            <a:r>
              <a:rPr sz="1200" b="0" i="0">
                <a:solidFill>
                  <a:srgbClr val="6E7180"/>
                </a:solidFill>
                <a:latin typeface="Geist"/>
              </a:rPr>
              <a:t>↓</a:t>
            </a:r>
          </a:p>
        </p:txBody>
      </p:sp>
      <p:sp>
        <p:nvSpPr>
          <p:cNvPr id="24" name="Rounded Rectangle 23"/>
          <p:cNvSpPr/>
          <p:nvPr/>
        </p:nvSpPr>
        <p:spPr>
          <a:xfrm>
            <a:off x="566928" y="4032504"/>
            <a:ext cx="3383280" cy="457200"/>
          </a:xfrm>
          <a:prstGeom prst="roundRect">
            <a:avLst>
              <a:gd name="adj" fmla="val 12000"/>
            </a:avLst>
          </a:prstGeom>
          <a:solidFill>
            <a:srgbClr val="F7F7FA"/>
          </a:solidFill>
          <a:ln>
            <a:noFill/>
          </a:ln>
          <a:effectLst/>
        </p:spPr>
        <p:txBody>
          <a:bodyPr rtlCol="0" anchor="ctr"/>
          <a:lstStyle/>
          <a:p>
            <a:pPr algn="ctr"/>
          </a:p>
        </p:txBody>
      </p:sp>
      <p:sp>
        <p:nvSpPr>
          <p:cNvPr id="25" name="Oval 24"/>
          <p:cNvSpPr/>
          <p:nvPr/>
        </p:nvSpPr>
        <p:spPr>
          <a:xfrm>
            <a:off x="658368" y="4078224"/>
            <a:ext cx="365760" cy="365760"/>
          </a:xfrm>
          <a:prstGeom prst="ellipse">
            <a:avLst/>
          </a:prstGeom>
          <a:solidFill>
            <a:srgbClr val="EFEDFF"/>
          </a:solidFill>
          <a:ln>
            <a:noFill/>
          </a:ln>
          <a:effectLst/>
        </p:spPr>
        <p:txBody>
          <a:bodyPr rtlCol="0" anchor="ctr"/>
          <a:lstStyle/>
          <a:p>
            <a:pPr algn="ctr"/>
          </a:p>
        </p:txBody>
      </p:sp>
      <p:pic>
        <p:nvPicPr>
          <p:cNvPr id="26" name="Picture 25" descr="shield_4A35FF_256_2.0.png"/>
          <p:cNvPicPr>
            <a:picLocks noChangeAspect="1"/>
          </p:cNvPicPr>
          <p:nvPr/>
        </p:nvPicPr>
        <p:blipFill>
          <a:blip r:embed="rId5"/>
          <a:stretch>
            <a:fillRect/>
          </a:stretch>
        </p:blipFill>
        <p:spPr>
          <a:xfrm>
            <a:off x="746150" y="4166006"/>
            <a:ext cx="190195" cy="190195"/>
          </a:xfrm>
          <a:prstGeom prst="rect">
            <a:avLst/>
          </a:prstGeom>
        </p:spPr>
      </p:pic>
      <p:sp>
        <p:nvSpPr>
          <p:cNvPr id="27" name="TextBox 26"/>
          <p:cNvSpPr txBox="1"/>
          <p:nvPr/>
        </p:nvSpPr>
        <p:spPr>
          <a:xfrm>
            <a:off x="1133856" y="4032504"/>
            <a:ext cx="2743200" cy="457200"/>
          </a:xfrm>
          <a:prstGeom prst="rect">
            <a:avLst/>
          </a:prstGeom>
          <a:noFill/>
        </p:spPr>
        <p:txBody>
          <a:bodyPr wrap="square" lIns="0" rIns="0" tIns="0" bIns="0" anchor="ctr">
            <a:spAutoFit/>
          </a:bodyPr>
          <a:lstStyle/>
          <a:p>
            <a:pPr algn="l">
              <a:lnSpc>
                <a:spcPct val="128000"/>
              </a:lnSpc>
            </a:pPr>
            <a:r>
              <a:rPr sz="1150" b="1" i="0">
                <a:solidFill>
                  <a:srgbClr val="16181D"/>
                </a:solidFill>
                <a:latin typeface="Montserrat"/>
              </a:rPr>
              <a:t>Thana</a:t>
            </a:r>
          </a:p>
        </p:txBody>
      </p:sp>
      <p:sp>
        <p:nvSpPr>
          <p:cNvPr id="28" name="Rounded Rectangle 27"/>
          <p:cNvSpPr/>
          <p:nvPr/>
        </p:nvSpPr>
        <p:spPr>
          <a:xfrm>
            <a:off x="566928" y="4645152"/>
            <a:ext cx="3383280" cy="566928"/>
          </a:xfrm>
          <a:prstGeom prst="roundRect">
            <a:avLst>
              <a:gd name="adj" fmla="val 14000"/>
            </a:avLst>
          </a:prstGeom>
          <a:solidFill>
            <a:srgbClr val="EFEDFF"/>
          </a:solidFill>
          <a:ln>
            <a:noFill/>
          </a:ln>
          <a:effectLst/>
        </p:spPr>
        <p:txBody>
          <a:bodyPr rtlCol="0" anchor="ctr"/>
          <a:lstStyle/>
          <a:p>
            <a:pPr algn="ctr"/>
          </a:p>
        </p:txBody>
      </p:sp>
      <p:sp>
        <p:nvSpPr>
          <p:cNvPr id="29" name="TextBox 28"/>
          <p:cNvSpPr txBox="1"/>
          <p:nvPr/>
        </p:nvSpPr>
        <p:spPr>
          <a:xfrm>
            <a:off x="731520" y="4709160"/>
            <a:ext cx="3108960" cy="457200"/>
          </a:xfrm>
          <a:prstGeom prst="rect">
            <a:avLst/>
          </a:prstGeom>
          <a:noFill/>
        </p:spPr>
        <p:txBody>
          <a:bodyPr wrap="square" lIns="0" rIns="0" tIns="0" bIns="0" anchor="t">
            <a:spAutoFit/>
          </a:bodyPr>
          <a:lstStyle/>
          <a:p>
            <a:pPr algn="l">
              <a:lnSpc>
                <a:spcPct val="115000"/>
              </a:lnSpc>
            </a:pPr>
            <a:r>
              <a:rPr sz="1000" b="1" i="0">
                <a:solidFill>
                  <a:srgbClr val="4A35FF"/>
                </a:solidFill>
                <a:latin typeface="Geist"/>
              </a:rPr>
              <a:t>One RLS rule: </a:t>
            </a:r>
            <a:r>
              <a:rPr sz="1000" b="0" i="0">
                <a:solidFill>
                  <a:srgbClr val="4A35FF"/>
                </a:solidFill>
                <a:latin typeface="Geist"/>
              </a:rPr>
              <a:t>case_in_my_jurisdiction()</a:t>
            </a:r>
          </a:p>
        </p:txBody>
      </p:sp>
      <p:sp>
        <p:nvSpPr>
          <p:cNvPr id="30" name="TextBox 29"/>
          <p:cNvSpPr txBox="1"/>
          <p:nvPr/>
        </p:nvSpPr>
        <p:spPr>
          <a:xfrm>
            <a:off x="4480560" y="2011680"/>
            <a:ext cx="7144207" cy="256032"/>
          </a:xfrm>
          <a:prstGeom prst="rect">
            <a:avLst/>
          </a:prstGeom>
          <a:noFill/>
        </p:spPr>
        <p:txBody>
          <a:bodyPr wrap="square" lIns="0" rIns="0" tIns="0" bIns="0" anchor="t">
            <a:spAutoFit/>
          </a:bodyPr>
          <a:lstStyle/>
          <a:p>
            <a:pPr algn="l">
              <a:lnSpc>
                <a:spcPct val="128000"/>
              </a:lnSpc>
            </a:pPr>
            <a:r>
              <a:rPr sz="900" b="1" i="0" spc="140">
                <a:solidFill>
                  <a:srgbClr val="6E7180"/>
                </a:solidFill>
                <a:latin typeface="Montserrat"/>
              </a:rPr>
              <a:t>ONE KERNEL · MANY MODULES</a:t>
            </a:r>
          </a:p>
        </p:txBody>
      </p:sp>
      <p:sp>
        <p:nvSpPr>
          <p:cNvPr id="31" name="Rounded Rectangle 30"/>
          <p:cNvSpPr/>
          <p:nvPr/>
        </p:nvSpPr>
        <p:spPr>
          <a:xfrm>
            <a:off x="4480560" y="2331720"/>
            <a:ext cx="7144207" cy="749808"/>
          </a:xfrm>
          <a:prstGeom prst="roundRect">
            <a:avLst>
              <a:gd name="adj" fmla="val 10000"/>
            </a:avLst>
          </a:prstGeom>
          <a:solidFill>
            <a:srgbClr val="16181D"/>
          </a:solidFill>
          <a:ln>
            <a:noFill/>
          </a:ln>
          <a:effectLst/>
        </p:spPr>
        <p:txBody>
          <a:bodyPr rtlCol="0" anchor="ctr"/>
          <a:lstStyle/>
          <a:p>
            <a:pPr algn="ctr"/>
          </a:p>
        </p:txBody>
      </p:sp>
      <p:sp>
        <p:nvSpPr>
          <p:cNvPr id="32" name="TextBox 31"/>
          <p:cNvSpPr txBox="1"/>
          <p:nvPr/>
        </p:nvSpPr>
        <p:spPr>
          <a:xfrm>
            <a:off x="4709160" y="2404872"/>
            <a:ext cx="6687007" cy="274320"/>
          </a:xfrm>
          <a:prstGeom prst="rect">
            <a:avLst/>
          </a:prstGeom>
          <a:noFill/>
        </p:spPr>
        <p:txBody>
          <a:bodyPr wrap="square" lIns="0" rIns="0" tIns="0" bIns="0" anchor="t">
            <a:spAutoFit/>
          </a:bodyPr>
          <a:lstStyle/>
          <a:p>
            <a:pPr algn="l">
              <a:lnSpc>
                <a:spcPct val="128000"/>
              </a:lnSpc>
            </a:pPr>
            <a:r>
              <a:rPr sz="1150" b="1" i="0">
                <a:solidFill>
                  <a:srgbClr val="FFFFFF"/>
                </a:solidFill>
                <a:latin typeface="Montserrat"/>
              </a:rPr>
              <a:t>Security kernel — the database boundary</a:t>
            </a:r>
          </a:p>
        </p:txBody>
      </p:sp>
      <p:sp>
        <p:nvSpPr>
          <p:cNvPr id="33" name="Rounded Rectangle 32"/>
          <p:cNvSpPr/>
          <p:nvPr/>
        </p:nvSpPr>
        <p:spPr>
          <a:xfrm>
            <a:off x="4709160" y="2724912"/>
            <a:ext cx="1554480" cy="274320"/>
          </a:xfrm>
          <a:prstGeom prst="roundRect">
            <a:avLst>
              <a:gd name="adj" fmla="val 50000"/>
            </a:avLst>
          </a:prstGeom>
          <a:solidFill>
            <a:srgbClr val="2A2A40"/>
          </a:solidFill>
          <a:ln>
            <a:noFill/>
          </a:ln>
          <a:effectLst/>
        </p:spPr>
        <p:txBody>
          <a:bodyPr rtlCol="0" anchor="ctr"/>
          <a:lstStyle/>
          <a:p>
            <a:pPr algn="ctr"/>
          </a:p>
        </p:txBody>
      </p:sp>
      <p:sp>
        <p:nvSpPr>
          <p:cNvPr id="34" name="TextBox 33"/>
          <p:cNvSpPr txBox="1"/>
          <p:nvPr/>
        </p:nvSpPr>
        <p:spPr>
          <a:xfrm>
            <a:off x="4727448" y="2724912"/>
            <a:ext cx="1517904" cy="274320"/>
          </a:xfrm>
          <a:prstGeom prst="rect">
            <a:avLst/>
          </a:prstGeom>
          <a:noFill/>
        </p:spPr>
        <p:txBody>
          <a:bodyPr wrap="square" lIns="0" rIns="0" tIns="0" bIns="0" anchor="ctr">
            <a:spAutoFit/>
          </a:bodyPr>
          <a:lstStyle/>
          <a:p>
            <a:pPr algn="ctr">
              <a:lnSpc>
                <a:spcPct val="100000"/>
              </a:lnSpc>
            </a:pPr>
            <a:r>
              <a:rPr sz="850" b="1" i="0">
                <a:solidFill>
                  <a:srgbClr val="C8C0FF"/>
                </a:solidFill>
                <a:latin typeface="Montserrat"/>
              </a:rPr>
              <a:t>RLS</a:t>
            </a:r>
          </a:p>
        </p:txBody>
      </p:sp>
      <p:sp>
        <p:nvSpPr>
          <p:cNvPr id="35" name="Rounded Rectangle 34"/>
          <p:cNvSpPr/>
          <p:nvPr/>
        </p:nvSpPr>
        <p:spPr>
          <a:xfrm>
            <a:off x="6400800" y="2724912"/>
            <a:ext cx="1554480" cy="274320"/>
          </a:xfrm>
          <a:prstGeom prst="roundRect">
            <a:avLst>
              <a:gd name="adj" fmla="val 50000"/>
            </a:avLst>
          </a:prstGeom>
          <a:solidFill>
            <a:srgbClr val="2A2A40"/>
          </a:solidFill>
          <a:ln>
            <a:noFill/>
          </a:ln>
          <a:effectLst/>
        </p:spPr>
        <p:txBody>
          <a:bodyPr rtlCol="0" anchor="ctr"/>
          <a:lstStyle/>
          <a:p>
            <a:pPr algn="ctr"/>
          </a:p>
        </p:txBody>
      </p:sp>
      <p:sp>
        <p:nvSpPr>
          <p:cNvPr id="36" name="TextBox 35"/>
          <p:cNvSpPr txBox="1"/>
          <p:nvPr/>
        </p:nvSpPr>
        <p:spPr>
          <a:xfrm>
            <a:off x="6419088" y="2724912"/>
            <a:ext cx="1517904" cy="274320"/>
          </a:xfrm>
          <a:prstGeom prst="rect">
            <a:avLst/>
          </a:prstGeom>
          <a:noFill/>
        </p:spPr>
        <p:txBody>
          <a:bodyPr wrap="square" lIns="0" rIns="0" tIns="0" bIns="0" anchor="ctr">
            <a:spAutoFit/>
          </a:bodyPr>
          <a:lstStyle/>
          <a:p>
            <a:pPr algn="ctr">
              <a:lnSpc>
                <a:spcPct val="100000"/>
              </a:lnSpc>
            </a:pPr>
            <a:r>
              <a:rPr sz="850" b="1" i="0">
                <a:solidFill>
                  <a:srgbClr val="C8C0FF"/>
                </a:solidFill>
                <a:latin typeface="Montserrat"/>
              </a:rPr>
              <a:t>State machine</a:t>
            </a:r>
          </a:p>
        </p:txBody>
      </p:sp>
      <p:sp>
        <p:nvSpPr>
          <p:cNvPr id="37" name="Rounded Rectangle 36"/>
          <p:cNvSpPr/>
          <p:nvPr/>
        </p:nvSpPr>
        <p:spPr>
          <a:xfrm>
            <a:off x="8092440" y="2724912"/>
            <a:ext cx="1554480" cy="274320"/>
          </a:xfrm>
          <a:prstGeom prst="roundRect">
            <a:avLst>
              <a:gd name="adj" fmla="val 50000"/>
            </a:avLst>
          </a:prstGeom>
          <a:solidFill>
            <a:srgbClr val="2A2A40"/>
          </a:solidFill>
          <a:ln>
            <a:noFill/>
          </a:ln>
          <a:effectLst/>
        </p:spPr>
        <p:txBody>
          <a:bodyPr rtlCol="0" anchor="ctr"/>
          <a:lstStyle/>
          <a:p>
            <a:pPr algn="ctr"/>
          </a:p>
        </p:txBody>
      </p:sp>
      <p:sp>
        <p:nvSpPr>
          <p:cNvPr id="38" name="TextBox 37"/>
          <p:cNvSpPr txBox="1"/>
          <p:nvPr/>
        </p:nvSpPr>
        <p:spPr>
          <a:xfrm>
            <a:off x="8110728" y="2724912"/>
            <a:ext cx="1517904" cy="274320"/>
          </a:xfrm>
          <a:prstGeom prst="rect">
            <a:avLst/>
          </a:prstGeom>
          <a:noFill/>
        </p:spPr>
        <p:txBody>
          <a:bodyPr wrap="square" lIns="0" rIns="0" tIns="0" bIns="0" anchor="ctr">
            <a:spAutoFit/>
          </a:bodyPr>
          <a:lstStyle/>
          <a:p>
            <a:pPr algn="ctr">
              <a:lnSpc>
                <a:spcPct val="100000"/>
              </a:lnSpc>
            </a:pPr>
            <a:r>
              <a:rPr sz="850" b="1" i="0">
                <a:solidFill>
                  <a:srgbClr val="C8C0FF"/>
                </a:solidFill>
                <a:latin typeface="Montserrat"/>
              </a:rPr>
              <a:t>Audit ledger</a:t>
            </a:r>
          </a:p>
        </p:txBody>
      </p:sp>
      <p:sp>
        <p:nvSpPr>
          <p:cNvPr id="39" name="Rounded Rectangle 38"/>
          <p:cNvSpPr/>
          <p:nvPr/>
        </p:nvSpPr>
        <p:spPr>
          <a:xfrm>
            <a:off x="9784080" y="2724912"/>
            <a:ext cx="1554480" cy="274320"/>
          </a:xfrm>
          <a:prstGeom prst="roundRect">
            <a:avLst>
              <a:gd name="adj" fmla="val 50000"/>
            </a:avLst>
          </a:prstGeom>
          <a:solidFill>
            <a:srgbClr val="2A2A40"/>
          </a:solidFill>
          <a:ln>
            <a:noFill/>
          </a:ln>
          <a:effectLst/>
        </p:spPr>
        <p:txBody>
          <a:bodyPr rtlCol="0" anchor="ctr"/>
          <a:lstStyle/>
          <a:p>
            <a:pPr algn="ctr"/>
          </a:p>
        </p:txBody>
      </p:sp>
      <p:sp>
        <p:nvSpPr>
          <p:cNvPr id="40" name="TextBox 39"/>
          <p:cNvSpPr txBox="1"/>
          <p:nvPr/>
        </p:nvSpPr>
        <p:spPr>
          <a:xfrm>
            <a:off x="9802368" y="2724912"/>
            <a:ext cx="1517904" cy="274320"/>
          </a:xfrm>
          <a:prstGeom prst="rect">
            <a:avLst/>
          </a:prstGeom>
          <a:noFill/>
        </p:spPr>
        <p:txBody>
          <a:bodyPr wrap="square" lIns="0" rIns="0" tIns="0" bIns="0" anchor="ctr">
            <a:spAutoFit/>
          </a:bodyPr>
          <a:lstStyle/>
          <a:p>
            <a:pPr algn="ctr">
              <a:lnSpc>
                <a:spcPct val="100000"/>
              </a:lnSpc>
            </a:pPr>
            <a:r>
              <a:rPr sz="850" b="1" i="0">
                <a:solidFill>
                  <a:srgbClr val="C8C0FF"/>
                </a:solidFill>
                <a:latin typeface="Montserrat"/>
              </a:rPr>
              <a:t>JWT claims</a:t>
            </a:r>
          </a:p>
        </p:txBody>
      </p:sp>
      <p:sp>
        <p:nvSpPr>
          <p:cNvPr id="41" name="Rounded Rectangle 40"/>
          <p:cNvSpPr/>
          <p:nvPr/>
        </p:nvSpPr>
        <p:spPr>
          <a:xfrm>
            <a:off x="4480560" y="3291840"/>
            <a:ext cx="1326428" cy="786384"/>
          </a:xfrm>
          <a:prstGeom prst="roundRect">
            <a:avLst>
              <a:gd name="adj" fmla="val 10000"/>
            </a:avLst>
          </a:prstGeom>
          <a:solidFill>
            <a:srgbClr val="FFFFFF"/>
          </a:solidFill>
          <a:ln w="9525">
            <a:solidFill>
              <a:srgbClr val="E8E9EE"/>
            </a:solidFill>
          </a:ln>
          <a:effectLst/>
        </p:spPr>
        <p:txBody>
          <a:bodyPr rtlCol="0" anchor="ctr"/>
          <a:lstStyle/>
          <a:p>
            <a:pPr algn="ctr"/>
          </a:p>
        </p:txBody>
      </p:sp>
      <p:sp>
        <p:nvSpPr>
          <p:cNvPr id="42" name="Oval 41"/>
          <p:cNvSpPr/>
          <p:nvPr/>
        </p:nvSpPr>
        <p:spPr>
          <a:xfrm>
            <a:off x="4590288" y="3410712"/>
            <a:ext cx="310896" cy="310896"/>
          </a:xfrm>
          <a:prstGeom prst="ellipse">
            <a:avLst/>
          </a:prstGeom>
          <a:solidFill>
            <a:srgbClr val="EFEDFF"/>
          </a:solidFill>
          <a:ln>
            <a:noFill/>
          </a:ln>
          <a:effectLst/>
        </p:spPr>
        <p:txBody>
          <a:bodyPr rtlCol="0" anchor="ctr"/>
          <a:lstStyle/>
          <a:p>
            <a:pPr algn="ctr"/>
          </a:p>
        </p:txBody>
      </p:sp>
      <p:pic>
        <p:nvPicPr>
          <p:cNvPr id="43" name="Picture 42" descr="clipboard-list_4A35FF_256_2.0.png"/>
          <p:cNvPicPr>
            <a:picLocks noChangeAspect="1"/>
          </p:cNvPicPr>
          <p:nvPr/>
        </p:nvPicPr>
        <p:blipFill>
          <a:blip r:embed="rId6"/>
          <a:stretch>
            <a:fillRect/>
          </a:stretch>
        </p:blipFill>
        <p:spPr>
          <a:xfrm>
            <a:off x="4664903" y="3485327"/>
            <a:ext cx="161665" cy="161665"/>
          </a:xfrm>
          <a:prstGeom prst="rect">
            <a:avLst/>
          </a:prstGeom>
        </p:spPr>
      </p:pic>
      <p:pic>
        <p:nvPicPr>
          <p:cNvPr id="44" name="Picture 43" descr="circle_0A9955_256_2.0.png"/>
          <p:cNvPicPr>
            <a:picLocks noChangeAspect="1"/>
          </p:cNvPicPr>
          <p:nvPr/>
        </p:nvPicPr>
        <p:blipFill>
          <a:blip r:embed="rId7"/>
          <a:stretch>
            <a:fillRect/>
          </a:stretch>
        </p:blipFill>
        <p:spPr>
          <a:xfrm>
            <a:off x="5569244" y="3410712"/>
            <a:ext cx="128016" cy="128016"/>
          </a:xfrm>
          <a:prstGeom prst="rect">
            <a:avLst/>
          </a:prstGeom>
        </p:spPr>
      </p:pic>
      <p:sp>
        <p:nvSpPr>
          <p:cNvPr id="45" name="TextBox 44"/>
          <p:cNvSpPr txBox="1"/>
          <p:nvPr/>
        </p:nvSpPr>
        <p:spPr>
          <a:xfrm>
            <a:off x="4572000" y="3749040"/>
            <a:ext cx="1143548" cy="274320"/>
          </a:xfrm>
          <a:prstGeom prst="rect">
            <a:avLst/>
          </a:prstGeom>
          <a:noFill/>
        </p:spPr>
        <p:txBody>
          <a:bodyPr wrap="square" lIns="0" rIns="0" tIns="0" bIns="0" anchor="t">
            <a:spAutoFit/>
          </a:bodyPr>
          <a:lstStyle/>
          <a:p>
            <a:pPr algn="l">
              <a:lnSpc>
                <a:spcPct val="100000"/>
              </a:lnSpc>
            </a:pPr>
            <a:r>
              <a:rPr sz="850" b="1" i="0">
                <a:solidFill>
                  <a:srgbClr val="16181D"/>
                </a:solidFill>
                <a:latin typeface="Montserrat"/>
              </a:rPr>
              <a:t>Registration</a:t>
            </a:r>
          </a:p>
        </p:txBody>
      </p:sp>
      <p:sp>
        <p:nvSpPr>
          <p:cNvPr id="46" name="Rounded Rectangle 45"/>
          <p:cNvSpPr/>
          <p:nvPr/>
        </p:nvSpPr>
        <p:spPr>
          <a:xfrm>
            <a:off x="5935004" y="3291840"/>
            <a:ext cx="1326428" cy="786384"/>
          </a:xfrm>
          <a:prstGeom prst="roundRect">
            <a:avLst>
              <a:gd name="adj" fmla="val 10000"/>
            </a:avLst>
          </a:prstGeom>
          <a:solidFill>
            <a:srgbClr val="FFFFFF"/>
          </a:solidFill>
          <a:ln w="9525">
            <a:solidFill>
              <a:srgbClr val="E8E9EE"/>
            </a:solidFill>
          </a:ln>
          <a:effectLst/>
        </p:spPr>
        <p:txBody>
          <a:bodyPr rtlCol="0" anchor="ctr"/>
          <a:lstStyle/>
          <a:p>
            <a:pPr algn="ctr"/>
          </a:p>
        </p:txBody>
      </p:sp>
      <p:sp>
        <p:nvSpPr>
          <p:cNvPr id="47" name="Oval 46"/>
          <p:cNvSpPr/>
          <p:nvPr/>
        </p:nvSpPr>
        <p:spPr>
          <a:xfrm>
            <a:off x="6044732" y="3410712"/>
            <a:ext cx="310896" cy="310896"/>
          </a:xfrm>
          <a:prstGeom prst="ellipse">
            <a:avLst/>
          </a:prstGeom>
          <a:solidFill>
            <a:srgbClr val="EFEDFF"/>
          </a:solidFill>
          <a:ln>
            <a:noFill/>
          </a:ln>
          <a:effectLst/>
        </p:spPr>
        <p:txBody>
          <a:bodyPr rtlCol="0" anchor="ctr"/>
          <a:lstStyle/>
          <a:p>
            <a:pPr algn="ctr"/>
          </a:p>
        </p:txBody>
      </p:sp>
      <p:pic>
        <p:nvPicPr>
          <p:cNvPr id="48" name="Picture 47" descr="smartphone_4A35FF_256_2.0.png"/>
          <p:cNvPicPr>
            <a:picLocks noChangeAspect="1"/>
          </p:cNvPicPr>
          <p:nvPr/>
        </p:nvPicPr>
        <p:blipFill>
          <a:blip r:embed="rId8"/>
          <a:stretch>
            <a:fillRect/>
          </a:stretch>
        </p:blipFill>
        <p:spPr>
          <a:xfrm>
            <a:off x="6119347" y="3485327"/>
            <a:ext cx="161665" cy="161665"/>
          </a:xfrm>
          <a:prstGeom prst="rect">
            <a:avLst/>
          </a:prstGeom>
        </p:spPr>
      </p:pic>
      <p:pic>
        <p:nvPicPr>
          <p:cNvPr id="49" name="Picture 48" descr="circle_0A9955_256_2.0.png"/>
          <p:cNvPicPr>
            <a:picLocks noChangeAspect="1"/>
          </p:cNvPicPr>
          <p:nvPr/>
        </p:nvPicPr>
        <p:blipFill>
          <a:blip r:embed="rId7"/>
          <a:stretch>
            <a:fillRect/>
          </a:stretch>
        </p:blipFill>
        <p:spPr>
          <a:xfrm>
            <a:off x="7023689" y="3410712"/>
            <a:ext cx="128016" cy="128016"/>
          </a:xfrm>
          <a:prstGeom prst="rect">
            <a:avLst/>
          </a:prstGeom>
        </p:spPr>
      </p:pic>
      <p:sp>
        <p:nvSpPr>
          <p:cNvPr id="50" name="TextBox 49"/>
          <p:cNvSpPr txBox="1"/>
          <p:nvPr/>
        </p:nvSpPr>
        <p:spPr>
          <a:xfrm>
            <a:off x="6026444" y="3749040"/>
            <a:ext cx="1143548" cy="274320"/>
          </a:xfrm>
          <a:prstGeom prst="rect">
            <a:avLst/>
          </a:prstGeom>
          <a:noFill/>
        </p:spPr>
        <p:txBody>
          <a:bodyPr wrap="square" lIns="0" rIns="0" tIns="0" bIns="0" anchor="t">
            <a:spAutoFit/>
          </a:bodyPr>
          <a:lstStyle/>
          <a:p>
            <a:pPr algn="l">
              <a:lnSpc>
                <a:spcPct val="100000"/>
              </a:lnSpc>
            </a:pPr>
            <a:r>
              <a:rPr sz="850" b="1" i="0">
                <a:solidFill>
                  <a:srgbClr val="16181D"/>
                </a:solidFill>
                <a:latin typeface="Montserrat"/>
              </a:rPr>
              <a:t>Claimant vault</a:t>
            </a:r>
          </a:p>
        </p:txBody>
      </p:sp>
      <p:sp>
        <p:nvSpPr>
          <p:cNvPr id="51" name="Rounded Rectangle 50"/>
          <p:cNvSpPr/>
          <p:nvPr/>
        </p:nvSpPr>
        <p:spPr>
          <a:xfrm>
            <a:off x="7389449" y="3291840"/>
            <a:ext cx="1326428" cy="786384"/>
          </a:xfrm>
          <a:prstGeom prst="roundRect">
            <a:avLst>
              <a:gd name="adj" fmla="val 10000"/>
            </a:avLst>
          </a:prstGeom>
          <a:solidFill>
            <a:srgbClr val="FFFFFF"/>
          </a:solidFill>
          <a:ln w="9525">
            <a:solidFill>
              <a:srgbClr val="E8E9EE"/>
            </a:solidFill>
          </a:ln>
          <a:effectLst/>
        </p:spPr>
        <p:txBody>
          <a:bodyPr rtlCol="0" anchor="ctr"/>
          <a:lstStyle/>
          <a:p>
            <a:pPr algn="ctr"/>
          </a:p>
        </p:txBody>
      </p:sp>
      <p:sp>
        <p:nvSpPr>
          <p:cNvPr id="52" name="Oval 51"/>
          <p:cNvSpPr/>
          <p:nvPr/>
        </p:nvSpPr>
        <p:spPr>
          <a:xfrm>
            <a:off x="7499177" y="3410712"/>
            <a:ext cx="310896" cy="310896"/>
          </a:xfrm>
          <a:prstGeom prst="ellipse">
            <a:avLst/>
          </a:prstGeom>
          <a:solidFill>
            <a:srgbClr val="EFEDFF"/>
          </a:solidFill>
          <a:ln>
            <a:noFill/>
          </a:ln>
          <a:effectLst/>
        </p:spPr>
        <p:txBody>
          <a:bodyPr rtlCol="0" anchor="ctr"/>
          <a:lstStyle/>
          <a:p>
            <a:pPr algn="ctr"/>
          </a:p>
        </p:txBody>
      </p:sp>
      <p:pic>
        <p:nvPicPr>
          <p:cNvPr id="53" name="Picture 52" descr="file-check_4A35FF_256_2.0.png"/>
          <p:cNvPicPr>
            <a:picLocks noChangeAspect="1"/>
          </p:cNvPicPr>
          <p:nvPr/>
        </p:nvPicPr>
        <p:blipFill>
          <a:blip r:embed="rId9"/>
          <a:stretch>
            <a:fillRect/>
          </a:stretch>
        </p:blipFill>
        <p:spPr>
          <a:xfrm>
            <a:off x="7573792" y="3485327"/>
            <a:ext cx="161665" cy="161665"/>
          </a:xfrm>
          <a:prstGeom prst="rect">
            <a:avLst/>
          </a:prstGeom>
        </p:spPr>
      </p:pic>
      <p:pic>
        <p:nvPicPr>
          <p:cNvPr id="54" name="Picture 53" descr="circle_0A9955_256_2.0.png"/>
          <p:cNvPicPr>
            <a:picLocks noChangeAspect="1"/>
          </p:cNvPicPr>
          <p:nvPr/>
        </p:nvPicPr>
        <p:blipFill>
          <a:blip r:embed="rId7"/>
          <a:stretch>
            <a:fillRect/>
          </a:stretch>
        </p:blipFill>
        <p:spPr>
          <a:xfrm>
            <a:off x="8478133" y="3410712"/>
            <a:ext cx="128016" cy="128016"/>
          </a:xfrm>
          <a:prstGeom prst="rect">
            <a:avLst/>
          </a:prstGeom>
        </p:spPr>
      </p:pic>
      <p:sp>
        <p:nvSpPr>
          <p:cNvPr id="55" name="TextBox 54"/>
          <p:cNvSpPr txBox="1"/>
          <p:nvPr/>
        </p:nvSpPr>
        <p:spPr>
          <a:xfrm>
            <a:off x="7480889" y="3749040"/>
            <a:ext cx="1143548" cy="274320"/>
          </a:xfrm>
          <a:prstGeom prst="rect">
            <a:avLst/>
          </a:prstGeom>
          <a:noFill/>
        </p:spPr>
        <p:txBody>
          <a:bodyPr wrap="square" lIns="0" rIns="0" tIns="0" bIns="0" anchor="t">
            <a:spAutoFit/>
          </a:bodyPr>
          <a:lstStyle/>
          <a:p>
            <a:pPr algn="l">
              <a:lnSpc>
                <a:spcPct val="100000"/>
              </a:lnSpc>
            </a:pPr>
            <a:r>
              <a:rPr sz="850" b="1" i="0">
                <a:solidFill>
                  <a:srgbClr val="16181D"/>
                </a:solidFill>
                <a:latin typeface="Montserrat"/>
              </a:rPr>
              <a:t>CEO / Form II</a:t>
            </a:r>
          </a:p>
        </p:txBody>
      </p:sp>
      <p:sp>
        <p:nvSpPr>
          <p:cNvPr id="56" name="Rounded Rectangle 55"/>
          <p:cNvSpPr/>
          <p:nvPr/>
        </p:nvSpPr>
        <p:spPr>
          <a:xfrm>
            <a:off x="8843893" y="3291840"/>
            <a:ext cx="1326428" cy="786384"/>
          </a:xfrm>
          <a:prstGeom prst="roundRect">
            <a:avLst>
              <a:gd name="adj" fmla="val 10000"/>
            </a:avLst>
          </a:prstGeom>
          <a:solidFill>
            <a:srgbClr val="FFFFFF"/>
          </a:solidFill>
          <a:ln w="9525">
            <a:solidFill>
              <a:srgbClr val="E8E9EE"/>
            </a:solidFill>
          </a:ln>
          <a:effectLst/>
        </p:spPr>
        <p:txBody>
          <a:bodyPr rtlCol="0" anchor="ctr"/>
          <a:lstStyle/>
          <a:p>
            <a:pPr algn="ctr"/>
          </a:p>
        </p:txBody>
      </p:sp>
      <p:sp>
        <p:nvSpPr>
          <p:cNvPr id="57" name="Oval 56"/>
          <p:cNvSpPr/>
          <p:nvPr/>
        </p:nvSpPr>
        <p:spPr>
          <a:xfrm>
            <a:off x="8953621" y="3410712"/>
            <a:ext cx="310896" cy="310896"/>
          </a:xfrm>
          <a:prstGeom prst="ellipse">
            <a:avLst/>
          </a:prstGeom>
          <a:solidFill>
            <a:srgbClr val="EFEDFF"/>
          </a:solidFill>
          <a:ln>
            <a:noFill/>
          </a:ln>
          <a:effectLst/>
        </p:spPr>
        <p:txBody>
          <a:bodyPr rtlCol="0" anchor="ctr"/>
          <a:lstStyle/>
          <a:p>
            <a:pPr algn="ctr"/>
          </a:p>
        </p:txBody>
      </p:sp>
      <p:pic>
        <p:nvPicPr>
          <p:cNvPr id="58" name="Picture 57" descr="stamp_4A35FF_256_2.0.png"/>
          <p:cNvPicPr>
            <a:picLocks noChangeAspect="1"/>
          </p:cNvPicPr>
          <p:nvPr/>
        </p:nvPicPr>
        <p:blipFill>
          <a:blip r:embed="rId10"/>
          <a:stretch>
            <a:fillRect/>
          </a:stretch>
        </p:blipFill>
        <p:spPr>
          <a:xfrm>
            <a:off x="9028236" y="3485327"/>
            <a:ext cx="161665" cy="161665"/>
          </a:xfrm>
          <a:prstGeom prst="rect">
            <a:avLst/>
          </a:prstGeom>
        </p:spPr>
      </p:pic>
      <p:pic>
        <p:nvPicPr>
          <p:cNvPr id="59" name="Picture 58" descr="circle_0A9955_256_2.0.png"/>
          <p:cNvPicPr>
            <a:picLocks noChangeAspect="1"/>
          </p:cNvPicPr>
          <p:nvPr/>
        </p:nvPicPr>
        <p:blipFill>
          <a:blip r:embed="rId7"/>
          <a:stretch>
            <a:fillRect/>
          </a:stretch>
        </p:blipFill>
        <p:spPr>
          <a:xfrm>
            <a:off x="9932578" y="3410712"/>
            <a:ext cx="128016" cy="128016"/>
          </a:xfrm>
          <a:prstGeom prst="rect">
            <a:avLst/>
          </a:prstGeom>
        </p:spPr>
      </p:pic>
      <p:sp>
        <p:nvSpPr>
          <p:cNvPr id="60" name="TextBox 59"/>
          <p:cNvSpPr txBox="1"/>
          <p:nvPr/>
        </p:nvSpPr>
        <p:spPr>
          <a:xfrm>
            <a:off x="8935333" y="3749040"/>
            <a:ext cx="1143548" cy="274320"/>
          </a:xfrm>
          <a:prstGeom prst="rect">
            <a:avLst/>
          </a:prstGeom>
          <a:noFill/>
        </p:spPr>
        <p:txBody>
          <a:bodyPr wrap="square" lIns="0" rIns="0" tIns="0" bIns="0" anchor="t">
            <a:spAutoFit/>
          </a:bodyPr>
          <a:lstStyle/>
          <a:p>
            <a:pPr algn="l">
              <a:lnSpc>
                <a:spcPct val="100000"/>
              </a:lnSpc>
            </a:pPr>
            <a:r>
              <a:rPr sz="850" b="1" i="0">
                <a:solidFill>
                  <a:srgbClr val="16181D"/>
                </a:solidFill>
                <a:latin typeface="Montserrat"/>
              </a:rPr>
              <a:t>CSC / Form III</a:t>
            </a:r>
          </a:p>
        </p:txBody>
      </p:sp>
      <p:sp>
        <p:nvSpPr>
          <p:cNvPr id="61" name="Rounded Rectangle 60"/>
          <p:cNvSpPr/>
          <p:nvPr/>
        </p:nvSpPr>
        <p:spPr>
          <a:xfrm>
            <a:off x="10298338" y="3291840"/>
            <a:ext cx="1326428" cy="786384"/>
          </a:xfrm>
          <a:prstGeom prst="roundRect">
            <a:avLst>
              <a:gd name="adj" fmla="val 10000"/>
            </a:avLst>
          </a:prstGeom>
          <a:solidFill>
            <a:srgbClr val="FFFFFF"/>
          </a:solidFill>
          <a:ln w="9525">
            <a:solidFill>
              <a:srgbClr val="E8E9EE"/>
            </a:solidFill>
          </a:ln>
          <a:effectLst/>
        </p:spPr>
        <p:txBody>
          <a:bodyPr rtlCol="0" anchor="ctr"/>
          <a:lstStyle/>
          <a:p>
            <a:pPr algn="ctr"/>
          </a:p>
        </p:txBody>
      </p:sp>
      <p:sp>
        <p:nvSpPr>
          <p:cNvPr id="62" name="Oval 61"/>
          <p:cNvSpPr/>
          <p:nvPr/>
        </p:nvSpPr>
        <p:spPr>
          <a:xfrm>
            <a:off x="10408066" y="3410712"/>
            <a:ext cx="310896" cy="310896"/>
          </a:xfrm>
          <a:prstGeom prst="ellipse">
            <a:avLst/>
          </a:prstGeom>
          <a:solidFill>
            <a:srgbClr val="EFEDFF"/>
          </a:solidFill>
          <a:ln>
            <a:noFill/>
          </a:ln>
          <a:effectLst/>
        </p:spPr>
        <p:txBody>
          <a:bodyPr rtlCol="0" anchor="ctr"/>
          <a:lstStyle/>
          <a:p>
            <a:pPr algn="ctr"/>
          </a:p>
        </p:txBody>
      </p:sp>
      <p:pic>
        <p:nvPicPr>
          <p:cNvPr id="63" name="Picture 62" descr="layout-dashboard_4A35FF_256_2.0.png"/>
          <p:cNvPicPr>
            <a:picLocks noChangeAspect="1"/>
          </p:cNvPicPr>
          <p:nvPr/>
        </p:nvPicPr>
        <p:blipFill>
          <a:blip r:embed="rId11"/>
          <a:stretch>
            <a:fillRect/>
          </a:stretch>
        </p:blipFill>
        <p:spPr>
          <a:xfrm>
            <a:off x="10482681" y="3485327"/>
            <a:ext cx="161665" cy="161665"/>
          </a:xfrm>
          <a:prstGeom prst="rect">
            <a:avLst/>
          </a:prstGeom>
        </p:spPr>
      </p:pic>
      <p:pic>
        <p:nvPicPr>
          <p:cNvPr id="64" name="Picture 63" descr="circle_0A9955_256_2.0.png"/>
          <p:cNvPicPr>
            <a:picLocks noChangeAspect="1"/>
          </p:cNvPicPr>
          <p:nvPr/>
        </p:nvPicPr>
        <p:blipFill>
          <a:blip r:embed="rId7"/>
          <a:stretch>
            <a:fillRect/>
          </a:stretch>
        </p:blipFill>
        <p:spPr>
          <a:xfrm>
            <a:off x="11387023" y="3410712"/>
            <a:ext cx="128016" cy="128016"/>
          </a:xfrm>
          <a:prstGeom prst="rect">
            <a:avLst/>
          </a:prstGeom>
        </p:spPr>
      </p:pic>
      <p:sp>
        <p:nvSpPr>
          <p:cNvPr id="65" name="TextBox 64"/>
          <p:cNvSpPr txBox="1"/>
          <p:nvPr/>
        </p:nvSpPr>
        <p:spPr>
          <a:xfrm>
            <a:off x="10389778" y="3749040"/>
            <a:ext cx="1143548" cy="274320"/>
          </a:xfrm>
          <a:prstGeom prst="rect">
            <a:avLst/>
          </a:prstGeom>
          <a:noFill/>
        </p:spPr>
        <p:txBody>
          <a:bodyPr wrap="square" lIns="0" rIns="0" tIns="0" bIns="0" anchor="t">
            <a:spAutoFit/>
          </a:bodyPr>
          <a:lstStyle/>
          <a:p>
            <a:pPr algn="l">
              <a:lnSpc>
                <a:spcPct val="100000"/>
              </a:lnSpc>
            </a:pPr>
            <a:r>
              <a:rPr sz="850" b="1" i="0">
                <a:solidFill>
                  <a:srgbClr val="16181D"/>
                </a:solidFill>
                <a:latin typeface="Montserrat"/>
              </a:rPr>
              <a:t>Admin &amp; analytics</a:t>
            </a:r>
          </a:p>
        </p:txBody>
      </p:sp>
      <p:sp>
        <p:nvSpPr>
          <p:cNvPr id="66" name="Rounded Rectangle 65"/>
          <p:cNvSpPr/>
          <p:nvPr/>
        </p:nvSpPr>
        <p:spPr>
          <a:xfrm>
            <a:off x="4480560" y="4206240"/>
            <a:ext cx="1326428" cy="786384"/>
          </a:xfrm>
          <a:prstGeom prst="roundRect">
            <a:avLst>
              <a:gd name="adj" fmla="val 10000"/>
            </a:avLst>
          </a:prstGeom>
          <a:solidFill>
            <a:srgbClr val="FFFFFF"/>
          </a:solidFill>
          <a:ln w="9525">
            <a:solidFill>
              <a:srgbClr val="E8E9EE"/>
            </a:solidFill>
          </a:ln>
          <a:effectLst/>
        </p:spPr>
        <p:txBody>
          <a:bodyPr rtlCol="0" anchor="ctr"/>
          <a:lstStyle/>
          <a:p>
            <a:pPr algn="ctr"/>
          </a:p>
        </p:txBody>
      </p:sp>
      <p:sp>
        <p:nvSpPr>
          <p:cNvPr id="67" name="Oval 66"/>
          <p:cNvSpPr/>
          <p:nvPr/>
        </p:nvSpPr>
        <p:spPr>
          <a:xfrm>
            <a:off x="4590288" y="4325112"/>
            <a:ext cx="310896" cy="310896"/>
          </a:xfrm>
          <a:prstGeom prst="ellipse">
            <a:avLst/>
          </a:prstGeom>
          <a:solidFill>
            <a:srgbClr val="EFEDFF"/>
          </a:solidFill>
          <a:ln>
            <a:noFill/>
          </a:ln>
          <a:effectLst/>
        </p:spPr>
        <p:txBody>
          <a:bodyPr rtlCol="0" anchor="ctr"/>
          <a:lstStyle/>
          <a:p>
            <a:pPr algn="ctr"/>
          </a:p>
        </p:txBody>
      </p:sp>
      <p:pic>
        <p:nvPicPr>
          <p:cNvPr id="68" name="Picture 67" descr="folder-clock_4A35FF_256_2.0.png"/>
          <p:cNvPicPr>
            <a:picLocks noChangeAspect="1"/>
          </p:cNvPicPr>
          <p:nvPr/>
        </p:nvPicPr>
        <p:blipFill>
          <a:blip r:embed="rId12"/>
          <a:stretch>
            <a:fillRect/>
          </a:stretch>
        </p:blipFill>
        <p:spPr>
          <a:xfrm>
            <a:off x="4664903" y="4399727"/>
            <a:ext cx="161665" cy="161665"/>
          </a:xfrm>
          <a:prstGeom prst="rect">
            <a:avLst/>
          </a:prstGeom>
        </p:spPr>
      </p:pic>
      <p:pic>
        <p:nvPicPr>
          <p:cNvPr id="69" name="Picture 68" descr="circle_0A9955_256_2.0.png"/>
          <p:cNvPicPr>
            <a:picLocks noChangeAspect="1"/>
          </p:cNvPicPr>
          <p:nvPr/>
        </p:nvPicPr>
        <p:blipFill>
          <a:blip r:embed="rId7"/>
          <a:stretch>
            <a:fillRect/>
          </a:stretch>
        </p:blipFill>
        <p:spPr>
          <a:xfrm>
            <a:off x="5569244" y="4325112"/>
            <a:ext cx="128016" cy="128016"/>
          </a:xfrm>
          <a:prstGeom prst="rect">
            <a:avLst/>
          </a:prstGeom>
        </p:spPr>
      </p:pic>
      <p:sp>
        <p:nvSpPr>
          <p:cNvPr id="70" name="TextBox 69"/>
          <p:cNvSpPr txBox="1"/>
          <p:nvPr/>
        </p:nvSpPr>
        <p:spPr>
          <a:xfrm>
            <a:off x="4572000" y="4663440"/>
            <a:ext cx="1143548" cy="274320"/>
          </a:xfrm>
          <a:prstGeom prst="rect">
            <a:avLst/>
          </a:prstGeom>
          <a:noFill/>
        </p:spPr>
        <p:txBody>
          <a:bodyPr wrap="square" lIns="0" rIns="0" tIns="0" bIns="0" anchor="t">
            <a:spAutoFit/>
          </a:bodyPr>
          <a:lstStyle/>
          <a:p>
            <a:pPr algn="l">
              <a:lnSpc>
                <a:spcPct val="100000"/>
              </a:lnSpc>
            </a:pPr>
            <a:r>
              <a:rPr sz="850" b="1" i="0">
                <a:solidFill>
                  <a:srgbClr val="16181D"/>
                </a:solidFill>
                <a:latin typeface="Montserrat"/>
              </a:rPr>
              <a:t>Coordinator</a:t>
            </a:r>
          </a:p>
        </p:txBody>
      </p:sp>
      <p:sp>
        <p:nvSpPr>
          <p:cNvPr id="71" name="Rounded Rectangle 70"/>
          <p:cNvSpPr/>
          <p:nvPr/>
        </p:nvSpPr>
        <p:spPr>
          <a:xfrm>
            <a:off x="5935004" y="4206240"/>
            <a:ext cx="1326428" cy="786384"/>
          </a:xfrm>
          <a:prstGeom prst="roundRect">
            <a:avLst>
              <a:gd name="adj" fmla="val 10000"/>
            </a:avLst>
          </a:prstGeom>
          <a:solidFill>
            <a:srgbClr val="FFFFFF"/>
          </a:solidFill>
          <a:ln w="9525">
            <a:solidFill>
              <a:srgbClr val="E8E9EE"/>
            </a:solidFill>
          </a:ln>
          <a:effectLst/>
        </p:spPr>
        <p:txBody>
          <a:bodyPr rtlCol="0" anchor="ctr"/>
          <a:lstStyle/>
          <a:p>
            <a:pPr algn="ctr"/>
          </a:p>
        </p:txBody>
      </p:sp>
      <p:sp>
        <p:nvSpPr>
          <p:cNvPr id="72" name="Oval 71"/>
          <p:cNvSpPr/>
          <p:nvPr/>
        </p:nvSpPr>
        <p:spPr>
          <a:xfrm>
            <a:off x="6044732" y="4325112"/>
            <a:ext cx="310896" cy="310896"/>
          </a:xfrm>
          <a:prstGeom prst="ellipse">
            <a:avLst/>
          </a:prstGeom>
          <a:solidFill>
            <a:srgbClr val="EFEDFF"/>
          </a:solidFill>
          <a:ln>
            <a:noFill/>
          </a:ln>
          <a:effectLst/>
        </p:spPr>
        <p:txBody>
          <a:bodyPr rtlCol="0" anchor="ctr"/>
          <a:lstStyle/>
          <a:p>
            <a:pPr algn="ctr"/>
          </a:p>
        </p:txBody>
      </p:sp>
      <p:pic>
        <p:nvPicPr>
          <p:cNvPr id="73" name="Picture 72" descr="banknote_4A35FF_256_2.0.png"/>
          <p:cNvPicPr>
            <a:picLocks noChangeAspect="1"/>
          </p:cNvPicPr>
          <p:nvPr/>
        </p:nvPicPr>
        <p:blipFill>
          <a:blip r:embed="rId13"/>
          <a:stretch>
            <a:fillRect/>
          </a:stretch>
        </p:blipFill>
        <p:spPr>
          <a:xfrm>
            <a:off x="6119347" y="4399727"/>
            <a:ext cx="161665" cy="161665"/>
          </a:xfrm>
          <a:prstGeom prst="rect">
            <a:avLst/>
          </a:prstGeom>
        </p:spPr>
      </p:pic>
      <p:pic>
        <p:nvPicPr>
          <p:cNvPr id="74" name="Picture 73" descr="circle_E58900_256_2.0.png"/>
          <p:cNvPicPr>
            <a:picLocks noChangeAspect="1"/>
          </p:cNvPicPr>
          <p:nvPr/>
        </p:nvPicPr>
        <p:blipFill>
          <a:blip r:embed="rId14"/>
          <a:stretch>
            <a:fillRect/>
          </a:stretch>
        </p:blipFill>
        <p:spPr>
          <a:xfrm>
            <a:off x="7023689" y="4325112"/>
            <a:ext cx="128016" cy="128016"/>
          </a:xfrm>
          <a:prstGeom prst="rect">
            <a:avLst/>
          </a:prstGeom>
        </p:spPr>
      </p:pic>
      <p:sp>
        <p:nvSpPr>
          <p:cNvPr id="75" name="TextBox 74"/>
          <p:cNvSpPr txBox="1"/>
          <p:nvPr/>
        </p:nvSpPr>
        <p:spPr>
          <a:xfrm>
            <a:off x="6026444" y="4663440"/>
            <a:ext cx="1143548" cy="274320"/>
          </a:xfrm>
          <a:prstGeom prst="rect">
            <a:avLst/>
          </a:prstGeom>
          <a:noFill/>
        </p:spPr>
        <p:txBody>
          <a:bodyPr wrap="square" lIns="0" rIns="0" tIns="0" bIns="0" anchor="t">
            <a:spAutoFit/>
          </a:bodyPr>
          <a:lstStyle/>
          <a:p>
            <a:pPr algn="l">
              <a:lnSpc>
                <a:spcPct val="100000"/>
              </a:lnSpc>
            </a:pPr>
            <a:r>
              <a:rPr sz="850" b="1" i="0">
                <a:solidFill>
                  <a:srgbClr val="16181D"/>
                </a:solidFill>
                <a:latin typeface="Montserrat"/>
              </a:rPr>
              <a:t>Settlement / UTR</a:t>
            </a:r>
          </a:p>
        </p:txBody>
      </p:sp>
      <p:sp>
        <p:nvSpPr>
          <p:cNvPr id="76" name="Rounded Rectangle 75"/>
          <p:cNvSpPr/>
          <p:nvPr/>
        </p:nvSpPr>
        <p:spPr>
          <a:xfrm>
            <a:off x="7389449" y="4206240"/>
            <a:ext cx="1326428" cy="786384"/>
          </a:xfrm>
          <a:prstGeom prst="roundRect">
            <a:avLst>
              <a:gd name="adj" fmla="val 10000"/>
            </a:avLst>
          </a:prstGeom>
          <a:solidFill>
            <a:srgbClr val="FFFFFF"/>
          </a:solidFill>
          <a:ln w="9525">
            <a:solidFill>
              <a:srgbClr val="E8E9EE"/>
            </a:solidFill>
          </a:ln>
          <a:effectLst/>
        </p:spPr>
        <p:txBody>
          <a:bodyPr rtlCol="0" anchor="ctr"/>
          <a:lstStyle/>
          <a:p>
            <a:pPr algn="ctr"/>
          </a:p>
        </p:txBody>
      </p:sp>
      <p:sp>
        <p:nvSpPr>
          <p:cNvPr id="77" name="Oval 76"/>
          <p:cNvSpPr/>
          <p:nvPr/>
        </p:nvSpPr>
        <p:spPr>
          <a:xfrm>
            <a:off x="7499177" y="4325112"/>
            <a:ext cx="310896" cy="310896"/>
          </a:xfrm>
          <a:prstGeom prst="ellipse">
            <a:avLst/>
          </a:prstGeom>
          <a:solidFill>
            <a:srgbClr val="EFEDFF"/>
          </a:solidFill>
          <a:ln>
            <a:noFill/>
          </a:ln>
          <a:effectLst/>
        </p:spPr>
        <p:txBody>
          <a:bodyPr rtlCol="0" anchor="ctr"/>
          <a:lstStyle/>
          <a:p>
            <a:pPr algn="ctr"/>
          </a:p>
        </p:txBody>
      </p:sp>
      <p:pic>
        <p:nvPicPr>
          <p:cNvPr id="78" name="Picture 77" descr="bell_4A35FF_256_2.0.png"/>
          <p:cNvPicPr>
            <a:picLocks noChangeAspect="1"/>
          </p:cNvPicPr>
          <p:nvPr/>
        </p:nvPicPr>
        <p:blipFill>
          <a:blip r:embed="rId15"/>
          <a:stretch>
            <a:fillRect/>
          </a:stretch>
        </p:blipFill>
        <p:spPr>
          <a:xfrm>
            <a:off x="7573792" y="4399727"/>
            <a:ext cx="161665" cy="161665"/>
          </a:xfrm>
          <a:prstGeom prst="rect">
            <a:avLst/>
          </a:prstGeom>
        </p:spPr>
      </p:pic>
      <p:pic>
        <p:nvPicPr>
          <p:cNvPr id="79" name="Picture 78" descr="circle_E58900_256_2.0.png"/>
          <p:cNvPicPr>
            <a:picLocks noChangeAspect="1"/>
          </p:cNvPicPr>
          <p:nvPr/>
        </p:nvPicPr>
        <p:blipFill>
          <a:blip r:embed="rId14"/>
          <a:stretch>
            <a:fillRect/>
          </a:stretch>
        </p:blipFill>
        <p:spPr>
          <a:xfrm>
            <a:off x="8478133" y="4325112"/>
            <a:ext cx="128016" cy="128016"/>
          </a:xfrm>
          <a:prstGeom prst="rect">
            <a:avLst/>
          </a:prstGeom>
        </p:spPr>
      </p:pic>
      <p:sp>
        <p:nvSpPr>
          <p:cNvPr id="80" name="TextBox 79"/>
          <p:cNvSpPr txBox="1"/>
          <p:nvPr/>
        </p:nvSpPr>
        <p:spPr>
          <a:xfrm>
            <a:off x="7480889" y="4663440"/>
            <a:ext cx="1143548" cy="274320"/>
          </a:xfrm>
          <a:prstGeom prst="rect">
            <a:avLst/>
          </a:prstGeom>
          <a:noFill/>
        </p:spPr>
        <p:txBody>
          <a:bodyPr wrap="square" lIns="0" rIns="0" tIns="0" bIns="0" anchor="t">
            <a:spAutoFit/>
          </a:bodyPr>
          <a:lstStyle/>
          <a:p>
            <a:pPr algn="l">
              <a:lnSpc>
                <a:spcPct val="100000"/>
              </a:lnSpc>
            </a:pPr>
            <a:r>
              <a:rPr sz="850" b="1" i="0">
                <a:solidFill>
                  <a:srgbClr val="16181D"/>
                </a:solidFill>
                <a:latin typeface="Montserrat"/>
              </a:rPr>
              <a:t>Realtime notify</a:t>
            </a:r>
          </a:p>
        </p:txBody>
      </p:sp>
      <p:sp>
        <p:nvSpPr>
          <p:cNvPr id="81" name="Rounded Rectangle 80"/>
          <p:cNvSpPr/>
          <p:nvPr/>
        </p:nvSpPr>
        <p:spPr>
          <a:xfrm>
            <a:off x="8843893" y="4206240"/>
            <a:ext cx="1326428" cy="786384"/>
          </a:xfrm>
          <a:prstGeom prst="roundRect">
            <a:avLst>
              <a:gd name="adj" fmla="val 10000"/>
            </a:avLst>
          </a:prstGeom>
          <a:solidFill>
            <a:srgbClr val="FFFFFF"/>
          </a:solidFill>
          <a:ln w="9525">
            <a:solidFill>
              <a:srgbClr val="E8E9EE"/>
            </a:solidFill>
          </a:ln>
          <a:effectLst/>
        </p:spPr>
        <p:txBody>
          <a:bodyPr rtlCol="0" anchor="ctr"/>
          <a:lstStyle/>
          <a:p>
            <a:pPr algn="ctr"/>
          </a:p>
        </p:txBody>
      </p:sp>
      <p:sp>
        <p:nvSpPr>
          <p:cNvPr id="82" name="Oval 81"/>
          <p:cNvSpPr/>
          <p:nvPr/>
        </p:nvSpPr>
        <p:spPr>
          <a:xfrm>
            <a:off x="8953621" y="4325112"/>
            <a:ext cx="310896" cy="310896"/>
          </a:xfrm>
          <a:prstGeom prst="ellipse">
            <a:avLst/>
          </a:prstGeom>
          <a:solidFill>
            <a:srgbClr val="EFEDFF"/>
          </a:solidFill>
          <a:ln>
            <a:noFill/>
          </a:ln>
          <a:effectLst/>
        </p:spPr>
        <p:txBody>
          <a:bodyPr rtlCol="0" anchor="ctr"/>
          <a:lstStyle/>
          <a:p>
            <a:pPr algn="ctr"/>
          </a:p>
        </p:txBody>
      </p:sp>
      <p:pic>
        <p:nvPicPr>
          <p:cNvPr id="83" name="Picture 82" descr="scan-text_4A35FF_256_2.0.png"/>
          <p:cNvPicPr>
            <a:picLocks noChangeAspect="1"/>
          </p:cNvPicPr>
          <p:nvPr/>
        </p:nvPicPr>
        <p:blipFill>
          <a:blip r:embed="rId16"/>
          <a:stretch>
            <a:fillRect/>
          </a:stretch>
        </p:blipFill>
        <p:spPr>
          <a:xfrm>
            <a:off x="9028236" y="4399727"/>
            <a:ext cx="161665" cy="161665"/>
          </a:xfrm>
          <a:prstGeom prst="rect">
            <a:avLst/>
          </a:prstGeom>
        </p:spPr>
      </p:pic>
      <p:pic>
        <p:nvPicPr>
          <p:cNvPr id="84" name="Picture 83" descr="circle_E11900_256_2.0.png"/>
          <p:cNvPicPr>
            <a:picLocks noChangeAspect="1"/>
          </p:cNvPicPr>
          <p:nvPr/>
        </p:nvPicPr>
        <p:blipFill>
          <a:blip r:embed="rId17"/>
          <a:stretch>
            <a:fillRect/>
          </a:stretch>
        </p:blipFill>
        <p:spPr>
          <a:xfrm>
            <a:off x="9932578" y="4325112"/>
            <a:ext cx="128016" cy="128016"/>
          </a:xfrm>
          <a:prstGeom prst="rect">
            <a:avLst/>
          </a:prstGeom>
        </p:spPr>
      </p:pic>
      <p:sp>
        <p:nvSpPr>
          <p:cNvPr id="85" name="TextBox 84"/>
          <p:cNvSpPr txBox="1"/>
          <p:nvPr/>
        </p:nvSpPr>
        <p:spPr>
          <a:xfrm>
            <a:off x="8935333" y="4663440"/>
            <a:ext cx="1143548" cy="274320"/>
          </a:xfrm>
          <a:prstGeom prst="rect">
            <a:avLst/>
          </a:prstGeom>
          <a:noFill/>
        </p:spPr>
        <p:txBody>
          <a:bodyPr wrap="square" lIns="0" rIns="0" tIns="0" bIns="0" anchor="t">
            <a:spAutoFit/>
          </a:bodyPr>
          <a:lstStyle/>
          <a:p>
            <a:pPr algn="l">
              <a:lnSpc>
                <a:spcPct val="100000"/>
              </a:lnSpc>
            </a:pPr>
            <a:r>
              <a:rPr sz="850" b="1" i="0">
                <a:solidFill>
                  <a:srgbClr val="16181D"/>
                </a:solidFill>
                <a:latin typeface="Montserrat"/>
              </a:rPr>
              <a:t>AI doc-check</a:t>
            </a:r>
          </a:p>
        </p:txBody>
      </p:sp>
      <p:sp>
        <p:nvSpPr>
          <p:cNvPr id="86" name="Rounded Rectangle 85"/>
          <p:cNvSpPr/>
          <p:nvPr/>
        </p:nvSpPr>
        <p:spPr>
          <a:xfrm>
            <a:off x="10298338" y="4206240"/>
            <a:ext cx="1326428" cy="786384"/>
          </a:xfrm>
          <a:prstGeom prst="roundRect">
            <a:avLst>
              <a:gd name="adj" fmla="val 10000"/>
            </a:avLst>
          </a:prstGeom>
          <a:solidFill>
            <a:srgbClr val="FFFFFF"/>
          </a:solidFill>
          <a:ln w="9525">
            <a:solidFill>
              <a:srgbClr val="E8E9EE"/>
            </a:solidFill>
          </a:ln>
          <a:effectLst/>
        </p:spPr>
        <p:txBody>
          <a:bodyPr rtlCol="0" anchor="ctr"/>
          <a:lstStyle/>
          <a:p>
            <a:pPr algn="ctr"/>
          </a:p>
        </p:txBody>
      </p:sp>
      <p:sp>
        <p:nvSpPr>
          <p:cNvPr id="87" name="Oval 86"/>
          <p:cNvSpPr/>
          <p:nvPr/>
        </p:nvSpPr>
        <p:spPr>
          <a:xfrm>
            <a:off x="10408066" y="4325112"/>
            <a:ext cx="310896" cy="310896"/>
          </a:xfrm>
          <a:prstGeom prst="ellipse">
            <a:avLst/>
          </a:prstGeom>
          <a:solidFill>
            <a:srgbClr val="EFEDFF"/>
          </a:solidFill>
          <a:ln>
            <a:noFill/>
          </a:ln>
          <a:effectLst/>
        </p:spPr>
        <p:txBody>
          <a:bodyPr rtlCol="0" anchor="ctr"/>
          <a:lstStyle/>
          <a:p>
            <a:pPr algn="ctr"/>
          </a:p>
        </p:txBody>
      </p:sp>
      <p:pic>
        <p:nvPicPr>
          <p:cNvPr id="88" name="Picture 87" descr="bar-chart-3_4A35FF_256_2.0.png"/>
          <p:cNvPicPr>
            <a:picLocks noChangeAspect="1"/>
          </p:cNvPicPr>
          <p:nvPr/>
        </p:nvPicPr>
        <p:blipFill>
          <a:blip r:embed="rId18"/>
          <a:stretch>
            <a:fillRect/>
          </a:stretch>
        </p:blipFill>
        <p:spPr>
          <a:xfrm>
            <a:off x="10482681" y="4399727"/>
            <a:ext cx="161665" cy="161665"/>
          </a:xfrm>
          <a:prstGeom prst="rect">
            <a:avLst/>
          </a:prstGeom>
        </p:spPr>
      </p:pic>
      <p:pic>
        <p:nvPicPr>
          <p:cNvPr id="89" name="Picture 88" descr="circle_0A9955_256_2.0.png"/>
          <p:cNvPicPr>
            <a:picLocks noChangeAspect="1"/>
          </p:cNvPicPr>
          <p:nvPr/>
        </p:nvPicPr>
        <p:blipFill>
          <a:blip r:embed="rId7"/>
          <a:stretch>
            <a:fillRect/>
          </a:stretch>
        </p:blipFill>
        <p:spPr>
          <a:xfrm>
            <a:off x="11387023" y="4325112"/>
            <a:ext cx="128016" cy="128016"/>
          </a:xfrm>
          <a:prstGeom prst="rect">
            <a:avLst/>
          </a:prstGeom>
        </p:spPr>
      </p:pic>
      <p:sp>
        <p:nvSpPr>
          <p:cNvPr id="90" name="TextBox 89"/>
          <p:cNvSpPr txBox="1"/>
          <p:nvPr/>
        </p:nvSpPr>
        <p:spPr>
          <a:xfrm>
            <a:off x="10389778" y="4663440"/>
            <a:ext cx="1143548" cy="274320"/>
          </a:xfrm>
          <a:prstGeom prst="rect">
            <a:avLst/>
          </a:prstGeom>
          <a:noFill/>
        </p:spPr>
        <p:txBody>
          <a:bodyPr wrap="square" lIns="0" rIns="0" tIns="0" bIns="0" anchor="t">
            <a:spAutoFit/>
          </a:bodyPr>
          <a:lstStyle/>
          <a:p>
            <a:pPr algn="l">
              <a:lnSpc>
                <a:spcPct val="100000"/>
              </a:lnSpc>
            </a:pPr>
            <a:r>
              <a:rPr sz="850" b="1" i="0">
                <a:solidFill>
                  <a:srgbClr val="16181D"/>
                </a:solidFill>
                <a:latin typeface="Montserrat"/>
              </a:rPr>
              <a:t>Reports</a:t>
            </a:r>
          </a:p>
        </p:txBody>
      </p:sp>
      <p:pic>
        <p:nvPicPr>
          <p:cNvPr id="91" name="Picture 90" descr="circle-check_0A9955_256_2.0.png"/>
          <p:cNvPicPr>
            <a:picLocks noChangeAspect="1"/>
          </p:cNvPicPr>
          <p:nvPr/>
        </p:nvPicPr>
        <p:blipFill>
          <a:blip r:embed="rId19"/>
          <a:stretch>
            <a:fillRect/>
          </a:stretch>
        </p:blipFill>
        <p:spPr>
          <a:xfrm>
            <a:off x="4480560" y="5029200"/>
            <a:ext cx="201168" cy="201168"/>
          </a:xfrm>
          <a:prstGeom prst="rect">
            <a:avLst/>
          </a:prstGeom>
        </p:spPr>
      </p:pic>
      <p:sp>
        <p:nvSpPr>
          <p:cNvPr id="92" name="TextBox 91"/>
          <p:cNvSpPr txBox="1"/>
          <p:nvPr/>
        </p:nvSpPr>
        <p:spPr>
          <a:xfrm>
            <a:off x="4736592" y="5010912"/>
            <a:ext cx="1005840" cy="274320"/>
          </a:xfrm>
          <a:prstGeom prst="rect">
            <a:avLst/>
          </a:prstGeom>
          <a:noFill/>
        </p:spPr>
        <p:txBody>
          <a:bodyPr wrap="square" lIns="0" rIns="0" tIns="0" bIns="0" anchor="t">
            <a:spAutoFit/>
          </a:bodyPr>
          <a:lstStyle/>
          <a:p>
            <a:pPr algn="l">
              <a:lnSpc>
                <a:spcPct val="128000"/>
              </a:lnSpc>
            </a:pPr>
            <a:r>
              <a:rPr sz="900" b="1" i="0">
                <a:solidFill>
                  <a:srgbClr val="16181D"/>
                </a:solidFill>
                <a:latin typeface="Montserrat"/>
              </a:rPr>
              <a:t>Live</a:t>
            </a:r>
          </a:p>
        </p:txBody>
      </p:sp>
      <p:pic>
        <p:nvPicPr>
          <p:cNvPr id="93" name="Picture 92" descr="triangle-alert_E58900_256_2.0.png"/>
          <p:cNvPicPr>
            <a:picLocks noChangeAspect="1"/>
          </p:cNvPicPr>
          <p:nvPr/>
        </p:nvPicPr>
        <p:blipFill>
          <a:blip r:embed="rId20"/>
          <a:stretch>
            <a:fillRect/>
          </a:stretch>
        </p:blipFill>
        <p:spPr>
          <a:xfrm>
            <a:off x="5715000" y="5029200"/>
            <a:ext cx="201168" cy="201168"/>
          </a:xfrm>
          <a:prstGeom prst="rect">
            <a:avLst/>
          </a:prstGeom>
        </p:spPr>
      </p:pic>
      <p:sp>
        <p:nvSpPr>
          <p:cNvPr id="94" name="TextBox 93"/>
          <p:cNvSpPr txBox="1"/>
          <p:nvPr/>
        </p:nvSpPr>
        <p:spPr>
          <a:xfrm>
            <a:off x="5971032" y="5010912"/>
            <a:ext cx="1005840" cy="274320"/>
          </a:xfrm>
          <a:prstGeom prst="rect">
            <a:avLst/>
          </a:prstGeom>
          <a:noFill/>
        </p:spPr>
        <p:txBody>
          <a:bodyPr wrap="square" lIns="0" rIns="0" tIns="0" bIns="0" anchor="t">
            <a:spAutoFit/>
          </a:bodyPr>
          <a:lstStyle/>
          <a:p>
            <a:pPr algn="l">
              <a:lnSpc>
                <a:spcPct val="128000"/>
              </a:lnSpc>
            </a:pPr>
            <a:r>
              <a:rPr sz="900" b="1" i="0">
                <a:solidFill>
                  <a:srgbClr val="16181D"/>
                </a:solidFill>
                <a:latin typeface="Montserrat"/>
              </a:rPr>
              <a:t>Partial</a:t>
            </a:r>
          </a:p>
        </p:txBody>
      </p:sp>
      <p:pic>
        <p:nvPicPr>
          <p:cNvPr id="95" name="Picture 94" descr="circle-dot_E11900_256_2.0.png"/>
          <p:cNvPicPr>
            <a:picLocks noChangeAspect="1"/>
          </p:cNvPicPr>
          <p:nvPr/>
        </p:nvPicPr>
        <p:blipFill>
          <a:blip r:embed="rId21"/>
          <a:stretch>
            <a:fillRect/>
          </a:stretch>
        </p:blipFill>
        <p:spPr>
          <a:xfrm>
            <a:off x="6949440" y="5029200"/>
            <a:ext cx="201168" cy="201168"/>
          </a:xfrm>
          <a:prstGeom prst="rect">
            <a:avLst/>
          </a:prstGeom>
        </p:spPr>
      </p:pic>
      <p:sp>
        <p:nvSpPr>
          <p:cNvPr id="96" name="TextBox 95"/>
          <p:cNvSpPr txBox="1"/>
          <p:nvPr/>
        </p:nvSpPr>
        <p:spPr>
          <a:xfrm>
            <a:off x="7205472" y="5010912"/>
            <a:ext cx="1005840" cy="274320"/>
          </a:xfrm>
          <a:prstGeom prst="rect">
            <a:avLst/>
          </a:prstGeom>
          <a:noFill/>
        </p:spPr>
        <p:txBody>
          <a:bodyPr wrap="square" lIns="0" rIns="0" tIns="0" bIns="0" anchor="t">
            <a:spAutoFit/>
          </a:bodyPr>
          <a:lstStyle/>
          <a:p>
            <a:pPr algn="l">
              <a:lnSpc>
                <a:spcPct val="128000"/>
              </a:lnSpc>
            </a:pPr>
            <a:r>
              <a:rPr sz="900" b="1" i="0">
                <a:solidFill>
                  <a:srgbClr val="16181D"/>
                </a:solidFill>
                <a:latin typeface="Montserrat"/>
              </a:rPr>
              <a:t>Greenfield</a:t>
            </a:r>
          </a:p>
        </p:txBody>
      </p:sp>
      <p:sp>
        <p:nvSpPr>
          <p:cNvPr id="97" name="Rounded Rectangle 96"/>
          <p:cNvSpPr/>
          <p:nvPr/>
        </p:nvSpPr>
        <p:spPr>
          <a:xfrm>
            <a:off x="566928" y="5504688"/>
            <a:ext cx="11057839" cy="658368"/>
          </a:xfrm>
          <a:prstGeom prst="roundRect">
            <a:avLst>
              <a:gd name="adj" fmla="val 12000"/>
            </a:avLst>
          </a:prstGeom>
          <a:solidFill>
            <a:srgbClr val="F7F7FA"/>
          </a:solidFill>
          <a:ln>
            <a:noFill/>
          </a:ln>
          <a:effectLst/>
        </p:spPr>
        <p:txBody>
          <a:bodyPr rtlCol="0" anchor="ctr"/>
          <a:lstStyle/>
          <a:p>
            <a:pPr algn="ctr"/>
          </a:p>
        </p:txBody>
      </p:sp>
      <p:sp>
        <p:nvSpPr>
          <p:cNvPr id="98" name="TextBox 97"/>
          <p:cNvSpPr txBox="1"/>
          <p:nvPr/>
        </p:nvSpPr>
        <p:spPr>
          <a:xfrm>
            <a:off x="795528" y="5623560"/>
            <a:ext cx="10600639" cy="457200"/>
          </a:xfrm>
          <a:prstGeom prst="rect">
            <a:avLst/>
          </a:prstGeom>
          <a:noFill/>
        </p:spPr>
        <p:txBody>
          <a:bodyPr wrap="square" lIns="0" rIns="0" tIns="0" bIns="0" anchor="t">
            <a:spAutoFit/>
          </a:bodyPr>
          <a:lstStyle/>
          <a:p>
            <a:pPr algn="l">
              <a:lnSpc>
                <a:spcPct val="122000"/>
              </a:lnSpc>
            </a:pPr>
            <a:r>
              <a:rPr sz="1000" b="1" i="0">
                <a:solidFill>
                  <a:srgbClr val="16181D"/>
                </a:solidFill>
                <a:latin typeface="Geist"/>
              </a:rPr>
              <a:t>Nothing is tied to our GitHub or Supabase. </a:t>
            </a:r>
            <a:r>
              <a:rPr sz="1000" b="0" i="0">
                <a:solidFill>
                  <a:srgbClr val="6E7180"/>
                </a:solidFill>
                <a:latin typeface="Geist"/>
              </a:rPr>
              <a:t>The whole backend ports (migrations + edge function + env vars); new states onboard by a super-admin workbook. CFI has offered migration to government cloud (RISL/NIC) in 4–6 weeks — data already in India.</a:t>
            </a:r>
          </a:p>
        </p:txBody>
      </p:sp>
      <p:cxnSp>
        <p:nvCxnSpPr>
          <p:cNvPr id="99" name="Connector 98"/>
          <p:cNvCxnSpPr/>
          <p:nvPr/>
        </p:nvCxnSpPr>
        <p:spPr>
          <a:xfrm>
            <a:off x="566928" y="6455664"/>
            <a:ext cx="11057839" cy="0"/>
          </a:xfrm>
          <a:prstGeom prst="line">
            <a:avLst/>
          </a:prstGeom>
          <a:ln w="9525">
            <a:solidFill>
              <a:srgbClr val="E8E9EE"/>
            </a:solidFill>
          </a:ln>
          <a:effectLst/>
        </p:spPr>
      </p:cxnSp>
      <p:sp>
        <p:nvSpPr>
          <p:cNvPr id="100" name="TextBox 99"/>
          <p:cNvSpPr txBox="1"/>
          <p:nvPr/>
        </p:nvSpPr>
        <p:spPr>
          <a:xfrm>
            <a:off x="566928" y="6528816"/>
            <a:ext cx="86868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SAHAJ — Team Induction Brief   ·   Confidential</a:t>
            </a:r>
          </a:p>
        </p:txBody>
      </p:sp>
      <p:sp>
        <p:nvSpPr>
          <p:cNvPr id="101" name="TextBox 100"/>
          <p:cNvSpPr txBox="1"/>
          <p:nvPr/>
        </p:nvSpPr>
        <p:spPr>
          <a:xfrm>
            <a:off x="10344607" y="6528816"/>
            <a:ext cx="128016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14 / 22</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7692847" y="274320"/>
            <a:ext cx="3931920" cy="219456"/>
          </a:xfrm>
          <a:prstGeom prst="rect">
            <a:avLst/>
          </a:prstGeom>
          <a:noFill/>
        </p:spPr>
        <p:txBody>
          <a:bodyPr wrap="square" lIns="0" rIns="0" tIns="0" bIns="0" anchor="t">
            <a:spAutoFit/>
          </a:bodyPr>
          <a:lstStyle/>
          <a:p>
            <a:pPr algn="r">
              <a:lnSpc>
                <a:spcPct val="128000"/>
              </a:lnSpc>
            </a:pPr>
            <a:r>
              <a:rPr sz="800" b="1" i="0" spc="150">
                <a:solidFill>
                  <a:srgbClr val="6E7180"/>
                </a:solidFill>
                <a:latin typeface="Montserrat"/>
              </a:rPr>
              <a:t>SECTION 4 OF 5   ·   WHERE WE ARE</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04 · WHERE WE ARE</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Live in Jaipur for a month — </a:t>
            </a:r>
            <a:r>
              <a:rPr sz="2250" b="1" i="0">
                <a:solidFill>
                  <a:srgbClr val="4A35FF"/>
                </a:solidFill>
                <a:latin typeface="Montserrat"/>
              </a:rPr>
              <a:t>a proven flow on a fast MVP</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The whole chain works end to end in production. Two lanes run in parallel: the portal-native pilot, and the old paper flow that a CFI operator shadow-enters so nothing is lost.</a:t>
            </a:r>
          </a:p>
        </p:txBody>
      </p:sp>
      <p:sp>
        <p:nvSpPr>
          <p:cNvPr id="8" name="Rounded Rectangle 7"/>
          <p:cNvSpPr/>
          <p:nvPr/>
        </p:nvSpPr>
        <p:spPr>
          <a:xfrm>
            <a:off x="566928" y="2194560"/>
            <a:ext cx="2615184" cy="1188720"/>
          </a:xfrm>
          <a:prstGeom prst="roundRect">
            <a:avLst>
              <a:gd name="adj" fmla="val 12000"/>
            </a:avLst>
          </a:prstGeom>
          <a:solidFill>
            <a:srgbClr val="F7F7FA"/>
          </a:solidFill>
          <a:ln>
            <a:noFill/>
          </a:ln>
          <a:effectLst/>
        </p:spPr>
        <p:txBody>
          <a:bodyPr rtlCol="0" anchor="ctr"/>
          <a:lstStyle/>
          <a:p>
            <a:pPr algn="ctr"/>
          </a:p>
        </p:txBody>
      </p:sp>
      <p:sp>
        <p:nvSpPr>
          <p:cNvPr id="9" name="TextBox 8"/>
          <p:cNvSpPr txBox="1"/>
          <p:nvPr/>
        </p:nvSpPr>
        <p:spPr>
          <a:xfrm>
            <a:off x="768096" y="2304288"/>
            <a:ext cx="2249424" cy="457200"/>
          </a:xfrm>
          <a:prstGeom prst="rect">
            <a:avLst/>
          </a:prstGeom>
          <a:noFill/>
        </p:spPr>
        <p:txBody>
          <a:bodyPr wrap="square" lIns="0" rIns="0" tIns="0" bIns="0" anchor="t">
            <a:spAutoFit/>
          </a:bodyPr>
          <a:lstStyle/>
          <a:p>
            <a:pPr algn="l">
              <a:lnSpc>
                <a:spcPct val="100000"/>
              </a:lnSpc>
            </a:pPr>
            <a:r>
              <a:rPr sz="2400" b="1" i="0">
                <a:solidFill>
                  <a:srgbClr val="4A35FF"/>
                </a:solidFill>
                <a:latin typeface="Montserrat"/>
              </a:rPr>
              <a:t>Aug 31</a:t>
            </a:r>
          </a:p>
        </p:txBody>
      </p:sp>
      <p:sp>
        <p:nvSpPr>
          <p:cNvPr id="10" name="TextBox 9"/>
          <p:cNvSpPr txBox="1"/>
          <p:nvPr/>
        </p:nvSpPr>
        <p:spPr>
          <a:xfrm>
            <a:off x="768096" y="2798064"/>
            <a:ext cx="2249424" cy="548640"/>
          </a:xfrm>
          <a:prstGeom prst="rect">
            <a:avLst/>
          </a:prstGeom>
          <a:noFill/>
        </p:spPr>
        <p:txBody>
          <a:bodyPr wrap="square" lIns="0" rIns="0" tIns="0" bIns="0" anchor="t">
            <a:spAutoFit/>
          </a:bodyPr>
          <a:lstStyle/>
          <a:p>
            <a:pPr algn="l">
              <a:lnSpc>
                <a:spcPct val="115000"/>
              </a:lnSpc>
            </a:pPr>
            <a:r>
              <a:rPr sz="950" b="0" i="0">
                <a:solidFill>
                  <a:srgbClr val="6E7180"/>
                </a:solidFill>
                <a:latin typeface="Geist"/>
              </a:rPr>
              <a:t>go-live, real accounts,</a:t>
            </a:r>
          </a:p>
          <a:p>
            <a:pPr algn="l">
              <a:lnSpc>
                <a:spcPct val="115000"/>
              </a:lnSpc>
            </a:pPr>
            <a:r>
              <a:rPr sz="950" b="0" i="0">
                <a:solidFill>
                  <a:srgbClr val="6E7180"/>
                </a:solidFill>
                <a:latin typeface="Geist"/>
              </a:rPr>
              <a:t>comms gated</a:t>
            </a:r>
          </a:p>
        </p:txBody>
      </p:sp>
      <p:sp>
        <p:nvSpPr>
          <p:cNvPr id="11" name="Rounded Rectangle 10"/>
          <p:cNvSpPr/>
          <p:nvPr/>
        </p:nvSpPr>
        <p:spPr>
          <a:xfrm>
            <a:off x="3319272" y="2194560"/>
            <a:ext cx="2615184" cy="1188720"/>
          </a:xfrm>
          <a:prstGeom prst="roundRect">
            <a:avLst>
              <a:gd name="adj" fmla="val 12000"/>
            </a:avLst>
          </a:prstGeom>
          <a:solidFill>
            <a:srgbClr val="F7F7FA"/>
          </a:solidFill>
          <a:ln>
            <a:noFill/>
          </a:ln>
          <a:effectLst/>
        </p:spPr>
        <p:txBody>
          <a:bodyPr rtlCol="0" anchor="ctr"/>
          <a:lstStyle/>
          <a:p>
            <a:pPr algn="ctr"/>
          </a:p>
        </p:txBody>
      </p:sp>
      <p:sp>
        <p:nvSpPr>
          <p:cNvPr id="12" name="TextBox 11"/>
          <p:cNvSpPr txBox="1"/>
          <p:nvPr/>
        </p:nvSpPr>
        <p:spPr>
          <a:xfrm>
            <a:off x="3520440" y="2304288"/>
            <a:ext cx="2249424" cy="457200"/>
          </a:xfrm>
          <a:prstGeom prst="rect">
            <a:avLst/>
          </a:prstGeom>
          <a:noFill/>
        </p:spPr>
        <p:txBody>
          <a:bodyPr wrap="square" lIns="0" rIns="0" tIns="0" bIns="0" anchor="t">
            <a:spAutoFit/>
          </a:bodyPr>
          <a:lstStyle/>
          <a:p>
            <a:pPr algn="l">
              <a:lnSpc>
                <a:spcPct val="100000"/>
              </a:lnSpc>
            </a:pPr>
            <a:r>
              <a:rPr sz="2400" b="1" i="0">
                <a:solidFill>
                  <a:srgbClr val="4A35FF"/>
                </a:solidFill>
                <a:latin typeface="Montserrat"/>
              </a:rPr>
              <a:t>6</a:t>
            </a:r>
          </a:p>
        </p:txBody>
      </p:sp>
      <p:sp>
        <p:nvSpPr>
          <p:cNvPr id="13" name="TextBox 12"/>
          <p:cNvSpPr txBox="1"/>
          <p:nvPr/>
        </p:nvSpPr>
        <p:spPr>
          <a:xfrm>
            <a:off x="3520440" y="2798064"/>
            <a:ext cx="2249424" cy="548640"/>
          </a:xfrm>
          <a:prstGeom prst="rect">
            <a:avLst/>
          </a:prstGeom>
          <a:noFill/>
        </p:spPr>
        <p:txBody>
          <a:bodyPr wrap="square" lIns="0" rIns="0" tIns="0" bIns="0" anchor="t">
            <a:spAutoFit/>
          </a:bodyPr>
          <a:lstStyle/>
          <a:p>
            <a:pPr algn="l">
              <a:lnSpc>
                <a:spcPct val="115000"/>
              </a:lnSpc>
            </a:pPr>
            <a:r>
              <a:rPr sz="950" b="0" i="0">
                <a:solidFill>
                  <a:srgbClr val="6E7180"/>
                </a:solidFill>
                <a:latin typeface="Geist"/>
              </a:rPr>
              <a:t>pilot thanas across</a:t>
            </a:r>
          </a:p>
          <a:p>
            <a:pPr algn="l">
              <a:lnSpc>
                <a:spcPct val="115000"/>
              </a:lnSpc>
            </a:pPr>
            <a:r>
              <a:rPr sz="950" b="0" i="0">
                <a:solidFill>
                  <a:srgbClr val="6E7180"/>
                </a:solidFill>
                <a:latin typeface="Geist"/>
              </a:rPr>
              <a:t>2 tehsils (Jaipur)</a:t>
            </a:r>
          </a:p>
        </p:txBody>
      </p:sp>
      <p:sp>
        <p:nvSpPr>
          <p:cNvPr id="14" name="Rounded Rectangle 13"/>
          <p:cNvSpPr/>
          <p:nvPr/>
        </p:nvSpPr>
        <p:spPr>
          <a:xfrm>
            <a:off x="6071616" y="2194560"/>
            <a:ext cx="2615184" cy="1188720"/>
          </a:xfrm>
          <a:prstGeom prst="roundRect">
            <a:avLst>
              <a:gd name="adj" fmla="val 12000"/>
            </a:avLst>
          </a:prstGeom>
          <a:solidFill>
            <a:srgbClr val="F7F7FA"/>
          </a:solidFill>
          <a:ln>
            <a:noFill/>
          </a:ln>
          <a:effectLst/>
        </p:spPr>
        <p:txBody>
          <a:bodyPr rtlCol="0" anchor="ctr"/>
          <a:lstStyle/>
          <a:p>
            <a:pPr algn="ctr"/>
          </a:p>
        </p:txBody>
      </p:sp>
      <p:sp>
        <p:nvSpPr>
          <p:cNvPr id="15" name="TextBox 14"/>
          <p:cNvSpPr txBox="1"/>
          <p:nvPr/>
        </p:nvSpPr>
        <p:spPr>
          <a:xfrm>
            <a:off x="6272784" y="2304288"/>
            <a:ext cx="2249424" cy="457200"/>
          </a:xfrm>
          <a:prstGeom prst="rect">
            <a:avLst/>
          </a:prstGeom>
          <a:noFill/>
        </p:spPr>
        <p:txBody>
          <a:bodyPr wrap="square" lIns="0" rIns="0" tIns="0" bIns="0" anchor="t">
            <a:spAutoFit/>
          </a:bodyPr>
          <a:lstStyle/>
          <a:p>
            <a:pPr algn="l">
              <a:lnSpc>
                <a:spcPct val="100000"/>
              </a:lnSpc>
            </a:pPr>
            <a:r>
              <a:rPr sz="2400" b="1" i="0">
                <a:solidFill>
                  <a:srgbClr val="4A35FF"/>
                </a:solidFill>
                <a:latin typeface="Montserrat"/>
              </a:rPr>
              <a:t>607</a:t>
            </a:r>
          </a:p>
        </p:txBody>
      </p:sp>
      <p:sp>
        <p:nvSpPr>
          <p:cNvPr id="16" name="TextBox 15"/>
          <p:cNvSpPr txBox="1"/>
          <p:nvPr/>
        </p:nvSpPr>
        <p:spPr>
          <a:xfrm>
            <a:off x="6272784" y="2798064"/>
            <a:ext cx="2249424" cy="548640"/>
          </a:xfrm>
          <a:prstGeom prst="rect">
            <a:avLst/>
          </a:prstGeom>
          <a:noFill/>
        </p:spPr>
        <p:txBody>
          <a:bodyPr wrap="square" lIns="0" rIns="0" tIns="0" bIns="0" anchor="t">
            <a:spAutoFit/>
          </a:bodyPr>
          <a:lstStyle/>
          <a:p>
            <a:pPr algn="l">
              <a:lnSpc>
                <a:spcPct val="115000"/>
              </a:lnSpc>
            </a:pPr>
            <a:r>
              <a:rPr sz="950" b="0" i="0">
                <a:solidFill>
                  <a:srgbClr val="6E7180"/>
                </a:solidFill>
                <a:latin typeface="Geist"/>
              </a:rPr>
              <a:t>automated tests</a:t>
            </a:r>
          </a:p>
          <a:p>
            <a:pPr algn="l">
              <a:lnSpc>
                <a:spcPct val="115000"/>
              </a:lnSpc>
            </a:pPr>
            <a:r>
              <a:rPr sz="950" b="0" i="0">
                <a:solidFill>
                  <a:srgbClr val="6E7180"/>
                </a:solidFill>
                <a:latin typeface="Geist"/>
              </a:rPr>
              <a:t>(RLS + lifecycle)</a:t>
            </a:r>
          </a:p>
        </p:txBody>
      </p:sp>
      <p:sp>
        <p:nvSpPr>
          <p:cNvPr id="17" name="Rounded Rectangle 16"/>
          <p:cNvSpPr/>
          <p:nvPr/>
        </p:nvSpPr>
        <p:spPr>
          <a:xfrm>
            <a:off x="8823960" y="2194560"/>
            <a:ext cx="2615184" cy="1188720"/>
          </a:xfrm>
          <a:prstGeom prst="roundRect">
            <a:avLst>
              <a:gd name="adj" fmla="val 12000"/>
            </a:avLst>
          </a:prstGeom>
          <a:solidFill>
            <a:srgbClr val="F7F7FA"/>
          </a:solidFill>
          <a:ln>
            <a:noFill/>
          </a:ln>
          <a:effectLst/>
        </p:spPr>
        <p:txBody>
          <a:bodyPr rtlCol="0" anchor="ctr"/>
          <a:lstStyle/>
          <a:p>
            <a:pPr algn="ctr"/>
          </a:p>
        </p:txBody>
      </p:sp>
      <p:sp>
        <p:nvSpPr>
          <p:cNvPr id="18" name="TextBox 17"/>
          <p:cNvSpPr txBox="1"/>
          <p:nvPr/>
        </p:nvSpPr>
        <p:spPr>
          <a:xfrm>
            <a:off x="9025128" y="2304288"/>
            <a:ext cx="2249424" cy="457200"/>
          </a:xfrm>
          <a:prstGeom prst="rect">
            <a:avLst/>
          </a:prstGeom>
          <a:noFill/>
        </p:spPr>
        <p:txBody>
          <a:bodyPr wrap="square" lIns="0" rIns="0" tIns="0" bIns="0" anchor="t">
            <a:spAutoFit/>
          </a:bodyPr>
          <a:lstStyle/>
          <a:p>
            <a:pPr algn="l">
              <a:lnSpc>
                <a:spcPct val="100000"/>
              </a:lnSpc>
            </a:pPr>
            <a:r>
              <a:rPr sz="2400" b="1" i="0">
                <a:solidFill>
                  <a:srgbClr val="4A35FF"/>
                </a:solidFill>
                <a:latin typeface="Montserrat"/>
              </a:rPr>
              <a:t>~64</a:t>
            </a:r>
          </a:p>
        </p:txBody>
      </p:sp>
      <p:sp>
        <p:nvSpPr>
          <p:cNvPr id="19" name="TextBox 18"/>
          <p:cNvSpPr txBox="1"/>
          <p:nvPr/>
        </p:nvSpPr>
        <p:spPr>
          <a:xfrm>
            <a:off x="9025128" y="2798064"/>
            <a:ext cx="2249424" cy="548640"/>
          </a:xfrm>
          <a:prstGeom prst="rect">
            <a:avLst/>
          </a:prstGeom>
          <a:noFill/>
        </p:spPr>
        <p:txBody>
          <a:bodyPr wrap="square" lIns="0" rIns="0" tIns="0" bIns="0" anchor="t">
            <a:spAutoFit/>
          </a:bodyPr>
          <a:lstStyle/>
          <a:p>
            <a:pPr algn="l">
              <a:lnSpc>
                <a:spcPct val="115000"/>
              </a:lnSpc>
            </a:pPr>
            <a:r>
              <a:rPr sz="950" b="0" i="0">
                <a:solidFill>
                  <a:srgbClr val="6E7180"/>
                </a:solidFill>
                <a:latin typeface="Geist"/>
              </a:rPr>
              <a:t>numbered DB</a:t>
            </a:r>
          </a:p>
          <a:p>
            <a:pPr algn="l">
              <a:lnSpc>
                <a:spcPct val="115000"/>
              </a:lnSpc>
            </a:pPr>
            <a:r>
              <a:rPr sz="950" b="0" i="0">
                <a:solidFill>
                  <a:srgbClr val="6E7180"/>
                </a:solidFill>
                <a:latin typeface="Geist"/>
              </a:rPr>
              <a:t>migrations</a:t>
            </a:r>
          </a:p>
        </p:txBody>
      </p:sp>
      <p:sp>
        <p:nvSpPr>
          <p:cNvPr id="20" name="Rounded Rectangle 19"/>
          <p:cNvSpPr/>
          <p:nvPr/>
        </p:nvSpPr>
        <p:spPr>
          <a:xfrm>
            <a:off x="566928" y="3703320"/>
            <a:ext cx="5440680" cy="2148840"/>
          </a:xfrm>
          <a:prstGeom prst="roundRect">
            <a:avLst>
              <a:gd name="adj" fmla="val 7000"/>
            </a:avLst>
          </a:prstGeom>
          <a:solidFill>
            <a:srgbClr val="FFFFFF"/>
          </a:solidFill>
          <a:ln w="9525">
            <a:solidFill>
              <a:srgbClr val="E8E9EE"/>
            </a:solidFill>
          </a:ln>
          <a:effectLst/>
        </p:spPr>
        <p:txBody>
          <a:bodyPr rtlCol="0" anchor="ctr"/>
          <a:lstStyle/>
          <a:p>
            <a:pPr algn="ctr"/>
          </a:p>
        </p:txBody>
      </p:sp>
      <p:sp>
        <p:nvSpPr>
          <p:cNvPr id="21" name="Oval 20"/>
          <p:cNvSpPr/>
          <p:nvPr/>
        </p:nvSpPr>
        <p:spPr>
          <a:xfrm>
            <a:off x="768096" y="3886200"/>
            <a:ext cx="457200" cy="457200"/>
          </a:xfrm>
          <a:prstGeom prst="ellipse">
            <a:avLst/>
          </a:prstGeom>
          <a:solidFill>
            <a:srgbClr val="E9F7F0"/>
          </a:solidFill>
          <a:ln>
            <a:noFill/>
          </a:ln>
          <a:effectLst/>
        </p:spPr>
        <p:txBody>
          <a:bodyPr rtlCol="0" anchor="ctr"/>
          <a:lstStyle/>
          <a:p>
            <a:pPr algn="ctr"/>
          </a:p>
        </p:txBody>
      </p:sp>
      <p:pic>
        <p:nvPicPr>
          <p:cNvPr id="22" name="Picture 21" descr="check-check_0A9955_256_2.0.png"/>
          <p:cNvPicPr>
            <a:picLocks noChangeAspect="1"/>
          </p:cNvPicPr>
          <p:nvPr/>
        </p:nvPicPr>
        <p:blipFill>
          <a:blip r:embed="rId2"/>
          <a:stretch>
            <a:fillRect/>
          </a:stretch>
        </p:blipFill>
        <p:spPr>
          <a:xfrm>
            <a:off x="877824" y="3995928"/>
            <a:ext cx="237744" cy="237744"/>
          </a:xfrm>
          <a:prstGeom prst="rect">
            <a:avLst/>
          </a:prstGeom>
        </p:spPr>
      </p:pic>
      <p:sp>
        <p:nvSpPr>
          <p:cNvPr id="23" name="TextBox 22"/>
          <p:cNvSpPr txBox="1"/>
          <p:nvPr/>
        </p:nvSpPr>
        <p:spPr>
          <a:xfrm>
            <a:off x="1344168" y="3931920"/>
            <a:ext cx="4572000" cy="365760"/>
          </a:xfrm>
          <a:prstGeom prst="rect">
            <a:avLst/>
          </a:prstGeom>
          <a:noFill/>
        </p:spPr>
        <p:txBody>
          <a:bodyPr wrap="square" lIns="0" rIns="0" tIns="0" bIns="0" anchor="t">
            <a:spAutoFit/>
          </a:bodyPr>
          <a:lstStyle/>
          <a:p>
            <a:pPr algn="l">
              <a:lnSpc>
                <a:spcPct val="128000"/>
              </a:lnSpc>
            </a:pPr>
            <a:r>
              <a:rPr sz="1300" b="1" i="0">
                <a:solidFill>
                  <a:srgbClr val="16181D"/>
                </a:solidFill>
                <a:latin typeface="Montserrat"/>
              </a:rPr>
              <a:t>Lane A — portal-native</a:t>
            </a:r>
          </a:p>
        </p:txBody>
      </p:sp>
      <p:sp>
        <p:nvSpPr>
          <p:cNvPr id="24" name="TextBox 23"/>
          <p:cNvSpPr txBox="1"/>
          <p:nvPr/>
        </p:nvSpPr>
        <p:spPr>
          <a:xfrm>
            <a:off x="841248" y="4480560"/>
            <a:ext cx="5029200" cy="320040"/>
          </a:xfrm>
          <a:prstGeom prst="rect">
            <a:avLst/>
          </a:prstGeom>
          <a:noFill/>
        </p:spPr>
        <p:txBody>
          <a:bodyPr wrap="square" lIns="0" rIns="0" tIns="0" bIns="0" anchor="t">
            <a:spAutoFit/>
          </a:bodyPr>
          <a:lstStyle/>
          <a:p>
            <a:pPr algn="l">
              <a:lnSpc>
                <a:spcPct val="112000"/>
              </a:lnSpc>
            </a:pPr>
            <a:r>
              <a:rPr sz="1000" b="0" i="0">
                <a:solidFill>
                  <a:srgbClr val="6E7180"/>
                </a:solidFill>
                <a:latin typeface="Geist"/>
              </a:rPr>
              <a:t>•  6 pilot thanas with live IO/SHO accounts</a:t>
            </a:r>
          </a:p>
        </p:txBody>
      </p:sp>
      <p:sp>
        <p:nvSpPr>
          <p:cNvPr id="25" name="TextBox 24"/>
          <p:cNvSpPr txBox="1"/>
          <p:nvPr/>
        </p:nvSpPr>
        <p:spPr>
          <a:xfrm>
            <a:off x="841248" y="4809744"/>
            <a:ext cx="5029200" cy="320040"/>
          </a:xfrm>
          <a:prstGeom prst="rect">
            <a:avLst/>
          </a:prstGeom>
          <a:noFill/>
        </p:spPr>
        <p:txBody>
          <a:bodyPr wrap="square" lIns="0" rIns="0" tIns="0" bIns="0" anchor="t">
            <a:spAutoFit/>
          </a:bodyPr>
          <a:lstStyle/>
          <a:p>
            <a:pPr algn="l">
              <a:lnSpc>
                <a:spcPct val="112000"/>
              </a:lnSpc>
            </a:pPr>
            <a:r>
              <a:rPr sz="1000" b="0" i="0">
                <a:solidFill>
                  <a:srgbClr val="6E7180"/>
                </a:solidFill>
                <a:latin typeface="Geist"/>
              </a:rPr>
              <a:t>•  Family uploads, CEO/CSC signing, GIC recording</a:t>
            </a:r>
          </a:p>
        </p:txBody>
      </p:sp>
      <p:sp>
        <p:nvSpPr>
          <p:cNvPr id="26" name="TextBox 25"/>
          <p:cNvSpPr txBox="1"/>
          <p:nvPr/>
        </p:nvSpPr>
        <p:spPr>
          <a:xfrm>
            <a:off x="841248" y="5138928"/>
            <a:ext cx="5029200" cy="320040"/>
          </a:xfrm>
          <a:prstGeom prst="rect">
            <a:avLst/>
          </a:prstGeom>
          <a:noFill/>
        </p:spPr>
        <p:txBody>
          <a:bodyPr wrap="square" lIns="0" rIns="0" tIns="0" bIns="0" anchor="t">
            <a:spAutoFit/>
          </a:bodyPr>
          <a:lstStyle/>
          <a:p>
            <a:pPr algn="l">
              <a:lnSpc>
                <a:spcPct val="112000"/>
              </a:lnSpc>
            </a:pPr>
            <a:r>
              <a:rPr sz="1000" b="0" i="0">
                <a:solidFill>
                  <a:srgbClr val="6E7180"/>
                </a:solidFill>
                <a:latin typeface="Geist"/>
              </a:rPr>
              <a:t>•  Backlog digitised via the coordinator console</a:t>
            </a:r>
          </a:p>
        </p:txBody>
      </p:sp>
      <p:sp>
        <p:nvSpPr>
          <p:cNvPr id="27" name="TextBox 26"/>
          <p:cNvSpPr txBox="1"/>
          <p:nvPr/>
        </p:nvSpPr>
        <p:spPr>
          <a:xfrm>
            <a:off x="841248" y="5468112"/>
            <a:ext cx="5029200" cy="320040"/>
          </a:xfrm>
          <a:prstGeom prst="rect">
            <a:avLst/>
          </a:prstGeom>
          <a:noFill/>
        </p:spPr>
        <p:txBody>
          <a:bodyPr wrap="square" lIns="0" rIns="0" tIns="0" bIns="0" anchor="t">
            <a:spAutoFit/>
          </a:bodyPr>
          <a:lstStyle/>
          <a:p>
            <a:pPr algn="l">
              <a:lnSpc>
                <a:spcPct val="112000"/>
              </a:lnSpc>
            </a:pPr>
            <a:r>
              <a:rPr sz="1000" b="0" i="0">
                <a:solidFill>
                  <a:srgbClr val="6E7180"/>
                </a:solidFill>
                <a:latin typeface="Geist"/>
              </a:rPr>
              <a:t>•  Reports, broadcasts, grievances, full audit</a:t>
            </a:r>
          </a:p>
        </p:txBody>
      </p:sp>
      <p:sp>
        <p:nvSpPr>
          <p:cNvPr id="28" name="Rounded Rectangle 27"/>
          <p:cNvSpPr/>
          <p:nvPr/>
        </p:nvSpPr>
        <p:spPr>
          <a:xfrm>
            <a:off x="6190488" y="3703320"/>
            <a:ext cx="5440680" cy="2148840"/>
          </a:xfrm>
          <a:prstGeom prst="roundRect">
            <a:avLst>
              <a:gd name="adj" fmla="val 7000"/>
            </a:avLst>
          </a:prstGeom>
          <a:solidFill>
            <a:srgbClr val="FFFFFF"/>
          </a:solidFill>
          <a:ln w="9525">
            <a:solidFill>
              <a:srgbClr val="E8E9EE"/>
            </a:solidFill>
          </a:ln>
          <a:effectLst/>
        </p:spPr>
        <p:txBody>
          <a:bodyPr rtlCol="0" anchor="ctr"/>
          <a:lstStyle/>
          <a:p>
            <a:pPr algn="ctr"/>
          </a:p>
        </p:txBody>
      </p:sp>
      <p:sp>
        <p:nvSpPr>
          <p:cNvPr id="29" name="Oval 28"/>
          <p:cNvSpPr/>
          <p:nvPr/>
        </p:nvSpPr>
        <p:spPr>
          <a:xfrm>
            <a:off x="6391656" y="3886200"/>
            <a:ext cx="457200" cy="457200"/>
          </a:xfrm>
          <a:prstGeom prst="ellipse">
            <a:avLst/>
          </a:prstGeom>
          <a:solidFill>
            <a:srgbClr val="FDF3E3"/>
          </a:solidFill>
          <a:ln>
            <a:noFill/>
          </a:ln>
          <a:effectLst/>
        </p:spPr>
        <p:txBody>
          <a:bodyPr rtlCol="0" anchor="ctr"/>
          <a:lstStyle/>
          <a:p>
            <a:pPr algn="ctr"/>
          </a:p>
        </p:txBody>
      </p:sp>
      <p:pic>
        <p:nvPicPr>
          <p:cNvPr id="30" name="Picture 29" descr="file-stack_E58900_256_2.0.png"/>
          <p:cNvPicPr>
            <a:picLocks noChangeAspect="1"/>
          </p:cNvPicPr>
          <p:nvPr/>
        </p:nvPicPr>
        <p:blipFill>
          <a:blip r:embed="rId3"/>
          <a:stretch>
            <a:fillRect/>
          </a:stretch>
        </p:blipFill>
        <p:spPr>
          <a:xfrm>
            <a:off x="6501384" y="3995928"/>
            <a:ext cx="237744" cy="237744"/>
          </a:xfrm>
          <a:prstGeom prst="rect">
            <a:avLst/>
          </a:prstGeom>
        </p:spPr>
      </p:pic>
      <p:sp>
        <p:nvSpPr>
          <p:cNvPr id="31" name="TextBox 30"/>
          <p:cNvSpPr txBox="1"/>
          <p:nvPr/>
        </p:nvSpPr>
        <p:spPr>
          <a:xfrm>
            <a:off x="6967728" y="3931920"/>
            <a:ext cx="4572000" cy="365760"/>
          </a:xfrm>
          <a:prstGeom prst="rect">
            <a:avLst/>
          </a:prstGeom>
          <a:noFill/>
        </p:spPr>
        <p:txBody>
          <a:bodyPr wrap="square" lIns="0" rIns="0" tIns="0" bIns="0" anchor="t">
            <a:spAutoFit/>
          </a:bodyPr>
          <a:lstStyle/>
          <a:p>
            <a:pPr algn="l">
              <a:lnSpc>
                <a:spcPct val="128000"/>
              </a:lnSpc>
            </a:pPr>
            <a:r>
              <a:rPr sz="1300" b="1" i="0">
                <a:solidFill>
                  <a:srgbClr val="16181D"/>
                </a:solidFill>
                <a:latin typeface="Montserrat"/>
              </a:rPr>
              <a:t>Lane B — legacy paper flow</a:t>
            </a:r>
          </a:p>
        </p:txBody>
      </p:sp>
      <p:sp>
        <p:nvSpPr>
          <p:cNvPr id="32" name="TextBox 31"/>
          <p:cNvSpPr txBox="1"/>
          <p:nvPr/>
        </p:nvSpPr>
        <p:spPr>
          <a:xfrm>
            <a:off x="6464808" y="4480560"/>
            <a:ext cx="5029200" cy="320040"/>
          </a:xfrm>
          <a:prstGeom prst="rect">
            <a:avLst/>
          </a:prstGeom>
          <a:noFill/>
        </p:spPr>
        <p:txBody>
          <a:bodyPr wrap="square" lIns="0" rIns="0" tIns="0" bIns="0" anchor="t">
            <a:spAutoFit/>
          </a:bodyPr>
          <a:lstStyle/>
          <a:p>
            <a:pPr algn="l">
              <a:lnSpc>
                <a:spcPct val="112000"/>
              </a:lnSpc>
            </a:pPr>
            <a:r>
              <a:rPr sz="1000" b="0" i="0">
                <a:solidFill>
                  <a:srgbClr val="6E7180"/>
                </a:solidFill>
                <a:latin typeface="Geist"/>
              </a:rPr>
              <a:t>•  The DM-office paper process, unchanged</a:t>
            </a:r>
          </a:p>
        </p:txBody>
      </p:sp>
      <p:sp>
        <p:nvSpPr>
          <p:cNvPr id="33" name="TextBox 32"/>
          <p:cNvSpPr txBox="1"/>
          <p:nvPr/>
        </p:nvSpPr>
        <p:spPr>
          <a:xfrm>
            <a:off x="6464808" y="4809744"/>
            <a:ext cx="5029200" cy="320040"/>
          </a:xfrm>
          <a:prstGeom prst="rect">
            <a:avLst/>
          </a:prstGeom>
          <a:noFill/>
        </p:spPr>
        <p:txBody>
          <a:bodyPr wrap="square" lIns="0" rIns="0" tIns="0" bIns="0" anchor="t">
            <a:spAutoFit/>
          </a:bodyPr>
          <a:lstStyle/>
          <a:p>
            <a:pPr algn="l">
              <a:lnSpc>
                <a:spcPct val="112000"/>
              </a:lnSpc>
            </a:pPr>
            <a:r>
              <a:rPr sz="1000" b="0" i="0">
                <a:solidFill>
                  <a:srgbClr val="6E7180"/>
                </a:solidFill>
                <a:latin typeface="Geist"/>
              </a:rPr>
              <a:t>•  A CFI operator shadow-enters every 2026 case</a:t>
            </a:r>
          </a:p>
        </p:txBody>
      </p:sp>
      <p:sp>
        <p:nvSpPr>
          <p:cNvPr id="34" name="TextBox 33"/>
          <p:cNvSpPr txBox="1"/>
          <p:nvPr/>
        </p:nvSpPr>
        <p:spPr>
          <a:xfrm>
            <a:off x="6464808" y="5138928"/>
            <a:ext cx="5029200" cy="320040"/>
          </a:xfrm>
          <a:prstGeom prst="rect">
            <a:avLst/>
          </a:prstGeom>
          <a:noFill/>
        </p:spPr>
        <p:txBody>
          <a:bodyPr wrap="square" lIns="0" rIns="0" tIns="0" bIns="0" anchor="t">
            <a:spAutoFit/>
          </a:bodyPr>
          <a:lstStyle/>
          <a:p>
            <a:pPr algn="l">
              <a:lnSpc>
                <a:spcPct val="112000"/>
              </a:lnSpc>
            </a:pPr>
            <a:r>
              <a:rPr sz="1000" b="0" i="0">
                <a:solidFill>
                  <a:srgbClr val="6E7180"/>
                </a:solidFill>
                <a:latin typeface="Geist"/>
              </a:rPr>
              <a:t>•  Keeps a live register while adoption grows</a:t>
            </a:r>
          </a:p>
        </p:txBody>
      </p:sp>
      <p:sp>
        <p:nvSpPr>
          <p:cNvPr id="35" name="TextBox 34"/>
          <p:cNvSpPr txBox="1"/>
          <p:nvPr/>
        </p:nvSpPr>
        <p:spPr>
          <a:xfrm>
            <a:off x="6464808" y="5468112"/>
            <a:ext cx="5029200" cy="320040"/>
          </a:xfrm>
          <a:prstGeom prst="rect">
            <a:avLst/>
          </a:prstGeom>
          <a:noFill/>
        </p:spPr>
        <p:txBody>
          <a:bodyPr wrap="square" lIns="0" rIns="0" tIns="0" bIns="0" anchor="t">
            <a:spAutoFit/>
          </a:bodyPr>
          <a:lstStyle/>
          <a:p>
            <a:pPr algn="l">
              <a:lnSpc>
                <a:spcPct val="112000"/>
              </a:lnSpc>
            </a:pPr>
            <a:r>
              <a:rPr sz="1000" b="0" i="0">
                <a:solidFill>
                  <a:srgbClr val="6E7180"/>
                </a:solidFill>
                <a:latin typeface="Geist"/>
              </a:rPr>
              <a:t>•  The safety net: the pilot never loses a case</a:t>
            </a:r>
          </a:p>
        </p:txBody>
      </p:sp>
      <p:cxnSp>
        <p:nvCxnSpPr>
          <p:cNvPr id="36" name="Connector 35"/>
          <p:cNvCxnSpPr/>
          <p:nvPr/>
        </p:nvCxnSpPr>
        <p:spPr>
          <a:xfrm>
            <a:off x="566928" y="6455664"/>
            <a:ext cx="11057839" cy="0"/>
          </a:xfrm>
          <a:prstGeom prst="line">
            <a:avLst/>
          </a:prstGeom>
          <a:ln w="9525">
            <a:solidFill>
              <a:srgbClr val="E8E9EE"/>
            </a:solidFill>
          </a:ln>
          <a:effectLst/>
        </p:spPr>
      </p:cxnSp>
      <p:sp>
        <p:nvSpPr>
          <p:cNvPr id="37" name="TextBox 36"/>
          <p:cNvSpPr txBox="1"/>
          <p:nvPr/>
        </p:nvSpPr>
        <p:spPr>
          <a:xfrm>
            <a:off x="566928" y="6528816"/>
            <a:ext cx="86868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SAHAJ — Team Induction Brief   ·   Confidential</a:t>
            </a:r>
          </a:p>
        </p:txBody>
      </p:sp>
      <p:sp>
        <p:nvSpPr>
          <p:cNvPr id="38" name="TextBox 37"/>
          <p:cNvSpPr txBox="1"/>
          <p:nvPr/>
        </p:nvSpPr>
        <p:spPr>
          <a:xfrm>
            <a:off x="10344607" y="6528816"/>
            <a:ext cx="128016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15 / 22</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7692847" y="274320"/>
            <a:ext cx="3931920" cy="219456"/>
          </a:xfrm>
          <a:prstGeom prst="rect">
            <a:avLst/>
          </a:prstGeom>
          <a:noFill/>
        </p:spPr>
        <p:txBody>
          <a:bodyPr wrap="square" lIns="0" rIns="0" tIns="0" bIns="0" anchor="t">
            <a:spAutoFit/>
          </a:bodyPr>
          <a:lstStyle/>
          <a:p>
            <a:pPr algn="r">
              <a:lnSpc>
                <a:spcPct val="128000"/>
              </a:lnSpc>
            </a:pPr>
            <a:r>
              <a:rPr sz="800" b="1" i="0" spc="150">
                <a:solidFill>
                  <a:srgbClr val="6E7180"/>
                </a:solidFill>
                <a:latin typeface="Montserrat"/>
              </a:rPr>
              <a:t>SECTION 4 OF 5   ·   WHERE WE ARE</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04 · WHERE WE ARE</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The honest gaps — </a:t>
            </a:r>
            <a:r>
              <a:rPr sz="2250" b="1" i="0">
                <a:solidFill>
                  <a:srgbClr val="4A35FF"/>
                </a:solidFill>
                <a:latin typeface="Montserrat"/>
              </a:rPr>
              <a:t>what we finish and harden together</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None of these block the statutory flow today, but every one is real. Stated plainly so nobody is surprised in week one.</a:t>
            </a:r>
          </a:p>
        </p:txBody>
      </p:sp>
      <p:sp>
        <p:nvSpPr>
          <p:cNvPr id="8" name="Rounded Rectangle 7"/>
          <p:cNvSpPr/>
          <p:nvPr/>
        </p:nvSpPr>
        <p:spPr>
          <a:xfrm>
            <a:off x="566928" y="2148840"/>
            <a:ext cx="11057839" cy="676656"/>
          </a:xfrm>
          <a:prstGeom prst="roundRect">
            <a:avLst>
              <a:gd name="adj" fmla="val 8000"/>
            </a:avLst>
          </a:prstGeom>
          <a:solidFill>
            <a:srgbClr val="F7F7FA"/>
          </a:solidFill>
          <a:ln>
            <a:noFill/>
          </a:ln>
          <a:effectLst/>
        </p:spPr>
        <p:txBody>
          <a:bodyPr rtlCol="0" anchor="ctr"/>
          <a:lstStyle/>
          <a:p>
            <a:pPr algn="ctr"/>
          </a:p>
        </p:txBody>
      </p:sp>
      <p:sp>
        <p:nvSpPr>
          <p:cNvPr id="9" name="Oval 8"/>
          <p:cNvSpPr/>
          <p:nvPr/>
        </p:nvSpPr>
        <p:spPr>
          <a:xfrm>
            <a:off x="731520" y="2295144"/>
            <a:ext cx="402336" cy="402336"/>
          </a:xfrm>
          <a:prstGeom prst="ellipse">
            <a:avLst/>
          </a:prstGeom>
          <a:solidFill>
            <a:srgbClr val="EFEDFF"/>
          </a:solidFill>
          <a:ln>
            <a:noFill/>
          </a:ln>
          <a:effectLst/>
        </p:spPr>
        <p:txBody>
          <a:bodyPr rtlCol="0" anchor="ctr"/>
          <a:lstStyle/>
          <a:p>
            <a:pPr algn="ctr"/>
          </a:p>
        </p:txBody>
      </p:sp>
      <p:pic>
        <p:nvPicPr>
          <p:cNvPr id="10" name="Picture 9" descr="banknote_4A35FF_256_2.0.png"/>
          <p:cNvPicPr>
            <a:picLocks noChangeAspect="1"/>
          </p:cNvPicPr>
          <p:nvPr/>
        </p:nvPicPr>
        <p:blipFill>
          <a:blip r:embed="rId2"/>
          <a:stretch>
            <a:fillRect/>
          </a:stretch>
        </p:blipFill>
        <p:spPr>
          <a:xfrm>
            <a:off x="828080" y="2391704"/>
            <a:ext cx="209214" cy="209214"/>
          </a:xfrm>
          <a:prstGeom prst="rect">
            <a:avLst/>
          </a:prstGeom>
        </p:spPr>
      </p:pic>
      <p:sp>
        <p:nvSpPr>
          <p:cNvPr id="11" name="TextBox 10"/>
          <p:cNvSpPr txBox="1"/>
          <p:nvPr/>
        </p:nvSpPr>
        <p:spPr>
          <a:xfrm>
            <a:off x="1298448" y="2240280"/>
            <a:ext cx="4937760" cy="320040"/>
          </a:xfrm>
          <a:prstGeom prst="rect">
            <a:avLst/>
          </a:prstGeom>
          <a:noFill/>
        </p:spPr>
        <p:txBody>
          <a:bodyPr wrap="square" lIns="0" rIns="0" tIns="0" bIns="0" anchor="t">
            <a:spAutoFit/>
          </a:bodyPr>
          <a:lstStyle/>
          <a:p>
            <a:pPr algn="l">
              <a:lnSpc>
                <a:spcPct val="102000"/>
              </a:lnSpc>
            </a:pPr>
            <a:r>
              <a:rPr sz="1200" b="1" i="0">
                <a:solidFill>
                  <a:srgbClr val="16181D"/>
                </a:solidFill>
                <a:latin typeface="Montserrat"/>
              </a:rPr>
              <a:t>Settlement / disbursement console</a:t>
            </a:r>
          </a:p>
        </p:txBody>
      </p:sp>
      <p:sp>
        <p:nvSpPr>
          <p:cNvPr id="12" name="TextBox 11"/>
          <p:cNvSpPr txBox="1"/>
          <p:nvPr/>
        </p:nvSpPr>
        <p:spPr>
          <a:xfrm>
            <a:off x="1298448" y="2514600"/>
            <a:ext cx="7589520" cy="320040"/>
          </a:xfrm>
          <a:prstGeom prst="rect">
            <a:avLst/>
          </a:prstGeom>
          <a:noFill/>
        </p:spPr>
        <p:txBody>
          <a:bodyPr wrap="square" lIns="0" rIns="0" tIns="0" bIns="0" anchor="t">
            <a:spAutoFit/>
          </a:bodyPr>
          <a:lstStyle/>
          <a:p>
            <a:pPr algn="l">
              <a:lnSpc>
                <a:spcPct val="112000"/>
              </a:lnSpc>
            </a:pPr>
            <a:r>
              <a:rPr sz="969" b="0" i="0">
                <a:solidFill>
                  <a:srgbClr val="6E7180"/>
                </a:solidFill>
                <a:latin typeface="Geist"/>
              </a:rPr>
              <a:t>Only the PAID-needs-UTR rule is enforced; the desk workspace around it is minimal. The clearest greenfield piece.</a:t>
            </a:r>
          </a:p>
        </p:txBody>
      </p:sp>
      <p:sp>
        <p:nvSpPr>
          <p:cNvPr id="13" name="Rounded Rectangle 12"/>
          <p:cNvSpPr/>
          <p:nvPr/>
        </p:nvSpPr>
        <p:spPr>
          <a:xfrm>
            <a:off x="10070287" y="2331720"/>
            <a:ext cx="1417320" cy="310896"/>
          </a:xfrm>
          <a:prstGeom prst="roundRect">
            <a:avLst>
              <a:gd name="adj" fmla="val 50000"/>
            </a:avLst>
          </a:prstGeom>
          <a:solidFill>
            <a:srgbClr val="FDEFEC"/>
          </a:solidFill>
          <a:ln>
            <a:noFill/>
          </a:ln>
          <a:effectLst/>
        </p:spPr>
        <p:txBody>
          <a:bodyPr rtlCol="0" anchor="ctr"/>
          <a:lstStyle/>
          <a:p>
            <a:pPr algn="ctr"/>
          </a:p>
        </p:txBody>
      </p:sp>
      <p:sp>
        <p:nvSpPr>
          <p:cNvPr id="14" name="TextBox 13"/>
          <p:cNvSpPr txBox="1"/>
          <p:nvPr/>
        </p:nvSpPr>
        <p:spPr>
          <a:xfrm>
            <a:off x="10088575" y="2331720"/>
            <a:ext cx="1380744" cy="310896"/>
          </a:xfrm>
          <a:prstGeom prst="rect">
            <a:avLst/>
          </a:prstGeom>
          <a:noFill/>
        </p:spPr>
        <p:txBody>
          <a:bodyPr wrap="square" lIns="0" rIns="0" tIns="0" bIns="0" anchor="ctr">
            <a:spAutoFit/>
          </a:bodyPr>
          <a:lstStyle/>
          <a:p>
            <a:pPr algn="ctr">
              <a:lnSpc>
                <a:spcPct val="100000"/>
              </a:lnSpc>
            </a:pPr>
            <a:r>
              <a:rPr sz="900" b="1" i="0">
                <a:solidFill>
                  <a:srgbClr val="E11900"/>
                </a:solidFill>
                <a:latin typeface="Montserrat"/>
              </a:rPr>
              <a:t>Greenfield</a:t>
            </a:r>
          </a:p>
        </p:txBody>
      </p:sp>
      <p:sp>
        <p:nvSpPr>
          <p:cNvPr id="15" name="Rounded Rectangle 14"/>
          <p:cNvSpPr/>
          <p:nvPr/>
        </p:nvSpPr>
        <p:spPr>
          <a:xfrm>
            <a:off x="566928" y="2935224"/>
            <a:ext cx="11057839" cy="676656"/>
          </a:xfrm>
          <a:prstGeom prst="roundRect">
            <a:avLst>
              <a:gd name="adj" fmla="val 8000"/>
            </a:avLst>
          </a:prstGeom>
          <a:solidFill>
            <a:srgbClr val="FFFFFF"/>
          </a:solidFill>
          <a:ln w="9525">
            <a:solidFill>
              <a:srgbClr val="E8E9EE"/>
            </a:solidFill>
          </a:ln>
          <a:effectLst/>
        </p:spPr>
        <p:txBody>
          <a:bodyPr rtlCol="0" anchor="ctr"/>
          <a:lstStyle/>
          <a:p>
            <a:pPr algn="ctr"/>
          </a:p>
        </p:txBody>
      </p:sp>
      <p:sp>
        <p:nvSpPr>
          <p:cNvPr id="16" name="Oval 15"/>
          <p:cNvSpPr/>
          <p:nvPr/>
        </p:nvSpPr>
        <p:spPr>
          <a:xfrm>
            <a:off x="731520" y="3081528"/>
            <a:ext cx="402336" cy="402336"/>
          </a:xfrm>
          <a:prstGeom prst="ellipse">
            <a:avLst/>
          </a:prstGeom>
          <a:solidFill>
            <a:srgbClr val="EFEDFF"/>
          </a:solidFill>
          <a:ln>
            <a:noFill/>
          </a:ln>
          <a:effectLst/>
        </p:spPr>
        <p:txBody>
          <a:bodyPr rtlCol="0" anchor="ctr"/>
          <a:lstStyle/>
          <a:p>
            <a:pPr algn="ctr"/>
          </a:p>
        </p:txBody>
      </p:sp>
      <p:pic>
        <p:nvPicPr>
          <p:cNvPr id="17" name="Picture 16" descr="scan-text_4A35FF_256_2.0.png"/>
          <p:cNvPicPr>
            <a:picLocks noChangeAspect="1"/>
          </p:cNvPicPr>
          <p:nvPr/>
        </p:nvPicPr>
        <p:blipFill>
          <a:blip r:embed="rId3"/>
          <a:stretch>
            <a:fillRect/>
          </a:stretch>
        </p:blipFill>
        <p:spPr>
          <a:xfrm>
            <a:off x="828080" y="3178088"/>
            <a:ext cx="209214" cy="209214"/>
          </a:xfrm>
          <a:prstGeom prst="rect">
            <a:avLst/>
          </a:prstGeom>
        </p:spPr>
      </p:pic>
      <p:sp>
        <p:nvSpPr>
          <p:cNvPr id="18" name="TextBox 17"/>
          <p:cNvSpPr txBox="1"/>
          <p:nvPr/>
        </p:nvSpPr>
        <p:spPr>
          <a:xfrm>
            <a:off x="1298448" y="3026664"/>
            <a:ext cx="4937760" cy="320040"/>
          </a:xfrm>
          <a:prstGeom prst="rect">
            <a:avLst/>
          </a:prstGeom>
          <a:noFill/>
        </p:spPr>
        <p:txBody>
          <a:bodyPr wrap="square" lIns="0" rIns="0" tIns="0" bIns="0" anchor="t">
            <a:spAutoFit/>
          </a:bodyPr>
          <a:lstStyle/>
          <a:p>
            <a:pPr algn="l">
              <a:lnSpc>
                <a:spcPct val="102000"/>
              </a:lnSpc>
            </a:pPr>
            <a:r>
              <a:rPr sz="1200" b="1" i="0">
                <a:solidFill>
                  <a:srgbClr val="16181D"/>
                </a:solidFill>
                <a:latin typeface="Montserrat"/>
              </a:rPr>
              <a:t>AI document-check loop</a:t>
            </a:r>
          </a:p>
        </p:txBody>
      </p:sp>
      <p:sp>
        <p:nvSpPr>
          <p:cNvPr id="19" name="TextBox 18"/>
          <p:cNvSpPr txBox="1"/>
          <p:nvPr/>
        </p:nvSpPr>
        <p:spPr>
          <a:xfrm>
            <a:off x="1298448" y="3300984"/>
            <a:ext cx="7589520" cy="320040"/>
          </a:xfrm>
          <a:prstGeom prst="rect">
            <a:avLst/>
          </a:prstGeom>
          <a:noFill/>
        </p:spPr>
        <p:txBody>
          <a:bodyPr wrap="square" lIns="0" rIns="0" tIns="0" bIns="0" anchor="t">
            <a:spAutoFit/>
          </a:bodyPr>
          <a:lstStyle/>
          <a:p>
            <a:pPr algn="l">
              <a:lnSpc>
                <a:spcPct val="112000"/>
              </a:lnSpc>
            </a:pPr>
            <a:r>
              <a:rPr sz="969" b="0" i="0">
                <a:solidFill>
                  <a:srgbClr val="6E7180"/>
                </a:solidFill>
                <a:latin typeface="Geist"/>
              </a:rPr>
              <a:t>Specified end-to-end and scaffolded, but nothing writes the results in production yet — today it degrades to all-manual review.</a:t>
            </a:r>
          </a:p>
        </p:txBody>
      </p:sp>
      <p:sp>
        <p:nvSpPr>
          <p:cNvPr id="20" name="Rounded Rectangle 19"/>
          <p:cNvSpPr/>
          <p:nvPr/>
        </p:nvSpPr>
        <p:spPr>
          <a:xfrm>
            <a:off x="10070287" y="3118104"/>
            <a:ext cx="1417320" cy="310896"/>
          </a:xfrm>
          <a:prstGeom prst="roundRect">
            <a:avLst>
              <a:gd name="adj" fmla="val 50000"/>
            </a:avLst>
          </a:prstGeom>
          <a:solidFill>
            <a:srgbClr val="FDEFEC"/>
          </a:solidFill>
          <a:ln>
            <a:noFill/>
          </a:ln>
          <a:effectLst/>
        </p:spPr>
        <p:txBody>
          <a:bodyPr rtlCol="0" anchor="ctr"/>
          <a:lstStyle/>
          <a:p>
            <a:pPr algn="ctr"/>
          </a:p>
        </p:txBody>
      </p:sp>
      <p:sp>
        <p:nvSpPr>
          <p:cNvPr id="21" name="TextBox 20"/>
          <p:cNvSpPr txBox="1"/>
          <p:nvPr/>
        </p:nvSpPr>
        <p:spPr>
          <a:xfrm>
            <a:off x="10088575" y="3118104"/>
            <a:ext cx="1380744" cy="310896"/>
          </a:xfrm>
          <a:prstGeom prst="rect">
            <a:avLst/>
          </a:prstGeom>
          <a:noFill/>
        </p:spPr>
        <p:txBody>
          <a:bodyPr wrap="square" lIns="0" rIns="0" tIns="0" bIns="0" anchor="ctr">
            <a:spAutoFit/>
          </a:bodyPr>
          <a:lstStyle/>
          <a:p>
            <a:pPr algn="ctr">
              <a:lnSpc>
                <a:spcPct val="100000"/>
              </a:lnSpc>
            </a:pPr>
            <a:r>
              <a:rPr sz="900" b="1" i="0">
                <a:solidFill>
                  <a:srgbClr val="E11900"/>
                </a:solidFill>
                <a:latin typeface="Montserrat"/>
              </a:rPr>
              <a:t>Greenfield</a:t>
            </a:r>
          </a:p>
        </p:txBody>
      </p:sp>
      <p:sp>
        <p:nvSpPr>
          <p:cNvPr id="22" name="Rounded Rectangle 21"/>
          <p:cNvSpPr/>
          <p:nvPr/>
        </p:nvSpPr>
        <p:spPr>
          <a:xfrm>
            <a:off x="566928" y="3721608"/>
            <a:ext cx="11057839" cy="676656"/>
          </a:xfrm>
          <a:prstGeom prst="roundRect">
            <a:avLst>
              <a:gd name="adj" fmla="val 8000"/>
            </a:avLst>
          </a:prstGeom>
          <a:solidFill>
            <a:srgbClr val="F7F7FA"/>
          </a:solidFill>
          <a:ln>
            <a:noFill/>
          </a:ln>
          <a:effectLst/>
        </p:spPr>
        <p:txBody>
          <a:bodyPr rtlCol="0" anchor="ctr"/>
          <a:lstStyle/>
          <a:p>
            <a:pPr algn="ctr"/>
          </a:p>
        </p:txBody>
      </p:sp>
      <p:sp>
        <p:nvSpPr>
          <p:cNvPr id="23" name="Oval 22"/>
          <p:cNvSpPr/>
          <p:nvPr/>
        </p:nvSpPr>
        <p:spPr>
          <a:xfrm>
            <a:off x="731520" y="3867912"/>
            <a:ext cx="402336" cy="402336"/>
          </a:xfrm>
          <a:prstGeom prst="ellipse">
            <a:avLst/>
          </a:prstGeom>
          <a:solidFill>
            <a:srgbClr val="EFEDFF"/>
          </a:solidFill>
          <a:ln>
            <a:noFill/>
          </a:ln>
          <a:effectLst/>
        </p:spPr>
        <p:txBody>
          <a:bodyPr rtlCol="0" anchor="ctr"/>
          <a:lstStyle/>
          <a:p>
            <a:pPr algn="ctr"/>
          </a:p>
        </p:txBody>
      </p:sp>
      <p:pic>
        <p:nvPicPr>
          <p:cNvPr id="24" name="Picture 23" descr="bell_4A35FF_256_2.0.png"/>
          <p:cNvPicPr>
            <a:picLocks noChangeAspect="1"/>
          </p:cNvPicPr>
          <p:nvPr/>
        </p:nvPicPr>
        <p:blipFill>
          <a:blip r:embed="rId4"/>
          <a:stretch>
            <a:fillRect/>
          </a:stretch>
        </p:blipFill>
        <p:spPr>
          <a:xfrm>
            <a:off x="828080" y="3964472"/>
            <a:ext cx="209214" cy="209214"/>
          </a:xfrm>
          <a:prstGeom prst="rect">
            <a:avLst/>
          </a:prstGeom>
        </p:spPr>
      </p:pic>
      <p:sp>
        <p:nvSpPr>
          <p:cNvPr id="25" name="TextBox 24"/>
          <p:cNvSpPr txBox="1"/>
          <p:nvPr/>
        </p:nvSpPr>
        <p:spPr>
          <a:xfrm>
            <a:off x="1298448" y="3813048"/>
            <a:ext cx="4937760" cy="320040"/>
          </a:xfrm>
          <a:prstGeom prst="rect">
            <a:avLst/>
          </a:prstGeom>
          <a:noFill/>
        </p:spPr>
        <p:txBody>
          <a:bodyPr wrap="square" lIns="0" rIns="0" tIns="0" bIns="0" anchor="t">
            <a:spAutoFit/>
          </a:bodyPr>
          <a:lstStyle/>
          <a:p>
            <a:pPr algn="l">
              <a:lnSpc>
                <a:spcPct val="102000"/>
              </a:lnSpc>
            </a:pPr>
            <a:r>
              <a:rPr sz="1200" b="1" i="0">
                <a:solidFill>
                  <a:srgbClr val="16181D"/>
                </a:solidFill>
                <a:latin typeface="Montserrat"/>
              </a:rPr>
              <a:t>Realtime notification bell</a:t>
            </a:r>
          </a:p>
        </p:txBody>
      </p:sp>
      <p:sp>
        <p:nvSpPr>
          <p:cNvPr id="26" name="TextBox 25"/>
          <p:cNvSpPr txBox="1"/>
          <p:nvPr/>
        </p:nvSpPr>
        <p:spPr>
          <a:xfrm>
            <a:off x="1298448" y="4087368"/>
            <a:ext cx="7589520" cy="320040"/>
          </a:xfrm>
          <a:prstGeom prst="rect">
            <a:avLst/>
          </a:prstGeom>
          <a:noFill/>
        </p:spPr>
        <p:txBody>
          <a:bodyPr wrap="square" lIns="0" rIns="0" tIns="0" bIns="0" anchor="t">
            <a:spAutoFit/>
          </a:bodyPr>
          <a:lstStyle/>
          <a:p>
            <a:pPr algn="l">
              <a:lnSpc>
                <a:spcPct val="112000"/>
              </a:lnSpc>
            </a:pPr>
            <a:r>
              <a:rPr sz="969" b="0" i="0">
                <a:solidFill>
                  <a:srgbClr val="6E7180"/>
                </a:solidFill>
                <a:latin typeface="Geist"/>
              </a:rPr>
              <a:t>The UI shell exists; no realtime transport is wired to it yet.</a:t>
            </a:r>
          </a:p>
        </p:txBody>
      </p:sp>
      <p:sp>
        <p:nvSpPr>
          <p:cNvPr id="27" name="Rounded Rectangle 26"/>
          <p:cNvSpPr/>
          <p:nvPr/>
        </p:nvSpPr>
        <p:spPr>
          <a:xfrm>
            <a:off x="10070287" y="3904488"/>
            <a:ext cx="1417320" cy="310896"/>
          </a:xfrm>
          <a:prstGeom prst="roundRect">
            <a:avLst>
              <a:gd name="adj" fmla="val 50000"/>
            </a:avLst>
          </a:prstGeom>
          <a:solidFill>
            <a:srgbClr val="FDF3E3"/>
          </a:solidFill>
          <a:ln>
            <a:noFill/>
          </a:ln>
          <a:effectLst/>
        </p:spPr>
        <p:txBody>
          <a:bodyPr rtlCol="0" anchor="ctr"/>
          <a:lstStyle/>
          <a:p>
            <a:pPr algn="ctr"/>
          </a:p>
        </p:txBody>
      </p:sp>
      <p:sp>
        <p:nvSpPr>
          <p:cNvPr id="28" name="TextBox 27"/>
          <p:cNvSpPr txBox="1"/>
          <p:nvPr/>
        </p:nvSpPr>
        <p:spPr>
          <a:xfrm>
            <a:off x="10088575" y="3904488"/>
            <a:ext cx="1380744" cy="310896"/>
          </a:xfrm>
          <a:prstGeom prst="rect">
            <a:avLst/>
          </a:prstGeom>
          <a:noFill/>
        </p:spPr>
        <p:txBody>
          <a:bodyPr wrap="square" lIns="0" rIns="0" tIns="0" bIns="0" anchor="ctr">
            <a:spAutoFit/>
          </a:bodyPr>
          <a:lstStyle/>
          <a:p>
            <a:pPr algn="ctr">
              <a:lnSpc>
                <a:spcPct val="100000"/>
              </a:lnSpc>
            </a:pPr>
            <a:r>
              <a:rPr sz="900" b="1" i="0">
                <a:solidFill>
                  <a:srgbClr val="E58900"/>
                </a:solidFill>
                <a:latin typeface="Montserrat"/>
              </a:rPr>
              <a:t>Partial</a:t>
            </a:r>
          </a:p>
        </p:txBody>
      </p:sp>
      <p:sp>
        <p:nvSpPr>
          <p:cNvPr id="29" name="Rounded Rectangle 28"/>
          <p:cNvSpPr/>
          <p:nvPr/>
        </p:nvSpPr>
        <p:spPr>
          <a:xfrm>
            <a:off x="566928" y="4507992"/>
            <a:ext cx="11057839" cy="676656"/>
          </a:xfrm>
          <a:prstGeom prst="roundRect">
            <a:avLst>
              <a:gd name="adj" fmla="val 8000"/>
            </a:avLst>
          </a:prstGeom>
          <a:solidFill>
            <a:srgbClr val="FFFFFF"/>
          </a:solidFill>
          <a:ln w="9525">
            <a:solidFill>
              <a:srgbClr val="E8E9EE"/>
            </a:solidFill>
          </a:ln>
          <a:effectLst/>
        </p:spPr>
        <p:txBody>
          <a:bodyPr rtlCol="0" anchor="ctr"/>
          <a:lstStyle/>
          <a:p>
            <a:pPr algn="ctr"/>
          </a:p>
        </p:txBody>
      </p:sp>
      <p:sp>
        <p:nvSpPr>
          <p:cNvPr id="30" name="Oval 29"/>
          <p:cNvSpPr/>
          <p:nvPr/>
        </p:nvSpPr>
        <p:spPr>
          <a:xfrm>
            <a:off x="731520" y="4654296"/>
            <a:ext cx="402336" cy="402336"/>
          </a:xfrm>
          <a:prstGeom prst="ellipse">
            <a:avLst/>
          </a:prstGeom>
          <a:solidFill>
            <a:srgbClr val="EFEDFF"/>
          </a:solidFill>
          <a:ln>
            <a:noFill/>
          </a:ln>
          <a:effectLst/>
        </p:spPr>
        <p:txBody>
          <a:bodyPr rtlCol="0" anchor="ctr"/>
          <a:lstStyle/>
          <a:p>
            <a:pPr algn="ctr"/>
          </a:p>
        </p:txBody>
      </p:sp>
      <p:pic>
        <p:nvPicPr>
          <p:cNvPr id="31" name="Picture 30" descr="test-tube_4A35FF_256_2.0.png"/>
          <p:cNvPicPr>
            <a:picLocks noChangeAspect="1"/>
          </p:cNvPicPr>
          <p:nvPr/>
        </p:nvPicPr>
        <p:blipFill>
          <a:blip r:embed="rId5"/>
          <a:stretch>
            <a:fillRect/>
          </a:stretch>
        </p:blipFill>
        <p:spPr>
          <a:xfrm>
            <a:off x="828080" y="4750856"/>
            <a:ext cx="209214" cy="209214"/>
          </a:xfrm>
          <a:prstGeom prst="rect">
            <a:avLst/>
          </a:prstGeom>
        </p:spPr>
      </p:pic>
      <p:sp>
        <p:nvSpPr>
          <p:cNvPr id="32" name="TextBox 31"/>
          <p:cNvSpPr txBox="1"/>
          <p:nvPr/>
        </p:nvSpPr>
        <p:spPr>
          <a:xfrm>
            <a:off x="1298448" y="4599432"/>
            <a:ext cx="4937760" cy="320040"/>
          </a:xfrm>
          <a:prstGeom prst="rect">
            <a:avLst/>
          </a:prstGeom>
          <a:noFill/>
        </p:spPr>
        <p:txBody>
          <a:bodyPr wrap="square" lIns="0" rIns="0" tIns="0" bIns="0" anchor="t">
            <a:spAutoFit/>
          </a:bodyPr>
          <a:lstStyle/>
          <a:p>
            <a:pPr algn="l">
              <a:lnSpc>
                <a:spcPct val="102000"/>
              </a:lnSpc>
            </a:pPr>
            <a:r>
              <a:rPr sz="1200" b="1" i="0">
                <a:solidFill>
                  <a:srgbClr val="16181D"/>
                </a:solidFill>
                <a:latin typeface="Montserrat"/>
              </a:rPr>
              <a:t>Browser end-to-end tests</a:t>
            </a:r>
          </a:p>
        </p:txBody>
      </p:sp>
      <p:sp>
        <p:nvSpPr>
          <p:cNvPr id="33" name="TextBox 32"/>
          <p:cNvSpPr txBox="1"/>
          <p:nvPr/>
        </p:nvSpPr>
        <p:spPr>
          <a:xfrm>
            <a:off x="1298448" y="4873752"/>
            <a:ext cx="7589520" cy="320040"/>
          </a:xfrm>
          <a:prstGeom prst="rect">
            <a:avLst/>
          </a:prstGeom>
          <a:noFill/>
        </p:spPr>
        <p:txBody>
          <a:bodyPr wrap="square" lIns="0" rIns="0" tIns="0" bIns="0" anchor="t">
            <a:spAutoFit/>
          </a:bodyPr>
          <a:lstStyle/>
          <a:p>
            <a:pPr algn="l">
              <a:lnSpc>
                <a:spcPct val="112000"/>
              </a:lnSpc>
            </a:pPr>
            <a:r>
              <a:rPr sz="969" b="0" i="0">
                <a:solidFill>
                  <a:srgbClr val="6E7180"/>
                </a:solidFill>
                <a:latin typeface="Geist"/>
              </a:rPr>
              <a:t>600+ tests cover the DB &amp; business logic, but there is no browser E2E harness on the rendered UI.</a:t>
            </a:r>
          </a:p>
        </p:txBody>
      </p:sp>
      <p:sp>
        <p:nvSpPr>
          <p:cNvPr id="34" name="Rounded Rectangle 33"/>
          <p:cNvSpPr/>
          <p:nvPr/>
        </p:nvSpPr>
        <p:spPr>
          <a:xfrm>
            <a:off x="10070287" y="4690872"/>
            <a:ext cx="1417320" cy="310896"/>
          </a:xfrm>
          <a:prstGeom prst="roundRect">
            <a:avLst>
              <a:gd name="adj" fmla="val 50000"/>
            </a:avLst>
          </a:prstGeom>
          <a:solidFill>
            <a:srgbClr val="FDEFEC"/>
          </a:solidFill>
          <a:ln>
            <a:noFill/>
          </a:ln>
          <a:effectLst/>
        </p:spPr>
        <p:txBody>
          <a:bodyPr rtlCol="0" anchor="ctr"/>
          <a:lstStyle/>
          <a:p>
            <a:pPr algn="ctr"/>
          </a:p>
        </p:txBody>
      </p:sp>
      <p:sp>
        <p:nvSpPr>
          <p:cNvPr id="35" name="TextBox 34"/>
          <p:cNvSpPr txBox="1"/>
          <p:nvPr/>
        </p:nvSpPr>
        <p:spPr>
          <a:xfrm>
            <a:off x="10088575" y="4690872"/>
            <a:ext cx="1380744" cy="310896"/>
          </a:xfrm>
          <a:prstGeom prst="rect">
            <a:avLst/>
          </a:prstGeom>
          <a:noFill/>
        </p:spPr>
        <p:txBody>
          <a:bodyPr wrap="square" lIns="0" rIns="0" tIns="0" bIns="0" anchor="ctr">
            <a:spAutoFit/>
          </a:bodyPr>
          <a:lstStyle/>
          <a:p>
            <a:pPr algn="ctr">
              <a:lnSpc>
                <a:spcPct val="100000"/>
              </a:lnSpc>
            </a:pPr>
            <a:r>
              <a:rPr sz="900" b="1" i="0">
                <a:solidFill>
                  <a:srgbClr val="E11900"/>
                </a:solidFill>
                <a:latin typeface="Montserrat"/>
              </a:rPr>
              <a:t>Greenfield</a:t>
            </a:r>
          </a:p>
        </p:txBody>
      </p:sp>
      <p:sp>
        <p:nvSpPr>
          <p:cNvPr id="36" name="Rounded Rectangle 35"/>
          <p:cNvSpPr/>
          <p:nvPr/>
        </p:nvSpPr>
        <p:spPr>
          <a:xfrm>
            <a:off x="566928" y="5294376"/>
            <a:ext cx="11057839" cy="676656"/>
          </a:xfrm>
          <a:prstGeom prst="roundRect">
            <a:avLst>
              <a:gd name="adj" fmla="val 8000"/>
            </a:avLst>
          </a:prstGeom>
          <a:solidFill>
            <a:srgbClr val="F7F7FA"/>
          </a:solidFill>
          <a:ln>
            <a:noFill/>
          </a:ln>
          <a:effectLst/>
        </p:spPr>
        <p:txBody>
          <a:bodyPr rtlCol="0" anchor="ctr"/>
          <a:lstStyle/>
          <a:p>
            <a:pPr algn="ctr"/>
          </a:p>
        </p:txBody>
      </p:sp>
      <p:sp>
        <p:nvSpPr>
          <p:cNvPr id="37" name="Oval 36"/>
          <p:cNvSpPr/>
          <p:nvPr/>
        </p:nvSpPr>
        <p:spPr>
          <a:xfrm>
            <a:off x="731520" y="5440680"/>
            <a:ext cx="402336" cy="402336"/>
          </a:xfrm>
          <a:prstGeom prst="ellipse">
            <a:avLst/>
          </a:prstGeom>
          <a:solidFill>
            <a:srgbClr val="EFEDFF"/>
          </a:solidFill>
          <a:ln>
            <a:noFill/>
          </a:ln>
          <a:effectLst/>
        </p:spPr>
        <p:txBody>
          <a:bodyPr rtlCol="0" anchor="ctr"/>
          <a:lstStyle/>
          <a:p>
            <a:pPr algn="ctr"/>
          </a:p>
        </p:txBody>
      </p:sp>
      <p:pic>
        <p:nvPicPr>
          <p:cNvPr id="38" name="Picture 37" descr="key-round_4A35FF_256_2.0.png"/>
          <p:cNvPicPr>
            <a:picLocks noChangeAspect="1"/>
          </p:cNvPicPr>
          <p:nvPr/>
        </p:nvPicPr>
        <p:blipFill>
          <a:blip r:embed="rId6"/>
          <a:stretch>
            <a:fillRect/>
          </a:stretch>
        </p:blipFill>
        <p:spPr>
          <a:xfrm>
            <a:off x="828080" y="5537240"/>
            <a:ext cx="209214" cy="209214"/>
          </a:xfrm>
          <a:prstGeom prst="rect">
            <a:avLst/>
          </a:prstGeom>
        </p:spPr>
      </p:pic>
      <p:sp>
        <p:nvSpPr>
          <p:cNvPr id="39" name="TextBox 38"/>
          <p:cNvSpPr txBox="1"/>
          <p:nvPr/>
        </p:nvSpPr>
        <p:spPr>
          <a:xfrm>
            <a:off x="1298448" y="5385816"/>
            <a:ext cx="4937760" cy="320040"/>
          </a:xfrm>
          <a:prstGeom prst="rect">
            <a:avLst/>
          </a:prstGeom>
          <a:noFill/>
        </p:spPr>
        <p:txBody>
          <a:bodyPr wrap="square" lIns="0" rIns="0" tIns="0" bIns="0" anchor="t">
            <a:spAutoFit/>
          </a:bodyPr>
          <a:lstStyle/>
          <a:p>
            <a:pPr algn="l">
              <a:lnSpc>
                <a:spcPct val="102000"/>
              </a:lnSpc>
            </a:pPr>
            <a:r>
              <a:rPr sz="1200" b="1" i="0">
                <a:solidFill>
                  <a:srgbClr val="16181D"/>
                </a:solidFill>
                <a:latin typeface="Montserrat"/>
              </a:rPr>
              <a:t>Secrets not yet rotated</a:t>
            </a:r>
          </a:p>
        </p:txBody>
      </p:sp>
      <p:sp>
        <p:nvSpPr>
          <p:cNvPr id="40" name="TextBox 39"/>
          <p:cNvSpPr txBox="1"/>
          <p:nvPr/>
        </p:nvSpPr>
        <p:spPr>
          <a:xfrm>
            <a:off x="1298448" y="5660136"/>
            <a:ext cx="7589520" cy="320040"/>
          </a:xfrm>
          <a:prstGeom prst="rect">
            <a:avLst/>
          </a:prstGeom>
          <a:noFill/>
        </p:spPr>
        <p:txBody>
          <a:bodyPr wrap="square" lIns="0" rIns="0" tIns="0" bIns="0" anchor="t">
            <a:spAutoFit/>
          </a:bodyPr>
          <a:lstStyle/>
          <a:p>
            <a:pPr algn="l">
              <a:lnSpc>
                <a:spcPct val="112000"/>
              </a:lnSpc>
            </a:pPr>
            <a:r>
              <a:rPr sz="969" b="0" i="0">
                <a:solidFill>
                  <a:srgbClr val="6E7180"/>
                </a:solidFill>
                <a:latin typeface="Geist"/>
              </a:rPr>
              <a:t>The build-time keys are still the running keys. Rotating all of them is a first-day, before-scale task.</a:t>
            </a:r>
          </a:p>
        </p:txBody>
      </p:sp>
      <p:sp>
        <p:nvSpPr>
          <p:cNvPr id="41" name="Rounded Rectangle 40"/>
          <p:cNvSpPr/>
          <p:nvPr/>
        </p:nvSpPr>
        <p:spPr>
          <a:xfrm>
            <a:off x="10070287" y="5477256"/>
            <a:ext cx="1417320" cy="310896"/>
          </a:xfrm>
          <a:prstGeom prst="roundRect">
            <a:avLst>
              <a:gd name="adj" fmla="val 50000"/>
            </a:avLst>
          </a:prstGeom>
          <a:solidFill>
            <a:srgbClr val="FDF3E3"/>
          </a:solidFill>
          <a:ln>
            <a:noFill/>
          </a:ln>
          <a:effectLst/>
        </p:spPr>
        <p:txBody>
          <a:bodyPr rtlCol="0" anchor="ctr"/>
          <a:lstStyle/>
          <a:p>
            <a:pPr algn="ctr"/>
          </a:p>
        </p:txBody>
      </p:sp>
      <p:sp>
        <p:nvSpPr>
          <p:cNvPr id="42" name="TextBox 41"/>
          <p:cNvSpPr txBox="1"/>
          <p:nvPr/>
        </p:nvSpPr>
        <p:spPr>
          <a:xfrm>
            <a:off x="10088575" y="5477256"/>
            <a:ext cx="1380744" cy="310896"/>
          </a:xfrm>
          <a:prstGeom prst="rect">
            <a:avLst/>
          </a:prstGeom>
          <a:noFill/>
        </p:spPr>
        <p:txBody>
          <a:bodyPr wrap="square" lIns="0" rIns="0" tIns="0" bIns="0" anchor="ctr">
            <a:spAutoFit/>
          </a:bodyPr>
          <a:lstStyle/>
          <a:p>
            <a:pPr algn="ctr">
              <a:lnSpc>
                <a:spcPct val="100000"/>
              </a:lnSpc>
            </a:pPr>
            <a:r>
              <a:rPr sz="900" b="1" i="0">
                <a:solidFill>
                  <a:srgbClr val="E58900"/>
                </a:solidFill>
                <a:latin typeface="Montserrat"/>
              </a:rPr>
              <a:t>Day 1</a:t>
            </a:r>
          </a:p>
        </p:txBody>
      </p:sp>
      <p:cxnSp>
        <p:nvCxnSpPr>
          <p:cNvPr id="43" name="Connector 42"/>
          <p:cNvCxnSpPr/>
          <p:nvPr/>
        </p:nvCxnSpPr>
        <p:spPr>
          <a:xfrm>
            <a:off x="566928" y="6455664"/>
            <a:ext cx="11057839" cy="0"/>
          </a:xfrm>
          <a:prstGeom prst="line">
            <a:avLst/>
          </a:prstGeom>
          <a:ln w="9525">
            <a:solidFill>
              <a:srgbClr val="E8E9EE"/>
            </a:solidFill>
          </a:ln>
          <a:effectLst/>
        </p:spPr>
      </p:cxnSp>
      <p:sp>
        <p:nvSpPr>
          <p:cNvPr id="44" name="TextBox 43"/>
          <p:cNvSpPr txBox="1"/>
          <p:nvPr/>
        </p:nvSpPr>
        <p:spPr>
          <a:xfrm>
            <a:off x="566928" y="6528816"/>
            <a:ext cx="86868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SAHAJ — Team Induction Brief   ·   Confidential</a:t>
            </a:r>
          </a:p>
        </p:txBody>
      </p:sp>
      <p:sp>
        <p:nvSpPr>
          <p:cNvPr id="45" name="TextBox 44"/>
          <p:cNvSpPr txBox="1"/>
          <p:nvPr/>
        </p:nvSpPr>
        <p:spPr>
          <a:xfrm>
            <a:off x="10344607" y="6528816"/>
            <a:ext cx="128016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16 / 22</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7692847" y="274320"/>
            <a:ext cx="3931920" cy="219456"/>
          </a:xfrm>
          <a:prstGeom prst="rect">
            <a:avLst/>
          </a:prstGeom>
          <a:noFill/>
        </p:spPr>
        <p:txBody>
          <a:bodyPr wrap="square" lIns="0" rIns="0" tIns="0" bIns="0" anchor="t">
            <a:spAutoFit/>
          </a:bodyPr>
          <a:lstStyle/>
          <a:p>
            <a:pPr algn="r">
              <a:lnSpc>
                <a:spcPct val="128000"/>
              </a:lnSpc>
            </a:pPr>
            <a:r>
              <a:rPr sz="800" b="1" i="0" spc="150">
                <a:solidFill>
                  <a:srgbClr val="6E7180"/>
                </a:solidFill>
                <a:latin typeface="Montserrat"/>
              </a:rPr>
              <a:t>SECTION 4 OF 5   ·   WHERE WE ARE</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04 · WHERE WE ARE</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The No.1 risk isn't the code — </a:t>
            </a:r>
            <a:r>
              <a:rPr sz="2250" b="1" i="0">
                <a:solidFill>
                  <a:srgbClr val="4A35FF"/>
                </a:solidFill>
                <a:latin typeface="Montserrat"/>
              </a:rPr>
              <a:t>it's whether anyone uses it</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The hardest problem is the first mile: getting a real case into the system at all. This shapes every product decision.</a:t>
            </a:r>
          </a:p>
        </p:txBody>
      </p:sp>
      <p:sp>
        <p:nvSpPr>
          <p:cNvPr id="8" name="Rounded Rectangle 7"/>
          <p:cNvSpPr/>
          <p:nvPr/>
        </p:nvSpPr>
        <p:spPr>
          <a:xfrm>
            <a:off x="566928" y="2148840"/>
            <a:ext cx="5440680" cy="1965960"/>
          </a:xfrm>
          <a:prstGeom prst="roundRect">
            <a:avLst>
              <a:gd name="adj" fmla="val 8000"/>
            </a:avLst>
          </a:prstGeom>
          <a:solidFill>
            <a:srgbClr val="FDEFEC"/>
          </a:solidFill>
          <a:ln>
            <a:noFill/>
          </a:ln>
          <a:effectLst/>
        </p:spPr>
        <p:txBody>
          <a:bodyPr rtlCol="0" anchor="ctr"/>
          <a:lstStyle/>
          <a:p>
            <a:pPr algn="ctr"/>
          </a:p>
        </p:txBody>
      </p:sp>
      <p:sp>
        <p:nvSpPr>
          <p:cNvPr id="9" name="TextBox 8"/>
          <p:cNvSpPr txBox="1"/>
          <p:nvPr/>
        </p:nvSpPr>
        <p:spPr>
          <a:xfrm>
            <a:off x="841248" y="2331720"/>
            <a:ext cx="4937760" cy="365760"/>
          </a:xfrm>
          <a:prstGeom prst="rect">
            <a:avLst/>
          </a:prstGeom>
          <a:noFill/>
        </p:spPr>
        <p:txBody>
          <a:bodyPr wrap="square" lIns="0" rIns="0" tIns="0" bIns="0" anchor="t">
            <a:spAutoFit/>
          </a:bodyPr>
          <a:lstStyle/>
          <a:p>
            <a:pPr algn="l">
              <a:lnSpc>
                <a:spcPct val="128000"/>
              </a:lnSpc>
            </a:pPr>
            <a:r>
              <a:rPr sz="1300" b="1" i="0">
                <a:solidFill>
                  <a:srgbClr val="E11900"/>
                </a:solidFill>
                <a:latin typeface="Montserrat"/>
              </a:rPr>
              <a:t>The cautionary precedent</a:t>
            </a:r>
          </a:p>
        </p:txBody>
      </p:sp>
      <p:sp>
        <p:nvSpPr>
          <p:cNvPr id="10" name="TextBox 9"/>
          <p:cNvSpPr txBox="1"/>
          <p:nvPr/>
        </p:nvSpPr>
        <p:spPr>
          <a:xfrm>
            <a:off x="841248" y="2743200"/>
            <a:ext cx="2011680" cy="914400"/>
          </a:xfrm>
          <a:prstGeom prst="rect">
            <a:avLst/>
          </a:prstGeom>
          <a:noFill/>
        </p:spPr>
        <p:txBody>
          <a:bodyPr wrap="square" lIns="0" rIns="0" tIns="0" bIns="0" anchor="t">
            <a:spAutoFit/>
          </a:bodyPr>
          <a:lstStyle/>
          <a:p>
            <a:pPr algn="l">
              <a:lnSpc>
                <a:spcPct val="90000"/>
              </a:lnSpc>
            </a:pPr>
            <a:r>
              <a:rPr sz="5400" b="1" i="0">
                <a:solidFill>
                  <a:srgbClr val="E11900"/>
                </a:solidFill>
                <a:latin typeface="Montserrat"/>
              </a:rPr>
              <a:t>25</a:t>
            </a:r>
          </a:p>
        </p:txBody>
      </p:sp>
      <p:sp>
        <p:nvSpPr>
          <p:cNvPr id="11" name="TextBox 10"/>
          <p:cNvSpPr txBox="1"/>
          <p:nvPr/>
        </p:nvSpPr>
        <p:spPr>
          <a:xfrm>
            <a:off x="2670048" y="2788920"/>
            <a:ext cx="3108960" cy="1097280"/>
          </a:xfrm>
          <a:prstGeom prst="rect">
            <a:avLst/>
          </a:prstGeom>
          <a:noFill/>
        </p:spPr>
        <p:txBody>
          <a:bodyPr wrap="square" lIns="0" rIns="0" tIns="0" bIns="0" anchor="t">
            <a:spAutoFit/>
          </a:bodyPr>
          <a:lstStyle/>
          <a:p>
            <a:pPr algn="l">
              <a:lnSpc>
                <a:spcPct val="125000"/>
              </a:lnSpc>
            </a:pPr>
            <a:r>
              <a:rPr sz="1050" b="0" i="0">
                <a:solidFill>
                  <a:srgbClr val="16181D"/>
                </a:solidFill>
                <a:latin typeface="Geist"/>
              </a:rPr>
              <a:t>monthly requests to Jaipur's earlier “Madad Setu” portal, against ~350 expected. Adoption, not launch, is the goal.</a:t>
            </a:r>
          </a:p>
        </p:txBody>
      </p:sp>
      <p:sp>
        <p:nvSpPr>
          <p:cNvPr id="12" name="Rounded Rectangle 11"/>
          <p:cNvSpPr/>
          <p:nvPr/>
        </p:nvSpPr>
        <p:spPr>
          <a:xfrm>
            <a:off x="6190488" y="2148840"/>
            <a:ext cx="5440680" cy="1965960"/>
          </a:xfrm>
          <a:prstGeom prst="roundRect">
            <a:avLst>
              <a:gd name="adj" fmla="val 8000"/>
            </a:avLst>
          </a:prstGeom>
          <a:solidFill>
            <a:srgbClr val="FDF3E3"/>
          </a:solidFill>
          <a:ln>
            <a:noFill/>
          </a:ln>
          <a:effectLst/>
        </p:spPr>
        <p:txBody>
          <a:bodyPr rtlCol="0" anchor="ctr"/>
          <a:lstStyle/>
          <a:p>
            <a:pPr algn="ctr"/>
          </a:p>
        </p:txBody>
      </p:sp>
      <p:sp>
        <p:nvSpPr>
          <p:cNvPr id="13" name="TextBox 12"/>
          <p:cNvSpPr txBox="1"/>
          <p:nvPr/>
        </p:nvSpPr>
        <p:spPr>
          <a:xfrm>
            <a:off x="6464808" y="2331720"/>
            <a:ext cx="4937760" cy="365760"/>
          </a:xfrm>
          <a:prstGeom prst="rect">
            <a:avLst/>
          </a:prstGeom>
          <a:noFill/>
        </p:spPr>
        <p:txBody>
          <a:bodyPr wrap="square" lIns="0" rIns="0" tIns="0" bIns="0" anchor="t">
            <a:spAutoFit/>
          </a:bodyPr>
          <a:lstStyle/>
          <a:p>
            <a:pPr algn="l">
              <a:lnSpc>
                <a:spcPct val="128000"/>
              </a:lnSpc>
            </a:pPr>
            <a:r>
              <a:rPr sz="1300" b="1" i="0">
                <a:solidFill>
                  <a:srgbClr val="E58900"/>
                </a:solidFill>
                <a:latin typeface="Montserrat"/>
              </a:rPr>
              <a:t>Our own pilot, ten days in</a:t>
            </a:r>
          </a:p>
        </p:txBody>
      </p:sp>
      <p:sp>
        <p:nvSpPr>
          <p:cNvPr id="14" name="TextBox 13"/>
          <p:cNvSpPr txBox="1"/>
          <p:nvPr/>
        </p:nvSpPr>
        <p:spPr>
          <a:xfrm>
            <a:off x="6464808" y="2743200"/>
            <a:ext cx="2011680" cy="914400"/>
          </a:xfrm>
          <a:prstGeom prst="rect">
            <a:avLst/>
          </a:prstGeom>
          <a:noFill/>
        </p:spPr>
        <p:txBody>
          <a:bodyPr wrap="square" lIns="0" rIns="0" tIns="0" bIns="0" anchor="t">
            <a:spAutoFit/>
          </a:bodyPr>
          <a:lstStyle/>
          <a:p>
            <a:pPr algn="l">
              <a:lnSpc>
                <a:spcPct val="90000"/>
              </a:lnSpc>
            </a:pPr>
            <a:r>
              <a:rPr sz="5400" b="1" i="0">
                <a:solidFill>
                  <a:srgbClr val="E58900"/>
                </a:solidFill>
                <a:latin typeface="Montserrat"/>
              </a:rPr>
              <a:t>0</a:t>
            </a:r>
          </a:p>
        </p:txBody>
      </p:sp>
      <p:sp>
        <p:nvSpPr>
          <p:cNvPr id="15" name="TextBox 14"/>
          <p:cNvSpPr txBox="1"/>
          <p:nvPr/>
        </p:nvSpPr>
        <p:spPr>
          <a:xfrm>
            <a:off x="7882128" y="2788920"/>
            <a:ext cx="3566160" cy="1097280"/>
          </a:xfrm>
          <a:prstGeom prst="rect">
            <a:avLst/>
          </a:prstGeom>
          <a:noFill/>
        </p:spPr>
        <p:txBody>
          <a:bodyPr wrap="square" lIns="0" rIns="0" tIns="0" bIns="0" anchor="t">
            <a:spAutoFit/>
          </a:bodyPr>
          <a:lstStyle/>
          <a:p>
            <a:pPr algn="l">
              <a:lnSpc>
                <a:spcPct val="125000"/>
              </a:lnSpc>
            </a:pPr>
            <a:r>
              <a:rPr sz="1050" b="0" i="0">
                <a:solidFill>
                  <a:srgbClr val="16181D"/>
                </a:solidFill>
                <a:latin typeface="Geist"/>
              </a:rPr>
              <a:t>live cases entered organically by an IO after training. Officers are 40–50, trained on e-DAR; a new portal reads as too much.</a:t>
            </a:r>
          </a:p>
        </p:txBody>
      </p:sp>
      <p:sp>
        <p:nvSpPr>
          <p:cNvPr id="16" name="TextBox 15"/>
          <p:cNvSpPr txBox="1"/>
          <p:nvPr/>
        </p:nvSpPr>
        <p:spPr>
          <a:xfrm>
            <a:off x="566928" y="4343400"/>
            <a:ext cx="10972800" cy="274320"/>
          </a:xfrm>
          <a:prstGeom prst="rect">
            <a:avLst/>
          </a:prstGeom>
          <a:noFill/>
        </p:spPr>
        <p:txBody>
          <a:bodyPr wrap="square" lIns="0" rIns="0" tIns="0" bIns="0" anchor="t">
            <a:spAutoFit/>
          </a:bodyPr>
          <a:lstStyle/>
          <a:p>
            <a:pPr algn="l">
              <a:lnSpc>
                <a:spcPct val="128000"/>
              </a:lnSpc>
            </a:pPr>
            <a:r>
              <a:rPr sz="900" b="1" i="0" spc="160">
                <a:solidFill>
                  <a:srgbClr val="6E7180"/>
                </a:solidFill>
                <a:latin typeface="Montserrat"/>
              </a:rPr>
              <a:t>WHAT THIS MEANS FOR THE BUILD</a:t>
            </a:r>
          </a:p>
        </p:txBody>
      </p:sp>
      <p:sp>
        <p:nvSpPr>
          <p:cNvPr id="17" name="Oval 16"/>
          <p:cNvSpPr/>
          <p:nvPr/>
        </p:nvSpPr>
        <p:spPr>
          <a:xfrm>
            <a:off x="566928" y="4709160"/>
            <a:ext cx="402336" cy="402336"/>
          </a:xfrm>
          <a:prstGeom prst="ellipse">
            <a:avLst/>
          </a:prstGeom>
          <a:solidFill>
            <a:srgbClr val="EFEDFF"/>
          </a:solidFill>
          <a:ln>
            <a:noFill/>
          </a:ln>
          <a:effectLst/>
        </p:spPr>
        <p:txBody>
          <a:bodyPr rtlCol="0" anchor="ctr"/>
          <a:lstStyle/>
          <a:p>
            <a:pPr algn="ctr"/>
          </a:p>
        </p:txBody>
      </p:sp>
      <p:pic>
        <p:nvPicPr>
          <p:cNvPr id="18" name="Picture 17" descr="scan-line_4A35FF_256_2.0.png"/>
          <p:cNvPicPr>
            <a:picLocks noChangeAspect="1"/>
          </p:cNvPicPr>
          <p:nvPr/>
        </p:nvPicPr>
        <p:blipFill>
          <a:blip r:embed="rId2"/>
          <a:stretch>
            <a:fillRect/>
          </a:stretch>
        </p:blipFill>
        <p:spPr>
          <a:xfrm>
            <a:off x="663488" y="4805720"/>
            <a:ext cx="209214" cy="209214"/>
          </a:xfrm>
          <a:prstGeom prst="rect">
            <a:avLst/>
          </a:prstGeom>
        </p:spPr>
      </p:pic>
      <p:sp>
        <p:nvSpPr>
          <p:cNvPr id="19" name="TextBox 18"/>
          <p:cNvSpPr txBox="1"/>
          <p:nvPr/>
        </p:nvSpPr>
        <p:spPr>
          <a:xfrm>
            <a:off x="1133856" y="4690872"/>
            <a:ext cx="2377440" cy="457200"/>
          </a:xfrm>
          <a:prstGeom prst="rect">
            <a:avLst/>
          </a:prstGeom>
          <a:noFill/>
        </p:spPr>
        <p:txBody>
          <a:bodyPr wrap="square" lIns="0" rIns="0" tIns="0" bIns="0" anchor="t">
            <a:spAutoFit/>
          </a:bodyPr>
          <a:lstStyle/>
          <a:p>
            <a:pPr algn="l">
              <a:lnSpc>
                <a:spcPct val="105000"/>
              </a:lnSpc>
            </a:pPr>
            <a:r>
              <a:rPr sz="1200" b="1" i="0">
                <a:solidFill>
                  <a:srgbClr val="16181D"/>
                </a:solidFill>
                <a:latin typeface="Montserrat"/>
              </a:rPr>
              <a:t>The first mile belongs in e-DAR / CCTNS</a:t>
            </a:r>
          </a:p>
        </p:txBody>
      </p:sp>
      <p:sp>
        <p:nvSpPr>
          <p:cNvPr id="20" name="TextBox 19"/>
          <p:cNvSpPr txBox="1"/>
          <p:nvPr/>
        </p:nvSpPr>
        <p:spPr>
          <a:xfrm>
            <a:off x="3602736" y="4690872"/>
            <a:ext cx="7872984" cy="685800"/>
          </a:xfrm>
          <a:prstGeom prst="rect">
            <a:avLst/>
          </a:prstGeom>
          <a:noFill/>
        </p:spPr>
        <p:txBody>
          <a:bodyPr wrap="square" lIns="0" rIns="0" tIns="0" bIns="0" anchor="t">
            <a:spAutoFit/>
          </a:bodyPr>
          <a:lstStyle/>
          <a:p>
            <a:pPr algn="l">
              <a:lnSpc>
                <a:spcPct val="122000"/>
              </a:lnSpc>
            </a:pPr>
            <a:r>
              <a:rPr sz="1030" b="0" i="0">
                <a:solidFill>
                  <a:srgbClr val="6E7180"/>
                </a:solidFill>
                <a:latin typeface="Geist"/>
              </a:rPr>
              <a:t>Cases should auto-create from the FIR record police already file — not a third data-entry screen. (A separate NIC / MoRTH / state-police lobbying track; SCRB has agreed in principle.)</a:t>
            </a:r>
          </a:p>
        </p:txBody>
      </p:sp>
      <p:sp>
        <p:nvSpPr>
          <p:cNvPr id="21" name="Oval 20"/>
          <p:cNvSpPr/>
          <p:nvPr/>
        </p:nvSpPr>
        <p:spPr>
          <a:xfrm>
            <a:off x="566928" y="5486400"/>
            <a:ext cx="402336" cy="402336"/>
          </a:xfrm>
          <a:prstGeom prst="ellipse">
            <a:avLst/>
          </a:prstGeom>
          <a:solidFill>
            <a:srgbClr val="E9F7F0"/>
          </a:solidFill>
          <a:ln>
            <a:noFill/>
          </a:ln>
          <a:effectLst/>
        </p:spPr>
        <p:txBody>
          <a:bodyPr rtlCol="0" anchor="ctr"/>
          <a:lstStyle/>
          <a:p>
            <a:pPr algn="ctr"/>
          </a:p>
        </p:txBody>
      </p:sp>
      <p:pic>
        <p:nvPicPr>
          <p:cNvPr id="22" name="Picture 21" descr="smartphone_0A9955_256_2.0.png"/>
          <p:cNvPicPr>
            <a:picLocks noChangeAspect="1"/>
          </p:cNvPicPr>
          <p:nvPr/>
        </p:nvPicPr>
        <p:blipFill>
          <a:blip r:embed="rId3"/>
          <a:stretch>
            <a:fillRect/>
          </a:stretch>
        </p:blipFill>
        <p:spPr>
          <a:xfrm>
            <a:off x="663488" y="5582960"/>
            <a:ext cx="209214" cy="209214"/>
          </a:xfrm>
          <a:prstGeom prst="rect">
            <a:avLst/>
          </a:prstGeom>
        </p:spPr>
      </p:pic>
      <p:sp>
        <p:nvSpPr>
          <p:cNvPr id="23" name="TextBox 22"/>
          <p:cNvSpPr txBox="1"/>
          <p:nvPr/>
        </p:nvSpPr>
        <p:spPr>
          <a:xfrm>
            <a:off x="1133856" y="5468112"/>
            <a:ext cx="2377440" cy="457200"/>
          </a:xfrm>
          <a:prstGeom prst="rect">
            <a:avLst/>
          </a:prstGeom>
          <a:noFill/>
        </p:spPr>
        <p:txBody>
          <a:bodyPr wrap="square" lIns="0" rIns="0" tIns="0" bIns="0" anchor="t">
            <a:spAutoFit/>
          </a:bodyPr>
          <a:lstStyle/>
          <a:p>
            <a:pPr algn="l">
              <a:lnSpc>
                <a:spcPct val="105000"/>
              </a:lnSpc>
            </a:pPr>
            <a:r>
              <a:rPr sz="1200" b="1" i="0">
                <a:solidFill>
                  <a:srgbClr val="16181D"/>
                </a:solidFill>
                <a:latin typeface="Montserrat"/>
              </a:rPr>
              <a:t>Anything an officer touches installs like an app</a:t>
            </a:r>
          </a:p>
        </p:txBody>
      </p:sp>
      <p:sp>
        <p:nvSpPr>
          <p:cNvPr id="24" name="TextBox 23"/>
          <p:cNvSpPr txBox="1"/>
          <p:nvPr/>
        </p:nvSpPr>
        <p:spPr>
          <a:xfrm>
            <a:off x="3602736" y="5468112"/>
            <a:ext cx="7872984" cy="685800"/>
          </a:xfrm>
          <a:prstGeom prst="rect">
            <a:avLst/>
          </a:prstGeom>
          <a:noFill/>
        </p:spPr>
        <p:txBody>
          <a:bodyPr wrap="square" lIns="0" rIns="0" tIns="0" bIns="0" anchor="t">
            <a:spAutoFit/>
          </a:bodyPr>
          <a:lstStyle/>
          <a:p>
            <a:pPr algn="l">
              <a:lnSpc>
                <a:spcPct val="122000"/>
              </a:lnSpc>
            </a:pPr>
            <a:r>
              <a:rPr sz="1030" b="0" i="0">
                <a:solidFill>
                  <a:srgbClr val="6E7180"/>
                </a:solidFill>
                <a:latin typeface="Geist"/>
              </a:rPr>
              <a:t>Home-screen icon, no browser chrome, minimal police-facing scope — because every thana asked “is this a mobile app?”</a:t>
            </a:r>
          </a:p>
        </p:txBody>
      </p:sp>
      <p:cxnSp>
        <p:nvCxnSpPr>
          <p:cNvPr id="25" name="Connector 24"/>
          <p:cNvCxnSpPr/>
          <p:nvPr/>
        </p:nvCxnSpPr>
        <p:spPr>
          <a:xfrm>
            <a:off x="566928" y="6455664"/>
            <a:ext cx="11057839" cy="0"/>
          </a:xfrm>
          <a:prstGeom prst="line">
            <a:avLst/>
          </a:prstGeom>
          <a:ln w="9525">
            <a:solidFill>
              <a:srgbClr val="E8E9EE"/>
            </a:solidFill>
          </a:ln>
          <a:effectLst/>
        </p:spPr>
      </p:cxnSp>
      <p:sp>
        <p:nvSpPr>
          <p:cNvPr id="26" name="TextBox 25"/>
          <p:cNvSpPr txBox="1"/>
          <p:nvPr/>
        </p:nvSpPr>
        <p:spPr>
          <a:xfrm>
            <a:off x="566928" y="6528816"/>
            <a:ext cx="86868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SAHAJ — Team Induction Brief   ·   Confidential</a:t>
            </a:r>
          </a:p>
        </p:txBody>
      </p:sp>
      <p:sp>
        <p:nvSpPr>
          <p:cNvPr id="27" name="TextBox 26"/>
          <p:cNvSpPr txBox="1"/>
          <p:nvPr/>
        </p:nvSpPr>
        <p:spPr>
          <a:xfrm>
            <a:off x="10344607" y="6528816"/>
            <a:ext cx="128016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17 / 22</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7692847" y="274320"/>
            <a:ext cx="3931920" cy="219456"/>
          </a:xfrm>
          <a:prstGeom prst="rect">
            <a:avLst/>
          </a:prstGeom>
          <a:noFill/>
        </p:spPr>
        <p:txBody>
          <a:bodyPr wrap="square" lIns="0" rIns="0" tIns="0" bIns="0" anchor="t">
            <a:spAutoFit/>
          </a:bodyPr>
          <a:lstStyle/>
          <a:p>
            <a:pPr algn="r">
              <a:lnSpc>
                <a:spcPct val="128000"/>
              </a:lnSpc>
            </a:pPr>
            <a:r>
              <a:rPr sz="800" b="1" i="0" spc="150">
                <a:solidFill>
                  <a:srgbClr val="6E7180"/>
                </a:solidFill>
                <a:latin typeface="Montserrat"/>
              </a:rPr>
              <a:t>SECTION 5 OF 5   ·   WHERE YOU COME IN</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05 · WHERE YOU COME IN</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The mandate: </a:t>
            </a:r>
            <a:r>
              <a:rPr sz="2250" b="1" i="0">
                <a:solidFill>
                  <a:srgbClr val="4A35FF"/>
                </a:solidFill>
                <a:latin typeface="Montserrat"/>
              </a:rPr>
              <a:t>a production-grade rebuild</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The pilot proved the flow. Now an engineering squad hardens it for state and national volume — new districts by configuration, not code; multi-state ready.</a:t>
            </a:r>
          </a:p>
        </p:txBody>
      </p:sp>
      <p:sp>
        <p:nvSpPr>
          <p:cNvPr id="8" name="Rounded Rectangle 7"/>
          <p:cNvSpPr/>
          <p:nvPr/>
        </p:nvSpPr>
        <p:spPr>
          <a:xfrm>
            <a:off x="566928" y="2194560"/>
            <a:ext cx="3566160" cy="1874519"/>
          </a:xfrm>
          <a:prstGeom prst="roundRect">
            <a:avLst>
              <a:gd name="adj" fmla="val 8000"/>
            </a:avLst>
          </a:prstGeom>
          <a:solidFill>
            <a:srgbClr val="FFFFFF"/>
          </a:solidFill>
          <a:ln w="9525">
            <a:solidFill>
              <a:srgbClr val="E8E9EE"/>
            </a:solidFill>
          </a:ln>
          <a:effectLst/>
        </p:spPr>
        <p:txBody>
          <a:bodyPr rtlCol="0" anchor="ctr"/>
          <a:lstStyle/>
          <a:p>
            <a:pPr algn="ctr"/>
          </a:p>
        </p:txBody>
      </p:sp>
      <p:sp>
        <p:nvSpPr>
          <p:cNvPr id="9" name="Oval 8"/>
          <p:cNvSpPr/>
          <p:nvPr/>
        </p:nvSpPr>
        <p:spPr>
          <a:xfrm>
            <a:off x="768096" y="2395728"/>
            <a:ext cx="493776" cy="493776"/>
          </a:xfrm>
          <a:prstGeom prst="ellipse">
            <a:avLst/>
          </a:prstGeom>
          <a:solidFill>
            <a:srgbClr val="E9F7F0"/>
          </a:solidFill>
          <a:ln>
            <a:noFill/>
          </a:ln>
          <a:effectLst/>
        </p:spPr>
        <p:txBody>
          <a:bodyPr rtlCol="0" anchor="ctr"/>
          <a:lstStyle/>
          <a:p>
            <a:pPr algn="ctr"/>
          </a:p>
        </p:txBody>
      </p:sp>
      <p:pic>
        <p:nvPicPr>
          <p:cNvPr id="10" name="Picture 9" descr="search-check_0A9955_256_2.0.png"/>
          <p:cNvPicPr>
            <a:picLocks noChangeAspect="1"/>
          </p:cNvPicPr>
          <p:nvPr/>
        </p:nvPicPr>
        <p:blipFill>
          <a:blip r:embed="rId2"/>
          <a:stretch>
            <a:fillRect/>
          </a:stretch>
        </p:blipFill>
        <p:spPr>
          <a:xfrm>
            <a:off x="886602" y="2514234"/>
            <a:ext cx="256763" cy="256763"/>
          </a:xfrm>
          <a:prstGeom prst="rect">
            <a:avLst/>
          </a:prstGeom>
        </p:spPr>
      </p:pic>
      <p:sp>
        <p:nvSpPr>
          <p:cNvPr id="11" name="TextBox 10"/>
          <p:cNvSpPr txBox="1"/>
          <p:nvPr/>
        </p:nvSpPr>
        <p:spPr>
          <a:xfrm>
            <a:off x="768096" y="3017520"/>
            <a:ext cx="3163824" cy="320040"/>
          </a:xfrm>
          <a:prstGeom prst="rect">
            <a:avLst/>
          </a:prstGeom>
          <a:noFill/>
        </p:spPr>
        <p:txBody>
          <a:bodyPr wrap="square" lIns="0" rIns="0" tIns="0" bIns="0" anchor="t">
            <a:spAutoFit/>
          </a:bodyPr>
          <a:lstStyle/>
          <a:p>
            <a:pPr algn="l">
              <a:lnSpc>
                <a:spcPct val="128000"/>
              </a:lnSpc>
            </a:pPr>
            <a:r>
              <a:rPr sz="1300" b="1" i="0">
                <a:solidFill>
                  <a:srgbClr val="16181D"/>
                </a:solidFill>
                <a:latin typeface="Montserrat"/>
              </a:rPr>
              <a:t>1 · Review &amp; audit</a:t>
            </a:r>
          </a:p>
        </p:txBody>
      </p:sp>
      <p:sp>
        <p:nvSpPr>
          <p:cNvPr id="12" name="TextBox 11"/>
          <p:cNvSpPr txBox="1"/>
          <p:nvPr/>
        </p:nvSpPr>
        <p:spPr>
          <a:xfrm>
            <a:off x="768096" y="3383280"/>
            <a:ext cx="3163824" cy="640080"/>
          </a:xfrm>
          <a:prstGeom prst="rect">
            <a:avLst/>
          </a:prstGeom>
          <a:noFill/>
        </p:spPr>
        <p:txBody>
          <a:bodyPr wrap="square" lIns="0" rIns="0" tIns="0" bIns="0" anchor="t">
            <a:spAutoFit/>
          </a:bodyPr>
          <a:lstStyle/>
          <a:p>
            <a:pPr algn="l">
              <a:lnSpc>
                <a:spcPct val="122000"/>
              </a:lnSpc>
            </a:pPr>
            <a:r>
              <a:rPr sz="1000" b="0" i="0">
                <a:solidFill>
                  <a:srgbClr val="6E7180"/>
                </a:solidFill>
                <a:latin typeface="Geist"/>
              </a:rPr>
              <a:t>Full functionality review and an external security + scalability pass on the current codebase. Rotate all secrets on day one.</a:t>
            </a:r>
          </a:p>
        </p:txBody>
      </p:sp>
      <p:sp>
        <p:nvSpPr>
          <p:cNvPr id="13" name="Rounded Rectangle 12"/>
          <p:cNvSpPr/>
          <p:nvPr/>
        </p:nvSpPr>
        <p:spPr>
          <a:xfrm>
            <a:off x="4279392" y="2194560"/>
            <a:ext cx="3566160" cy="1874519"/>
          </a:xfrm>
          <a:prstGeom prst="roundRect">
            <a:avLst>
              <a:gd name="adj" fmla="val 8000"/>
            </a:avLst>
          </a:prstGeom>
          <a:solidFill>
            <a:srgbClr val="FFFFFF"/>
          </a:solidFill>
          <a:ln w="9525">
            <a:solidFill>
              <a:srgbClr val="E8E9EE"/>
            </a:solidFill>
          </a:ln>
          <a:effectLst/>
        </p:spPr>
        <p:txBody>
          <a:bodyPr rtlCol="0" anchor="ctr"/>
          <a:lstStyle/>
          <a:p>
            <a:pPr algn="ctr"/>
          </a:p>
        </p:txBody>
      </p:sp>
      <p:sp>
        <p:nvSpPr>
          <p:cNvPr id="14" name="Oval 13"/>
          <p:cNvSpPr/>
          <p:nvPr/>
        </p:nvSpPr>
        <p:spPr>
          <a:xfrm>
            <a:off x="4480560" y="2395728"/>
            <a:ext cx="493776" cy="493776"/>
          </a:xfrm>
          <a:prstGeom prst="ellipse">
            <a:avLst/>
          </a:prstGeom>
          <a:solidFill>
            <a:srgbClr val="EFEDFF"/>
          </a:solidFill>
          <a:ln>
            <a:noFill/>
          </a:ln>
          <a:effectLst/>
        </p:spPr>
        <p:txBody>
          <a:bodyPr rtlCol="0" anchor="ctr"/>
          <a:lstStyle/>
          <a:p>
            <a:pPr algn="ctr"/>
          </a:p>
        </p:txBody>
      </p:sp>
      <p:pic>
        <p:nvPicPr>
          <p:cNvPr id="15" name="Picture 14" descr="boxes_4A35FF_256_2.0.png"/>
          <p:cNvPicPr>
            <a:picLocks noChangeAspect="1"/>
          </p:cNvPicPr>
          <p:nvPr/>
        </p:nvPicPr>
        <p:blipFill>
          <a:blip r:embed="rId3"/>
          <a:stretch>
            <a:fillRect/>
          </a:stretch>
        </p:blipFill>
        <p:spPr>
          <a:xfrm>
            <a:off x="4599066" y="2514234"/>
            <a:ext cx="256763" cy="256763"/>
          </a:xfrm>
          <a:prstGeom prst="rect">
            <a:avLst/>
          </a:prstGeom>
        </p:spPr>
      </p:pic>
      <p:sp>
        <p:nvSpPr>
          <p:cNvPr id="16" name="TextBox 15"/>
          <p:cNvSpPr txBox="1"/>
          <p:nvPr/>
        </p:nvSpPr>
        <p:spPr>
          <a:xfrm>
            <a:off x="4480560" y="3017520"/>
            <a:ext cx="3163824" cy="320040"/>
          </a:xfrm>
          <a:prstGeom prst="rect">
            <a:avLst/>
          </a:prstGeom>
          <a:noFill/>
        </p:spPr>
        <p:txBody>
          <a:bodyPr wrap="square" lIns="0" rIns="0" tIns="0" bIns="0" anchor="t">
            <a:spAutoFit/>
          </a:bodyPr>
          <a:lstStyle/>
          <a:p>
            <a:pPr algn="l">
              <a:lnSpc>
                <a:spcPct val="128000"/>
              </a:lnSpc>
            </a:pPr>
            <a:r>
              <a:rPr sz="1300" b="1" i="0">
                <a:solidFill>
                  <a:srgbClr val="16181D"/>
                </a:solidFill>
                <a:latin typeface="Montserrat"/>
              </a:rPr>
              <a:t>2 · Build for scale</a:t>
            </a:r>
          </a:p>
        </p:txBody>
      </p:sp>
      <p:sp>
        <p:nvSpPr>
          <p:cNvPr id="17" name="TextBox 16"/>
          <p:cNvSpPr txBox="1"/>
          <p:nvPr/>
        </p:nvSpPr>
        <p:spPr>
          <a:xfrm>
            <a:off x="4480560" y="3383280"/>
            <a:ext cx="3163824" cy="640080"/>
          </a:xfrm>
          <a:prstGeom prst="rect">
            <a:avLst/>
          </a:prstGeom>
          <a:noFill/>
        </p:spPr>
        <p:txBody>
          <a:bodyPr wrap="square" lIns="0" rIns="0" tIns="0" bIns="0" anchor="t">
            <a:spAutoFit/>
          </a:bodyPr>
          <a:lstStyle/>
          <a:p>
            <a:pPr algn="l">
              <a:lnSpc>
                <a:spcPct val="122000"/>
              </a:lnSpc>
            </a:pPr>
            <a:r>
              <a:rPr sz="1000" b="0" i="0">
                <a:solidFill>
                  <a:srgbClr val="6E7180"/>
                </a:solidFill>
                <a:latin typeface="Geist"/>
              </a:rPr>
              <a:t>The production system: 33 districts and 900+ police stations in Rajasthan, new districts onboarded by config, multi-state ready.</a:t>
            </a:r>
          </a:p>
        </p:txBody>
      </p:sp>
      <p:sp>
        <p:nvSpPr>
          <p:cNvPr id="18" name="Rounded Rectangle 17"/>
          <p:cNvSpPr/>
          <p:nvPr/>
        </p:nvSpPr>
        <p:spPr>
          <a:xfrm>
            <a:off x="7991856" y="2194560"/>
            <a:ext cx="3566160" cy="1874519"/>
          </a:xfrm>
          <a:prstGeom prst="roundRect">
            <a:avLst>
              <a:gd name="adj" fmla="val 8000"/>
            </a:avLst>
          </a:prstGeom>
          <a:solidFill>
            <a:srgbClr val="FFFFFF"/>
          </a:solidFill>
          <a:ln w="9525">
            <a:solidFill>
              <a:srgbClr val="E8E9EE"/>
            </a:solidFill>
          </a:ln>
          <a:effectLst/>
        </p:spPr>
        <p:txBody>
          <a:bodyPr rtlCol="0" anchor="ctr"/>
          <a:lstStyle/>
          <a:p>
            <a:pPr algn="ctr"/>
          </a:p>
        </p:txBody>
      </p:sp>
      <p:sp>
        <p:nvSpPr>
          <p:cNvPr id="19" name="Oval 18"/>
          <p:cNvSpPr/>
          <p:nvPr/>
        </p:nvSpPr>
        <p:spPr>
          <a:xfrm>
            <a:off x="8193024" y="2395728"/>
            <a:ext cx="493776" cy="493776"/>
          </a:xfrm>
          <a:prstGeom prst="ellipse">
            <a:avLst/>
          </a:prstGeom>
          <a:solidFill>
            <a:srgbClr val="FDF3E3"/>
          </a:solidFill>
          <a:ln>
            <a:noFill/>
          </a:ln>
          <a:effectLst/>
        </p:spPr>
        <p:txBody>
          <a:bodyPr rtlCol="0" anchor="ctr"/>
          <a:lstStyle/>
          <a:p>
            <a:pPr algn="ctr"/>
          </a:p>
        </p:txBody>
      </p:sp>
      <p:pic>
        <p:nvPicPr>
          <p:cNvPr id="20" name="Picture 19" descr="wrench_E58900_256_2.0.png"/>
          <p:cNvPicPr>
            <a:picLocks noChangeAspect="1"/>
          </p:cNvPicPr>
          <p:nvPr/>
        </p:nvPicPr>
        <p:blipFill>
          <a:blip r:embed="rId4"/>
          <a:stretch>
            <a:fillRect/>
          </a:stretch>
        </p:blipFill>
        <p:spPr>
          <a:xfrm>
            <a:off x="8311530" y="2514234"/>
            <a:ext cx="256763" cy="256763"/>
          </a:xfrm>
          <a:prstGeom prst="rect">
            <a:avLst/>
          </a:prstGeom>
        </p:spPr>
      </p:pic>
      <p:sp>
        <p:nvSpPr>
          <p:cNvPr id="21" name="TextBox 20"/>
          <p:cNvSpPr txBox="1"/>
          <p:nvPr/>
        </p:nvSpPr>
        <p:spPr>
          <a:xfrm>
            <a:off x="8193024" y="3017520"/>
            <a:ext cx="3163824" cy="320040"/>
          </a:xfrm>
          <a:prstGeom prst="rect">
            <a:avLst/>
          </a:prstGeom>
          <a:noFill/>
        </p:spPr>
        <p:txBody>
          <a:bodyPr wrap="square" lIns="0" rIns="0" tIns="0" bIns="0" anchor="t">
            <a:spAutoFit/>
          </a:bodyPr>
          <a:lstStyle/>
          <a:p>
            <a:pPr algn="l">
              <a:lnSpc>
                <a:spcPct val="128000"/>
              </a:lnSpc>
            </a:pPr>
            <a:r>
              <a:rPr sz="1300" b="1" i="0">
                <a:solidFill>
                  <a:srgbClr val="16181D"/>
                </a:solidFill>
                <a:latin typeface="Montserrat"/>
              </a:rPr>
              <a:t>3 · Close the gaps</a:t>
            </a:r>
          </a:p>
        </p:txBody>
      </p:sp>
      <p:sp>
        <p:nvSpPr>
          <p:cNvPr id="22" name="TextBox 21"/>
          <p:cNvSpPr txBox="1"/>
          <p:nvPr/>
        </p:nvSpPr>
        <p:spPr>
          <a:xfrm>
            <a:off x="8193024" y="3383280"/>
            <a:ext cx="3163824" cy="640080"/>
          </a:xfrm>
          <a:prstGeom prst="rect">
            <a:avLst/>
          </a:prstGeom>
          <a:noFill/>
        </p:spPr>
        <p:txBody>
          <a:bodyPr wrap="square" lIns="0" rIns="0" tIns="0" bIns="0" anchor="t">
            <a:spAutoFit/>
          </a:bodyPr>
          <a:lstStyle/>
          <a:p>
            <a:pPr algn="l">
              <a:lnSpc>
                <a:spcPct val="122000"/>
              </a:lnSpc>
            </a:pPr>
            <a:r>
              <a:rPr sz="1000" b="0" i="0">
                <a:solidFill>
                  <a:srgbClr val="6E7180"/>
                </a:solidFill>
                <a:latin typeface="Geist"/>
              </a:rPr>
              <a:t>Finish the known-incomplete pieces — settlement / disbursement console, AI document-check loop, realtime notifications.</a:t>
            </a:r>
          </a:p>
        </p:txBody>
      </p:sp>
      <p:sp>
        <p:nvSpPr>
          <p:cNvPr id="23" name="TextBox 22"/>
          <p:cNvSpPr txBox="1"/>
          <p:nvPr/>
        </p:nvSpPr>
        <p:spPr>
          <a:xfrm>
            <a:off x="566928" y="4343400"/>
            <a:ext cx="10972800" cy="274320"/>
          </a:xfrm>
          <a:prstGeom prst="rect">
            <a:avLst/>
          </a:prstGeom>
          <a:noFill/>
        </p:spPr>
        <p:txBody>
          <a:bodyPr wrap="square" lIns="0" rIns="0" tIns="0" bIns="0" anchor="t">
            <a:spAutoFit/>
          </a:bodyPr>
          <a:lstStyle/>
          <a:p>
            <a:pPr algn="l">
              <a:lnSpc>
                <a:spcPct val="128000"/>
              </a:lnSpc>
            </a:pPr>
            <a:r>
              <a:rPr sz="900" b="1" i="0" spc="160">
                <a:solidFill>
                  <a:srgbClr val="6E7180"/>
                </a:solidFill>
                <a:latin typeface="Montserrat"/>
              </a:rPr>
              <a:t>PRINCIPLES WE BUILD BY</a:t>
            </a:r>
          </a:p>
        </p:txBody>
      </p:sp>
      <p:sp>
        <p:nvSpPr>
          <p:cNvPr id="24" name="Oval 23"/>
          <p:cNvSpPr/>
          <p:nvPr/>
        </p:nvSpPr>
        <p:spPr>
          <a:xfrm>
            <a:off x="566928" y="4709160"/>
            <a:ext cx="365760" cy="365760"/>
          </a:xfrm>
          <a:prstGeom prst="ellipse">
            <a:avLst/>
          </a:prstGeom>
          <a:solidFill>
            <a:srgbClr val="EFEDFF"/>
          </a:solidFill>
          <a:ln>
            <a:noFill/>
          </a:ln>
          <a:effectLst/>
        </p:spPr>
        <p:txBody>
          <a:bodyPr rtlCol="0" anchor="ctr"/>
          <a:lstStyle/>
          <a:p>
            <a:pPr algn="ctr"/>
          </a:p>
        </p:txBody>
      </p:sp>
      <p:pic>
        <p:nvPicPr>
          <p:cNvPr id="25" name="Picture 24" descr="cloud_4A35FF_256_2.0.png"/>
          <p:cNvPicPr>
            <a:picLocks noChangeAspect="1"/>
          </p:cNvPicPr>
          <p:nvPr/>
        </p:nvPicPr>
        <p:blipFill>
          <a:blip r:embed="rId5"/>
          <a:stretch>
            <a:fillRect/>
          </a:stretch>
        </p:blipFill>
        <p:spPr>
          <a:xfrm>
            <a:off x="654710" y="4796942"/>
            <a:ext cx="190195" cy="190195"/>
          </a:xfrm>
          <a:prstGeom prst="rect">
            <a:avLst/>
          </a:prstGeom>
        </p:spPr>
      </p:pic>
      <p:sp>
        <p:nvSpPr>
          <p:cNvPr id="26" name="TextBox 25"/>
          <p:cNvSpPr txBox="1"/>
          <p:nvPr/>
        </p:nvSpPr>
        <p:spPr>
          <a:xfrm>
            <a:off x="1078992" y="4681728"/>
            <a:ext cx="2377440" cy="320040"/>
          </a:xfrm>
          <a:prstGeom prst="rect">
            <a:avLst/>
          </a:prstGeom>
          <a:noFill/>
        </p:spPr>
        <p:txBody>
          <a:bodyPr wrap="square" lIns="0" rIns="0" tIns="0" bIns="0" anchor="t">
            <a:spAutoFit/>
          </a:bodyPr>
          <a:lstStyle/>
          <a:p>
            <a:pPr algn="l">
              <a:lnSpc>
                <a:spcPct val="128000"/>
              </a:lnSpc>
            </a:pPr>
            <a:r>
              <a:rPr sz="1050" b="1" i="0">
                <a:solidFill>
                  <a:srgbClr val="16181D"/>
                </a:solidFill>
                <a:latin typeface="Montserrat"/>
              </a:rPr>
              <a:t>Portable to government infra</a:t>
            </a:r>
          </a:p>
        </p:txBody>
      </p:sp>
      <p:sp>
        <p:nvSpPr>
          <p:cNvPr id="27" name="TextBox 26"/>
          <p:cNvSpPr txBox="1"/>
          <p:nvPr/>
        </p:nvSpPr>
        <p:spPr>
          <a:xfrm>
            <a:off x="3410712" y="4681728"/>
            <a:ext cx="2651760" cy="640080"/>
          </a:xfrm>
          <a:prstGeom prst="rect">
            <a:avLst/>
          </a:prstGeom>
          <a:noFill/>
        </p:spPr>
        <p:txBody>
          <a:bodyPr wrap="square" lIns="0" rIns="0" tIns="0" bIns="0" anchor="t">
            <a:spAutoFit/>
          </a:bodyPr>
          <a:lstStyle/>
          <a:p>
            <a:pPr algn="l">
              <a:lnSpc>
                <a:spcPct val="114000"/>
              </a:lnSpc>
            </a:pPr>
            <a:r>
              <a:rPr sz="900" b="0" i="0">
                <a:solidFill>
                  <a:srgbClr val="6E7180"/>
                </a:solidFill>
                <a:latin typeface="Geist"/>
              </a:rPr>
              <a:t>Prefer open, standard components; no lock-in that makes migration hard later.</a:t>
            </a:r>
          </a:p>
        </p:txBody>
      </p:sp>
      <p:sp>
        <p:nvSpPr>
          <p:cNvPr id="28" name="Oval 27"/>
          <p:cNvSpPr/>
          <p:nvPr/>
        </p:nvSpPr>
        <p:spPr>
          <a:xfrm>
            <a:off x="6144768" y="4709160"/>
            <a:ext cx="365760" cy="365760"/>
          </a:xfrm>
          <a:prstGeom prst="ellipse">
            <a:avLst/>
          </a:prstGeom>
          <a:solidFill>
            <a:srgbClr val="EFEDFF"/>
          </a:solidFill>
          <a:ln>
            <a:noFill/>
          </a:ln>
          <a:effectLst/>
        </p:spPr>
        <p:txBody>
          <a:bodyPr rtlCol="0" anchor="ctr"/>
          <a:lstStyle/>
          <a:p>
            <a:pPr algn="ctr"/>
          </a:p>
        </p:txBody>
      </p:sp>
      <p:pic>
        <p:nvPicPr>
          <p:cNvPr id="29" name="Picture 28" descr="boxes_4A35FF_256_2.0.png"/>
          <p:cNvPicPr>
            <a:picLocks noChangeAspect="1"/>
          </p:cNvPicPr>
          <p:nvPr/>
        </p:nvPicPr>
        <p:blipFill>
          <a:blip r:embed="rId3"/>
          <a:stretch>
            <a:fillRect/>
          </a:stretch>
        </p:blipFill>
        <p:spPr>
          <a:xfrm>
            <a:off x="6232550" y="4796942"/>
            <a:ext cx="190195" cy="190195"/>
          </a:xfrm>
          <a:prstGeom prst="rect">
            <a:avLst/>
          </a:prstGeom>
        </p:spPr>
      </p:pic>
      <p:sp>
        <p:nvSpPr>
          <p:cNvPr id="30" name="TextBox 29"/>
          <p:cNvSpPr txBox="1"/>
          <p:nvPr/>
        </p:nvSpPr>
        <p:spPr>
          <a:xfrm>
            <a:off x="6656832" y="4681728"/>
            <a:ext cx="2377440" cy="320040"/>
          </a:xfrm>
          <a:prstGeom prst="rect">
            <a:avLst/>
          </a:prstGeom>
          <a:noFill/>
        </p:spPr>
        <p:txBody>
          <a:bodyPr wrap="square" lIns="0" rIns="0" tIns="0" bIns="0" anchor="t">
            <a:spAutoFit/>
          </a:bodyPr>
          <a:lstStyle/>
          <a:p>
            <a:pPr algn="l">
              <a:lnSpc>
                <a:spcPct val="128000"/>
              </a:lnSpc>
            </a:pPr>
            <a:r>
              <a:rPr sz="1050" b="1" i="0">
                <a:solidFill>
                  <a:srgbClr val="16181D"/>
                </a:solidFill>
                <a:latin typeface="Montserrat"/>
              </a:rPr>
              <a:t>Modular by design</a:t>
            </a:r>
          </a:p>
        </p:txBody>
      </p:sp>
      <p:sp>
        <p:nvSpPr>
          <p:cNvPr id="31" name="TextBox 30"/>
          <p:cNvSpPr txBox="1"/>
          <p:nvPr/>
        </p:nvSpPr>
        <p:spPr>
          <a:xfrm>
            <a:off x="8988552" y="4681728"/>
            <a:ext cx="2651760" cy="640080"/>
          </a:xfrm>
          <a:prstGeom prst="rect">
            <a:avLst/>
          </a:prstGeom>
          <a:noFill/>
        </p:spPr>
        <p:txBody>
          <a:bodyPr wrap="square" lIns="0" rIns="0" tIns="0" bIns="0" anchor="t">
            <a:spAutoFit/>
          </a:bodyPr>
          <a:lstStyle/>
          <a:p>
            <a:pPr algn="l">
              <a:lnSpc>
                <a:spcPct val="114000"/>
              </a:lnSpc>
            </a:pPr>
            <a:r>
              <a:rPr sz="900" b="0" i="0">
                <a:solidFill>
                  <a:srgbClr val="6E7180"/>
                </a:solidFill>
                <a:latin typeface="Geist"/>
              </a:rPr>
              <a:t>Each module works on its own; a super admin connects &amp; configures per deployment.</a:t>
            </a:r>
          </a:p>
        </p:txBody>
      </p:sp>
      <p:sp>
        <p:nvSpPr>
          <p:cNvPr id="32" name="Oval 31"/>
          <p:cNvSpPr/>
          <p:nvPr/>
        </p:nvSpPr>
        <p:spPr>
          <a:xfrm>
            <a:off x="566928" y="5458968"/>
            <a:ext cx="365760" cy="365760"/>
          </a:xfrm>
          <a:prstGeom prst="ellipse">
            <a:avLst/>
          </a:prstGeom>
          <a:solidFill>
            <a:srgbClr val="EFEDFF"/>
          </a:solidFill>
          <a:ln>
            <a:noFill/>
          </a:ln>
          <a:effectLst/>
        </p:spPr>
        <p:txBody>
          <a:bodyPr rtlCol="0" anchor="ctr"/>
          <a:lstStyle/>
          <a:p>
            <a:pPr algn="ctr"/>
          </a:p>
        </p:txBody>
      </p:sp>
      <p:pic>
        <p:nvPicPr>
          <p:cNvPr id="33" name="Picture 32" descr="shield-check_4A35FF_256_2.0.png"/>
          <p:cNvPicPr>
            <a:picLocks noChangeAspect="1"/>
          </p:cNvPicPr>
          <p:nvPr/>
        </p:nvPicPr>
        <p:blipFill>
          <a:blip r:embed="rId6"/>
          <a:stretch>
            <a:fillRect/>
          </a:stretch>
        </p:blipFill>
        <p:spPr>
          <a:xfrm>
            <a:off x="654710" y="5546750"/>
            <a:ext cx="190195" cy="190195"/>
          </a:xfrm>
          <a:prstGeom prst="rect">
            <a:avLst/>
          </a:prstGeom>
        </p:spPr>
      </p:pic>
      <p:sp>
        <p:nvSpPr>
          <p:cNvPr id="34" name="TextBox 33"/>
          <p:cNvSpPr txBox="1"/>
          <p:nvPr/>
        </p:nvSpPr>
        <p:spPr>
          <a:xfrm>
            <a:off x="1078992" y="5431536"/>
            <a:ext cx="2377440" cy="320040"/>
          </a:xfrm>
          <a:prstGeom prst="rect">
            <a:avLst/>
          </a:prstGeom>
          <a:noFill/>
        </p:spPr>
        <p:txBody>
          <a:bodyPr wrap="square" lIns="0" rIns="0" tIns="0" bIns="0" anchor="t">
            <a:spAutoFit/>
          </a:bodyPr>
          <a:lstStyle/>
          <a:p>
            <a:pPr algn="l">
              <a:lnSpc>
                <a:spcPct val="128000"/>
              </a:lnSpc>
            </a:pPr>
            <a:r>
              <a:rPr sz="1050" b="1" i="0">
                <a:solidFill>
                  <a:srgbClr val="16181D"/>
                </a:solidFill>
                <a:latin typeface="Montserrat"/>
              </a:rPr>
              <a:t>Security lives in the database</a:t>
            </a:r>
          </a:p>
        </p:txBody>
      </p:sp>
      <p:sp>
        <p:nvSpPr>
          <p:cNvPr id="35" name="TextBox 34"/>
          <p:cNvSpPr txBox="1"/>
          <p:nvPr/>
        </p:nvSpPr>
        <p:spPr>
          <a:xfrm>
            <a:off x="3410712" y="5431536"/>
            <a:ext cx="2651760" cy="640080"/>
          </a:xfrm>
          <a:prstGeom prst="rect">
            <a:avLst/>
          </a:prstGeom>
          <a:noFill/>
        </p:spPr>
        <p:txBody>
          <a:bodyPr wrap="square" lIns="0" rIns="0" tIns="0" bIns="0" anchor="t">
            <a:spAutoFit/>
          </a:bodyPr>
          <a:lstStyle/>
          <a:p>
            <a:pPr algn="l">
              <a:lnSpc>
                <a:spcPct val="114000"/>
              </a:lnSpc>
            </a:pPr>
            <a:r>
              <a:rPr sz="900" b="0" i="0">
                <a:solidFill>
                  <a:srgbClr val="6E7180"/>
                </a:solidFill>
                <a:latin typeface="Geist"/>
              </a:rPr>
              <a:t>Row-level security, jurisdiction scoping, full audit — no admin back door.</a:t>
            </a:r>
          </a:p>
        </p:txBody>
      </p:sp>
      <p:sp>
        <p:nvSpPr>
          <p:cNvPr id="36" name="Oval 35"/>
          <p:cNvSpPr/>
          <p:nvPr/>
        </p:nvSpPr>
        <p:spPr>
          <a:xfrm>
            <a:off x="6144768" y="5458968"/>
            <a:ext cx="365760" cy="365760"/>
          </a:xfrm>
          <a:prstGeom prst="ellipse">
            <a:avLst/>
          </a:prstGeom>
          <a:solidFill>
            <a:srgbClr val="EFEDFF"/>
          </a:solidFill>
          <a:ln>
            <a:noFill/>
          </a:ln>
          <a:effectLst/>
        </p:spPr>
        <p:txBody>
          <a:bodyPr rtlCol="0" anchor="ctr"/>
          <a:lstStyle/>
          <a:p>
            <a:pPr algn="ctr"/>
          </a:p>
        </p:txBody>
      </p:sp>
      <p:pic>
        <p:nvPicPr>
          <p:cNvPr id="37" name="Picture 36" descr="languages_4A35FF_256_2.0.png"/>
          <p:cNvPicPr>
            <a:picLocks noChangeAspect="1"/>
          </p:cNvPicPr>
          <p:nvPr/>
        </p:nvPicPr>
        <p:blipFill>
          <a:blip r:embed="rId7"/>
          <a:stretch>
            <a:fillRect/>
          </a:stretch>
        </p:blipFill>
        <p:spPr>
          <a:xfrm>
            <a:off x="6232550" y="5546750"/>
            <a:ext cx="190195" cy="190195"/>
          </a:xfrm>
          <a:prstGeom prst="rect">
            <a:avLst/>
          </a:prstGeom>
        </p:spPr>
      </p:pic>
      <p:sp>
        <p:nvSpPr>
          <p:cNvPr id="38" name="TextBox 37"/>
          <p:cNvSpPr txBox="1"/>
          <p:nvPr/>
        </p:nvSpPr>
        <p:spPr>
          <a:xfrm>
            <a:off x="6656832" y="5431536"/>
            <a:ext cx="2377440" cy="320040"/>
          </a:xfrm>
          <a:prstGeom prst="rect">
            <a:avLst/>
          </a:prstGeom>
          <a:noFill/>
        </p:spPr>
        <p:txBody>
          <a:bodyPr wrap="square" lIns="0" rIns="0" tIns="0" bIns="0" anchor="t">
            <a:spAutoFit/>
          </a:bodyPr>
          <a:lstStyle/>
          <a:p>
            <a:pPr algn="l">
              <a:lnSpc>
                <a:spcPct val="128000"/>
              </a:lnSpc>
            </a:pPr>
            <a:r>
              <a:rPr sz="1050" b="1" i="0">
                <a:solidFill>
                  <a:srgbClr val="16181D"/>
                </a:solidFill>
                <a:latin typeface="Montserrat"/>
              </a:rPr>
              <a:t>Hindi-first, cheap-phone-first</a:t>
            </a:r>
          </a:p>
        </p:txBody>
      </p:sp>
      <p:sp>
        <p:nvSpPr>
          <p:cNvPr id="39" name="TextBox 38"/>
          <p:cNvSpPr txBox="1"/>
          <p:nvPr/>
        </p:nvSpPr>
        <p:spPr>
          <a:xfrm>
            <a:off x="8988552" y="5431536"/>
            <a:ext cx="2651760" cy="640080"/>
          </a:xfrm>
          <a:prstGeom prst="rect">
            <a:avLst/>
          </a:prstGeom>
          <a:noFill/>
        </p:spPr>
        <p:txBody>
          <a:bodyPr wrap="square" lIns="0" rIns="0" tIns="0" bIns="0" anchor="t">
            <a:spAutoFit/>
          </a:bodyPr>
          <a:lstStyle/>
          <a:p>
            <a:pPr algn="l">
              <a:lnSpc>
                <a:spcPct val="114000"/>
              </a:lnSpc>
            </a:pPr>
            <a:r>
              <a:rPr sz="900" b="0" i="0">
                <a:solidFill>
                  <a:srgbClr val="6E7180"/>
                </a:solidFill>
                <a:latin typeface="Geist"/>
              </a:rPr>
              <a:t>Full Hindi/English parity; family side works on the cheapest phone; officer side is a PWA.</a:t>
            </a:r>
          </a:p>
        </p:txBody>
      </p:sp>
      <p:cxnSp>
        <p:nvCxnSpPr>
          <p:cNvPr id="40" name="Connector 39"/>
          <p:cNvCxnSpPr/>
          <p:nvPr/>
        </p:nvCxnSpPr>
        <p:spPr>
          <a:xfrm>
            <a:off x="566928" y="6455664"/>
            <a:ext cx="11057839" cy="0"/>
          </a:xfrm>
          <a:prstGeom prst="line">
            <a:avLst/>
          </a:prstGeom>
          <a:ln w="9525">
            <a:solidFill>
              <a:srgbClr val="E8E9EE"/>
            </a:solidFill>
          </a:ln>
          <a:effectLst/>
        </p:spPr>
      </p:cxnSp>
      <p:sp>
        <p:nvSpPr>
          <p:cNvPr id="41" name="TextBox 40"/>
          <p:cNvSpPr txBox="1"/>
          <p:nvPr/>
        </p:nvSpPr>
        <p:spPr>
          <a:xfrm>
            <a:off x="566928" y="6528816"/>
            <a:ext cx="86868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SAHAJ — Team Induction Brief   ·   Confidential</a:t>
            </a:r>
          </a:p>
        </p:txBody>
      </p:sp>
      <p:sp>
        <p:nvSpPr>
          <p:cNvPr id="42" name="TextBox 41"/>
          <p:cNvSpPr txBox="1"/>
          <p:nvPr/>
        </p:nvSpPr>
        <p:spPr>
          <a:xfrm>
            <a:off x="10344607" y="6528816"/>
            <a:ext cx="128016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18 / 22</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7692847" y="274320"/>
            <a:ext cx="3931920" cy="219456"/>
          </a:xfrm>
          <a:prstGeom prst="rect">
            <a:avLst/>
          </a:prstGeom>
          <a:noFill/>
        </p:spPr>
        <p:txBody>
          <a:bodyPr wrap="square" lIns="0" rIns="0" tIns="0" bIns="0" anchor="t">
            <a:spAutoFit/>
          </a:bodyPr>
          <a:lstStyle/>
          <a:p>
            <a:pPr algn="r">
              <a:lnSpc>
                <a:spcPct val="128000"/>
              </a:lnSpc>
            </a:pPr>
            <a:r>
              <a:rPr sz="800" b="1" i="0" spc="150">
                <a:solidFill>
                  <a:srgbClr val="6E7180"/>
                </a:solidFill>
                <a:latin typeface="Montserrat"/>
              </a:rPr>
              <a:t>SECTION 5 OF 5   ·   WHERE YOU COME IN</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05 · WHERE YOU COME IN</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What to keep, </a:t>
            </a:r>
            <a:r>
              <a:rPr sz="2250" b="1" i="0">
                <a:solidFill>
                  <a:srgbClr val="4A35FF"/>
                </a:solidFill>
                <a:latin typeface="Montserrat"/>
              </a:rPr>
              <a:t>and where we need your hands</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Treat the framework and UI kit as choices, not commitments — cost any migration honestly. But the model below is load-bearing and legal; keep it.</a:t>
            </a:r>
          </a:p>
        </p:txBody>
      </p:sp>
      <p:sp>
        <p:nvSpPr>
          <p:cNvPr id="8" name="Rounded Rectangle 7"/>
          <p:cNvSpPr/>
          <p:nvPr/>
        </p:nvSpPr>
        <p:spPr>
          <a:xfrm>
            <a:off x="566928" y="2148840"/>
            <a:ext cx="4846320" cy="4023360"/>
          </a:xfrm>
          <a:prstGeom prst="roundRect">
            <a:avLst>
              <a:gd name="adj" fmla="val 7000"/>
            </a:avLst>
          </a:prstGeom>
          <a:solidFill>
            <a:srgbClr val="E9F7F0"/>
          </a:solidFill>
          <a:ln>
            <a:noFill/>
          </a:ln>
          <a:effectLst/>
        </p:spPr>
        <p:txBody>
          <a:bodyPr rtlCol="0" anchor="ctr"/>
          <a:lstStyle/>
          <a:p>
            <a:pPr algn="ctr"/>
          </a:p>
        </p:txBody>
      </p:sp>
      <p:sp>
        <p:nvSpPr>
          <p:cNvPr id="9" name="TextBox 8"/>
          <p:cNvSpPr txBox="1"/>
          <p:nvPr/>
        </p:nvSpPr>
        <p:spPr>
          <a:xfrm>
            <a:off x="822960" y="2331720"/>
            <a:ext cx="4389120" cy="320040"/>
          </a:xfrm>
          <a:prstGeom prst="rect">
            <a:avLst/>
          </a:prstGeom>
          <a:noFill/>
        </p:spPr>
        <p:txBody>
          <a:bodyPr wrap="square" lIns="0" rIns="0" tIns="0" bIns="0" anchor="t">
            <a:spAutoFit/>
          </a:bodyPr>
          <a:lstStyle/>
          <a:p>
            <a:pPr algn="l">
              <a:lnSpc>
                <a:spcPct val="128000"/>
              </a:lnSpc>
            </a:pPr>
            <a:r>
              <a:rPr sz="1200" b="1" i="0" spc="50">
                <a:solidFill>
                  <a:srgbClr val="0A9955"/>
                </a:solidFill>
                <a:latin typeface="Montserrat"/>
              </a:rPr>
              <a:t>KEEP — survives the rebuild</a:t>
            </a:r>
          </a:p>
        </p:txBody>
      </p:sp>
      <p:sp>
        <p:nvSpPr>
          <p:cNvPr id="10" name="Oval 9"/>
          <p:cNvSpPr/>
          <p:nvPr/>
        </p:nvSpPr>
        <p:spPr>
          <a:xfrm>
            <a:off x="822960" y="2788920"/>
            <a:ext cx="402336" cy="402336"/>
          </a:xfrm>
          <a:prstGeom prst="ellipse">
            <a:avLst/>
          </a:prstGeom>
          <a:solidFill>
            <a:srgbClr val="FFFFFF"/>
          </a:solidFill>
          <a:ln>
            <a:noFill/>
          </a:ln>
          <a:effectLst/>
        </p:spPr>
        <p:txBody>
          <a:bodyPr rtlCol="0" anchor="ctr"/>
          <a:lstStyle/>
          <a:p>
            <a:pPr algn="ctr"/>
          </a:p>
        </p:txBody>
      </p:sp>
      <p:pic>
        <p:nvPicPr>
          <p:cNvPr id="11" name="Picture 10" descr="shield-check_0A9955_256_2.0.png"/>
          <p:cNvPicPr>
            <a:picLocks noChangeAspect="1"/>
          </p:cNvPicPr>
          <p:nvPr/>
        </p:nvPicPr>
        <p:blipFill>
          <a:blip r:embed="rId2"/>
          <a:stretch>
            <a:fillRect/>
          </a:stretch>
        </p:blipFill>
        <p:spPr>
          <a:xfrm>
            <a:off x="919520" y="2885480"/>
            <a:ext cx="209214" cy="209214"/>
          </a:xfrm>
          <a:prstGeom prst="rect">
            <a:avLst/>
          </a:prstGeom>
        </p:spPr>
      </p:pic>
      <p:sp>
        <p:nvSpPr>
          <p:cNvPr id="12" name="TextBox 11"/>
          <p:cNvSpPr txBox="1"/>
          <p:nvPr/>
        </p:nvSpPr>
        <p:spPr>
          <a:xfrm>
            <a:off x="1353312" y="2770632"/>
            <a:ext cx="3840480" cy="274320"/>
          </a:xfrm>
          <a:prstGeom prst="rect">
            <a:avLst/>
          </a:prstGeom>
          <a:noFill/>
        </p:spPr>
        <p:txBody>
          <a:bodyPr wrap="square" lIns="0" rIns="0" tIns="0" bIns="0" anchor="t">
            <a:spAutoFit/>
          </a:bodyPr>
          <a:lstStyle/>
          <a:p>
            <a:pPr algn="l">
              <a:lnSpc>
                <a:spcPct val="128000"/>
              </a:lnSpc>
            </a:pPr>
            <a:r>
              <a:rPr sz="1150" b="1" i="0">
                <a:solidFill>
                  <a:srgbClr val="16181D"/>
                </a:solidFill>
                <a:latin typeface="Montserrat"/>
              </a:rPr>
              <a:t>Database-as-boundary</a:t>
            </a:r>
          </a:p>
        </p:txBody>
      </p:sp>
      <p:sp>
        <p:nvSpPr>
          <p:cNvPr id="13" name="TextBox 12"/>
          <p:cNvSpPr txBox="1"/>
          <p:nvPr/>
        </p:nvSpPr>
        <p:spPr>
          <a:xfrm>
            <a:off x="1353312" y="3044952"/>
            <a:ext cx="3840480" cy="457200"/>
          </a:xfrm>
          <a:prstGeom prst="rect">
            <a:avLst/>
          </a:prstGeom>
          <a:noFill/>
        </p:spPr>
        <p:txBody>
          <a:bodyPr wrap="square" lIns="0" rIns="0" tIns="0" bIns="0" anchor="t">
            <a:spAutoFit/>
          </a:bodyPr>
          <a:lstStyle/>
          <a:p>
            <a:pPr algn="l">
              <a:lnSpc>
                <a:spcPct val="115000"/>
              </a:lnSpc>
            </a:pPr>
            <a:r>
              <a:rPr sz="950" b="0" i="0">
                <a:solidFill>
                  <a:srgbClr val="6E7180"/>
                </a:solidFill>
                <a:latin typeface="Geist"/>
              </a:rPr>
              <a:t>RLS on every table, authored once — not duplicated in query code.</a:t>
            </a:r>
          </a:p>
        </p:txBody>
      </p:sp>
      <p:sp>
        <p:nvSpPr>
          <p:cNvPr id="14" name="Oval 13"/>
          <p:cNvSpPr/>
          <p:nvPr/>
        </p:nvSpPr>
        <p:spPr>
          <a:xfrm>
            <a:off x="822960" y="3611880"/>
            <a:ext cx="402336" cy="402336"/>
          </a:xfrm>
          <a:prstGeom prst="ellipse">
            <a:avLst/>
          </a:prstGeom>
          <a:solidFill>
            <a:srgbClr val="FFFFFF"/>
          </a:solidFill>
          <a:ln>
            <a:noFill/>
          </a:ln>
          <a:effectLst/>
        </p:spPr>
        <p:txBody>
          <a:bodyPr rtlCol="0" anchor="ctr"/>
          <a:lstStyle/>
          <a:p>
            <a:pPr algn="ctr"/>
          </a:p>
        </p:txBody>
      </p:sp>
      <p:pic>
        <p:nvPicPr>
          <p:cNvPr id="15" name="Picture 14" descr="network_0A9955_256_2.0.png"/>
          <p:cNvPicPr>
            <a:picLocks noChangeAspect="1"/>
          </p:cNvPicPr>
          <p:nvPr/>
        </p:nvPicPr>
        <p:blipFill>
          <a:blip r:embed="rId3"/>
          <a:stretch>
            <a:fillRect/>
          </a:stretch>
        </p:blipFill>
        <p:spPr>
          <a:xfrm>
            <a:off x="919520" y="3708440"/>
            <a:ext cx="209214" cy="209214"/>
          </a:xfrm>
          <a:prstGeom prst="rect">
            <a:avLst/>
          </a:prstGeom>
        </p:spPr>
      </p:pic>
      <p:sp>
        <p:nvSpPr>
          <p:cNvPr id="16" name="TextBox 15"/>
          <p:cNvSpPr txBox="1"/>
          <p:nvPr/>
        </p:nvSpPr>
        <p:spPr>
          <a:xfrm>
            <a:off x="1353312" y="3593592"/>
            <a:ext cx="3840480" cy="274320"/>
          </a:xfrm>
          <a:prstGeom prst="rect">
            <a:avLst/>
          </a:prstGeom>
          <a:noFill/>
        </p:spPr>
        <p:txBody>
          <a:bodyPr wrap="square" lIns="0" rIns="0" tIns="0" bIns="0" anchor="t">
            <a:spAutoFit/>
          </a:bodyPr>
          <a:lstStyle/>
          <a:p>
            <a:pPr algn="l">
              <a:lnSpc>
                <a:spcPct val="128000"/>
              </a:lnSpc>
            </a:pPr>
            <a:r>
              <a:rPr sz="1150" b="1" i="0">
                <a:solidFill>
                  <a:srgbClr val="16181D"/>
                </a:solidFill>
                <a:latin typeface="Montserrat"/>
              </a:rPr>
              <a:t>Jurisdiction + role claims</a:t>
            </a:r>
          </a:p>
        </p:txBody>
      </p:sp>
      <p:sp>
        <p:nvSpPr>
          <p:cNvPr id="17" name="TextBox 16"/>
          <p:cNvSpPr txBox="1"/>
          <p:nvPr/>
        </p:nvSpPr>
        <p:spPr>
          <a:xfrm>
            <a:off x="1353312" y="3867912"/>
            <a:ext cx="3840480" cy="457200"/>
          </a:xfrm>
          <a:prstGeom prst="rect">
            <a:avLst/>
          </a:prstGeom>
          <a:noFill/>
        </p:spPr>
        <p:txBody>
          <a:bodyPr wrap="square" lIns="0" rIns="0" tIns="0" bIns="0" anchor="t">
            <a:spAutoFit/>
          </a:bodyPr>
          <a:lstStyle/>
          <a:p>
            <a:pPr algn="l">
              <a:lnSpc>
                <a:spcPct val="115000"/>
              </a:lnSpc>
            </a:pPr>
            <a:r>
              <a:rPr sz="950" b="0" i="0">
                <a:solidFill>
                  <a:srgbClr val="6E7180"/>
                </a:solidFill>
                <a:latin typeface="Geist"/>
              </a:rPr>
              <a:t>Verified JWT claims, two-check delegated provisioning.</a:t>
            </a:r>
          </a:p>
        </p:txBody>
      </p:sp>
      <p:sp>
        <p:nvSpPr>
          <p:cNvPr id="18" name="Oval 17"/>
          <p:cNvSpPr/>
          <p:nvPr/>
        </p:nvSpPr>
        <p:spPr>
          <a:xfrm>
            <a:off x="822960" y="4434840"/>
            <a:ext cx="402336" cy="402336"/>
          </a:xfrm>
          <a:prstGeom prst="ellipse">
            <a:avLst/>
          </a:prstGeom>
          <a:solidFill>
            <a:srgbClr val="FFFFFF"/>
          </a:solidFill>
          <a:ln>
            <a:noFill/>
          </a:ln>
          <a:effectLst/>
        </p:spPr>
        <p:txBody>
          <a:bodyPr rtlCol="0" anchor="ctr"/>
          <a:lstStyle/>
          <a:p>
            <a:pPr algn="ctr"/>
          </a:p>
        </p:txBody>
      </p:sp>
      <p:pic>
        <p:nvPicPr>
          <p:cNvPr id="19" name="Picture 18" descr="scroll-text_0A9955_256_2.0.png"/>
          <p:cNvPicPr>
            <a:picLocks noChangeAspect="1"/>
          </p:cNvPicPr>
          <p:nvPr/>
        </p:nvPicPr>
        <p:blipFill>
          <a:blip r:embed="rId4"/>
          <a:stretch>
            <a:fillRect/>
          </a:stretch>
        </p:blipFill>
        <p:spPr>
          <a:xfrm>
            <a:off x="919520" y="4531400"/>
            <a:ext cx="209214" cy="209214"/>
          </a:xfrm>
          <a:prstGeom prst="rect">
            <a:avLst/>
          </a:prstGeom>
        </p:spPr>
      </p:pic>
      <p:sp>
        <p:nvSpPr>
          <p:cNvPr id="20" name="TextBox 19"/>
          <p:cNvSpPr txBox="1"/>
          <p:nvPr/>
        </p:nvSpPr>
        <p:spPr>
          <a:xfrm>
            <a:off x="1353312" y="4416552"/>
            <a:ext cx="3840480" cy="274320"/>
          </a:xfrm>
          <a:prstGeom prst="rect">
            <a:avLst/>
          </a:prstGeom>
          <a:noFill/>
        </p:spPr>
        <p:txBody>
          <a:bodyPr wrap="square" lIns="0" rIns="0" tIns="0" bIns="0" anchor="t">
            <a:spAutoFit/>
          </a:bodyPr>
          <a:lstStyle/>
          <a:p>
            <a:pPr algn="l">
              <a:lnSpc>
                <a:spcPct val="128000"/>
              </a:lnSpc>
            </a:pPr>
            <a:r>
              <a:rPr sz="1150" b="1" i="0">
                <a:solidFill>
                  <a:srgbClr val="16181D"/>
                </a:solidFill>
                <a:latin typeface="Montserrat"/>
              </a:rPr>
              <a:t>Append-only audit ledger</a:t>
            </a:r>
          </a:p>
        </p:txBody>
      </p:sp>
      <p:sp>
        <p:nvSpPr>
          <p:cNvPr id="21" name="TextBox 20"/>
          <p:cNvSpPr txBox="1"/>
          <p:nvPr/>
        </p:nvSpPr>
        <p:spPr>
          <a:xfrm>
            <a:off x="1353312" y="4690872"/>
            <a:ext cx="3840480" cy="457200"/>
          </a:xfrm>
          <a:prstGeom prst="rect">
            <a:avLst/>
          </a:prstGeom>
          <a:noFill/>
        </p:spPr>
        <p:txBody>
          <a:bodyPr wrap="square" lIns="0" rIns="0" tIns="0" bIns="0" anchor="t">
            <a:spAutoFit/>
          </a:bodyPr>
          <a:lstStyle/>
          <a:p>
            <a:pPr algn="l">
              <a:lnSpc>
                <a:spcPct val="115000"/>
              </a:lnSpc>
            </a:pPr>
            <a:r>
              <a:rPr sz="950" b="0" i="0">
                <a:solidFill>
                  <a:srgbClr val="6E7180"/>
                </a:solidFill>
                <a:latin typeface="Geist"/>
              </a:rPr>
              <a:t>Every transition, immutable — a legal requirement.</a:t>
            </a:r>
          </a:p>
        </p:txBody>
      </p:sp>
      <p:sp>
        <p:nvSpPr>
          <p:cNvPr id="22" name="Oval 21"/>
          <p:cNvSpPr/>
          <p:nvPr/>
        </p:nvSpPr>
        <p:spPr>
          <a:xfrm>
            <a:off x="822960" y="5257800"/>
            <a:ext cx="402336" cy="402336"/>
          </a:xfrm>
          <a:prstGeom prst="ellipse">
            <a:avLst/>
          </a:prstGeom>
          <a:solidFill>
            <a:srgbClr val="FFFFFF"/>
          </a:solidFill>
          <a:ln>
            <a:noFill/>
          </a:ln>
          <a:effectLst/>
        </p:spPr>
        <p:txBody>
          <a:bodyPr rtlCol="0" anchor="ctr"/>
          <a:lstStyle/>
          <a:p>
            <a:pPr algn="ctr"/>
          </a:p>
        </p:txBody>
      </p:sp>
      <p:pic>
        <p:nvPicPr>
          <p:cNvPr id="23" name="Picture 22" descr="file-signature_0A9955_256_2.0.png"/>
          <p:cNvPicPr>
            <a:picLocks noChangeAspect="1"/>
          </p:cNvPicPr>
          <p:nvPr/>
        </p:nvPicPr>
        <p:blipFill>
          <a:blip r:embed="rId5"/>
          <a:stretch>
            <a:fillRect/>
          </a:stretch>
        </p:blipFill>
        <p:spPr>
          <a:xfrm>
            <a:off x="919520" y="5354360"/>
            <a:ext cx="209214" cy="209214"/>
          </a:xfrm>
          <a:prstGeom prst="rect">
            <a:avLst/>
          </a:prstGeom>
        </p:spPr>
      </p:pic>
      <p:sp>
        <p:nvSpPr>
          <p:cNvPr id="24" name="TextBox 23"/>
          <p:cNvSpPr txBox="1"/>
          <p:nvPr/>
        </p:nvSpPr>
        <p:spPr>
          <a:xfrm>
            <a:off x="1353312" y="5239512"/>
            <a:ext cx="3840480" cy="274320"/>
          </a:xfrm>
          <a:prstGeom prst="rect">
            <a:avLst/>
          </a:prstGeom>
          <a:noFill/>
        </p:spPr>
        <p:txBody>
          <a:bodyPr wrap="square" lIns="0" rIns="0" tIns="0" bIns="0" anchor="t">
            <a:spAutoFit/>
          </a:bodyPr>
          <a:lstStyle/>
          <a:p>
            <a:pPr algn="l">
              <a:lnSpc>
                <a:spcPct val="128000"/>
              </a:lnSpc>
            </a:pPr>
            <a:r>
              <a:rPr sz="1150" b="1" i="0">
                <a:solidFill>
                  <a:srgbClr val="16181D"/>
                </a:solidFill>
                <a:latin typeface="Montserrat"/>
              </a:rPr>
              <a:t>OTP-signed statutory forms</a:t>
            </a:r>
          </a:p>
        </p:txBody>
      </p:sp>
      <p:sp>
        <p:nvSpPr>
          <p:cNvPr id="25" name="TextBox 24"/>
          <p:cNvSpPr txBox="1"/>
          <p:nvPr/>
        </p:nvSpPr>
        <p:spPr>
          <a:xfrm>
            <a:off x="1353312" y="5513832"/>
            <a:ext cx="3840480" cy="457200"/>
          </a:xfrm>
          <a:prstGeom prst="rect">
            <a:avLst/>
          </a:prstGeom>
          <a:noFill/>
        </p:spPr>
        <p:txBody>
          <a:bodyPr wrap="square" lIns="0" rIns="0" tIns="0" bIns="0" anchor="t">
            <a:spAutoFit/>
          </a:bodyPr>
          <a:lstStyle/>
          <a:p>
            <a:pPr algn="l">
              <a:lnSpc>
                <a:spcPct val="115000"/>
              </a:lnSpc>
            </a:pPr>
            <a:r>
              <a:rPr sz="950" b="0" i="0">
                <a:solidFill>
                  <a:srgbClr val="6E7180"/>
                </a:solidFill>
                <a:latin typeface="Geist"/>
              </a:rPr>
              <a:t>Form II / III signing tied to the officer's phone.</a:t>
            </a:r>
          </a:p>
        </p:txBody>
      </p:sp>
      <p:sp>
        <p:nvSpPr>
          <p:cNvPr id="26" name="Rounded Rectangle 25"/>
          <p:cNvSpPr/>
          <p:nvPr/>
        </p:nvSpPr>
        <p:spPr>
          <a:xfrm>
            <a:off x="5687568" y="2148840"/>
            <a:ext cx="5937199" cy="4023360"/>
          </a:xfrm>
          <a:prstGeom prst="roundRect">
            <a:avLst>
              <a:gd name="adj" fmla="val 7000"/>
            </a:avLst>
          </a:prstGeom>
          <a:solidFill>
            <a:srgbClr val="FFFFFF"/>
          </a:solidFill>
          <a:ln w="9525">
            <a:solidFill>
              <a:srgbClr val="E8E9EE"/>
            </a:solidFill>
          </a:ln>
          <a:effectLst/>
        </p:spPr>
        <p:txBody>
          <a:bodyPr rtlCol="0" anchor="ctr"/>
          <a:lstStyle/>
          <a:p>
            <a:pPr algn="ctr"/>
          </a:p>
        </p:txBody>
      </p:sp>
      <p:sp>
        <p:nvSpPr>
          <p:cNvPr id="27" name="TextBox 26"/>
          <p:cNvSpPr txBox="1"/>
          <p:nvPr/>
        </p:nvSpPr>
        <p:spPr>
          <a:xfrm>
            <a:off x="5943600" y="2331720"/>
            <a:ext cx="5479999" cy="320040"/>
          </a:xfrm>
          <a:prstGeom prst="rect">
            <a:avLst/>
          </a:prstGeom>
          <a:noFill/>
        </p:spPr>
        <p:txBody>
          <a:bodyPr wrap="square" lIns="0" rIns="0" tIns="0" bIns="0" anchor="t">
            <a:spAutoFit/>
          </a:bodyPr>
          <a:lstStyle/>
          <a:p>
            <a:pPr algn="l">
              <a:lnSpc>
                <a:spcPct val="128000"/>
              </a:lnSpc>
            </a:pPr>
            <a:r>
              <a:rPr sz="1200" b="1" i="0" spc="50">
                <a:solidFill>
                  <a:srgbClr val="4A35FF"/>
                </a:solidFill>
                <a:latin typeface="Montserrat"/>
              </a:rPr>
              <a:t>OPEN — where you come in</a:t>
            </a:r>
          </a:p>
        </p:txBody>
      </p:sp>
      <p:sp>
        <p:nvSpPr>
          <p:cNvPr id="28" name="Oval 27"/>
          <p:cNvSpPr/>
          <p:nvPr/>
        </p:nvSpPr>
        <p:spPr>
          <a:xfrm>
            <a:off x="5943600" y="2761488"/>
            <a:ext cx="365760" cy="365760"/>
          </a:xfrm>
          <a:prstGeom prst="ellipse">
            <a:avLst/>
          </a:prstGeom>
          <a:solidFill>
            <a:srgbClr val="EFEDFF"/>
          </a:solidFill>
          <a:ln>
            <a:noFill/>
          </a:ln>
          <a:effectLst/>
        </p:spPr>
        <p:txBody>
          <a:bodyPr rtlCol="0" anchor="ctr"/>
          <a:lstStyle/>
          <a:p>
            <a:pPr algn="ctr"/>
          </a:p>
        </p:txBody>
      </p:sp>
      <p:pic>
        <p:nvPicPr>
          <p:cNvPr id="29" name="Picture 28" descr="search-check_4A35FF_256_2.0.png"/>
          <p:cNvPicPr>
            <a:picLocks noChangeAspect="1"/>
          </p:cNvPicPr>
          <p:nvPr/>
        </p:nvPicPr>
        <p:blipFill>
          <a:blip r:embed="rId6"/>
          <a:stretch>
            <a:fillRect/>
          </a:stretch>
        </p:blipFill>
        <p:spPr>
          <a:xfrm>
            <a:off x="6031382" y="2849270"/>
            <a:ext cx="190195" cy="190195"/>
          </a:xfrm>
          <a:prstGeom prst="rect">
            <a:avLst/>
          </a:prstGeom>
        </p:spPr>
      </p:pic>
      <p:pic>
        <p:nvPicPr>
          <p:cNvPr id="30" name="Picture 29" descr="circle_E58900_256_2.0.png"/>
          <p:cNvPicPr>
            <a:picLocks noChangeAspect="1"/>
          </p:cNvPicPr>
          <p:nvPr/>
        </p:nvPicPr>
        <p:blipFill>
          <a:blip r:embed="rId7"/>
          <a:stretch>
            <a:fillRect/>
          </a:stretch>
        </p:blipFill>
        <p:spPr>
          <a:xfrm>
            <a:off x="11259007" y="2816352"/>
            <a:ext cx="146304" cy="146304"/>
          </a:xfrm>
          <a:prstGeom prst="rect">
            <a:avLst/>
          </a:prstGeom>
        </p:spPr>
      </p:pic>
      <p:sp>
        <p:nvSpPr>
          <p:cNvPr id="31" name="TextBox 30"/>
          <p:cNvSpPr txBox="1"/>
          <p:nvPr/>
        </p:nvSpPr>
        <p:spPr>
          <a:xfrm>
            <a:off x="6437376" y="2734056"/>
            <a:ext cx="4748479" cy="274320"/>
          </a:xfrm>
          <a:prstGeom prst="rect">
            <a:avLst/>
          </a:prstGeom>
          <a:noFill/>
        </p:spPr>
        <p:txBody>
          <a:bodyPr wrap="square" lIns="0" rIns="0" tIns="0" bIns="0" anchor="t">
            <a:spAutoFit/>
          </a:bodyPr>
          <a:lstStyle/>
          <a:p>
            <a:pPr algn="l">
              <a:lnSpc>
                <a:spcPct val="128000"/>
              </a:lnSpc>
            </a:pPr>
            <a:r>
              <a:rPr sz="1100" b="1" i="0">
                <a:solidFill>
                  <a:srgbClr val="16181D"/>
                </a:solidFill>
                <a:latin typeface="Montserrat"/>
              </a:rPr>
              <a:t>Security audit + secrets rotation</a:t>
            </a:r>
          </a:p>
        </p:txBody>
      </p:sp>
      <p:sp>
        <p:nvSpPr>
          <p:cNvPr id="32" name="TextBox 31"/>
          <p:cNvSpPr txBox="1"/>
          <p:nvPr/>
        </p:nvSpPr>
        <p:spPr>
          <a:xfrm>
            <a:off x="6437376" y="2999232"/>
            <a:ext cx="4748479" cy="274320"/>
          </a:xfrm>
          <a:prstGeom prst="rect">
            <a:avLst/>
          </a:prstGeom>
          <a:noFill/>
        </p:spPr>
        <p:txBody>
          <a:bodyPr wrap="square" lIns="0" rIns="0" tIns="0" bIns="0" anchor="t">
            <a:spAutoFit/>
          </a:bodyPr>
          <a:lstStyle/>
          <a:p>
            <a:pPr algn="l">
              <a:lnSpc>
                <a:spcPct val="112000"/>
              </a:lnSpc>
            </a:pPr>
            <a:r>
              <a:rPr sz="900" b="0" i="0">
                <a:solidFill>
                  <a:srgbClr val="6E7180"/>
                </a:solidFill>
                <a:latin typeface="Geist"/>
              </a:rPr>
              <a:t>Day-one external pen-test; rotate every key.</a:t>
            </a:r>
          </a:p>
        </p:txBody>
      </p:sp>
      <p:sp>
        <p:nvSpPr>
          <p:cNvPr id="33" name="Oval 32"/>
          <p:cNvSpPr/>
          <p:nvPr/>
        </p:nvSpPr>
        <p:spPr>
          <a:xfrm>
            <a:off x="5943600" y="3328416"/>
            <a:ext cx="365760" cy="365760"/>
          </a:xfrm>
          <a:prstGeom prst="ellipse">
            <a:avLst/>
          </a:prstGeom>
          <a:solidFill>
            <a:srgbClr val="EFEDFF"/>
          </a:solidFill>
          <a:ln>
            <a:noFill/>
          </a:ln>
          <a:effectLst/>
        </p:spPr>
        <p:txBody>
          <a:bodyPr rtlCol="0" anchor="ctr"/>
          <a:lstStyle/>
          <a:p>
            <a:pPr algn="ctr"/>
          </a:p>
        </p:txBody>
      </p:sp>
      <p:pic>
        <p:nvPicPr>
          <p:cNvPr id="34" name="Picture 33" descr="gauge_4A35FF_256_2.0.png"/>
          <p:cNvPicPr>
            <a:picLocks noChangeAspect="1"/>
          </p:cNvPicPr>
          <p:nvPr/>
        </p:nvPicPr>
        <p:blipFill>
          <a:blip r:embed="rId8"/>
          <a:stretch>
            <a:fillRect/>
          </a:stretch>
        </p:blipFill>
        <p:spPr>
          <a:xfrm>
            <a:off x="6031382" y="3416198"/>
            <a:ext cx="190195" cy="190195"/>
          </a:xfrm>
          <a:prstGeom prst="rect">
            <a:avLst/>
          </a:prstGeom>
        </p:spPr>
      </p:pic>
      <p:pic>
        <p:nvPicPr>
          <p:cNvPr id="35" name="Picture 34" descr="circle_E11900_256_2.0.png"/>
          <p:cNvPicPr>
            <a:picLocks noChangeAspect="1"/>
          </p:cNvPicPr>
          <p:nvPr/>
        </p:nvPicPr>
        <p:blipFill>
          <a:blip r:embed="rId9"/>
          <a:stretch>
            <a:fillRect/>
          </a:stretch>
        </p:blipFill>
        <p:spPr>
          <a:xfrm>
            <a:off x="11259007" y="3383280"/>
            <a:ext cx="146304" cy="146304"/>
          </a:xfrm>
          <a:prstGeom prst="rect">
            <a:avLst/>
          </a:prstGeom>
        </p:spPr>
      </p:pic>
      <p:sp>
        <p:nvSpPr>
          <p:cNvPr id="36" name="TextBox 35"/>
          <p:cNvSpPr txBox="1"/>
          <p:nvPr/>
        </p:nvSpPr>
        <p:spPr>
          <a:xfrm>
            <a:off x="6437376" y="3300984"/>
            <a:ext cx="4748479" cy="274320"/>
          </a:xfrm>
          <a:prstGeom prst="rect">
            <a:avLst/>
          </a:prstGeom>
          <a:noFill/>
        </p:spPr>
        <p:txBody>
          <a:bodyPr wrap="square" lIns="0" rIns="0" tIns="0" bIns="0" anchor="t">
            <a:spAutoFit/>
          </a:bodyPr>
          <a:lstStyle/>
          <a:p>
            <a:pPr algn="l">
              <a:lnSpc>
                <a:spcPct val="128000"/>
              </a:lnSpc>
            </a:pPr>
            <a:r>
              <a:rPr sz="1100" b="1" i="0">
                <a:solidFill>
                  <a:srgbClr val="16181D"/>
                </a:solidFill>
                <a:latin typeface="Montserrat"/>
              </a:rPr>
              <a:t>Scale &amp; load</a:t>
            </a:r>
          </a:p>
        </p:txBody>
      </p:sp>
      <p:sp>
        <p:nvSpPr>
          <p:cNvPr id="37" name="TextBox 36"/>
          <p:cNvSpPr txBox="1"/>
          <p:nvPr/>
        </p:nvSpPr>
        <p:spPr>
          <a:xfrm>
            <a:off x="6437376" y="3566160"/>
            <a:ext cx="4748479" cy="274320"/>
          </a:xfrm>
          <a:prstGeom prst="rect">
            <a:avLst/>
          </a:prstGeom>
          <a:noFill/>
        </p:spPr>
        <p:txBody>
          <a:bodyPr wrap="square" lIns="0" rIns="0" tIns="0" bIns="0" anchor="t">
            <a:spAutoFit/>
          </a:bodyPr>
          <a:lstStyle/>
          <a:p>
            <a:pPr algn="l">
              <a:lnSpc>
                <a:spcPct val="112000"/>
              </a:lnSpc>
            </a:pPr>
            <a:r>
              <a:rPr sz="900" b="0" i="0">
                <a:solidFill>
                  <a:srgbClr val="6E7180"/>
                </a:solidFill>
                <a:latin typeface="Geist"/>
              </a:rPr>
              <a:t>Find where one app + Postgres/RLS bends at state volume.</a:t>
            </a:r>
          </a:p>
        </p:txBody>
      </p:sp>
      <p:sp>
        <p:nvSpPr>
          <p:cNvPr id="38" name="Oval 37"/>
          <p:cNvSpPr/>
          <p:nvPr/>
        </p:nvSpPr>
        <p:spPr>
          <a:xfrm>
            <a:off x="5943600" y="3895344"/>
            <a:ext cx="365760" cy="365760"/>
          </a:xfrm>
          <a:prstGeom prst="ellipse">
            <a:avLst/>
          </a:prstGeom>
          <a:solidFill>
            <a:srgbClr val="EFEDFF"/>
          </a:solidFill>
          <a:ln>
            <a:noFill/>
          </a:ln>
          <a:effectLst/>
        </p:spPr>
        <p:txBody>
          <a:bodyPr rtlCol="0" anchor="ctr"/>
          <a:lstStyle/>
          <a:p>
            <a:pPr algn="ctr"/>
          </a:p>
        </p:txBody>
      </p:sp>
      <p:pic>
        <p:nvPicPr>
          <p:cNvPr id="39" name="Picture 38" descr="banknote_4A35FF_256_2.0.png"/>
          <p:cNvPicPr>
            <a:picLocks noChangeAspect="1"/>
          </p:cNvPicPr>
          <p:nvPr/>
        </p:nvPicPr>
        <p:blipFill>
          <a:blip r:embed="rId10"/>
          <a:stretch>
            <a:fillRect/>
          </a:stretch>
        </p:blipFill>
        <p:spPr>
          <a:xfrm>
            <a:off x="6031382" y="3983126"/>
            <a:ext cx="190195" cy="190195"/>
          </a:xfrm>
          <a:prstGeom prst="rect">
            <a:avLst/>
          </a:prstGeom>
        </p:spPr>
      </p:pic>
      <p:pic>
        <p:nvPicPr>
          <p:cNvPr id="40" name="Picture 39" descr="circle_E11900_256_2.0.png"/>
          <p:cNvPicPr>
            <a:picLocks noChangeAspect="1"/>
          </p:cNvPicPr>
          <p:nvPr/>
        </p:nvPicPr>
        <p:blipFill>
          <a:blip r:embed="rId9"/>
          <a:stretch>
            <a:fillRect/>
          </a:stretch>
        </p:blipFill>
        <p:spPr>
          <a:xfrm>
            <a:off x="11259007" y="3950208"/>
            <a:ext cx="146304" cy="146304"/>
          </a:xfrm>
          <a:prstGeom prst="rect">
            <a:avLst/>
          </a:prstGeom>
        </p:spPr>
      </p:pic>
      <p:sp>
        <p:nvSpPr>
          <p:cNvPr id="41" name="TextBox 40"/>
          <p:cNvSpPr txBox="1"/>
          <p:nvPr/>
        </p:nvSpPr>
        <p:spPr>
          <a:xfrm>
            <a:off x="6437376" y="3867912"/>
            <a:ext cx="4748479" cy="274320"/>
          </a:xfrm>
          <a:prstGeom prst="rect">
            <a:avLst/>
          </a:prstGeom>
          <a:noFill/>
        </p:spPr>
        <p:txBody>
          <a:bodyPr wrap="square" lIns="0" rIns="0" tIns="0" bIns="0" anchor="t">
            <a:spAutoFit/>
          </a:bodyPr>
          <a:lstStyle/>
          <a:p>
            <a:pPr algn="l">
              <a:lnSpc>
                <a:spcPct val="128000"/>
              </a:lnSpc>
            </a:pPr>
            <a:r>
              <a:rPr sz="1100" b="1" i="0">
                <a:solidFill>
                  <a:srgbClr val="16181D"/>
                </a:solidFill>
                <a:latin typeface="Montserrat"/>
              </a:rPr>
              <a:t>Settlement / disbursement console</a:t>
            </a:r>
          </a:p>
        </p:txBody>
      </p:sp>
      <p:sp>
        <p:nvSpPr>
          <p:cNvPr id="42" name="TextBox 41"/>
          <p:cNvSpPr txBox="1"/>
          <p:nvPr/>
        </p:nvSpPr>
        <p:spPr>
          <a:xfrm>
            <a:off x="6437376" y="4133088"/>
            <a:ext cx="4748479" cy="274320"/>
          </a:xfrm>
          <a:prstGeom prst="rect">
            <a:avLst/>
          </a:prstGeom>
          <a:noFill/>
        </p:spPr>
        <p:txBody>
          <a:bodyPr wrap="square" lIns="0" rIns="0" tIns="0" bIns="0" anchor="t">
            <a:spAutoFit/>
          </a:bodyPr>
          <a:lstStyle/>
          <a:p>
            <a:pPr algn="l">
              <a:lnSpc>
                <a:spcPct val="112000"/>
              </a:lnSpc>
            </a:pPr>
            <a:r>
              <a:rPr sz="900" b="0" i="0">
                <a:solidFill>
                  <a:srgbClr val="6E7180"/>
                </a:solidFill>
                <a:latin typeface="Geist"/>
              </a:rPr>
              <a:t>The clearest greenfield build.</a:t>
            </a:r>
          </a:p>
        </p:txBody>
      </p:sp>
      <p:sp>
        <p:nvSpPr>
          <p:cNvPr id="43" name="Oval 42"/>
          <p:cNvSpPr/>
          <p:nvPr/>
        </p:nvSpPr>
        <p:spPr>
          <a:xfrm>
            <a:off x="5943600" y="4462272"/>
            <a:ext cx="365760" cy="365760"/>
          </a:xfrm>
          <a:prstGeom prst="ellipse">
            <a:avLst/>
          </a:prstGeom>
          <a:solidFill>
            <a:srgbClr val="EFEDFF"/>
          </a:solidFill>
          <a:ln>
            <a:noFill/>
          </a:ln>
          <a:effectLst/>
        </p:spPr>
        <p:txBody>
          <a:bodyPr rtlCol="0" anchor="ctr"/>
          <a:lstStyle/>
          <a:p>
            <a:pPr algn="ctr"/>
          </a:p>
        </p:txBody>
      </p:sp>
      <p:pic>
        <p:nvPicPr>
          <p:cNvPr id="44" name="Picture 43" descr="scan-text_4A35FF_256_2.0.png"/>
          <p:cNvPicPr>
            <a:picLocks noChangeAspect="1"/>
          </p:cNvPicPr>
          <p:nvPr/>
        </p:nvPicPr>
        <p:blipFill>
          <a:blip r:embed="rId11"/>
          <a:stretch>
            <a:fillRect/>
          </a:stretch>
        </p:blipFill>
        <p:spPr>
          <a:xfrm>
            <a:off x="6031382" y="4550054"/>
            <a:ext cx="190195" cy="190195"/>
          </a:xfrm>
          <a:prstGeom prst="rect">
            <a:avLst/>
          </a:prstGeom>
        </p:spPr>
      </p:pic>
      <p:pic>
        <p:nvPicPr>
          <p:cNvPr id="45" name="Picture 44" descr="circle_E11900_256_2.0.png"/>
          <p:cNvPicPr>
            <a:picLocks noChangeAspect="1"/>
          </p:cNvPicPr>
          <p:nvPr/>
        </p:nvPicPr>
        <p:blipFill>
          <a:blip r:embed="rId9"/>
          <a:stretch>
            <a:fillRect/>
          </a:stretch>
        </p:blipFill>
        <p:spPr>
          <a:xfrm>
            <a:off x="11259007" y="4517136"/>
            <a:ext cx="146304" cy="146304"/>
          </a:xfrm>
          <a:prstGeom prst="rect">
            <a:avLst/>
          </a:prstGeom>
        </p:spPr>
      </p:pic>
      <p:sp>
        <p:nvSpPr>
          <p:cNvPr id="46" name="TextBox 45"/>
          <p:cNvSpPr txBox="1"/>
          <p:nvPr/>
        </p:nvSpPr>
        <p:spPr>
          <a:xfrm>
            <a:off x="6437376" y="4434840"/>
            <a:ext cx="4748479" cy="274320"/>
          </a:xfrm>
          <a:prstGeom prst="rect">
            <a:avLst/>
          </a:prstGeom>
          <a:noFill/>
        </p:spPr>
        <p:txBody>
          <a:bodyPr wrap="square" lIns="0" rIns="0" tIns="0" bIns="0" anchor="t">
            <a:spAutoFit/>
          </a:bodyPr>
          <a:lstStyle/>
          <a:p>
            <a:pPr algn="l">
              <a:lnSpc>
                <a:spcPct val="128000"/>
              </a:lnSpc>
            </a:pPr>
            <a:r>
              <a:rPr sz="1100" b="1" i="0">
                <a:solidFill>
                  <a:srgbClr val="16181D"/>
                </a:solidFill>
                <a:latin typeface="Montserrat"/>
              </a:rPr>
              <a:t>AI document-check loop</a:t>
            </a:r>
          </a:p>
        </p:txBody>
      </p:sp>
      <p:sp>
        <p:nvSpPr>
          <p:cNvPr id="47" name="TextBox 46"/>
          <p:cNvSpPr txBox="1"/>
          <p:nvPr/>
        </p:nvSpPr>
        <p:spPr>
          <a:xfrm>
            <a:off x="6437376" y="4700016"/>
            <a:ext cx="4748479" cy="274320"/>
          </a:xfrm>
          <a:prstGeom prst="rect">
            <a:avLst/>
          </a:prstGeom>
          <a:noFill/>
        </p:spPr>
        <p:txBody>
          <a:bodyPr wrap="square" lIns="0" rIns="0" tIns="0" bIns="0" anchor="t">
            <a:spAutoFit/>
          </a:bodyPr>
          <a:lstStyle/>
          <a:p>
            <a:pPr algn="l">
              <a:lnSpc>
                <a:spcPct val="112000"/>
              </a:lnSpc>
            </a:pPr>
            <a:r>
              <a:rPr sz="900" b="0" i="0">
                <a:solidFill>
                  <a:srgbClr val="6E7180"/>
                </a:solidFill>
                <a:latin typeface="Geist"/>
              </a:rPr>
              <a:t>Activate the scaffolded vision pipeline.</a:t>
            </a:r>
          </a:p>
        </p:txBody>
      </p:sp>
      <p:sp>
        <p:nvSpPr>
          <p:cNvPr id="48" name="Oval 47"/>
          <p:cNvSpPr/>
          <p:nvPr/>
        </p:nvSpPr>
        <p:spPr>
          <a:xfrm>
            <a:off x="5943600" y="5029200"/>
            <a:ext cx="365760" cy="365760"/>
          </a:xfrm>
          <a:prstGeom prst="ellipse">
            <a:avLst/>
          </a:prstGeom>
          <a:solidFill>
            <a:srgbClr val="EFEDFF"/>
          </a:solidFill>
          <a:ln>
            <a:noFill/>
          </a:ln>
          <a:effectLst/>
        </p:spPr>
        <p:txBody>
          <a:bodyPr rtlCol="0" anchor="ctr"/>
          <a:lstStyle/>
          <a:p>
            <a:pPr algn="ctr"/>
          </a:p>
        </p:txBody>
      </p:sp>
      <p:pic>
        <p:nvPicPr>
          <p:cNvPr id="49" name="Picture 48" descr="bell_4A35FF_256_2.0.png"/>
          <p:cNvPicPr>
            <a:picLocks noChangeAspect="1"/>
          </p:cNvPicPr>
          <p:nvPr/>
        </p:nvPicPr>
        <p:blipFill>
          <a:blip r:embed="rId12"/>
          <a:stretch>
            <a:fillRect/>
          </a:stretch>
        </p:blipFill>
        <p:spPr>
          <a:xfrm>
            <a:off x="6031382" y="5116982"/>
            <a:ext cx="190195" cy="190195"/>
          </a:xfrm>
          <a:prstGeom prst="rect">
            <a:avLst/>
          </a:prstGeom>
        </p:spPr>
      </p:pic>
      <p:pic>
        <p:nvPicPr>
          <p:cNvPr id="50" name="Picture 49" descr="circle_E58900_256_2.0.png"/>
          <p:cNvPicPr>
            <a:picLocks noChangeAspect="1"/>
          </p:cNvPicPr>
          <p:nvPr/>
        </p:nvPicPr>
        <p:blipFill>
          <a:blip r:embed="rId7"/>
          <a:stretch>
            <a:fillRect/>
          </a:stretch>
        </p:blipFill>
        <p:spPr>
          <a:xfrm>
            <a:off x="11259007" y="5084064"/>
            <a:ext cx="146304" cy="146304"/>
          </a:xfrm>
          <a:prstGeom prst="rect">
            <a:avLst/>
          </a:prstGeom>
        </p:spPr>
      </p:pic>
      <p:sp>
        <p:nvSpPr>
          <p:cNvPr id="51" name="TextBox 50"/>
          <p:cNvSpPr txBox="1"/>
          <p:nvPr/>
        </p:nvSpPr>
        <p:spPr>
          <a:xfrm>
            <a:off x="6437376" y="5001768"/>
            <a:ext cx="4748479" cy="274320"/>
          </a:xfrm>
          <a:prstGeom prst="rect">
            <a:avLst/>
          </a:prstGeom>
          <a:noFill/>
        </p:spPr>
        <p:txBody>
          <a:bodyPr wrap="square" lIns="0" rIns="0" tIns="0" bIns="0" anchor="t">
            <a:spAutoFit/>
          </a:bodyPr>
          <a:lstStyle/>
          <a:p>
            <a:pPr algn="l">
              <a:lnSpc>
                <a:spcPct val="128000"/>
              </a:lnSpc>
            </a:pPr>
            <a:r>
              <a:rPr sz="1100" b="1" i="0">
                <a:solidFill>
                  <a:srgbClr val="16181D"/>
                </a:solidFill>
                <a:latin typeface="Montserrat"/>
              </a:rPr>
              <a:t>Realtime notifications</a:t>
            </a:r>
          </a:p>
        </p:txBody>
      </p:sp>
      <p:sp>
        <p:nvSpPr>
          <p:cNvPr id="52" name="TextBox 51"/>
          <p:cNvSpPr txBox="1"/>
          <p:nvPr/>
        </p:nvSpPr>
        <p:spPr>
          <a:xfrm>
            <a:off x="6437376" y="5266944"/>
            <a:ext cx="4748479" cy="274320"/>
          </a:xfrm>
          <a:prstGeom prst="rect">
            <a:avLst/>
          </a:prstGeom>
          <a:noFill/>
        </p:spPr>
        <p:txBody>
          <a:bodyPr wrap="square" lIns="0" rIns="0" tIns="0" bIns="0" anchor="t">
            <a:spAutoFit/>
          </a:bodyPr>
          <a:lstStyle/>
          <a:p>
            <a:pPr algn="l">
              <a:lnSpc>
                <a:spcPct val="112000"/>
              </a:lnSpc>
            </a:pPr>
            <a:r>
              <a:rPr sz="900" b="0" i="0">
                <a:solidFill>
                  <a:srgbClr val="6E7180"/>
                </a:solidFill>
                <a:latin typeface="Geist"/>
              </a:rPr>
              <a:t>Wire transport to the notification shell.</a:t>
            </a:r>
          </a:p>
        </p:txBody>
      </p:sp>
      <p:sp>
        <p:nvSpPr>
          <p:cNvPr id="53" name="Oval 52"/>
          <p:cNvSpPr/>
          <p:nvPr/>
        </p:nvSpPr>
        <p:spPr>
          <a:xfrm>
            <a:off x="5943600" y="5596128"/>
            <a:ext cx="365760" cy="365760"/>
          </a:xfrm>
          <a:prstGeom prst="ellipse">
            <a:avLst/>
          </a:prstGeom>
          <a:solidFill>
            <a:srgbClr val="EFEDFF"/>
          </a:solidFill>
          <a:ln>
            <a:noFill/>
          </a:ln>
          <a:effectLst/>
        </p:spPr>
        <p:txBody>
          <a:bodyPr rtlCol="0" anchor="ctr"/>
          <a:lstStyle/>
          <a:p>
            <a:pPr algn="ctr"/>
          </a:p>
        </p:txBody>
      </p:sp>
      <p:pic>
        <p:nvPicPr>
          <p:cNvPr id="54" name="Picture 53" descr="boxes_4A35FF_256_2.0.png"/>
          <p:cNvPicPr>
            <a:picLocks noChangeAspect="1"/>
          </p:cNvPicPr>
          <p:nvPr/>
        </p:nvPicPr>
        <p:blipFill>
          <a:blip r:embed="rId13"/>
          <a:stretch>
            <a:fillRect/>
          </a:stretch>
        </p:blipFill>
        <p:spPr>
          <a:xfrm>
            <a:off x="6031382" y="5683910"/>
            <a:ext cx="190195" cy="190195"/>
          </a:xfrm>
          <a:prstGeom prst="rect">
            <a:avLst/>
          </a:prstGeom>
        </p:spPr>
      </p:pic>
      <p:pic>
        <p:nvPicPr>
          <p:cNvPr id="55" name="Picture 54" descr="circle_E58900_256_2.0.png"/>
          <p:cNvPicPr>
            <a:picLocks noChangeAspect="1"/>
          </p:cNvPicPr>
          <p:nvPr/>
        </p:nvPicPr>
        <p:blipFill>
          <a:blip r:embed="rId7"/>
          <a:stretch>
            <a:fillRect/>
          </a:stretch>
        </p:blipFill>
        <p:spPr>
          <a:xfrm>
            <a:off x="11259007" y="5650992"/>
            <a:ext cx="146304" cy="146304"/>
          </a:xfrm>
          <a:prstGeom prst="rect">
            <a:avLst/>
          </a:prstGeom>
        </p:spPr>
      </p:pic>
      <p:sp>
        <p:nvSpPr>
          <p:cNvPr id="56" name="TextBox 55"/>
          <p:cNvSpPr txBox="1"/>
          <p:nvPr/>
        </p:nvSpPr>
        <p:spPr>
          <a:xfrm>
            <a:off x="6437376" y="5568696"/>
            <a:ext cx="4748479" cy="274320"/>
          </a:xfrm>
          <a:prstGeom prst="rect">
            <a:avLst/>
          </a:prstGeom>
          <a:noFill/>
        </p:spPr>
        <p:txBody>
          <a:bodyPr wrap="square" lIns="0" rIns="0" tIns="0" bIns="0" anchor="t">
            <a:spAutoFit/>
          </a:bodyPr>
          <a:lstStyle/>
          <a:p>
            <a:pPr algn="l">
              <a:lnSpc>
                <a:spcPct val="128000"/>
              </a:lnSpc>
            </a:pPr>
            <a:r>
              <a:rPr sz="1100" b="1" i="0">
                <a:solidFill>
                  <a:srgbClr val="16181D"/>
                </a:solidFill>
                <a:latin typeface="Montserrat"/>
              </a:rPr>
              <a:t>Multi-state onboarding-by-config</a:t>
            </a:r>
          </a:p>
        </p:txBody>
      </p:sp>
      <p:sp>
        <p:nvSpPr>
          <p:cNvPr id="57" name="TextBox 56"/>
          <p:cNvSpPr txBox="1"/>
          <p:nvPr/>
        </p:nvSpPr>
        <p:spPr>
          <a:xfrm>
            <a:off x="6437376" y="5833872"/>
            <a:ext cx="4748479" cy="274320"/>
          </a:xfrm>
          <a:prstGeom prst="rect">
            <a:avLst/>
          </a:prstGeom>
          <a:noFill/>
        </p:spPr>
        <p:txBody>
          <a:bodyPr wrap="square" lIns="0" rIns="0" tIns="0" bIns="0" anchor="t">
            <a:spAutoFit/>
          </a:bodyPr>
          <a:lstStyle/>
          <a:p>
            <a:pPr algn="l">
              <a:lnSpc>
                <a:spcPct val="112000"/>
              </a:lnSpc>
            </a:pPr>
            <a:r>
              <a:rPr sz="900" b="0" i="0">
                <a:solidFill>
                  <a:srgbClr val="6E7180"/>
                </a:solidFill>
                <a:latin typeface="Geist"/>
              </a:rPr>
              <a:t>Harden the workbook / provisioning path.</a:t>
            </a:r>
          </a:p>
        </p:txBody>
      </p:sp>
      <p:cxnSp>
        <p:nvCxnSpPr>
          <p:cNvPr id="58" name="Connector 57"/>
          <p:cNvCxnSpPr/>
          <p:nvPr/>
        </p:nvCxnSpPr>
        <p:spPr>
          <a:xfrm>
            <a:off x="566928" y="6455664"/>
            <a:ext cx="11057839" cy="0"/>
          </a:xfrm>
          <a:prstGeom prst="line">
            <a:avLst/>
          </a:prstGeom>
          <a:ln w="9525">
            <a:solidFill>
              <a:srgbClr val="E8E9EE"/>
            </a:solidFill>
          </a:ln>
          <a:effectLst/>
        </p:spPr>
      </p:cxnSp>
      <p:sp>
        <p:nvSpPr>
          <p:cNvPr id="59" name="TextBox 58"/>
          <p:cNvSpPr txBox="1"/>
          <p:nvPr/>
        </p:nvSpPr>
        <p:spPr>
          <a:xfrm>
            <a:off x="566928" y="6528816"/>
            <a:ext cx="86868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SAHAJ — Team Induction Brief   ·   Confidential</a:t>
            </a:r>
          </a:p>
        </p:txBody>
      </p:sp>
      <p:sp>
        <p:nvSpPr>
          <p:cNvPr id="60" name="TextBox 59"/>
          <p:cNvSpPr txBox="1"/>
          <p:nvPr/>
        </p:nvSpPr>
        <p:spPr>
          <a:xfrm>
            <a:off x="10344607" y="6528816"/>
            <a:ext cx="128016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19 / 22</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7692847" y="274320"/>
            <a:ext cx="3931920" cy="219456"/>
          </a:xfrm>
          <a:prstGeom prst="rect">
            <a:avLst/>
          </a:prstGeom>
          <a:noFill/>
        </p:spPr>
        <p:txBody>
          <a:bodyPr wrap="square" lIns="0" rIns="0" tIns="0" bIns="0" anchor="t">
            <a:spAutoFit/>
          </a:bodyPr>
          <a:lstStyle/>
          <a:p>
            <a:pPr algn="r">
              <a:lnSpc>
                <a:spcPct val="128000"/>
              </a:lnSpc>
            </a:pPr>
            <a:r>
              <a:rPr sz="800" b="1" i="0" spc="150">
                <a:solidFill>
                  <a:srgbClr val="6E7180"/>
                </a:solidFill>
                <a:latin typeface="Montserrat"/>
              </a:rPr>
              <a:t>SECTION 5 OF 5   ·   WHERE YOU COME IN</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05 · WHERE YOU COME IN</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How we'll work together — </a:t>
            </a:r>
            <a:r>
              <a:rPr sz="2250" b="1" i="0">
                <a:solidFill>
                  <a:srgbClr val="4A35FF"/>
                </a:solidFill>
                <a:latin typeface="Montserrat"/>
              </a:rPr>
              <a:t>the live pilot never breaks</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Build the new system on a separate project and database; cut over only when it's green. The Jaipur pilot keeps running on the current build for the next couple of months.</a:t>
            </a:r>
          </a:p>
        </p:txBody>
      </p:sp>
      <p:sp>
        <p:nvSpPr>
          <p:cNvPr id="8" name="Oval 7"/>
          <p:cNvSpPr/>
          <p:nvPr/>
        </p:nvSpPr>
        <p:spPr>
          <a:xfrm>
            <a:off x="566928" y="2194560"/>
            <a:ext cx="420624" cy="420624"/>
          </a:xfrm>
          <a:prstGeom prst="ellipse">
            <a:avLst/>
          </a:prstGeom>
          <a:solidFill>
            <a:srgbClr val="EFEDFF"/>
          </a:solidFill>
          <a:ln>
            <a:noFill/>
          </a:ln>
          <a:effectLst/>
        </p:spPr>
        <p:txBody>
          <a:bodyPr rtlCol="0" anchor="ctr"/>
          <a:lstStyle/>
          <a:p>
            <a:pPr algn="ctr"/>
          </a:p>
        </p:txBody>
      </p:sp>
      <p:pic>
        <p:nvPicPr>
          <p:cNvPr id="9" name="Picture 8" descr="split_4A35FF_256_2.0.png"/>
          <p:cNvPicPr>
            <a:picLocks noChangeAspect="1"/>
          </p:cNvPicPr>
          <p:nvPr/>
        </p:nvPicPr>
        <p:blipFill>
          <a:blip r:embed="rId2"/>
          <a:stretch>
            <a:fillRect/>
          </a:stretch>
        </p:blipFill>
        <p:spPr>
          <a:xfrm>
            <a:off x="667877" y="2295509"/>
            <a:ext cx="218724" cy="218724"/>
          </a:xfrm>
          <a:prstGeom prst="rect">
            <a:avLst/>
          </a:prstGeom>
        </p:spPr>
      </p:pic>
      <p:sp>
        <p:nvSpPr>
          <p:cNvPr id="10" name="TextBox 9"/>
          <p:cNvSpPr txBox="1"/>
          <p:nvPr/>
        </p:nvSpPr>
        <p:spPr>
          <a:xfrm>
            <a:off x="1152144" y="2176272"/>
            <a:ext cx="2377440" cy="457200"/>
          </a:xfrm>
          <a:prstGeom prst="rect">
            <a:avLst/>
          </a:prstGeom>
          <a:noFill/>
        </p:spPr>
        <p:txBody>
          <a:bodyPr wrap="square" lIns="0" rIns="0" tIns="0" bIns="0" anchor="t">
            <a:spAutoFit/>
          </a:bodyPr>
          <a:lstStyle/>
          <a:p>
            <a:pPr algn="l">
              <a:lnSpc>
                <a:spcPct val="105000"/>
              </a:lnSpc>
            </a:pPr>
            <a:r>
              <a:rPr sz="1250" b="1" i="0">
                <a:solidFill>
                  <a:srgbClr val="16181D"/>
                </a:solidFill>
                <a:latin typeface="Montserrat"/>
              </a:rPr>
              <a:t>Build on a separate project / DB</a:t>
            </a:r>
          </a:p>
        </p:txBody>
      </p:sp>
      <p:sp>
        <p:nvSpPr>
          <p:cNvPr id="11" name="TextBox 10"/>
          <p:cNvSpPr txBox="1"/>
          <p:nvPr/>
        </p:nvSpPr>
        <p:spPr>
          <a:xfrm>
            <a:off x="3621024" y="2176272"/>
            <a:ext cx="7854696" cy="685800"/>
          </a:xfrm>
          <a:prstGeom prst="rect">
            <a:avLst/>
          </a:prstGeom>
          <a:noFill/>
        </p:spPr>
        <p:txBody>
          <a:bodyPr wrap="square" lIns="0" rIns="0" tIns="0" bIns="0" anchor="t">
            <a:spAutoFit/>
          </a:bodyPr>
          <a:lstStyle/>
          <a:p>
            <a:pPr algn="l">
              <a:lnSpc>
                <a:spcPct val="122000"/>
              </a:lnSpc>
            </a:pPr>
            <a:r>
              <a:rPr sz="1050" b="0" i="0">
                <a:solidFill>
                  <a:srgbClr val="6E7180"/>
                </a:solidFill>
                <a:latin typeface="Geist"/>
              </a:rPr>
              <a:t>A throwaway Supabase + separate Vercel project — never the production database. Public demo + real PII is unacceptable.</a:t>
            </a:r>
          </a:p>
        </p:txBody>
      </p:sp>
      <p:sp>
        <p:nvSpPr>
          <p:cNvPr id="12" name="Oval 11"/>
          <p:cNvSpPr/>
          <p:nvPr/>
        </p:nvSpPr>
        <p:spPr>
          <a:xfrm>
            <a:off x="566928" y="3017520"/>
            <a:ext cx="420624" cy="420624"/>
          </a:xfrm>
          <a:prstGeom prst="ellipse">
            <a:avLst/>
          </a:prstGeom>
          <a:solidFill>
            <a:srgbClr val="E9F7F0"/>
          </a:solidFill>
          <a:ln>
            <a:noFill/>
          </a:ln>
          <a:effectLst/>
        </p:spPr>
        <p:txBody>
          <a:bodyPr rtlCol="0" anchor="ctr"/>
          <a:lstStyle/>
          <a:p>
            <a:pPr algn="ctr"/>
          </a:p>
        </p:txBody>
      </p:sp>
      <p:pic>
        <p:nvPicPr>
          <p:cNvPr id="13" name="Picture 12" descr="user-round-cog_0A9955_256_2.0.png"/>
          <p:cNvPicPr>
            <a:picLocks noChangeAspect="1"/>
          </p:cNvPicPr>
          <p:nvPr/>
        </p:nvPicPr>
        <p:blipFill>
          <a:blip r:embed="rId3"/>
          <a:stretch>
            <a:fillRect/>
          </a:stretch>
        </p:blipFill>
        <p:spPr>
          <a:xfrm>
            <a:off x="667877" y="3118469"/>
            <a:ext cx="218724" cy="218724"/>
          </a:xfrm>
          <a:prstGeom prst="rect">
            <a:avLst/>
          </a:prstGeom>
        </p:spPr>
      </p:pic>
      <p:sp>
        <p:nvSpPr>
          <p:cNvPr id="14" name="TextBox 13"/>
          <p:cNvSpPr txBox="1"/>
          <p:nvPr/>
        </p:nvSpPr>
        <p:spPr>
          <a:xfrm>
            <a:off x="1152144" y="2999232"/>
            <a:ext cx="2377440" cy="457200"/>
          </a:xfrm>
          <a:prstGeom prst="rect">
            <a:avLst/>
          </a:prstGeom>
          <a:noFill/>
        </p:spPr>
        <p:txBody>
          <a:bodyPr wrap="square" lIns="0" rIns="0" tIns="0" bIns="0" anchor="t">
            <a:spAutoFit/>
          </a:bodyPr>
          <a:lstStyle/>
          <a:p>
            <a:pPr algn="l">
              <a:lnSpc>
                <a:spcPct val="105000"/>
              </a:lnSpc>
            </a:pPr>
            <a:r>
              <a:rPr sz="1250" b="1" i="0">
                <a:solidFill>
                  <a:srgbClr val="16181D"/>
                </a:solidFill>
                <a:latin typeface="Montserrat"/>
              </a:rPr>
              <a:t>A /demo role-switcher for reviews</a:t>
            </a:r>
          </a:p>
        </p:txBody>
      </p:sp>
      <p:sp>
        <p:nvSpPr>
          <p:cNvPr id="15" name="TextBox 14"/>
          <p:cNvSpPr txBox="1"/>
          <p:nvPr/>
        </p:nvSpPr>
        <p:spPr>
          <a:xfrm>
            <a:off x="3621024" y="2999232"/>
            <a:ext cx="7854696" cy="685800"/>
          </a:xfrm>
          <a:prstGeom prst="rect">
            <a:avLst/>
          </a:prstGeom>
          <a:noFill/>
        </p:spPr>
        <p:txBody>
          <a:bodyPr wrap="square" lIns="0" rIns="0" tIns="0" bIns="0" anchor="t">
            <a:spAutoFit/>
          </a:bodyPr>
          <a:lstStyle/>
          <a:p>
            <a:pPr algn="l">
              <a:lnSpc>
                <a:spcPct val="122000"/>
              </a:lnSpc>
            </a:pPr>
            <a:r>
              <a:rPr sz="1050" b="0" i="0">
                <a:solidFill>
                  <a:srgbClr val="6E7180"/>
                </a:solidFill>
                <a:latin typeface="Geist"/>
              </a:rPr>
              <a:t>Signs in as each role via a server-side known password so RLS still fully applies — no auth bypass — with all real sends hard-disabled.</a:t>
            </a:r>
          </a:p>
        </p:txBody>
      </p:sp>
      <p:sp>
        <p:nvSpPr>
          <p:cNvPr id="16" name="Oval 15"/>
          <p:cNvSpPr/>
          <p:nvPr/>
        </p:nvSpPr>
        <p:spPr>
          <a:xfrm>
            <a:off x="566928" y="3840480"/>
            <a:ext cx="420624" cy="420624"/>
          </a:xfrm>
          <a:prstGeom prst="ellipse">
            <a:avLst/>
          </a:prstGeom>
          <a:solidFill>
            <a:srgbClr val="E7F4F4"/>
          </a:solidFill>
          <a:ln>
            <a:noFill/>
          </a:ln>
          <a:effectLst/>
        </p:spPr>
        <p:txBody>
          <a:bodyPr rtlCol="0" anchor="ctr"/>
          <a:lstStyle/>
          <a:p>
            <a:pPr algn="ctr"/>
          </a:p>
        </p:txBody>
      </p:sp>
      <p:pic>
        <p:nvPicPr>
          <p:cNvPr id="17" name="Picture 16" descr="git-pull-request_0E8A8A_256_2.0.png"/>
          <p:cNvPicPr>
            <a:picLocks noChangeAspect="1"/>
          </p:cNvPicPr>
          <p:nvPr/>
        </p:nvPicPr>
        <p:blipFill>
          <a:blip r:embed="rId4"/>
          <a:stretch>
            <a:fillRect/>
          </a:stretch>
        </p:blipFill>
        <p:spPr>
          <a:xfrm>
            <a:off x="667877" y="3941429"/>
            <a:ext cx="218724" cy="218724"/>
          </a:xfrm>
          <a:prstGeom prst="rect">
            <a:avLst/>
          </a:prstGeom>
        </p:spPr>
      </p:pic>
      <p:sp>
        <p:nvSpPr>
          <p:cNvPr id="18" name="TextBox 17"/>
          <p:cNvSpPr txBox="1"/>
          <p:nvPr/>
        </p:nvSpPr>
        <p:spPr>
          <a:xfrm>
            <a:off x="1152144" y="3822192"/>
            <a:ext cx="2377440" cy="457200"/>
          </a:xfrm>
          <a:prstGeom prst="rect">
            <a:avLst/>
          </a:prstGeom>
          <a:noFill/>
        </p:spPr>
        <p:txBody>
          <a:bodyPr wrap="square" lIns="0" rIns="0" tIns="0" bIns="0" anchor="t">
            <a:spAutoFit/>
          </a:bodyPr>
          <a:lstStyle/>
          <a:p>
            <a:pPr algn="l">
              <a:lnSpc>
                <a:spcPct val="105000"/>
              </a:lnSpc>
            </a:pPr>
            <a:r>
              <a:rPr sz="1250" b="1" i="0">
                <a:solidFill>
                  <a:srgbClr val="16181D"/>
                </a:solidFill>
                <a:latin typeface="Montserrat"/>
              </a:rPr>
              <a:t>Clean module split, continuous integration</a:t>
            </a:r>
          </a:p>
        </p:txBody>
      </p:sp>
      <p:sp>
        <p:nvSpPr>
          <p:cNvPr id="19" name="TextBox 18"/>
          <p:cNvSpPr txBox="1"/>
          <p:nvPr/>
        </p:nvSpPr>
        <p:spPr>
          <a:xfrm>
            <a:off x="3621024" y="3822192"/>
            <a:ext cx="7854696" cy="685800"/>
          </a:xfrm>
          <a:prstGeom prst="rect">
            <a:avLst/>
          </a:prstGeom>
          <a:noFill/>
        </p:spPr>
        <p:txBody>
          <a:bodyPr wrap="square" lIns="0" rIns="0" tIns="0" bIns="0" anchor="t">
            <a:spAutoFit/>
          </a:bodyPr>
          <a:lstStyle/>
          <a:p>
            <a:pPr algn="l">
              <a:lnSpc>
                <a:spcPct val="122000"/>
              </a:lnSpc>
            </a:pPr>
            <a:r>
              <a:rPr sz="1050" b="0" i="0">
                <a:solidFill>
                  <a:srgbClr val="6E7180"/>
                </a:solidFill>
                <a:latin typeface="Geist"/>
              </a:rPr>
              <a:t>Each module ships and verifies on its own. No big-bang merge at the end — the timeline is two weeks and tight.</a:t>
            </a:r>
          </a:p>
        </p:txBody>
      </p:sp>
      <p:sp>
        <p:nvSpPr>
          <p:cNvPr id="20" name="Oval 19"/>
          <p:cNvSpPr/>
          <p:nvPr/>
        </p:nvSpPr>
        <p:spPr>
          <a:xfrm>
            <a:off x="566928" y="4663440"/>
            <a:ext cx="420624" cy="420624"/>
          </a:xfrm>
          <a:prstGeom prst="ellipse">
            <a:avLst/>
          </a:prstGeom>
          <a:solidFill>
            <a:srgbClr val="FDF3E3"/>
          </a:solidFill>
          <a:ln>
            <a:noFill/>
          </a:ln>
          <a:effectLst/>
        </p:spPr>
        <p:txBody>
          <a:bodyPr rtlCol="0" anchor="ctr"/>
          <a:lstStyle/>
          <a:p>
            <a:pPr algn="ctr"/>
          </a:p>
        </p:txBody>
      </p:sp>
      <p:pic>
        <p:nvPicPr>
          <p:cNvPr id="21" name="Picture 20" descr="shield_E58900_256_2.0.png"/>
          <p:cNvPicPr>
            <a:picLocks noChangeAspect="1"/>
          </p:cNvPicPr>
          <p:nvPr/>
        </p:nvPicPr>
        <p:blipFill>
          <a:blip r:embed="rId5"/>
          <a:stretch>
            <a:fillRect/>
          </a:stretch>
        </p:blipFill>
        <p:spPr>
          <a:xfrm>
            <a:off x="667877" y="4764389"/>
            <a:ext cx="218724" cy="218724"/>
          </a:xfrm>
          <a:prstGeom prst="rect">
            <a:avLst/>
          </a:prstGeom>
        </p:spPr>
      </p:pic>
      <p:sp>
        <p:nvSpPr>
          <p:cNvPr id="22" name="TextBox 21"/>
          <p:cNvSpPr txBox="1"/>
          <p:nvPr/>
        </p:nvSpPr>
        <p:spPr>
          <a:xfrm>
            <a:off x="1152144" y="4645152"/>
            <a:ext cx="2377440" cy="457200"/>
          </a:xfrm>
          <a:prstGeom prst="rect">
            <a:avLst/>
          </a:prstGeom>
          <a:noFill/>
        </p:spPr>
        <p:txBody>
          <a:bodyPr wrap="square" lIns="0" rIns="0" tIns="0" bIns="0" anchor="t">
            <a:spAutoFit/>
          </a:bodyPr>
          <a:lstStyle/>
          <a:p>
            <a:pPr algn="l">
              <a:lnSpc>
                <a:spcPct val="105000"/>
              </a:lnSpc>
            </a:pPr>
            <a:r>
              <a:rPr sz="1250" b="1" i="0">
                <a:solidFill>
                  <a:srgbClr val="16181D"/>
                </a:solidFill>
                <a:latin typeface="Montserrat"/>
              </a:rPr>
              <a:t>The pilot stays stable</a:t>
            </a:r>
          </a:p>
        </p:txBody>
      </p:sp>
      <p:sp>
        <p:nvSpPr>
          <p:cNvPr id="23" name="TextBox 22"/>
          <p:cNvSpPr txBox="1"/>
          <p:nvPr/>
        </p:nvSpPr>
        <p:spPr>
          <a:xfrm>
            <a:off x="3621024" y="4645152"/>
            <a:ext cx="7854696" cy="685800"/>
          </a:xfrm>
          <a:prstGeom prst="rect">
            <a:avLst/>
          </a:prstGeom>
          <a:noFill/>
        </p:spPr>
        <p:txBody>
          <a:bodyPr wrap="square" lIns="0" rIns="0" tIns="0" bIns="0" anchor="t">
            <a:spAutoFit/>
          </a:bodyPr>
          <a:lstStyle/>
          <a:p>
            <a:pPr algn="l">
              <a:lnSpc>
                <a:spcPct val="122000"/>
              </a:lnSpc>
            </a:pPr>
            <a:r>
              <a:rPr sz="1050" b="0" i="0">
                <a:solidFill>
                  <a:srgbClr val="6E7180"/>
                </a:solidFill>
                <a:latin typeface="Geist"/>
              </a:rPr>
              <a:t>The current build keeps serving 6 thanas + families on WhatsApp while we rebuild. Cut over only when the new system is proven green.</a:t>
            </a:r>
          </a:p>
        </p:txBody>
      </p:sp>
      <p:sp>
        <p:nvSpPr>
          <p:cNvPr id="24" name="Rounded Rectangle 23"/>
          <p:cNvSpPr/>
          <p:nvPr/>
        </p:nvSpPr>
        <p:spPr>
          <a:xfrm>
            <a:off x="566928" y="5577840"/>
            <a:ext cx="11057839" cy="603504"/>
          </a:xfrm>
          <a:prstGeom prst="roundRect">
            <a:avLst>
              <a:gd name="adj" fmla="val 14000"/>
            </a:avLst>
          </a:prstGeom>
          <a:solidFill>
            <a:srgbClr val="FDF3E3"/>
          </a:solidFill>
          <a:ln>
            <a:noFill/>
          </a:ln>
          <a:effectLst/>
        </p:spPr>
        <p:txBody>
          <a:bodyPr rtlCol="0" anchor="ctr"/>
          <a:lstStyle/>
          <a:p>
            <a:pPr algn="ctr"/>
          </a:p>
        </p:txBody>
      </p:sp>
      <p:sp>
        <p:nvSpPr>
          <p:cNvPr id="25" name="TextBox 24"/>
          <p:cNvSpPr txBox="1"/>
          <p:nvPr/>
        </p:nvSpPr>
        <p:spPr>
          <a:xfrm>
            <a:off x="795528" y="5687568"/>
            <a:ext cx="10600639" cy="411480"/>
          </a:xfrm>
          <a:prstGeom prst="rect">
            <a:avLst/>
          </a:prstGeom>
          <a:noFill/>
        </p:spPr>
        <p:txBody>
          <a:bodyPr wrap="square" lIns="0" rIns="0" tIns="0" bIns="0" anchor="t">
            <a:spAutoFit/>
          </a:bodyPr>
          <a:lstStyle/>
          <a:p>
            <a:pPr algn="l">
              <a:lnSpc>
                <a:spcPct val="120000"/>
              </a:lnSpc>
            </a:pPr>
            <a:r>
              <a:rPr sz="1050" b="1" i="0">
                <a:solidFill>
                  <a:srgbClr val="E58900"/>
                </a:solidFill>
                <a:latin typeface="Geist"/>
              </a:rPr>
              <a:t>Two weeks is aggressive. </a:t>
            </a:r>
            <a:r>
              <a:rPr sz="1050" b="0" i="0">
                <a:solidFill>
                  <a:srgbClr val="16181D"/>
                </a:solidFill>
                <a:latin typeface="Geist"/>
              </a:rPr>
              <a:t>The way we hit it is a clean split and CI from day one — not a heroic merge at the end. Flag scope risk early and often.</a:t>
            </a:r>
          </a:p>
        </p:txBody>
      </p:sp>
      <p:cxnSp>
        <p:nvCxnSpPr>
          <p:cNvPr id="26" name="Connector 25"/>
          <p:cNvCxnSpPr/>
          <p:nvPr/>
        </p:nvCxnSpPr>
        <p:spPr>
          <a:xfrm>
            <a:off x="566928" y="6455664"/>
            <a:ext cx="11057839" cy="0"/>
          </a:xfrm>
          <a:prstGeom prst="line">
            <a:avLst/>
          </a:prstGeom>
          <a:ln w="9525">
            <a:solidFill>
              <a:srgbClr val="E8E9EE"/>
            </a:solidFill>
          </a:ln>
          <a:effectLst/>
        </p:spPr>
      </p:cxnSp>
      <p:sp>
        <p:nvSpPr>
          <p:cNvPr id="27" name="TextBox 26"/>
          <p:cNvSpPr txBox="1"/>
          <p:nvPr/>
        </p:nvSpPr>
        <p:spPr>
          <a:xfrm>
            <a:off x="566928" y="6528816"/>
            <a:ext cx="86868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SAHAJ — Team Induction Brief   ·   Confidential</a:t>
            </a:r>
          </a:p>
        </p:txBody>
      </p:sp>
      <p:sp>
        <p:nvSpPr>
          <p:cNvPr id="28" name="TextBox 27"/>
          <p:cNvSpPr txBox="1"/>
          <p:nvPr/>
        </p:nvSpPr>
        <p:spPr>
          <a:xfrm>
            <a:off x="10344607" y="6528816"/>
            <a:ext cx="128016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20 / 22</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TextBox 2"/>
          <p:cNvSpPr txBox="1"/>
          <p:nvPr/>
        </p:nvSpPr>
        <p:spPr>
          <a:xfrm>
            <a:off x="7692847" y="274320"/>
            <a:ext cx="3931920" cy="219456"/>
          </a:xfrm>
          <a:prstGeom prst="rect">
            <a:avLst/>
          </a:prstGeom>
          <a:noFill/>
        </p:spPr>
        <p:txBody>
          <a:bodyPr wrap="square" lIns="0" rIns="0" tIns="0" bIns="0" anchor="t">
            <a:spAutoFit/>
          </a:bodyPr>
          <a:lstStyle/>
          <a:p>
            <a:pPr algn="r">
              <a:lnSpc>
                <a:spcPct val="128000"/>
              </a:lnSpc>
            </a:pPr>
            <a:r>
              <a:rPr sz="800" b="1" i="0" spc="150">
                <a:solidFill>
                  <a:srgbClr val="6E7180"/>
                </a:solidFill>
                <a:latin typeface="Montserrat"/>
              </a:rPr>
              <a:t>SECTION 5 OF 5   ·   WHERE YOU COME IN</a:t>
            </a:r>
          </a:p>
        </p:txBody>
      </p:sp>
      <p:sp>
        <p:nvSpPr>
          <p:cNvPr id="4" name="TextBox 3"/>
          <p:cNvSpPr txBox="1"/>
          <p:nvPr/>
        </p:nvSpPr>
        <p:spPr>
          <a:xfrm>
            <a:off x="566928" y="274320"/>
            <a:ext cx="7315200" cy="219456"/>
          </a:xfrm>
          <a:prstGeom prst="rect">
            <a:avLst/>
          </a:prstGeom>
          <a:noFill/>
        </p:spPr>
        <p:txBody>
          <a:bodyPr wrap="square" lIns="0" rIns="0" tIns="0" bIns="0" anchor="t">
            <a:spAutoFit/>
          </a:bodyPr>
          <a:lstStyle/>
          <a:p>
            <a:pPr algn="l">
              <a:lnSpc>
                <a:spcPct val="128000"/>
              </a:lnSpc>
            </a:pPr>
            <a:r>
              <a:rPr sz="900" b="1" i="0" spc="220">
                <a:solidFill>
                  <a:srgbClr val="4A35FF"/>
                </a:solidFill>
                <a:latin typeface="Montserrat"/>
              </a:rPr>
              <a:t>05 · WHERE YOU COME IN</a:t>
            </a:r>
          </a:p>
        </p:txBody>
      </p:sp>
      <p:cxnSp>
        <p:nvCxnSpPr>
          <p:cNvPr id="5" name="Connector 4"/>
          <p:cNvCxnSpPr/>
          <p:nvPr/>
        </p:nvCxnSpPr>
        <p:spPr>
          <a:xfrm>
            <a:off x="566928" y="566928"/>
            <a:ext cx="502920" cy="0"/>
          </a:xfrm>
          <a:prstGeom prst="line">
            <a:avLst/>
          </a:prstGeom>
          <a:ln w="25400">
            <a:solidFill>
              <a:srgbClr val="4A35FF"/>
            </a:solidFill>
          </a:ln>
          <a:effectLst/>
        </p:spPr>
      </p:cxnSp>
      <p:sp>
        <p:nvSpPr>
          <p:cNvPr id="6" name="TextBox 5"/>
          <p:cNvSpPr txBox="1"/>
          <p:nvPr/>
        </p:nvSpPr>
        <p:spPr>
          <a:xfrm>
            <a:off x="566928" y="694944"/>
            <a:ext cx="11064240" cy="868680"/>
          </a:xfrm>
          <a:prstGeom prst="rect">
            <a:avLst/>
          </a:prstGeom>
          <a:noFill/>
        </p:spPr>
        <p:txBody>
          <a:bodyPr wrap="square" lIns="0" rIns="0" tIns="0" bIns="0" anchor="t">
            <a:spAutoFit/>
          </a:bodyPr>
          <a:lstStyle/>
          <a:p>
            <a:pPr algn="l">
              <a:lnSpc>
                <a:spcPct val="112000"/>
              </a:lnSpc>
            </a:pPr>
            <a:r>
              <a:rPr sz="2250" b="1" i="0">
                <a:solidFill>
                  <a:srgbClr val="16181D"/>
                </a:solidFill>
                <a:latin typeface="Montserrat"/>
              </a:rPr>
              <a:t>Your first week — </a:t>
            </a:r>
            <a:r>
              <a:rPr sz="2250" b="1" i="0">
                <a:solidFill>
                  <a:srgbClr val="4A35FF"/>
                </a:solidFill>
                <a:latin typeface="Montserrat"/>
              </a:rPr>
              <a:t>come back with a plan, not a rewrite</a:t>
            </a:r>
          </a:p>
        </p:txBody>
      </p:sp>
      <p:sp>
        <p:nvSpPr>
          <p:cNvPr id="7" name="TextBox 6"/>
          <p:cNvSpPr txBox="1"/>
          <p:nvPr/>
        </p:nvSpPr>
        <p:spPr>
          <a:xfrm>
            <a:off x="566928" y="1481328"/>
            <a:ext cx="10881360" cy="365760"/>
          </a:xfrm>
          <a:prstGeom prst="rect">
            <a:avLst/>
          </a:prstGeom>
          <a:noFill/>
        </p:spPr>
        <p:txBody>
          <a:bodyPr wrap="square" lIns="0" rIns="0" tIns="0" bIns="0" anchor="t">
            <a:spAutoFit/>
          </a:bodyPr>
          <a:lstStyle/>
          <a:p>
            <a:pPr algn="l">
              <a:lnSpc>
                <a:spcPct val="130000"/>
              </a:lnSpc>
            </a:pPr>
            <a:r>
              <a:rPr sz="1150" b="0" i="0">
                <a:solidFill>
                  <a:srgbClr val="6E7180"/>
                </a:solidFill>
                <a:latin typeface="Geist"/>
              </a:rPr>
              <a:t>A concrete on-ramp. The goal by the end of week one is a shared understanding and a proposed approach we align on.</a:t>
            </a:r>
          </a:p>
        </p:txBody>
      </p:sp>
      <p:sp>
        <p:nvSpPr>
          <p:cNvPr id="8" name="Oval 7"/>
          <p:cNvSpPr/>
          <p:nvPr/>
        </p:nvSpPr>
        <p:spPr>
          <a:xfrm>
            <a:off x="566928" y="2148840"/>
            <a:ext cx="420624" cy="420624"/>
          </a:xfrm>
          <a:prstGeom prst="ellipse">
            <a:avLst/>
          </a:prstGeom>
          <a:solidFill>
            <a:srgbClr val="EFEDFF"/>
          </a:solidFill>
          <a:ln>
            <a:noFill/>
          </a:ln>
          <a:effectLst/>
        </p:spPr>
        <p:txBody>
          <a:bodyPr rtlCol="0" anchor="ctr"/>
          <a:lstStyle/>
          <a:p>
            <a:pPr algn="ctr"/>
          </a:p>
        </p:txBody>
      </p:sp>
      <p:sp>
        <p:nvSpPr>
          <p:cNvPr id="9" name="TextBox 8"/>
          <p:cNvSpPr txBox="1"/>
          <p:nvPr/>
        </p:nvSpPr>
        <p:spPr>
          <a:xfrm>
            <a:off x="566928" y="2137868"/>
            <a:ext cx="420624" cy="420624"/>
          </a:xfrm>
          <a:prstGeom prst="rect">
            <a:avLst/>
          </a:prstGeom>
          <a:noFill/>
        </p:spPr>
        <p:txBody>
          <a:bodyPr wrap="square" lIns="0" rIns="0" tIns="0" bIns="0" anchor="ctr">
            <a:spAutoFit/>
          </a:bodyPr>
          <a:lstStyle/>
          <a:p>
            <a:pPr algn="ctr">
              <a:lnSpc>
                <a:spcPct val="100000"/>
              </a:lnSpc>
            </a:pPr>
            <a:r>
              <a:rPr sz="1300" b="1" i="0">
                <a:solidFill>
                  <a:srgbClr val="4A35FF"/>
                </a:solidFill>
                <a:latin typeface="Montserrat"/>
              </a:rPr>
              <a:t>1</a:t>
            </a:r>
          </a:p>
        </p:txBody>
      </p:sp>
      <p:sp>
        <p:nvSpPr>
          <p:cNvPr id="10" name="Oval 9"/>
          <p:cNvSpPr/>
          <p:nvPr/>
        </p:nvSpPr>
        <p:spPr>
          <a:xfrm>
            <a:off x="1170432" y="2167128"/>
            <a:ext cx="384048" cy="384048"/>
          </a:xfrm>
          <a:prstGeom prst="ellipse">
            <a:avLst/>
          </a:prstGeom>
          <a:solidFill>
            <a:srgbClr val="EFEDFF"/>
          </a:solidFill>
          <a:ln>
            <a:noFill/>
          </a:ln>
          <a:effectLst/>
        </p:spPr>
        <p:txBody>
          <a:bodyPr rtlCol="0" anchor="ctr"/>
          <a:lstStyle/>
          <a:p>
            <a:pPr algn="ctr"/>
          </a:p>
        </p:txBody>
      </p:sp>
      <p:pic>
        <p:nvPicPr>
          <p:cNvPr id="11" name="Picture 10" descr="play_4A35FF_256_2.0.png"/>
          <p:cNvPicPr>
            <a:picLocks noChangeAspect="1"/>
          </p:cNvPicPr>
          <p:nvPr/>
        </p:nvPicPr>
        <p:blipFill>
          <a:blip r:embed="rId2"/>
          <a:stretch>
            <a:fillRect/>
          </a:stretch>
        </p:blipFill>
        <p:spPr>
          <a:xfrm>
            <a:off x="1262603" y="2259299"/>
            <a:ext cx="199704" cy="199704"/>
          </a:xfrm>
          <a:prstGeom prst="rect">
            <a:avLst/>
          </a:prstGeom>
        </p:spPr>
      </p:pic>
      <p:sp>
        <p:nvSpPr>
          <p:cNvPr id="12" name="TextBox 11"/>
          <p:cNvSpPr txBox="1"/>
          <p:nvPr/>
        </p:nvSpPr>
        <p:spPr>
          <a:xfrm>
            <a:off x="1755648" y="2130552"/>
            <a:ext cx="4023360" cy="365760"/>
          </a:xfrm>
          <a:prstGeom prst="rect">
            <a:avLst/>
          </a:prstGeom>
          <a:noFill/>
        </p:spPr>
        <p:txBody>
          <a:bodyPr wrap="square" lIns="0" rIns="0" tIns="0" bIns="0" anchor="ctr">
            <a:spAutoFit/>
          </a:bodyPr>
          <a:lstStyle/>
          <a:p>
            <a:pPr algn="l">
              <a:lnSpc>
                <a:spcPct val="128000"/>
              </a:lnSpc>
            </a:pPr>
            <a:r>
              <a:rPr sz="1250" b="1" i="0">
                <a:solidFill>
                  <a:srgbClr val="16181D"/>
                </a:solidFill>
                <a:latin typeface="Montserrat"/>
              </a:rPr>
              <a:t>Get oriented</a:t>
            </a:r>
          </a:p>
        </p:txBody>
      </p:sp>
      <p:sp>
        <p:nvSpPr>
          <p:cNvPr id="13" name="TextBox 12"/>
          <p:cNvSpPr txBox="1"/>
          <p:nvPr/>
        </p:nvSpPr>
        <p:spPr>
          <a:xfrm>
            <a:off x="5138928" y="2130552"/>
            <a:ext cx="6492240" cy="548640"/>
          </a:xfrm>
          <a:prstGeom prst="rect">
            <a:avLst/>
          </a:prstGeom>
          <a:noFill/>
        </p:spPr>
        <p:txBody>
          <a:bodyPr wrap="square" lIns="0" rIns="0" tIns="0" bIns="0" anchor="ctr">
            <a:spAutoFit/>
          </a:bodyPr>
          <a:lstStyle/>
          <a:p>
            <a:pPr algn="l">
              <a:lnSpc>
                <a:spcPct val="118000"/>
              </a:lnSpc>
            </a:pPr>
            <a:r>
              <a:rPr sz="1050" b="0" i="0">
                <a:solidFill>
                  <a:srgbClr val="6E7180"/>
                </a:solidFill>
                <a:latin typeface="Geist"/>
              </a:rPr>
              <a:t>Walk the live demo; read the repo's README, then the security audit and the squad PRD.</a:t>
            </a:r>
          </a:p>
        </p:txBody>
      </p:sp>
      <p:sp>
        <p:nvSpPr>
          <p:cNvPr id="14" name="Oval 13"/>
          <p:cNvSpPr/>
          <p:nvPr/>
        </p:nvSpPr>
        <p:spPr>
          <a:xfrm>
            <a:off x="566928" y="2807208"/>
            <a:ext cx="420624" cy="420624"/>
          </a:xfrm>
          <a:prstGeom prst="ellipse">
            <a:avLst/>
          </a:prstGeom>
          <a:solidFill>
            <a:srgbClr val="EFEDFF"/>
          </a:solidFill>
          <a:ln>
            <a:noFill/>
          </a:ln>
          <a:effectLst/>
        </p:spPr>
        <p:txBody>
          <a:bodyPr rtlCol="0" anchor="ctr"/>
          <a:lstStyle/>
          <a:p>
            <a:pPr algn="ctr"/>
          </a:p>
        </p:txBody>
      </p:sp>
      <p:sp>
        <p:nvSpPr>
          <p:cNvPr id="15" name="TextBox 14"/>
          <p:cNvSpPr txBox="1"/>
          <p:nvPr/>
        </p:nvSpPr>
        <p:spPr>
          <a:xfrm>
            <a:off x="566928" y="2796236"/>
            <a:ext cx="420624" cy="420624"/>
          </a:xfrm>
          <a:prstGeom prst="rect">
            <a:avLst/>
          </a:prstGeom>
          <a:noFill/>
        </p:spPr>
        <p:txBody>
          <a:bodyPr wrap="square" lIns="0" rIns="0" tIns="0" bIns="0" anchor="ctr">
            <a:spAutoFit/>
          </a:bodyPr>
          <a:lstStyle/>
          <a:p>
            <a:pPr algn="ctr">
              <a:lnSpc>
                <a:spcPct val="100000"/>
              </a:lnSpc>
            </a:pPr>
            <a:r>
              <a:rPr sz="1300" b="1" i="0">
                <a:solidFill>
                  <a:srgbClr val="4A35FF"/>
                </a:solidFill>
                <a:latin typeface="Montserrat"/>
              </a:rPr>
              <a:t>2</a:t>
            </a:r>
          </a:p>
        </p:txBody>
      </p:sp>
      <p:sp>
        <p:nvSpPr>
          <p:cNvPr id="16" name="Oval 15"/>
          <p:cNvSpPr/>
          <p:nvPr/>
        </p:nvSpPr>
        <p:spPr>
          <a:xfrm>
            <a:off x="1170432" y="2825496"/>
            <a:ext cx="384048" cy="384048"/>
          </a:xfrm>
          <a:prstGeom prst="ellipse">
            <a:avLst/>
          </a:prstGeom>
          <a:solidFill>
            <a:srgbClr val="EFEDFF"/>
          </a:solidFill>
          <a:ln>
            <a:noFill/>
          </a:ln>
          <a:effectLst/>
        </p:spPr>
        <p:txBody>
          <a:bodyPr rtlCol="0" anchor="ctr"/>
          <a:lstStyle/>
          <a:p>
            <a:pPr algn="ctr"/>
          </a:p>
        </p:txBody>
      </p:sp>
      <p:pic>
        <p:nvPicPr>
          <p:cNvPr id="17" name="Picture 16" descr="terminal_4A35FF_256_2.0.png"/>
          <p:cNvPicPr>
            <a:picLocks noChangeAspect="1"/>
          </p:cNvPicPr>
          <p:nvPr/>
        </p:nvPicPr>
        <p:blipFill>
          <a:blip r:embed="rId3"/>
          <a:stretch>
            <a:fillRect/>
          </a:stretch>
        </p:blipFill>
        <p:spPr>
          <a:xfrm>
            <a:off x="1262603" y="2917667"/>
            <a:ext cx="199704" cy="199704"/>
          </a:xfrm>
          <a:prstGeom prst="rect">
            <a:avLst/>
          </a:prstGeom>
        </p:spPr>
      </p:pic>
      <p:sp>
        <p:nvSpPr>
          <p:cNvPr id="18" name="TextBox 17"/>
          <p:cNvSpPr txBox="1"/>
          <p:nvPr/>
        </p:nvSpPr>
        <p:spPr>
          <a:xfrm>
            <a:off x="1755648" y="2788920"/>
            <a:ext cx="4023360" cy="365760"/>
          </a:xfrm>
          <a:prstGeom prst="rect">
            <a:avLst/>
          </a:prstGeom>
          <a:noFill/>
        </p:spPr>
        <p:txBody>
          <a:bodyPr wrap="square" lIns="0" rIns="0" tIns="0" bIns="0" anchor="ctr">
            <a:spAutoFit/>
          </a:bodyPr>
          <a:lstStyle/>
          <a:p>
            <a:pPr algn="l">
              <a:lnSpc>
                <a:spcPct val="128000"/>
              </a:lnSpc>
            </a:pPr>
            <a:r>
              <a:rPr sz="1250" b="1" i="0">
                <a:solidFill>
                  <a:srgbClr val="16181D"/>
                </a:solidFill>
                <a:latin typeface="Montserrat"/>
              </a:rPr>
              <a:t>Run it locally</a:t>
            </a:r>
          </a:p>
        </p:txBody>
      </p:sp>
      <p:sp>
        <p:nvSpPr>
          <p:cNvPr id="19" name="TextBox 18"/>
          <p:cNvSpPr txBox="1"/>
          <p:nvPr/>
        </p:nvSpPr>
        <p:spPr>
          <a:xfrm>
            <a:off x="5138928" y="2788920"/>
            <a:ext cx="6492240" cy="548640"/>
          </a:xfrm>
          <a:prstGeom prst="rect">
            <a:avLst/>
          </a:prstGeom>
          <a:noFill/>
        </p:spPr>
        <p:txBody>
          <a:bodyPr wrap="square" lIns="0" rIns="0" tIns="0" bIns="0" anchor="ctr">
            <a:spAutoFit/>
          </a:bodyPr>
          <a:lstStyle/>
          <a:p>
            <a:pPr algn="l">
              <a:lnSpc>
                <a:spcPct val="118000"/>
              </a:lnSpc>
            </a:pPr>
            <a:r>
              <a:rPr sz="1050" b="0" i="0">
                <a:solidFill>
                  <a:srgbClr val="6E7180"/>
                </a:solidFill>
                <a:latin typeface="Geist"/>
              </a:rPr>
              <a:t>Stand it up and walk one case end to end — register, upload, verify, sanction, pay.</a:t>
            </a:r>
          </a:p>
        </p:txBody>
      </p:sp>
      <p:sp>
        <p:nvSpPr>
          <p:cNvPr id="20" name="Oval 19"/>
          <p:cNvSpPr/>
          <p:nvPr/>
        </p:nvSpPr>
        <p:spPr>
          <a:xfrm>
            <a:off x="566928" y="3465576"/>
            <a:ext cx="420624" cy="420624"/>
          </a:xfrm>
          <a:prstGeom prst="ellipse">
            <a:avLst/>
          </a:prstGeom>
          <a:solidFill>
            <a:srgbClr val="EFEDFF"/>
          </a:solidFill>
          <a:ln>
            <a:noFill/>
          </a:ln>
          <a:effectLst/>
        </p:spPr>
        <p:txBody>
          <a:bodyPr rtlCol="0" anchor="ctr"/>
          <a:lstStyle/>
          <a:p>
            <a:pPr algn="ctr"/>
          </a:p>
        </p:txBody>
      </p:sp>
      <p:sp>
        <p:nvSpPr>
          <p:cNvPr id="21" name="TextBox 20"/>
          <p:cNvSpPr txBox="1"/>
          <p:nvPr/>
        </p:nvSpPr>
        <p:spPr>
          <a:xfrm>
            <a:off x="566928" y="3454604"/>
            <a:ext cx="420624" cy="420624"/>
          </a:xfrm>
          <a:prstGeom prst="rect">
            <a:avLst/>
          </a:prstGeom>
          <a:noFill/>
        </p:spPr>
        <p:txBody>
          <a:bodyPr wrap="square" lIns="0" rIns="0" tIns="0" bIns="0" anchor="ctr">
            <a:spAutoFit/>
          </a:bodyPr>
          <a:lstStyle/>
          <a:p>
            <a:pPr algn="ctr">
              <a:lnSpc>
                <a:spcPct val="100000"/>
              </a:lnSpc>
            </a:pPr>
            <a:r>
              <a:rPr sz="1300" b="1" i="0">
                <a:solidFill>
                  <a:srgbClr val="4A35FF"/>
                </a:solidFill>
                <a:latin typeface="Montserrat"/>
              </a:rPr>
              <a:t>3</a:t>
            </a:r>
          </a:p>
        </p:txBody>
      </p:sp>
      <p:sp>
        <p:nvSpPr>
          <p:cNvPr id="22" name="Oval 21"/>
          <p:cNvSpPr/>
          <p:nvPr/>
        </p:nvSpPr>
        <p:spPr>
          <a:xfrm>
            <a:off x="1170432" y="3483864"/>
            <a:ext cx="384048" cy="384048"/>
          </a:xfrm>
          <a:prstGeom prst="ellipse">
            <a:avLst/>
          </a:prstGeom>
          <a:solidFill>
            <a:srgbClr val="EFEDFF"/>
          </a:solidFill>
          <a:ln>
            <a:noFill/>
          </a:ln>
          <a:effectLst/>
        </p:spPr>
        <p:txBody>
          <a:bodyPr rtlCol="0" anchor="ctr"/>
          <a:lstStyle/>
          <a:p>
            <a:pPr algn="ctr"/>
          </a:p>
        </p:txBody>
      </p:sp>
      <p:pic>
        <p:nvPicPr>
          <p:cNvPr id="23" name="Picture 22" descr="shield-alert_4A35FF_256_2.0.png"/>
          <p:cNvPicPr>
            <a:picLocks noChangeAspect="1"/>
          </p:cNvPicPr>
          <p:nvPr/>
        </p:nvPicPr>
        <p:blipFill>
          <a:blip r:embed="rId4"/>
          <a:stretch>
            <a:fillRect/>
          </a:stretch>
        </p:blipFill>
        <p:spPr>
          <a:xfrm>
            <a:off x="1262603" y="3576035"/>
            <a:ext cx="199704" cy="199704"/>
          </a:xfrm>
          <a:prstGeom prst="rect">
            <a:avLst/>
          </a:prstGeom>
        </p:spPr>
      </p:pic>
      <p:sp>
        <p:nvSpPr>
          <p:cNvPr id="24" name="TextBox 23"/>
          <p:cNvSpPr txBox="1"/>
          <p:nvPr/>
        </p:nvSpPr>
        <p:spPr>
          <a:xfrm>
            <a:off x="1755648" y="3447288"/>
            <a:ext cx="4023360" cy="365760"/>
          </a:xfrm>
          <a:prstGeom prst="rect">
            <a:avLst/>
          </a:prstGeom>
          <a:noFill/>
        </p:spPr>
        <p:txBody>
          <a:bodyPr wrap="square" lIns="0" rIns="0" tIns="0" bIns="0" anchor="ctr">
            <a:spAutoFit/>
          </a:bodyPr>
          <a:lstStyle/>
          <a:p>
            <a:pPr algn="l">
              <a:lnSpc>
                <a:spcPct val="128000"/>
              </a:lnSpc>
            </a:pPr>
            <a:r>
              <a:rPr sz="1250" b="1" i="0">
                <a:solidFill>
                  <a:srgbClr val="16181D"/>
                </a:solidFill>
                <a:latin typeface="Montserrat"/>
              </a:rPr>
              <a:t>Audit it</a:t>
            </a:r>
          </a:p>
        </p:txBody>
      </p:sp>
      <p:sp>
        <p:nvSpPr>
          <p:cNvPr id="25" name="TextBox 24"/>
          <p:cNvSpPr txBox="1"/>
          <p:nvPr/>
        </p:nvSpPr>
        <p:spPr>
          <a:xfrm>
            <a:off x="5138928" y="3447288"/>
            <a:ext cx="6492240" cy="548640"/>
          </a:xfrm>
          <a:prstGeom prst="rect">
            <a:avLst/>
          </a:prstGeom>
          <a:noFill/>
        </p:spPr>
        <p:txBody>
          <a:bodyPr wrap="square" lIns="0" rIns="0" tIns="0" bIns="0" anchor="ctr">
            <a:spAutoFit/>
          </a:bodyPr>
          <a:lstStyle/>
          <a:p>
            <a:pPr algn="l">
              <a:lnSpc>
                <a:spcPct val="118000"/>
              </a:lnSpc>
            </a:pPr>
            <a:r>
              <a:rPr sz="1050" b="0" i="0">
                <a:solidFill>
                  <a:srgbClr val="6E7180"/>
                </a:solidFill>
                <a:latin typeface="Geist"/>
              </a:rPr>
              <a:t>A full external security + scalability pass: pen-test, load assessment, multi-tenant review.</a:t>
            </a:r>
          </a:p>
        </p:txBody>
      </p:sp>
      <p:sp>
        <p:nvSpPr>
          <p:cNvPr id="26" name="Oval 25"/>
          <p:cNvSpPr/>
          <p:nvPr/>
        </p:nvSpPr>
        <p:spPr>
          <a:xfrm>
            <a:off x="566928" y="4123944"/>
            <a:ext cx="420624" cy="420624"/>
          </a:xfrm>
          <a:prstGeom prst="ellipse">
            <a:avLst/>
          </a:prstGeom>
          <a:solidFill>
            <a:srgbClr val="EFEDFF"/>
          </a:solidFill>
          <a:ln>
            <a:noFill/>
          </a:ln>
          <a:effectLst/>
        </p:spPr>
        <p:txBody>
          <a:bodyPr rtlCol="0" anchor="ctr"/>
          <a:lstStyle/>
          <a:p>
            <a:pPr algn="ctr"/>
          </a:p>
        </p:txBody>
      </p:sp>
      <p:sp>
        <p:nvSpPr>
          <p:cNvPr id="27" name="TextBox 26"/>
          <p:cNvSpPr txBox="1"/>
          <p:nvPr/>
        </p:nvSpPr>
        <p:spPr>
          <a:xfrm>
            <a:off x="566928" y="4112972"/>
            <a:ext cx="420624" cy="420624"/>
          </a:xfrm>
          <a:prstGeom prst="rect">
            <a:avLst/>
          </a:prstGeom>
          <a:noFill/>
        </p:spPr>
        <p:txBody>
          <a:bodyPr wrap="square" lIns="0" rIns="0" tIns="0" bIns="0" anchor="ctr">
            <a:spAutoFit/>
          </a:bodyPr>
          <a:lstStyle/>
          <a:p>
            <a:pPr algn="ctr">
              <a:lnSpc>
                <a:spcPct val="100000"/>
              </a:lnSpc>
            </a:pPr>
            <a:r>
              <a:rPr sz="1300" b="1" i="0">
                <a:solidFill>
                  <a:srgbClr val="4A35FF"/>
                </a:solidFill>
                <a:latin typeface="Montserrat"/>
              </a:rPr>
              <a:t>4</a:t>
            </a:r>
          </a:p>
        </p:txBody>
      </p:sp>
      <p:sp>
        <p:nvSpPr>
          <p:cNvPr id="28" name="Oval 27"/>
          <p:cNvSpPr/>
          <p:nvPr/>
        </p:nvSpPr>
        <p:spPr>
          <a:xfrm>
            <a:off x="1170432" y="4142232"/>
            <a:ext cx="384048" cy="384048"/>
          </a:xfrm>
          <a:prstGeom prst="ellipse">
            <a:avLst/>
          </a:prstGeom>
          <a:solidFill>
            <a:srgbClr val="EFEDFF"/>
          </a:solidFill>
          <a:ln>
            <a:noFill/>
          </a:ln>
          <a:effectLst/>
        </p:spPr>
        <p:txBody>
          <a:bodyPr rtlCol="0" anchor="ctr"/>
          <a:lstStyle/>
          <a:p>
            <a:pPr algn="ctr"/>
          </a:p>
        </p:txBody>
      </p:sp>
      <p:pic>
        <p:nvPicPr>
          <p:cNvPr id="29" name="Picture 28" descr="key-round_4A35FF_256_2.0.png"/>
          <p:cNvPicPr>
            <a:picLocks noChangeAspect="1"/>
          </p:cNvPicPr>
          <p:nvPr/>
        </p:nvPicPr>
        <p:blipFill>
          <a:blip r:embed="rId5"/>
          <a:stretch>
            <a:fillRect/>
          </a:stretch>
        </p:blipFill>
        <p:spPr>
          <a:xfrm>
            <a:off x="1262603" y="4234403"/>
            <a:ext cx="199704" cy="199704"/>
          </a:xfrm>
          <a:prstGeom prst="rect">
            <a:avLst/>
          </a:prstGeom>
        </p:spPr>
      </p:pic>
      <p:sp>
        <p:nvSpPr>
          <p:cNvPr id="30" name="TextBox 29"/>
          <p:cNvSpPr txBox="1"/>
          <p:nvPr/>
        </p:nvSpPr>
        <p:spPr>
          <a:xfrm>
            <a:off x="1755648" y="4105656"/>
            <a:ext cx="4023360" cy="365760"/>
          </a:xfrm>
          <a:prstGeom prst="rect">
            <a:avLst/>
          </a:prstGeom>
          <a:noFill/>
        </p:spPr>
        <p:txBody>
          <a:bodyPr wrap="square" lIns="0" rIns="0" tIns="0" bIns="0" anchor="ctr">
            <a:spAutoFit/>
          </a:bodyPr>
          <a:lstStyle/>
          <a:p>
            <a:pPr algn="l">
              <a:lnSpc>
                <a:spcPct val="128000"/>
              </a:lnSpc>
            </a:pPr>
            <a:r>
              <a:rPr sz="1250" b="1" i="0">
                <a:solidFill>
                  <a:srgbClr val="16181D"/>
                </a:solidFill>
                <a:latin typeface="Montserrat"/>
              </a:rPr>
              <a:t>Rotate the secrets</a:t>
            </a:r>
          </a:p>
        </p:txBody>
      </p:sp>
      <p:sp>
        <p:nvSpPr>
          <p:cNvPr id="31" name="TextBox 30"/>
          <p:cNvSpPr txBox="1"/>
          <p:nvPr/>
        </p:nvSpPr>
        <p:spPr>
          <a:xfrm>
            <a:off x="5138928" y="4105656"/>
            <a:ext cx="6492240" cy="548640"/>
          </a:xfrm>
          <a:prstGeom prst="rect">
            <a:avLst/>
          </a:prstGeom>
          <a:noFill/>
        </p:spPr>
        <p:txBody>
          <a:bodyPr wrap="square" lIns="0" rIns="0" tIns="0" bIns="0" anchor="ctr">
            <a:spAutoFit/>
          </a:bodyPr>
          <a:lstStyle/>
          <a:p>
            <a:pPr algn="l">
              <a:lnSpc>
                <a:spcPct val="118000"/>
              </a:lnSpc>
            </a:pPr>
            <a:r>
              <a:rPr sz="1050" b="0" i="0">
                <a:solidFill>
                  <a:srgbClr val="6E7180"/>
                </a:solidFill>
                <a:latin typeface="Geist"/>
              </a:rPr>
              <a:t>Day-one hygiene: no build-time key stays a running key.</a:t>
            </a:r>
          </a:p>
        </p:txBody>
      </p:sp>
      <p:sp>
        <p:nvSpPr>
          <p:cNvPr id="32" name="Oval 31"/>
          <p:cNvSpPr/>
          <p:nvPr/>
        </p:nvSpPr>
        <p:spPr>
          <a:xfrm>
            <a:off x="566928" y="4782312"/>
            <a:ext cx="420624" cy="420624"/>
          </a:xfrm>
          <a:prstGeom prst="ellipse">
            <a:avLst/>
          </a:prstGeom>
          <a:solidFill>
            <a:srgbClr val="EFEDFF"/>
          </a:solidFill>
          <a:ln>
            <a:noFill/>
          </a:ln>
          <a:effectLst/>
        </p:spPr>
        <p:txBody>
          <a:bodyPr rtlCol="0" anchor="ctr"/>
          <a:lstStyle/>
          <a:p>
            <a:pPr algn="ctr"/>
          </a:p>
        </p:txBody>
      </p:sp>
      <p:sp>
        <p:nvSpPr>
          <p:cNvPr id="33" name="TextBox 32"/>
          <p:cNvSpPr txBox="1"/>
          <p:nvPr/>
        </p:nvSpPr>
        <p:spPr>
          <a:xfrm>
            <a:off x="566928" y="4771340"/>
            <a:ext cx="420624" cy="420624"/>
          </a:xfrm>
          <a:prstGeom prst="rect">
            <a:avLst/>
          </a:prstGeom>
          <a:noFill/>
        </p:spPr>
        <p:txBody>
          <a:bodyPr wrap="square" lIns="0" rIns="0" tIns="0" bIns="0" anchor="ctr">
            <a:spAutoFit/>
          </a:bodyPr>
          <a:lstStyle/>
          <a:p>
            <a:pPr algn="ctr">
              <a:lnSpc>
                <a:spcPct val="100000"/>
              </a:lnSpc>
            </a:pPr>
            <a:r>
              <a:rPr sz="1300" b="1" i="0">
                <a:solidFill>
                  <a:srgbClr val="4A35FF"/>
                </a:solidFill>
                <a:latin typeface="Montserrat"/>
              </a:rPr>
              <a:t>5</a:t>
            </a:r>
          </a:p>
        </p:txBody>
      </p:sp>
      <p:sp>
        <p:nvSpPr>
          <p:cNvPr id="34" name="Oval 33"/>
          <p:cNvSpPr/>
          <p:nvPr/>
        </p:nvSpPr>
        <p:spPr>
          <a:xfrm>
            <a:off x="1170432" y="4800600"/>
            <a:ext cx="384048" cy="384048"/>
          </a:xfrm>
          <a:prstGeom prst="ellipse">
            <a:avLst/>
          </a:prstGeom>
          <a:solidFill>
            <a:srgbClr val="EFEDFF"/>
          </a:solidFill>
          <a:ln>
            <a:noFill/>
          </a:ln>
          <a:effectLst/>
        </p:spPr>
        <p:txBody>
          <a:bodyPr rtlCol="0" anchor="ctr"/>
          <a:lstStyle/>
          <a:p>
            <a:pPr algn="ctr"/>
          </a:p>
        </p:txBody>
      </p:sp>
      <p:pic>
        <p:nvPicPr>
          <p:cNvPr id="35" name="Picture 34" descr="clipboard-list_4A35FF_256_2.0.png"/>
          <p:cNvPicPr>
            <a:picLocks noChangeAspect="1"/>
          </p:cNvPicPr>
          <p:nvPr/>
        </p:nvPicPr>
        <p:blipFill>
          <a:blip r:embed="rId6"/>
          <a:stretch>
            <a:fillRect/>
          </a:stretch>
        </p:blipFill>
        <p:spPr>
          <a:xfrm>
            <a:off x="1262603" y="4892771"/>
            <a:ext cx="199704" cy="199704"/>
          </a:xfrm>
          <a:prstGeom prst="rect">
            <a:avLst/>
          </a:prstGeom>
        </p:spPr>
      </p:pic>
      <p:sp>
        <p:nvSpPr>
          <p:cNvPr id="36" name="TextBox 35"/>
          <p:cNvSpPr txBox="1"/>
          <p:nvPr/>
        </p:nvSpPr>
        <p:spPr>
          <a:xfrm>
            <a:off x="1755648" y="4764024"/>
            <a:ext cx="4023360" cy="365760"/>
          </a:xfrm>
          <a:prstGeom prst="rect">
            <a:avLst/>
          </a:prstGeom>
          <a:noFill/>
        </p:spPr>
        <p:txBody>
          <a:bodyPr wrap="square" lIns="0" rIns="0" tIns="0" bIns="0" anchor="ctr">
            <a:spAutoFit/>
          </a:bodyPr>
          <a:lstStyle/>
          <a:p>
            <a:pPr algn="l">
              <a:lnSpc>
                <a:spcPct val="128000"/>
              </a:lnSpc>
            </a:pPr>
            <a:r>
              <a:rPr sz="1250" b="1" i="0">
                <a:solidFill>
                  <a:srgbClr val="16181D"/>
                </a:solidFill>
                <a:latin typeface="Montserrat"/>
              </a:rPr>
              <a:t>Propose the plan</a:t>
            </a:r>
          </a:p>
        </p:txBody>
      </p:sp>
      <p:sp>
        <p:nvSpPr>
          <p:cNvPr id="37" name="TextBox 36"/>
          <p:cNvSpPr txBox="1"/>
          <p:nvPr/>
        </p:nvSpPr>
        <p:spPr>
          <a:xfrm>
            <a:off x="5138928" y="4764024"/>
            <a:ext cx="6492240" cy="548640"/>
          </a:xfrm>
          <a:prstGeom prst="rect">
            <a:avLst/>
          </a:prstGeom>
          <a:noFill/>
        </p:spPr>
        <p:txBody>
          <a:bodyPr wrap="square" lIns="0" rIns="0" tIns="0" bIns="0" anchor="ctr">
            <a:spAutoFit/>
          </a:bodyPr>
          <a:lstStyle/>
          <a:p>
            <a:pPr algn="l">
              <a:lnSpc>
                <a:spcPct val="118000"/>
              </a:lnSpc>
            </a:pPr>
            <a:r>
              <a:rPr sz="1050" b="0" i="0">
                <a:solidFill>
                  <a:srgbClr val="6E7180"/>
                </a:solidFill>
                <a:latin typeface="Geist"/>
              </a:rPr>
              <a:t>Come back with a rebuild approach and a module split — challenge anything that looks wrong.</a:t>
            </a:r>
          </a:p>
        </p:txBody>
      </p:sp>
      <p:sp>
        <p:nvSpPr>
          <p:cNvPr id="38" name="Rounded Rectangle 37"/>
          <p:cNvSpPr/>
          <p:nvPr/>
        </p:nvSpPr>
        <p:spPr>
          <a:xfrm>
            <a:off x="566928" y="5532120"/>
            <a:ext cx="11057839" cy="640080"/>
          </a:xfrm>
          <a:prstGeom prst="roundRect">
            <a:avLst>
              <a:gd name="adj" fmla="val 12000"/>
            </a:avLst>
          </a:prstGeom>
          <a:solidFill>
            <a:srgbClr val="F7F7FA"/>
          </a:solidFill>
          <a:ln>
            <a:noFill/>
          </a:ln>
          <a:effectLst/>
        </p:spPr>
        <p:txBody>
          <a:bodyPr rtlCol="0" anchor="ctr"/>
          <a:lstStyle/>
          <a:p>
            <a:pPr algn="ctr"/>
          </a:p>
        </p:txBody>
      </p:sp>
      <p:sp>
        <p:nvSpPr>
          <p:cNvPr id="39" name="TextBox 38"/>
          <p:cNvSpPr txBox="1"/>
          <p:nvPr/>
        </p:nvSpPr>
        <p:spPr>
          <a:xfrm>
            <a:off x="795528" y="5650992"/>
            <a:ext cx="10600639" cy="411480"/>
          </a:xfrm>
          <a:prstGeom prst="rect">
            <a:avLst/>
          </a:prstGeom>
          <a:noFill/>
        </p:spPr>
        <p:txBody>
          <a:bodyPr wrap="square" lIns="0" rIns="0" tIns="0" bIns="0" anchor="t">
            <a:spAutoFit/>
          </a:bodyPr>
          <a:lstStyle/>
          <a:p>
            <a:pPr algn="l">
              <a:lnSpc>
                <a:spcPct val="120000"/>
              </a:lnSpc>
            </a:pPr>
            <a:r>
              <a:rPr sz="1050" b="1" i="0">
                <a:solidFill>
                  <a:srgbClr val="4A35FF"/>
                </a:solidFill>
                <a:latin typeface="Geist"/>
              </a:rPr>
              <a:t>Two asks before our call: </a:t>
            </a:r>
            <a:r>
              <a:rPr sz="1050" b="0" i="0">
                <a:solidFill>
                  <a:srgbClr val="16181D"/>
                </a:solidFill>
                <a:latin typeface="Geist"/>
              </a:rPr>
              <a:t>skim the portal, PRD and this brief and bring questions; and fill the availability form so we know where each of you will plug in.</a:t>
            </a:r>
          </a:p>
        </p:txBody>
      </p:sp>
      <p:cxnSp>
        <p:nvCxnSpPr>
          <p:cNvPr id="40" name="Connector 39"/>
          <p:cNvCxnSpPr/>
          <p:nvPr/>
        </p:nvCxnSpPr>
        <p:spPr>
          <a:xfrm>
            <a:off x="566928" y="6455664"/>
            <a:ext cx="11057839" cy="0"/>
          </a:xfrm>
          <a:prstGeom prst="line">
            <a:avLst/>
          </a:prstGeom>
          <a:ln w="9525">
            <a:solidFill>
              <a:srgbClr val="E8E9EE"/>
            </a:solidFill>
          </a:ln>
          <a:effectLst/>
        </p:spPr>
      </p:cxnSp>
      <p:sp>
        <p:nvSpPr>
          <p:cNvPr id="41" name="TextBox 40"/>
          <p:cNvSpPr txBox="1"/>
          <p:nvPr/>
        </p:nvSpPr>
        <p:spPr>
          <a:xfrm>
            <a:off x="566928" y="6528816"/>
            <a:ext cx="8686800" cy="228600"/>
          </a:xfrm>
          <a:prstGeom prst="rect">
            <a:avLst/>
          </a:prstGeom>
          <a:noFill/>
        </p:spPr>
        <p:txBody>
          <a:bodyPr wrap="square" lIns="0" rIns="0" tIns="0" bIns="0" anchor="t">
            <a:spAutoFit/>
          </a:bodyPr>
          <a:lstStyle/>
          <a:p>
            <a:pPr algn="l">
              <a:lnSpc>
                <a:spcPct val="100000"/>
              </a:lnSpc>
            </a:pPr>
            <a:r>
              <a:rPr sz="850" b="0" i="0">
                <a:solidFill>
                  <a:srgbClr val="6E7180"/>
                </a:solidFill>
                <a:latin typeface="Geist"/>
              </a:rPr>
              <a:t>Crashfree India   ·   SAHAJ — Team Induction Brief   ·   Confidential</a:t>
            </a:r>
          </a:p>
        </p:txBody>
      </p:sp>
      <p:sp>
        <p:nvSpPr>
          <p:cNvPr id="42" name="TextBox 41"/>
          <p:cNvSpPr txBox="1"/>
          <p:nvPr/>
        </p:nvSpPr>
        <p:spPr>
          <a:xfrm>
            <a:off x="10344607" y="6528816"/>
            <a:ext cx="1280160" cy="228600"/>
          </a:xfrm>
          <a:prstGeom prst="rect">
            <a:avLst/>
          </a:prstGeom>
          <a:noFill/>
        </p:spPr>
        <p:txBody>
          <a:bodyPr wrap="square" lIns="0" rIns="0" tIns="0" bIns="0" anchor="t">
            <a:spAutoFit/>
          </a:bodyPr>
          <a:lstStyle/>
          <a:p>
            <a:pPr algn="r">
              <a:lnSpc>
                <a:spcPct val="100000"/>
              </a:lnSpc>
            </a:pPr>
            <a:r>
              <a:rPr sz="850" b="0" i="0">
                <a:solidFill>
                  <a:srgbClr val="6E7180"/>
                </a:solidFill>
                <a:latin typeface="Geist"/>
              </a:rPr>
              <a:t>21 / 22</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txBody>
          <a:bodyPr rtlCol="0" anchor="ctr"/>
          <a:lstStyle/>
          <a:p>
            <a:pPr algn="ctr"/>
          </a:p>
        </p:txBody>
      </p:sp>
      <p:sp>
        <p:nvSpPr>
          <p:cNvPr id="3" name="Rectangle 2"/>
          <p:cNvSpPr/>
          <p:nvPr/>
        </p:nvSpPr>
        <p:spPr>
          <a:xfrm>
            <a:off x="0" y="0"/>
            <a:ext cx="12191695" cy="6858000"/>
          </a:xfrm>
          <a:prstGeom prst="rect">
            <a:avLst/>
          </a:prstGeom>
          <a:solidFill>
            <a:srgbClr val="4A35FF"/>
          </a:solidFill>
          <a:ln>
            <a:noFill/>
          </a:ln>
          <a:effectLst/>
        </p:spPr>
        <p:txBody>
          <a:bodyPr rtlCol="0" anchor="ctr"/>
          <a:lstStyle/>
          <a:p>
            <a:pPr algn="ctr"/>
          </a:p>
        </p:txBody>
      </p:sp>
      <p:pic>
        <p:nvPicPr>
          <p:cNvPr id="4" name="Picture 3" descr="logo_white.png"/>
          <p:cNvPicPr>
            <a:picLocks noChangeAspect="1"/>
          </p:cNvPicPr>
          <p:nvPr/>
        </p:nvPicPr>
        <p:blipFill>
          <a:blip r:embed="rId2"/>
          <a:stretch>
            <a:fillRect/>
          </a:stretch>
        </p:blipFill>
        <p:spPr>
          <a:xfrm>
            <a:off x="566928" y="502920"/>
            <a:ext cx="1783080" cy="246392"/>
          </a:xfrm>
          <a:prstGeom prst="rect">
            <a:avLst/>
          </a:prstGeom>
        </p:spPr>
      </p:pic>
      <p:sp>
        <p:nvSpPr>
          <p:cNvPr id="5" name="TextBox 4"/>
          <p:cNvSpPr txBox="1"/>
          <p:nvPr/>
        </p:nvSpPr>
        <p:spPr>
          <a:xfrm>
            <a:off x="7967167" y="566928"/>
            <a:ext cx="3657600" cy="274320"/>
          </a:xfrm>
          <a:prstGeom prst="rect">
            <a:avLst/>
          </a:prstGeom>
          <a:noFill/>
        </p:spPr>
        <p:txBody>
          <a:bodyPr wrap="square" lIns="0" rIns="0" tIns="0" bIns="0" anchor="t">
            <a:spAutoFit/>
          </a:bodyPr>
          <a:lstStyle/>
          <a:p>
            <a:pPr algn="r">
              <a:lnSpc>
                <a:spcPct val="128000"/>
              </a:lnSpc>
            </a:pPr>
            <a:r>
              <a:rPr sz="900" b="1" i="0" spc="200">
                <a:solidFill>
                  <a:srgbClr val="C8C0FF"/>
                </a:solidFill>
                <a:latin typeface="Montserrat"/>
              </a:rPr>
              <a:t>TEAM INDUCTION BRIEF</a:t>
            </a:r>
          </a:p>
        </p:txBody>
      </p:sp>
      <p:sp>
        <p:nvSpPr>
          <p:cNvPr id="6" name="TextBox 5"/>
          <p:cNvSpPr txBox="1"/>
          <p:nvPr/>
        </p:nvSpPr>
        <p:spPr>
          <a:xfrm>
            <a:off x="566928" y="2103120"/>
            <a:ext cx="10789920" cy="1280160"/>
          </a:xfrm>
          <a:prstGeom prst="rect">
            <a:avLst/>
          </a:prstGeom>
          <a:noFill/>
        </p:spPr>
        <p:txBody>
          <a:bodyPr wrap="square" lIns="0" rIns="0" tIns="0" bIns="0" anchor="t">
            <a:spAutoFit/>
          </a:bodyPr>
          <a:lstStyle/>
          <a:p>
            <a:pPr algn="l">
              <a:lnSpc>
                <a:spcPct val="118000"/>
              </a:lnSpc>
            </a:pPr>
            <a:r>
              <a:rPr sz="3000" b="1" i="0">
                <a:solidFill>
                  <a:srgbClr val="FFFFFF"/>
                </a:solidFill>
                <a:latin typeface="Montserrat"/>
              </a:rPr>
              <a:t>A family's ₹2 lakh, and a national benchmark for </a:t>
            </a:r>
            <a:r>
              <a:rPr sz="3000" b="1" i="0">
                <a:solidFill>
                  <a:srgbClr val="C8C0FF"/>
                </a:solidFill>
                <a:latin typeface="Montserrat"/>
              </a:rPr>
              <a:t>AI that actually reaches people</a:t>
            </a:r>
            <a:r>
              <a:rPr sz="3000" b="1" i="0">
                <a:solidFill>
                  <a:srgbClr val="FFFFFF"/>
                </a:solidFill>
                <a:latin typeface="Montserrat"/>
              </a:rPr>
              <a:t>.</a:t>
            </a:r>
          </a:p>
        </p:txBody>
      </p:sp>
      <p:sp>
        <p:nvSpPr>
          <p:cNvPr id="7" name="TextBox 6"/>
          <p:cNvSpPr txBox="1"/>
          <p:nvPr/>
        </p:nvSpPr>
        <p:spPr>
          <a:xfrm>
            <a:off x="566928" y="3794760"/>
            <a:ext cx="10515600" cy="731520"/>
          </a:xfrm>
          <a:prstGeom prst="rect">
            <a:avLst/>
          </a:prstGeom>
          <a:noFill/>
        </p:spPr>
        <p:txBody>
          <a:bodyPr wrap="square" lIns="0" rIns="0" tIns="0" bIns="0" anchor="t">
            <a:spAutoFit/>
          </a:bodyPr>
          <a:lstStyle/>
          <a:p>
            <a:pPr algn="l">
              <a:lnSpc>
                <a:spcPct val="140000"/>
              </a:lnSpc>
            </a:pPr>
            <a:r>
              <a:rPr sz="1350" b="0" i="0">
                <a:solidFill>
                  <a:srgbClr val="E6E2FF"/>
                </a:solidFill>
                <a:latin typeface="Geist"/>
              </a:rPr>
              <a:t>The scheme already owes the money. SAHAJ is how it reaches the family — reliably, at scale, with the trail to prove it. Thank you for building it with us.</a:t>
            </a:r>
          </a:p>
        </p:txBody>
      </p:sp>
      <p:cxnSp>
        <p:nvCxnSpPr>
          <p:cNvPr id="8" name="Connector 7"/>
          <p:cNvCxnSpPr/>
          <p:nvPr/>
        </p:nvCxnSpPr>
        <p:spPr>
          <a:xfrm>
            <a:off x="566928" y="5029200"/>
            <a:ext cx="640080" cy="0"/>
          </a:xfrm>
          <a:prstGeom prst="line">
            <a:avLst/>
          </a:prstGeom>
          <a:ln w="31750">
            <a:solidFill>
              <a:srgbClr val="C8C0FF"/>
            </a:solidFill>
          </a:ln>
          <a:effectLst/>
        </p:spPr>
      </p:cxnSp>
      <p:sp>
        <p:nvSpPr>
          <p:cNvPr id="9" name="TextBox 8"/>
          <p:cNvSpPr txBox="1"/>
          <p:nvPr/>
        </p:nvSpPr>
        <p:spPr>
          <a:xfrm>
            <a:off x="566928" y="5257800"/>
            <a:ext cx="10515600" cy="365760"/>
          </a:xfrm>
          <a:prstGeom prst="rect">
            <a:avLst/>
          </a:prstGeom>
          <a:noFill/>
        </p:spPr>
        <p:txBody>
          <a:bodyPr wrap="square" lIns="0" rIns="0" tIns="0" bIns="0" anchor="t">
            <a:spAutoFit/>
          </a:bodyPr>
          <a:lstStyle/>
          <a:p>
            <a:pPr algn="l">
              <a:lnSpc>
                <a:spcPct val="128000"/>
              </a:lnSpc>
            </a:pPr>
            <a:r>
              <a:rPr sz="1400" b="1" i="0">
                <a:solidFill>
                  <a:srgbClr val="FFFFFF"/>
                </a:solidFill>
                <a:latin typeface="Montserrat"/>
              </a:rPr>
              <a:t>Let's connect at 3:30 PM. Bring questions.</a:t>
            </a:r>
          </a:p>
        </p:txBody>
      </p:sp>
      <p:sp>
        <p:nvSpPr>
          <p:cNvPr id="10" name="TextBox 9"/>
          <p:cNvSpPr txBox="1"/>
          <p:nvPr/>
        </p:nvSpPr>
        <p:spPr>
          <a:xfrm>
            <a:off x="566928" y="6263640"/>
            <a:ext cx="10515600" cy="274320"/>
          </a:xfrm>
          <a:prstGeom prst="rect">
            <a:avLst/>
          </a:prstGeom>
          <a:noFill/>
        </p:spPr>
        <p:txBody>
          <a:bodyPr wrap="square" lIns="0" rIns="0" tIns="0" bIns="0" anchor="t">
            <a:spAutoFit/>
          </a:bodyPr>
          <a:lstStyle/>
          <a:p>
            <a:pPr algn="l">
              <a:lnSpc>
                <a:spcPct val="128000"/>
              </a:lnSpc>
            </a:pPr>
            <a:r>
              <a:rPr sz="1000" b="0" i="0">
                <a:solidFill>
                  <a:srgbClr val="C8C0FF"/>
                </a:solidFill>
                <a:latin typeface="Geist"/>
              </a:rPr>
              <a:t>Akhtar Hussain  ·  Mission Lead, Crashfree India  ·  akhtar@crashfreeindia.org  ·  crashfreeindia.org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