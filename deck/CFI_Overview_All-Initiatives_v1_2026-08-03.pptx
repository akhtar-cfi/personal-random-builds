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jpg"/><Relationship Id="rId9" Type="http://schemas.openxmlformats.org/officeDocument/2006/relationships/image" Target="../media/image4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png"/><Relationship Id="rId4" Type="http://schemas.openxmlformats.org/officeDocument/2006/relationships/image" Target="../media/image4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image" Target="../media/image58.jpg"/><Relationship Id="rId6" Type="http://schemas.openxmlformats.org/officeDocument/2006/relationships/image" Target="../media/image5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image" Target="../media/image61.jpg"/><Relationship Id="rId4" Type="http://schemas.openxmlformats.org/officeDocument/2006/relationships/image" Target="../media/image62.jpg"/><Relationship Id="rId5" Type="http://schemas.openxmlformats.org/officeDocument/2006/relationships/image" Target="../media/image6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image" Target="../media/image81.png"/><Relationship Id="rId20" Type="http://schemas.openxmlformats.org/officeDocument/2006/relationships/image" Target="../media/image82.png"/><Relationship Id="rId21" Type="http://schemas.openxmlformats.org/officeDocument/2006/relationships/image" Target="../media/image83.png"/><Relationship Id="rId22" Type="http://schemas.openxmlformats.org/officeDocument/2006/relationships/image" Target="../media/image84.png"/><Relationship Id="rId23" Type="http://schemas.openxmlformats.org/officeDocument/2006/relationships/image" Target="../media/image85.png"/><Relationship Id="rId24" Type="http://schemas.openxmlformats.org/officeDocument/2006/relationships/image" Target="../media/image86.png"/><Relationship Id="rId25" Type="http://schemas.openxmlformats.org/officeDocument/2006/relationships/image" Target="../media/image8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Relationship Id="rId14" Type="http://schemas.openxmlformats.org/officeDocument/2006/relationships/image" Target="../media/image10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Relationship Id="rId10" Type="http://schemas.openxmlformats.org/officeDocument/2006/relationships/image" Target="../media/image109.png"/><Relationship Id="rId11" Type="http://schemas.openxmlformats.org/officeDocument/2006/relationships/image" Target="../media/image110.png"/><Relationship Id="rId12" Type="http://schemas.openxmlformats.org/officeDocument/2006/relationships/image" Target="../media/image1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1691640" cy="2337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24367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ORGANISATION OVERVIEW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 spc="220">
                <a:solidFill>
                  <a:srgbClr val="4A35FF"/>
                </a:solidFill>
                <a:latin typeface="Montserrat"/>
              </a:rPr>
              <a:t>A ROAD SAFETY NONPROFIT  ·  NEW DELHI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56816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6181D"/>
                </a:solidFill>
                <a:latin typeface="Montserrat"/>
              </a:rPr>
              <a:t>Crashfree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3464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4A35FF"/>
                </a:solidFill>
                <a:latin typeface="Montserrat"/>
              </a:rPr>
              <a:t>Adding capacity to India's road safety system:</a:t>
            </a:r>
          </a:p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4A35FF"/>
                </a:solidFill>
                <a:latin typeface="Montserrat"/>
              </a:rPr>
              <a:t>evidence, institutions, and technology that follows through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25196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-chec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33974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8992" y="4297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Field audits and research to official standards, fixed with the authorities that own the road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818888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pu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906670"/>
            <a:ext cx="190195" cy="1901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8992" y="4864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Technology for police, victims and the public: enforcement, open data, and a chatbot on WhatsApp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538581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landmar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5473598"/>
            <a:ext cx="190195" cy="1901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" y="543153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Working inside the machinery: 4 district committees, police MoUs, 25+ written approvals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0936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Registered as the Vision Zero Trust · A Cars24 commitment · Co-founded with the Indian Road Safety Council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7327" y="63093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crashfreeindia.org</a:t>
            </a:r>
          </a:p>
        </p:txBody>
      </p:sp>
      <p:pic>
        <p:nvPicPr>
          <p:cNvPr id="19" name="Picture 18" descr="ph_dhoni_white.jpg_3.60x4.90_0.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1051560"/>
            <a:ext cx="3291840" cy="44805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321040" y="1051560"/>
            <a:ext cx="3291840" cy="44805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5020056"/>
            <a:ext cx="3291840" cy="512064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505663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00">
                <a:solidFill>
                  <a:srgbClr val="FFFFFF"/>
                </a:solidFill>
                <a:latin typeface="Montserrat"/>
              </a:rPr>
              <a:t>MS DHONI · GOODWILL AMBASSADOR,</a:t>
            </a:r>
          </a:p>
          <a:p>
            <a:pPr algn="ctr">
              <a:lnSpc>
                <a:spcPct val="115000"/>
              </a:lnSpc>
            </a:pPr>
            <a:r>
              <a:rPr sz="850" b="1" i="0" spc="100">
                <a:solidFill>
                  <a:srgbClr val="FFFFFF"/>
                </a:solidFill>
                <a:latin typeface="Montserrat"/>
              </a:rPr>
              <a:t>CRASHFREE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01 · ABOUT 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Crashfree India: a nonprofit that adds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capacity</a:t>
            </a:r>
            <a:r>
              <a:rPr sz="2250" b="1" i="0">
                <a:solidFill>
                  <a:srgbClr val="16181D"/>
                </a:solidFill>
                <a:latin typeface="Montserrat"/>
              </a:rPr>
              <a:t> to road safety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Registered as the Vision Zero Trust · Co-founded by Cars24 and the Indian Road Safety Council · Working since June 2025 · New Delhi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011680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-check_0A9955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09946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19933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Evidence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93392"/>
            <a:ext cx="3886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Structured field audits, file reviews and research to official standards, not opinion.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761488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2849270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Institutional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43200"/>
            <a:ext cx="3886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We work through PWDs, NHAI, transport departments, police and District Road Safety Committees.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3511296"/>
            <a:ext cx="365760" cy="365760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users_E58900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3599078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34930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Youth-led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93008"/>
            <a:ext cx="3886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Trained student teams from IITs, NITs and SPAs add the auditing hands the system needs.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261104"/>
            <a:ext cx="365760" cy="365760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monitor-check_0E8A8A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4348886"/>
            <a:ext cx="190195" cy="1901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424281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Technology for follow-through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242816"/>
            <a:ext cx="3886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Public dashboards track every recommendation from submission to completion.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66360"/>
            <a:ext cx="6903720" cy="841248"/>
          </a:xfrm>
          <a:prstGeom prst="roundRect">
            <a:avLst>
              <a:gd name="adj" fmla="val 16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230368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Geist"/>
              </a:rPr>
              <a:t>Backed by a US$3 million, three-year commitment from Cars24. </a:t>
            </a:r>
            <a:r>
              <a:rPr sz="1150" b="0" i="0">
                <a:solidFill>
                  <a:srgbClr val="4A35FF"/>
                </a:solidFill>
                <a:latin typeface="Geist"/>
              </a:rPr>
              <a:t>Programmes, not overheads, receive 71% of the budget.</a:t>
            </a:r>
          </a:p>
        </p:txBody>
      </p:sp>
      <p:pic>
        <p:nvPicPr>
          <p:cNvPr id="26" name="Picture 25" descr="cfi_map_do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1965960"/>
            <a:ext cx="3291840" cy="391135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092440" y="1965960"/>
            <a:ext cx="3291840" cy="3911357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5923037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Where we work today, 18 cities, north to south.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01 · ABOUT US, OUR APPROACH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Our approach: work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with the system</a:t>
            </a:r>
            <a:r>
              <a:rPr sz="2250" b="1" i="0">
                <a:solidFill>
                  <a:srgbClr val="16181D"/>
                </a:solidFill>
                <a:latin typeface="Montserrat"/>
              </a:rPr>
              <a:t>, and prove it with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Four steps, applied to every problem we take up, from a dangerous junction to a stalled compensation claim.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267004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258568"/>
            <a:ext cx="475488" cy="475488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search-check_0A9955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25" y="2372685"/>
            <a:ext cx="247253" cy="2472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289864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1 ·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64408"/>
            <a:ext cx="23042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Field audits, file reviews and research to official standards.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4270248"/>
            <a:ext cx="2304288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749808" y="4361688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31 sites audited · 50+ stakeholder consultations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361688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A9955"/>
                </a:solidFill>
                <a:latin typeface="Montserrat"/>
              </a:rPr>
              <a:t>31 sites audited · 50+ stakeholder consultations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9544" y="329184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6E7180"/>
                </a:solidFill>
                <a:latin typeface="Geist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2057400"/>
            <a:ext cx="267004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38728" y="2258568"/>
            <a:ext cx="475488" cy="475488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845" y="2372685"/>
            <a:ext cx="247253" cy="2472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38728" y="289864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2 · Institutional partnership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264408"/>
            <a:ext cx="23042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Work through the authority that owns the problem, never around it.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38728" y="4270248"/>
            <a:ext cx="2304288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3538728" y="4361688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25+ written approvals · 4 DRSCs · MoUs with police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361688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4A35FF"/>
                </a:solidFill>
                <a:latin typeface="Montserrat"/>
              </a:rPr>
              <a:t>25+ written approvals · 4 DRSCs · MoUs with police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329184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6E7180"/>
                </a:solidFill>
                <a:latin typeface="Geis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057400"/>
            <a:ext cx="267004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27648" y="2258568"/>
            <a:ext cx="475488" cy="475488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cpu_0E8A8A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765" y="2372685"/>
            <a:ext cx="247253" cy="24725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27648" y="289864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3 · Technology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264408"/>
            <a:ext cx="23042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Dashboards, AI and WhatsApp tools that fit how officials already work.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27648" y="4270248"/>
            <a:ext cx="2304288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6327648" y="4361688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Aasha · SATARK · 4 open data platforms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4361688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E8A8A"/>
                </a:solidFill>
                <a:latin typeface="Montserrat"/>
              </a:rPr>
              <a:t>Aasha · SATARK · 4 open data platforms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7384" y="329184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6E7180"/>
                </a:solidFill>
                <a:latin typeface="Geist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33688" y="2057400"/>
            <a:ext cx="267004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16568" y="2258568"/>
            <a:ext cx="475488" cy="475488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route_E58900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685" y="2372685"/>
            <a:ext cx="247253" cy="24725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16568" y="289864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4 · Follow-through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568" y="3264408"/>
            <a:ext cx="23042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Every recommendation tracked publicly to completion.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16568" y="4270248"/>
            <a:ext cx="2304288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9116568" y="4361688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Implementation started at 15 sites · 7 fully built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16568" y="4361688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E58900"/>
                </a:solidFill>
                <a:latin typeface="Montserrat"/>
              </a:rPr>
              <a:t>Implementation started at 15 sites · 7 fully built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257800"/>
            <a:ext cx="11057839" cy="640080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358384"/>
            <a:ext cx="10600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6181D"/>
                </a:solidFill>
                <a:latin typeface="Geist"/>
              </a:rPr>
              <a:t>We do not replace the system and we do not campaign against it. </a:t>
            </a:r>
            <a:r>
              <a:rPr sz="1100" b="0" i="0">
                <a:solidFill>
                  <a:srgbClr val="6E7180"/>
                </a:solidFill>
                <a:latin typeface="Geist"/>
              </a:rPr>
              <a:t>We add hands, evidence and tools to work the system has already committed to.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Six lines of work,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one connected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Audits create data · data supports policy · policy guides the field. Everything below is live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plementation_work.jpg_3.95x1.28_0.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3611880" cy="11704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Student-led road audits, fixed with authorities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31 sites · 7 fixes fully built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satark_billboard.jpg_3.95x1.28_0.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938528"/>
            <a:ext cx="3611880" cy="117043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88536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SATARK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AI support that helps police find high-risk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3,00,000+ vehicles screened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ph_helpdesk_desk.jpg_3.95x1.28_0.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938528"/>
            <a:ext cx="3611880" cy="117043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10144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Victim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Aasha chatbot, calculator, hospital helpdesks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100+ victims helped in first 4 days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sctracker.png_3.95x1.28_0.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206240"/>
            <a:ext cx="3611880" cy="117043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66928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Open public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Four self-updating data platforms, free to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36 states &amp; 50 cities covered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6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ph_ideathon_winners.jpg_3.95x1.28_0.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536" y="4206240"/>
            <a:ext cx="3611880" cy="117043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288536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Youth &amp; policy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NextMile ideathon and national dialogue series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2,000+ participants engaged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4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ph_police_rally.jpg_3.95x1.28_0.3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4" y="4206240"/>
            <a:ext cx="3611880" cy="117043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010144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Public campaigns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Road Safety Month with police &amp; schools; MS Dhoni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1M+ citizens reached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ROAD INFRASTRUCTURE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Project Rakshak: student audits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that end in built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Trained student teams, guided by senior experts, audit dangerous locations to IRC codes, and we walk each fix through the road-owning authority until it is built.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1214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120+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5786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locations screened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77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6E7180"/>
                </a:solidFill>
                <a:latin typeface="Geis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201168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21214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5786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sites audited, 11 official black 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77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6E7180"/>
                </a:solidFill>
                <a:latin typeface="Geist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201168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1214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5786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written authority approvals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77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6E7180"/>
                </a:solidFill>
                <a:latin typeface="Geist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201168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1214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ontserrat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5786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FFFFFF"/>
                </a:solidFill>
                <a:latin typeface="Geist"/>
              </a:rPr>
              <a:t>sites in implementation, 7 fully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38328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31 student teams · 20 institutions including nine IITs · 900+ stakeholder surveys · 17 subject-matter experts guiding every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886200"/>
            <a:ext cx="7498079" cy="1234440"/>
          </a:xfrm>
          <a:prstGeom prst="roundRect">
            <a:avLst>
              <a:gd name="adj" fmla="val 10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00507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20">
                <a:solidFill>
                  <a:srgbClr val="0A9955"/>
                </a:solidFill>
                <a:latin typeface="Montserrat"/>
              </a:rPr>
              <a:t>MARQUEE CASE, OUTER RING ROAD, SOUTH DELHI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29768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On our audit, PWD built a continuous 1.8 m accessible pedestrian corridor, upgraded drainage at ponding sites, installed bollards against footpath encroachment, and deployed camera-backed speed-feedback boards.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303520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Every site is tracked on a public dashboard </a:t>
            </a:r>
            <a:r>
              <a:rPr sz="1000" b="0" i="0">
                <a:solidFill>
                  <a:srgbClr val="6E7180"/>
                </a:solidFill>
                <a:latin typeface="Geist"/>
              </a:rPr>
              <a:t>from submission through approval to completed construction, an honest read on how quickly agencies can act.</a:t>
            </a:r>
          </a:p>
        </p:txBody>
      </p:sp>
      <p:pic>
        <p:nvPicPr>
          <p:cNvPr id="28" name="Picture 27" descr="implementation_work.jpg_3.60x4.35_0.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65960"/>
            <a:ext cx="3291840" cy="3977639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321040" y="1965960"/>
            <a:ext cx="3291840" cy="3977639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5989319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Construction underway after a student audit, tracked publicly to completion.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ENFORCEMENT TECHNOLOGY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SATARK: AI that helps police stop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the right vehicle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Built with Cars24 engineers. Reads number plates, checks government records, and alerts officers to repeat offenders, in real time.</a:t>
            </a:r>
          </a:p>
        </p:txBody>
      </p:sp>
      <p:pic>
        <p:nvPicPr>
          <p:cNvPr id="8" name="Picture 7" descr="satark_billboard.jpg_4.35x2.65_0.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3977639" cy="2423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1965960"/>
            <a:ext cx="3977639" cy="24231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434840"/>
            <a:ext cx="3977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Rambagh Circle, Jaipur, live plate, pending challans and dues on a public billboard.</a:t>
            </a:r>
          </a:p>
        </p:txBody>
      </p:sp>
      <p:pic>
        <p:nvPicPr>
          <p:cNvPr id="11" name="Picture 10" descr="satark_officer_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65960"/>
            <a:ext cx="1828800" cy="215028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09160" y="1965960"/>
            <a:ext cx="1828800" cy="2150283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16196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Officer view, challans,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RC &amp; compliance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920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3,00,000+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3774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vehicles screened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20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₹30 Cr+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3774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pending challan value identified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81635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350+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high-risk vehicles intercepted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1635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70,019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vehicles found with pending challans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4848" y="3767328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767328"/>
            <a:ext cx="22037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A9955"/>
                </a:solidFill>
                <a:latin typeface="Montserrat"/>
              </a:rPr>
              <a:t>LIVE · Jaipur &amp; Bengaluru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76732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3767328"/>
            <a:ext cx="1563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NEW · Gurugram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26110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Bengaluru's Trinity Circle billboard was India's first, covered by Deccan Herald and national press. Pune and Ahmedabad are next.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2688" y="5358384"/>
            <a:ext cx="10326319" cy="0"/>
          </a:xfrm>
          <a:prstGeom prst="line">
            <a:avLst/>
          </a:prstGeom>
          <a:ln w="12700">
            <a:solidFill>
              <a:srgbClr val="E8E9EE"/>
            </a:solidFill>
          </a:ln>
          <a:effectLst/>
        </p:spPr>
      </p:cxnSp>
      <p:sp>
        <p:nvSpPr>
          <p:cNvPr id="28" name="Oval 27"/>
          <p:cNvSpPr/>
          <p:nvPr/>
        </p:nvSpPr>
        <p:spPr>
          <a:xfrm>
            <a:off x="1038586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camera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24" y="5244266"/>
            <a:ext cx="228234" cy="22823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ANPR camera</a:t>
            </a:r>
          </a:p>
        </p:txBody>
      </p:sp>
      <p:sp>
        <p:nvSpPr>
          <p:cNvPr id="31" name="Oval 30"/>
          <p:cNvSpPr/>
          <p:nvPr/>
        </p:nvSpPr>
        <p:spPr>
          <a:xfrm>
            <a:off x="242081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scan-lin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153" y="5244266"/>
            <a:ext cx="228234" cy="22823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4915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Plate read</a:t>
            </a:r>
          </a:p>
        </p:txBody>
      </p:sp>
      <p:sp>
        <p:nvSpPr>
          <p:cNvPr id="34" name="Oval 33"/>
          <p:cNvSpPr/>
          <p:nvPr/>
        </p:nvSpPr>
        <p:spPr>
          <a:xfrm>
            <a:off x="380304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databas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8383" y="5244266"/>
            <a:ext cx="228234" cy="2282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3138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Records check</a:t>
            </a:r>
          </a:p>
        </p:txBody>
      </p:sp>
      <p:sp>
        <p:nvSpPr>
          <p:cNvPr id="37" name="Oval 36"/>
          <p:cNvSpPr/>
          <p:nvPr/>
        </p:nvSpPr>
        <p:spPr>
          <a:xfrm>
            <a:off x="518527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alert-triangle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0613" y="5244266"/>
            <a:ext cx="228234" cy="2282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1361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Risk flag</a:t>
            </a:r>
          </a:p>
        </p:txBody>
      </p:sp>
      <p:sp>
        <p:nvSpPr>
          <p:cNvPr id="40" name="Oval 39"/>
          <p:cNvSpPr/>
          <p:nvPr/>
        </p:nvSpPr>
        <p:spPr>
          <a:xfrm>
            <a:off x="656750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bell-ring_4A35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843" y="5244266"/>
            <a:ext cx="228234" cy="22823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9584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Officer alert</a:t>
            </a:r>
          </a:p>
        </p:txBody>
      </p:sp>
      <p:sp>
        <p:nvSpPr>
          <p:cNvPr id="43" name="Oval 42"/>
          <p:cNvSpPr/>
          <p:nvPr/>
        </p:nvSpPr>
        <p:spPr>
          <a:xfrm>
            <a:off x="794973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monitor_4A35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5073" y="5244266"/>
            <a:ext cx="228234" cy="22823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47807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Billboard</a:t>
            </a:r>
          </a:p>
        </p:txBody>
      </p:sp>
      <p:sp>
        <p:nvSpPr>
          <p:cNvPr id="46" name="Oval 45"/>
          <p:cNvSpPr/>
          <p:nvPr/>
        </p:nvSpPr>
        <p:spPr>
          <a:xfrm>
            <a:off x="933196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hand_4A35FF_256_2.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7303" y="5244266"/>
            <a:ext cx="228234" cy="22823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6030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Interception</a:t>
            </a:r>
          </a:p>
        </p:txBody>
      </p:sp>
      <p:sp>
        <p:nvSpPr>
          <p:cNvPr id="49" name="Oval 48"/>
          <p:cNvSpPr/>
          <p:nvPr/>
        </p:nvSpPr>
        <p:spPr>
          <a:xfrm>
            <a:off x="1071419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shield-check_4A35FF_256_2.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9533" y="5244266"/>
            <a:ext cx="228234" cy="22823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24253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Enforcement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OPEN PUBLIC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Live public data platforms,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free for any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Four platforms, each turning a scattered public record into structured, citable evidence. The Parliament tracker is shown live, as captured this week.</a:t>
            </a:r>
          </a:p>
        </p:txBody>
      </p:sp>
      <p:pic>
        <p:nvPicPr>
          <p:cNvPr id="8" name="Picture 7" descr="parliament_live.png_6.00x2.62_0.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5486400" cy="23957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1938528"/>
            <a:ext cx="5486400" cy="2395728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3799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Road Safety in Parliament: all 1,444 questions since 2014 across four ministries; 275 of 540 sitting Lok Sabha MPs have never asked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938528"/>
            <a:ext cx="548640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121408"/>
            <a:ext cx="420624" cy="420624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base_0E8A8A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597" y="2222357"/>
            <a:ext cx="218724" cy="218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76288" y="210312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National Road-Infrastructure</a:t>
            </a:r>
          </a:p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Defect Repository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13848" y="2139696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32136" y="2139696"/>
            <a:ext cx="12252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0E8A8A"/>
                </a:solidFill>
                <a:latin typeface="Montserrat"/>
              </a:rPr>
              <a:t>DAILY · 07:00 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79806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An AI pipeline reads local-language news every morning and turns road-defect reports into structured, mapped, ranked evidence, each entry carrying its verbatim 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3310128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3101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Potholes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0063" y="3310128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1" y="33101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Missing signage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78" y="3310128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6" y="33101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Unlit stretches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54893" y="3310128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1" y="33101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Blind curves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97308" y="3310128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596" y="331012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Broken dividers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3694176"/>
            <a:ext cx="1645920" cy="512064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49039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8A8A"/>
                </a:solidFill>
                <a:latin typeface="Montserrat"/>
              </a:rPr>
              <a:t>146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73989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 i="0">
                <a:solidFill>
                  <a:srgbClr val="6E7180"/>
                </a:solidFill>
                <a:latin typeface="Geist"/>
              </a:rPr>
              <a:t>districts scanned daily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3694176"/>
            <a:ext cx="1645920" cy="512064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3749039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8A8A"/>
                </a:solidFill>
                <a:latin typeface="Montserrat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0224" y="373989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 i="0">
                <a:solidFill>
                  <a:srgbClr val="6E7180"/>
                </a:solidFill>
                <a:latin typeface="Geist"/>
              </a:rPr>
              <a:t>languages read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38944" y="3694176"/>
            <a:ext cx="1645920" cy="512064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0384" y="3749039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8A8A"/>
                </a:solidFill>
                <a:latin typeface="Montserrat"/>
              </a:rPr>
              <a:t>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373989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 i="0">
                <a:solidFill>
                  <a:srgbClr val="6E7180"/>
                </a:solidFill>
                <a:latin typeface="Geist"/>
              </a:rPr>
              <a:t>defect codes tracked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Local news → AI extraction → confidence gate → human review → public map. Live across Bihar, UP and Rajasthan districts today.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956048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232" y="5102352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scal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5190134"/>
            <a:ext cx="190195" cy="19019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8872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Montserrat"/>
              </a:rPr>
              <a:t>Supreme Court Litigation Tracker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0" y="5093208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0288" y="5093208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A35FF"/>
                </a:solidFill>
                <a:latin typeface="Montserrat"/>
              </a:rPr>
              <a:t>WEEKLY · LIVE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522976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Every systemic road-safety matter before the Supreme Court, orders indexed, precedent judgments digested, refreshed every Tuesday.</a:t>
            </a:r>
          </a:p>
        </p:txBody>
      </p:sp>
      <p:pic>
        <p:nvPicPr>
          <p:cNvPr id="45" name="Picture 44" descr="strip_sctrac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936" y="5522976"/>
            <a:ext cx="1847088" cy="362006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144768" y="4956048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91072" y="5102352"/>
            <a:ext cx="365760" cy="365760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bar-chart-3_E58900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854" y="5190134"/>
            <a:ext cx="190195" cy="19019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6656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Montserrat"/>
              </a:rPr>
              <a:t>Crash Data Dashboard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49840" y="5093208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68128" y="5093208"/>
            <a:ext cx="13167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E58900"/>
                </a:solidFill>
                <a:latin typeface="Montserrat"/>
              </a:rPr>
              <a:t>ANNUAL · OPEN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2" y="5522976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MoRTH's annual 'Road Accidents in India' books as a usable product: report cards for 36 states and 50 cities, every number reconciled against the printed books, open licence (CC-BY).</a:t>
            </a:r>
          </a:p>
        </p:txBody>
      </p:sp>
      <p:pic>
        <p:nvPicPr>
          <p:cNvPr id="53" name="Picture 52" descr="strip_cra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76" y="5522976"/>
            <a:ext cx="1847088" cy="362006"/>
          </a:xfrm>
          <a:prstGeom prst="rect">
            <a:avLst/>
          </a:prstGeom>
        </p:spPr>
      </p:pic>
      <p:cxnSp>
        <p:nvCxnSpPr>
          <p:cNvPr id="54" name="Connector 5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VICTIM SUPPORT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Help a family can actually use,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in their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From the first hours after a crash to the final compensation order, on WhatsApp, on paper, and in person.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267919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ui_aasha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48256"/>
            <a:ext cx="2459736" cy="181077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94944" y="4526280"/>
            <a:ext cx="347472" cy="34747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bo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" y="4609673"/>
            <a:ext cx="180685" cy="1806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3856" y="4562856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Aasha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495604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India's first AI legal companion for crash victims, on WhatsApp and voice, no app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20240"/>
            <a:ext cx="267919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ui_mact_ca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522" y="2048256"/>
            <a:ext cx="2315843" cy="228600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3483864" y="4526280"/>
            <a:ext cx="347472" cy="347472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calculator_0E8A8A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257" y="4609673"/>
            <a:ext cx="180685" cy="1806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22776" y="4562856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Compensation Calculator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495604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Free instant estimates computed on Supreme Court principles (Sarla Verma, Pranay Sethi).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920240"/>
            <a:ext cx="267919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comic_aasha_p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503" y="2048256"/>
            <a:ext cx="1727722" cy="2286000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6272784" y="4526280"/>
            <a:ext cx="347472" cy="347472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book-open_E58900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177" y="4609673"/>
            <a:ext cx="180685" cy="1806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11696" y="4562856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'Meet Aasha' comics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495604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Plain-language legal education that families actually read, at desks and in schools.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8" y="1920240"/>
            <a:ext cx="267919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opt_guide_p1_150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8979" y="2048256"/>
            <a:ext cx="1668610" cy="22860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9061704" y="4526280"/>
            <a:ext cx="347472" cy="347472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languages_0A9955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5097" y="4609673"/>
            <a:ext cx="180685" cy="1806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00616" y="4562856"/>
            <a:ext cx="2002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Hindi rights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704" y="495604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All three compensation routes, NALSA 15100 and the Cashless Treatment Scheme 2025.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870448"/>
            <a:ext cx="11057839" cy="457200"/>
          </a:xfrm>
          <a:prstGeom prst="roundRect">
            <a:avLst>
              <a:gd name="adj" fmla="val 14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5943600"/>
            <a:ext cx="106463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0A9955"/>
                </a:solidFill>
                <a:latin typeface="Geist"/>
              </a:rPr>
              <a:t>Hospital helpdesks bring all of this to the trauma-ward bedside </a:t>
            </a:r>
            <a:r>
              <a:rPr sz="950" b="0" i="0">
                <a:solidFill>
                  <a:srgbClr val="0A9955"/>
                </a:solidFill>
                <a:latin typeface="Geist"/>
              </a:rPr>
              <a:t>, 100+ victims supported in the first four days, run with DLSA and Neev Foundation.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VULNERABLE ROAD USERS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The fastest-growing risk on Indian roads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rides a two-wheeler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Two-wheeler riders carry the largest share of road deaths, and gig and delivery work concentrates that exposure. We study it, and we work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58568"/>
            <a:ext cx="2084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~45%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15768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 India's crash fatalities are two-wheeler users, rising year on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21488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258568"/>
            <a:ext cx="2084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23.5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15768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gig and platform workers projected by 2029-30 (NITI Aayog)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41264" y="21488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2258568"/>
            <a:ext cx="2084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1 in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715768"/>
            <a:ext cx="20848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delivery riders in a 431-rider Mumbai crash study had already crashed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3794760"/>
            <a:ext cx="365760" cy="365760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file-search_E58900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3882542"/>
            <a:ext cx="190195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37764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A published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776472"/>
            <a:ext cx="3977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'When Risks Become Routine' (Feb 2026): 40 pages, 87 references, from incentive design and helmet compliance to the e-bike regulatory blind spot.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4544568"/>
            <a:ext cx="365760" cy="365760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gauge_0E8A8A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632350"/>
            <a:ext cx="190195" cy="1901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526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A 300-rider study, now in the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526280"/>
            <a:ext cx="3977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Quantifying how often riders face near-misses, which risk factors matter most, and what rider profiles exist, so interventions can be targeted.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" y="529437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bik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5382158"/>
            <a:ext cx="190195" cy="190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52760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Field, not only desk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276088"/>
            <a:ext cx="3977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Fieldwork included shadowing a delivery rider through a full nine-hour shift, documented on video.</a:t>
            </a:r>
          </a:p>
        </p:txBody>
      </p:sp>
      <p:pic>
        <p:nvPicPr>
          <p:cNvPr id="29" name="Picture 28" descr="ph_gig_riders.jpg_3.75x2.00_0.3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3703320"/>
            <a:ext cx="3429000" cy="18288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183879" y="3703320"/>
            <a:ext cx="3429000" cy="182880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5577840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Delivery-rider outreach, Road Safety Month 2026.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OUR RESEARCH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Published evidence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the sector cites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Original research, launched publicly and covered by national press. Each report turns a policy gap into something authorities can act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opt_cov_justice_unserved_15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36" y="2331720"/>
            <a:ext cx="1526463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44805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'Justice Unserved'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800600"/>
            <a:ext cx="11521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Jan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18464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Why so few hit-and-run and third-party claims reach the families entitled to them. Launched at IIT Delhi; findings presented to MoRTH.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14884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cov_deposi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923" y="2331720"/>
            <a:ext cx="1533106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71416" y="44805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'Deposited But Not Delivered'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71416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4800600"/>
            <a:ext cx="11521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518464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~₹986 crore of court-awarded compensation lies unclaimed across five High Court jurisdictions, a bottleneck the Supreme Court noted in 2025.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14884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primer_cove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4689" y="2331720"/>
            <a:ext cx="1422790" cy="2011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93024" y="44805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Pre-Hospital Care Primer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4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11521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35FF"/>
                </a:solidFill>
                <a:latin typeface="Montserrat"/>
              </a:rPr>
              <a:t>Sep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518464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Benchmarks ERSS-112 response and documents state EMS innovations, with contributions from the AIIMS Trauma Centre.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Plus: </a:t>
            </a:r>
            <a:r>
              <a:rPr sz="950" b="0" i="0">
                <a:solidFill>
                  <a:srgbClr val="6E7180"/>
                </a:solidFill>
                <a:latin typeface="Geist"/>
              </a:rPr>
              <a:t>the gig-rider brief 'When Risks Become Routine', and four open public-data platforms, all free to use and openly licensed.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YOUTH &amp; POLICY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Young talent and senior experts,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working the same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 steady pipeline of engineers and policy minds, so road safety work never runs out of hands.</a:t>
            </a:r>
          </a:p>
        </p:txBody>
      </p:sp>
      <p:pic>
        <p:nvPicPr>
          <p:cNvPr id="8" name="Picture 7" descr="ph_ideathon_winners.jpg_4.05x2.50_0.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3703320" cy="2286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1938528"/>
            <a:ext cx="3703320" cy="228600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270248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NextMile: Road Safety Policy Ideathon, grand finale, 28 Sep 2025, New Delhi.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463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35FF"/>
                </a:solidFill>
                <a:latin typeface="Montserrat"/>
              </a:rPr>
              <a:t>2,000+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035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participants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48463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35FF"/>
                </a:solidFill>
                <a:latin typeface="Montserrat"/>
              </a:rPr>
              <a:t>250+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53035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concept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48463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35FF"/>
                </a:solidFill>
                <a:latin typeface="Montserrat"/>
              </a:rPr>
              <a:t>700+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53035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48463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35FF"/>
                </a:solidFill>
                <a:latin typeface="Montserrat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53035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finalist teams</a:t>
            </a:r>
          </a:p>
        </p:txBody>
      </p:sp>
      <p:pic>
        <p:nvPicPr>
          <p:cNvPr id="19" name="Picture 18" descr="ph_forum_stage2.jpg_3.70x2.50_0.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938528"/>
            <a:ext cx="3383280" cy="2286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434840" y="1938528"/>
            <a:ext cx="3383280" cy="228600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27024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National Road Safety Implementation Forum, IIT Delhi: 60+ experts from MoRTH, WHO, UNICEF, iRAP and CSIR-CRRI reviewed the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28032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Mentors and jury from the Government of Rajasthan, NIUA, OMI, NASSCOM and CSEP judged the student teams; winning tracks now feed our audit and research pipeline.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0" y="1938528"/>
            <a:ext cx="384048" cy="384048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mic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771" y="2030699"/>
            <a:ext cx="199704" cy="1997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59952" y="1911096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National Road Safety Dialogue Series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9952" y="2267712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200+ live attendees; speakers from MoRTH, CIRT, AIIMS Trauma Centre, CSIR-CRRI and ARAI.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0" y="3108960"/>
            <a:ext cx="384048" cy="384048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message-square_0E8A8A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771" y="3201131"/>
            <a:ext cx="199704" cy="1997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759952" y="3081528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Three sessions so far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3438144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Bus safety · Delivery rider safety · Good Samaritan law &amp; the Cashless Treatment Scheme.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0" y="4279392"/>
            <a:ext cx="384048" cy="384048"/>
          </a:xfrm>
          <a:prstGeom prst="ellipse">
            <a:avLst/>
          </a:prstGeom>
          <a:solidFill>
            <a:srgbClr val="FD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monitor-play_E11900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771" y="4371563"/>
            <a:ext cx="199704" cy="1997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59952" y="425196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Advocacy on 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4608576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Our YouTube channel documents hazards and fixes on camera: ground-audit walkthroughs, Dialogue Series recordings and victim-education explainers. A public record any authority can cite.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5486400"/>
            <a:ext cx="3383280" cy="658368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555955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Next: </a:t>
            </a:r>
            <a:r>
              <a:rPr sz="950" b="0" i="0">
                <a:solidFill>
                  <a:srgbClr val="6E7180"/>
                </a:solidFill>
                <a:latin typeface="Geist"/>
              </a:rPr>
              <a:t>'Be a Rakshak' university chapters at IITs, NITs and SPAs.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ON THE GROUND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Road Safety Month 2026, run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with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With district police, schools, hospitals and delivery platforms, in Hindi and local languages.</a:t>
            </a:r>
          </a:p>
        </p:txBody>
      </p:sp>
      <p:pic>
        <p:nvPicPr>
          <p:cNvPr id="8" name="Picture 7" descr="ph_police_rally.jpg_4.70x3.55_0.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4297680" cy="3246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1938528"/>
            <a:ext cx="4297680" cy="324612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23036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National Road Safety Month rally, on the road with district traffic police, Jan 2026.</a:t>
            </a:r>
          </a:p>
        </p:txBody>
      </p:sp>
      <p:pic>
        <p:nvPicPr>
          <p:cNvPr id="11" name="Picture 10" descr="ph_stall.jpg_3.55x1.72_0.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938528"/>
            <a:ext cx="3246120" cy="15727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74920" y="1938528"/>
            <a:ext cx="3246120" cy="1572768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3557016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CFI stall at a government office</a:t>
            </a:r>
          </a:p>
        </p:txBody>
      </p:sp>
      <p:pic>
        <p:nvPicPr>
          <p:cNvPr id="14" name="Picture 13" descr="ph_police_station.jpg_3.55x1.72_0.3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938528"/>
            <a:ext cx="3246120" cy="15727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12480" y="1938528"/>
            <a:ext cx="3246120" cy="1572768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557016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Materials briefing with police staff</a:t>
            </a:r>
          </a:p>
        </p:txBody>
      </p:sp>
      <p:pic>
        <p:nvPicPr>
          <p:cNvPr id="17" name="Picture 16" descr="ph_school_kids.jpg_3.55x1.72_0.3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904488"/>
            <a:ext cx="3246120" cy="157276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74920" y="3904488"/>
            <a:ext cx="3246120" cy="1572768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5522976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School programme with certificates</a:t>
            </a:r>
          </a:p>
        </p:txBody>
      </p:sp>
      <p:pic>
        <p:nvPicPr>
          <p:cNvPr id="20" name="Picture 19" descr="ph_gig_riders.jpg_3.55x1.72_0.4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904488"/>
            <a:ext cx="3246120" cy="15727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412480" y="3904488"/>
            <a:ext cx="3246120" cy="1572768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5522976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Delivery-rider outreach, Swiggy &amp; Instamart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623560"/>
            <a:ext cx="4297680" cy="566928"/>
          </a:xfrm>
          <a:prstGeom prst="roundRect">
            <a:avLst>
              <a:gd name="adj" fmla="val 16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70585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A9955"/>
                </a:solidFill>
                <a:latin typeface="Geist"/>
              </a:rPr>
              <a:t>1M+ citizens reached </a:t>
            </a:r>
            <a:r>
              <a:rPr sz="1050" b="0" i="0">
                <a:solidFill>
                  <a:srgbClr val="0A9955"/>
                </a:solidFill>
                <a:latin typeface="Geist"/>
              </a:rPr>
              <a:t>across campaigns in year one.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PUBLIC VOICE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MS Dhoni gives road safety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a national voice</a:t>
            </a:r>
          </a:p>
        </p:txBody>
      </p:sp>
      <p:pic>
        <p:nvPicPr>
          <p:cNvPr id="7" name="Picture 6" descr="ph_dhoni_helmet.jpg_2.85x3.60_0.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2606040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783080"/>
            <a:ext cx="2606040" cy="329184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12064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MS Dhoni, Goodwill Ambassador, announced April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83080"/>
            <a:ext cx="3063240" cy="32918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57400"/>
            <a:ext cx="2606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1">
                <a:solidFill>
                  <a:srgbClr val="16181D"/>
                </a:solidFill>
                <a:latin typeface="Montserrat"/>
              </a:rPr>
              <a:t>"We already know what is going wrong. What we need now is more responsibility, more discipline, more respect for life."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0624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MS Dhoni, at the National Road Safety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Implementation Forum, IIT Delhi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783080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1" i="0" spc="160">
                <a:solidFill>
                  <a:srgbClr val="6E7180"/>
                </a:solidFill>
                <a:latin typeface="Montserrat"/>
              </a:rPr>
              <a:t>AS SEEN IN THE PRESS</a:t>
            </a:r>
          </a:p>
        </p:txBody>
      </p:sp>
      <p:pic>
        <p:nvPicPr>
          <p:cNvPr id="14" name="Picture 13" descr="opt_press_ht_primer_15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084831"/>
            <a:ext cx="2313584" cy="19659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766560" y="2084831"/>
            <a:ext cx="2313584" cy="19659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096511"/>
            <a:ext cx="2313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Hindustan Times, on our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Pre-Hospital Care Primer.</a:t>
            </a:r>
          </a:p>
        </p:txBody>
      </p:sp>
      <p:pic>
        <p:nvPicPr>
          <p:cNvPr id="17" name="Picture 16" descr="opt_press_print_ideathon_15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084831"/>
            <a:ext cx="2331720" cy="160056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281160" y="2084831"/>
            <a:ext cx="2331720" cy="1600567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373111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ThePrint, on the NextMile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ideathon finale.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70916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lg_bloombe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4867715"/>
            <a:ext cx="1243584" cy="23153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339327" y="4709160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4709160"/>
            <a:ext cx="10424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Deccan Herald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3183" y="4709160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1" y="4709160"/>
            <a:ext cx="10424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Economic Times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07039" y="4709160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7" y="4709160"/>
            <a:ext cx="10424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Fortune India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9327" y="502005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5020056"/>
            <a:ext cx="10424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IndiaSpend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73183" y="502005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1" y="5020056"/>
            <a:ext cx="10424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Scroll.in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39" y="502005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25327" y="5020056"/>
            <a:ext cx="10424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The Wire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39327" y="5330952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5" y="5330952"/>
            <a:ext cx="10424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Times of India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73183" y="5330952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1" y="5330952"/>
            <a:ext cx="10424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6181D"/>
                </a:solidFill>
                <a:latin typeface="Montserrat"/>
              </a:rPr>
              <a:t>Business Standard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440680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Dhoni's voice powers 'Be a Rakshak', school-zone safety and compensation-awareness campaigns.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WHAT WE HAVE BUILT, THE NETWORK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The institutions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around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As they appear in our working decks, engagement ranges from formal MoUs and written approvals to jury, mentoring and research collaboration.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50">
                <a:solidFill>
                  <a:srgbClr val="6E7180"/>
                </a:solidFill>
                <a:latin typeface="Montserrat"/>
              </a:rPr>
              <a:t>AUTHORITIES &amp; PUBLIC BODIES WE WORK WITH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5740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lg_nh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25" y="2167128"/>
            <a:ext cx="748854" cy="4937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956816" y="205740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lg_pw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145" y="2167128"/>
            <a:ext cx="743789" cy="49377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346704" y="205740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g_indore_n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517" y="2167128"/>
            <a:ext cx="422822" cy="49377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36592" y="205740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g_vijayawada_pol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928" y="2167128"/>
            <a:ext cx="493776" cy="49377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26480" y="205740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lg_haryana_pol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2167128"/>
            <a:ext cx="493776" cy="49377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516368" y="205740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lg_kolkata_pol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726" y="2167128"/>
            <a:ext cx="511731" cy="49377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06256" y="205740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g_kozhikode_t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7490" y="2167128"/>
            <a:ext cx="495980" cy="49377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0296144" y="205740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lg_dls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5297" y="2167128"/>
            <a:ext cx="420142" cy="4937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6928" y="306324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50">
                <a:solidFill>
                  <a:srgbClr val="6E7180"/>
                </a:solidFill>
                <a:latin typeface="Montserrat"/>
              </a:rPr>
              <a:t>UNIVERSITIES &amp; INSTITUTES FIELDING AUDIT TEAMS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3756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lg_iit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264" y="3447288"/>
            <a:ext cx="493776" cy="49377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956816" y="333756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lg_iit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1751" y="3447288"/>
            <a:ext cx="488578" cy="49377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346704" y="333756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g_nit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84951" y="3447288"/>
            <a:ext cx="421954" cy="49377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736592" y="333756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lg_u2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36329" y="3447288"/>
            <a:ext cx="498973" cy="493776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126480" y="333756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lg_u3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3450" y="3447288"/>
            <a:ext cx="644507" cy="49377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7516368" y="333756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lg_u2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18704" y="3447288"/>
            <a:ext cx="493776" cy="493776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906256" y="333756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lg_u2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08592" y="3447288"/>
            <a:ext cx="493776" cy="493776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0296144" y="333756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lg_u10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98480" y="3447288"/>
            <a:ext cx="493776" cy="4937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66928" y="434340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50">
                <a:solidFill>
                  <a:srgbClr val="6E7180"/>
                </a:solidFill>
                <a:latin typeface="Montserrat"/>
              </a:rPr>
              <a:t>EXPERT &amp; ECOSYSTEM PARTNERS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61772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lg_trip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6656" y="4823014"/>
            <a:ext cx="1078992" cy="30264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956816" y="461772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lg_niu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66544" y="4762204"/>
            <a:ext cx="1078992" cy="424263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3346704" y="461772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lg_omi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32379" y="4727448"/>
            <a:ext cx="727098" cy="493776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4736592" y="461772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lg_wri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6320" y="4781659"/>
            <a:ext cx="1078992" cy="385354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6126480" y="461772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lg_cii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36208" y="4809382"/>
            <a:ext cx="1078992" cy="329907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7516368" y="461772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4" name="Picture 53" descr="lg_gic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05051" y="4727448"/>
            <a:ext cx="921082" cy="493776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906256" y="461772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6" name="Picture 55" descr="lg_iffco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16286" y="4727448"/>
            <a:ext cx="878388" cy="493776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0296144" y="4617720"/>
            <a:ext cx="12984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lg_nia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05872" y="4769184"/>
            <a:ext cx="1078992" cy="410304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566928" y="5623560"/>
            <a:ext cx="11057839" cy="548640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" y="5715000"/>
            <a:ext cx="10646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Plus: </a:t>
            </a:r>
            <a:r>
              <a:rPr sz="950" b="0" i="0">
                <a:solidFill>
                  <a:srgbClr val="6E7180"/>
                </a:solidFill>
                <a:latin typeface="Geist"/>
              </a:rPr>
              <a:t>Jaipur Traffic Police &amp; Gurugram Police (MoUs) · CPWD &amp; district administrations · Bloomberg, Johns Hopkins, Centre for Green Mobility and PwC experts on juries and reviews.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OUR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03 · OUR PEOPLE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A full-time team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built for this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Engineering, law, policy, product and field operations, under trustees who have led Indian road safety for a decade.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630168" cy="859536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t_am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93392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196596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Amar Srivastava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402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President · Founder, Indian Road Safety Campaign · Member, National Road Safety Council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1" y="1883664"/>
            <a:ext cx="3630168" cy="859536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t_deepansh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3" y="1993392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75503" y="196596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Deepanshu Gupta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3" y="22402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Managing Trustee · Founder, IRSC · Global Youth Coalition for Road Safety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4" y="1883664"/>
            <a:ext cx="3630168" cy="859536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t_gajend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6" y="1993392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87966" y="196596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16181D"/>
                </a:solidFill>
                <a:latin typeface="Montserrat"/>
              </a:rPr>
              <a:t>Gajendra Jangid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6" y="22402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General Secretary · Co-founder, Cars24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9443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50">
                <a:solidFill>
                  <a:srgbClr val="6E7180"/>
                </a:solidFill>
                <a:latin typeface="Montserrat"/>
              </a:rPr>
              <a:t>THE FULL-TIME TEAM</a:t>
            </a:r>
          </a:p>
        </p:txBody>
      </p:sp>
      <p:pic>
        <p:nvPicPr>
          <p:cNvPr id="21" name="Picture 20" descr="t_akh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73552"/>
            <a:ext cx="530352" cy="5303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25296" y="323697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Akhtar Hussain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Mission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3456432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IIT Delhi · ex-Bain · strategy, programmes, new initiatives, partnerships and product</a:t>
            </a:r>
          </a:p>
        </p:txBody>
      </p:sp>
      <p:pic>
        <p:nvPicPr>
          <p:cNvPr id="24" name="Picture 23" descr="t_shubh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1" y="3273552"/>
            <a:ext cx="530352" cy="5303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37759" y="323697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Shubham Kumar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Policy &amp; Advocacy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59" y="3456432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NALSAR Hyderabad · programmes, policy advocacy, legal research, government relations</a:t>
            </a:r>
          </a:p>
        </p:txBody>
      </p:sp>
      <p:pic>
        <p:nvPicPr>
          <p:cNvPr id="27" name="Picture 26" descr="t_musk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854" y="3273552"/>
            <a:ext cx="530352" cy="5303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50222" y="323697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Muskan Yadav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Programmes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2" y="3456432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TISS · district programmes, Project Rakshak, infrastructure interventions, DRSC work</a:t>
            </a:r>
          </a:p>
        </p:txBody>
      </p:sp>
      <p:pic>
        <p:nvPicPr>
          <p:cNvPr id="30" name="Picture 29" descr="t_krishn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3968496"/>
            <a:ext cx="530352" cy="5303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25296" y="3931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Krishna Jain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Tech &amp; 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4151376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Builds and runs Aasha, SATARK and the open public data platforms</a:t>
            </a:r>
          </a:p>
        </p:txBody>
      </p:sp>
      <p:pic>
        <p:nvPicPr>
          <p:cNvPr id="33" name="Picture 32" descr="t_aasth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9391" y="3968496"/>
            <a:ext cx="530352" cy="5303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37759" y="3931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Aastha Shreeharsh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Development Communications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4151376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HKUST · institutional communications, government relations</a:t>
            </a:r>
          </a:p>
        </p:txBody>
      </p:sp>
      <p:pic>
        <p:nvPicPr>
          <p:cNvPr id="36" name="Picture 35" descr="t_roh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1854" y="3968496"/>
            <a:ext cx="530352" cy="53035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50222" y="3931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Rohan Sharma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Cause Marketing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2" y="4151376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Awareness campaigns, digital advocacy, community mobilisation</a:t>
            </a:r>
          </a:p>
        </p:txBody>
      </p:sp>
      <p:pic>
        <p:nvPicPr>
          <p:cNvPr id="39" name="Picture 38" descr="t_ishit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28" y="4663440"/>
            <a:ext cx="530352" cy="53035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25296" y="4626864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Ishita Rathore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People &amp; Culture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5296" y="484632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Talent and hiring, volunteers, the 75+ intern engineering corps</a:t>
            </a:r>
          </a:p>
        </p:txBody>
      </p:sp>
      <p:pic>
        <p:nvPicPr>
          <p:cNvPr id="42" name="Picture 41" descr="t_yuvraj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9391" y="4663440"/>
            <a:ext cx="530352" cy="53035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37759" y="4626864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Yuvraj Yadav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Operations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59" y="484632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Field operations across 18 cities · works with police on SATARK and enforcement rollouts</a:t>
            </a:r>
          </a:p>
        </p:txBody>
      </p:sp>
      <p:pic>
        <p:nvPicPr>
          <p:cNvPr id="45" name="Picture 44" descr="t_lovis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1854" y="4663440"/>
            <a:ext cx="530352" cy="53035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50222" y="4626864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Lovish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Creative (Video)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0222" y="484632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Video explainers, ground-audit films and the YouTube channel</a:t>
            </a:r>
          </a:p>
        </p:txBody>
      </p:sp>
      <p:pic>
        <p:nvPicPr>
          <p:cNvPr id="48" name="Picture 47" descr="t_shipr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928" y="5358384"/>
            <a:ext cx="530352" cy="53035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225296" y="5321808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Shipra Kushwaha  </a:t>
            </a:r>
            <a:r>
              <a:rPr sz="800" b="1" i="0">
                <a:solidFill>
                  <a:srgbClr val="4A35FF"/>
                </a:solidFill>
                <a:latin typeface="Geist"/>
              </a:rPr>
              <a:t>Creative (Graphic)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5296" y="5541264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Guides, comics and bilingual campaign material families actually read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53712" y="5340096"/>
            <a:ext cx="5120640" cy="548640"/>
          </a:xfrm>
          <a:prstGeom prst="roundRect">
            <a:avLst>
              <a:gd name="adj" fmla="val 12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534009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A35FF"/>
                </a:solidFill>
                <a:latin typeface="Geist"/>
              </a:rPr>
              <a:t>Plus 75+ engineering interns and 31 student audit teams.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5989320"/>
            <a:ext cx="11057839" cy="384048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" y="6053328"/>
            <a:ext cx="106463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6181D"/>
                </a:solidFill>
                <a:latin typeface="Geist"/>
              </a:rPr>
              <a:t>In-house capabilities: </a:t>
            </a:r>
            <a:r>
              <a:rPr sz="900" b="0" i="0">
                <a:solidFill>
                  <a:srgbClr val="6E7180"/>
                </a:solidFill>
                <a:latin typeface="Geist"/>
              </a:rPr>
              <a:t>road-engineering audits · legal &amp; policy research · AI product development · district operations · behaviour-change communication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OUR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03 · OUR PEOPLE, THE EXPERT BENCH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Advised by the people who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built India's road safety practice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486400" cy="932688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x_gtiw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682496"/>
            <a:ext cx="676656" cy="676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9616" y="167335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Prof. Geetam Tiwari, Board of Advisors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196596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Professor Emerita &amp; Chair, TRIP Centre, IIT Delhi · four decades of transport safety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49240" cy="932688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x_tew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682496"/>
            <a:ext cx="676656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96328" y="167335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Piyush Tewari, Board of Advisors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196596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Founder &amp; CEO, SaveLIFE Foundation · Architect of the Good Samaritan Law · Zero-Fatality Corridors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697480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JURY, MENTORS &amp; REVIEWERS AROUND OUR WORK</a:t>
            </a:r>
          </a:p>
        </p:txBody>
      </p:sp>
      <p:pic>
        <p:nvPicPr>
          <p:cNvPr id="16" name="Picture 15" descr="x_midh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2999232"/>
            <a:ext cx="64008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367588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Justice J.R. Midha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67912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Delhi High Court (Retd.)</a:t>
            </a:r>
          </a:p>
        </p:txBody>
      </p:sp>
      <p:pic>
        <p:nvPicPr>
          <p:cNvPr id="19" name="Picture 18" descr="x_d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999232"/>
            <a:ext cx="640080" cy="640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79776" y="367588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Vaibhav Dange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3867912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Ex-Advisor, MoRTH</a:t>
            </a:r>
          </a:p>
        </p:txBody>
      </p:sp>
      <p:pic>
        <p:nvPicPr>
          <p:cNvPr id="22" name="Picture 21" descr="x_tand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08" y="2999232"/>
            <a:ext cx="640080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92624" y="367588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Dr. Maya Tandon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4" y="3867912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Sahayta Trust</a:t>
            </a:r>
          </a:p>
        </p:txBody>
      </p:sp>
      <p:pic>
        <p:nvPicPr>
          <p:cNvPr id="25" name="Picture 24" descr="x_ratn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856" y="2999232"/>
            <a:ext cx="640080" cy="640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05472" y="367588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R. Venkat Ratnam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3867912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Government of Punjab</a:t>
            </a:r>
          </a:p>
        </p:txBody>
      </p:sp>
      <p:pic>
        <p:nvPicPr>
          <p:cNvPr id="28" name="Picture 27" descr="x_asrivastav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4704" y="2999232"/>
            <a:ext cx="640080" cy="6400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418320" y="367588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Akhilesh Srivastava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867912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ITS India · IRF</a:t>
            </a:r>
          </a:p>
        </p:txBody>
      </p:sp>
      <p:pic>
        <p:nvPicPr>
          <p:cNvPr id="31" name="Picture 30" descr="x_ram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3312" y="4206240"/>
            <a:ext cx="640080" cy="6400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6928" y="488289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Aishwarya Raman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074920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OMI Foundation</a:t>
            </a:r>
          </a:p>
        </p:txBody>
      </p:sp>
      <p:pic>
        <p:nvPicPr>
          <p:cNvPr id="34" name="Picture 33" descr="x_nkum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4206240"/>
            <a:ext cx="640080" cy="6400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779776" y="488289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Neeraj Kumar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79776" y="5074920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Tata AIG</a:t>
            </a:r>
          </a:p>
        </p:txBody>
      </p:sp>
      <p:pic>
        <p:nvPicPr>
          <p:cNvPr id="37" name="Picture 36" descr="x_pande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9008" y="4206240"/>
            <a:ext cx="640080" cy="6400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92624" y="488289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R.S. Pandey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2624" y="5074920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FICCI Road Safety</a:t>
            </a:r>
          </a:p>
        </p:txBody>
      </p:sp>
      <p:pic>
        <p:nvPicPr>
          <p:cNvPr id="40" name="Picture 39" descr="x_das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1856" y="4206240"/>
            <a:ext cx="640080" cy="6400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205472" y="488289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6181D"/>
                </a:solidFill>
                <a:latin typeface="Montserrat"/>
              </a:rPr>
              <a:t>Dipak K. Dash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5074920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Times of India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559552"/>
            <a:ext cx="11057839" cy="621792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5623560"/>
            <a:ext cx="106463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6181D"/>
                </a:solidFill>
                <a:latin typeface="Geist"/>
              </a:rPr>
              <a:t>Engaged through the National Road Safety Dialogue Series: </a:t>
            </a:r>
            <a:r>
              <a:rPr sz="900" b="0" i="0">
                <a:solidFill>
                  <a:srgbClr val="6E7180"/>
                </a:solidFill>
                <a:latin typeface="Geist"/>
              </a:rPr>
              <a:t>Balraj Bhanot (ex-Chair, CMVR-TSC) · I.V. Rao (TERI; ex-Maruti Suzuki) · D.P. Saste (CIRT / ex-MoRTH) · Dr. Sushma Sagar (AIIMS Trauma) · Dr. S. Velmurugan (CSIR-CRRI), and jurors from OMI, NIUA, WRI, CII and Tata AIG.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Organisation Overview  · 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1828800" cy="252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92024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No life lost on an Indian road</a:t>
            </a:r>
          </a:p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is acceptable.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520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C8C0FF"/>
                </a:solidFill>
                <a:latin typeface="Geist"/>
              </a:rPr>
              <a:t>We add the hands, the evidence and the tools that turn that goal into work the system can carry, and we track it in public.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4315968"/>
            <a:ext cx="4754880" cy="0"/>
          </a:xfrm>
          <a:prstGeom prst="line">
            <a:avLst/>
          </a:prstGeom>
          <a:ln w="12700">
            <a:solidFill>
              <a:srgbClr val="6A55FF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66928" y="4517136"/>
            <a:ext cx="9875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1">
                <a:solidFill>
                  <a:srgbClr val="FFFFFF"/>
                </a:solidFill>
                <a:latin typeface="Montserrat"/>
              </a:rPr>
              <a:t>"We already know what is going wrong. What we need now is more responsibility, more discipline, more respect for life."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1755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MS Dhoni · Goodwill Ambassador, Crashfree India</a:t>
            </a:r>
          </a:p>
        </p:txBody>
      </p:sp>
      <p:pic>
        <p:nvPicPr>
          <p:cNvPr id="9" name="Picture 8" descr="globe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614416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8408" y="55961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crashfreeindia.org</a:t>
            </a:r>
          </a:p>
        </p:txBody>
      </p:sp>
      <p:pic>
        <p:nvPicPr>
          <p:cNvPr id="11" name="Picture 10" descr="mail_C8C0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035040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8408" y="60167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akhtar@crashfreeindia.org  ·  helpdesk@crashfreeindia.org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Crashfree India · A Cars24 commitment · Operated by Vision Zero Trust, New Delhi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