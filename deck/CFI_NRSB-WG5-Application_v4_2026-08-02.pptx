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jpg"/><Relationship Id="rId4" Type="http://schemas.openxmlformats.org/officeDocument/2006/relationships/image" Target="../media/image41.png"/><Relationship Id="rId5"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image" Target="../media/image74.png"/><Relationship Id="rId12" Type="http://schemas.openxmlformats.org/officeDocument/2006/relationships/image" Target="../media/image75.png"/><Relationship Id="rId13" Type="http://schemas.openxmlformats.org/officeDocument/2006/relationships/image" Target="../media/image76.png"/><Relationship Id="rId14" Type="http://schemas.openxmlformats.org/officeDocument/2006/relationships/image" Target="../media/image77.png"/><Relationship Id="rId15" Type="http://schemas.openxmlformats.org/officeDocument/2006/relationships/image" Target="../media/image78.png"/><Relationship Id="rId16" Type="http://schemas.openxmlformats.org/officeDocument/2006/relationships/image" Target="../media/image79.png"/><Relationship Id="rId17" Type="http://schemas.openxmlformats.org/officeDocument/2006/relationships/image" Target="../media/image80.png"/><Relationship Id="rId18" Type="http://schemas.openxmlformats.org/officeDocument/2006/relationships/image" Target="../media/image81.png"/><Relationship Id="rId19" Type="http://schemas.openxmlformats.org/officeDocument/2006/relationships/image" Target="../media/image82.png"/><Relationship Id="rId20" Type="http://schemas.openxmlformats.org/officeDocument/2006/relationships/image" Target="../media/image83.png"/><Relationship Id="rId21" Type="http://schemas.openxmlformats.org/officeDocument/2006/relationships/image" Target="../media/image84.png"/><Relationship Id="rId22" Type="http://schemas.openxmlformats.org/officeDocument/2006/relationships/image" Target="../media/image85.png"/><Relationship Id="rId23" Type="http://schemas.openxmlformats.org/officeDocument/2006/relationships/image" Target="../media/image86.png"/><Relationship Id="rId24" Type="http://schemas.openxmlformats.org/officeDocument/2006/relationships/image" Target="../media/image87.png"/><Relationship Id="rId25" Type="http://schemas.openxmlformats.org/officeDocument/2006/relationships/image" Target="../media/image8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image" Target="../media/image95.png"/><Relationship Id="rId9" Type="http://schemas.openxmlformats.org/officeDocument/2006/relationships/image" Target="../media/image96.png"/><Relationship Id="rId10" Type="http://schemas.openxmlformats.org/officeDocument/2006/relationships/image" Target="../media/image97.png"/><Relationship Id="rId11" Type="http://schemas.openxmlformats.org/officeDocument/2006/relationships/image" Target="../media/image98.png"/><Relationship Id="rId12" Type="http://schemas.openxmlformats.org/officeDocument/2006/relationships/image" Target="../media/image99.png"/><Relationship Id="rId13" Type="http://schemas.openxmlformats.org/officeDocument/2006/relationships/image" Target="../media/image1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21.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 Id="rId13" Type="http://schemas.openxmlformats.org/officeDocument/2006/relationships/image" Target="../media/image1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21.jpg"/><Relationship Id="rId7" Type="http://schemas.openxmlformats.org/officeDocument/2006/relationships/image" Target="../media/image12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jpg"/><Relationship Id="rId3" Type="http://schemas.openxmlformats.org/officeDocument/2006/relationships/image" Target="../media/image132.jp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jpg"/><Relationship Id="rId3" Type="http://schemas.openxmlformats.org/officeDocument/2006/relationships/image" Target="../media/image138.jpg"/><Relationship Id="rId4" Type="http://schemas.openxmlformats.org/officeDocument/2006/relationships/image" Target="../media/image46.png"/><Relationship Id="rId5" Type="http://schemas.openxmlformats.org/officeDocument/2006/relationships/image" Target="../media/image8.png"/><Relationship Id="rId6" Type="http://schemas.openxmlformats.org/officeDocument/2006/relationships/image" Target="../media/image139.png"/><Relationship Id="rId7"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image" Target="../media/image14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5:</a:t>
            </a:r>
          </a:p>
          <a:p>
            <a:pPr algn="l">
              <a:lnSpc>
                <a:spcPct val="125000"/>
              </a:lnSpc>
            </a:pPr>
            <a:r>
              <a:rPr sz="1650" b="1" i="0">
                <a:solidFill>
                  <a:srgbClr val="4A35FF"/>
                </a:solidFill>
                <a:latin typeface="Montserrat"/>
              </a:rPr>
              <a:t>Post-Crash Care, Policy Standards &amp; State Implementation</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cpu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69494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Technology that helps crash victims: Aasha, calculator, helpdesks</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file-search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69494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Policy research and open evidence on post-crash care</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handshake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69494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Working hand in hand with authorities in Delhi, Gurugram and Rajasthan</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5,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5,</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Our post-crash work began with evidence. 'Justice Unserved', our study of the hit-and-run compensation pipeline, showed how few eligible families ever receive what the law promises, and our follow-up brief, 'Deposited But Not Delivered', found ~₹986 crore of already-awarded compensation sitting unclaimed in just five cities. Since then we have joined four District Road Safety Committees, mapped Rajasthan's scheme office-by-office with the Transport Department, and built the tools families actually use, the Aasha chatbot, a compensation calculator, hospital helpdesks that supported 100+ victims in their first four days, and plain-language guides in Hindi.</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Post-crash care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24</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25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7863840" y="1965960"/>
            <a:ext cx="3703320" cy="4400277"/>
          </a:xfrm>
          <a:prstGeom prst="rect">
            <a:avLst/>
          </a:prstGeom>
        </p:spPr>
      </p:pic>
      <p:sp>
        <p:nvSpPr>
          <p:cNvPr id="27" name="Rectangle 26"/>
          <p:cNvSpPr/>
          <p:nvPr/>
        </p:nvSpPr>
        <p:spPr>
          <a:xfrm>
            <a:off x="7863840" y="1965960"/>
            <a:ext cx="3703320" cy="440027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7863840" y="6411957"/>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5</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5,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banknote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Clearing the compensation pipeline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Pendency is measured in years and thousands of crores. Our district work shows exactly where files stall, and how visibility clears them.</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bot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Victim-facing standards &amp; tools</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Aasha, the calculator, guides and helpdesks, working models for the citizen-facing standards WG-5 will set.</a:t>
            </a:r>
          </a:p>
        </p:txBody>
      </p:sp>
      <p:sp>
        <p:nvSpPr>
          <p:cNvPr id="16" name="Oval 15"/>
          <p:cNvSpPr/>
          <p:nvPr/>
        </p:nvSpPr>
        <p:spPr>
          <a:xfrm>
            <a:off x="566928" y="3803904"/>
            <a:ext cx="365760" cy="365760"/>
          </a:xfrm>
          <a:prstGeom prst="ellipse">
            <a:avLst/>
          </a:prstGeom>
          <a:solidFill>
            <a:srgbClr val="E7F4F4"/>
          </a:solidFill>
          <a:ln>
            <a:noFill/>
          </a:ln>
          <a:effectLst/>
        </p:spPr>
        <p:txBody>
          <a:bodyPr rtlCol="0" anchor="ctr"/>
          <a:lstStyle/>
          <a:p>
            <a:pPr algn="ctr"/>
          </a:p>
        </p:txBody>
      </p:sp>
      <p:pic>
        <p:nvPicPr>
          <p:cNvPr id="17" name="Picture 16" descr="stethoscope_0E8A8A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EMS &amp; trauma-care evidence</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Pre-Hospital Care Primer benchmarks ERSS-112 and documents state innovations, a ready baseline for care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Justice Unserved evidence</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Rajasthan portal blueprint</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4 DRSC working seats</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Legal bench: MACT + DLSA</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Aasha + calculator live</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Trauma-ward helpdesks</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pp_midha.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Justice J.R. Midha</a:t>
            </a:r>
          </a:p>
        </p:txBody>
      </p:sp>
      <p:sp>
        <p:nvSpPr>
          <p:cNvPr id="37" name="TextBox 36"/>
          <p:cNvSpPr txBox="1"/>
          <p:nvPr/>
        </p:nvSpPr>
        <p:spPr>
          <a:xfrm>
            <a:off x="1536192"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Retd., Delhi HC · MACT process architect</a:t>
            </a:r>
          </a:p>
        </p:txBody>
      </p:sp>
      <p:sp>
        <p:nvSpPr>
          <p:cNvPr id="38" name="Rounded Rectangle 37"/>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2904683" y="5138928"/>
            <a:ext cx="777240" cy="777240"/>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2904683"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41" name="TextBox 40"/>
          <p:cNvSpPr txBox="1"/>
          <p:nvPr/>
        </p:nvSpPr>
        <p:spPr>
          <a:xfrm>
            <a:off x="3764219"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Piyush Tewari</a:t>
            </a:r>
          </a:p>
        </p:txBody>
      </p:sp>
      <p:sp>
        <p:nvSpPr>
          <p:cNvPr id="42" name="TextBox 41"/>
          <p:cNvSpPr txBox="1"/>
          <p:nvPr/>
        </p:nvSpPr>
        <p:spPr>
          <a:xfrm>
            <a:off x="3764219"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SaveLIFE Foundation · Good Samaritan Law</a:t>
            </a:r>
          </a:p>
        </p:txBody>
      </p:sp>
      <p:sp>
        <p:nvSpPr>
          <p:cNvPr id="43" name="Rounded Rectangle 42"/>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sp>
        <p:nvSpPr>
          <p:cNvPr id="44" name="Oval 43"/>
          <p:cNvSpPr/>
          <p:nvPr/>
        </p:nvSpPr>
        <p:spPr>
          <a:xfrm>
            <a:off x="5132710" y="5138928"/>
            <a:ext cx="777240" cy="777240"/>
          </a:xfrm>
          <a:prstGeom prst="ellipse">
            <a:avLst/>
          </a:prstGeom>
          <a:solidFill>
            <a:srgbClr val="EFEDFF"/>
          </a:solidFill>
          <a:ln>
            <a:noFill/>
          </a:ln>
          <a:effectLst/>
        </p:spPr>
        <p:txBody>
          <a:bodyPr rtlCol="0" anchor="ctr"/>
          <a:lstStyle/>
          <a:p>
            <a:pPr algn="ctr"/>
          </a:p>
        </p:txBody>
      </p:sp>
      <p:sp>
        <p:nvSpPr>
          <p:cNvPr id="45" name="TextBox 44"/>
          <p:cNvSpPr txBox="1"/>
          <p:nvPr/>
        </p:nvSpPr>
        <p:spPr>
          <a:xfrm>
            <a:off x="5132710" y="5120640"/>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SS</a:t>
            </a:r>
          </a:p>
        </p:txBody>
      </p:sp>
      <p:sp>
        <p:nvSpPr>
          <p:cNvPr id="46" name="TextBox 45"/>
          <p:cNvSpPr txBox="1"/>
          <p:nvPr/>
        </p:nvSpPr>
        <p:spPr>
          <a:xfrm>
            <a:off x="5992246"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Dr. Sushma Sagar</a:t>
            </a:r>
          </a:p>
        </p:txBody>
      </p:sp>
      <p:sp>
        <p:nvSpPr>
          <p:cNvPr id="47" name="TextBox 46"/>
          <p:cNvSpPr txBox="1"/>
          <p:nvPr/>
        </p:nvSpPr>
        <p:spPr>
          <a:xfrm>
            <a:off x="5992246"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Prof. &amp; In-charge, Trauma Surgery, JPN Apex Trauma Centre, AIIMS</a:t>
            </a:r>
          </a:p>
        </p:txBody>
      </p:sp>
      <p:sp>
        <p:nvSpPr>
          <p:cNvPr id="48" name="Rounded Rectangle 47"/>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9" name="Picture 48" descr="x_tandon.png"/>
          <p:cNvPicPr>
            <a:picLocks noChangeAspect="1"/>
          </p:cNvPicPr>
          <p:nvPr/>
        </p:nvPicPr>
        <p:blipFill>
          <a:blip r:embed="rId6"/>
          <a:stretch>
            <a:fillRect/>
          </a:stretch>
        </p:blipFill>
        <p:spPr>
          <a:xfrm>
            <a:off x="7360737" y="5138928"/>
            <a:ext cx="777240" cy="777240"/>
          </a:xfrm>
          <a:prstGeom prst="rect">
            <a:avLst/>
          </a:prstGeom>
        </p:spPr>
      </p:pic>
      <p:sp>
        <p:nvSpPr>
          <p:cNvPr id="50" name="TextBox 49"/>
          <p:cNvSpPr txBox="1"/>
          <p:nvPr/>
        </p:nvSpPr>
        <p:spPr>
          <a:xfrm>
            <a:off x="8220273"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Dr. Maya Tandon</a:t>
            </a:r>
          </a:p>
        </p:txBody>
      </p:sp>
      <p:sp>
        <p:nvSpPr>
          <p:cNvPr id="51" name="TextBox 50"/>
          <p:cNvSpPr txBox="1"/>
          <p:nvPr/>
        </p:nvSpPr>
        <p:spPr>
          <a:xfrm>
            <a:off x="8220273"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Sahayta Trust · trauma-response pioneer</a:t>
            </a:r>
          </a:p>
        </p:txBody>
      </p:sp>
      <p:sp>
        <p:nvSpPr>
          <p:cNvPr id="52" name="Rounded Rectangle 51"/>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53" name="Picture 52" descr="x_pp_mishika.png"/>
          <p:cNvPicPr>
            <a:picLocks noChangeAspect="1"/>
          </p:cNvPicPr>
          <p:nvPr/>
        </p:nvPicPr>
        <p:blipFill>
          <a:blip r:embed="rId7"/>
          <a:stretch>
            <a:fillRect/>
          </a:stretch>
        </p:blipFill>
        <p:spPr>
          <a:xfrm>
            <a:off x="9588764" y="5138928"/>
            <a:ext cx="777240" cy="777240"/>
          </a:xfrm>
          <a:prstGeom prst="rect">
            <a:avLst/>
          </a:prstGeom>
        </p:spPr>
      </p:pic>
      <p:sp>
        <p:nvSpPr>
          <p:cNvPr id="54" name="TextBox 53"/>
          <p:cNvSpPr txBox="1"/>
          <p:nvPr/>
        </p:nvSpPr>
        <p:spPr>
          <a:xfrm>
            <a:off x="10448300" y="5084064"/>
            <a:ext cx="1094171" cy="36576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Mishika Singh</a:t>
            </a:r>
          </a:p>
        </p:txBody>
      </p:sp>
      <p:sp>
        <p:nvSpPr>
          <p:cNvPr id="55" name="TextBox 54"/>
          <p:cNvSpPr txBox="1"/>
          <p:nvPr/>
        </p:nvSpPr>
        <p:spPr>
          <a:xfrm>
            <a:off x="10448300" y="5440680"/>
            <a:ext cx="1094171" cy="603504"/>
          </a:xfrm>
          <a:prstGeom prst="rect">
            <a:avLst/>
          </a:prstGeom>
          <a:noFill/>
        </p:spPr>
        <p:txBody>
          <a:bodyPr wrap="square" lIns="0" rIns="0" tIns="0" bIns="0" anchor="t">
            <a:spAutoFit/>
          </a:bodyPr>
          <a:lstStyle/>
          <a:p>
            <a:pPr algn="l">
              <a:lnSpc>
                <a:spcPct val="115000"/>
              </a:lnSpc>
            </a:pPr>
            <a:r>
              <a:rPr sz="750" b="0" i="0">
                <a:solidFill>
                  <a:srgbClr val="6E7180"/>
                </a:solidFill>
                <a:latin typeface="Geist"/>
              </a:rPr>
              <a:t>Neev Foundation · legal helpdesks</a:t>
            </a:r>
          </a:p>
        </p:txBody>
      </p:sp>
      <p:cxnSp>
        <p:nvCxnSpPr>
          <p:cNvPr id="56" name="Connector 55"/>
          <p:cNvCxnSpPr/>
          <p:nvPr/>
        </p:nvCxnSpPr>
        <p:spPr>
          <a:xfrm>
            <a:off x="566928" y="6455664"/>
            <a:ext cx="11057839" cy="0"/>
          </a:xfrm>
          <a:prstGeom prst="line">
            <a:avLst/>
          </a:prstGeom>
          <a:ln w="9525">
            <a:solidFill>
              <a:srgbClr val="E8E9EE"/>
            </a:solidFill>
          </a:ln>
          <a:effectLst/>
        </p:spPr>
      </p:cxnSp>
      <p:sp>
        <p:nvSpPr>
          <p:cNvPr id="57" name="TextBox 56"/>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8" name="TextBox 5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Screenshots taken from the live platforms this week. Each one turns a scattered public record into structured, citable evidence.</a:t>
            </a:r>
          </a:p>
        </p:txBody>
      </p:sp>
      <p:pic>
        <p:nvPicPr>
          <p:cNvPr id="8" name="Picture 7" descr="parliament_live.png_6.00x3.40_0.00.jpg"/>
          <p:cNvPicPr>
            <a:picLocks noChangeAspect="1"/>
          </p:cNvPicPr>
          <p:nvPr/>
        </p:nvPicPr>
        <p:blipFill>
          <a:blip r:embed="rId2"/>
          <a:stretch>
            <a:fillRect/>
          </a:stretch>
        </p:blipFill>
        <p:spPr>
          <a:xfrm>
            <a:off x="566928" y="1938528"/>
            <a:ext cx="5486400" cy="3108960"/>
          </a:xfrm>
          <a:prstGeom prst="rect">
            <a:avLst/>
          </a:prstGeom>
        </p:spPr>
      </p:pic>
      <p:sp>
        <p:nvSpPr>
          <p:cNvPr id="9" name="Rectangle 8"/>
          <p:cNvSpPr/>
          <p:nvPr/>
        </p:nvSpPr>
        <p:spPr>
          <a:xfrm>
            <a:off x="566928" y="1938528"/>
            <a:ext cx="5486400" cy="31089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093208"/>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 92% answered only in writing.</a:t>
            </a:r>
          </a:p>
        </p:txBody>
      </p:sp>
      <p:pic>
        <p:nvPicPr>
          <p:cNvPr id="11" name="Picture 10" descr="sctracker.png_6.00x3.40_0.00.jpg"/>
          <p:cNvPicPr>
            <a:picLocks noChangeAspect="1"/>
          </p:cNvPicPr>
          <p:nvPr/>
        </p:nvPicPr>
        <p:blipFill>
          <a:blip r:embed="rId3"/>
          <a:stretch>
            <a:fillRect/>
          </a:stretch>
        </p:blipFill>
        <p:spPr>
          <a:xfrm>
            <a:off x="6144768" y="1938528"/>
            <a:ext cx="5486400" cy="3108960"/>
          </a:xfrm>
          <a:prstGeom prst="rect">
            <a:avLst/>
          </a:prstGeom>
        </p:spPr>
      </p:pic>
      <p:sp>
        <p:nvSpPr>
          <p:cNvPr id="12" name="Rectangle 11"/>
          <p:cNvSpPr/>
          <p:nvPr/>
        </p:nvSpPr>
        <p:spPr>
          <a:xfrm>
            <a:off x="6144768" y="1938528"/>
            <a:ext cx="5486400" cy="310896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5093208"/>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20 systemic cases, 191 orders indexed, 30 precedent judgments. Refreshes every Tuesday.</a:t>
            </a:r>
          </a:p>
        </p:txBody>
      </p:sp>
      <p:sp>
        <p:nvSpPr>
          <p:cNvPr id="14" name="Oval 13"/>
          <p:cNvSpPr/>
          <p:nvPr/>
        </p:nvSpPr>
        <p:spPr>
          <a:xfrm>
            <a:off x="566928" y="5532120"/>
            <a:ext cx="365760" cy="365760"/>
          </a:xfrm>
          <a:prstGeom prst="ellipse">
            <a:avLst/>
          </a:prstGeom>
          <a:solidFill>
            <a:srgbClr val="E7F4F4"/>
          </a:solidFill>
          <a:ln>
            <a:noFill/>
          </a:ln>
          <a:effectLst/>
        </p:spPr>
        <p:txBody>
          <a:bodyPr rtlCol="0" anchor="ctr"/>
          <a:lstStyle/>
          <a:p>
            <a:pPr algn="ctr"/>
          </a:p>
        </p:txBody>
      </p:sp>
      <p:pic>
        <p:nvPicPr>
          <p:cNvPr id="15" name="Picture 14" descr="database_0E8A8A_256_2.0.png"/>
          <p:cNvPicPr>
            <a:picLocks noChangeAspect="1"/>
          </p:cNvPicPr>
          <p:nvPr/>
        </p:nvPicPr>
        <p:blipFill>
          <a:blip r:embed="rId4"/>
          <a:stretch>
            <a:fillRect/>
          </a:stretch>
        </p:blipFill>
        <p:spPr>
          <a:xfrm>
            <a:off x="654710" y="5619902"/>
            <a:ext cx="190195" cy="190195"/>
          </a:xfrm>
          <a:prstGeom prst="rect">
            <a:avLst/>
          </a:prstGeom>
        </p:spPr>
      </p:pic>
      <p:sp>
        <p:nvSpPr>
          <p:cNvPr id="16" name="TextBox 15"/>
          <p:cNvSpPr txBox="1"/>
          <p:nvPr/>
        </p:nvSpPr>
        <p:spPr>
          <a:xfrm>
            <a:off x="1042416" y="5504688"/>
            <a:ext cx="5029200" cy="32004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Road-Infrastructure Defect Repository</a:t>
            </a:r>
          </a:p>
        </p:txBody>
      </p:sp>
      <p:sp>
        <p:nvSpPr>
          <p:cNvPr id="17" name="TextBox 16"/>
          <p:cNvSpPr txBox="1"/>
          <p:nvPr/>
        </p:nvSpPr>
        <p:spPr>
          <a:xfrm>
            <a:off x="1042416" y="5769864"/>
            <a:ext cx="4937760" cy="548640"/>
          </a:xfrm>
          <a:prstGeom prst="rect">
            <a:avLst/>
          </a:prstGeom>
          <a:noFill/>
        </p:spPr>
        <p:txBody>
          <a:bodyPr wrap="square" lIns="0" rIns="0" tIns="0" bIns="0" anchor="t">
            <a:spAutoFit/>
          </a:bodyPr>
          <a:lstStyle/>
          <a:p>
            <a:pPr algn="l">
              <a:lnSpc>
                <a:spcPct val="118000"/>
              </a:lnSpc>
            </a:pPr>
            <a:r>
              <a:rPr sz="850" b="0" i="0">
                <a:solidFill>
                  <a:srgbClr val="6E7180"/>
                </a:solidFill>
                <a:latin typeface="Geist"/>
              </a:rPr>
              <a:t>An AI pipeline reads local-language news from 146 districts every morning and turns defect reports into structured, mapped evidence.</a:t>
            </a:r>
          </a:p>
        </p:txBody>
      </p:sp>
      <p:sp>
        <p:nvSpPr>
          <p:cNvPr id="18" name="Oval 17"/>
          <p:cNvSpPr/>
          <p:nvPr/>
        </p:nvSpPr>
        <p:spPr>
          <a:xfrm>
            <a:off x="6144768" y="5532120"/>
            <a:ext cx="365760" cy="365760"/>
          </a:xfrm>
          <a:prstGeom prst="ellipse">
            <a:avLst/>
          </a:prstGeom>
          <a:solidFill>
            <a:srgbClr val="FDF3E3"/>
          </a:solidFill>
          <a:ln>
            <a:noFill/>
          </a:ln>
          <a:effectLst/>
        </p:spPr>
        <p:txBody>
          <a:bodyPr rtlCol="0" anchor="ctr"/>
          <a:lstStyle/>
          <a:p>
            <a:pPr algn="ctr"/>
          </a:p>
        </p:txBody>
      </p:sp>
      <p:pic>
        <p:nvPicPr>
          <p:cNvPr id="19" name="Picture 18" descr="bar-chart-3_E58900_256_2.0.png"/>
          <p:cNvPicPr>
            <a:picLocks noChangeAspect="1"/>
          </p:cNvPicPr>
          <p:nvPr/>
        </p:nvPicPr>
        <p:blipFill>
          <a:blip r:embed="rId5"/>
          <a:stretch>
            <a:fillRect/>
          </a:stretch>
        </p:blipFill>
        <p:spPr>
          <a:xfrm>
            <a:off x="6232550" y="5619902"/>
            <a:ext cx="190195" cy="190195"/>
          </a:xfrm>
          <a:prstGeom prst="rect">
            <a:avLst/>
          </a:prstGeom>
        </p:spPr>
      </p:pic>
      <p:sp>
        <p:nvSpPr>
          <p:cNvPr id="20" name="TextBox 19"/>
          <p:cNvSpPr txBox="1"/>
          <p:nvPr/>
        </p:nvSpPr>
        <p:spPr>
          <a:xfrm>
            <a:off x="6620256" y="5504688"/>
            <a:ext cx="5029200" cy="32004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1" name="TextBox 20"/>
          <p:cNvSpPr txBox="1"/>
          <p:nvPr/>
        </p:nvSpPr>
        <p:spPr>
          <a:xfrm>
            <a:off x="6620256" y="5769864"/>
            <a:ext cx="4937760" cy="548640"/>
          </a:xfrm>
          <a:prstGeom prst="rect">
            <a:avLst/>
          </a:prstGeom>
          <a:noFill/>
        </p:spPr>
        <p:txBody>
          <a:bodyPr wrap="square" lIns="0" rIns="0" tIns="0" bIns="0" anchor="t">
            <a:spAutoFit/>
          </a:bodyPr>
          <a:lstStyle/>
          <a:p>
            <a:pPr algn="l">
              <a:lnSpc>
                <a:spcPct val="118000"/>
              </a:lnSpc>
            </a:pPr>
            <a:r>
              <a:rPr sz="850" b="0" i="0">
                <a:solidFill>
                  <a:srgbClr val="6E7180"/>
                </a:solidFill>
                <a:latin typeface="Geist"/>
              </a:rPr>
              <a:t>MoRTH's annual 'Road Accidents in India' books as a usable product: report cards for 36 states and 50 cities, open licence (CC-BY).</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pic>
        <p:nvPicPr>
          <p:cNvPr id="8" name="Picture 7" descr="ui_aasha_chat.png"/>
          <p:cNvPicPr>
            <a:picLocks noChangeAspect="1"/>
          </p:cNvPicPr>
          <p:nvPr/>
        </p:nvPicPr>
        <p:blipFill>
          <a:blip r:embed="rId2"/>
          <a:stretch>
            <a:fillRect/>
          </a:stretch>
        </p:blipFill>
        <p:spPr>
          <a:xfrm>
            <a:off x="566928" y="1920240"/>
            <a:ext cx="3850544" cy="2834640"/>
          </a:xfrm>
          <a:prstGeom prst="rect">
            <a:avLst/>
          </a:prstGeom>
        </p:spPr>
      </p:pic>
      <p:sp>
        <p:nvSpPr>
          <p:cNvPr id="9" name="Rectangle 8"/>
          <p:cNvSpPr/>
          <p:nvPr/>
        </p:nvSpPr>
        <p:spPr>
          <a:xfrm>
            <a:off x="566928" y="1920240"/>
            <a:ext cx="3850544" cy="283464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00600"/>
            <a:ext cx="385054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Aasha, live on WhatsApp, 24/7, multilingual, step-by-step guidance on rights, schemes and documents.</a:t>
            </a:r>
          </a:p>
        </p:txBody>
      </p:sp>
      <p:sp>
        <p:nvSpPr>
          <p:cNvPr id="11" name="Oval 10"/>
          <p:cNvSpPr/>
          <p:nvPr/>
        </p:nvSpPr>
        <p:spPr>
          <a:xfrm>
            <a:off x="566928" y="5166360"/>
            <a:ext cx="365760" cy="365760"/>
          </a:xfrm>
          <a:prstGeom prst="ellipse">
            <a:avLst/>
          </a:prstGeom>
          <a:solidFill>
            <a:srgbClr val="EFEDFF"/>
          </a:solidFill>
          <a:ln>
            <a:noFill/>
          </a:ln>
          <a:effectLst/>
        </p:spPr>
        <p:txBody>
          <a:bodyPr rtlCol="0" anchor="ctr"/>
          <a:lstStyle/>
          <a:p>
            <a:pPr algn="ctr"/>
          </a:p>
        </p:txBody>
      </p:sp>
      <p:pic>
        <p:nvPicPr>
          <p:cNvPr id="12" name="Picture 11" descr="bot_4A35FF_256_2.0.png"/>
          <p:cNvPicPr>
            <a:picLocks noChangeAspect="1"/>
          </p:cNvPicPr>
          <p:nvPr/>
        </p:nvPicPr>
        <p:blipFill>
          <a:blip r:embed="rId3"/>
          <a:stretch>
            <a:fillRect/>
          </a:stretch>
        </p:blipFill>
        <p:spPr>
          <a:xfrm>
            <a:off x="654710" y="5254142"/>
            <a:ext cx="190195" cy="190195"/>
          </a:xfrm>
          <a:prstGeom prst="rect">
            <a:avLst/>
          </a:prstGeom>
        </p:spPr>
      </p:pic>
      <p:sp>
        <p:nvSpPr>
          <p:cNvPr id="13" name="TextBox 12"/>
          <p:cNvSpPr txBox="1"/>
          <p:nvPr/>
        </p:nvSpPr>
        <p:spPr>
          <a:xfrm>
            <a:off x="104241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Aasha chatbot, </a:t>
            </a:r>
            <a:r>
              <a:rPr sz="850" b="0" i="0">
                <a:solidFill>
                  <a:srgbClr val="6E7180"/>
                </a:solidFill>
                <a:latin typeface="Geist"/>
              </a:rPr>
              <a:t>India's first AI legal companion for crash victims, no app, no portal, just WhatsApp and voice.</a:t>
            </a:r>
          </a:p>
        </p:txBody>
      </p:sp>
      <p:sp>
        <p:nvSpPr>
          <p:cNvPr id="14" name="Oval 13"/>
          <p:cNvSpPr/>
          <p:nvPr/>
        </p:nvSpPr>
        <p:spPr>
          <a:xfrm>
            <a:off x="6190488" y="5166360"/>
            <a:ext cx="365760" cy="365760"/>
          </a:xfrm>
          <a:prstGeom prst="ellipse">
            <a:avLst/>
          </a:prstGeom>
          <a:solidFill>
            <a:srgbClr val="E7F4F4"/>
          </a:solidFill>
          <a:ln>
            <a:noFill/>
          </a:ln>
          <a:effectLst/>
        </p:spPr>
        <p:txBody>
          <a:bodyPr rtlCol="0" anchor="ctr"/>
          <a:lstStyle/>
          <a:p>
            <a:pPr algn="ctr"/>
          </a:p>
        </p:txBody>
      </p:sp>
      <p:pic>
        <p:nvPicPr>
          <p:cNvPr id="15" name="Picture 14" descr="calculator_0E8A8A_256_2.0.png"/>
          <p:cNvPicPr>
            <a:picLocks noChangeAspect="1"/>
          </p:cNvPicPr>
          <p:nvPr/>
        </p:nvPicPr>
        <p:blipFill>
          <a:blip r:embed="rId4"/>
          <a:stretch>
            <a:fillRect/>
          </a:stretch>
        </p:blipFill>
        <p:spPr>
          <a:xfrm>
            <a:off x="6278270" y="5254142"/>
            <a:ext cx="190195" cy="190195"/>
          </a:xfrm>
          <a:prstGeom prst="rect">
            <a:avLst/>
          </a:prstGeom>
        </p:spPr>
      </p:pic>
      <p:sp>
        <p:nvSpPr>
          <p:cNvPr id="16" name="TextBox 15"/>
          <p:cNvSpPr txBox="1"/>
          <p:nvPr/>
        </p:nvSpPr>
        <p:spPr>
          <a:xfrm>
            <a:off x="666597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Compensation Calculator, </a:t>
            </a:r>
            <a:r>
              <a:rPr sz="850" b="0" i="0">
                <a:solidFill>
                  <a:srgbClr val="6E7180"/>
                </a:solidFill>
                <a:latin typeface="Geist"/>
              </a:rPr>
              <a:t>Free instant estimates on Supreme Court principles (Sarla Verma, Pranay Sethi).</a:t>
            </a:r>
          </a:p>
        </p:txBody>
      </p:sp>
      <p:sp>
        <p:nvSpPr>
          <p:cNvPr id="17" name="Oval 16"/>
          <p:cNvSpPr/>
          <p:nvPr/>
        </p:nvSpPr>
        <p:spPr>
          <a:xfrm>
            <a:off x="566928" y="5733288"/>
            <a:ext cx="365760" cy="365760"/>
          </a:xfrm>
          <a:prstGeom prst="ellipse">
            <a:avLst/>
          </a:prstGeom>
          <a:solidFill>
            <a:srgbClr val="E9F7F0"/>
          </a:solidFill>
          <a:ln>
            <a:noFill/>
          </a:ln>
          <a:effectLst/>
        </p:spPr>
        <p:txBody>
          <a:bodyPr rtlCol="0" anchor="ctr"/>
          <a:lstStyle/>
          <a:p>
            <a:pPr algn="ctr"/>
          </a:p>
        </p:txBody>
      </p:sp>
      <p:pic>
        <p:nvPicPr>
          <p:cNvPr id="18" name="Picture 17" descr="life-buoy_0A9955_256_2.0.png"/>
          <p:cNvPicPr>
            <a:picLocks noChangeAspect="1"/>
          </p:cNvPicPr>
          <p:nvPr/>
        </p:nvPicPr>
        <p:blipFill>
          <a:blip r:embed="rId5"/>
          <a:stretch>
            <a:fillRect/>
          </a:stretch>
        </p:blipFill>
        <p:spPr>
          <a:xfrm>
            <a:off x="654710" y="5821070"/>
            <a:ext cx="190195" cy="190195"/>
          </a:xfrm>
          <a:prstGeom prst="rect">
            <a:avLst/>
          </a:prstGeom>
        </p:spPr>
      </p:pic>
      <p:sp>
        <p:nvSpPr>
          <p:cNvPr id="19" name="TextBox 18"/>
          <p:cNvSpPr txBox="1"/>
          <p:nvPr/>
        </p:nvSpPr>
        <p:spPr>
          <a:xfrm>
            <a:off x="104241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Hospital helpdesks, </a:t>
            </a:r>
            <a:r>
              <a:rPr sz="850" b="0" i="0">
                <a:solidFill>
                  <a:srgbClr val="6E7180"/>
                </a:solidFill>
                <a:latin typeface="Geist"/>
              </a:rPr>
              <a:t>Legal desks in trauma wards, 100+ victims supported in the first four days.</a:t>
            </a:r>
          </a:p>
        </p:txBody>
      </p:sp>
      <p:sp>
        <p:nvSpPr>
          <p:cNvPr id="20" name="Oval 19"/>
          <p:cNvSpPr/>
          <p:nvPr/>
        </p:nvSpPr>
        <p:spPr>
          <a:xfrm>
            <a:off x="6190488" y="5733288"/>
            <a:ext cx="365760" cy="365760"/>
          </a:xfrm>
          <a:prstGeom prst="ellipse">
            <a:avLst/>
          </a:prstGeom>
          <a:solidFill>
            <a:srgbClr val="FDF3E3"/>
          </a:solidFill>
          <a:ln>
            <a:noFill/>
          </a:ln>
          <a:effectLst/>
        </p:spPr>
        <p:txBody>
          <a:bodyPr rtlCol="0" anchor="ctr"/>
          <a:lstStyle/>
          <a:p>
            <a:pPr algn="ctr"/>
          </a:p>
        </p:txBody>
      </p:sp>
      <p:pic>
        <p:nvPicPr>
          <p:cNvPr id="21" name="Picture 20" descr="book-open_E58900_256_2.0.png"/>
          <p:cNvPicPr>
            <a:picLocks noChangeAspect="1"/>
          </p:cNvPicPr>
          <p:nvPr/>
        </p:nvPicPr>
        <p:blipFill>
          <a:blip r:embed="rId6"/>
          <a:stretch>
            <a:fillRect/>
          </a:stretch>
        </p:blipFill>
        <p:spPr>
          <a:xfrm>
            <a:off x="6278270" y="5821070"/>
            <a:ext cx="190195" cy="190195"/>
          </a:xfrm>
          <a:prstGeom prst="rect">
            <a:avLst/>
          </a:prstGeom>
        </p:spPr>
      </p:pic>
      <p:sp>
        <p:nvSpPr>
          <p:cNvPr id="22" name="TextBox 21"/>
          <p:cNvSpPr txBox="1"/>
          <p:nvPr/>
        </p:nvSpPr>
        <p:spPr>
          <a:xfrm>
            <a:off x="666597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Plain-language education, </a:t>
            </a:r>
            <a:r>
              <a:rPr sz="850" b="0" i="0">
                <a:solidFill>
                  <a:srgbClr val="6E7180"/>
                </a:solidFill>
                <a:latin typeface="Geist"/>
              </a:rPr>
              <a:t>Comics and Hindi guides on all three compensation routes, NALSA 15100 and the Cashless Treatment Scheme 2025.</a:t>
            </a:r>
          </a:p>
        </p:txBody>
      </p:sp>
      <p:pic>
        <p:nvPicPr>
          <p:cNvPr id="23" name="Picture 22" descr="ui_mact_calc.png"/>
          <p:cNvPicPr>
            <a:picLocks noChangeAspect="1"/>
          </p:cNvPicPr>
          <p:nvPr/>
        </p:nvPicPr>
        <p:blipFill>
          <a:blip r:embed="rId7"/>
          <a:stretch>
            <a:fillRect/>
          </a:stretch>
        </p:blipFill>
        <p:spPr>
          <a:xfrm>
            <a:off x="4572000" y="1920240"/>
            <a:ext cx="2871645" cy="2834640"/>
          </a:xfrm>
          <a:prstGeom prst="rect">
            <a:avLst/>
          </a:prstGeom>
        </p:spPr>
      </p:pic>
      <p:sp>
        <p:nvSpPr>
          <p:cNvPr id="24" name="Rectangle 23"/>
          <p:cNvSpPr/>
          <p:nvPr/>
        </p:nvSpPr>
        <p:spPr>
          <a:xfrm>
            <a:off x="4572000" y="1920240"/>
            <a:ext cx="2871645" cy="28346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4572000" y="4800600"/>
            <a:ext cx="287164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Calculator, a sample estimate</a:t>
            </a:r>
          </a:p>
          <a:p>
            <a:pPr algn="l">
              <a:lnSpc>
                <a:spcPct val="112000"/>
              </a:lnSpc>
            </a:pPr>
            <a:r>
              <a:rPr sz="850" b="0" i="0">
                <a:solidFill>
                  <a:srgbClr val="6E7180"/>
                </a:solidFill>
                <a:latin typeface="Geist"/>
              </a:rPr>
              <a:t>computed on SC principles.</a:t>
            </a:r>
          </a:p>
        </p:txBody>
      </p:sp>
      <p:pic>
        <p:nvPicPr>
          <p:cNvPr id="26" name="Picture 25" descr="comic_aasha_page.png"/>
          <p:cNvPicPr>
            <a:picLocks noChangeAspect="1"/>
          </p:cNvPicPr>
          <p:nvPr/>
        </p:nvPicPr>
        <p:blipFill>
          <a:blip r:embed="rId8"/>
          <a:stretch>
            <a:fillRect/>
          </a:stretch>
        </p:blipFill>
        <p:spPr>
          <a:xfrm>
            <a:off x="8183879" y="1920240"/>
            <a:ext cx="2142375" cy="2834640"/>
          </a:xfrm>
          <a:prstGeom prst="rect">
            <a:avLst/>
          </a:prstGeom>
        </p:spPr>
      </p:pic>
      <p:sp>
        <p:nvSpPr>
          <p:cNvPr id="27" name="Rectangle 26"/>
          <p:cNvSpPr/>
          <p:nvPr/>
        </p:nvSpPr>
        <p:spPr>
          <a:xfrm>
            <a:off x="8183879" y="1920240"/>
            <a:ext cx="2142375" cy="283464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183879" y="4800600"/>
            <a:ext cx="214237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'Meet Aasha' comic, legal education</a:t>
            </a:r>
          </a:p>
          <a:p>
            <a:pPr algn="l">
              <a:lnSpc>
                <a:spcPct val="112000"/>
              </a:lnSpc>
            </a:pPr>
            <a:r>
              <a:rPr sz="850" b="0" i="0">
                <a:solidFill>
                  <a:srgbClr val="6E7180"/>
                </a:solidFill>
                <a:latin typeface="Geist"/>
              </a:rPr>
              <a:t>families actually read.</a:t>
            </a:r>
          </a:p>
        </p:txBody>
      </p:sp>
      <p:pic>
        <p:nvPicPr>
          <p:cNvPr id="29" name="Picture 28" descr="opt_guide_p1_1500.jpg"/>
          <p:cNvPicPr>
            <a:picLocks noChangeAspect="1"/>
          </p:cNvPicPr>
          <p:nvPr/>
        </p:nvPicPr>
        <p:blipFill>
          <a:blip r:embed="rId9"/>
          <a:stretch>
            <a:fillRect/>
          </a:stretch>
        </p:blipFill>
        <p:spPr>
          <a:xfrm>
            <a:off x="10195560" y="1920240"/>
            <a:ext cx="1417320" cy="1941731"/>
          </a:xfrm>
          <a:prstGeom prst="rect">
            <a:avLst/>
          </a:prstGeom>
        </p:spPr>
      </p:pic>
      <p:sp>
        <p:nvSpPr>
          <p:cNvPr id="30" name="Rectangle 29"/>
          <p:cNvSpPr/>
          <p:nvPr/>
        </p:nvSpPr>
        <p:spPr>
          <a:xfrm>
            <a:off x="10195560" y="1920240"/>
            <a:ext cx="1417320" cy="1941731"/>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10195560" y="3907691"/>
            <a:ext cx="201168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Hindi legal-rights</a:t>
            </a:r>
          </a:p>
          <a:p>
            <a:pPr algn="l">
              <a:lnSpc>
                <a:spcPct val="112000"/>
              </a:lnSpc>
            </a:pPr>
            <a:r>
              <a:rPr sz="850" b="0" i="0">
                <a:solidFill>
                  <a:srgbClr val="6E7180"/>
                </a:solidFill>
                <a:latin typeface="Geist"/>
              </a:rPr>
              <a:t>guide.</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2039112"/>
            <a:ext cx="658368" cy="658368"/>
          </a:xfrm>
          <a:prstGeom prst="rect">
            <a:avLst/>
          </a:prstGeom>
        </p:spPr>
      </p:pic>
      <p:sp>
        <p:nvSpPr>
          <p:cNvPr id="10" name="TextBox 9"/>
          <p:cNvSpPr txBox="1"/>
          <p:nvPr/>
        </p:nvSpPr>
        <p:spPr>
          <a:xfrm>
            <a:off x="1463040"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2039112"/>
            <a:ext cx="658368" cy="658368"/>
          </a:xfrm>
          <a:prstGeom prst="rect">
            <a:avLst/>
          </a:prstGeom>
        </p:spPr>
      </p:pic>
      <p:sp>
        <p:nvSpPr>
          <p:cNvPr id="14" name="TextBox 13"/>
          <p:cNvSpPr txBox="1"/>
          <p:nvPr/>
        </p:nvSpPr>
        <p:spPr>
          <a:xfrm>
            <a:off x="5175503"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920240"/>
            <a:ext cx="3630168" cy="896112"/>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2039112"/>
            <a:ext cx="658368" cy="658368"/>
          </a:xfrm>
          <a:prstGeom prst="rect">
            <a:avLst/>
          </a:prstGeom>
        </p:spPr>
      </p:pic>
      <p:sp>
        <p:nvSpPr>
          <p:cNvPr id="18" name="TextBox 17"/>
          <p:cNvSpPr txBox="1"/>
          <p:nvPr/>
        </p:nvSpPr>
        <p:spPr>
          <a:xfrm>
            <a:off x="8887966"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303580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374136"/>
            <a:ext cx="566928" cy="566928"/>
          </a:xfrm>
          <a:prstGeom prst="rect">
            <a:avLst/>
          </a:prstGeom>
        </p:spPr>
      </p:pic>
      <p:sp>
        <p:nvSpPr>
          <p:cNvPr id="22" name="TextBox 21"/>
          <p:cNvSpPr txBox="1"/>
          <p:nvPr/>
        </p:nvSpPr>
        <p:spPr>
          <a:xfrm>
            <a:off x="1252728"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52728"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ex-Cars24 · leads strategy, partnerships and MoRTH/NRSB engagement</a:t>
            </a:r>
          </a:p>
        </p:txBody>
      </p:sp>
      <p:pic>
        <p:nvPicPr>
          <p:cNvPr id="24" name="Picture 23" descr="t_shubham.png"/>
          <p:cNvPicPr>
            <a:picLocks noChangeAspect="1"/>
          </p:cNvPicPr>
          <p:nvPr/>
        </p:nvPicPr>
        <p:blipFill>
          <a:blip r:embed="rId6"/>
          <a:stretch>
            <a:fillRect/>
          </a:stretch>
        </p:blipFill>
        <p:spPr>
          <a:xfrm>
            <a:off x="4279391" y="3374136"/>
            <a:ext cx="566928" cy="566928"/>
          </a:xfrm>
          <a:prstGeom prst="rect">
            <a:avLst/>
          </a:prstGeom>
        </p:spPr>
      </p:pic>
      <p:sp>
        <p:nvSpPr>
          <p:cNvPr id="25" name="TextBox 24"/>
          <p:cNvSpPr txBox="1"/>
          <p:nvPr/>
        </p:nvSpPr>
        <p:spPr>
          <a:xfrm>
            <a:off x="4965191"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65191"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legal research, RTIs, Justice Unserved co-author</a:t>
            </a:r>
          </a:p>
        </p:txBody>
      </p:sp>
      <p:pic>
        <p:nvPicPr>
          <p:cNvPr id="27" name="Picture 26" descr="t_muskan.png"/>
          <p:cNvPicPr>
            <a:picLocks noChangeAspect="1"/>
          </p:cNvPicPr>
          <p:nvPr/>
        </p:nvPicPr>
        <p:blipFill>
          <a:blip r:embed="rId7"/>
          <a:stretch>
            <a:fillRect/>
          </a:stretch>
        </p:blipFill>
        <p:spPr>
          <a:xfrm>
            <a:off x="7991854" y="3374136"/>
            <a:ext cx="566928" cy="566928"/>
          </a:xfrm>
          <a:prstGeom prst="rect">
            <a:avLst/>
          </a:prstGeom>
        </p:spPr>
      </p:pic>
      <p:sp>
        <p:nvSpPr>
          <p:cNvPr id="28" name="TextBox 27"/>
          <p:cNvSpPr txBox="1"/>
          <p:nvPr/>
        </p:nvSpPr>
        <p:spPr>
          <a:xfrm>
            <a:off x="8677654" y="3328416"/>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77654" y="3547872"/>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runs district programmes, DRSC work and helpdesk operations</a:t>
            </a:r>
          </a:p>
        </p:txBody>
      </p:sp>
      <p:pic>
        <p:nvPicPr>
          <p:cNvPr id="30" name="Picture 29" descr="t_aastha.png"/>
          <p:cNvPicPr>
            <a:picLocks noChangeAspect="1"/>
          </p:cNvPicPr>
          <p:nvPr/>
        </p:nvPicPr>
        <p:blipFill>
          <a:blip r:embed="rId8"/>
          <a:stretch>
            <a:fillRect/>
          </a:stretch>
        </p:blipFill>
        <p:spPr>
          <a:xfrm>
            <a:off x="566928" y="4123944"/>
            <a:ext cx="566928" cy="566928"/>
          </a:xfrm>
          <a:prstGeom prst="rect">
            <a:avLst/>
          </a:prstGeom>
        </p:spPr>
      </p:pic>
      <p:sp>
        <p:nvSpPr>
          <p:cNvPr id="31" name="TextBox 30"/>
          <p:cNvSpPr txBox="1"/>
          <p:nvPr/>
        </p:nvSpPr>
        <p:spPr>
          <a:xfrm>
            <a:off x="1252728"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2" name="TextBox 31"/>
          <p:cNvSpPr txBox="1"/>
          <p:nvPr/>
        </p:nvSpPr>
        <p:spPr>
          <a:xfrm>
            <a:off x="1252728"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donor &amp; institutional communications, impact reporting</a:t>
            </a:r>
          </a:p>
        </p:txBody>
      </p:sp>
      <p:pic>
        <p:nvPicPr>
          <p:cNvPr id="33" name="Picture 32" descr="t_rohan.png"/>
          <p:cNvPicPr>
            <a:picLocks noChangeAspect="1"/>
          </p:cNvPicPr>
          <p:nvPr/>
        </p:nvPicPr>
        <p:blipFill>
          <a:blip r:embed="rId9"/>
          <a:stretch>
            <a:fillRect/>
          </a:stretch>
        </p:blipFill>
        <p:spPr>
          <a:xfrm>
            <a:off x="4279391" y="4123944"/>
            <a:ext cx="566928" cy="566928"/>
          </a:xfrm>
          <a:prstGeom prst="rect">
            <a:avLst/>
          </a:prstGeom>
        </p:spPr>
      </p:pic>
      <p:sp>
        <p:nvSpPr>
          <p:cNvPr id="34" name="TextBox 33"/>
          <p:cNvSpPr txBox="1"/>
          <p:nvPr/>
        </p:nvSpPr>
        <p:spPr>
          <a:xfrm>
            <a:off x="4965191"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5" name="TextBox 34"/>
          <p:cNvSpPr txBox="1"/>
          <p:nvPr/>
        </p:nvSpPr>
        <p:spPr>
          <a:xfrm>
            <a:off x="4965191"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Campaigns with police &amp; schools · Road Safety Month, NextMile outreach</a:t>
            </a:r>
          </a:p>
        </p:txBody>
      </p:sp>
      <p:pic>
        <p:nvPicPr>
          <p:cNvPr id="36" name="Picture 35" descr="t_ishita.png"/>
          <p:cNvPicPr>
            <a:picLocks noChangeAspect="1"/>
          </p:cNvPicPr>
          <p:nvPr/>
        </p:nvPicPr>
        <p:blipFill>
          <a:blip r:embed="rId10"/>
          <a:stretch>
            <a:fillRect/>
          </a:stretch>
        </p:blipFill>
        <p:spPr>
          <a:xfrm>
            <a:off x="7991854" y="4123944"/>
            <a:ext cx="566928" cy="566928"/>
          </a:xfrm>
          <a:prstGeom prst="rect">
            <a:avLst/>
          </a:prstGeom>
        </p:spPr>
      </p:pic>
      <p:sp>
        <p:nvSpPr>
          <p:cNvPr id="37" name="TextBox 36"/>
          <p:cNvSpPr txBox="1"/>
          <p:nvPr/>
        </p:nvSpPr>
        <p:spPr>
          <a:xfrm>
            <a:off x="8677654" y="4078224"/>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38" name="TextBox 37"/>
          <p:cNvSpPr txBox="1"/>
          <p:nvPr/>
        </p:nvSpPr>
        <p:spPr>
          <a:xfrm>
            <a:off x="8677654" y="4297680"/>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volunteers and the 75+ intern engineering corps</a:t>
            </a:r>
          </a:p>
        </p:txBody>
      </p:sp>
      <p:pic>
        <p:nvPicPr>
          <p:cNvPr id="39" name="Picture 38" descr="t_yuvraj.png"/>
          <p:cNvPicPr>
            <a:picLocks noChangeAspect="1"/>
          </p:cNvPicPr>
          <p:nvPr/>
        </p:nvPicPr>
        <p:blipFill>
          <a:blip r:embed="rId11"/>
          <a:stretch>
            <a:fillRect/>
          </a:stretch>
        </p:blipFill>
        <p:spPr>
          <a:xfrm>
            <a:off x="566928" y="4873752"/>
            <a:ext cx="566928" cy="566928"/>
          </a:xfrm>
          <a:prstGeom prst="rect">
            <a:avLst/>
          </a:prstGeom>
        </p:spPr>
      </p:pic>
      <p:sp>
        <p:nvSpPr>
          <p:cNvPr id="40" name="TextBox 39"/>
          <p:cNvSpPr txBox="1"/>
          <p:nvPr/>
        </p:nvSpPr>
        <p:spPr>
          <a:xfrm>
            <a:off x="1252728"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1" name="TextBox 40"/>
          <p:cNvSpPr txBox="1"/>
          <p:nvPr/>
        </p:nvSpPr>
        <p:spPr>
          <a:xfrm>
            <a:off x="1252728"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logistics across 18 cities · audit-cohort and event operations</a:t>
            </a:r>
          </a:p>
        </p:txBody>
      </p:sp>
      <p:pic>
        <p:nvPicPr>
          <p:cNvPr id="42" name="Picture 41" descr="t_lovish.png"/>
          <p:cNvPicPr>
            <a:picLocks noChangeAspect="1"/>
          </p:cNvPicPr>
          <p:nvPr/>
        </p:nvPicPr>
        <p:blipFill>
          <a:blip r:embed="rId12"/>
          <a:stretch>
            <a:fillRect/>
          </a:stretch>
        </p:blipFill>
        <p:spPr>
          <a:xfrm>
            <a:off x="4279391" y="4873752"/>
            <a:ext cx="566928" cy="566928"/>
          </a:xfrm>
          <a:prstGeom prst="rect">
            <a:avLst/>
          </a:prstGeom>
        </p:spPr>
      </p:pic>
      <p:sp>
        <p:nvSpPr>
          <p:cNvPr id="43" name="TextBox 42"/>
          <p:cNvSpPr txBox="1"/>
          <p:nvPr/>
        </p:nvSpPr>
        <p:spPr>
          <a:xfrm>
            <a:off x="4965191"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4" name="TextBox 43"/>
          <p:cNvSpPr txBox="1"/>
          <p:nvPr/>
        </p:nvSpPr>
        <p:spPr>
          <a:xfrm>
            <a:off x="4965191"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5" name="Picture 44" descr="t_shipra.png"/>
          <p:cNvPicPr>
            <a:picLocks noChangeAspect="1"/>
          </p:cNvPicPr>
          <p:nvPr/>
        </p:nvPicPr>
        <p:blipFill>
          <a:blip r:embed="rId13"/>
          <a:stretch>
            <a:fillRect/>
          </a:stretch>
        </p:blipFill>
        <p:spPr>
          <a:xfrm>
            <a:off x="7991854" y="4873752"/>
            <a:ext cx="566928" cy="566928"/>
          </a:xfrm>
          <a:prstGeom prst="rect">
            <a:avLst/>
          </a:prstGeom>
        </p:spPr>
      </p:pic>
      <p:sp>
        <p:nvSpPr>
          <p:cNvPr id="46" name="TextBox 45"/>
          <p:cNvSpPr txBox="1"/>
          <p:nvPr/>
        </p:nvSpPr>
        <p:spPr>
          <a:xfrm>
            <a:off x="8677654" y="4828032"/>
            <a:ext cx="2926080"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47" name="TextBox 46"/>
          <p:cNvSpPr txBox="1"/>
          <p:nvPr/>
        </p:nvSpPr>
        <p:spPr>
          <a:xfrm>
            <a:off x="8677654" y="5047488"/>
            <a:ext cx="2926080" cy="50292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48" name="Rounded Rectangle 47"/>
          <p:cNvSpPr/>
          <p:nvPr/>
        </p:nvSpPr>
        <p:spPr>
          <a:xfrm>
            <a:off x="566928" y="5532120"/>
            <a:ext cx="11057839" cy="640080"/>
          </a:xfrm>
          <a:prstGeom prst="roundRect">
            <a:avLst>
              <a:gd name="adj" fmla="val 14000"/>
            </a:avLst>
          </a:prstGeom>
          <a:solidFill>
            <a:srgbClr val="F7F7FA"/>
          </a:solidFill>
          <a:ln>
            <a:noFill/>
          </a:ln>
          <a:effectLst/>
        </p:spPr>
        <p:txBody>
          <a:bodyPr rtlCol="0" anchor="ctr"/>
          <a:lstStyle/>
          <a:p>
            <a:pPr algn="ctr"/>
          </a:p>
        </p:txBody>
      </p:sp>
      <p:sp>
        <p:nvSpPr>
          <p:cNvPr id="49" name="TextBox 48"/>
          <p:cNvSpPr txBox="1"/>
          <p:nvPr/>
        </p:nvSpPr>
        <p:spPr>
          <a:xfrm>
            <a:off x="768096" y="5605272"/>
            <a:ext cx="10646359" cy="50292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In-house capabilities: </a:t>
            </a:r>
            <a:r>
              <a:rPr sz="950" b="0" i="0">
                <a:solidFill>
                  <a:srgbClr val="6E7180"/>
                </a:solidFill>
                <a:latin typeface="Geist"/>
              </a:rPr>
              <a:t>road-engineering audits · legal &amp; policy research · AI product development · district operations · behaviour-change communication.   </a:t>
            </a:r>
            <a:r>
              <a:rPr sz="950" b="1" i="0">
                <a:solidFill>
                  <a:srgbClr val="4A35FF"/>
                </a:solidFill>
                <a:latin typeface="Geist"/>
              </a:rPr>
              <a:t>Plus 75+ engineering interns and 31 student audit teams.</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676656" cy="676656"/>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676656" cy="676656"/>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14" name="TextBox 13"/>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5" name="TextBox 14"/>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7" name="Picture 16" descr="x_midha.png"/>
          <p:cNvPicPr>
            <a:picLocks noChangeAspect="1"/>
          </p:cNvPicPr>
          <p:nvPr/>
        </p:nvPicPr>
        <p:blipFill>
          <a:blip r:embed="rId3"/>
          <a:stretch>
            <a:fillRect/>
          </a:stretch>
        </p:blipFill>
        <p:spPr>
          <a:xfrm>
            <a:off x="1152144" y="2999232"/>
            <a:ext cx="640080" cy="640080"/>
          </a:xfrm>
          <a:prstGeom prst="rect">
            <a:avLst/>
          </a:prstGeom>
        </p:spPr>
      </p:pic>
      <p:sp>
        <p:nvSpPr>
          <p:cNvPr id="18" name="TextBox 17"/>
          <p:cNvSpPr txBox="1"/>
          <p:nvPr/>
        </p:nvSpPr>
        <p:spPr>
          <a:xfrm>
            <a:off x="56692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x_damle.png"/>
          <p:cNvPicPr>
            <a:picLocks noChangeAspect="1"/>
          </p:cNvPicPr>
          <p:nvPr/>
        </p:nvPicPr>
        <p:blipFill>
          <a:blip r:embed="rId4"/>
          <a:stretch>
            <a:fillRect/>
          </a:stretch>
        </p:blipFill>
        <p:spPr>
          <a:xfrm>
            <a:off x="3017520" y="2999232"/>
            <a:ext cx="640080" cy="640080"/>
          </a:xfrm>
          <a:prstGeom prst="rect">
            <a:avLst/>
          </a:prstGeom>
        </p:spPr>
      </p:pic>
      <p:sp>
        <p:nvSpPr>
          <p:cNvPr id="21" name="TextBox 20"/>
          <p:cNvSpPr txBox="1"/>
          <p:nvPr/>
        </p:nvSpPr>
        <p:spPr>
          <a:xfrm>
            <a:off x="2432304"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x_dange.png"/>
          <p:cNvPicPr>
            <a:picLocks noChangeAspect="1"/>
          </p:cNvPicPr>
          <p:nvPr/>
        </p:nvPicPr>
        <p:blipFill>
          <a:blip r:embed="rId5"/>
          <a:stretch>
            <a:fillRect/>
          </a:stretch>
        </p:blipFill>
        <p:spPr>
          <a:xfrm>
            <a:off x="4882896" y="2999232"/>
            <a:ext cx="640080" cy="640080"/>
          </a:xfrm>
          <a:prstGeom prst="rect">
            <a:avLst/>
          </a:prstGeom>
        </p:spPr>
      </p:pic>
      <p:sp>
        <p:nvSpPr>
          <p:cNvPr id="24" name="TextBox 23"/>
          <p:cNvSpPr txBox="1"/>
          <p:nvPr/>
        </p:nvSpPr>
        <p:spPr>
          <a:xfrm>
            <a:off x="4297680"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x_tandon.png"/>
          <p:cNvPicPr>
            <a:picLocks noChangeAspect="1"/>
          </p:cNvPicPr>
          <p:nvPr/>
        </p:nvPicPr>
        <p:blipFill>
          <a:blip r:embed="rId6"/>
          <a:stretch>
            <a:fillRect/>
          </a:stretch>
        </p:blipFill>
        <p:spPr>
          <a:xfrm>
            <a:off x="6748272" y="2999232"/>
            <a:ext cx="640080" cy="640080"/>
          </a:xfrm>
          <a:prstGeom prst="rect">
            <a:avLst/>
          </a:prstGeom>
        </p:spPr>
      </p:pic>
      <p:sp>
        <p:nvSpPr>
          <p:cNvPr id="27" name="TextBox 26"/>
          <p:cNvSpPr txBox="1"/>
          <p:nvPr/>
        </p:nvSpPr>
        <p:spPr>
          <a:xfrm>
            <a:off x="6163056"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x_ratnam.png"/>
          <p:cNvPicPr>
            <a:picLocks noChangeAspect="1"/>
          </p:cNvPicPr>
          <p:nvPr/>
        </p:nvPicPr>
        <p:blipFill>
          <a:blip r:embed="rId7"/>
          <a:stretch>
            <a:fillRect/>
          </a:stretch>
        </p:blipFill>
        <p:spPr>
          <a:xfrm>
            <a:off x="8613648" y="2999232"/>
            <a:ext cx="640080" cy="640080"/>
          </a:xfrm>
          <a:prstGeom prst="rect">
            <a:avLst/>
          </a:prstGeom>
        </p:spPr>
      </p:pic>
      <p:sp>
        <p:nvSpPr>
          <p:cNvPr id="30" name="TextBox 29"/>
          <p:cNvSpPr txBox="1"/>
          <p:nvPr/>
        </p:nvSpPr>
        <p:spPr>
          <a:xfrm>
            <a:off x="8028432"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x_asrivastava.png"/>
          <p:cNvPicPr>
            <a:picLocks noChangeAspect="1"/>
          </p:cNvPicPr>
          <p:nvPr/>
        </p:nvPicPr>
        <p:blipFill>
          <a:blip r:embed="rId8"/>
          <a:stretch>
            <a:fillRect/>
          </a:stretch>
        </p:blipFill>
        <p:spPr>
          <a:xfrm>
            <a:off x="10479024" y="2999232"/>
            <a:ext cx="640080" cy="640080"/>
          </a:xfrm>
          <a:prstGeom prst="rect">
            <a:avLst/>
          </a:prstGeom>
        </p:spPr>
      </p:pic>
      <p:sp>
        <p:nvSpPr>
          <p:cNvPr id="33" name="TextBox 32"/>
          <p:cNvSpPr txBox="1"/>
          <p:nvPr/>
        </p:nvSpPr>
        <p:spPr>
          <a:xfrm>
            <a:off x="989380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x_gsingh.png"/>
          <p:cNvPicPr>
            <a:picLocks noChangeAspect="1"/>
          </p:cNvPicPr>
          <p:nvPr/>
        </p:nvPicPr>
        <p:blipFill>
          <a:blip r:embed="rId9"/>
          <a:stretch>
            <a:fillRect/>
          </a:stretch>
        </p:blipFill>
        <p:spPr>
          <a:xfrm>
            <a:off x="1152144" y="4206240"/>
            <a:ext cx="640080" cy="640080"/>
          </a:xfrm>
          <a:prstGeom prst="rect">
            <a:avLst/>
          </a:prstGeom>
        </p:spPr>
      </p:pic>
      <p:sp>
        <p:nvSpPr>
          <p:cNvPr id="36" name="TextBox 35"/>
          <p:cNvSpPr txBox="1"/>
          <p:nvPr/>
        </p:nvSpPr>
        <p:spPr>
          <a:xfrm>
            <a:off x="566928"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x_raman.png"/>
          <p:cNvPicPr>
            <a:picLocks noChangeAspect="1"/>
          </p:cNvPicPr>
          <p:nvPr/>
        </p:nvPicPr>
        <p:blipFill>
          <a:blip r:embed="rId10"/>
          <a:stretch>
            <a:fillRect/>
          </a:stretch>
        </p:blipFill>
        <p:spPr>
          <a:xfrm>
            <a:off x="3017520" y="4206240"/>
            <a:ext cx="640080" cy="640080"/>
          </a:xfrm>
          <a:prstGeom prst="rect">
            <a:avLst/>
          </a:prstGeom>
        </p:spPr>
      </p:pic>
      <p:sp>
        <p:nvSpPr>
          <p:cNvPr id="39" name="TextBox 38"/>
          <p:cNvSpPr txBox="1"/>
          <p:nvPr/>
        </p:nvSpPr>
        <p:spPr>
          <a:xfrm>
            <a:off x="2432304"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x_nkumar.png"/>
          <p:cNvPicPr>
            <a:picLocks noChangeAspect="1"/>
          </p:cNvPicPr>
          <p:nvPr/>
        </p:nvPicPr>
        <p:blipFill>
          <a:blip r:embed="rId11"/>
          <a:stretch>
            <a:fillRect/>
          </a:stretch>
        </p:blipFill>
        <p:spPr>
          <a:xfrm>
            <a:off x="4882896" y="4206240"/>
            <a:ext cx="640080" cy="640080"/>
          </a:xfrm>
          <a:prstGeom prst="rect">
            <a:avLst/>
          </a:prstGeom>
        </p:spPr>
      </p:pic>
      <p:sp>
        <p:nvSpPr>
          <p:cNvPr id="42" name="TextBox 41"/>
          <p:cNvSpPr txBox="1"/>
          <p:nvPr/>
        </p:nvSpPr>
        <p:spPr>
          <a:xfrm>
            <a:off x="4297680"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x_pandey.png"/>
          <p:cNvPicPr>
            <a:picLocks noChangeAspect="1"/>
          </p:cNvPicPr>
          <p:nvPr/>
        </p:nvPicPr>
        <p:blipFill>
          <a:blip r:embed="rId12"/>
          <a:stretch>
            <a:fillRect/>
          </a:stretch>
        </p:blipFill>
        <p:spPr>
          <a:xfrm>
            <a:off x="6748272" y="4206240"/>
            <a:ext cx="640080" cy="640080"/>
          </a:xfrm>
          <a:prstGeom prst="rect">
            <a:avLst/>
          </a:prstGeom>
        </p:spPr>
      </p:pic>
      <p:sp>
        <p:nvSpPr>
          <p:cNvPr id="45" name="TextBox 44"/>
          <p:cNvSpPr txBox="1"/>
          <p:nvPr/>
        </p:nvSpPr>
        <p:spPr>
          <a:xfrm>
            <a:off x="6163056"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x_dash.png"/>
          <p:cNvPicPr>
            <a:picLocks noChangeAspect="1"/>
          </p:cNvPicPr>
          <p:nvPr/>
        </p:nvPicPr>
        <p:blipFill>
          <a:blip r:embed="rId13"/>
          <a:stretch>
            <a:fillRect/>
          </a:stretch>
        </p:blipFill>
        <p:spPr>
          <a:xfrm>
            <a:off x="8613648" y="4206240"/>
            <a:ext cx="640080" cy="640080"/>
          </a:xfrm>
          <a:prstGeom prst="rect">
            <a:avLst/>
          </a:prstGeom>
        </p:spPr>
      </p:pic>
      <p:sp>
        <p:nvSpPr>
          <p:cNvPr id="48" name="TextBox 47"/>
          <p:cNvSpPr txBox="1"/>
          <p:nvPr/>
        </p:nvSpPr>
        <p:spPr>
          <a:xfrm>
            <a:off x="8028432"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PROBLEM,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Compensation pendency, </a:t>
            </a:r>
            <a:r>
              <a:rPr sz="2250" b="1" i="0">
                <a:solidFill>
                  <a:srgbClr val="4A35FF"/>
                </a:solidFill>
                <a:latin typeface="Montserrat"/>
              </a:rPr>
              <a:t>in numbers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and courts both lose to process friction. This is a pipeline problem, and pipelines can be fixed with standards and visibility.</a:t>
            </a:r>
          </a:p>
        </p:txBody>
      </p:sp>
      <p:sp>
        <p:nvSpPr>
          <p:cNvPr id="8" name="Rounded Rectangle 7"/>
          <p:cNvSpPr/>
          <p:nvPr/>
        </p:nvSpPr>
        <p:spPr>
          <a:xfrm>
            <a:off x="566928"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₹80,000+ Cr</a:t>
            </a:r>
          </a:p>
        </p:txBody>
      </p:sp>
      <p:sp>
        <p:nvSpPr>
          <p:cNvPr id="10" name="TextBox 9"/>
          <p:cNvSpPr txBox="1"/>
          <p:nvPr/>
        </p:nvSpPr>
        <p:spPr>
          <a:xfrm>
            <a:off x="731520"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held up across 10.46 lakh pending MACT cases nationally</a:t>
            </a:r>
          </a:p>
        </p:txBody>
      </p:sp>
      <p:sp>
        <p:nvSpPr>
          <p:cNvPr id="11" name="Rounded Rectangle 10"/>
          <p:cNvSpPr/>
          <p:nvPr/>
        </p:nvSpPr>
        <p:spPr>
          <a:xfrm>
            <a:off x="4288536"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11 lakh</a:t>
            </a:r>
          </a:p>
        </p:txBody>
      </p:sp>
      <p:sp>
        <p:nvSpPr>
          <p:cNvPr id="13" name="TextBox 12"/>
          <p:cNvSpPr txBox="1"/>
          <p:nvPr/>
        </p:nvSpPr>
        <p:spPr>
          <a:xfrm>
            <a:off x="4453128"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in MACT courts (FY 2023)</a:t>
            </a:r>
          </a:p>
        </p:txBody>
      </p:sp>
      <p:sp>
        <p:nvSpPr>
          <p:cNvPr id="14" name="Rounded Rectangle 13"/>
          <p:cNvSpPr/>
          <p:nvPr/>
        </p:nvSpPr>
        <p:spPr>
          <a:xfrm>
            <a:off x="8010144"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3.6 years</a:t>
            </a:r>
          </a:p>
        </p:txBody>
      </p:sp>
      <p:sp>
        <p:nvSpPr>
          <p:cNvPr id="16" name="TextBox 15"/>
          <p:cNvSpPr txBox="1"/>
          <p:nvPr/>
        </p:nvSpPr>
        <p:spPr>
          <a:xfrm>
            <a:off x="8174736"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average time to settlement, for those who persist</a:t>
            </a:r>
          </a:p>
        </p:txBody>
      </p:sp>
      <p:sp>
        <p:nvSpPr>
          <p:cNvPr id="17" name="Rounded Rectangle 16"/>
          <p:cNvSpPr/>
          <p:nvPr/>
        </p:nvSpPr>
        <p:spPr>
          <a:xfrm>
            <a:off x="566928"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301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20–40</a:t>
            </a:r>
          </a:p>
        </p:txBody>
      </p:sp>
      <p:sp>
        <p:nvSpPr>
          <p:cNvPr id="19" name="TextBox 18"/>
          <p:cNvSpPr txBox="1"/>
          <p:nvPr/>
        </p:nvSpPr>
        <p:spPr>
          <a:xfrm>
            <a:off x="731520"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office visits to keep a single claim alive</a:t>
            </a:r>
          </a:p>
        </p:txBody>
      </p:sp>
      <p:sp>
        <p:nvSpPr>
          <p:cNvPr id="20" name="Rounded Rectangle 19"/>
          <p:cNvSpPr/>
          <p:nvPr/>
        </p:nvSpPr>
        <p:spPr>
          <a:xfrm>
            <a:off x="4288536"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301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&lt;5%</a:t>
            </a:r>
          </a:p>
        </p:txBody>
      </p:sp>
      <p:sp>
        <p:nvSpPr>
          <p:cNvPr id="22" name="TextBox 21"/>
          <p:cNvSpPr txBox="1"/>
          <p:nvPr/>
        </p:nvSpPr>
        <p:spPr>
          <a:xfrm>
            <a:off x="4453128"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hit-and-run victims actually receive compensation</a:t>
            </a:r>
          </a:p>
        </p:txBody>
      </p:sp>
      <p:sp>
        <p:nvSpPr>
          <p:cNvPr id="23" name="Rounded Rectangle 22"/>
          <p:cNvSpPr/>
          <p:nvPr/>
        </p:nvSpPr>
        <p:spPr>
          <a:xfrm>
            <a:off x="8010144"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30168"/>
            <a:ext cx="3282696" cy="457200"/>
          </a:xfrm>
          <a:prstGeom prst="rect">
            <a:avLst/>
          </a:prstGeom>
          <a:noFill/>
        </p:spPr>
        <p:txBody>
          <a:bodyPr wrap="square" lIns="0" rIns="0" tIns="0" bIns="0" anchor="t">
            <a:spAutoFit/>
          </a:bodyPr>
          <a:lstStyle/>
          <a:p>
            <a:pPr algn="l">
              <a:lnSpc>
                <a:spcPct val="128000"/>
              </a:lnSpc>
            </a:pPr>
            <a:r>
              <a:rPr sz="2000" b="1" i="0">
                <a:solidFill>
                  <a:srgbClr val="E58900"/>
                </a:solidFill>
                <a:latin typeface="Montserrat"/>
              </a:rPr>
              <a:t>~₹986 Cr</a:t>
            </a:r>
          </a:p>
        </p:txBody>
      </p:sp>
      <p:sp>
        <p:nvSpPr>
          <p:cNvPr id="25" name="TextBox 24"/>
          <p:cNvSpPr txBox="1"/>
          <p:nvPr/>
        </p:nvSpPr>
        <p:spPr>
          <a:xfrm>
            <a:off x="8174736"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awarded but unclaimed in MACT accounts, in just 5 cities</a:t>
            </a:r>
          </a:p>
        </p:txBody>
      </p:sp>
      <p:pic>
        <p:nvPicPr>
          <p:cNvPr id="26" name="Picture 25" descr="cov_deposited.png"/>
          <p:cNvPicPr>
            <a:picLocks noChangeAspect="1"/>
          </p:cNvPicPr>
          <p:nvPr/>
        </p:nvPicPr>
        <p:blipFill>
          <a:blip r:embed="rId2"/>
          <a:stretch>
            <a:fillRect/>
          </a:stretch>
        </p:blipFill>
        <p:spPr>
          <a:xfrm>
            <a:off x="9464040" y="5029200"/>
            <a:ext cx="871082" cy="1143000"/>
          </a:xfrm>
          <a:prstGeom prst="rect">
            <a:avLst/>
          </a:prstGeom>
        </p:spPr>
      </p:pic>
      <p:sp>
        <p:nvSpPr>
          <p:cNvPr id="27" name="Rectangle 26"/>
          <p:cNvSpPr/>
          <p:nvPr/>
        </p:nvSpPr>
        <p:spPr>
          <a:xfrm>
            <a:off x="9464040" y="5029200"/>
            <a:ext cx="871082" cy="114300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566928" y="5120640"/>
            <a:ext cx="9052560" cy="82296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'Deposited But Not Delivered' </a:t>
            </a:r>
            <a:r>
              <a:rPr sz="1050" b="0" i="0">
                <a:solidFill>
                  <a:srgbClr val="6E7180"/>
                </a:solidFill>
                <a:latin typeface="Geist"/>
              </a:rPr>
              <a:t>, our research brief on court-awarded money that never reaches families, maps exactly where the pipeline leaks: awareness, documents, traceability, and the hand-offs between offices.</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OUR RESEARCH FOUNDATION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'Justice Unserved', </a:t>
            </a:r>
            <a:r>
              <a:rPr sz="2250" b="1" i="0">
                <a:solidFill>
                  <a:srgbClr val="4A35FF"/>
                </a:solidFill>
                <a:latin typeface="Montserrat"/>
              </a:rPr>
              <a:t>the evidence base</a:t>
            </a:r>
            <a:r>
              <a:rPr sz="2250" b="1" i="0">
                <a:solidFill>
                  <a:srgbClr val="16181D"/>
                </a:solidFill>
                <a:latin typeface="Montserrat"/>
              </a:rPr>
              <a:t> we built first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January 2026 · launched at IIT Delhi · findings presented to MoRTH · covered by national press.</a:t>
            </a:r>
          </a:p>
        </p:txBody>
      </p:sp>
      <p:pic>
        <p:nvPicPr>
          <p:cNvPr id="8" name="Picture 7" descr="opt_comp_image1_1500.jpg"/>
          <p:cNvPicPr>
            <a:picLocks noChangeAspect="1"/>
          </p:cNvPicPr>
          <p:nvPr/>
        </p:nvPicPr>
        <p:blipFill>
          <a:blip r:embed="rId2"/>
          <a:stretch>
            <a:fillRect/>
          </a:stretch>
        </p:blipFill>
        <p:spPr>
          <a:xfrm>
            <a:off x="566928" y="1965960"/>
            <a:ext cx="2514600" cy="3244842"/>
          </a:xfrm>
          <a:prstGeom prst="rect">
            <a:avLst/>
          </a:prstGeom>
        </p:spPr>
      </p:pic>
      <p:sp>
        <p:nvSpPr>
          <p:cNvPr id="9" name="Rectangle 8"/>
          <p:cNvSpPr/>
          <p:nvPr/>
        </p:nvSpPr>
        <p:spPr>
          <a:xfrm>
            <a:off x="566928" y="1965960"/>
            <a:ext cx="2514600" cy="3244842"/>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56522"/>
            <a:ext cx="25146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report, file reviews, RTIs and</a:t>
            </a:r>
          </a:p>
          <a:p>
            <a:pPr algn="l">
              <a:lnSpc>
                <a:spcPct val="110000"/>
              </a:lnSpc>
            </a:pPr>
            <a:r>
              <a:rPr sz="850" b="0" i="0">
                <a:solidFill>
                  <a:srgbClr val="6E7180"/>
                </a:solidFill>
                <a:latin typeface="Geist"/>
              </a:rPr>
              <a:t>consultations across the pipeline.</a:t>
            </a:r>
          </a:p>
        </p:txBody>
      </p:sp>
      <p:sp>
        <p:nvSpPr>
          <p:cNvPr id="11" name="Oval 10"/>
          <p:cNvSpPr/>
          <p:nvPr/>
        </p:nvSpPr>
        <p:spPr>
          <a:xfrm>
            <a:off x="3611880" y="1965960"/>
            <a:ext cx="365760" cy="365760"/>
          </a:xfrm>
          <a:prstGeom prst="ellipse">
            <a:avLst/>
          </a:prstGeom>
          <a:solidFill>
            <a:srgbClr val="FDF3E3"/>
          </a:solidFill>
          <a:ln>
            <a:noFill/>
          </a:ln>
          <a:effectLst/>
        </p:spPr>
        <p:txBody>
          <a:bodyPr rtlCol="0" anchor="ctr"/>
          <a:lstStyle/>
          <a:p>
            <a:pPr algn="ctr"/>
          </a:p>
        </p:txBody>
      </p:sp>
      <p:pic>
        <p:nvPicPr>
          <p:cNvPr id="12" name="Picture 11" descr="megaphone_E58900_256_2.0.png"/>
          <p:cNvPicPr>
            <a:picLocks noChangeAspect="1"/>
          </p:cNvPicPr>
          <p:nvPr/>
        </p:nvPicPr>
        <p:blipFill>
          <a:blip r:embed="rId3"/>
          <a:stretch>
            <a:fillRect/>
          </a:stretch>
        </p:blipFill>
        <p:spPr>
          <a:xfrm>
            <a:off x="3699662" y="2053742"/>
            <a:ext cx="190195" cy="190195"/>
          </a:xfrm>
          <a:prstGeom prst="rect">
            <a:avLst/>
          </a:prstGeom>
        </p:spPr>
      </p:pic>
      <p:sp>
        <p:nvSpPr>
          <p:cNvPr id="13" name="TextBox 12"/>
          <p:cNvSpPr txBox="1"/>
          <p:nvPr/>
        </p:nvSpPr>
        <p:spPr>
          <a:xfrm>
            <a:off x="4114800" y="1947672"/>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Awareness</a:t>
            </a:r>
          </a:p>
        </p:txBody>
      </p:sp>
      <p:sp>
        <p:nvSpPr>
          <p:cNvPr id="14" name="TextBox 13"/>
          <p:cNvSpPr txBox="1"/>
          <p:nvPr/>
        </p:nvSpPr>
        <p:spPr>
          <a:xfrm>
            <a:off x="5696711" y="1947672"/>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70% of low-income families are unaware compensation exists.</a:t>
            </a:r>
          </a:p>
        </p:txBody>
      </p:sp>
      <p:sp>
        <p:nvSpPr>
          <p:cNvPr id="15" name="Oval 14"/>
          <p:cNvSpPr/>
          <p:nvPr/>
        </p:nvSpPr>
        <p:spPr>
          <a:xfrm>
            <a:off x="3611880" y="2624328"/>
            <a:ext cx="365760" cy="365760"/>
          </a:xfrm>
          <a:prstGeom prst="ellipse">
            <a:avLst/>
          </a:prstGeom>
          <a:solidFill>
            <a:srgbClr val="FDF3E3"/>
          </a:solidFill>
          <a:ln>
            <a:noFill/>
          </a:ln>
          <a:effectLst/>
        </p:spPr>
        <p:txBody>
          <a:bodyPr rtlCol="0" anchor="ctr"/>
          <a:lstStyle/>
          <a:p>
            <a:pPr algn="ctr"/>
          </a:p>
        </p:txBody>
      </p:sp>
      <p:pic>
        <p:nvPicPr>
          <p:cNvPr id="16" name="Picture 15" descr="clock_E58900_256_2.0.png"/>
          <p:cNvPicPr>
            <a:picLocks noChangeAspect="1"/>
          </p:cNvPicPr>
          <p:nvPr/>
        </p:nvPicPr>
        <p:blipFill>
          <a:blip r:embed="rId4"/>
          <a:stretch>
            <a:fillRect/>
          </a:stretch>
        </p:blipFill>
        <p:spPr>
          <a:xfrm>
            <a:off x="3699662" y="2712110"/>
            <a:ext cx="190195" cy="190195"/>
          </a:xfrm>
          <a:prstGeom prst="rect">
            <a:avLst/>
          </a:prstGeom>
        </p:spPr>
      </p:pic>
      <p:sp>
        <p:nvSpPr>
          <p:cNvPr id="17" name="TextBox 16"/>
          <p:cNvSpPr txBox="1"/>
          <p:nvPr/>
        </p:nvSpPr>
        <p:spPr>
          <a:xfrm>
            <a:off x="4114800" y="2606040"/>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Timeliness</a:t>
            </a:r>
          </a:p>
        </p:txBody>
      </p:sp>
      <p:sp>
        <p:nvSpPr>
          <p:cNvPr id="18" name="TextBox 17"/>
          <p:cNvSpPr txBox="1"/>
          <p:nvPr/>
        </p:nvSpPr>
        <p:spPr>
          <a:xfrm>
            <a:off x="5696711" y="2606040"/>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3.6-year average claim; MACT cases often run 8–10 years.</a:t>
            </a:r>
          </a:p>
        </p:txBody>
      </p:sp>
      <p:sp>
        <p:nvSpPr>
          <p:cNvPr id="19" name="Oval 18"/>
          <p:cNvSpPr/>
          <p:nvPr/>
        </p:nvSpPr>
        <p:spPr>
          <a:xfrm>
            <a:off x="3611880" y="3282696"/>
            <a:ext cx="365760" cy="365760"/>
          </a:xfrm>
          <a:prstGeom prst="ellipse">
            <a:avLst/>
          </a:prstGeom>
          <a:solidFill>
            <a:srgbClr val="FDF3E3"/>
          </a:solidFill>
          <a:ln>
            <a:noFill/>
          </a:ln>
          <a:effectLst/>
        </p:spPr>
        <p:txBody>
          <a:bodyPr rtlCol="0" anchor="ctr"/>
          <a:lstStyle/>
          <a:p>
            <a:pPr algn="ctr"/>
          </a:p>
        </p:txBody>
      </p:sp>
      <p:pic>
        <p:nvPicPr>
          <p:cNvPr id="20" name="Picture 19" descr="file-x_E58900_256_2.0.png"/>
          <p:cNvPicPr>
            <a:picLocks noChangeAspect="1"/>
          </p:cNvPicPr>
          <p:nvPr/>
        </p:nvPicPr>
        <p:blipFill>
          <a:blip r:embed="rId5"/>
          <a:stretch>
            <a:fillRect/>
          </a:stretch>
        </p:blipFill>
        <p:spPr>
          <a:xfrm>
            <a:off x="3699662" y="3370478"/>
            <a:ext cx="190195" cy="190195"/>
          </a:xfrm>
          <a:prstGeom prst="rect">
            <a:avLst/>
          </a:prstGeom>
        </p:spPr>
      </p:pic>
      <p:sp>
        <p:nvSpPr>
          <p:cNvPr id="21" name="TextBox 20"/>
          <p:cNvSpPr txBox="1"/>
          <p:nvPr/>
        </p:nvSpPr>
        <p:spPr>
          <a:xfrm>
            <a:off x="4114800" y="3264408"/>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Documentation</a:t>
            </a:r>
          </a:p>
        </p:txBody>
      </p:sp>
      <p:sp>
        <p:nvSpPr>
          <p:cNvPr id="22" name="TextBox 21"/>
          <p:cNvSpPr txBox="1"/>
          <p:nvPr/>
        </p:nvSpPr>
        <p:spPr>
          <a:xfrm>
            <a:off x="5696711" y="3264408"/>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90% of pending hit-and-run claims stall on documents alone.</a:t>
            </a:r>
          </a:p>
        </p:txBody>
      </p:sp>
      <p:sp>
        <p:nvSpPr>
          <p:cNvPr id="23" name="Oval 22"/>
          <p:cNvSpPr/>
          <p:nvPr/>
        </p:nvSpPr>
        <p:spPr>
          <a:xfrm>
            <a:off x="3611880" y="3941064"/>
            <a:ext cx="365760" cy="365760"/>
          </a:xfrm>
          <a:prstGeom prst="ellipse">
            <a:avLst/>
          </a:prstGeom>
          <a:solidFill>
            <a:srgbClr val="FDF3E3"/>
          </a:solidFill>
          <a:ln>
            <a:noFill/>
          </a:ln>
          <a:effectLst/>
        </p:spPr>
        <p:txBody>
          <a:bodyPr rtlCol="0" anchor="ctr"/>
          <a:lstStyle/>
          <a:p>
            <a:pPr algn="ctr"/>
          </a:p>
        </p:txBody>
      </p:sp>
      <p:pic>
        <p:nvPicPr>
          <p:cNvPr id="24" name="Picture 23" descr="scale_E58900_256_2.0.png"/>
          <p:cNvPicPr>
            <a:picLocks noChangeAspect="1"/>
          </p:cNvPicPr>
          <p:nvPr/>
        </p:nvPicPr>
        <p:blipFill>
          <a:blip r:embed="rId6"/>
          <a:stretch>
            <a:fillRect/>
          </a:stretch>
        </p:blipFill>
        <p:spPr>
          <a:xfrm>
            <a:off x="3699662" y="4028846"/>
            <a:ext cx="190195" cy="190195"/>
          </a:xfrm>
          <a:prstGeom prst="rect">
            <a:avLst/>
          </a:prstGeom>
        </p:spPr>
      </p:pic>
      <p:sp>
        <p:nvSpPr>
          <p:cNvPr id="25" name="TextBox 24"/>
          <p:cNvSpPr txBox="1"/>
          <p:nvPr/>
        </p:nvSpPr>
        <p:spPr>
          <a:xfrm>
            <a:off x="4114800" y="3922776"/>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Adequacy</a:t>
            </a:r>
          </a:p>
        </p:txBody>
      </p:sp>
      <p:sp>
        <p:nvSpPr>
          <p:cNvPr id="26" name="TextBox 25"/>
          <p:cNvSpPr txBox="1"/>
          <p:nvPr/>
        </p:nvSpPr>
        <p:spPr>
          <a:xfrm>
            <a:off x="5696711" y="3922776"/>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Informal workers are often valued at minimum wage in courts.</a:t>
            </a:r>
          </a:p>
        </p:txBody>
      </p:sp>
      <p:sp>
        <p:nvSpPr>
          <p:cNvPr id="27" name="Oval 26"/>
          <p:cNvSpPr/>
          <p:nvPr/>
        </p:nvSpPr>
        <p:spPr>
          <a:xfrm>
            <a:off x="3611880" y="4599432"/>
            <a:ext cx="365760" cy="365760"/>
          </a:xfrm>
          <a:prstGeom prst="ellipse">
            <a:avLst/>
          </a:prstGeom>
          <a:solidFill>
            <a:srgbClr val="FDF3E3"/>
          </a:solidFill>
          <a:ln>
            <a:noFill/>
          </a:ln>
          <a:effectLst/>
        </p:spPr>
        <p:txBody>
          <a:bodyPr rtlCol="0" anchor="ctr"/>
          <a:lstStyle/>
          <a:p>
            <a:pPr algn="ctr"/>
          </a:p>
        </p:txBody>
      </p:sp>
      <p:pic>
        <p:nvPicPr>
          <p:cNvPr id="28" name="Picture 27" descr="users_E58900_256_2.0.png"/>
          <p:cNvPicPr>
            <a:picLocks noChangeAspect="1"/>
          </p:cNvPicPr>
          <p:nvPr/>
        </p:nvPicPr>
        <p:blipFill>
          <a:blip r:embed="rId7"/>
          <a:stretch>
            <a:fillRect/>
          </a:stretch>
        </p:blipFill>
        <p:spPr>
          <a:xfrm>
            <a:off x="3699662" y="4687214"/>
            <a:ext cx="190195" cy="190195"/>
          </a:xfrm>
          <a:prstGeom prst="rect">
            <a:avLst/>
          </a:prstGeom>
        </p:spPr>
      </p:pic>
      <p:sp>
        <p:nvSpPr>
          <p:cNvPr id="29" name="TextBox 28"/>
          <p:cNvSpPr txBox="1"/>
          <p:nvPr/>
        </p:nvSpPr>
        <p:spPr>
          <a:xfrm>
            <a:off x="4114800" y="4581144"/>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Equity</a:t>
            </a:r>
          </a:p>
        </p:txBody>
      </p:sp>
      <p:sp>
        <p:nvSpPr>
          <p:cNvPr id="30" name="TextBox 29"/>
          <p:cNvSpPr txBox="1"/>
          <p:nvPr/>
        </p:nvSpPr>
        <p:spPr>
          <a:xfrm>
            <a:off x="5696711" y="4581144"/>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14% of low-income households compensated vs 24% of high-income.</a:t>
            </a:r>
          </a:p>
        </p:txBody>
      </p:sp>
      <p:sp>
        <p:nvSpPr>
          <p:cNvPr id="31" name="Rounded Rectangle 30"/>
          <p:cNvSpPr/>
          <p:nvPr/>
        </p:nvSpPr>
        <p:spPr>
          <a:xfrm>
            <a:off x="8275320" y="1965960"/>
            <a:ext cx="3337560" cy="3108960"/>
          </a:xfrm>
          <a:prstGeom prst="roundRect">
            <a:avLst>
              <a:gd name="adj" fmla="val 8000"/>
            </a:avLst>
          </a:prstGeom>
          <a:solidFill>
            <a:srgbClr val="F7F7FA"/>
          </a:solidFill>
          <a:ln>
            <a:noFill/>
          </a:ln>
          <a:effectLst/>
        </p:spPr>
        <p:txBody>
          <a:bodyPr rtlCol="0" anchor="ctr"/>
          <a:lstStyle/>
          <a:p>
            <a:pPr algn="ctr"/>
          </a:p>
        </p:txBody>
      </p:sp>
      <p:sp>
        <p:nvSpPr>
          <p:cNvPr id="32" name="TextBox 31"/>
          <p:cNvSpPr txBox="1"/>
          <p:nvPr/>
        </p:nvSpPr>
        <p:spPr>
          <a:xfrm>
            <a:off x="8458200" y="2103120"/>
            <a:ext cx="3017520" cy="274320"/>
          </a:xfrm>
          <a:prstGeom prst="rect">
            <a:avLst/>
          </a:prstGeom>
          <a:noFill/>
        </p:spPr>
        <p:txBody>
          <a:bodyPr wrap="square" lIns="0" rIns="0" tIns="0" bIns="0" anchor="t">
            <a:spAutoFit/>
          </a:bodyPr>
          <a:lstStyle/>
          <a:p>
            <a:pPr algn="l">
              <a:lnSpc>
                <a:spcPct val="128000"/>
              </a:lnSpc>
            </a:pPr>
            <a:r>
              <a:rPr sz="850" b="1" i="0" spc="120">
                <a:solidFill>
                  <a:srgbClr val="6E7180"/>
                </a:solidFill>
                <a:latin typeface="Montserrat"/>
              </a:rPr>
              <a:t>THE CLAIM RATE, NATIONALLY</a:t>
            </a:r>
          </a:p>
        </p:txBody>
      </p:sp>
      <p:sp>
        <p:nvSpPr>
          <p:cNvPr id="33" name="Rounded Rectangle 32"/>
          <p:cNvSpPr/>
          <p:nvPr/>
        </p:nvSpPr>
        <p:spPr>
          <a:xfrm>
            <a:off x="8458200" y="2514600"/>
            <a:ext cx="2834640" cy="274320"/>
          </a:xfrm>
          <a:prstGeom prst="roundRect">
            <a:avLst>
              <a:gd name="adj" fmla="val 50000"/>
            </a:avLst>
          </a:prstGeom>
          <a:solidFill>
            <a:srgbClr val="16181D"/>
          </a:solidFill>
          <a:ln>
            <a:noFill/>
          </a:ln>
          <a:effectLst/>
        </p:spPr>
        <p:txBody>
          <a:bodyPr rtlCol="0" anchor="ctr"/>
          <a:lstStyle/>
          <a:p>
            <a:pPr algn="ctr"/>
          </a:p>
        </p:txBody>
      </p:sp>
      <p:sp>
        <p:nvSpPr>
          <p:cNvPr id="34" name="TextBox 33"/>
          <p:cNvSpPr txBox="1"/>
          <p:nvPr/>
        </p:nvSpPr>
        <p:spPr>
          <a:xfrm>
            <a:off x="8458200" y="2807208"/>
            <a:ext cx="3017520" cy="256032"/>
          </a:xfrm>
          <a:prstGeom prst="rect">
            <a:avLst/>
          </a:prstGeom>
          <a:noFill/>
        </p:spPr>
        <p:txBody>
          <a:bodyPr wrap="square" lIns="0" rIns="0" tIns="0" bIns="0" anchor="t">
            <a:spAutoFit/>
          </a:bodyPr>
          <a:lstStyle/>
          <a:p>
            <a:pPr algn="l">
              <a:lnSpc>
                <a:spcPct val="100000"/>
              </a:lnSpc>
            </a:pPr>
            <a:r>
              <a:rPr sz="1000" b="1" i="0">
                <a:solidFill>
                  <a:srgbClr val="16181D"/>
                </a:solidFill>
                <a:latin typeface="Geist"/>
              </a:rPr>
              <a:t>~30,000  </a:t>
            </a:r>
            <a:r>
              <a:rPr sz="800" b="0" i="0">
                <a:solidFill>
                  <a:srgbClr val="6E7180"/>
                </a:solidFill>
                <a:latin typeface="Geist"/>
              </a:rPr>
              <a:t>hit-and-run deaths every year (MoRTH)</a:t>
            </a:r>
          </a:p>
        </p:txBody>
      </p:sp>
      <p:sp>
        <p:nvSpPr>
          <p:cNvPr id="35" name="Rounded Rectangle 34"/>
          <p:cNvSpPr/>
          <p:nvPr/>
        </p:nvSpPr>
        <p:spPr>
          <a:xfrm>
            <a:off x="8458200" y="3200400"/>
            <a:ext cx="320040" cy="274320"/>
          </a:xfrm>
          <a:prstGeom prst="roundRect">
            <a:avLst>
              <a:gd name="adj" fmla="val 50000"/>
            </a:avLst>
          </a:prstGeom>
          <a:solidFill>
            <a:srgbClr val="4A35FF"/>
          </a:solidFill>
          <a:ln>
            <a:noFill/>
          </a:ln>
          <a:effectLst/>
        </p:spPr>
        <p:txBody>
          <a:bodyPr rtlCol="0" anchor="ctr"/>
          <a:lstStyle/>
          <a:p>
            <a:pPr algn="ctr"/>
          </a:p>
        </p:txBody>
      </p:sp>
      <p:sp>
        <p:nvSpPr>
          <p:cNvPr id="36" name="TextBox 35"/>
          <p:cNvSpPr txBox="1"/>
          <p:nvPr/>
        </p:nvSpPr>
        <p:spPr>
          <a:xfrm>
            <a:off x="8458200" y="3493008"/>
            <a:ext cx="3017520" cy="256032"/>
          </a:xfrm>
          <a:prstGeom prst="rect">
            <a:avLst/>
          </a:prstGeom>
          <a:noFill/>
        </p:spPr>
        <p:txBody>
          <a:bodyPr wrap="square" lIns="0" rIns="0" tIns="0" bIns="0" anchor="t">
            <a:spAutoFit/>
          </a:bodyPr>
          <a:lstStyle/>
          <a:p>
            <a:pPr algn="l">
              <a:lnSpc>
                <a:spcPct val="100000"/>
              </a:lnSpc>
            </a:pPr>
            <a:r>
              <a:rPr sz="1000" b="1" i="0">
                <a:solidFill>
                  <a:srgbClr val="4A35FF"/>
                </a:solidFill>
                <a:latin typeface="Geist"/>
              </a:rPr>
              <a:t>205  </a:t>
            </a:r>
            <a:r>
              <a:rPr sz="800" b="0" i="0">
                <a:solidFill>
                  <a:srgbClr val="6E7180"/>
                </a:solidFill>
                <a:latin typeface="Geist"/>
              </a:rPr>
              <a:t>compensation claims filed, FY23</a:t>
            </a:r>
          </a:p>
        </p:txBody>
      </p:sp>
      <p:sp>
        <p:nvSpPr>
          <p:cNvPr id="37" name="Rounded Rectangle 36"/>
          <p:cNvSpPr/>
          <p:nvPr/>
        </p:nvSpPr>
        <p:spPr>
          <a:xfrm>
            <a:off x="8458200" y="3886200"/>
            <a:ext cx="274320" cy="274320"/>
          </a:xfrm>
          <a:prstGeom prst="roundRect">
            <a:avLst>
              <a:gd name="adj" fmla="val 50000"/>
            </a:avLst>
          </a:prstGeom>
          <a:solidFill>
            <a:srgbClr val="E58900"/>
          </a:solidFill>
          <a:ln>
            <a:noFill/>
          </a:ln>
          <a:effectLst/>
        </p:spPr>
        <p:txBody>
          <a:bodyPr rtlCol="0" anchor="ctr"/>
          <a:lstStyle/>
          <a:p>
            <a:pPr algn="ctr"/>
          </a:p>
        </p:txBody>
      </p:sp>
      <p:sp>
        <p:nvSpPr>
          <p:cNvPr id="38" name="TextBox 37"/>
          <p:cNvSpPr txBox="1"/>
          <p:nvPr/>
        </p:nvSpPr>
        <p:spPr>
          <a:xfrm>
            <a:off x="8458200" y="4178808"/>
            <a:ext cx="3017520" cy="256032"/>
          </a:xfrm>
          <a:prstGeom prst="rect">
            <a:avLst/>
          </a:prstGeom>
          <a:noFill/>
        </p:spPr>
        <p:txBody>
          <a:bodyPr wrap="square" lIns="0" rIns="0" tIns="0" bIns="0" anchor="t">
            <a:spAutoFit/>
          </a:bodyPr>
          <a:lstStyle/>
          <a:p>
            <a:pPr algn="l">
              <a:lnSpc>
                <a:spcPct val="100000"/>
              </a:lnSpc>
            </a:pPr>
            <a:r>
              <a:rPr sz="1000" b="1" i="0">
                <a:solidFill>
                  <a:srgbClr val="E58900"/>
                </a:solidFill>
                <a:latin typeface="Geist"/>
              </a:rPr>
              <a:t>95  </a:t>
            </a:r>
            <a:r>
              <a:rPr sz="800" b="0" i="0">
                <a:solidFill>
                  <a:srgbClr val="6E7180"/>
                </a:solidFill>
                <a:latin typeface="Geist"/>
              </a:rPr>
              <a:t>claims settled (Rs 1.78 crore paid)</a:t>
            </a:r>
          </a:p>
        </p:txBody>
      </p:sp>
      <p:sp>
        <p:nvSpPr>
          <p:cNvPr id="39" name="TextBox 38"/>
          <p:cNvSpPr txBox="1"/>
          <p:nvPr/>
        </p:nvSpPr>
        <p:spPr>
          <a:xfrm>
            <a:off x="8458200" y="4572000"/>
            <a:ext cx="2971800" cy="457200"/>
          </a:xfrm>
          <a:prstGeom prst="rect">
            <a:avLst/>
          </a:prstGeom>
          <a:noFill/>
        </p:spPr>
        <p:txBody>
          <a:bodyPr wrap="square" lIns="0" rIns="0" tIns="0" bIns="0" anchor="t">
            <a:spAutoFit/>
          </a:bodyPr>
          <a:lstStyle/>
          <a:p>
            <a:pPr algn="l">
              <a:lnSpc>
                <a:spcPct val="120000"/>
              </a:lnSpc>
            </a:pPr>
            <a:r>
              <a:rPr sz="850" b="0" i="1">
                <a:solidFill>
                  <a:srgbClr val="6E7180"/>
                </a:solidFill>
                <a:latin typeface="Geist"/>
              </a:rPr>
              <a:t>Fewer than 1 in 100 losses become claims. Source: Lok Sabha reply AU6419.</a:t>
            </a:r>
          </a:p>
        </p:txBody>
      </p:sp>
      <p:sp>
        <p:nvSpPr>
          <p:cNvPr id="40" name="TextBox 39"/>
          <p:cNvSpPr txBox="1"/>
          <p:nvPr/>
        </p:nvSpPr>
        <p:spPr>
          <a:xfrm>
            <a:off x="566928" y="5577840"/>
            <a:ext cx="10972800" cy="45720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Press: </a:t>
            </a:r>
            <a:r>
              <a:rPr sz="950" b="0" i="0">
                <a:solidFill>
                  <a:srgbClr val="6E7180"/>
                </a:solidFill>
                <a:latin typeface="Geist"/>
              </a:rPr>
              <a:t>Deccan Herald · Economic Times · Fortune India · IndiaSpend · Scroll.in · The Wire, and cited in Parliament-facing briefings.</a:t>
            </a:r>
          </a:p>
        </p:txBody>
      </p:sp>
      <p:cxnSp>
        <p:nvCxnSpPr>
          <p:cNvPr id="41" name="Connector 40"/>
          <p:cNvCxnSpPr/>
          <p:nvPr/>
        </p:nvCxnSpPr>
        <p:spPr>
          <a:xfrm>
            <a:off x="566928" y="6455664"/>
            <a:ext cx="11057839" cy="0"/>
          </a:xfrm>
          <a:prstGeom prst="line">
            <a:avLst/>
          </a:prstGeom>
          <a:ln w="9525">
            <a:solidFill>
              <a:srgbClr val="E8E9EE"/>
            </a:solidFill>
          </a:ln>
          <a:effectLst/>
        </p:spPr>
      </p:cxnSp>
      <p:sp>
        <p:nvSpPr>
          <p:cNvPr id="42" name="TextBox 4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3" name="TextBox 4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FROM RESEARCH TO DISTRICTS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a:t>
            </a:r>
            <a:r>
              <a:rPr sz="2250" b="1" i="0">
                <a:solidFill>
                  <a:srgbClr val="4A35FF"/>
                </a:solidFill>
                <a:latin typeface="Montserrat"/>
              </a:rPr>
              <a:t>inside the district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Not commentary from outside, formal seats, formal tasking, files on the table.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DRSCs joined</a:t>
            </a:r>
          </a:p>
        </p:txBody>
      </p:sp>
      <p:sp>
        <p:nvSpPr>
          <p:cNvPr id="11" name="TextBox 10"/>
          <p:cNvSpPr txBox="1"/>
          <p:nvPr/>
        </p:nvSpPr>
        <p:spPr>
          <a:xfrm>
            <a:off x="3566160" y="20391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Gurugram, South-West Delhi, North-West Delhi and Jaipur, with MoUs with Jaipur Traffic Police and Gurugram Police.</a:t>
            </a:r>
          </a:p>
        </p:txBody>
      </p:sp>
      <p:sp>
        <p:nvSpPr>
          <p:cNvPr id="12" name="Oval 11"/>
          <p:cNvSpPr/>
          <p:nvPr/>
        </p:nvSpPr>
        <p:spPr>
          <a:xfrm>
            <a:off x="566928" y="2971800"/>
            <a:ext cx="365760" cy="365760"/>
          </a:xfrm>
          <a:prstGeom prst="ellipse">
            <a:avLst/>
          </a:prstGeom>
          <a:solidFill>
            <a:srgbClr val="E7F4F4"/>
          </a:solidFill>
          <a:ln>
            <a:noFill/>
          </a:ln>
          <a:effectLst/>
        </p:spPr>
        <p:txBody>
          <a:bodyPr rtlCol="0" anchor="ctr"/>
          <a:lstStyle/>
          <a:p>
            <a:pPr algn="ctr"/>
          </a:p>
        </p:txBody>
      </p:sp>
      <p:pic>
        <p:nvPicPr>
          <p:cNvPr id="13" name="Picture 12" descr="folder-open_0E8A8A_256_2.0.png"/>
          <p:cNvPicPr>
            <a:picLocks noChangeAspect="1"/>
          </p:cNvPicPr>
          <p:nvPr/>
        </p:nvPicPr>
        <p:blipFill>
          <a:blip r:embed="rId3"/>
          <a:stretch>
            <a:fillRect/>
          </a:stretch>
        </p:blipFill>
        <p:spPr>
          <a:xfrm>
            <a:off x="654710" y="3059582"/>
            <a:ext cx="190195" cy="190195"/>
          </a:xfrm>
          <a:prstGeom prst="rect">
            <a:avLst/>
          </a:prstGeom>
        </p:spPr>
      </p:pic>
      <p:sp>
        <p:nvSpPr>
          <p:cNvPr id="14" name="TextBox 13"/>
          <p:cNvSpPr txBox="1"/>
          <p:nvPr/>
        </p:nvSpPr>
        <p:spPr>
          <a:xfrm>
            <a:off x="1097280" y="2953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File-level pipeline support</a:t>
            </a:r>
          </a:p>
        </p:txBody>
      </p:sp>
      <p:sp>
        <p:nvSpPr>
          <p:cNvPr id="15" name="TextBox 14"/>
          <p:cNvSpPr txBox="1"/>
          <p:nvPr/>
        </p:nvSpPr>
        <p:spPr>
          <a:xfrm>
            <a:off x="3566160" y="2953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With district administrations we work the hit-and-run pipeline file by file, mapping where eligible families drop out, and helping offices close those gaps.</a:t>
            </a:r>
          </a:p>
        </p:txBody>
      </p:sp>
      <p:sp>
        <p:nvSpPr>
          <p:cNvPr id="16" name="Oval 15"/>
          <p:cNvSpPr/>
          <p:nvPr/>
        </p:nvSpPr>
        <p:spPr>
          <a:xfrm>
            <a:off x="566928" y="3886200"/>
            <a:ext cx="365760" cy="365760"/>
          </a:xfrm>
          <a:prstGeom prst="ellipse">
            <a:avLst/>
          </a:prstGeom>
          <a:solidFill>
            <a:srgbClr val="E9F7F0"/>
          </a:solidFill>
          <a:ln>
            <a:noFill/>
          </a:ln>
          <a:effectLst/>
        </p:spPr>
        <p:txBody>
          <a:bodyPr rtlCol="0" anchor="ctr"/>
          <a:lstStyle/>
          <a:p>
            <a:pPr algn="ctr"/>
          </a:p>
        </p:txBody>
      </p:sp>
      <p:pic>
        <p:nvPicPr>
          <p:cNvPr id="17" name="Picture 16" descr="clipboard-check_0A9955_256_2.0.png"/>
          <p:cNvPicPr>
            <a:picLocks noChangeAspect="1"/>
          </p:cNvPicPr>
          <p:nvPr/>
        </p:nvPicPr>
        <p:blipFill>
          <a:blip r:embed="rId4"/>
          <a:stretch>
            <a:fillRect/>
          </a:stretch>
        </p:blipFill>
        <p:spPr>
          <a:xfrm>
            <a:off x="654710" y="3973982"/>
            <a:ext cx="190195" cy="190195"/>
          </a:xfrm>
          <a:prstGeom prst="rect">
            <a:avLst/>
          </a:prstGeom>
        </p:spPr>
      </p:pic>
      <p:sp>
        <p:nvSpPr>
          <p:cNvPr id="18" name="TextBox 17"/>
          <p:cNvSpPr txBox="1"/>
          <p:nvPr/>
        </p:nvSpPr>
        <p:spPr>
          <a:xfrm>
            <a:off x="1097280" y="3867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Formally tasked</a:t>
            </a:r>
          </a:p>
        </p:txBody>
      </p:sp>
      <p:sp>
        <p:nvSpPr>
          <p:cNvPr id="19" name="TextBox 18"/>
          <p:cNvSpPr txBox="1"/>
          <p:nvPr/>
        </p:nvSpPr>
        <p:spPr>
          <a:xfrm>
            <a:off x="3566160" y="38679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South-West Delhi DRSC's signed minutes task Crashfree India with digitisation and analytics support for scheme files.</a:t>
            </a:r>
          </a:p>
        </p:txBody>
      </p:sp>
      <p:sp>
        <p:nvSpPr>
          <p:cNvPr id="20" name="Oval 19"/>
          <p:cNvSpPr/>
          <p:nvPr/>
        </p:nvSpPr>
        <p:spPr>
          <a:xfrm>
            <a:off x="566928" y="4800600"/>
            <a:ext cx="365760" cy="365760"/>
          </a:xfrm>
          <a:prstGeom prst="ellipse">
            <a:avLst/>
          </a:prstGeom>
          <a:solidFill>
            <a:srgbClr val="FDF3E3"/>
          </a:solidFill>
          <a:ln>
            <a:noFill/>
          </a:ln>
          <a:effectLst/>
        </p:spPr>
        <p:txBody>
          <a:bodyPr rtlCol="0" anchor="ctr"/>
          <a:lstStyle/>
          <a:p>
            <a:pPr algn="ctr"/>
          </a:p>
        </p:txBody>
      </p:sp>
      <p:pic>
        <p:nvPicPr>
          <p:cNvPr id="21" name="Picture 20" descr="user-check_E58900_256_2.0.png"/>
          <p:cNvPicPr>
            <a:picLocks noChangeAspect="1"/>
          </p:cNvPicPr>
          <p:nvPr/>
        </p:nvPicPr>
        <p:blipFill>
          <a:blip r:embed="rId5"/>
          <a:stretch>
            <a:fillRect/>
          </a:stretch>
        </p:blipFill>
        <p:spPr>
          <a:xfrm>
            <a:off x="654710" y="4888382"/>
            <a:ext cx="190195" cy="190195"/>
          </a:xfrm>
          <a:prstGeom prst="rect">
            <a:avLst/>
          </a:prstGeom>
        </p:spPr>
      </p:pic>
      <p:sp>
        <p:nvSpPr>
          <p:cNvPr id="22" name="TextBox 21"/>
          <p:cNvSpPr txBox="1"/>
          <p:nvPr/>
        </p:nvSpPr>
        <p:spPr>
          <a:xfrm>
            <a:off x="1097280" y="4782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Embedded presence</a:t>
            </a:r>
          </a:p>
        </p:txBody>
      </p:sp>
      <p:sp>
        <p:nvSpPr>
          <p:cNvPr id="23" name="TextBox 22"/>
          <p:cNvSpPr txBox="1"/>
          <p:nvPr/>
        </p:nvSpPr>
        <p:spPr>
          <a:xfrm>
            <a:off x="3566160" y="4782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research fellow sits with Gurugram district offices, implementation support, not external commentary.</a:t>
            </a:r>
          </a:p>
        </p:txBody>
      </p:sp>
      <p:pic>
        <p:nvPicPr>
          <p:cNvPr id="24" name="Picture 23" descr="ph_helpdesk_camp.jpg_4.20x2.20_0.35.jpg"/>
          <p:cNvPicPr>
            <a:picLocks noChangeAspect="1"/>
          </p:cNvPicPr>
          <p:nvPr/>
        </p:nvPicPr>
        <p:blipFill>
          <a:blip r:embed="rId6"/>
          <a:stretch>
            <a:fillRect/>
          </a:stretch>
        </p:blipFill>
        <p:spPr>
          <a:xfrm>
            <a:off x="7772400" y="2011680"/>
            <a:ext cx="3840480" cy="2011680"/>
          </a:xfrm>
          <a:prstGeom prst="rect">
            <a:avLst/>
          </a:prstGeom>
        </p:spPr>
      </p:pic>
      <p:sp>
        <p:nvSpPr>
          <p:cNvPr id="25" name="Rectangle 24"/>
          <p:cNvSpPr/>
          <p:nvPr/>
        </p:nvSpPr>
        <p:spPr>
          <a:xfrm>
            <a:off x="7772400" y="2011680"/>
            <a:ext cx="3840480"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06908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Legal-rights helpdesk with district administration, Jan 2026.</a:t>
            </a:r>
          </a:p>
        </p:txBody>
      </p:sp>
      <p:pic>
        <p:nvPicPr>
          <p:cNvPr id="27" name="Picture 26" descr="ph_law_students.jpg_4.20x1.60_0.30.jpg"/>
          <p:cNvPicPr>
            <a:picLocks noChangeAspect="1"/>
          </p:cNvPicPr>
          <p:nvPr/>
        </p:nvPicPr>
        <p:blipFill>
          <a:blip r:embed="rId7"/>
          <a:stretch>
            <a:fillRect/>
          </a:stretch>
        </p:blipFill>
        <p:spPr>
          <a:xfrm>
            <a:off x="7772400" y="4526280"/>
            <a:ext cx="3840480" cy="1463040"/>
          </a:xfrm>
          <a:prstGeom prst="rect">
            <a:avLst/>
          </a:prstGeom>
        </p:spPr>
      </p:pic>
      <p:sp>
        <p:nvSpPr>
          <p:cNvPr id="28" name="Rectangle 27"/>
          <p:cNvSpPr/>
          <p:nvPr/>
        </p:nvSpPr>
        <p:spPr>
          <a:xfrm>
            <a:off x="7772400" y="4526280"/>
            <a:ext cx="3840480" cy="1463040"/>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772400" y="603504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Law-student volunteers after a hospital helpdesk drive.</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STATE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With Rajasthan: from ground mapping to </a:t>
            </a:r>
            <a:r>
              <a:rPr sz="2250" b="1" i="0">
                <a:solidFill>
                  <a:srgbClr val="4A35FF"/>
                </a:solidFill>
                <a:latin typeface="Montserrat"/>
              </a:rPr>
              <a:t>a working template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Supporting the State Road Safety Lead Agency and Transport Department on the Hit-and-Run Compensation Scheme.</a:t>
            </a:r>
          </a:p>
        </p:txBody>
      </p:sp>
      <p:sp>
        <p:nvSpPr>
          <p:cNvPr id="8" name="Rounded Rectangle 7"/>
          <p:cNvSpPr/>
          <p:nvPr/>
        </p:nvSpPr>
        <p:spPr>
          <a:xfrm>
            <a:off x="566928" y="2057400"/>
            <a:ext cx="3291840" cy="17373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49808" y="2240280"/>
            <a:ext cx="2926080" cy="640080"/>
          </a:xfrm>
          <a:prstGeom prst="rect">
            <a:avLst/>
          </a:prstGeom>
          <a:noFill/>
        </p:spPr>
        <p:txBody>
          <a:bodyPr wrap="square" lIns="0" rIns="0" tIns="0" bIns="0" anchor="t">
            <a:spAutoFit/>
          </a:bodyPr>
          <a:lstStyle/>
          <a:p>
            <a:pPr algn="l">
              <a:lnSpc>
                <a:spcPct val="128000"/>
              </a:lnSpc>
            </a:pPr>
            <a:r>
              <a:rPr sz="3600" b="1" i="0">
                <a:solidFill>
                  <a:srgbClr val="4A35FF"/>
                </a:solidFill>
                <a:latin typeface="Montserrat"/>
              </a:rPr>
              <a:t>~180</a:t>
            </a:r>
          </a:p>
        </p:txBody>
      </p:sp>
      <p:sp>
        <p:nvSpPr>
          <p:cNvPr id="10" name="TextBox 9"/>
          <p:cNvSpPr txBox="1"/>
          <p:nvPr/>
        </p:nvSpPr>
        <p:spPr>
          <a:xfrm>
            <a:off x="749808" y="2926080"/>
            <a:ext cx="2926080" cy="73152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of ~</a:t>
            </a:r>
            <a:r>
              <a:rPr sz="1000" b="1" i="0">
                <a:solidFill>
                  <a:srgbClr val="16181D"/>
                </a:solidFill>
                <a:latin typeface="Geist"/>
              </a:rPr>
              <a:t>395</a:t>
            </a:r>
            <a:r>
              <a:rPr sz="1000" b="0" i="0">
                <a:solidFill>
                  <a:srgbClr val="6E7180"/>
                </a:solidFill>
                <a:latin typeface="Geist"/>
              </a:rPr>
              <a:t> monthly hit-and-run claims in Rajasthan come from Jaipur alone (~46%)</a:t>
            </a:r>
          </a:p>
        </p:txBody>
      </p:sp>
      <p:sp>
        <p:nvSpPr>
          <p:cNvPr id="11" name="TextBox 10"/>
          <p:cNvSpPr txBox="1"/>
          <p:nvPr/>
        </p:nvSpPr>
        <p:spPr>
          <a:xfrm>
            <a:off x="566928" y="4023360"/>
            <a:ext cx="329184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Not because crashes happen only there, because Jaipur runs active outreach and a single coordination cell. The template is replicable.</a:t>
            </a:r>
          </a:p>
        </p:txBody>
      </p:sp>
      <p:sp>
        <p:nvSpPr>
          <p:cNvPr id="12" name="Oval 11"/>
          <p:cNvSpPr/>
          <p:nvPr/>
        </p:nvSpPr>
        <p:spPr>
          <a:xfrm>
            <a:off x="4114800" y="2057400"/>
            <a:ext cx="384048" cy="384048"/>
          </a:xfrm>
          <a:prstGeom prst="ellipse">
            <a:avLst/>
          </a:prstGeom>
          <a:solidFill>
            <a:srgbClr val="FDF3E3"/>
          </a:solidFill>
          <a:ln>
            <a:noFill/>
          </a:ln>
          <a:effectLst/>
        </p:spPr>
        <p:txBody>
          <a:bodyPr rtlCol="0" anchor="ctr"/>
          <a:lstStyle/>
          <a:p>
            <a:pPr algn="ctr"/>
          </a:p>
        </p:txBody>
      </p:sp>
      <p:pic>
        <p:nvPicPr>
          <p:cNvPr id="13" name="Picture 12" descr="file-warning_E58900_256_2.0.png"/>
          <p:cNvPicPr>
            <a:picLocks noChangeAspect="1"/>
          </p:cNvPicPr>
          <p:nvPr/>
        </p:nvPicPr>
        <p:blipFill>
          <a:blip r:embed="rId2"/>
          <a:stretch>
            <a:fillRect/>
          </a:stretch>
        </p:blipFill>
        <p:spPr>
          <a:xfrm>
            <a:off x="4206971" y="2149571"/>
            <a:ext cx="199704" cy="199704"/>
          </a:xfrm>
          <a:prstGeom prst="rect">
            <a:avLst/>
          </a:prstGeom>
        </p:spPr>
      </p:pic>
      <p:sp>
        <p:nvSpPr>
          <p:cNvPr id="14" name="TextBox 13"/>
          <p:cNvSpPr txBox="1"/>
          <p:nvPr/>
        </p:nvSpPr>
        <p:spPr>
          <a:xfrm>
            <a:off x="4645152" y="2029968"/>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What holds claims back</a:t>
            </a:r>
          </a:p>
        </p:txBody>
      </p:sp>
      <p:sp>
        <p:nvSpPr>
          <p:cNvPr id="15" name="TextBox 14"/>
          <p:cNvSpPr txBox="1"/>
          <p:nvPr/>
        </p:nvSpPr>
        <p:spPr>
          <a:xfrm>
            <a:off x="6995160" y="2029968"/>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11–13 documents demanded vs the 7 court-agreed standard · ~50% of files lack a usable family phone number · manual hand-offs between six offices.</a:t>
            </a:r>
          </a:p>
        </p:txBody>
      </p:sp>
      <p:sp>
        <p:nvSpPr>
          <p:cNvPr id="16" name="Oval 15"/>
          <p:cNvSpPr/>
          <p:nvPr/>
        </p:nvSpPr>
        <p:spPr>
          <a:xfrm>
            <a:off x="4114800" y="3026664"/>
            <a:ext cx="384048" cy="384048"/>
          </a:xfrm>
          <a:prstGeom prst="ellipse">
            <a:avLst/>
          </a:prstGeom>
          <a:solidFill>
            <a:srgbClr val="FDEFEC"/>
          </a:solidFill>
          <a:ln>
            <a:noFill/>
          </a:ln>
          <a:effectLst/>
        </p:spPr>
        <p:txBody>
          <a:bodyPr rtlCol="0" anchor="ctr"/>
          <a:lstStyle/>
          <a:p>
            <a:pPr algn="ctr"/>
          </a:p>
        </p:txBody>
      </p:sp>
      <p:pic>
        <p:nvPicPr>
          <p:cNvPr id="17" name="Picture 16" descr="alert-octagon_E11900_256_2.0.png"/>
          <p:cNvPicPr>
            <a:picLocks noChangeAspect="1"/>
          </p:cNvPicPr>
          <p:nvPr/>
        </p:nvPicPr>
        <p:blipFill>
          <a:blip r:embed="rId3"/>
          <a:stretch>
            <a:fillRect/>
          </a:stretch>
        </p:blipFill>
        <p:spPr>
          <a:xfrm>
            <a:off x="4206971" y="3118835"/>
            <a:ext cx="199704" cy="199704"/>
          </a:xfrm>
          <a:prstGeom prst="rect">
            <a:avLst/>
          </a:prstGeom>
        </p:spPr>
      </p:pic>
      <p:sp>
        <p:nvSpPr>
          <p:cNvPr id="18" name="TextBox 17"/>
          <p:cNvSpPr txBox="1"/>
          <p:nvPr/>
        </p:nvSpPr>
        <p:spPr>
          <a:xfrm>
            <a:off x="4645152" y="2999232"/>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cautionary example</a:t>
            </a:r>
          </a:p>
        </p:txBody>
      </p:sp>
      <p:sp>
        <p:nvSpPr>
          <p:cNvPr id="19" name="TextBox 18"/>
          <p:cNvSpPr txBox="1"/>
          <p:nvPr/>
        </p:nvSpPr>
        <p:spPr>
          <a:xfrm>
            <a:off x="6995160" y="2999232"/>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A state portal that changed how offices work saw monthly requests fall 350 → 25. Our design rule: no stakeholder changes their medium.</a:t>
            </a:r>
          </a:p>
        </p:txBody>
      </p:sp>
      <p:sp>
        <p:nvSpPr>
          <p:cNvPr id="20" name="Oval 19"/>
          <p:cNvSpPr/>
          <p:nvPr/>
        </p:nvSpPr>
        <p:spPr>
          <a:xfrm>
            <a:off x="4114800" y="3995928"/>
            <a:ext cx="384048" cy="384048"/>
          </a:xfrm>
          <a:prstGeom prst="ellipse">
            <a:avLst/>
          </a:prstGeom>
          <a:solidFill>
            <a:srgbClr val="EFEDFF"/>
          </a:solidFill>
          <a:ln>
            <a:noFill/>
          </a:ln>
          <a:effectLst/>
        </p:spPr>
        <p:txBody>
          <a:bodyPr rtlCol="0" anchor="ctr"/>
          <a:lstStyle/>
          <a:p>
            <a:pPr algn="ctr"/>
          </a:p>
        </p:txBody>
      </p:sp>
      <p:pic>
        <p:nvPicPr>
          <p:cNvPr id="21" name="Picture 20" descr="list-checks_4A35FF_256_2.0.png"/>
          <p:cNvPicPr>
            <a:picLocks noChangeAspect="1"/>
          </p:cNvPicPr>
          <p:nvPr/>
        </p:nvPicPr>
        <p:blipFill>
          <a:blip r:embed="rId4"/>
          <a:stretch>
            <a:fillRect/>
          </a:stretch>
        </p:blipFill>
        <p:spPr>
          <a:xfrm>
            <a:off x="4206971" y="4088099"/>
            <a:ext cx="199704" cy="199704"/>
          </a:xfrm>
          <a:prstGeom prst="rect">
            <a:avLst/>
          </a:prstGeom>
        </p:spPr>
      </p:pic>
      <p:sp>
        <p:nvSpPr>
          <p:cNvPr id="22" name="TextBox 21"/>
          <p:cNvSpPr txBox="1"/>
          <p:nvPr/>
        </p:nvSpPr>
        <p:spPr>
          <a:xfrm>
            <a:off x="4645152" y="3968496"/>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Five GIC queries drafted</a:t>
            </a:r>
          </a:p>
        </p:txBody>
      </p:sp>
      <p:sp>
        <p:nvSpPr>
          <p:cNvPr id="23" name="TextBox 22"/>
          <p:cNvSpPr txBox="1"/>
          <p:nvPr/>
        </p:nvSpPr>
        <p:spPr>
          <a:xfrm>
            <a:off x="6995160" y="3968496"/>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Clarification questions ready for the insurer consortium, a joint ask from the Department lands harder.</a:t>
            </a:r>
          </a:p>
        </p:txBody>
      </p:sp>
      <p:sp>
        <p:nvSpPr>
          <p:cNvPr id="24" name="Oval 23"/>
          <p:cNvSpPr/>
          <p:nvPr/>
        </p:nvSpPr>
        <p:spPr>
          <a:xfrm>
            <a:off x="4114800" y="4965192"/>
            <a:ext cx="384048" cy="384048"/>
          </a:xfrm>
          <a:prstGeom prst="ellipse">
            <a:avLst/>
          </a:prstGeom>
          <a:solidFill>
            <a:srgbClr val="E9F7F0"/>
          </a:solidFill>
          <a:ln>
            <a:noFill/>
          </a:ln>
          <a:effectLst/>
        </p:spPr>
        <p:txBody>
          <a:bodyPr rtlCol="0" anchor="ctr"/>
          <a:lstStyle/>
          <a:p>
            <a:pPr algn="ctr"/>
          </a:p>
        </p:txBody>
      </p:sp>
      <p:pic>
        <p:nvPicPr>
          <p:cNvPr id="25" name="Picture 24" descr="rocket_0A9955_256_2.0.png"/>
          <p:cNvPicPr>
            <a:picLocks noChangeAspect="1"/>
          </p:cNvPicPr>
          <p:nvPr/>
        </p:nvPicPr>
        <p:blipFill>
          <a:blip r:embed="rId5"/>
          <a:stretch>
            <a:fillRect/>
          </a:stretch>
        </p:blipFill>
        <p:spPr>
          <a:xfrm>
            <a:off x="4206971" y="5057363"/>
            <a:ext cx="199704" cy="199704"/>
          </a:xfrm>
          <a:prstGeom prst="rect">
            <a:avLst/>
          </a:prstGeom>
        </p:spPr>
      </p:pic>
      <p:sp>
        <p:nvSpPr>
          <p:cNvPr id="26" name="TextBox 25"/>
          <p:cNvSpPr txBox="1"/>
          <p:nvPr/>
        </p:nvSpPr>
        <p:spPr>
          <a:xfrm>
            <a:off x="4645152" y="4937760"/>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Six asks → 60 days</a:t>
            </a:r>
          </a:p>
        </p:txBody>
      </p:sp>
      <p:sp>
        <p:nvSpPr>
          <p:cNvPr id="27" name="TextBox 26"/>
          <p:cNvSpPr txBox="1"/>
          <p:nvPr/>
        </p:nvSpPr>
        <p:spPr>
          <a:xfrm>
            <a:off x="6995160" y="4937760"/>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Decisions identified with the Department that put Phase 1 (family traceability) in motion within 60 days.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PORTAL CONCEPT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Designed so </a:t>
            </a:r>
            <a:r>
              <a:rPr sz="2250" b="1" i="0">
                <a:solidFill>
                  <a:srgbClr val="4A35FF"/>
                </a:solidFill>
                <a:latin typeface="Montserrat"/>
              </a:rPr>
              <a:t>no stakeholder changes how they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stay on WhatsApp; officers keep their queues and sign-offs; the system connects them behind the scenes.</a:t>
            </a:r>
          </a:p>
        </p:txBody>
      </p:sp>
      <p:pic>
        <p:nvPicPr>
          <p:cNvPr id="8" name="Picture 7" descr="wa_phone1.png"/>
          <p:cNvPicPr>
            <a:picLocks noChangeAspect="1"/>
          </p:cNvPicPr>
          <p:nvPr/>
        </p:nvPicPr>
        <p:blipFill>
          <a:blip r:embed="rId2"/>
          <a:stretch>
            <a:fillRect/>
          </a:stretch>
        </p:blipFill>
        <p:spPr>
          <a:xfrm>
            <a:off x="566928" y="2011680"/>
            <a:ext cx="1325880" cy="1964267"/>
          </a:xfrm>
          <a:prstGeom prst="rect">
            <a:avLst/>
          </a:prstGeom>
        </p:spPr>
      </p:pic>
      <p:pic>
        <p:nvPicPr>
          <p:cNvPr id="9" name="Picture 8" descr="wa_phone2.png"/>
          <p:cNvPicPr>
            <a:picLocks noChangeAspect="1"/>
          </p:cNvPicPr>
          <p:nvPr/>
        </p:nvPicPr>
        <p:blipFill>
          <a:blip r:embed="rId3"/>
          <a:stretch>
            <a:fillRect/>
          </a:stretch>
        </p:blipFill>
        <p:spPr>
          <a:xfrm>
            <a:off x="1984248" y="2011680"/>
            <a:ext cx="1325880" cy="1964267"/>
          </a:xfrm>
          <a:prstGeom prst="rect">
            <a:avLst/>
          </a:prstGeom>
        </p:spPr>
      </p:pic>
      <p:pic>
        <p:nvPicPr>
          <p:cNvPr id="10" name="Picture 9" descr="wa_phone3.png"/>
          <p:cNvPicPr>
            <a:picLocks noChangeAspect="1"/>
          </p:cNvPicPr>
          <p:nvPr/>
        </p:nvPicPr>
        <p:blipFill>
          <a:blip r:embed="rId4"/>
          <a:stretch>
            <a:fillRect/>
          </a:stretch>
        </p:blipFill>
        <p:spPr>
          <a:xfrm>
            <a:off x="3401568" y="2011680"/>
            <a:ext cx="1325880" cy="1964267"/>
          </a:xfrm>
          <a:prstGeom prst="rect">
            <a:avLst/>
          </a:prstGeom>
        </p:spPr>
      </p:pic>
      <p:sp>
        <p:nvSpPr>
          <p:cNvPr id="11" name="TextBox 10"/>
          <p:cNvSpPr txBox="1"/>
          <p:nvPr/>
        </p:nvSpPr>
        <p:spPr>
          <a:xfrm>
            <a:off x="566928" y="4069080"/>
            <a:ext cx="4206240" cy="45720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The family flow, day-one intake, document capture, live status. All inside WhatsApp, in Hindi.</a:t>
            </a:r>
          </a:p>
        </p:txBody>
      </p:sp>
      <p:pic>
        <p:nvPicPr>
          <p:cNvPr id="12" name="Picture 11" descr="opt_queue_ui_1500.jpg"/>
          <p:cNvPicPr>
            <a:picLocks noChangeAspect="1"/>
          </p:cNvPicPr>
          <p:nvPr/>
        </p:nvPicPr>
        <p:blipFill>
          <a:blip r:embed="rId5"/>
          <a:stretch>
            <a:fillRect/>
          </a:stretch>
        </p:blipFill>
        <p:spPr>
          <a:xfrm>
            <a:off x="5074920" y="2011680"/>
            <a:ext cx="6537960" cy="2405969"/>
          </a:xfrm>
          <a:prstGeom prst="rect">
            <a:avLst/>
          </a:prstGeom>
        </p:spPr>
      </p:pic>
      <p:sp>
        <p:nvSpPr>
          <p:cNvPr id="13" name="Rectangle 12"/>
          <p:cNvSpPr/>
          <p:nvPr/>
        </p:nvSpPr>
        <p:spPr>
          <a:xfrm>
            <a:off x="5074920" y="2011680"/>
            <a:ext cx="6537960" cy="2405969"/>
          </a:xfrm>
          <a:prstGeom prst="rect">
            <a:avLst/>
          </a:prstGeom>
          <a:noFill/>
          <a:ln w="12700">
            <a:solidFill>
              <a:srgbClr val="E8E9EE"/>
            </a:solidFill>
          </a:ln>
          <a:effectLst/>
        </p:spPr>
        <p:txBody>
          <a:bodyPr rtlCol="0" anchor="ctr"/>
          <a:lstStyle/>
          <a:p>
            <a:pPr algn="ctr"/>
          </a:p>
        </p:txBody>
      </p:sp>
      <p:sp>
        <p:nvSpPr>
          <p:cNvPr id="14" name="TextBox 13"/>
          <p:cNvSpPr txBox="1"/>
          <p:nvPr/>
        </p:nvSpPr>
        <p:spPr>
          <a:xfrm>
            <a:off x="5074920" y="4463369"/>
            <a:ext cx="65379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same cases, filtered to what each desk owns; AI pre-checks flag issues, the decision stays human.</a:t>
            </a:r>
          </a:p>
        </p:txBody>
      </p:sp>
      <p:sp>
        <p:nvSpPr>
          <p:cNvPr id="15" name="Rounded Rectangle 14"/>
          <p:cNvSpPr/>
          <p:nvPr/>
        </p:nvSpPr>
        <p:spPr>
          <a:xfrm>
            <a:off x="566928"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6" name="TextBox 15"/>
          <p:cNvSpPr txBox="1"/>
          <p:nvPr/>
        </p:nvSpPr>
        <p:spPr>
          <a:xfrm>
            <a:off x="585216"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Family keeps WhatsApp</a:t>
            </a:r>
          </a:p>
        </p:txBody>
      </p:sp>
      <p:sp>
        <p:nvSpPr>
          <p:cNvPr id="17" name="Rounded Rectangle 16"/>
          <p:cNvSpPr/>
          <p:nvPr/>
        </p:nvSpPr>
        <p:spPr>
          <a:xfrm>
            <a:off x="2816352"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2834640"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Officer keeps every decision</a:t>
            </a:r>
          </a:p>
        </p:txBody>
      </p:sp>
      <p:sp>
        <p:nvSpPr>
          <p:cNvPr id="19" name="Rounded Rectangle 18"/>
          <p:cNvSpPr/>
          <p:nvPr/>
        </p:nvSpPr>
        <p:spPr>
          <a:xfrm>
            <a:off x="5065776"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0" name="TextBox 19"/>
          <p:cNvSpPr txBox="1"/>
          <p:nvPr/>
        </p:nvSpPr>
        <p:spPr>
          <a:xfrm>
            <a:off x="5084064"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Traceability before automation</a:t>
            </a:r>
          </a:p>
        </p:txBody>
      </p:sp>
      <p:sp>
        <p:nvSpPr>
          <p:cNvPr id="21" name="Rounded Rectangle 20"/>
          <p:cNvSpPr/>
          <p:nvPr/>
        </p:nvSpPr>
        <p:spPr>
          <a:xfrm>
            <a:off x="7315200"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333488"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Single-pass clarification</a:t>
            </a:r>
          </a:p>
        </p:txBody>
      </p:sp>
      <p:sp>
        <p:nvSpPr>
          <p:cNvPr id="23" name="Rounded Rectangle 22"/>
          <p:cNvSpPr/>
          <p:nvPr/>
        </p:nvSpPr>
        <p:spPr>
          <a:xfrm>
            <a:off x="9564624"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82912"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Dashboards for administrators</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FIRST HOUR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Pre-Hospital Care Primer, </a:t>
            </a:r>
            <a:r>
              <a:rPr sz="2250" b="1" i="0">
                <a:solidFill>
                  <a:srgbClr val="4A35FF"/>
                </a:solidFill>
                <a:latin typeface="Montserrat"/>
              </a:rPr>
              <a:t>our EMS evidence 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September 2025. Contributors include Dr. Sushma Sagar (AIIMS JPN Apex Trauma Centre) and Dr. Richa Ahuja (IIT Kharagpur).</a:t>
            </a:r>
          </a:p>
        </p:txBody>
      </p:sp>
      <p:pic>
        <p:nvPicPr>
          <p:cNvPr id="8" name="Picture 7" descr="primer_cover-01.jpg"/>
          <p:cNvPicPr>
            <a:picLocks noChangeAspect="1"/>
          </p:cNvPicPr>
          <p:nvPr/>
        </p:nvPicPr>
        <p:blipFill>
          <a:blip r:embed="rId2"/>
          <a:stretch>
            <a:fillRect/>
          </a:stretch>
        </p:blipFill>
        <p:spPr>
          <a:xfrm>
            <a:off x="566928" y="1965960"/>
            <a:ext cx="2263530" cy="3200400"/>
          </a:xfrm>
          <a:prstGeom prst="rect">
            <a:avLst/>
          </a:prstGeom>
        </p:spPr>
      </p:pic>
      <p:sp>
        <p:nvSpPr>
          <p:cNvPr id="9" name="Rectangle 8"/>
          <p:cNvSpPr/>
          <p:nvPr/>
        </p:nvSpPr>
        <p:spPr>
          <a:xfrm>
            <a:off x="566928" y="1965960"/>
            <a:ext cx="2263530" cy="32004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Primer, ERSS-112, global</a:t>
            </a:r>
          </a:p>
          <a:p>
            <a:pPr algn="l">
              <a:lnSpc>
                <a:spcPct val="112000"/>
              </a:lnSpc>
            </a:pPr>
            <a:r>
              <a:rPr sz="850" b="0" i="0">
                <a:solidFill>
                  <a:srgbClr val="6E7180"/>
                </a:solidFill>
                <a:latin typeface="Geist"/>
              </a:rPr>
              <a:t>comparisons, state innovations.</a:t>
            </a:r>
          </a:p>
        </p:txBody>
      </p:sp>
      <p:pic>
        <p:nvPicPr>
          <p:cNvPr id="11" name="Picture 10" descr="primer_chain-07.jpg"/>
          <p:cNvPicPr>
            <a:picLocks noChangeAspect="1"/>
          </p:cNvPicPr>
          <p:nvPr/>
        </p:nvPicPr>
        <p:blipFill>
          <a:blip r:embed="rId3"/>
          <a:stretch>
            <a:fillRect/>
          </a:stretch>
        </p:blipFill>
        <p:spPr>
          <a:xfrm>
            <a:off x="3108960" y="1965960"/>
            <a:ext cx="2263530" cy="3200400"/>
          </a:xfrm>
          <a:prstGeom prst="rect">
            <a:avLst/>
          </a:prstGeom>
        </p:spPr>
      </p:pic>
      <p:sp>
        <p:nvSpPr>
          <p:cNvPr id="12" name="Rectangle 11"/>
          <p:cNvSpPr/>
          <p:nvPr/>
        </p:nvSpPr>
        <p:spPr>
          <a:xfrm>
            <a:off x="3108960" y="1965960"/>
            <a:ext cx="2263530" cy="3200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108960"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Chain of Survival, six links,</a:t>
            </a:r>
          </a:p>
          <a:p>
            <a:pPr algn="l">
              <a:lnSpc>
                <a:spcPct val="112000"/>
              </a:lnSpc>
            </a:pPr>
            <a:r>
              <a:rPr sz="850" b="0" i="0">
                <a:solidFill>
                  <a:srgbClr val="6E7180"/>
                </a:solidFill>
                <a:latin typeface="Geist"/>
              </a:rPr>
              <a:t>benchmarked for India.</a:t>
            </a:r>
          </a:p>
        </p:txBody>
      </p:sp>
      <p:sp>
        <p:nvSpPr>
          <p:cNvPr id="14" name="Oval 13"/>
          <p:cNvSpPr/>
          <p:nvPr/>
        </p:nvSpPr>
        <p:spPr>
          <a:xfrm>
            <a:off x="6035040" y="1965960"/>
            <a:ext cx="384048" cy="384048"/>
          </a:xfrm>
          <a:prstGeom prst="ellipse">
            <a:avLst/>
          </a:prstGeom>
          <a:solidFill>
            <a:srgbClr val="E7F4F4"/>
          </a:solidFill>
          <a:ln>
            <a:noFill/>
          </a:ln>
          <a:effectLst/>
        </p:spPr>
        <p:txBody>
          <a:bodyPr rtlCol="0" anchor="ctr"/>
          <a:lstStyle/>
          <a:p>
            <a:pPr algn="ctr"/>
          </a:p>
        </p:txBody>
      </p:sp>
      <p:pic>
        <p:nvPicPr>
          <p:cNvPr id="15" name="Picture 14" descr="timer_0E8A8A_256_2.0.png"/>
          <p:cNvPicPr>
            <a:picLocks noChangeAspect="1"/>
          </p:cNvPicPr>
          <p:nvPr/>
        </p:nvPicPr>
        <p:blipFill>
          <a:blip r:embed="rId4"/>
          <a:stretch>
            <a:fillRect/>
          </a:stretch>
        </p:blipFill>
        <p:spPr>
          <a:xfrm>
            <a:off x="6127211" y="2058131"/>
            <a:ext cx="199704" cy="199704"/>
          </a:xfrm>
          <a:prstGeom prst="rect">
            <a:avLst/>
          </a:prstGeom>
        </p:spPr>
      </p:pic>
      <p:sp>
        <p:nvSpPr>
          <p:cNvPr id="16" name="TextBox 15"/>
          <p:cNvSpPr txBox="1"/>
          <p:nvPr/>
        </p:nvSpPr>
        <p:spPr>
          <a:xfrm>
            <a:off x="6565392" y="1938528"/>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response gap, measured</a:t>
            </a:r>
          </a:p>
        </p:txBody>
      </p:sp>
      <p:sp>
        <p:nvSpPr>
          <p:cNvPr id="17" name="TextBox 16"/>
          <p:cNvSpPr txBox="1"/>
          <p:nvPr/>
        </p:nvSpPr>
        <p:spPr>
          <a:xfrm>
            <a:off x="8549640" y="1938528"/>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ERSS-112 is live across all 36 states &amp; UTs, yet ambulance arrival averages 25–35 minutes, and the full care episode runs 55–75 minutes against a 60-minute golden hour.</a:t>
            </a:r>
          </a:p>
        </p:txBody>
      </p:sp>
      <p:sp>
        <p:nvSpPr>
          <p:cNvPr id="18" name="Oval 17"/>
          <p:cNvSpPr/>
          <p:nvPr/>
        </p:nvSpPr>
        <p:spPr>
          <a:xfrm>
            <a:off x="6035040" y="2999231"/>
            <a:ext cx="384048" cy="384048"/>
          </a:xfrm>
          <a:prstGeom prst="ellipse">
            <a:avLst/>
          </a:prstGeom>
          <a:solidFill>
            <a:srgbClr val="EFEDFF"/>
          </a:solidFill>
          <a:ln>
            <a:noFill/>
          </a:ln>
          <a:effectLst/>
        </p:spPr>
        <p:txBody>
          <a:bodyPr rtlCol="0" anchor="ctr"/>
          <a:lstStyle/>
          <a:p>
            <a:pPr algn="ctr"/>
          </a:p>
        </p:txBody>
      </p:sp>
      <p:pic>
        <p:nvPicPr>
          <p:cNvPr id="19" name="Picture 18" descr="map_4A35FF_256_2.0.png"/>
          <p:cNvPicPr>
            <a:picLocks noChangeAspect="1"/>
          </p:cNvPicPr>
          <p:nvPr/>
        </p:nvPicPr>
        <p:blipFill>
          <a:blip r:embed="rId5"/>
          <a:stretch>
            <a:fillRect/>
          </a:stretch>
        </p:blipFill>
        <p:spPr>
          <a:xfrm>
            <a:off x="6127211" y="3091402"/>
            <a:ext cx="199704" cy="199704"/>
          </a:xfrm>
          <a:prstGeom prst="rect">
            <a:avLst/>
          </a:prstGeom>
        </p:spPr>
      </p:pic>
      <p:sp>
        <p:nvSpPr>
          <p:cNvPr id="20" name="TextBox 19"/>
          <p:cNvSpPr txBox="1"/>
          <p:nvPr/>
        </p:nvSpPr>
        <p:spPr>
          <a:xfrm>
            <a:off x="6565392" y="2971799"/>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State innovations documented</a:t>
            </a:r>
          </a:p>
        </p:txBody>
      </p:sp>
      <p:sp>
        <p:nvSpPr>
          <p:cNvPr id="21" name="TextBox 20"/>
          <p:cNvSpPr txBox="1"/>
          <p:nvPr/>
        </p:nvSpPr>
        <p:spPr>
          <a:xfrm>
            <a:off x="8549640" y="2971799"/>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Maharashtra's MEMS, 937 ambulances under centralised dispatch; Tamil Nadu's TAEI trauma corridors, pre-arrival alerts and protocols.</a:t>
            </a:r>
          </a:p>
        </p:txBody>
      </p:sp>
      <p:sp>
        <p:nvSpPr>
          <p:cNvPr id="22" name="Oval 21"/>
          <p:cNvSpPr/>
          <p:nvPr/>
        </p:nvSpPr>
        <p:spPr>
          <a:xfrm>
            <a:off x="6035040" y="4032502"/>
            <a:ext cx="384048" cy="384048"/>
          </a:xfrm>
          <a:prstGeom prst="ellipse">
            <a:avLst/>
          </a:prstGeom>
          <a:solidFill>
            <a:srgbClr val="E9F7F0"/>
          </a:solidFill>
          <a:ln>
            <a:noFill/>
          </a:ln>
          <a:effectLst/>
        </p:spPr>
        <p:txBody>
          <a:bodyPr rtlCol="0" anchor="ctr"/>
          <a:lstStyle/>
          <a:p>
            <a:pPr algn="ctr"/>
          </a:p>
        </p:txBody>
      </p:sp>
      <p:pic>
        <p:nvPicPr>
          <p:cNvPr id="23" name="Picture 22" descr="heart-handshake_0A9955_256_2.0.png"/>
          <p:cNvPicPr>
            <a:picLocks noChangeAspect="1"/>
          </p:cNvPicPr>
          <p:nvPr/>
        </p:nvPicPr>
        <p:blipFill>
          <a:blip r:embed="rId6"/>
          <a:stretch>
            <a:fillRect/>
          </a:stretch>
        </p:blipFill>
        <p:spPr>
          <a:xfrm>
            <a:off x="6127211" y="4124673"/>
            <a:ext cx="199704" cy="199704"/>
          </a:xfrm>
          <a:prstGeom prst="rect">
            <a:avLst/>
          </a:prstGeom>
        </p:spPr>
      </p:pic>
      <p:sp>
        <p:nvSpPr>
          <p:cNvPr id="24" name="TextBox 23"/>
          <p:cNvSpPr txBox="1"/>
          <p:nvPr/>
        </p:nvSpPr>
        <p:spPr>
          <a:xfrm>
            <a:off x="6565392" y="4005070"/>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demand side too</a:t>
            </a:r>
          </a:p>
        </p:txBody>
      </p:sp>
      <p:sp>
        <p:nvSpPr>
          <p:cNvPr id="25" name="TextBox 24"/>
          <p:cNvSpPr txBox="1"/>
          <p:nvPr/>
        </p:nvSpPr>
        <p:spPr>
          <a:xfrm>
            <a:off x="8549640" y="4005070"/>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Good Samaritan protections and the ₹1.5 lakh / 7-day Cashless Treatment Scheme 2025, explained in our public guides and helpdesks.</a:t>
            </a:r>
          </a:p>
        </p:txBody>
      </p:sp>
      <p:sp>
        <p:nvSpPr>
          <p:cNvPr id="26" name="Oval 25"/>
          <p:cNvSpPr/>
          <p:nvPr/>
        </p:nvSpPr>
        <p:spPr>
          <a:xfrm>
            <a:off x="6035040" y="5065773"/>
            <a:ext cx="384048" cy="384048"/>
          </a:xfrm>
          <a:prstGeom prst="ellipse">
            <a:avLst/>
          </a:prstGeom>
          <a:solidFill>
            <a:srgbClr val="FDF3E3"/>
          </a:solidFill>
          <a:ln>
            <a:noFill/>
          </a:ln>
          <a:effectLst/>
        </p:spPr>
        <p:txBody>
          <a:bodyPr rtlCol="0" anchor="ctr"/>
          <a:lstStyle/>
          <a:p>
            <a:pPr algn="ctr"/>
          </a:p>
        </p:txBody>
      </p:sp>
      <p:pic>
        <p:nvPicPr>
          <p:cNvPr id="27" name="Picture 26" descr="stethoscope_E58900_256_2.0.png"/>
          <p:cNvPicPr>
            <a:picLocks noChangeAspect="1"/>
          </p:cNvPicPr>
          <p:nvPr/>
        </p:nvPicPr>
        <p:blipFill>
          <a:blip r:embed="rId7"/>
          <a:stretch>
            <a:fillRect/>
          </a:stretch>
        </p:blipFill>
        <p:spPr>
          <a:xfrm>
            <a:off x="6127211" y="5157944"/>
            <a:ext cx="199704" cy="199704"/>
          </a:xfrm>
          <a:prstGeom prst="rect">
            <a:avLst/>
          </a:prstGeom>
        </p:spPr>
      </p:pic>
      <p:sp>
        <p:nvSpPr>
          <p:cNvPr id="28" name="TextBox 27"/>
          <p:cNvSpPr txBox="1"/>
          <p:nvPr/>
        </p:nvSpPr>
        <p:spPr>
          <a:xfrm>
            <a:off x="6565392" y="5038341"/>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Ready for WG-5</a:t>
            </a:r>
          </a:p>
        </p:txBody>
      </p:sp>
      <p:sp>
        <p:nvSpPr>
          <p:cNvPr id="29" name="TextBox 28"/>
          <p:cNvSpPr txBox="1"/>
          <p:nvPr/>
        </p:nvSpPr>
        <p:spPr>
          <a:xfrm>
            <a:off x="8549640" y="5038341"/>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 referenced baseline for the Group's EMS and trauma-care standards discussions, states already compared, gaps already mapped.</a:t>
            </a:r>
          </a:p>
        </p:txBody>
      </p:sp>
      <p:sp>
        <p:nvSpPr>
          <p:cNvPr id="30" name="TextBox 29"/>
          <p:cNvSpPr txBox="1"/>
          <p:nvPr/>
        </p:nvSpPr>
        <p:spPr>
          <a:xfrm>
            <a:off x="566928" y="5532120"/>
            <a:ext cx="5486400" cy="54864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Covered by Hindustan Times: </a:t>
            </a:r>
            <a:r>
              <a:rPr sz="1000" b="0" i="1">
                <a:solidFill>
                  <a:srgbClr val="6E7180"/>
                </a:solidFill>
                <a:latin typeface="Geist"/>
              </a:rPr>
              <a:t>'India's Road Safety Primer Flags Gaps in Pre-Hospital Emergency Care.'</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IN THE WARDS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Helpdesks where families actually are: </a:t>
            </a:r>
            <a:r>
              <a:rPr sz="2250" b="1" i="0">
                <a:solidFill>
                  <a:srgbClr val="4A35FF"/>
                </a:solidFill>
                <a:latin typeface="Montserrat"/>
              </a:rPr>
              <a:t>trauma wards</a:t>
            </a:r>
          </a:p>
        </p:txBody>
      </p:sp>
      <p:pic>
        <p:nvPicPr>
          <p:cNvPr id="7" name="Picture 6" descr="ph_helpdesk_desk.jpg_4.30x2.60_0.40.jpg"/>
          <p:cNvPicPr>
            <a:picLocks noChangeAspect="1"/>
          </p:cNvPicPr>
          <p:nvPr/>
        </p:nvPicPr>
        <p:blipFill>
          <a:blip r:embed="rId2"/>
          <a:stretch>
            <a:fillRect/>
          </a:stretch>
        </p:blipFill>
        <p:spPr>
          <a:xfrm>
            <a:off x="566928" y="1874519"/>
            <a:ext cx="3931920" cy="2377440"/>
          </a:xfrm>
          <a:prstGeom prst="rect">
            <a:avLst/>
          </a:prstGeom>
        </p:spPr>
      </p:pic>
      <p:sp>
        <p:nvSpPr>
          <p:cNvPr id="8" name="Rectangle 7"/>
          <p:cNvSpPr/>
          <p:nvPr/>
        </p:nvSpPr>
        <p:spPr>
          <a:xfrm>
            <a:off x="566928" y="1874519"/>
            <a:ext cx="3931920" cy="23774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297679"/>
            <a:ext cx="39319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Hospital legal helpdesk, 100+ victims supported in the first four days of operation.</a:t>
            </a:r>
          </a:p>
        </p:txBody>
      </p:sp>
      <p:pic>
        <p:nvPicPr>
          <p:cNvPr id="10" name="Picture 9" descr="ph_stall.jpg_4.30x1.45_0.45.jpg"/>
          <p:cNvPicPr>
            <a:picLocks noChangeAspect="1"/>
          </p:cNvPicPr>
          <p:nvPr/>
        </p:nvPicPr>
        <p:blipFill>
          <a:blip r:embed="rId3"/>
          <a:stretch>
            <a:fillRect/>
          </a:stretch>
        </p:blipFill>
        <p:spPr>
          <a:xfrm>
            <a:off x="566928" y="4709160"/>
            <a:ext cx="3931920" cy="1325880"/>
          </a:xfrm>
          <a:prstGeom prst="rect">
            <a:avLst/>
          </a:prstGeom>
        </p:spPr>
      </p:pic>
      <p:sp>
        <p:nvSpPr>
          <p:cNvPr id="11" name="Rectangle 10"/>
          <p:cNvSpPr/>
          <p:nvPr/>
        </p:nvSpPr>
        <p:spPr>
          <a:xfrm>
            <a:off x="566928" y="4709160"/>
            <a:ext cx="3931920" cy="1325880"/>
          </a:xfrm>
          <a:prstGeom prst="rect">
            <a:avLst/>
          </a:prstGeom>
          <a:noFill/>
          <a:ln w="12700">
            <a:solidFill>
              <a:srgbClr val="E8E9EE"/>
            </a:solidFill>
          </a:ln>
          <a:effectLst/>
        </p:spPr>
        <p:txBody>
          <a:bodyPr rtlCol="0" anchor="ctr"/>
          <a:lstStyle/>
          <a:p>
            <a:pPr algn="ctr"/>
          </a:p>
        </p:txBody>
      </p:sp>
      <p:sp>
        <p:nvSpPr>
          <p:cNvPr id="12" name="Oval 11"/>
          <p:cNvSpPr/>
          <p:nvPr/>
        </p:nvSpPr>
        <p:spPr>
          <a:xfrm>
            <a:off x="4892040" y="1874519"/>
            <a:ext cx="384048" cy="384048"/>
          </a:xfrm>
          <a:prstGeom prst="ellipse">
            <a:avLst/>
          </a:prstGeom>
          <a:solidFill>
            <a:srgbClr val="E9F7F0"/>
          </a:solidFill>
          <a:ln>
            <a:noFill/>
          </a:ln>
          <a:effectLst/>
        </p:spPr>
        <p:txBody>
          <a:bodyPr rtlCol="0" anchor="ctr"/>
          <a:lstStyle/>
          <a:p>
            <a:pPr algn="ctr"/>
          </a:p>
        </p:txBody>
      </p:sp>
      <p:pic>
        <p:nvPicPr>
          <p:cNvPr id="13" name="Picture 12" descr="life-buoy_0A9955_256_2.0.png"/>
          <p:cNvPicPr>
            <a:picLocks noChangeAspect="1"/>
          </p:cNvPicPr>
          <p:nvPr/>
        </p:nvPicPr>
        <p:blipFill>
          <a:blip r:embed="rId4"/>
          <a:stretch>
            <a:fillRect/>
          </a:stretch>
        </p:blipFill>
        <p:spPr>
          <a:xfrm>
            <a:off x="4984211" y="1966690"/>
            <a:ext cx="199704" cy="199704"/>
          </a:xfrm>
          <a:prstGeom prst="rect">
            <a:avLst/>
          </a:prstGeom>
        </p:spPr>
      </p:pic>
      <p:sp>
        <p:nvSpPr>
          <p:cNvPr id="14" name="TextBox 13"/>
          <p:cNvSpPr txBox="1"/>
          <p:nvPr/>
        </p:nvSpPr>
        <p:spPr>
          <a:xfrm>
            <a:off x="5422392" y="1847087"/>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What the desk does</a:t>
            </a:r>
          </a:p>
        </p:txBody>
      </p:sp>
      <p:sp>
        <p:nvSpPr>
          <p:cNvPr id="15" name="TextBox 14"/>
          <p:cNvSpPr txBox="1"/>
          <p:nvPr/>
        </p:nvSpPr>
        <p:spPr>
          <a:xfrm>
            <a:off x="7498080" y="1847087"/>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FIR follow-up, document checklists, DLSA referrals and compensation guidance, at the bedside, in Hindi.</a:t>
            </a:r>
          </a:p>
        </p:txBody>
      </p:sp>
      <p:sp>
        <p:nvSpPr>
          <p:cNvPr id="16" name="Oval 15"/>
          <p:cNvSpPr/>
          <p:nvPr/>
        </p:nvSpPr>
        <p:spPr>
          <a:xfrm>
            <a:off x="4892040" y="2907790"/>
            <a:ext cx="384048" cy="384048"/>
          </a:xfrm>
          <a:prstGeom prst="ellipse">
            <a:avLst/>
          </a:prstGeom>
          <a:solidFill>
            <a:srgbClr val="EFEDFF"/>
          </a:solidFill>
          <a:ln>
            <a:noFill/>
          </a:ln>
          <a:effectLst/>
        </p:spPr>
        <p:txBody>
          <a:bodyPr rtlCol="0" anchor="ctr"/>
          <a:lstStyle/>
          <a:p>
            <a:pPr algn="ctr"/>
          </a:p>
        </p:txBody>
      </p:sp>
      <p:pic>
        <p:nvPicPr>
          <p:cNvPr id="17" name="Picture 16" descr="users_4A35FF_256_2.0.png"/>
          <p:cNvPicPr>
            <a:picLocks noChangeAspect="1"/>
          </p:cNvPicPr>
          <p:nvPr/>
        </p:nvPicPr>
        <p:blipFill>
          <a:blip r:embed="rId5"/>
          <a:stretch>
            <a:fillRect/>
          </a:stretch>
        </p:blipFill>
        <p:spPr>
          <a:xfrm>
            <a:off x="4984211" y="2999961"/>
            <a:ext cx="199704" cy="199704"/>
          </a:xfrm>
          <a:prstGeom prst="rect">
            <a:avLst/>
          </a:prstGeom>
        </p:spPr>
      </p:pic>
      <p:sp>
        <p:nvSpPr>
          <p:cNvPr id="18" name="TextBox 17"/>
          <p:cNvSpPr txBox="1"/>
          <p:nvPr/>
        </p:nvSpPr>
        <p:spPr>
          <a:xfrm>
            <a:off x="5422392" y="2880358"/>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Who runs it</a:t>
            </a:r>
          </a:p>
        </p:txBody>
      </p:sp>
      <p:sp>
        <p:nvSpPr>
          <p:cNvPr id="19" name="TextBox 18"/>
          <p:cNvSpPr txBox="1"/>
          <p:nvPr/>
        </p:nvSpPr>
        <p:spPr>
          <a:xfrm>
            <a:off x="7498080" y="2880358"/>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Trained law-student volunteers under practising advocates, with Neev Foundation and DLSA coordination.</a:t>
            </a:r>
          </a:p>
        </p:txBody>
      </p:sp>
      <p:sp>
        <p:nvSpPr>
          <p:cNvPr id="20" name="Oval 19"/>
          <p:cNvSpPr/>
          <p:nvPr/>
        </p:nvSpPr>
        <p:spPr>
          <a:xfrm>
            <a:off x="4892040" y="3941061"/>
            <a:ext cx="384048" cy="384048"/>
          </a:xfrm>
          <a:prstGeom prst="ellipse">
            <a:avLst/>
          </a:prstGeom>
          <a:solidFill>
            <a:srgbClr val="E7F4F4"/>
          </a:solidFill>
          <a:ln>
            <a:noFill/>
          </a:ln>
          <a:effectLst/>
        </p:spPr>
        <p:txBody>
          <a:bodyPr rtlCol="0" anchor="ctr"/>
          <a:lstStyle/>
          <a:p>
            <a:pPr algn="ctr"/>
          </a:p>
        </p:txBody>
      </p:sp>
      <p:pic>
        <p:nvPicPr>
          <p:cNvPr id="21" name="Picture 20" descr="map-pin_0E8A8A_256_2.0.png"/>
          <p:cNvPicPr>
            <a:picLocks noChangeAspect="1"/>
          </p:cNvPicPr>
          <p:nvPr/>
        </p:nvPicPr>
        <p:blipFill>
          <a:blip r:embed="rId6"/>
          <a:stretch>
            <a:fillRect/>
          </a:stretch>
        </p:blipFill>
        <p:spPr>
          <a:xfrm>
            <a:off x="4984211" y="4033232"/>
            <a:ext cx="199704" cy="199704"/>
          </a:xfrm>
          <a:prstGeom prst="rect">
            <a:avLst/>
          </a:prstGeom>
        </p:spPr>
      </p:pic>
      <p:sp>
        <p:nvSpPr>
          <p:cNvPr id="22" name="TextBox 21"/>
          <p:cNvSpPr txBox="1"/>
          <p:nvPr/>
        </p:nvSpPr>
        <p:spPr>
          <a:xfrm>
            <a:off x="5422392" y="3913629"/>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Where it grows</a:t>
            </a:r>
          </a:p>
        </p:txBody>
      </p:sp>
      <p:sp>
        <p:nvSpPr>
          <p:cNvPr id="23" name="TextBox 22"/>
          <p:cNvSpPr txBox="1"/>
          <p:nvPr/>
        </p:nvSpPr>
        <p:spPr>
          <a:xfrm>
            <a:off x="7498080" y="3913629"/>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Gurugram and Delhi trauma wards first; the district toolkit makes it replicable wherever a DRSC wants one.</a:t>
            </a:r>
          </a:p>
        </p:txBody>
      </p:sp>
      <p:sp>
        <p:nvSpPr>
          <p:cNvPr id="24" name="Oval 23"/>
          <p:cNvSpPr/>
          <p:nvPr/>
        </p:nvSpPr>
        <p:spPr>
          <a:xfrm>
            <a:off x="4892040" y="4974332"/>
            <a:ext cx="384048" cy="384048"/>
          </a:xfrm>
          <a:prstGeom prst="ellipse">
            <a:avLst/>
          </a:prstGeom>
          <a:solidFill>
            <a:srgbClr val="FDF3E3"/>
          </a:solidFill>
          <a:ln>
            <a:noFill/>
          </a:ln>
          <a:effectLst/>
        </p:spPr>
        <p:txBody>
          <a:bodyPr rtlCol="0" anchor="ctr"/>
          <a:lstStyle/>
          <a:p>
            <a:pPr algn="ctr"/>
          </a:p>
        </p:txBody>
      </p:sp>
      <p:pic>
        <p:nvPicPr>
          <p:cNvPr id="25" name="Picture 24" descr="book-open_E58900_256_2.0.png"/>
          <p:cNvPicPr>
            <a:picLocks noChangeAspect="1"/>
          </p:cNvPicPr>
          <p:nvPr/>
        </p:nvPicPr>
        <p:blipFill>
          <a:blip r:embed="rId7"/>
          <a:stretch>
            <a:fillRect/>
          </a:stretch>
        </p:blipFill>
        <p:spPr>
          <a:xfrm>
            <a:off x="4984211" y="5066503"/>
            <a:ext cx="199704" cy="199704"/>
          </a:xfrm>
          <a:prstGeom prst="rect">
            <a:avLst/>
          </a:prstGeom>
        </p:spPr>
      </p:pic>
      <p:sp>
        <p:nvSpPr>
          <p:cNvPr id="26" name="TextBox 25"/>
          <p:cNvSpPr txBox="1"/>
          <p:nvPr/>
        </p:nvSpPr>
        <p:spPr>
          <a:xfrm>
            <a:off x="5422392" y="4946900"/>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Backed by materials</a:t>
            </a:r>
          </a:p>
        </p:txBody>
      </p:sp>
      <p:sp>
        <p:nvSpPr>
          <p:cNvPr id="27" name="TextBox 26"/>
          <p:cNvSpPr txBox="1"/>
          <p:nvPr/>
        </p:nvSpPr>
        <p:spPr>
          <a:xfrm>
            <a:off x="7498080" y="4946900"/>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The Hindi legal-rights guide and 'Meet Aasha' comics live at every desk, and Aasha continues the help at home, 24/7.</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PIPELINE,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Numbers a standard </a:t>
            </a:r>
            <a:r>
              <a:rPr sz="2250" b="1" i="0">
                <a:solidFill>
                  <a:srgbClr val="4A35FF"/>
                </a:solidFill>
                <a:latin typeface="Montserrat"/>
              </a:rPr>
              <a:t>can act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is a lever for a WG-5 standard, toolkit entry or communication norm, none requires new legislation.</a:t>
            </a:r>
          </a:p>
        </p:txBody>
      </p:sp>
      <p:sp>
        <p:nvSpPr>
          <p:cNvPr id="8" name="Rounded Rectangle 7"/>
          <p:cNvSpPr/>
          <p:nvPr/>
        </p:nvSpPr>
        <p:spPr>
          <a:xfrm>
            <a:off x="566928"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921 of 1,026</a:t>
            </a:r>
          </a:p>
        </p:txBody>
      </p:sp>
      <p:sp>
        <p:nvSpPr>
          <p:cNvPr id="10" name="TextBox 9"/>
          <p:cNvSpPr txBox="1"/>
          <p:nvPr/>
        </p:nvSpPr>
        <p:spPr>
          <a:xfrm>
            <a:off x="731520"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nationally were stalled at documentation alone (RTI, July 2024)</a:t>
            </a:r>
          </a:p>
        </p:txBody>
      </p:sp>
      <p:sp>
        <p:nvSpPr>
          <p:cNvPr id="11" name="Rounded Rectangle 10"/>
          <p:cNvSpPr/>
          <p:nvPr/>
        </p:nvSpPr>
        <p:spPr>
          <a:xfrm>
            <a:off x="4288536"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~60 days</a:t>
            </a:r>
          </a:p>
        </p:txBody>
      </p:sp>
      <p:sp>
        <p:nvSpPr>
          <p:cNvPr id="13" name="TextBox 12"/>
          <p:cNvSpPr txBox="1"/>
          <p:nvPr/>
        </p:nvSpPr>
        <p:spPr>
          <a:xfrm>
            <a:off x="4453128"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typical intake latency where claims surface only via bi-monthly meetings</a:t>
            </a:r>
          </a:p>
        </p:txBody>
      </p:sp>
      <p:sp>
        <p:nvSpPr>
          <p:cNvPr id="14" name="Rounded Rectangle 13"/>
          <p:cNvSpPr/>
          <p:nvPr/>
        </p:nvSpPr>
        <p:spPr>
          <a:xfrm>
            <a:off x="8010144"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~50%</a:t>
            </a:r>
          </a:p>
        </p:txBody>
      </p:sp>
      <p:sp>
        <p:nvSpPr>
          <p:cNvPr id="16" name="TextBox 15"/>
          <p:cNvSpPr txBox="1"/>
          <p:nvPr/>
        </p:nvSpPr>
        <p:spPr>
          <a:xfrm>
            <a:off x="8174736"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case files lack a usable family phone number, traceability is the first lever</a:t>
            </a:r>
          </a:p>
        </p:txBody>
      </p:sp>
      <p:sp>
        <p:nvSpPr>
          <p:cNvPr id="17" name="Rounded Rectangle 16"/>
          <p:cNvSpPr/>
          <p:nvPr/>
        </p:nvSpPr>
        <p:spPr>
          <a:xfrm>
            <a:off x="566928"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7 vs 11–13</a:t>
            </a:r>
          </a:p>
        </p:txBody>
      </p:sp>
      <p:sp>
        <p:nvSpPr>
          <p:cNvPr id="19" name="TextBox 18"/>
          <p:cNvSpPr txBox="1"/>
          <p:nvPr/>
        </p:nvSpPr>
        <p:spPr>
          <a:xfrm>
            <a:off x="731520"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court-agreed documents vs what claimants are asked for in practice</a:t>
            </a:r>
          </a:p>
        </p:txBody>
      </p:sp>
      <p:sp>
        <p:nvSpPr>
          <p:cNvPr id="20" name="Rounded Rectangle 19"/>
          <p:cNvSpPr/>
          <p:nvPr/>
        </p:nvSpPr>
        <p:spPr>
          <a:xfrm>
            <a:off x="4288536"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FY23-24: 12%</a:t>
            </a:r>
          </a:p>
        </p:txBody>
      </p:sp>
      <p:sp>
        <p:nvSpPr>
          <p:cNvPr id="22" name="TextBox 21"/>
          <p:cNvSpPr txBox="1"/>
          <p:nvPr/>
        </p:nvSpPr>
        <p:spPr>
          <a:xfrm>
            <a:off x="4453128"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eligible crashes converted to filed claims, improving, from a 2% base</a:t>
            </a:r>
          </a:p>
        </p:txBody>
      </p:sp>
      <p:sp>
        <p:nvSpPr>
          <p:cNvPr id="23" name="Rounded Rectangle 22"/>
          <p:cNvSpPr/>
          <p:nvPr/>
        </p:nvSpPr>
        <p:spPr>
          <a:xfrm>
            <a:off x="8010144"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 + 22</a:t>
            </a:r>
          </a:p>
        </p:txBody>
      </p:sp>
      <p:sp>
        <p:nvSpPr>
          <p:cNvPr id="25" name="TextBox 24"/>
          <p:cNvSpPr txBox="1"/>
          <p:nvPr/>
        </p:nvSpPr>
        <p:spPr>
          <a:xfrm>
            <a:off x="8174736"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GIC clarification queries drafted · RTIs building the public record</a:t>
            </a:r>
          </a:p>
        </p:txBody>
      </p:sp>
      <p:sp>
        <p:nvSpPr>
          <p:cNvPr id="26" name="TextBox 25"/>
          <p:cNvSpPr txBox="1"/>
          <p:nvPr/>
        </p:nvSpPr>
        <p:spPr>
          <a:xfrm>
            <a:off x="566928" y="5257800"/>
            <a:ext cx="11057839" cy="73152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The claim's other side: </a:t>
            </a:r>
            <a:r>
              <a:rPr sz="1050" b="0" i="0">
                <a:solidFill>
                  <a:srgbClr val="6E7180"/>
                </a:solidFill>
                <a:latin typeface="Geist"/>
              </a:rPr>
              <a:t>consultations with GIC and insurers on settlement practice · guidance from Justice J.R. Midha (Retd.), architect of the FaSTDAR process · working partners across MACT courts, DLSAs and legal-services clinics, Mishika Singh (Neev Foundation), Yash Agarwal (Public Policy India), Sanchit Seth (Advocate, Delhi MACT).</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5</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victim-side evidence base</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'Justice Unserved', 'Deposited But Not Delivered', 120+ victim and family interactions, and file-level pipeline data showing precisely where eligible families drop out.</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district toolkit, drawn from practice</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Working DRSC integration experience, agendas, file digitisation, fellow placement, ready to be codified into the Group's district toolkit.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reusable state portal blueprint</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Rajasthan case-management design, guided filing, stage-wise visibility, single-pass clarification, offered as a template any state can adapt.</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Standards input from the claimant's side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Document standards (the court-agreed 7), communication norms and timeline benchmarks, grounded in what families actually experience.</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874519"/>
            <a:ext cx="10515600" cy="1280160"/>
          </a:xfrm>
          <a:prstGeom prst="rect">
            <a:avLst/>
          </a:prstGeom>
          <a:noFill/>
        </p:spPr>
        <p:txBody>
          <a:bodyPr wrap="square" lIns="0" rIns="0" tIns="0" bIns="0" anchor="t">
            <a:spAutoFit/>
          </a:bodyPr>
          <a:lstStyle/>
          <a:p>
            <a:pPr algn="l">
              <a:lnSpc>
                <a:spcPct val="120000"/>
              </a:lnSpc>
            </a:pPr>
            <a:r>
              <a:rPr sz="3000" b="1" i="0">
                <a:solidFill>
                  <a:srgbClr val="FFFFFF"/>
                </a:solidFill>
                <a:latin typeface="Montserrat"/>
              </a:rPr>
              <a:t>We would be honoured to contribute</a:t>
            </a:r>
          </a:p>
          <a:p>
            <a:pPr algn="l">
              <a:lnSpc>
                <a:spcPct val="120000"/>
              </a:lnSpc>
            </a:pPr>
            <a:r>
              <a:rPr sz="3000" b="1" i="0">
                <a:solidFill>
                  <a:srgbClr val="FFFFFF"/>
                </a:solidFill>
                <a:latin typeface="Montserrat"/>
              </a:rPr>
              <a:t>to Working Group 5.</a:t>
            </a:r>
          </a:p>
        </p:txBody>
      </p:sp>
      <p:sp>
        <p:nvSpPr>
          <p:cNvPr id="5" name="TextBox 4"/>
          <p:cNvSpPr txBox="1"/>
          <p:nvPr/>
        </p:nvSpPr>
        <p:spPr>
          <a:xfrm>
            <a:off x="566928" y="3383280"/>
            <a:ext cx="9601200" cy="548640"/>
          </a:xfrm>
          <a:prstGeom prst="rect">
            <a:avLst/>
          </a:prstGeom>
          <a:noFill/>
        </p:spPr>
        <p:txBody>
          <a:bodyPr wrap="square" lIns="0" rIns="0" tIns="0" bIns="0" anchor="t">
            <a:spAutoFit/>
          </a:bodyPr>
          <a:lstStyle/>
          <a:p>
            <a:pPr algn="l">
              <a:lnSpc>
                <a:spcPct val="140000"/>
              </a:lnSpc>
            </a:pPr>
            <a:r>
              <a:rPr sz="120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160520"/>
            <a:ext cx="4754880" cy="0"/>
          </a:xfrm>
          <a:prstGeom prst="line">
            <a:avLst/>
          </a:prstGeom>
          <a:ln w="12700">
            <a:solidFill>
              <a:srgbClr val="6A55FF"/>
            </a:solidFill>
          </a:ln>
          <a:effectLst/>
        </p:spPr>
      </p:cxnSp>
      <p:sp>
        <p:nvSpPr>
          <p:cNvPr id="7" name="TextBox 6"/>
          <p:cNvSpPr txBox="1"/>
          <p:nvPr/>
        </p:nvSpPr>
        <p:spPr>
          <a:xfrm>
            <a:off x="566928" y="4343400"/>
            <a:ext cx="7863840" cy="777240"/>
          </a:xfrm>
          <a:prstGeom prst="rect">
            <a:avLst/>
          </a:prstGeom>
          <a:noFill/>
        </p:spPr>
        <p:txBody>
          <a:bodyPr wrap="square" lIns="0" rIns="0" tIns="0" bIns="0" anchor="t">
            <a:spAutoFit/>
          </a:bodyPr>
          <a:lstStyle/>
          <a:p>
            <a:pPr algn="l">
              <a:lnSpc>
                <a:spcPct val="135000"/>
              </a:lnSpc>
            </a:pPr>
            <a:r>
              <a:rPr sz="135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38928"/>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577840"/>
            <a:ext cx="256032" cy="256032"/>
          </a:xfrm>
          <a:prstGeom prst="rect">
            <a:avLst/>
          </a:prstGeom>
        </p:spPr>
      </p:pic>
      <p:sp>
        <p:nvSpPr>
          <p:cNvPr id="10" name="TextBox 9"/>
          <p:cNvSpPr txBox="1"/>
          <p:nvPr/>
        </p:nvSpPr>
        <p:spPr>
          <a:xfrm>
            <a:off x="978408" y="55595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5998464"/>
            <a:ext cx="256032" cy="256032"/>
          </a:xfrm>
          <a:prstGeom prst="rect">
            <a:avLst/>
          </a:prstGeom>
        </p:spPr>
      </p:pic>
      <p:sp>
        <p:nvSpPr>
          <p:cNvPr id="12" name="TextBox 11"/>
          <p:cNvSpPr txBox="1"/>
          <p:nvPr/>
        </p:nvSpPr>
        <p:spPr>
          <a:xfrm>
            <a:off x="978408" y="5980176"/>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pic>
        <p:nvPicPr>
          <p:cNvPr id="14" name="Picture 13" descr="ph_dhoni_white.jpg_3.10x4.20_0.10.jpg"/>
          <p:cNvPicPr>
            <a:picLocks noChangeAspect="1"/>
          </p:cNvPicPr>
          <p:nvPr/>
        </p:nvPicPr>
        <p:blipFill>
          <a:blip r:embed="rId5"/>
          <a:stretch>
            <a:fillRect/>
          </a:stretch>
        </p:blipFill>
        <p:spPr>
          <a:xfrm>
            <a:off x="8778240" y="1874519"/>
            <a:ext cx="2834640" cy="384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