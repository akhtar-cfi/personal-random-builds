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1.png"/><Relationship Id="rId4" Type="http://schemas.openxmlformats.org/officeDocument/2006/relationships/image" Target="../media/image33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468880" cy="34115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897112" y="0"/>
            <a:ext cx="3294583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247120" y="384048"/>
            <a:ext cx="475488" cy="475488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4-Point Star 5"/>
          <p:cNvSpPr/>
          <p:nvPr/>
        </p:nvSpPr>
        <p:spPr>
          <a:xfrm>
            <a:off x="10991088" y="786384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4312" y="20116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8C0FF"/>
                </a:solidFill>
                <a:latin typeface="Montserrat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20299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200">
                <a:solidFill>
                  <a:srgbClr val="FFFFFF"/>
                </a:solidFill>
                <a:latin typeface="Montserrat"/>
              </a:rPr>
              <a:t>THE SHIFT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54312" y="2578608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9354312" y="285292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8C0FF"/>
                </a:solidFill>
                <a:latin typeface="Montserrat"/>
              </a:rPr>
              <a:t>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48672" y="287121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200">
                <a:solidFill>
                  <a:srgbClr val="FFFFFF"/>
                </a:solidFill>
                <a:latin typeface="Montserrat"/>
              </a:rPr>
              <a:t>THE INSTITUTION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54312" y="3419856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9354312" y="369417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8C0FF"/>
                </a:solidFill>
                <a:latin typeface="Montserrat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48672" y="371246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200">
                <a:solidFill>
                  <a:srgbClr val="FFFFFF"/>
                </a:solidFill>
                <a:latin typeface="Montserrat"/>
              </a:rPr>
              <a:t>THE PROOF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54312" y="4261104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9354312" y="453542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8C0FF"/>
                </a:solidFill>
                <a:latin typeface="Montserrat"/>
              </a:rPr>
              <a:t>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8672" y="455371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200">
                <a:solidFill>
                  <a:srgbClr val="FFFFFF"/>
                </a:solidFill>
                <a:latin typeface="Montserrat"/>
              </a:rPr>
              <a:t>THE PEOPLE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59893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C8C0FF"/>
                </a:solidFill>
                <a:latin typeface="Montserrat"/>
              </a:rPr>
              <a:t>Zero road fatalities</a:t>
            </a:r>
          </a:p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C8C0FF"/>
                </a:solidFill>
                <a:latin typeface="Montserrat"/>
              </a:rPr>
              <a:t>by 2040.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606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CRASHFREE INDIA  ·  A CARS24 COMMITMENT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944368"/>
            <a:ext cx="795527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1A1C1C"/>
                </a:solidFill>
                <a:latin typeface="Montserrat"/>
              </a:rPr>
              <a:t>Systems work because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02736"/>
            <a:ext cx="79552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4A35FF"/>
                </a:solidFill>
                <a:latin typeface="Montserrat"/>
              </a:rPr>
              <a:t>we hold them accountable.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777589"/>
                </a:solidFill>
                <a:latin typeface="Geist"/>
              </a:rPr>
              <a:t>An overview of the audit-and-accountability institution for India's roads.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5989320"/>
            <a:ext cx="7589520" cy="0"/>
          </a:xfrm>
          <a:prstGeom prst="line">
            <a:avLst/>
          </a:prstGeom>
          <a:ln w="12700">
            <a:solidFill>
              <a:srgbClr val="EDEEF2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40080" y="617220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60">
                <a:solidFill>
                  <a:srgbClr val="777589"/>
                </a:solidFill>
                <a:latin typeface="Montserrat"/>
              </a:rPr>
              <a:t>Partner overview  ·  July 2026  ·  crashfreeindia.org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For seventy years, ‘driver error’ closed the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The data just reopened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0" b="1" i="0">
                <a:solidFill>
                  <a:srgbClr val="4A35FF"/>
                </a:solidFill>
                <a:latin typeface="Montserrat"/>
              </a:rPr>
              <a:t>59%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A1C1C"/>
                </a:solidFill>
                <a:latin typeface="Geist"/>
              </a:rPr>
              <a:t>of road deaths in India involve no traffic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A1C1C"/>
                </a:solidFill>
                <a:latin typeface="Geist"/>
              </a:rPr>
              <a:t>violation by the victim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56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Ministry of Road Transport &amp; Highways data</a:t>
            </a:r>
          </a:p>
        </p:txBody>
      </p:sp>
      <p:sp>
        <p:nvSpPr>
          <p:cNvPr id="9" name="Oval 8"/>
          <p:cNvSpPr/>
          <p:nvPr/>
        </p:nvSpPr>
        <p:spPr>
          <a:xfrm>
            <a:off x="6035040" y="22860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databas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386584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93408" y="2267712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Crash records went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56032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e-DAR and digitised FIRs make every death traceable to a place, a road design, a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3218688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scan-lin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3319272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93408" y="32004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Vehicles became identifiable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3493008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ANPR cameras and live national vehicle APIs surface repeat offenders instantly.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4151376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-column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4251960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93408" y="41330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Failure became attributable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4425696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Open data ties deaths to specific junctions, specific processes, specific desks.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32120"/>
            <a:ext cx="10911535" cy="5029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Once failure is attributable, it becomes fixable — and someone can be held to fixing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THE SHIFT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21000" b="1" i="0">
                <a:solidFill>
                  <a:srgbClr val="F10015"/>
                </a:solidFill>
                <a:latin typeface="Montserrat"/>
              </a:rPr>
              <a:t>485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1A1C1C"/>
                </a:solidFill>
                <a:latin typeface="Montserrat"/>
              </a:rPr>
              <a:t>people are killed on Indian roads every single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4608" y="4343400"/>
            <a:ext cx="2468880" cy="402336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74336" y="4343400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ONE DEATH EVERY 3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367" y="5074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1A1C1C"/>
                </a:solidFill>
                <a:latin typeface="Montserrat"/>
              </a:rPr>
              <a:t>1,77,175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5532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killed in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1367" y="5074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1A1C1C"/>
                </a:solidFill>
                <a:latin typeface="Montserrat"/>
              </a:rPr>
              <a:t>66%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5532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aged 18–34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0367" y="5074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1A1C1C"/>
                </a:solidFill>
                <a:latin typeface="Montserrat"/>
              </a:rPr>
              <a:t>1% → 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0367" y="5532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of world's vehicles → of its road deaths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777589"/>
                </a:solidFill>
                <a:latin typeface="Geist"/>
              </a:rPr>
              <a:t>Source: MoRTH, Road Accidents in India 2024 · Crashfree India Crash Data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THE STAKES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920240" cy="265346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THE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System failure, unowned.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8C0FF"/>
                </a:solidFill>
                <a:latin typeface="Geist"/>
              </a:rPr>
              <a:t>Three audits of how India responds to a road death. The same defect each time: nobody owns the follow-through.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3520440" cy="2606040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traffic-cone_FFFF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218688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7673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EXHIBIT A · ROADS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Montserrat"/>
              </a:rPr>
              <a:t>Audits die at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4515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Hazards get reported, studies get filed — and no institution tracks whether a single fix is ever built.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2834640"/>
            <a:ext cx="3520440" cy="2606040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08576" y="3108960"/>
            <a:ext cx="502920" cy="502920"/>
          </a:xfrm>
          <a:prstGeom prst="ellipse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scale_FFFF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3218688"/>
            <a:ext cx="283464" cy="283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576" y="37673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EXHIBIT B · JUSTICE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4041648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Montserrat"/>
              </a:rPr>
              <a:t>₹80,000 Cr sits undelivered.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464515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10.46 lakh compensation cases pending. In one Gurugram audit: 102 hit-and-run files since 2022 — 2 settled.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2" y="2834640"/>
            <a:ext cx="3520440" cy="2606040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02752" y="3108960"/>
            <a:ext cx="502920" cy="502920"/>
          </a:xfrm>
          <a:prstGeom prst="ellipse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siren_FFFF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218688"/>
            <a:ext cx="283464" cy="2834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02752" y="37673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EXHIBIT C · ENFORCEMENT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041648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Montserrat"/>
              </a:rPr>
              <a:t>Repeat offenders stay invisible.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64515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46 crore e-challans issued, ~75% unpaid — while roadside enforcement still stops vehicles at random.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42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That gap — between what is known and what gets done — is the institutional white space Crashfree India was built to fill.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THE FINDING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PART II · THE INSTITUTION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Not a charity.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The institution India's roads never had.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Crashfree India is the audit-and-accountability layer for road safety — launched June 2025 as a Cars24 commitment, operated by Vision Zero Trust, New Delhi.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89864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alendar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980944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291693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Founded June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55848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Launched by Cars24 with the Indian Road Safety Campaign; roots in a decade of IRSC campus audit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697480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35424" y="289864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ndian-rupe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98094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65776" y="291693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$3M over 3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355848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Cars24's committed institutional funding — programme-first: 71% of FY26-27 budget goes to programmes.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2697480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0" y="289864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landmar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980944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59952" y="291693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Vision Zero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55848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Registered public trust; trustees include Cars24 co-founder Gajendra Jangid.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61688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45628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targe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645152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458114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One north star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020056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Zero road fatalities in India by 2040 — pursued as system repair, not sensitisation.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4361688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35424" y="45628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map-pin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645152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65776" y="458114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18 cities and counting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5020056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Programmes live across India — Delhi NCR, Jaipur, Indore, Bengaluru, Chennai, Guwahati and more.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4361688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0" y="45628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mic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6" y="4645152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59952" y="458114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MS Dhoni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020056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Goodwill Ambassador since April 2026 — lending India's most trusted voice to the cause.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ABOUT CRASHFREE INDIA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We don't run campaigns.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We make the system move.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331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624328"/>
            <a:ext cx="566928" cy="56692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search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752344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338328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 spc="120">
                <a:solidFill>
                  <a:srgbClr val="4A35FF"/>
                </a:solidFill>
                <a:latin typeface="Montserrat"/>
              </a:rPr>
              <a:t>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0332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C1C"/>
                </a:solidFill>
                <a:latin typeface="Montserrat"/>
              </a:rPr>
              <a:t>Find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142232"/>
            <a:ext cx="18196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Field evidence to IRC / MoRTH standards — blackspots, claim files, enforcement gaps.</a:t>
            </a:r>
          </a:p>
        </p:txBody>
      </p:sp>
      <p:pic>
        <p:nvPicPr>
          <p:cNvPr id="12" name="Picture 11" descr="arrow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3712464"/>
            <a:ext cx="256032" cy="25603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355848" y="2331720"/>
            <a:ext cx="2331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80" y="2624328"/>
            <a:ext cx="566928" cy="56692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megaphon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2752344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11880" y="338328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 spc="120">
                <a:solidFill>
                  <a:srgbClr val="4A35FF"/>
                </a:solidFill>
                <a:latin typeface="Montserrat"/>
              </a:rPr>
              <a:t>ADVOCATE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70332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C1C"/>
                </a:solidFill>
                <a:latin typeface="Montserrat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142232"/>
            <a:ext cx="18196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Findings published and presented — to district committees, state departments, MoRTH, the press.</a:t>
            </a:r>
          </a:p>
        </p:txBody>
      </p:sp>
      <p:pic>
        <p:nvPicPr>
          <p:cNvPr id="19" name="Picture 18" descr="arrow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3712464"/>
            <a:ext cx="256032" cy="25603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71616" y="2331720"/>
            <a:ext cx="2331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8" y="2624328"/>
            <a:ext cx="566928" cy="56692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badge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752344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27648" y="338328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 spc="120">
                <a:solidFill>
                  <a:srgbClr val="4A35FF"/>
                </a:solidFill>
                <a:latin typeface="Montserrat"/>
              </a:rPr>
              <a:t>ACCOUNTABILITY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70332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C1C"/>
                </a:solidFill>
                <a:latin typeface="Montserrat"/>
              </a:rPr>
              <a:t>Unblock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4142232"/>
            <a:ext cx="18196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Every recommendation tracked in public — from approval to build, from claim to payout.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2331720"/>
            <a:ext cx="2999232" cy="30175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578608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WHAT WE REFUSE TO BE</a:t>
            </a:r>
          </a:p>
        </p:txBody>
      </p:sp>
      <p:sp>
        <p:nvSpPr>
          <p:cNvPr id="28" name="Oval 27"/>
          <p:cNvSpPr/>
          <p:nvPr/>
        </p:nvSpPr>
        <p:spPr>
          <a:xfrm>
            <a:off x="8823960" y="2990088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3031236"/>
            <a:ext cx="155448" cy="1554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71432" y="297180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An awareness machine</a:t>
            </a:r>
          </a:p>
        </p:txBody>
      </p:sp>
      <p:sp>
        <p:nvSpPr>
          <p:cNvPr id="31" name="Oval 30"/>
          <p:cNvSpPr/>
          <p:nvPr/>
        </p:nvSpPr>
        <p:spPr>
          <a:xfrm>
            <a:off x="8823960" y="3410712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3451860"/>
            <a:ext cx="155448" cy="1554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71432" y="3392424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An activity factory</a:t>
            </a:r>
          </a:p>
        </p:txBody>
      </p:sp>
      <p:sp>
        <p:nvSpPr>
          <p:cNvPr id="34" name="Oval 33"/>
          <p:cNvSpPr/>
          <p:nvPr/>
        </p:nvSpPr>
        <p:spPr>
          <a:xfrm>
            <a:off x="8823960" y="3831336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3872484"/>
            <a:ext cx="155448" cy="1554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71432" y="3813048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A government substitute</a:t>
            </a:r>
          </a:p>
        </p:txBody>
      </p:sp>
      <p:sp>
        <p:nvSpPr>
          <p:cNvPr id="37" name="Oval 36"/>
          <p:cNvSpPr/>
          <p:nvPr/>
        </p:nvSpPr>
        <p:spPr>
          <a:xfrm>
            <a:off x="8823960" y="4251960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4293108"/>
            <a:ext cx="155448" cy="1554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171432" y="4233672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A paper think tank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23960" y="4736592"/>
            <a:ext cx="2450592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8823960" y="4864608"/>
            <a:ext cx="2450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C8C0FF"/>
                </a:solidFill>
                <a:latin typeface="Geist"/>
              </a:rPr>
              <a:t>Every recommendation tracked to implementation.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Institutionally embedded: 4 District Road Safety Committees · MoUs with Jaipur Traffic Police &amp; Gurugram Police · formally tasked by SW Delhi DRSC.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OPERATING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PROOF · 01 INFRASTRUCTURE — PROJECT RAKSHAK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Students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Governments rebuild.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1755648" cy="155448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120+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high-risk locations</a:t>
            </a:r>
          </a:p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screened nationwide</a:t>
            </a:r>
          </a:p>
        </p:txBody>
      </p:sp>
      <p:pic>
        <p:nvPicPr>
          <p:cNvPr id="9" name="Picture 8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444" y="3090672"/>
            <a:ext cx="219456" cy="2194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642616" y="2423160"/>
            <a:ext cx="1755648" cy="155448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5877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2616" y="3227832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sites fully audited,</a:t>
            </a:r>
          </a:p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incl. 11 official blackspots</a:t>
            </a:r>
          </a:p>
        </p:txBody>
      </p:sp>
      <p:pic>
        <p:nvPicPr>
          <p:cNvPr id="13" name="Picture 12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3090672"/>
            <a:ext cx="219456" cy="2194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645152" y="2423160"/>
            <a:ext cx="1755648" cy="155448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5877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227832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written government</a:t>
            </a:r>
          </a:p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approvals secured</a:t>
            </a:r>
          </a:p>
        </p:txBody>
      </p:sp>
      <p:pic>
        <p:nvPicPr>
          <p:cNvPr id="17" name="Picture 16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16" y="3090672"/>
            <a:ext cx="219456" cy="21945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47688" y="2423160"/>
            <a:ext cx="1755648" cy="155448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5877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227832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C8C0FF"/>
                </a:solidFill>
                <a:latin typeface="Geist"/>
              </a:rPr>
              <a:t>implementations</a:t>
            </a:r>
          </a:p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C8C0FF"/>
                </a:solidFill>
                <a:latin typeface="Geist"/>
              </a:rPr>
              <a:t>begun on the ground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24528"/>
            <a:ext cx="13716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224528"/>
            <a:ext cx="1152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18 cities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76272" y="4224528"/>
            <a:ext cx="23774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4224528"/>
            <a:ext cx="21579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20 institutions · 9 IITs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18304" y="4224528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4224528"/>
            <a:ext cx="20665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900+ stakeholder surveys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846320"/>
            <a:ext cx="777240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hard-ha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74920"/>
            <a:ext cx="310896" cy="3108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89888" y="501091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Case: Tejaji Nagar Junction, Indore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5321808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Student-audited redesign to IRC / MoRTH standards — signals, lighting, footpaths, speed management — approved by CPWD and the Additional Collector's office. Guided by Prof. Geetam Tiwari (TRIPC, IIT Delhi).</a:t>
            </a:r>
          </a:p>
        </p:txBody>
      </p:sp>
      <p:pic>
        <p:nvPicPr>
          <p:cNvPr id="31" name="Picture 30" descr="india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331720"/>
            <a:ext cx="2847405" cy="33832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58521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1">
                <a:solidFill>
                  <a:srgbClr val="777589"/>
                </a:solidFill>
                <a:latin typeface="Geist"/>
              </a:rPr>
              <a:t>Every audit public: crashfreeindia.org/rakshak/dashboard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PROOF · PROJECT RAKSHAK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PROOF · 02 ENFORCEMENT — SATARK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Enforcement that knows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which vehicle to stop.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An AI co-pilot for traffic police: every passing plate checked against live national records, so officers intercept the riskiest vehicles — not random 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9385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3026664"/>
            <a:ext cx="475488" cy="47548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amera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312724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59359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ANPR camera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reads every plate</a:t>
            </a:r>
          </a:p>
        </p:txBody>
      </p:sp>
      <p:pic>
        <p:nvPicPr>
          <p:cNvPr id="11" name="Picture 10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442716"/>
            <a:ext cx="201168" cy="201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798064" y="2880360"/>
            <a:ext cx="19385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9584" y="3026664"/>
            <a:ext cx="475488" cy="47548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bas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3127248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98064" y="359359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Live vehicle record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via national APIs</a:t>
            </a:r>
          </a:p>
        </p:txBody>
      </p:sp>
      <p:pic>
        <p:nvPicPr>
          <p:cNvPr id="16" name="Picture 15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3442716"/>
            <a:ext cx="201168" cy="20116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956048" y="2880360"/>
            <a:ext cx="19385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7568" y="3026664"/>
            <a:ext cx="475488" cy="47548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list-filter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3127248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56048" y="359359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Rule engine flags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habitual offenders</a:t>
            </a:r>
          </a:p>
        </p:txBody>
      </p:sp>
      <p:pic>
        <p:nvPicPr>
          <p:cNvPr id="21" name="Picture 20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3442716"/>
            <a:ext cx="201168" cy="20116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114032" y="2880360"/>
            <a:ext cx="19385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5552" y="3026664"/>
            <a:ext cx="475488" cy="47548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tv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136" y="312724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14032" y="359359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Public billboard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names the risk</a:t>
            </a:r>
          </a:p>
        </p:txBody>
      </p:sp>
      <p:pic>
        <p:nvPicPr>
          <p:cNvPr id="26" name="Picture 25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3442716"/>
            <a:ext cx="201168" cy="20116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272016" y="2880360"/>
            <a:ext cx="19385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03536" y="3026664"/>
            <a:ext cx="475488" cy="47548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shield-check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120" y="3127248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72016" y="359359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Officer app routes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the interception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3,00,000+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9834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vehicles scanned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₹30 Cr+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49834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pending challans surfaced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6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350+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49834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high-risk vehicles intercepted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544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2 cities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49834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Jaipur &amp; Bengaluru · 5 police approvals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486400"/>
            <a:ext cx="10911535" cy="5486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48640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First 72 hours in Jaipur: 1,240 vehicles flagged, 58 intercepted.  ·  100 AI challan billboards already live in Gurugram; 12+ cities in discussion.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PROOF · SATARK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PROOF · 03 JUSTICE — AASHA &amp; COMPENSATION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The law promises ₹80,000 crore.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We make it reach families.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1208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777589"/>
                </a:solidFill>
                <a:latin typeface="Montserrat"/>
              </a:rPr>
              <a:t>THE GAP WE DOCUMENTED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1A1C1C"/>
                </a:solidFill>
                <a:latin typeface="Montserrat"/>
              </a:rPr>
              <a:t>10.46 lakh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62656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777589"/>
                </a:solidFill>
                <a:latin typeface="Geist"/>
              </a:rPr>
              <a:t>compensation cases pending nationwide — ₹80,000 Cr stuck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0273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1A1C1C"/>
                </a:solidFill>
                <a:latin typeface="Montserrat"/>
              </a:rPr>
              <a:t>205 vs ~25,000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621024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777589"/>
                </a:solidFill>
                <a:latin typeface="Geist"/>
              </a:rPr>
              <a:t>hit-and-run claims actually filed vs. eligible crashes (FY22-23)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61104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1A1C1C"/>
                </a:solidFill>
                <a:latin typeface="Montserrat"/>
              </a:rPr>
              <a:t>3.6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7939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777589"/>
                </a:solidFill>
                <a:latin typeface="Geist"/>
              </a:rPr>
              <a:t>average wait for a claim — with 20–40 office visits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947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1A1C1C"/>
                </a:solidFill>
                <a:latin typeface="Montserrat"/>
              </a:rPr>
              <a:t>2 of 102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9377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777589"/>
                </a:solidFill>
                <a:latin typeface="Geist"/>
              </a:rPr>
              <a:t>hit-and-run files settled since 2022 in our Gurugram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377440"/>
            <a:ext cx="5468112" cy="32461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78608"/>
            <a:ext cx="4919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THE MACHINERY WE BUILT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944368"/>
            <a:ext cx="310896" cy="310896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ot_FFFF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16" y="3003804"/>
            <a:ext cx="192024" cy="1920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93992" y="2935224"/>
            <a:ext cx="45079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FFFFFF"/>
                </a:solidFill>
                <a:latin typeface="Geist"/>
              </a:rPr>
              <a:t>Aasha — India's first 24/7 multilingual AI compensation chatbot, on WhatsApp and voice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3465575"/>
            <a:ext cx="310896" cy="310896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calculator_FFFF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3525011"/>
            <a:ext cx="192024" cy="1920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93992" y="3456431"/>
            <a:ext cx="45079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FFFFFF"/>
                </a:solidFill>
                <a:latin typeface="Geist"/>
              </a:rPr>
              <a:t>Compensation Calculator on Supreme Court principles (Sarla Verma, Pranay Sethi)</a:t>
            </a:r>
          </a:p>
        </p:txBody>
      </p:sp>
      <p:sp>
        <p:nvSpPr>
          <p:cNvPr id="24" name="Oval 23"/>
          <p:cNvSpPr/>
          <p:nvPr/>
        </p:nvSpPr>
        <p:spPr>
          <a:xfrm>
            <a:off x="6355080" y="3986782"/>
            <a:ext cx="310896" cy="310896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hand-helping_FFFF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516" y="4046218"/>
            <a:ext cx="192024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93992" y="3977638"/>
            <a:ext cx="45079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FFFFFF"/>
                </a:solidFill>
                <a:latin typeface="Geist"/>
              </a:rPr>
              <a:t>Hospital legal helpdesks — 100+ victims supported in the first 4 days</a:t>
            </a:r>
          </a:p>
        </p:txBody>
      </p:sp>
      <p:sp>
        <p:nvSpPr>
          <p:cNvPr id="27" name="Oval 26"/>
          <p:cNvSpPr/>
          <p:nvPr/>
        </p:nvSpPr>
        <p:spPr>
          <a:xfrm>
            <a:off x="6355080" y="4507989"/>
            <a:ext cx="310896" cy="310896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landmark_FFFF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516" y="4567425"/>
            <a:ext cx="192024" cy="1920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93992" y="4498845"/>
            <a:ext cx="45079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FFFFFF"/>
                </a:solidFill>
                <a:latin typeface="Geist"/>
              </a:rPr>
              <a:t>Embedded in 4 district committees; ‘Justice Unserved’ findings presented to MoRTH</a:t>
            </a:r>
          </a:p>
        </p:txBody>
      </p:sp>
      <p:sp>
        <p:nvSpPr>
          <p:cNvPr id="30" name="Oval 29"/>
          <p:cNvSpPr/>
          <p:nvPr/>
        </p:nvSpPr>
        <p:spPr>
          <a:xfrm>
            <a:off x="6355080" y="5029196"/>
            <a:ext cx="310896" cy="310896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route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4516" y="5088632"/>
            <a:ext cx="192024" cy="19202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93992" y="5020052"/>
            <a:ext cx="45079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FFFFFF"/>
                </a:solidFill>
                <a:latin typeface="Geist"/>
              </a:rPr>
              <a:t>Hit-and-run claim pipeline being rebuilt with Rajasthan Transport Department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777589"/>
                </a:solidFill>
                <a:latin typeface="Geist"/>
              </a:rPr>
              <a:t>‘Justice Unserved’ (launched at IIT Delhi, 2026) is now the reference dataset on why crash compensation fails in India.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PROOF · JUSTICE &amp; AASHA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PROOF · 04 PUBLIC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We publish what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would rather not know.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3492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578608"/>
            <a:ext cx="420624" cy="42062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map-pinned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665476"/>
            <a:ext cx="246888" cy="246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8176" y="259689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Road Defect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92608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AI reads local-language news in 13 languages across 146 districts — potholes, missing signage, unlit stretches — geocoded into public hotspot maps.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377440"/>
            <a:ext cx="53492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91656" y="2578608"/>
            <a:ext cx="420624" cy="42062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2665476"/>
            <a:ext cx="246888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58584" y="259689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Road Safety in Parliament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4" y="292608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Every road-safety question since 2014 — 1,423 of them. And a finding: 282 sitting Lok Sabha MPs have never asked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40"/>
            <a:ext cx="53492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178808"/>
            <a:ext cx="420624" cy="42062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scal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265676"/>
            <a:ext cx="246888" cy="2468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8176" y="419709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SC Litigation 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452628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18 live Supreme Court cases, 190+ orders, with an accountability ledger of deadlines — 11 already overdue at launch.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3977640"/>
            <a:ext cx="53492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91656" y="4178808"/>
            <a:ext cx="420624" cy="42062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chart-column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524" y="4265676"/>
            <a:ext cx="246888" cy="2468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58584" y="419709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Crash Data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452628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MoRTH's 266-page annual PDFs productised: report cards for 36 states and 50 cities, open CC-BY — the canonical source for our own claims.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681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60">
                <a:solidFill>
                  <a:srgbClr val="777589"/>
                </a:solidFill>
                <a:latin typeface="Montserrat"/>
              </a:rPr>
              <a:t>‘JUSTICE UNSERVED’, IN PRINT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60720"/>
            <a:ext cx="1324965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760720"/>
            <a:ext cx="110550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Deccan Herald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93061" y="5760720"/>
            <a:ext cx="1410004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02789" y="5760720"/>
            <a:ext cx="11905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Economic Times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31081" y="5760720"/>
            <a:ext cx="1324965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0809" y="5760720"/>
            <a:ext cx="110550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Fortune India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84062" y="5760720"/>
            <a:ext cx="1069848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0" y="5760720"/>
            <a:ext cx="8503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IndiaSpend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6" y="5760720"/>
            <a:ext cx="1239926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1654" y="5760720"/>
            <a:ext cx="102047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Moneycontrol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49868" y="5760720"/>
            <a:ext cx="984808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59596" y="5760720"/>
            <a:ext cx="7653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Scroll.in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62692" y="5760720"/>
            <a:ext cx="899769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72420" y="5760720"/>
            <a:ext cx="68031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The Wire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PROOF · PUBLIC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IMPACT · YEAR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Twelve months in,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the system is answering.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52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citizens reached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36392" y="2286000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852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cities 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32704" y="2286000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2852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govt approvals won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01568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5112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968496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implementations begun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36392" y="3401568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5112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968496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district committees joined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32704" y="3401568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35112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3968496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cities enforcing with SATARK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17136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62686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150+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084064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members &amp; interns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36392" y="4517136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462686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50+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084064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experts engaged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32704" y="4517136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33872" y="462686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3872" y="5084064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national media features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286000"/>
            <a:ext cx="3182112" cy="361188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792" y="248716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THE FIRST 400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287121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Jun 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87121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Launched as a Cars24 commitment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337413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Sep 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37413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NextMile finale · first AI billboard live in Bengaluru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22792" y="387705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Jan 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87705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‘Justice Unserved’ published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2792" y="437997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Apr 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37997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IIT Delhi national forum · Dhoni joins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22792" y="488289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Jun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88289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SATARK live with Jaipur Police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22792" y="538581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Jul 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38581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Rakshak Cohort 2 · 4 open-data products shipped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760720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77589"/>
                </a:solidFill>
                <a:latin typeface="Geist"/>
              </a:rPr>
              <a:t>Every figure above is from our public dashboard and quarterly updates — audited numbers, not estimates.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IMPACT · YEAR 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920240" cy="265346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GOODWILL AMBASSADOR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A new captain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 i="0">
                <a:solidFill>
                  <a:srgbClr val="C8C0FF"/>
                </a:solidFill>
                <a:latin typeface="Montserrat"/>
              </a:rPr>
              <a:t>for road safety.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MS Dhoni joined Crashfree India in April 2026, unveiled at our national forum at IIT Delhi — lending the country's most trusted voice to a systems problem.</a:t>
            </a:r>
          </a:p>
        </p:txBody>
      </p:sp>
      <p:pic>
        <p:nvPicPr>
          <p:cNvPr id="10" name="Picture 9" descr="check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14223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41148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Voice of ‘Be a Rakshak’ — recruiting India's students into road audits</a:t>
            </a:r>
          </a:p>
        </p:txBody>
      </p:sp>
      <p:pic>
        <p:nvPicPr>
          <p:cNvPr id="12" name="Picture 11" descr="check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26280"/>
            <a:ext cx="182880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449884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Champion for safe school zones</a:t>
            </a:r>
          </a:p>
        </p:txBody>
      </p:sp>
      <p:pic>
        <p:nvPicPr>
          <p:cNvPr id="14" name="Picture 13" descr="check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910328"/>
            <a:ext cx="18288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" y="488289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Amplifier for compensation rights &amp; Aasha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1">
                <a:solidFill>
                  <a:srgbClr val="FFFFFF"/>
                </a:solidFill>
                <a:latin typeface="Montserrat"/>
              </a:rPr>
              <a:t>“Because every ride deserves to end safely.”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Coverage: Business Standard · The Tribune · The Wire</a:t>
            </a:r>
          </a:p>
        </p:txBody>
      </p:sp>
      <p:pic>
        <p:nvPicPr>
          <p:cNvPr id="18" name="Picture 17" descr="DHONI_CFI_-_1200X6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874519"/>
            <a:ext cx="4846320" cy="254431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20840" y="452628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1">
                <a:solidFill>
                  <a:srgbClr val="C8C0FF"/>
                </a:solidFill>
                <a:latin typeface="Geist"/>
              </a:rPr>
              <a:t>Announcement creative · April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GOODWILL AMBASSADOR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PART IV · THE PEOPLE — BOARD OF ADVISORS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The people who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the auditors.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49240" cy="2121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96312"/>
            <a:ext cx="731520" cy="73152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9631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FFFFFF"/>
                </a:solidFill>
                <a:latin typeface="Montserrat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78024"/>
            <a:ext cx="3977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Piyush Tewari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825496"/>
            <a:ext cx="3977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Founder &amp; CEO, SaveLIFE Foundation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1801368" y="3255264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191256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Architect of India's Good Samaritan Law (Supreme Court, 2016)</a:t>
            </a:r>
          </a:p>
        </p:txBody>
      </p:sp>
      <p:sp>
        <p:nvSpPr>
          <p:cNvPr id="13" name="Oval 12"/>
          <p:cNvSpPr/>
          <p:nvPr/>
        </p:nvSpPr>
        <p:spPr>
          <a:xfrm>
            <a:off x="1801368" y="3639312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3575304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Built the Zero Fatality Corridor model — ~40% fewer deaths on Mumbai–Pune Expressway; now scaling with MoRTH</a:t>
            </a:r>
          </a:p>
        </p:txBody>
      </p:sp>
      <p:sp>
        <p:nvSpPr>
          <p:cNvPr id="15" name="Oval 14"/>
          <p:cNvSpPr/>
          <p:nvPr/>
        </p:nvSpPr>
        <p:spPr>
          <a:xfrm>
            <a:off x="1801368" y="4023360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95935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Rolex Award for Enterprise · Elevate Prize · MPA, Harvard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240280"/>
            <a:ext cx="5349240" cy="2121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2496312"/>
            <a:ext cx="731520" cy="73152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49631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FFFFFF"/>
                </a:solidFill>
                <a:latin typeface="Montserrat"/>
              </a:rPr>
              <a:t>GT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478024"/>
            <a:ext cx="3977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Prof. (Dr.) Geetam Tiwari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825496"/>
            <a:ext cx="3977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Professor Emerita, TRIPC, IIT Delhi</a:t>
            </a:r>
          </a:p>
        </p:txBody>
      </p:sp>
      <p:sp>
        <p:nvSpPr>
          <p:cNvPr id="22" name="Oval 21"/>
          <p:cNvSpPr/>
          <p:nvPr/>
        </p:nvSpPr>
        <p:spPr>
          <a:xfrm>
            <a:off x="7351776" y="3255264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3191256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Three decades leading India's foremost road-safety research centre — a WHO Collaborating Centre</a:t>
            </a:r>
          </a:p>
        </p:txBody>
      </p:sp>
      <p:sp>
        <p:nvSpPr>
          <p:cNvPr id="24" name="Oval 23"/>
          <p:cNvSpPr/>
          <p:nvPr/>
        </p:nvSpPr>
        <p:spPr>
          <a:xfrm>
            <a:off x="7351776" y="3639312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2088" y="3575304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Global authority on vulnerable road users &amp; safe-system design · PhD, University of Illinois Chicago</a:t>
            </a:r>
          </a:p>
        </p:txBody>
      </p:sp>
      <p:sp>
        <p:nvSpPr>
          <p:cNvPr id="26" name="Oval 25"/>
          <p:cNvSpPr/>
          <p:nvPr/>
        </p:nvSpPr>
        <p:spPr>
          <a:xfrm>
            <a:off x="7351776" y="4023360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395935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Guides Project Rakshak's audit methodology; anchors our Expert Consortium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537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777589"/>
                </a:solidFill>
                <a:latin typeface="Montserrat"/>
              </a:rPr>
              <a:t>THE EXPERT BENCH BEHIND OUR AUDITS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28032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86918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Justice J. R. Midha (Retd.)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070348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Delhi High Court · FastDAR architect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6" y="4828032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486918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Dr. S. Velmurugan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070348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Head, Traffic Engg. &amp; Safety, CSIR-CRRI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2" y="4828032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024" y="486918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Dr. Richa Ahuja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4" y="5070348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IIT Kharagpur · Rakshak advisor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40096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381244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Akhilesh Srivastava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58241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IRF India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34256" y="5340096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8848" y="5381244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Col. Sanjeev Sharma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8848" y="558241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CoERS, IIT Madras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8432" y="5340096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93024" y="5381244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Sarika Panda Bhatt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558241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Raahgiri Foundation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852160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589330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B. N. Puri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" y="6094476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Transport economist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34256" y="5852160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8848" y="589330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Dr. P. K. Sikdar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8848" y="6094476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Ex-Director, CRRI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28432" y="5852160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93024" y="589330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A. M. Rao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6094476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Traffic engineering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BOARD OF ADVISORS &amp; EXPERTS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PART IV · THE PEOPLE —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Built by people who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chose this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128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60">
                <a:solidFill>
                  <a:srgbClr val="777589"/>
                </a:solidFill>
                <a:latin typeface="Montserrat"/>
              </a:rPr>
              <a:t>TRUSTEES · VISION ZERO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520440" cy="11704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70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Amar Srivastava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4436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President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6440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Founder, Indian Road Safety Council — 50,000+ volunteers · Diana Award 2019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514600"/>
            <a:ext cx="3520440" cy="11704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697480"/>
            <a:ext cx="548640" cy="54864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697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DG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2670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Deepanshu Gupta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94436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Managing Trustee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26440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Founder, IRSC · Global Youth Coalition for Road Safety leadership 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2514600"/>
            <a:ext cx="3520440" cy="11704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11312" y="2697480"/>
            <a:ext cx="548640" cy="54864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2697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GJ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2670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Gajendra Jangid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294436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General Secretary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26440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Co-founder, Cars24 · ex-Schlumberger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1363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60">
                <a:solidFill>
                  <a:srgbClr val="777589"/>
                </a:solidFill>
                <a:latin typeface="Montserrat"/>
              </a:rPr>
              <a:t>FULL-TIME 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06240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8096" y="43342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3342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4297680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Akhtar Hussain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535424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Mission Lead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473659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>IIT Delhi · ex-Bain &amp; Co., Deloitte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568" y="4206240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29584" y="43342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43342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4297680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Shubham Kumar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4535424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Policy Advocacy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73659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>DU + NALSAR · byline: Scroll.in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6" y="4206240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91072" y="43342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43342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MY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4297680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Muskan Yadav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4535424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Programs · Infrastructure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473659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>TISS Mumbai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24544" y="4206240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52560" y="43342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43342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6336" y="4297680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Aastha Shreeharsh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4535424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Strategy &amp; Operations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46336" y="473659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>HKUST · quoted in The Wire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175504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8096" y="530352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3035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61872" y="526694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Rohan Sharma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61872" y="5504688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Cause Marketing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61872" y="5705856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/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01568" y="5175504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29584" y="530352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29584" y="53035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IR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0" y="526694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Ishita Rathore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3360" y="5504688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People &amp; Culture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23360" y="5705856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63056" y="5175504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91072" y="530352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91072" y="53035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YY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4848" y="526694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Yuvraj Yadav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84848" y="5504688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Product Design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84848" y="5705856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/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24544" y="5175504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60" y="530352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52560" y="53035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SK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46336" y="526694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Shipra Kushwaha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46336" y="5504688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Graphic Design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46336" y="5705856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610819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+ 75+ part-time road-engineering interns across India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THE TEAM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920240" cy="265346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FFFFFF"/>
                </a:solidFill>
                <a:latin typeface="Montserrat"/>
              </a:rPr>
              <a:t>Every three minutes, the system</a:t>
            </a:r>
          </a:p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FFFFFF"/>
                </a:solidFill>
                <a:latin typeface="Montserrat"/>
              </a:rPr>
              <a:t>fails someone on an Indian road.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1" i="0">
                <a:solidFill>
                  <a:srgbClr val="C8C0FF"/>
                </a:solidFill>
                <a:latin typeface="Montserrat"/>
              </a:rPr>
              <a:t>We make it answer.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4206240"/>
            <a:ext cx="1088136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40080" y="44074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YEAR TWO, WITH YOU — THE TARGETS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80060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54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150+ blackspots audited by the national pipeline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16636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Model districts: Gurugram · SW Delhi · Jaipur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53212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4864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12+ district-committee presentations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89788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8521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Rakshak Audit Manual v1.0 — usable by NHAI without rework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074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START THE CONVERSATION</a:t>
            </a:r>
          </a:p>
        </p:txBody>
      </p:sp>
      <p:pic>
        <p:nvPicPr>
          <p:cNvPr id="19" name="Picture 18" descr="globe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764024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31152" y="4754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crashfreeindia.org</a:t>
            </a:r>
          </a:p>
        </p:txBody>
      </p:sp>
      <p:pic>
        <p:nvPicPr>
          <p:cNvPr id="21" name="Picture 20" descr="mail_C8C0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148072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31152" y="51389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helpdesk@crashfreeindia.org</a:t>
            </a:r>
          </a:p>
        </p:txBody>
      </p:sp>
      <p:pic>
        <p:nvPicPr>
          <p:cNvPr id="23" name="Picture 22" descr="bar-chart-3_C8C0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532120"/>
            <a:ext cx="219456" cy="21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31152" y="55229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Live proof: crashfreeindia.org/rakshak/dashboard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Crashfree India · A Cars24 Commitment · operated by Vision Zero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