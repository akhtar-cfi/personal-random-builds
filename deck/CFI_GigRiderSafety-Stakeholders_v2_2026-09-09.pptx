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image" Target="../media/image20.png"/><Relationship Id="rId4" Type="http://schemas.openxmlformats.org/officeDocument/2006/relationships/image" Target="../media/image1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go_bl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475488"/>
            <a:ext cx="1554480" cy="214804"/>
          </a:xfrm>
          <a:prstGeom prst="rect">
            <a:avLst/>
          </a:prstGeom>
        </p:spPr>
      </p:pic>
      <p:sp>
        <p:nvSpPr>
          <p:cNvPr id="4" name="4-Point Star 3"/>
          <p:cNvSpPr/>
          <p:nvPr/>
        </p:nvSpPr>
        <p:spPr>
          <a:xfrm>
            <a:off x="11356848" y="310896"/>
            <a:ext cx="384048" cy="384048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4-Point Star 4"/>
          <p:cNvSpPr/>
          <p:nvPr/>
        </p:nvSpPr>
        <p:spPr>
          <a:xfrm>
            <a:off x="11100816" y="640080"/>
            <a:ext cx="237744" cy="237744"/>
          </a:xfrm>
          <a:prstGeom prst="star4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34440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00" b="1" i="0" spc="240">
                <a:solidFill>
                  <a:srgbClr val="4A35FF"/>
                </a:solidFill>
                <a:latin typeface="Montserrat"/>
              </a:rPr>
              <a:t>GIG RIDER SAFETY   ·   PRELIMINARY FINDINGS   ·  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27632"/>
            <a:ext cx="10607040" cy="1051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3000" b="1" i="0">
                <a:solidFill>
                  <a:srgbClr val="16181D"/>
                </a:solidFill>
                <a:latin typeface="Montserrat"/>
              </a:rPr>
              <a:t>Gig Rider Road Safety:</a:t>
            </a:r>
            <a:r>
              <a:rPr sz="3000" b="1" i="0">
                <a:solidFill>
                  <a:srgbClr val="4A35FF"/>
                </a:solidFill>
                <a:latin typeface="Montserrat"/>
              </a:rPr>
              <a:t>  Preliminary Findings from the 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724912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50" b="0" i="0">
                <a:solidFill>
                  <a:srgbClr val="6E7180"/>
                </a:solidFill>
                <a:latin typeface="Geist"/>
              </a:rPr>
              <a:t>Our working hypothesis: a gig rider's road risk is produced by three interacting systems — not by careless riders. Building on our February 2026 brief.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529584"/>
            <a:ext cx="3503066" cy="2286000"/>
          </a:xfrm>
          <a:prstGeom prst="roundRect">
            <a:avLst>
              <a:gd name="adj" fmla="val 5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8096" y="371246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4A35FF"/>
                </a:solidFill>
                <a:latin typeface="Montserrat"/>
              </a:rPr>
              <a:t>01</a:t>
            </a:r>
          </a:p>
        </p:txBody>
      </p:sp>
      <p:sp>
        <p:nvSpPr>
          <p:cNvPr id="11" name="Oval 10"/>
          <p:cNvSpPr/>
          <p:nvPr/>
        </p:nvSpPr>
        <p:spPr>
          <a:xfrm>
            <a:off x="3484778" y="3712464"/>
            <a:ext cx="402336" cy="402336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2" name="Picture 11" descr="building-2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81338" y="3809024"/>
            <a:ext cx="209214" cy="209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68096" y="4169664"/>
            <a:ext cx="31007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1" i="0" spc="140">
                <a:solidFill>
                  <a:srgbClr val="4A35FF"/>
                </a:solidFill>
                <a:latin typeface="Montserrat"/>
              </a:rPr>
              <a:t>CONDITIONS OF GIG WORK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4370832"/>
            <a:ext cx="31007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6181D"/>
                </a:solidFill>
                <a:latin typeface="Montserrat"/>
              </a:rPr>
              <a:t>Structural &amp; Occupational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8096" y="4736592"/>
            <a:ext cx="3100730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16" name="Oval 15"/>
          <p:cNvSpPr/>
          <p:nvPr/>
        </p:nvSpPr>
        <p:spPr>
          <a:xfrm>
            <a:off x="768096" y="4914900"/>
            <a:ext cx="54864" cy="54864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4864608"/>
            <a:ext cx="293613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30" b="0" i="0">
                <a:solidFill>
                  <a:srgbClr val="454855"/>
                </a:solidFill>
                <a:latin typeface="Geist"/>
              </a:rPr>
              <a:t>Time-bound deliveries, algorithmic pressure</a:t>
            </a:r>
          </a:p>
        </p:txBody>
      </p:sp>
      <p:sp>
        <p:nvSpPr>
          <p:cNvPr id="18" name="Oval 17"/>
          <p:cNvSpPr/>
          <p:nvPr/>
        </p:nvSpPr>
        <p:spPr>
          <a:xfrm>
            <a:off x="768096" y="5225796"/>
            <a:ext cx="54864" cy="54864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2688" y="5175504"/>
            <a:ext cx="293613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30" b="0" i="0">
                <a:solidFill>
                  <a:srgbClr val="454855"/>
                </a:solidFill>
                <a:latin typeface="Geist"/>
              </a:rPr>
              <a:t>Low pay, rising ride costs</a:t>
            </a:r>
          </a:p>
        </p:txBody>
      </p:sp>
      <p:sp>
        <p:nvSpPr>
          <p:cNvPr id="20" name="Oval 19"/>
          <p:cNvSpPr/>
          <p:nvPr/>
        </p:nvSpPr>
        <p:spPr>
          <a:xfrm>
            <a:off x="768096" y="5536692"/>
            <a:ext cx="54864" cy="54864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486400"/>
            <a:ext cx="293613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30" b="0" i="0">
                <a:solidFill>
                  <a:srgbClr val="454855"/>
                </a:solidFill>
                <a:latin typeface="Geist"/>
              </a:rPr>
              <a:t>Poor city infrastructure, weak enforcement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4314" y="3529584"/>
            <a:ext cx="3503066" cy="2286000"/>
          </a:xfrm>
          <a:prstGeom prst="roundRect">
            <a:avLst>
              <a:gd name="adj" fmla="val 5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5482" y="371246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4A35FF"/>
                </a:solidFill>
                <a:latin typeface="Montserrat"/>
              </a:rPr>
              <a:t>02</a:t>
            </a:r>
          </a:p>
        </p:txBody>
      </p:sp>
      <p:sp>
        <p:nvSpPr>
          <p:cNvPr id="24" name="Oval 23"/>
          <p:cNvSpPr/>
          <p:nvPr/>
        </p:nvSpPr>
        <p:spPr>
          <a:xfrm>
            <a:off x="7262164" y="3712464"/>
            <a:ext cx="402336" cy="402336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route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8724" y="3809024"/>
            <a:ext cx="209214" cy="20921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545482" y="4169664"/>
            <a:ext cx="31007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1" i="0" spc="140">
                <a:solidFill>
                  <a:srgbClr val="4A35FF"/>
                </a:solidFill>
                <a:latin typeface="Montserrat"/>
              </a:rPr>
              <a:t>ON-ROAD BEHAVIOURS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45482" y="4370832"/>
            <a:ext cx="31007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6181D"/>
                </a:solidFill>
                <a:latin typeface="Montserrat"/>
              </a:rPr>
              <a:t>Operational &amp; Behavioural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4545482" y="4736592"/>
            <a:ext cx="3100730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29" name="Oval 28"/>
          <p:cNvSpPr/>
          <p:nvPr/>
        </p:nvSpPr>
        <p:spPr>
          <a:xfrm>
            <a:off x="4545482" y="4914900"/>
            <a:ext cx="54864" cy="54864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10074" y="4864608"/>
            <a:ext cx="293613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30" b="0" i="0">
                <a:solidFill>
                  <a:srgbClr val="454855"/>
                </a:solidFill>
                <a:latin typeface="Geist"/>
              </a:rPr>
              <a:t>Skill &amp; training deficits, licensing gaps</a:t>
            </a:r>
          </a:p>
        </p:txBody>
      </p:sp>
      <p:sp>
        <p:nvSpPr>
          <p:cNvPr id="31" name="Oval 30"/>
          <p:cNvSpPr/>
          <p:nvPr/>
        </p:nvSpPr>
        <p:spPr>
          <a:xfrm>
            <a:off x="4545482" y="5225796"/>
            <a:ext cx="54864" cy="54864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10074" y="5175504"/>
            <a:ext cx="293613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30" b="0" i="0">
                <a:solidFill>
                  <a:srgbClr val="454855"/>
                </a:solidFill>
                <a:latin typeface="Geist"/>
              </a:rPr>
              <a:t>Traffic violations — speeding, wrong-way</a:t>
            </a:r>
          </a:p>
        </p:txBody>
      </p:sp>
      <p:sp>
        <p:nvSpPr>
          <p:cNvPr id="33" name="Oval 32"/>
          <p:cNvSpPr/>
          <p:nvPr/>
        </p:nvSpPr>
        <p:spPr>
          <a:xfrm>
            <a:off x="4545482" y="5536692"/>
            <a:ext cx="54864" cy="54864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10074" y="5486400"/>
            <a:ext cx="293613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30" b="0" i="0">
                <a:solidFill>
                  <a:srgbClr val="454855"/>
                </a:solidFill>
                <a:latin typeface="Geist"/>
              </a:rPr>
              <a:t>Helmet non-use, vehicle modifications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121700" y="3529584"/>
            <a:ext cx="3503066" cy="2286000"/>
          </a:xfrm>
          <a:prstGeom prst="roundRect">
            <a:avLst>
              <a:gd name="adj" fmla="val 5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22868" y="3712464"/>
            <a:ext cx="914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1" i="0">
                <a:solidFill>
                  <a:srgbClr val="4A35FF"/>
                </a:solidFill>
                <a:latin typeface="Montserrat"/>
              </a:rPr>
              <a:t>03</a:t>
            </a:r>
          </a:p>
        </p:txBody>
      </p:sp>
      <p:sp>
        <p:nvSpPr>
          <p:cNvPr id="37" name="Oval 36"/>
          <p:cNvSpPr/>
          <p:nvPr/>
        </p:nvSpPr>
        <p:spPr>
          <a:xfrm>
            <a:off x="11039550" y="3712464"/>
            <a:ext cx="402336" cy="402336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8" name="Picture 37" descr="bar-chart-3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36110" y="3809024"/>
            <a:ext cx="209214" cy="209214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8322868" y="4169664"/>
            <a:ext cx="310073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1" i="0" spc="140">
                <a:solidFill>
                  <a:srgbClr val="4A35FF"/>
                </a:solidFill>
                <a:latin typeface="Montserrat"/>
              </a:rPr>
              <a:t>CROSS-CUTTING ENABLER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22868" y="4370832"/>
            <a:ext cx="310073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6181D"/>
                </a:solidFill>
                <a:latin typeface="Montserrat"/>
              </a:rPr>
              <a:t>Data &amp; Accountability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322868" y="4736592"/>
            <a:ext cx="3100730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42" name="Oval 41"/>
          <p:cNvSpPr/>
          <p:nvPr/>
        </p:nvSpPr>
        <p:spPr>
          <a:xfrm>
            <a:off x="8322868" y="4914900"/>
            <a:ext cx="54864" cy="54864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87460" y="4864608"/>
            <a:ext cx="293613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30" b="0" i="0">
                <a:solidFill>
                  <a:srgbClr val="454855"/>
                </a:solidFill>
                <a:latin typeface="Geist"/>
              </a:rPr>
              <a:t>Fragmented data silos</a:t>
            </a:r>
          </a:p>
        </p:txBody>
      </p:sp>
      <p:sp>
        <p:nvSpPr>
          <p:cNvPr id="44" name="Oval 43"/>
          <p:cNvSpPr/>
          <p:nvPr/>
        </p:nvSpPr>
        <p:spPr>
          <a:xfrm>
            <a:off x="8322868" y="5225796"/>
            <a:ext cx="54864" cy="54864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87460" y="5175504"/>
            <a:ext cx="293613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30" b="0" i="0">
                <a:solidFill>
                  <a:srgbClr val="454855"/>
                </a:solidFill>
                <a:latin typeface="Geist"/>
              </a:rPr>
              <a:t>No monitoring or feedback loops</a:t>
            </a:r>
          </a:p>
        </p:txBody>
      </p:sp>
      <p:sp>
        <p:nvSpPr>
          <p:cNvPr id="46" name="Oval 45"/>
          <p:cNvSpPr/>
          <p:nvPr/>
        </p:nvSpPr>
        <p:spPr>
          <a:xfrm>
            <a:off x="8322868" y="5536692"/>
            <a:ext cx="54864" cy="54864"/>
          </a:xfrm>
          <a:prstGeom prst="ellipse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487460" y="5486400"/>
            <a:ext cx="2936138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930" b="0" i="0">
                <a:solidFill>
                  <a:srgbClr val="454855"/>
                </a:solidFill>
                <a:latin typeface="Geist"/>
              </a:rPr>
              <a:t>Limited accountability systems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566928" y="6053328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49" name="TextBox 48"/>
          <p:cNvSpPr txBox="1"/>
          <p:nvPr/>
        </p:nvSpPr>
        <p:spPr>
          <a:xfrm>
            <a:off x="566928" y="6144768"/>
            <a:ext cx="8686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Preliminary findings — fieldwork ongoing. 309 riders surveyed to date; results may evolve.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698687" y="614476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950" b="1" i="0">
                <a:solidFill>
                  <a:srgbClr val="16181D"/>
                </a:solidFill>
                <a:latin typeface="Montserrat"/>
              </a:rPr>
              <a:t>Crashfree India  ×  Ayvole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EXECUTIVE SUMMARY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What the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fieldwork</a:t>
            </a:r>
            <a:r>
              <a:rPr sz="2250" b="1" i="0">
                <a:solidFill>
                  <a:srgbClr val="16181D"/>
                </a:solidFill>
                <a:latin typeface="Montserrat"/>
              </a:rPr>
              <a:t> shows so far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Six findings that recur across the survey. Each is unpacked in the slides that follow.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93392"/>
            <a:ext cx="3515258" cy="2029968"/>
          </a:xfrm>
          <a:prstGeom prst="roundRect">
            <a:avLst>
              <a:gd name="adj" fmla="val 5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2194560"/>
            <a:ext cx="420624" cy="420624"/>
          </a:xfrm>
          <a:prstGeom prst="ellipse">
            <a:avLst/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triangle-alert_E58900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045" y="2295509"/>
            <a:ext cx="218724" cy="2187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8096" y="2688336"/>
            <a:ext cx="311292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E58900"/>
                </a:solidFill>
                <a:latin typeface="Montserrat"/>
              </a:rPr>
              <a:t>62% vs 13%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072384"/>
            <a:ext cx="31129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 i="0" spc="80">
                <a:solidFill>
                  <a:srgbClr val="16181D"/>
                </a:solidFill>
                <a:latin typeface="Montserrat"/>
              </a:rPr>
              <a:t>E-BIKES RIDE UNLICENSED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419856"/>
            <a:ext cx="311292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Low-speed e-bikes fall outside the Motor Vehicles Act — seen by police, but hard to fine.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8218" y="1993392"/>
            <a:ext cx="3515258" cy="2029968"/>
          </a:xfrm>
          <a:prstGeom prst="roundRect">
            <a:avLst>
              <a:gd name="adj" fmla="val 5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39386" y="2194560"/>
            <a:ext cx="420624" cy="420624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bike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0335" y="2295509"/>
            <a:ext cx="218724" cy="2187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39386" y="2688336"/>
            <a:ext cx="311292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4A35FF"/>
                </a:solidFill>
                <a:latin typeface="Montserrat"/>
              </a:rPr>
              <a:t>40% / 47%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9386" y="3072384"/>
            <a:ext cx="31129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 i="0" spc="80">
                <a:solidFill>
                  <a:srgbClr val="16181D"/>
                </a:solidFill>
                <a:latin typeface="Montserrat"/>
              </a:rPr>
              <a:t>HAVE ALREADY CRASHED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9386" y="3419856"/>
            <a:ext cx="311292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Two in five food-delivery and nearly half of quick-commerce riders have crashed at least once.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9508" y="1993392"/>
            <a:ext cx="3515258" cy="2029968"/>
          </a:xfrm>
          <a:prstGeom prst="roundRect">
            <a:avLst>
              <a:gd name="adj" fmla="val 5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10676" y="2194560"/>
            <a:ext cx="420624" cy="420624"/>
          </a:xfrm>
          <a:prstGeom prst="ellipse">
            <a:avLst/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file-text_E58900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1625" y="2295509"/>
            <a:ext cx="218724" cy="21872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310676" y="2688336"/>
            <a:ext cx="311292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E58900"/>
                </a:solidFill>
                <a:latin typeface="Montserrat"/>
              </a:rPr>
              <a:t>~2 in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0676" y="3072384"/>
            <a:ext cx="31129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 i="0" spc="80">
                <a:solidFill>
                  <a:srgbClr val="16181D"/>
                </a:solidFill>
                <a:latin typeface="Montserrat"/>
              </a:rPr>
              <a:t>CRASHES NEVER REPORTED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0676" y="3419856"/>
            <a:ext cx="311292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Most crashes never reach the platform, so company data understates the real toll.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224528"/>
            <a:ext cx="3515258" cy="2029968"/>
          </a:xfrm>
          <a:prstGeom prst="roundRect">
            <a:avLst>
              <a:gd name="adj" fmla="val 5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68096" y="4425696"/>
            <a:ext cx="420624" cy="420624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7" name="Picture 26" descr="hard-hat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045" y="4526645"/>
            <a:ext cx="218724" cy="218724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768096" y="4919472"/>
            <a:ext cx="311292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4A35FF"/>
                </a:solidFill>
                <a:latin typeface="Montserrat"/>
              </a:rPr>
              <a:t>76% / 34%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8096" y="5303520"/>
            <a:ext cx="31129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 i="0" spc="80">
                <a:solidFill>
                  <a:srgbClr val="16181D"/>
                </a:solidFill>
                <a:latin typeface="Montserrat"/>
              </a:rPr>
              <a:t>HELMET SEEN AS OPTIONAL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8096" y="5650992"/>
            <a:ext cx="311292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Quick-commerce riders far more than food delivery treat helmets as skippable on short trips.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38218" y="4224528"/>
            <a:ext cx="3515258" cy="2029968"/>
          </a:xfrm>
          <a:prstGeom prst="roundRect">
            <a:avLst>
              <a:gd name="adj" fmla="val 5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4539386" y="4425696"/>
            <a:ext cx="420624" cy="420624"/>
          </a:xfrm>
          <a:prstGeom prst="ellipse">
            <a:avLst/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3" name="Picture 32" descr="badge-check_E58900_256_2.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40335" y="4526645"/>
            <a:ext cx="218724" cy="218724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4539386" y="4919472"/>
            <a:ext cx="311292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E58900"/>
                </a:solidFill>
                <a:latin typeface="Montserrat"/>
              </a:rPr>
              <a:t>40% / ~21%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39386" y="5303520"/>
            <a:ext cx="31129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 i="0" spc="80">
                <a:solidFill>
                  <a:srgbClr val="16181D"/>
                </a:solidFill>
                <a:latin typeface="Montserrat"/>
              </a:rPr>
              <a:t>UNLICENSED — ALL RIDERS / PETROL 2W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39386" y="5650992"/>
            <a:ext cx="311292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About half of all riders ride without a licence — but only ~21% of petrol two-wheeler riders do. The gap sits with exempt e-bikes.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09508" y="4224528"/>
            <a:ext cx="3515258" cy="2029968"/>
          </a:xfrm>
          <a:prstGeom prst="roundRect">
            <a:avLst>
              <a:gd name="adj" fmla="val 5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310676" y="4425696"/>
            <a:ext cx="420624" cy="420624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9" name="Picture 38" descr="clock_4A35FF_256_2.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11625" y="4526645"/>
            <a:ext cx="218724" cy="218724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8310676" y="4919472"/>
            <a:ext cx="311292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 i="0">
                <a:solidFill>
                  <a:srgbClr val="4A35FF"/>
                </a:solidFill>
                <a:latin typeface="Montserrat"/>
              </a:rPr>
              <a:t>44%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10676" y="5303520"/>
            <a:ext cx="31129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 i="0" spc="80">
                <a:solidFill>
                  <a:srgbClr val="16181D"/>
                </a:solidFill>
                <a:latin typeface="Montserrat"/>
              </a:rPr>
              <a:t>RIDE OVER 12 HOURS A DAY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10676" y="5650992"/>
            <a:ext cx="3112922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Long hours, ~79-hour weeks and thin rest are built into how the work is paid.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44" name="TextBox 43"/>
          <p:cNvSpPr txBox="1"/>
          <p:nvPr/>
        </p:nvSpPr>
        <p:spPr>
          <a:xfrm>
            <a:off x="566928" y="6528816"/>
            <a:ext cx="8778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  ·    Gig Rider Safety — Executive Summary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44607" y="6528816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THE FRAMEWORK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4A35FF"/>
                </a:solidFill>
                <a:latin typeface="Montserrat"/>
              </a:rPr>
              <a:t>Three systems</a:t>
            </a:r>
            <a:r>
              <a:rPr sz="2250" b="1" i="0">
                <a:solidFill>
                  <a:srgbClr val="16181D"/>
                </a:solidFill>
                <a:latin typeface="Montserrat"/>
              </a:rPr>
              <a:t> produce the risk on the road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A deeper cut of the hypothesis: the specific risks we are testing inside each category.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011680"/>
            <a:ext cx="3503066" cy="4114800"/>
          </a:xfrm>
          <a:prstGeom prst="roundRect">
            <a:avLst>
              <a:gd name="adj" fmla="val 4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466490" y="2212848"/>
            <a:ext cx="420624" cy="420624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building-2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7439" y="2313797"/>
            <a:ext cx="218724" cy="2187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6384" y="223113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1" i="0">
                <a:solidFill>
                  <a:srgbClr val="4A35FF"/>
                </a:solidFill>
                <a:latin typeface="Montserra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" y="2578608"/>
            <a:ext cx="30641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1" i="0" spc="130">
                <a:solidFill>
                  <a:srgbClr val="4A35FF"/>
                </a:solidFill>
                <a:latin typeface="Montserrat"/>
              </a:rPr>
              <a:t>CONDITIONS OF GIG WORK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" y="2779776"/>
            <a:ext cx="306415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6181D"/>
                </a:solidFill>
                <a:latin typeface="Montserrat"/>
              </a:rPr>
              <a:t>Structural &amp; Occupational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86384" y="3145536"/>
            <a:ext cx="3064154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14" name="Rectangle 13"/>
          <p:cNvSpPr/>
          <p:nvPr/>
        </p:nvSpPr>
        <p:spPr>
          <a:xfrm>
            <a:off x="786384" y="3337560"/>
            <a:ext cx="128016" cy="128016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3310128"/>
            <a:ext cx="282641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Work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" y="3621024"/>
            <a:ext cx="306415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30" b="0" i="0">
                <a:solidFill>
                  <a:srgbClr val="6E7180"/>
                </a:solidFill>
                <a:latin typeface="Geist"/>
              </a:rPr>
              <a:t>Time-bound deliveries; ratings &amp; penalties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86384" y="4251960"/>
            <a:ext cx="128016" cy="128016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224528"/>
            <a:ext cx="282641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Economic precarity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" y="4535424"/>
            <a:ext cx="306415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30" b="0" i="0">
                <a:solidFill>
                  <a:srgbClr val="6E7180"/>
                </a:solidFill>
                <a:latin typeface="Geist"/>
              </a:rPr>
              <a:t>Low pay; a quarter of earnings lost to ride costs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6384" y="5166360"/>
            <a:ext cx="128016" cy="128016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4128" y="5138928"/>
            <a:ext cx="282641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City as workplace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" y="5449824"/>
            <a:ext cx="306415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30" b="0" i="0">
                <a:solidFill>
                  <a:srgbClr val="6E7180"/>
                </a:solidFill>
                <a:latin typeface="Geist"/>
              </a:rPr>
              <a:t>Poor last-mile infrastructure; no rest points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44314" y="2011680"/>
            <a:ext cx="3503066" cy="4114800"/>
          </a:xfrm>
          <a:prstGeom prst="roundRect">
            <a:avLst>
              <a:gd name="adj" fmla="val 4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243876" y="2212848"/>
            <a:ext cx="420624" cy="420624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5" name="Picture 24" descr="route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4825" y="2313797"/>
            <a:ext cx="218724" cy="218724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4563770" y="223113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1" i="0">
                <a:solidFill>
                  <a:srgbClr val="4A35FF"/>
                </a:solidFill>
                <a:latin typeface="Montserrat"/>
              </a:rPr>
              <a:t>02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63770" y="2578608"/>
            <a:ext cx="30641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1" i="0" spc="130">
                <a:solidFill>
                  <a:srgbClr val="4A35FF"/>
                </a:solidFill>
                <a:latin typeface="Montserrat"/>
              </a:rPr>
              <a:t>ON-ROAD BEHAVIOURS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63770" y="2779776"/>
            <a:ext cx="306415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6181D"/>
                </a:solidFill>
                <a:latin typeface="Montserrat"/>
              </a:rPr>
              <a:t>Operational &amp; Behavioural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63770" y="3145536"/>
            <a:ext cx="3064154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30" name="Rectangle 29"/>
          <p:cNvSpPr/>
          <p:nvPr/>
        </p:nvSpPr>
        <p:spPr>
          <a:xfrm>
            <a:off x="4563770" y="3337560"/>
            <a:ext cx="128016" cy="128016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1514" y="3310128"/>
            <a:ext cx="282641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Training &amp; licence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63770" y="3621024"/>
            <a:ext cx="306415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30" b="0" i="0">
                <a:solidFill>
                  <a:srgbClr val="6E7180"/>
                </a:solidFill>
                <a:latin typeface="Geist"/>
              </a:rPr>
              <a:t>~40% report no safety training; licence gaps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63770" y="4251960"/>
            <a:ext cx="128016" cy="128016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801514" y="4224528"/>
            <a:ext cx="282641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Traffic violations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63770" y="4535424"/>
            <a:ext cx="306415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30" b="0" i="0">
                <a:solidFill>
                  <a:srgbClr val="6E7180"/>
                </a:solidFill>
                <a:latin typeface="Geist"/>
              </a:rPr>
              <a:t>Wrong-way riding, signal-jumping, speeding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63770" y="5166360"/>
            <a:ext cx="128016" cy="128016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01514" y="5138928"/>
            <a:ext cx="282641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Helmet &amp; vehicle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63770" y="5449824"/>
            <a:ext cx="306415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30" b="0" i="0">
                <a:solidFill>
                  <a:srgbClr val="6E7180"/>
                </a:solidFill>
                <a:latin typeface="Geist"/>
              </a:rPr>
              <a:t>Helmet skipped on short trips; modified e-bikes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121700" y="2011680"/>
            <a:ext cx="3503066" cy="4114800"/>
          </a:xfrm>
          <a:prstGeom prst="roundRect">
            <a:avLst>
              <a:gd name="adj" fmla="val 4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021262" y="2212848"/>
            <a:ext cx="420624" cy="420624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1" name="Picture 40" descr="bar-chart-3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2211" y="2313797"/>
            <a:ext cx="218724" cy="218724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8341156" y="2231136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500" b="1" i="0">
                <a:solidFill>
                  <a:srgbClr val="4A35FF"/>
                </a:solidFill>
                <a:latin typeface="Montserrat"/>
              </a:rPr>
              <a:t>03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341156" y="2578608"/>
            <a:ext cx="306415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750" b="1" i="0" spc="130">
                <a:solidFill>
                  <a:srgbClr val="4A35FF"/>
                </a:solidFill>
                <a:latin typeface="Montserrat"/>
              </a:rPr>
              <a:t>CROSS-CUTTING ENABLER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41156" y="2779776"/>
            <a:ext cx="306415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16181D"/>
                </a:solidFill>
                <a:latin typeface="Montserrat"/>
              </a:rPr>
              <a:t>Data &amp; Accountability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341156" y="3145536"/>
            <a:ext cx="3064154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46" name="Rectangle 45"/>
          <p:cNvSpPr/>
          <p:nvPr/>
        </p:nvSpPr>
        <p:spPr>
          <a:xfrm>
            <a:off x="8341156" y="3337560"/>
            <a:ext cx="128016" cy="128016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78900" y="3310128"/>
            <a:ext cx="282641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Fragmented silos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341156" y="3621024"/>
            <a:ext cx="306415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30" b="0" i="0">
                <a:solidFill>
                  <a:srgbClr val="6E7180"/>
                </a:solidFill>
                <a:latin typeface="Geist"/>
              </a:rPr>
              <a:t>Crash, challan &amp; platform data never joined up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341156" y="4251960"/>
            <a:ext cx="128016" cy="128016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78900" y="4224528"/>
            <a:ext cx="282641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No feedback loops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341156" y="4535424"/>
            <a:ext cx="306415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30" b="0" i="0">
                <a:solidFill>
                  <a:srgbClr val="6E7180"/>
                </a:solidFill>
                <a:latin typeface="Geist"/>
              </a:rPr>
              <a:t>Little monitoring of rider safety over time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341156" y="5166360"/>
            <a:ext cx="128016" cy="128016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578900" y="5138928"/>
            <a:ext cx="282641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Weak accountability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341156" y="5449824"/>
            <a:ext cx="306415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930" b="0" i="0">
                <a:solidFill>
                  <a:srgbClr val="6E7180"/>
                </a:solidFill>
                <a:latin typeface="Geist"/>
              </a:rPr>
              <a:t>Unclear who owns rider road-safety outcomes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56" name="TextBox 55"/>
          <p:cNvSpPr txBox="1"/>
          <p:nvPr/>
        </p:nvSpPr>
        <p:spPr>
          <a:xfrm>
            <a:off x="566928" y="6528816"/>
            <a:ext cx="8778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  ·    Gig Rider Safety — The Framework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344607" y="6528816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HOW WE BUILT THIS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Grounded in the field,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cross-checked with experts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Before the survey, we consulted enforcement, labour, transport and policy voices across cities, and ran a short on-ground violation study.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75104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4A35FF"/>
                </a:solidFill>
                <a:latin typeface="Montserrat"/>
              </a:rPr>
              <a:t>WHO WE CONSULTED</a:t>
            </a:r>
          </a:p>
        </p:txBody>
      </p:sp>
      <p:sp>
        <p:nvSpPr>
          <p:cNvPr id="8" name="Oval 7"/>
          <p:cNvSpPr/>
          <p:nvPr/>
        </p:nvSpPr>
        <p:spPr>
          <a:xfrm>
            <a:off x="566928" y="2304288"/>
            <a:ext cx="420624" cy="420624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shield-check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877" y="2405237"/>
            <a:ext cx="218724" cy="2187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52144" y="2286000"/>
            <a:ext cx="4809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6181D"/>
                </a:solidFill>
                <a:latin typeface="Montserrat"/>
              </a:rPr>
              <a:t>Traffic Police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" y="2560320"/>
            <a:ext cx="48097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69" b="0" i="0">
                <a:solidFill>
                  <a:srgbClr val="6E7180"/>
                </a:solidFill>
                <a:latin typeface="Geist"/>
              </a:rPr>
              <a:t>Delhi, Gurugram &amp; Bengaluru — acknowledged the scale, offered data-sharing</a:t>
            </a:r>
          </a:p>
        </p:txBody>
      </p:sp>
      <p:sp>
        <p:nvSpPr>
          <p:cNvPr id="12" name="Oval 11"/>
          <p:cNvSpPr/>
          <p:nvPr/>
        </p:nvSpPr>
        <p:spPr>
          <a:xfrm>
            <a:off x="566928" y="3273552"/>
            <a:ext cx="420624" cy="420624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3" name="Picture 12" descr="landmark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877" y="3374501"/>
            <a:ext cx="218724" cy="218724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152144" y="3255264"/>
            <a:ext cx="4809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6181D"/>
                </a:solidFill>
                <a:latin typeface="Montserrat"/>
              </a:rPr>
              <a:t>Ministries &amp; Regulators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" y="3529584"/>
            <a:ext cx="48097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69" b="0" i="0">
                <a:solidFill>
                  <a:srgbClr val="6E7180"/>
                </a:solidFill>
                <a:latin typeface="Geist"/>
              </a:rPr>
              <a:t>Labour (MoLE) and ex-transport (MoRTH / CMVR) voices on mandate &amp; precedent</a:t>
            </a:r>
          </a:p>
        </p:txBody>
      </p:sp>
      <p:sp>
        <p:nvSpPr>
          <p:cNvPr id="16" name="Oval 15"/>
          <p:cNvSpPr/>
          <p:nvPr/>
        </p:nvSpPr>
        <p:spPr>
          <a:xfrm>
            <a:off x="566928" y="4242816"/>
            <a:ext cx="420624" cy="420624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7" name="Picture 16" descr="graduation-cap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877" y="4343765"/>
            <a:ext cx="218724" cy="218724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1152144" y="4224528"/>
            <a:ext cx="4809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6181D"/>
                </a:solidFill>
                <a:latin typeface="Montserrat"/>
              </a:rPr>
              <a:t>Academia &amp; Research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52144" y="4498848"/>
            <a:ext cx="48097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69" b="0" i="0">
                <a:solidFill>
                  <a:srgbClr val="6E7180"/>
                </a:solidFill>
                <a:latin typeface="Geist"/>
              </a:rPr>
              <a:t>Transport-safety researchers (IIT / institutional) on violations &amp; fatigue</a:t>
            </a:r>
          </a:p>
        </p:txBody>
      </p:sp>
      <p:sp>
        <p:nvSpPr>
          <p:cNvPr id="20" name="Oval 19"/>
          <p:cNvSpPr/>
          <p:nvPr/>
        </p:nvSpPr>
        <p:spPr>
          <a:xfrm>
            <a:off x="566928" y="5212080"/>
            <a:ext cx="420624" cy="420624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users_4A35FF_256_2.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877" y="5313029"/>
            <a:ext cx="218724" cy="21872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152144" y="5193792"/>
            <a:ext cx="480974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1" i="0">
                <a:solidFill>
                  <a:srgbClr val="16181D"/>
                </a:solidFill>
                <a:latin typeface="Montserrat"/>
              </a:rPr>
              <a:t>Riders &amp; a Labour Insider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52144" y="5468112"/>
            <a:ext cx="4809744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69" b="0" i="0">
                <a:solidFill>
                  <a:srgbClr val="6E7180"/>
                </a:solidFill>
                <a:latin typeface="Geist"/>
              </a:rPr>
              <a:t>40–50 rider conversations, 15 in-depth interviews, a day shadowing a woman rider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3056" y="1975104"/>
            <a:ext cx="5461711" cy="4114800"/>
          </a:xfrm>
          <a:prstGeom prst="roundRect">
            <a:avLst>
              <a:gd name="adj" fmla="val 4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2194560"/>
            <a:ext cx="49862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140">
                <a:solidFill>
                  <a:srgbClr val="4A35FF"/>
                </a:solidFill>
                <a:latin typeface="Montserrat"/>
              </a:rPr>
              <a:t>ON-GROUND VIOLATION STUDY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468880"/>
            <a:ext cx="498622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000" b="0" i="0">
                <a:solidFill>
                  <a:srgbClr val="454855"/>
                </a:solidFill>
                <a:latin typeface="Geist"/>
              </a:rPr>
              <a:t>A 2-hour observational study at 4 Gurugram junctions logged ~500 gig riders on EVs and their violations (April 2026).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400800" y="3419856"/>
            <a:ext cx="4986223" cy="128016"/>
          </a:xfrm>
          <a:prstGeom prst="roundRect">
            <a:avLst>
              <a:gd name="adj" fmla="val 50000"/>
            </a:avLst>
          </a:prstGeom>
          <a:solidFill>
            <a:srgbClr val="ECED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6400800" y="3419856"/>
            <a:ext cx="4986223" cy="128016"/>
          </a:xfrm>
          <a:prstGeom prst="roundRect">
            <a:avLst>
              <a:gd name="adj" fmla="val 50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3200400"/>
            <a:ext cx="41632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6181D"/>
                </a:solidFill>
                <a:latin typeface="Geist"/>
              </a:rPr>
              <a:t>Driving without helmet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64063" y="3200400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4A35FF"/>
                </a:solidFill>
                <a:latin typeface="Montserrat"/>
              </a:rPr>
              <a:t>188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0800" y="3822192"/>
            <a:ext cx="4986223" cy="128016"/>
          </a:xfrm>
          <a:prstGeom prst="roundRect">
            <a:avLst>
              <a:gd name="adj" fmla="val 50000"/>
            </a:avLst>
          </a:prstGeom>
          <a:solidFill>
            <a:srgbClr val="ECED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400800" y="3822192"/>
            <a:ext cx="3554010" cy="128016"/>
          </a:xfrm>
          <a:prstGeom prst="roundRect">
            <a:avLst>
              <a:gd name="adj" fmla="val 50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00800" y="3602736"/>
            <a:ext cx="41632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6181D"/>
                </a:solidFill>
                <a:latin typeface="Geist"/>
              </a:rPr>
              <a:t>Lane change w/o indication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64063" y="3602736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4A35FF"/>
                </a:solidFill>
                <a:latin typeface="Montserrat"/>
              </a:rPr>
              <a:t>134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400800" y="4224528"/>
            <a:ext cx="4986223" cy="128016"/>
          </a:xfrm>
          <a:prstGeom prst="roundRect">
            <a:avLst>
              <a:gd name="adj" fmla="val 50000"/>
            </a:avLst>
          </a:prstGeom>
          <a:solidFill>
            <a:srgbClr val="ECED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400800" y="4224528"/>
            <a:ext cx="2280931" cy="128016"/>
          </a:xfrm>
          <a:prstGeom prst="roundRect">
            <a:avLst>
              <a:gd name="adj" fmla="val 50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4005072"/>
            <a:ext cx="41632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6181D"/>
                </a:solidFill>
                <a:latin typeface="Geist"/>
              </a:rPr>
              <a:t>Red-light jumping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64063" y="4005072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4A35FF"/>
                </a:solidFill>
                <a:latin typeface="Montserrat"/>
              </a:rPr>
              <a:t>86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400800" y="4626864"/>
            <a:ext cx="4986223" cy="128016"/>
          </a:xfrm>
          <a:prstGeom prst="roundRect">
            <a:avLst>
              <a:gd name="adj" fmla="val 50000"/>
            </a:avLst>
          </a:prstGeom>
          <a:solidFill>
            <a:srgbClr val="ECED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6400800" y="4626864"/>
            <a:ext cx="1458735" cy="128016"/>
          </a:xfrm>
          <a:prstGeom prst="roundRect">
            <a:avLst>
              <a:gd name="adj" fmla="val 50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00800" y="4407408"/>
            <a:ext cx="41632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6181D"/>
                </a:solidFill>
                <a:latin typeface="Geist"/>
              </a:rPr>
              <a:t>Stop-line crossing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564063" y="4407408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4A35FF"/>
                </a:solidFill>
                <a:latin typeface="Montserrat"/>
              </a:rPr>
              <a:t>55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400800" y="5029200"/>
            <a:ext cx="4986223" cy="128016"/>
          </a:xfrm>
          <a:prstGeom prst="roundRect">
            <a:avLst>
              <a:gd name="adj" fmla="val 50000"/>
            </a:avLst>
          </a:prstGeom>
          <a:solidFill>
            <a:srgbClr val="ECED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6400800" y="5029200"/>
            <a:ext cx="1220033" cy="128016"/>
          </a:xfrm>
          <a:prstGeom prst="roundRect">
            <a:avLst>
              <a:gd name="adj" fmla="val 50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4809744"/>
            <a:ext cx="41632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6181D"/>
                </a:solidFill>
                <a:latin typeface="Geist"/>
              </a:rPr>
              <a:t>Driving against traffic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64063" y="4809744"/>
            <a:ext cx="8229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 i="0">
                <a:solidFill>
                  <a:srgbClr val="4A35FF"/>
                </a:solidFill>
                <a:latin typeface="Montserrat"/>
              </a:rPr>
              <a:t>46</a:t>
            </a:r>
          </a:p>
        </p:txBody>
      </p:sp>
      <p:cxnSp>
        <p:nvCxnSpPr>
          <p:cNvPr id="47" name="Connector 46"/>
          <p:cNvCxnSpPr/>
          <p:nvPr/>
        </p:nvCxnSpPr>
        <p:spPr>
          <a:xfrm>
            <a:off x="6400800" y="5248656"/>
            <a:ext cx="4986223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48" name="TextBox 47"/>
          <p:cNvSpPr txBox="1"/>
          <p:nvPr/>
        </p:nvSpPr>
        <p:spPr>
          <a:xfrm>
            <a:off x="6400800" y="5321808"/>
            <a:ext cx="49862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1" i="0">
                <a:solidFill>
                  <a:srgbClr val="E58900"/>
                </a:solidFill>
                <a:latin typeface="Montserrat"/>
              </a:rPr>
              <a:t>509 violations documented across ~500 riders</a:t>
            </a:r>
          </a:p>
        </p:txBody>
      </p:sp>
      <p:cxnSp>
        <p:nvCxnSpPr>
          <p:cNvPr id="49" name="Connector 48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50" name="TextBox 49"/>
          <p:cNvSpPr txBox="1"/>
          <p:nvPr/>
        </p:nvSpPr>
        <p:spPr>
          <a:xfrm>
            <a:off x="566928" y="6528816"/>
            <a:ext cx="8778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  ·    Gig Rider Safety — How We Built This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344607" y="6528816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METHODOLOGY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A scaled survey,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still in the field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We partnered with a research agency to survey riders at crash hotspots across Delhi NCR.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938528"/>
            <a:ext cx="11057839" cy="512064"/>
          </a:xfrm>
          <a:prstGeom prst="roundRect">
            <a:avLst>
              <a:gd name="adj" fmla="val 5000"/>
            </a:avLst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01168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120">
                <a:solidFill>
                  <a:srgbClr val="E58900"/>
                </a:solidFill>
                <a:latin typeface="Montserrat"/>
              </a:rPr>
              <a:t>PRELIMINARY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84248" y="1938528"/>
            <a:ext cx="9457639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454855"/>
                </a:solidFill>
                <a:latin typeface="Geist"/>
              </a:rPr>
              <a:t>Every figure in this deck is drawn from fieldwork completed so far, and will shift as the sample grows and diversifies.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2688336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4A35FF"/>
                </a:solidFill>
                <a:latin typeface="Montserrat"/>
              </a:rPr>
              <a:t>WHAT WE SET OUT TO DO</a:t>
            </a:r>
          </a:p>
        </p:txBody>
      </p:sp>
      <p:sp>
        <p:nvSpPr>
          <p:cNvPr id="11" name="Oval 10"/>
          <p:cNvSpPr/>
          <p:nvPr/>
        </p:nvSpPr>
        <p:spPr>
          <a:xfrm>
            <a:off x="566928" y="3017520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006548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4A35FF"/>
                </a:solidFill>
                <a:latin typeface="Montserrat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8992" y="2999232"/>
            <a:ext cx="48371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454855"/>
                </a:solidFill>
                <a:latin typeface="Geist"/>
              </a:rPr>
              <a:t>Build the evidence base for the regulatory lacuna around EV two-wheelers</a:t>
            </a:r>
          </a:p>
        </p:txBody>
      </p:sp>
      <p:sp>
        <p:nvSpPr>
          <p:cNvPr id="14" name="Oval 13"/>
          <p:cNvSpPr/>
          <p:nvPr/>
        </p:nvSpPr>
        <p:spPr>
          <a:xfrm>
            <a:off x="566928" y="3694176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683204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4A35FF"/>
                </a:solidFill>
                <a:latin typeface="Montserrat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8992" y="3675888"/>
            <a:ext cx="48371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454855"/>
                </a:solidFill>
                <a:latin typeface="Geist"/>
              </a:rPr>
              <a:t>Collect data to rank and identify platform-level solutions</a:t>
            </a:r>
          </a:p>
        </p:txBody>
      </p:sp>
      <p:sp>
        <p:nvSpPr>
          <p:cNvPr id="17" name="Oval 16"/>
          <p:cNvSpPr/>
          <p:nvPr/>
        </p:nvSpPr>
        <p:spPr>
          <a:xfrm>
            <a:off x="566928" y="4370832"/>
            <a:ext cx="365760" cy="365760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4359860"/>
            <a:ext cx="365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 i="0">
                <a:solidFill>
                  <a:srgbClr val="4A35FF"/>
                </a:solidFill>
                <a:latin typeface="Montserrat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8992" y="4352544"/>
            <a:ext cx="483717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1050" b="0" i="0">
                <a:solidFill>
                  <a:srgbClr val="454855"/>
                </a:solidFill>
                <a:latin typeface="Geist"/>
              </a:rPr>
              <a:t>Create an evidence base for platform engagement and policy advocacy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63056" y="2688336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4A35FF"/>
                </a:solidFill>
                <a:latin typeface="Montserrat"/>
              </a:rPr>
              <a:t>WHERE WE ARE NOW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63056" y="301752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A35FF"/>
                </a:solidFill>
                <a:latin typeface="Montserrat"/>
              </a:rPr>
              <a:t>309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54696" y="3026664"/>
            <a:ext cx="377007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54855"/>
                </a:solidFill>
                <a:latin typeface="Geist"/>
              </a:rPr>
              <a:t>riders surveyed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3056" y="347472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A35FF"/>
                </a:solidFill>
                <a:latin typeface="Montserrat"/>
              </a:rPr>
              <a:t>157 / 152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54696" y="3483864"/>
            <a:ext cx="377007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54855"/>
                </a:solidFill>
                <a:latin typeface="Geist"/>
              </a:rPr>
              <a:t>food delivery  ·  quick commerce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63056" y="393192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A35FF"/>
                </a:solidFill>
                <a:latin typeface="Montserrat"/>
              </a:rPr>
              <a:t>104 / 309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854696" y="3941064"/>
            <a:ext cx="377007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54855"/>
                </a:solidFill>
                <a:latin typeface="Geist"/>
              </a:rPr>
              <a:t>ride an e-bike / EV (34%)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63056" y="4389120"/>
            <a:ext cx="1600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4A35FF"/>
                </a:solidFill>
                <a:latin typeface="Montserrat"/>
              </a:rPr>
              <a:t>all male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54696" y="4398264"/>
            <a:ext cx="3770071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454855"/>
                </a:solidFill>
                <a:latin typeface="Geist"/>
              </a:rPr>
              <a:t>309 respondents to date — 2 women riders reached informally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66928" y="50840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30" name="TextBox 29"/>
          <p:cNvSpPr txBox="1"/>
          <p:nvPr/>
        </p:nvSpPr>
        <p:spPr>
          <a:xfrm>
            <a:off x="566928" y="5175504"/>
            <a:ext cx="36576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4A35FF"/>
                </a:solidFill>
                <a:latin typeface="Montserrat"/>
              </a:rPr>
              <a:t>WHAT WE SET OUT TO SAMPLE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87007" y="5184648"/>
            <a:ext cx="49377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1">
                <a:solidFill>
                  <a:srgbClr val="6E7180"/>
                </a:solidFill>
                <a:latin typeface="Geist"/>
              </a:rPr>
              <a:t>Sampled at low, medium and high-severity crash hotspots.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5504688"/>
            <a:ext cx="20652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6181D"/>
                </a:solidFill>
                <a:latin typeface="Montserrat"/>
              </a:rPr>
              <a:t>300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5870448"/>
            <a:ext cx="20652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6E7180"/>
                </a:solidFill>
                <a:latin typeface="Geist"/>
              </a:rPr>
              <a:t>Riders targeted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815071" y="5504688"/>
            <a:ext cx="20652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6181D"/>
                </a:solidFill>
                <a:latin typeface="Montserrat"/>
              </a:rPr>
              <a:t>50:50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815071" y="5870448"/>
            <a:ext cx="20652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6E7180"/>
                </a:solidFill>
                <a:latin typeface="Geist"/>
              </a:rPr>
              <a:t>Food : quick commerce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63214" y="5504688"/>
            <a:ext cx="20652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6181D"/>
                </a:solidFill>
                <a:latin typeface="Montserrat"/>
              </a:rPr>
              <a:t>10%+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63214" y="5870448"/>
            <a:ext cx="20652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6E7180"/>
                </a:solidFill>
                <a:latin typeface="Geist"/>
              </a:rPr>
              <a:t>Women riders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1357" y="5504688"/>
            <a:ext cx="20652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6181D"/>
                </a:solidFill>
                <a:latin typeface="Montserrat"/>
              </a:rPr>
              <a:t>20%+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1357" y="5870448"/>
            <a:ext cx="20652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6E7180"/>
                </a:solidFill>
                <a:latin typeface="Geist"/>
              </a:rPr>
              <a:t>EV riders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559500" y="5504688"/>
            <a:ext cx="20652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i="0">
                <a:solidFill>
                  <a:srgbClr val="16181D"/>
                </a:solidFill>
                <a:latin typeface="Montserrat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59500" y="5870448"/>
            <a:ext cx="206526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880" b="0" i="0">
                <a:solidFill>
                  <a:srgbClr val="6E7180"/>
                </a:solidFill>
                <a:latin typeface="Geist"/>
              </a:rPr>
              <a:t>Locations (Gurugram, Delhi)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43" name="TextBox 42"/>
          <p:cNvSpPr txBox="1"/>
          <p:nvPr/>
        </p:nvSpPr>
        <p:spPr>
          <a:xfrm>
            <a:off x="566928" y="6528816"/>
            <a:ext cx="8778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  ·    Gig Rider Safety — Methodology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344607" y="6528816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WHO RIDES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4A35FF"/>
                </a:solidFill>
                <a:latin typeface="Montserrat"/>
              </a:rPr>
              <a:t>Rider demographics</a:t>
            </a:r>
            <a:r>
              <a:rPr sz="2250" b="1" i="0">
                <a:solidFill>
                  <a:srgbClr val="16181D"/>
                </a:solidFill>
                <a:latin typeface="Montserrat"/>
              </a:rPr>
              <a:t> — who is on the road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Riders have little cushion to absorb a lost day — and many are on the road without a full licence.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011680"/>
            <a:ext cx="3515258" cy="1874519"/>
          </a:xfrm>
          <a:prstGeom prst="roundRect">
            <a:avLst>
              <a:gd name="adj" fmla="val 5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2212848"/>
            <a:ext cx="420624" cy="420624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users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045" y="2313797"/>
            <a:ext cx="218724" cy="2187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8096" y="2706624"/>
            <a:ext cx="311292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4A35FF"/>
                </a:solidFill>
                <a:latin typeface="Montserrat"/>
              </a:rPr>
              <a:t>~29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090672"/>
            <a:ext cx="31129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 i="0" spc="80">
                <a:solidFill>
                  <a:srgbClr val="16181D"/>
                </a:solidFill>
                <a:latin typeface="Montserrat"/>
              </a:rPr>
              <a:t>AVERAGE RIDER 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438144"/>
            <a:ext cx="3112922" cy="39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62% are under 30. Quick commerce skews younger (45% aged 18–25 vs 36% in food delivery).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8218" y="2011680"/>
            <a:ext cx="3515258" cy="1874519"/>
          </a:xfrm>
          <a:prstGeom prst="roundRect">
            <a:avLst>
              <a:gd name="adj" fmla="val 5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39386" y="2212848"/>
            <a:ext cx="420624" cy="420624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map-pin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0335" y="2313797"/>
            <a:ext cx="218724" cy="2187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39386" y="2706624"/>
            <a:ext cx="311292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4A35FF"/>
                </a:solidFill>
                <a:latin typeface="Montserrat"/>
              </a:rPr>
              <a:t>69%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9386" y="3090672"/>
            <a:ext cx="31129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 i="0" spc="80">
                <a:solidFill>
                  <a:srgbClr val="16181D"/>
                </a:solidFill>
                <a:latin typeface="Montserrat"/>
              </a:rPr>
              <a:t>ARE MIGRANTS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9386" y="3438144"/>
            <a:ext cx="3112922" cy="39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Most ride in a city they are not from — 80% in food delivery, 58% in quick commerce.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9508" y="2011680"/>
            <a:ext cx="3515258" cy="1874519"/>
          </a:xfrm>
          <a:prstGeom prst="roundRect">
            <a:avLst>
              <a:gd name="adj" fmla="val 5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10676" y="2212848"/>
            <a:ext cx="420624" cy="420624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home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1625" y="2313797"/>
            <a:ext cx="218724" cy="21872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310676" y="2706624"/>
            <a:ext cx="311292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4A35FF"/>
                </a:solidFill>
                <a:latin typeface="Montserrat"/>
              </a:rPr>
              <a:t>69% / 54%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0676" y="3090672"/>
            <a:ext cx="31129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 i="0" spc="80">
                <a:solidFill>
                  <a:srgbClr val="16181D"/>
                </a:solidFill>
                <a:latin typeface="Montserrat"/>
              </a:rPr>
              <a:t>MAIN HOUSEHOLD EARNER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0676" y="3438144"/>
            <a:ext cx="3112922" cy="3931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A lost day costs the whole family. Food delivery / quick commerce.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069080"/>
            <a:ext cx="11057839" cy="2011680"/>
          </a:xfrm>
          <a:prstGeom prst="roundRect">
            <a:avLst>
              <a:gd name="adj" fmla="val 4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4270248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181D"/>
                </a:solidFill>
                <a:latin typeface="Montserrat"/>
              </a:rPr>
              <a:t>Experienced riders — but not fully licensed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4636008"/>
            <a:ext cx="557784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54855"/>
                </a:solidFill>
                <a:latin typeface="Geist"/>
              </a:rPr>
              <a:t>88% learnt to ride more than five years ago, so skill is not the gap. Yet many ride without a regular licence — especially in quick commerce, where two in five have none at all.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5120" y="4343400"/>
            <a:ext cx="4663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6181D"/>
                </a:solidFill>
                <a:latin typeface="Montserrat"/>
              </a:rPr>
              <a:t>Hold a regular licence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636008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6E7180"/>
                </a:solidFill>
                <a:latin typeface="Montserrat"/>
              </a:rPr>
              <a:t>FD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78040" y="4654296"/>
            <a:ext cx="3108960" cy="164592"/>
          </a:xfrm>
          <a:prstGeom prst="roundRect">
            <a:avLst>
              <a:gd name="adj" fmla="val 50000"/>
            </a:avLst>
          </a:prstGeom>
          <a:solidFill>
            <a:srgbClr val="ECED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178040" y="4654296"/>
            <a:ext cx="2362809" cy="164592"/>
          </a:xfrm>
          <a:prstGeom prst="roundRect">
            <a:avLst>
              <a:gd name="adj" fmla="val 50000"/>
            </a:avLst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378440" y="463600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A35FF"/>
                </a:solidFill>
                <a:latin typeface="Montserrat"/>
              </a:rPr>
              <a:t>76%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494690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6E7180"/>
                </a:solidFill>
                <a:latin typeface="Montserrat"/>
              </a:rPr>
              <a:t>QC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78040" y="4965192"/>
            <a:ext cx="3108960" cy="164592"/>
          </a:xfrm>
          <a:prstGeom prst="roundRect">
            <a:avLst>
              <a:gd name="adj" fmla="val 50000"/>
            </a:avLst>
          </a:prstGeom>
          <a:solidFill>
            <a:srgbClr val="ECED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178040" y="4965192"/>
            <a:ext cx="1741017" cy="164592"/>
          </a:xfrm>
          <a:prstGeom prst="roundRect">
            <a:avLst>
              <a:gd name="adj" fmla="val 50000"/>
            </a:avLst>
          </a:prstGeom>
          <a:solidFill>
            <a:srgbClr val="E589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378440" y="494690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58900"/>
                </a:solidFill>
                <a:latin typeface="Montserrat"/>
              </a:rPr>
              <a:t>56%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257800"/>
            <a:ext cx="46634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6181D"/>
                </a:solidFill>
                <a:latin typeface="Montserrat"/>
              </a:rPr>
              <a:t>Ride with no licence at all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550408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6E7180"/>
                </a:solidFill>
                <a:latin typeface="Montserrat"/>
              </a:rPr>
              <a:t>FD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178040" y="5568696"/>
            <a:ext cx="3108960" cy="164592"/>
          </a:xfrm>
          <a:prstGeom prst="roundRect">
            <a:avLst>
              <a:gd name="adj" fmla="val 50000"/>
            </a:avLst>
          </a:prstGeom>
          <a:solidFill>
            <a:srgbClr val="ECED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178040" y="5568696"/>
            <a:ext cx="590702" cy="164592"/>
          </a:xfrm>
          <a:prstGeom prst="roundRect">
            <a:avLst>
              <a:gd name="adj" fmla="val 50000"/>
            </a:avLst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378440" y="555040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4A35FF"/>
                </a:solidFill>
                <a:latin typeface="Montserrat"/>
              </a:rPr>
              <a:t>19%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5861304"/>
            <a:ext cx="457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6E7180"/>
                </a:solidFill>
                <a:latin typeface="Montserrat"/>
              </a:rPr>
              <a:t>QC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178040" y="5879592"/>
            <a:ext cx="3108960" cy="164592"/>
          </a:xfrm>
          <a:prstGeom prst="roundRect">
            <a:avLst>
              <a:gd name="adj" fmla="val 50000"/>
            </a:avLst>
          </a:prstGeom>
          <a:solidFill>
            <a:srgbClr val="ECED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178040" y="5879592"/>
            <a:ext cx="1243584" cy="164592"/>
          </a:xfrm>
          <a:prstGeom prst="roundRect">
            <a:avLst>
              <a:gd name="adj" fmla="val 50000"/>
            </a:avLst>
          </a:prstGeom>
          <a:solidFill>
            <a:srgbClr val="E589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378440" y="5861304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E58900"/>
                </a:solidFill>
                <a:latin typeface="Montserrat"/>
              </a:rPr>
              <a:t>40%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47" name="TextBox 46"/>
          <p:cNvSpPr txBox="1"/>
          <p:nvPr/>
        </p:nvSpPr>
        <p:spPr>
          <a:xfrm>
            <a:off x="566928" y="6528816"/>
            <a:ext cx="8778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  ·    Gig Rider Safety — Who Rides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344607" y="6528816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SAFETY READINESS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4A35FF"/>
                </a:solidFill>
                <a:latin typeface="Montserrat"/>
              </a:rPr>
              <a:t>Helmet use tracks the platform</a:t>
            </a:r>
            <a:r>
              <a:rPr sz="2250" b="1" i="0">
                <a:solidFill>
                  <a:srgbClr val="16181D"/>
                </a:solidFill>
                <a:latin typeface="Montserrat"/>
              </a:rPr>
              <a:t> — and the vehicle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Always-wear rates split sharply by who riders work for, and by what they ride.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3852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4A35FF"/>
                </a:solidFill>
                <a:latin typeface="Montserrat"/>
              </a:rPr>
              <a:t>ALWAYS WEAR A HELMET — BY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31136"/>
            <a:ext cx="4434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6181D"/>
                </a:solidFill>
                <a:latin typeface="Geist"/>
              </a:rPr>
              <a:t>Food delivery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93208" y="2231136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A35FF"/>
                </a:solidFill>
                <a:latin typeface="Montserrat"/>
              </a:rPr>
              <a:t>66%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468880"/>
            <a:ext cx="5349240" cy="146304"/>
          </a:xfrm>
          <a:prstGeom prst="roundRect">
            <a:avLst>
              <a:gd name="adj" fmla="val 50000"/>
            </a:avLst>
          </a:prstGeom>
          <a:solidFill>
            <a:srgbClr val="ECED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2468880"/>
            <a:ext cx="3530498" cy="146304"/>
          </a:xfrm>
          <a:prstGeom prst="roundRect">
            <a:avLst>
              <a:gd name="adj" fmla="val 50000"/>
            </a:avLst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743200"/>
            <a:ext cx="44348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6181D"/>
                </a:solidFill>
                <a:latin typeface="Geist"/>
              </a:rPr>
              <a:t>Quick commerce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93208" y="274320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E58900"/>
                </a:solidFill>
                <a:latin typeface="Montserrat"/>
              </a:rPr>
              <a:t>24%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980944"/>
            <a:ext cx="5349240" cy="146304"/>
          </a:xfrm>
          <a:prstGeom prst="roundRect">
            <a:avLst>
              <a:gd name="adj" fmla="val 50000"/>
            </a:avLst>
          </a:prstGeom>
          <a:solidFill>
            <a:srgbClr val="ECED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66928" y="2980944"/>
            <a:ext cx="1283817" cy="146304"/>
          </a:xfrm>
          <a:prstGeom prst="roundRect">
            <a:avLst>
              <a:gd name="adj" fmla="val 50000"/>
            </a:avLst>
          </a:prstGeom>
          <a:solidFill>
            <a:srgbClr val="E589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" y="3291840"/>
            <a:ext cx="5349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54855"/>
                </a:solidFill>
                <a:latin typeface="Geist"/>
              </a:rPr>
              <a:t>Fined for no helmet (of ever-fined):  FD 20%  ·  QC 59%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538728"/>
            <a:ext cx="5349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54855"/>
                </a:solidFill>
                <a:latin typeface="Geist"/>
              </a:rPr>
              <a:t>Warned for no helmet (of ever-warned):  FD 12%  ·  QC 35%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785616"/>
            <a:ext cx="53492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54855"/>
                </a:solidFill>
                <a:latin typeface="Geist"/>
              </a:rPr>
              <a:t>Rate “no helmet” riskiest (of all):  FD 18%  ·  QC 16%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553712"/>
            <a:ext cx="5349240" cy="1463040"/>
          </a:xfrm>
          <a:prstGeom prst="roundRect">
            <a:avLst>
              <a:gd name="adj" fmla="val 5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" y="4681728"/>
            <a:ext cx="49834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 i="0" spc="100">
                <a:solidFill>
                  <a:srgbClr val="4A35FF"/>
                </a:solidFill>
                <a:latin typeface="Montserrat"/>
              </a:rPr>
              <a:t>SECONDARY EVIDENCE  ·  Delivery vs. private riders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4937760"/>
            <a:ext cx="498348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454855"/>
                </a:solidFill>
                <a:latin typeface="Geist"/>
              </a:rPr>
              <a:t>A 2024 study comparing delivery, ride-hailing and private riders found private riders had the higher rate of helmet non-use — even with police visibly present. 73% of the ~75,000 two-wheeler riders who died in 2023 were not wearing a helmet.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63056" y="1938528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4A35FF"/>
                </a:solidFill>
                <a:latin typeface="Montserrat"/>
              </a:rPr>
              <a:t>ALWAYS WEAR A HELMET — BY VEHICLE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163056" y="2231136"/>
            <a:ext cx="454731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6181D"/>
                </a:solidFill>
                <a:latin typeface="Geist"/>
              </a:rPr>
              <a:t>Petrol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01807" y="2231136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4A35FF"/>
                </a:solidFill>
                <a:latin typeface="Montserrat"/>
              </a:rPr>
              <a:t>51%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163056" y="2468880"/>
            <a:ext cx="5461711" cy="146304"/>
          </a:xfrm>
          <a:prstGeom prst="roundRect">
            <a:avLst>
              <a:gd name="adj" fmla="val 50000"/>
            </a:avLst>
          </a:prstGeom>
          <a:solidFill>
            <a:srgbClr val="ECED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163056" y="2468880"/>
            <a:ext cx="2785472" cy="146304"/>
          </a:xfrm>
          <a:prstGeom prst="roundRect">
            <a:avLst>
              <a:gd name="adj" fmla="val 50000"/>
            </a:avLst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63056" y="2743200"/>
            <a:ext cx="454731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 i="0">
                <a:solidFill>
                  <a:srgbClr val="16181D"/>
                </a:solidFill>
                <a:latin typeface="Geist"/>
              </a:rPr>
              <a:t>E-bike / EV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01807" y="2743200"/>
            <a:ext cx="82296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 i="0">
                <a:solidFill>
                  <a:srgbClr val="E58900"/>
                </a:solidFill>
                <a:latin typeface="Montserrat"/>
              </a:rPr>
              <a:t>35%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63056" y="2980944"/>
            <a:ext cx="5461711" cy="146304"/>
          </a:xfrm>
          <a:prstGeom prst="roundRect">
            <a:avLst>
              <a:gd name="adj" fmla="val 50000"/>
            </a:avLst>
          </a:prstGeom>
          <a:solidFill>
            <a:srgbClr val="ECED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163056" y="2980944"/>
            <a:ext cx="1911598" cy="146304"/>
          </a:xfrm>
          <a:prstGeom prst="roundRect">
            <a:avLst>
              <a:gd name="adj" fmla="val 50000"/>
            </a:avLst>
          </a:prstGeom>
          <a:solidFill>
            <a:srgbClr val="E589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163056" y="3291840"/>
            <a:ext cx="546171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54855"/>
                </a:solidFill>
                <a:latin typeface="Geist"/>
              </a:rPr>
              <a:t>Fined for no helmet (of ever-fined):  Petrol 36%  ·  EV 53%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63056" y="3538728"/>
            <a:ext cx="546171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54855"/>
                </a:solidFill>
                <a:latin typeface="Geist"/>
              </a:rPr>
              <a:t>Rate “no helmet” LEAST risky:  Petrol 11%  ·  EV 21%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63056" y="3785616"/>
            <a:ext cx="546171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00" b="0" i="0">
                <a:solidFill>
                  <a:srgbClr val="454855"/>
                </a:solidFill>
                <a:latin typeface="Geist"/>
              </a:rPr>
              <a:t>Rate “no helmet” MOST risky:  Petrol 22%  ·  EV 8%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63056" y="4553712"/>
            <a:ext cx="5461711" cy="1463040"/>
          </a:xfrm>
          <a:prstGeom prst="roundRect">
            <a:avLst>
              <a:gd name="adj" fmla="val 5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45936" y="4681728"/>
            <a:ext cx="509595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800" b="1" i="0" spc="100">
                <a:solidFill>
                  <a:srgbClr val="4A35FF"/>
                </a:solidFill>
                <a:latin typeface="Montserrat"/>
              </a:rPr>
              <a:t>SECONDARY EVIDENCE  ·  Why e-bikes lag on helmets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45936" y="4937760"/>
            <a:ext cx="5095951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00" b="0" i="0">
                <a:solidFill>
                  <a:srgbClr val="454855"/>
                </a:solidFill>
                <a:latin typeface="Geist"/>
              </a:rPr>
              <a:t>Sub-250W, sub-25km/h e-2Ws are not motor vehicles under GSR 291(E) — no licence or helmet mandate applies. Correct helmet use was just 38.4% among two-wheeler riders in a 98,021-vehicle Bengaluru study.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66928" y="614476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6E7180"/>
                </a:solidFill>
                <a:latin typeface="Geist"/>
              </a:rPr>
              <a:t>Own survey data, n=309. Secondary sources: IndiaSpend / MoRTH (2023), GSR 291(E), Bengaluru observational study.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39" name="TextBox 38"/>
          <p:cNvSpPr txBox="1"/>
          <p:nvPr/>
        </p:nvSpPr>
        <p:spPr>
          <a:xfrm>
            <a:off x="566928" y="6528816"/>
            <a:ext cx="8778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  ·    Gig Rider Safety — Safety Readiness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344607" y="6528816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THE E-BIKE GAP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Police can see them,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but cannot fine them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Our headline enforcement finding: e-bike riders ride unlicensed far more, yet are fined far less — because the law does not reach the vehicle.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84831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4A35FF"/>
                </a:solidFill>
                <a:latin typeface="Montserrat"/>
              </a:rPr>
              <a:t>E-BIKE (N=104)  VS  PETROL (N=205)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395728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Ride unlicensed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670048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100">
                <a:solidFill>
                  <a:srgbClr val="E58900"/>
                </a:solidFill>
                <a:latin typeface="Montserrat"/>
              </a:rPr>
              <a:t>E-BIKE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18488" y="2670048"/>
            <a:ext cx="3108960" cy="164592"/>
          </a:xfrm>
          <a:prstGeom prst="roundRect">
            <a:avLst>
              <a:gd name="adj" fmla="val 50000"/>
            </a:avLst>
          </a:prstGeom>
          <a:solidFill>
            <a:srgbClr val="ECED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618488" y="2670048"/>
            <a:ext cx="1927555" cy="164592"/>
          </a:xfrm>
          <a:prstGeom prst="roundRect">
            <a:avLst>
              <a:gd name="adj" fmla="val 50000"/>
            </a:avLst>
          </a:prstGeom>
          <a:solidFill>
            <a:srgbClr val="E589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91456" y="265176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58900"/>
                </a:solidFill>
                <a:latin typeface="Montserrat"/>
              </a:rPr>
              <a:t>62%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944368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100">
                <a:solidFill>
                  <a:srgbClr val="4A35FF"/>
                </a:solidFill>
                <a:latin typeface="Montserrat"/>
              </a:rPr>
              <a:t>PETROL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618488" y="2944368"/>
            <a:ext cx="3108960" cy="164592"/>
          </a:xfrm>
          <a:prstGeom prst="roundRect">
            <a:avLst>
              <a:gd name="adj" fmla="val 50000"/>
            </a:avLst>
          </a:prstGeom>
          <a:solidFill>
            <a:srgbClr val="ECED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1618488" y="2944368"/>
            <a:ext cx="404164" cy="164592"/>
          </a:xfrm>
          <a:prstGeom prst="roundRect">
            <a:avLst>
              <a:gd name="adj" fmla="val 50000"/>
            </a:avLst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791456" y="2926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A35FF"/>
                </a:solidFill>
                <a:latin typeface="Montserrat"/>
              </a:rPr>
              <a:t>13%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328416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Ever fined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602736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100">
                <a:solidFill>
                  <a:srgbClr val="E58900"/>
                </a:solidFill>
                <a:latin typeface="Montserrat"/>
              </a:rPr>
              <a:t>E-BIKE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618488" y="3602736"/>
            <a:ext cx="3108960" cy="164592"/>
          </a:xfrm>
          <a:prstGeom prst="roundRect">
            <a:avLst>
              <a:gd name="adj" fmla="val 50000"/>
            </a:avLst>
          </a:prstGeom>
          <a:solidFill>
            <a:srgbClr val="ECED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618488" y="3602736"/>
            <a:ext cx="435254" cy="164592"/>
          </a:xfrm>
          <a:prstGeom prst="roundRect">
            <a:avLst>
              <a:gd name="adj" fmla="val 50000"/>
            </a:avLst>
          </a:prstGeom>
          <a:solidFill>
            <a:srgbClr val="E589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91456" y="358444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58900"/>
                </a:solidFill>
                <a:latin typeface="Montserrat"/>
              </a:rPr>
              <a:t>14%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" y="3877056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100">
                <a:solidFill>
                  <a:srgbClr val="4A35FF"/>
                </a:solidFill>
                <a:latin typeface="Montserrat"/>
              </a:rPr>
              <a:t>PETROL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618488" y="3877056"/>
            <a:ext cx="3108960" cy="164592"/>
          </a:xfrm>
          <a:prstGeom prst="roundRect">
            <a:avLst>
              <a:gd name="adj" fmla="val 50000"/>
            </a:avLst>
          </a:prstGeom>
          <a:solidFill>
            <a:srgbClr val="ECED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618488" y="3877056"/>
            <a:ext cx="1989734" cy="164592"/>
          </a:xfrm>
          <a:prstGeom prst="roundRect">
            <a:avLst>
              <a:gd name="adj" fmla="val 50000"/>
            </a:avLst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91456" y="3858768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A35FF"/>
                </a:solidFill>
                <a:latin typeface="Montserrat"/>
              </a:rPr>
              <a:t>64%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66928" y="4261104"/>
            <a:ext cx="52120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16181D"/>
                </a:solidFill>
                <a:latin typeface="Montserrat"/>
              </a:rPr>
              <a:t>Stopped &amp; warned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66928" y="4535424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100">
                <a:solidFill>
                  <a:srgbClr val="E58900"/>
                </a:solidFill>
                <a:latin typeface="Montserrat"/>
              </a:rPr>
              <a:t>E-BIKE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618488" y="4535424"/>
            <a:ext cx="3108960" cy="164592"/>
          </a:xfrm>
          <a:prstGeom prst="roundRect">
            <a:avLst>
              <a:gd name="adj" fmla="val 50000"/>
            </a:avLst>
          </a:prstGeom>
          <a:solidFill>
            <a:srgbClr val="ECED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1618488" y="4535424"/>
            <a:ext cx="1305763" cy="164592"/>
          </a:xfrm>
          <a:prstGeom prst="roundRect">
            <a:avLst>
              <a:gd name="adj" fmla="val 50000"/>
            </a:avLst>
          </a:prstGeom>
          <a:solidFill>
            <a:srgbClr val="E589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91456" y="451713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E58900"/>
                </a:solidFill>
                <a:latin typeface="Montserrat"/>
              </a:rPr>
              <a:t>42%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4809744"/>
            <a:ext cx="10058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1" i="0" spc="100">
                <a:solidFill>
                  <a:srgbClr val="4A35FF"/>
                </a:solidFill>
                <a:latin typeface="Montserrat"/>
              </a:rPr>
              <a:t>PETROL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618488" y="4809744"/>
            <a:ext cx="3108960" cy="164592"/>
          </a:xfrm>
          <a:prstGeom prst="roundRect">
            <a:avLst>
              <a:gd name="adj" fmla="val 50000"/>
            </a:avLst>
          </a:prstGeom>
          <a:solidFill>
            <a:srgbClr val="ECED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618488" y="4809744"/>
            <a:ext cx="1119225" cy="164592"/>
          </a:xfrm>
          <a:prstGeom prst="roundRect">
            <a:avLst>
              <a:gd name="adj" fmla="val 50000"/>
            </a:avLst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91456" y="4791456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4A35FF"/>
                </a:solidFill>
                <a:latin typeface="Montserrat"/>
              </a:rPr>
              <a:t>36%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163056" y="2084831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4A35FF"/>
                </a:solidFill>
                <a:latin typeface="Montserrat"/>
              </a:rPr>
              <a:t>WHY THE LAW MISSES THEM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63056" y="2395728"/>
            <a:ext cx="546171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454855"/>
                </a:solidFill>
                <a:latin typeface="Geist"/>
              </a:rPr>
              <a:t>Under CMVR Rule 2(u), an e-two-wheeler under 250W and 25 km/h is not a “motor vehicle” at all — so it needs no licence, registration or number plate, and cannot be fined for riding without one.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63056" y="3401568"/>
            <a:ext cx="5461711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454855"/>
                </a:solidFill>
                <a:latin typeface="Geist"/>
              </a:rPr>
              <a:t>Even where riders clearly break rules, police report confusion over whether e-bikes fall under the Motor Vehicles Act — a regulatory lacuna our evidence base aims to close.</a:t>
            </a:r>
          </a:p>
        </p:txBody>
      </p:sp>
      <p:pic>
        <p:nvPicPr>
          <p:cNvPr id="38" name="Picture 37" descr="external-link_C8C0FF_256_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056" y="4352544"/>
            <a:ext cx="182880" cy="182880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437376" y="4334256"/>
            <a:ext cx="518739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4A35FF"/>
                </a:solidFill>
                <a:latin typeface="Geist"/>
              </a:rPr>
              <a:t>CMVR Rule 2(u) — low-speed EV exemption</a:t>
            </a:r>
          </a:p>
        </p:txBody>
      </p:sp>
      <p:pic>
        <p:nvPicPr>
          <p:cNvPr id="40" name="Picture 39" descr="external-link_C8C0FF_256_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056" y="4663440"/>
            <a:ext cx="182880" cy="182880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6437376" y="4645152"/>
            <a:ext cx="5187391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950" b="1" i="0">
                <a:solidFill>
                  <a:srgbClr val="4A35FF"/>
                </a:solidFill>
                <a:latin typeface="Geist"/>
              </a:rPr>
              <a:t>The Tribune — e-bike MV Act enforcement case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66928" y="5248656"/>
            <a:ext cx="11057839" cy="749808"/>
          </a:xfrm>
          <a:prstGeom prst="roundRect">
            <a:avLst>
              <a:gd name="adj" fmla="val 8000"/>
            </a:avLst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41248" y="5248656"/>
            <a:ext cx="10509199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E-bike riders are 4.7× more likely to ride unlicensed — yet 4.5× less likely to be fined. Police stop and warn them more, but cannot act.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45" name="TextBox 44"/>
          <p:cNvSpPr txBox="1"/>
          <p:nvPr/>
        </p:nvSpPr>
        <p:spPr>
          <a:xfrm>
            <a:off x="566928" y="6528816"/>
            <a:ext cx="8778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  ·    Gig Rider Safety — The E-bike Gap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44607" y="6528816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THE ECONOMICS OF RISK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Long days, and incentives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that barely cover the ride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Hours are long, and what riders earn from incentives is close to what riding costs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011680"/>
            <a:ext cx="3515258" cy="1783080"/>
          </a:xfrm>
          <a:prstGeom prst="roundRect">
            <a:avLst>
              <a:gd name="adj" fmla="val 5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68096" y="2212848"/>
            <a:ext cx="420624" cy="420624"/>
          </a:xfrm>
          <a:prstGeom prst="ellipse">
            <a:avLst/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clock_E58900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045" y="2313797"/>
            <a:ext cx="218724" cy="21872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68096" y="2706624"/>
            <a:ext cx="311292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E58900"/>
                </a:solidFill>
                <a:latin typeface="Montserrat"/>
              </a:rPr>
              <a:t>44%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8096" y="3090672"/>
            <a:ext cx="31129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 i="0" spc="80">
                <a:solidFill>
                  <a:srgbClr val="16181D"/>
                </a:solidFill>
                <a:latin typeface="Montserrat"/>
              </a:rPr>
              <a:t>WORK MORE THAN 12 HOURS A DAY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8096" y="3438144"/>
            <a:ext cx="311292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Riders average ~79-hour weeks; over half work all seven days.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38218" y="2011680"/>
            <a:ext cx="3515258" cy="1783080"/>
          </a:xfrm>
          <a:prstGeom prst="roundRect">
            <a:avLst>
              <a:gd name="adj" fmla="val 5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39386" y="2212848"/>
            <a:ext cx="420624" cy="420624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file-text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0335" y="2313797"/>
            <a:ext cx="218724" cy="21872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539386" y="2706624"/>
            <a:ext cx="311292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4A35FF"/>
                </a:solidFill>
                <a:latin typeface="Montserrat"/>
              </a:rPr>
              <a:t>₹7,976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9386" y="3090672"/>
            <a:ext cx="31129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 i="0" spc="80">
                <a:solidFill>
                  <a:srgbClr val="16181D"/>
                </a:solidFill>
                <a:latin typeface="Montserrat"/>
              </a:rPr>
              <a:t>AVG WEEKLY EARNINGS (ALL SOURCES)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39386" y="3438144"/>
            <a:ext cx="311292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Approximate — the survey captures income as bands, not exact values.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9508" y="2011680"/>
            <a:ext cx="3515258" cy="1783080"/>
          </a:xfrm>
          <a:prstGeom prst="roundRect">
            <a:avLst>
              <a:gd name="adj" fmla="val 5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10676" y="2212848"/>
            <a:ext cx="420624" cy="420624"/>
          </a:xfrm>
          <a:prstGeom prst="ellipse">
            <a:avLst/>
          </a:prstGeom>
          <a:solidFill>
            <a:srgbClr val="FDF3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badge-check_E58900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1625" y="2313797"/>
            <a:ext cx="218724" cy="218724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8310676" y="2706624"/>
            <a:ext cx="3112922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 i="0">
                <a:solidFill>
                  <a:srgbClr val="E58900"/>
                </a:solidFill>
                <a:latin typeface="Montserrat"/>
              </a:rPr>
              <a:t>78%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10676" y="3090672"/>
            <a:ext cx="311292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850" b="1" i="0" spc="80">
                <a:solidFill>
                  <a:srgbClr val="16181D"/>
                </a:solidFill>
                <a:latin typeface="Montserrat"/>
              </a:rPr>
              <a:t>EARN INCENTIVES AT OR ABOVE RIDE SPEND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10676" y="3438144"/>
            <a:ext cx="3112922" cy="3017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For most riders incentive pay offsets the cost of riding rather than adding profit.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041648"/>
            <a:ext cx="11057839" cy="1874519"/>
          </a:xfrm>
          <a:prstGeom prst="roundRect">
            <a:avLst>
              <a:gd name="adj" fmla="val 4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4242816"/>
            <a:ext cx="5760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6181D"/>
                </a:solidFill>
                <a:latin typeface="Montserrat"/>
              </a:rPr>
              <a:t>Incentive income roughly tracks ride-related costs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" y="4590288"/>
            <a:ext cx="557784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54855"/>
                </a:solidFill>
                <a:latin typeface="Geist"/>
              </a:rPr>
              <a:t>Fuel, maintenance, mobile data and fines run close behind what riders earn from incentives — so incentive pay mainly offsets the cost of riding, not clear profit on top of base pay.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4352544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6181D"/>
                </a:solidFill>
                <a:latin typeface="Geist"/>
              </a:rPr>
              <a:t>Weekly incentive income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149840" y="4352544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4A35FF"/>
                </a:solidFill>
                <a:latin typeface="Montserrat"/>
              </a:rPr>
              <a:t>₹2,300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583680" y="4626864"/>
            <a:ext cx="4754880" cy="182880"/>
          </a:xfrm>
          <a:prstGeom prst="roundRect">
            <a:avLst>
              <a:gd name="adj" fmla="val 50000"/>
            </a:avLst>
          </a:prstGeom>
          <a:solidFill>
            <a:srgbClr val="ECED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6583680" y="4626864"/>
            <a:ext cx="4754880" cy="182880"/>
          </a:xfrm>
          <a:prstGeom prst="roundRect">
            <a:avLst>
              <a:gd name="adj" fmla="val 50000"/>
            </a:avLst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5065776"/>
            <a:ext cx="475488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6181D"/>
                </a:solidFill>
                <a:latin typeface="Geist"/>
              </a:rPr>
              <a:t>Weekly ride-related expenses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49840" y="5065776"/>
            <a:ext cx="118872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300" b="1" i="0">
                <a:solidFill>
                  <a:srgbClr val="E58900"/>
                </a:solidFill>
                <a:latin typeface="Montserrat"/>
              </a:rPr>
              <a:t>₹1,941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5340096"/>
            <a:ext cx="4754880" cy="182880"/>
          </a:xfrm>
          <a:prstGeom prst="roundRect">
            <a:avLst>
              <a:gd name="adj" fmla="val 50000"/>
            </a:avLst>
          </a:prstGeom>
          <a:solidFill>
            <a:srgbClr val="ECED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583680" y="5340096"/>
            <a:ext cx="4012705" cy="182880"/>
          </a:xfrm>
          <a:prstGeom prst="roundRect">
            <a:avLst>
              <a:gd name="adj" fmla="val 50000"/>
            </a:avLst>
          </a:prstGeom>
          <a:solidFill>
            <a:srgbClr val="E589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66928" y="614476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6E7180"/>
                </a:solidFill>
                <a:latin typeface="Geist"/>
              </a:rPr>
              <a:t>Weekly income, incentive and expense figures are approximate — captured as ranges, not exact values. Own survey data, n=309 (n=229 with complete income data).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38" name="TextBox 37"/>
          <p:cNvSpPr txBox="1"/>
          <p:nvPr/>
        </p:nvSpPr>
        <p:spPr>
          <a:xfrm>
            <a:off x="566928" y="6528816"/>
            <a:ext cx="8778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  ·    Gig Rider Safety — The Economics of Risk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344607" y="6528816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09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ENFORCEMENT PATTERNS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Some violations get a fine.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Others just get a warning.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Warnings issued per fine issued, by violation type — above 1.0× means police let riders off more often than they fine them.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730752" y="2039111"/>
            <a:ext cx="0" cy="3529584"/>
          </a:xfrm>
          <a:prstGeom prst="line">
            <a:avLst/>
          </a:prstGeom>
          <a:ln w="12700">
            <a:solidFill>
              <a:srgbClr val="6E7180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3273552" y="5596127"/>
            <a:ext cx="146304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00" b="0" i="0">
                <a:solidFill>
                  <a:srgbClr val="6E7180"/>
                </a:solidFill>
                <a:latin typeface="Geist"/>
              </a:rPr>
              <a:t>1.0× — warned as often as fined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084831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69" b="1" i="0">
                <a:solidFill>
                  <a:srgbClr val="16181D"/>
                </a:solidFill>
                <a:latin typeface="Geist"/>
              </a:rPr>
              <a:t>Riding on footpath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304288" y="2139695"/>
            <a:ext cx="3566160" cy="237744"/>
          </a:xfrm>
          <a:prstGeom prst="roundRect">
            <a:avLst>
              <a:gd name="adj" fmla="val 50000"/>
            </a:avLst>
          </a:prstGeom>
          <a:solidFill>
            <a:srgbClr val="ECED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304288" y="2139695"/>
            <a:ext cx="3323661" cy="237744"/>
          </a:xfrm>
          <a:prstGeom prst="roundRect">
            <a:avLst>
              <a:gd name="adj" fmla="val 50000"/>
            </a:avLst>
          </a:prstGeom>
          <a:solidFill>
            <a:srgbClr val="E589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701101" y="2130551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58900"/>
                </a:solidFill>
                <a:latin typeface="Montserrat"/>
              </a:rPr>
              <a:t>2.33×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2688335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69" b="1" i="0">
                <a:solidFill>
                  <a:srgbClr val="16181D"/>
                </a:solidFill>
                <a:latin typeface="Geist"/>
              </a:rPr>
              <a:t>Driving wrong direction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304288" y="2743199"/>
            <a:ext cx="3566160" cy="237744"/>
          </a:xfrm>
          <a:prstGeom prst="roundRect">
            <a:avLst>
              <a:gd name="adj" fmla="val 50000"/>
            </a:avLst>
          </a:prstGeom>
          <a:solidFill>
            <a:srgbClr val="ECED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304288" y="2743199"/>
            <a:ext cx="1882932" cy="237744"/>
          </a:xfrm>
          <a:prstGeom prst="roundRect">
            <a:avLst>
              <a:gd name="adj" fmla="val 50000"/>
            </a:avLst>
          </a:prstGeom>
          <a:solidFill>
            <a:srgbClr val="E589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60372" y="2734055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E58900"/>
                </a:solidFill>
                <a:latin typeface="Montserrat"/>
              </a:rPr>
              <a:t>1.32×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" y="3291839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69" b="1" i="0">
                <a:solidFill>
                  <a:srgbClr val="16181D"/>
                </a:solidFill>
                <a:latin typeface="Geist"/>
              </a:rPr>
              <a:t>Over speeding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304288" y="3346703"/>
            <a:ext cx="3566160" cy="237744"/>
          </a:xfrm>
          <a:prstGeom prst="roundRect">
            <a:avLst>
              <a:gd name="adj" fmla="val 50000"/>
            </a:avLst>
          </a:prstGeom>
          <a:solidFill>
            <a:srgbClr val="ECED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2304288" y="3346703"/>
            <a:ext cx="1226759" cy="237744"/>
          </a:xfrm>
          <a:prstGeom prst="roundRect">
            <a:avLst>
              <a:gd name="adj" fmla="val 50000"/>
            </a:avLst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04199" y="3337559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A35FF"/>
                </a:solidFill>
                <a:latin typeface="Montserrat"/>
              </a:rPr>
              <a:t>0.86×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" y="3895343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69" b="1" i="0">
                <a:solidFill>
                  <a:srgbClr val="16181D"/>
                </a:solidFill>
                <a:latin typeface="Geist"/>
              </a:rPr>
              <a:t>No entry zone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304288" y="3950207"/>
            <a:ext cx="3566160" cy="237744"/>
          </a:xfrm>
          <a:prstGeom prst="roundRect">
            <a:avLst>
              <a:gd name="adj" fmla="val 50000"/>
            </a:avLst>
          </a:prstGeom>
          <a:solidFill>
            <a:srgbClr val="ECED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304288" y="3950207"/>
            <a:ext cx="1183965" cy="237744"/>
          </a:xfrm>
          <a:prstGeom prst="roundRect">
            <a:avLst>
              <a:gd name="adj" fmla="val 50000"/>
            </a:avLst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61405" y="3941063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A35FF"/>
                </a:solidFill>
                <a:latin typeface="Montserrat"/>
              </a:rPr>
              <a:t>0.83×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66928" y="4498847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69" b="1" i="0">
                <a:solidFill>
                  <a:srgbClr val="16181D"/>
                </a:solidFill>
                <a:latin typeface="Geist"/>
              </a:rPr>
              <a:t>Jumped red light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04288" y="4553711"/>
            <a:ext cx="3566160" cy="237744"/>
          </a:xfrm>
          <a:prstGeom prst="roundRect">
            <a:avLst>
              <a:gd name="adj" fmla="val 50000"/>
            </a:avLst>
          </a:prstGeom>
          <a:solidFill>
            <a:srgbClr val="ECED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2304288" y="4553711"/>
            <a:ext cx="841613" cy="237744"/>
          </a:xfrm>
          <a:prstGeom prst="roundRect">
            <a:avLst>
              <a:gd name="adj" fmla="val 50000"/>
            </a:avLst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19053" y="4544567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A35FF"/>
                </a:solidFill>
                <a:latin typeface="Montserrat"/>
              </a:rPr>
              <a:t>0.59×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66928" y="5102351"/>
            <a:ext cx="169164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2000"/>
              </a:lnSpc>
            </a:pPr>
            <a:r>
              <a:rPr sz="969" b="1" i="0">
                <a:solidFill>
                  <a:srgbClr val="16181D"/>
                </a:solidFill>
                <a:latin typeface="Geist"/>
              </a:rPr>
              <a:t>Not wearing helmet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304288" y="5157215"/>
            <a:ext cx="3566160" cy="237744"/>
          </a:xfrm>
          <a:prstGeom prst="roundRect">
            <a:avLst>
              <a:gd name="adj" fmla="val 50000"/>
            </a:avLst>
          </a:prstGeom>
          <a:solidFill>
            <a:srgbClr val="ECED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2304288" y="5157215"/>
            <a:ext cx="741761" cy="237744"/>
          </a:xfrm>
          <a:prstGeom prst="roundRect">
            <a:avLst>
              <a:gd name="adj" fmla="val 50000"/>
            </a:avLst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19201" y="5148071"/>
            <a:ext cx="7315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4A35FF"/>
                </a:solidFill>
                <a:latin typeface="Montserrat"/>
              </a:rPr>
              <a:t>0.52×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2011680"/>
            <a:ext cx="3395167" cy="3931920"/>
          </a:xfrm>
          <a:prstGeom prst="roundRect">
            <a:avLst>
              <a:gd name="adj" fmla="val 5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449056" y="2212848"/>
            <a:ext cx="2956255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4A35FF"/>
                </a:solidFill>
                <a:latin typeface="Montserrat"/>
              </a:rPr>
              <a:t>WHAT THIS MEANS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449056" y="2624328"/>
            <a:ext cx="91440" cy="91440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650224" y="2578608"/>
            <a:ext cx="2755087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454855"/>
                </a:solidFill>
                <a:latin typeface="Geist"/>
              </a:rPr>
              <a:t>Footpath riding is treated as a warning, not a violation.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49056" y="3493008"/>
            <a:ext cx="91440" cy="91440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650224" y="3447288"/>
            <a:ext cx="2755087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454855"/>
                </a:solidFill>
                <a:latin typeface="Geist"/>
              </a:rPr>
              <a:t>Riders are warned for footpath riding 2.3× more often than they are fined for it, and for wrong-direction riding 1.3× more often.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49056" y="4361688"/>
            <a:ext cx="91440" cy="91440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50224" y="4315968"/>
            <a:ext cx="2755087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454855"/>
                </a:solidFill>
                <a:latin typeface="Geist"/>
              </a:rPr>
              <a:t>Both sit far above helmet (0.5×) and red-light (0.6×) violations, which are fined harder.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449056" y="5230368"/>
            <a:ext cx="91440" cy="91440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650224" y="5184648"/>
            <a:ext cx="2755087" cy="8046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50" b="0" i="0">
                <a:solidFill>
                  <a:srgbClr val="454855"/>
                </a:solidFill>
                <a:latin typeface="Geist"/>
              </a:rPr>
              <a:t>During Bengaluru's Nov 2024 special drive, footpath riding drew the most complaints — even though helmet non-compliance topped the recorded-challan list.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6928" y="6144768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800" b="0" i="1">
                <a:solidFill>
                  <a:srgbClr val="6E7180"/>
                </a:solidFill>
                <a:latin typeface="Geist"/>
              </a:rPr>
              <a:t>Own survey data, n=309 — ratio of riders ever warned to riders ever fined, by violation type.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45" name="TextBox 44"/>
          <p:cNvSpPr txBox="1"/>
          <p:nvPr/>
        </p:nvSpPr>
        <p:spPr>
          <a:xfrm>
            <a:off x="566928" y="6528816"/>
            <a:ext cx="8778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  ·    Gig Rider Safety — Enforcement Patterns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344607" y="6528816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CRASHES &amp; NEAR-MISSES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4A35FF"/>
                </a:solidFill>
                <a:latin typeface="Montserrat"/>
              </a:rPr>
              <a:t>Wrong-side riding</a:t>
            </a:r>
            <a:r>
              <a:rPr sz="2250" b="1" i="0">
                <a:solidFill>
                  <a:srgbClr val="16181D"/>
                </a:solidFill>
                <a:latin typeface="Montserrat"/>
              </a:rPr>
              <a:t> is the crash riders describe most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Crashes are common and near-misses are weekly — and riders' own accounts point at oncoming traffic.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0116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4A35FF"/>
                </a:solidFill>
                <a:latin typeface="Montserrat"/>
              </a:rPr>
              <a:t>43%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505456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 spc="100">
                <a:solidFill>
                  <a:srgbClr val="16181D"/>
                </a:solidFill>
                <a:latin typeface="Montserrat"/>
              </a:rPr>
              <a:t>HAVE EVER CRASHED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2779776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Of all riders surveyed (n=309).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64408" y="2011680"/>
            <a:ext cx="25603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 i="0">
                <a:solidFill>
                  <a:srgbClr val="4A35FF"/>
                </a:solidFill>
                <a:latin typeface="Montserrat"/>
              </a:rPr>
              <a:t>~1 in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64408" y="2505456"/>
            <a:ext cx="256032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00" b="1" i="0" spc="100">
                <a:solidFill>
                  <a:srgbClr val="16181D"/>
                </a:solidFill>
                <a:latin typeface="Montserrat"/>
              </a:rPr>
              <a:t>A NEAR-MISS EVERY 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64408" y="2779776"/>
            <a:ext cx="256032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6E7180"/>
                </a:solidFill>
                <a:latin typeface="Geist"/>
              </a:rPr>
              <a:t>Around half of all riders report a near-miss in a typical week.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621024"/>
            <a:ext cx="5212080" cy="2286000"/>
          </a:xfrm>
          <a:prstGeom prst="roundRect">
            <a:avLst>
              <a:gd name="adj" fmla="val 5000"/>
            </a:avLst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" y="3767328"/>
            <a:ext cx="4809744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800" b="1" i="0" spc="100">
                <a:solidFill>
                  <a:srgbClr val="4A35FF"/>
                </a:solidFill>
                <a:latin typeface="Montserrat"/>
              </a:rPr>
              <a:t>SECONDARY EVIDENCE  ·  How this compares elsewhere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8096" y="4041648"/>
            <a:ext cx="4809744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69" b="0" i="0">
                <a:solidFill>
                  <a:srgbClr val="454855"/>
                </a:solidFill>
                <a:latin typeface="Geist"/>
              </a:rPr>
              <a:t>A Mumbai study of 431 food-delivery riders found 54.1% had crashed and 75.6% had a near-crash — with surrounding traffic and the rider's own aberrant behaviour as the top predictors.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8096" y="4992624"/>
            <a:ext cx="4809744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6000"/>
              </a:lnSpc>
            </a:pPr>
            <a:r>
              <a:rPr sz="969" b="0" i="0">
                <a:solidFill>
                  <a:srgbClr val="454855"/>
                </a:solidFill>
                <a:latin typeface="Geist"/>
              </a:rPr>
              <a:t>Riders are warned for wrong-direction riding 1.3× more often than they are fined for it — yet 13% independently call it the single riskiest action a rider can take.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63056" y="1975104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4A35FF"/>
                </a:solidFill>
                <a:latin typeface="Montserrat"/>
              </a:rPr>
              <a:t>WHAT RIDERS' OWN CRASH ACCOUNTS DESCRIBE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63056" y="2322576"/>
            <a:ext cx="48216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16181D"/>
                </a:solidFill>
                <a:latin typeface="Geist"/>
              </a:rPr>
              <a:t>Wrong-side / oncoming vehicle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84687" y="232257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E58900"/>
                </a:solidFill>
                <a:latin typeface="Montserrat"/>
              </a:rPr>
              <a:t>14.9%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63056" y="2560320"/>
            <a:ext cx="5461711" cy="118872"/>
          </a:xfrm>
          <a:prstGeom prst="roundRect">
            <a:avLst>
              <a:gd name="adj" fmla="val 50000"/>
            </a:avLst>
          </a:prstGeom>
          <a:solidFill>
            <a:srgbClr val="ECED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163056" y="2560320"/>
            <a:ext cx="5461711" cy="118872"/>
          </a:xfrm>
          <a:prstGeom prst="roundRect">
            <a:avLst>
              <a:gd name="adj" fmla="val 50000"/>
            </a:avLst>
          </a:prstGeom>
          <a:solidFill>
            <a:srgbClr val="E589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63056" y="2779776"/>
            <a:ext cx="48216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16181D"/>
                </a:solidFill>
                <a:latin typeface="Geist"/>
              </a:rPr>
              <a:t>Lost control / skidded (self)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84687" y="277977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E58900"/>
                </a:solidFill>
                <a:latin typeface="Montserrat"/>
              </a:rPr>
              <a:t>12.7%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63056" y="3017520"/>
            <a:ext cx="5461711" cy="118872"/>
          </a:xfrm>
          <a:prstGeom prst="roundRect">
            <a:avLst>
              <a:gd name="adj" fmla="val 50000"/>
            </a:avLst>
          </a:prstGeom>
          <a:solidFill>
            <a:srgbClr val="ECED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63056" y="3017520"/>
            <a:ext cx="4655283" cy="118872"/>
          </a:xfrm>
          <a:prstGeom prst="roundRect">
            <a:avLst>
              <a:gd name="adj" fmla="val 50000"/>
            </a:avLst>
          </a:prstGeom>
          <a:solidFill>
            <a:srgbClr val="E589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63056" y="3236976"/>
            <a:ext cx="48216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16181D"/>
                </a:solidFill>
                <a:latin typeface="Geist"/>
              </a:rPr>
              <a:t>Rear-ended (hit from behind)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84687" y="323697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4A35FF"/>
                </a:solidFill>
                <a:latin typeface="Montserrat"/>
              </a:rPr>
              <a:t>8.2%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63056" y="3474720"/>
            <a:ext cx="5461711" cy="118872"/>
          </a:xfrm>
          <a:prstGeom prst="roundRect">
            <a:avLst>
              <a:gd name="adj" fmla="val 50000"/>
            </a:avLst>
          </a:prstGeom>
          <a:solidFill>
            <a:srgbClr val="ECED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6163056" y="3474720"/>
            <a:ext cx="3005773" cy="118872"/>
          </a:xfrm>
          <a:prstGeom prst="roundRect">
            <a:avLst>
              <a:gd name="adj" fmla="val 50000"/>
            </a:avLst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63056" y="3694176"/>
            <a:ext cx="48216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16181D"/>
                </a:solidFill>
                <a:latin typeface="Geist"/>
              </a:rPr>
              <a:t>Sudden pedestrian / cyclist / animal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84687" y="369417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4A35FF"/>
                </a:solidFill>
                <a:latin typeface="Montserrat"/>
              </a:rPr>
              <a:t>8.2%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63056" y="3931920"/>
            <a:ext cx="5461711" cy="118872"/>
          </a:xfrm>
          <a:prstGeom prst="roundRect">
            <a:avLst>
              <a:gd name="adj" fmla="val 50000"/>
            </a:avLst>
          </a:prstGeom>
          <a:solidFill>
            <a:srgbClr val="ECED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6163056" y="3931920"/>
            <a:ext cx="3005773" cy="118872"/>
          </a:xfrm>
          <a:prstGeom prst="roundRect">
            <a:avLst>
              <a:gd name="adj" fmla="val 50000"/>
            </a:avLst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163056" y="4151376"/>
            <a:ext cx="48216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16181D"/>
                </a:solidFill>
                <a:latin typeface="Geist"/>
              </a:rPr>
              <a:t>Road &amp; infra (potholes, water)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84687" y="415137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4A35FF"/>
                </a:solidFill>
                <a:latin typeface="Montserrat"/>
              </a:rPr>
              <a:t>3.0%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63056" y="4389120"/>
            <a:ext cx="5461711" cy="118872"/>
          </a:xfrm>
          <a:prstGeom prst="roundRect">
            <a:avLst>
              <a:gd name="adj" fmla="val 50000"/>
            </a:avLst>
          </a:prstGeom>
          <a:solidFill>
            <a:srgbClr val="ECED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6163056" y="4389120"/>
            <a:ext cx="1099673" cy="118872"/>
          </a:xfrm>
          <a:prstGeom prst="roundRect">
            <a:avLst>
              <a:gd name="adj" fmla="val 50000"/>
            </a:avLst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63056" y="4608576"/>
            <a:ext cx="4821631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30" b="1" i="0">
                <a:solidFill>
                  <a:srgbClr val="16181D"/>
                </a:solidFill>
                <a:latin typeface="Geist"/>
              </a:rPr>
              <a:t>Phone distraction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84687" y="4608576"/>
            <a:ext cx="64008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1" i="0">
                <a:solidFill>
                  <a:srgbClr val="4A35FF"/>
                </a:solidFill>
                <a:latin typeface="Montserrat"/>
              </a:rPr>
              <a:t>2.2%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163056" y="4846320"/>
            <a:ext cx="5461711" cy="118872"/>
          </a:xfrm>
          <a:prstGeom prst="roundRect">
            <a:avLst>
              <a:gd name="adj" fmla="val 50000"/>
            </a:avLst>
          </a:prstGeom>
          <a:solidFill>
            <a:srgbClr val="ECEDF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6163056" y="4846320"/>
            <a:ext cx="806427" cy="118872"/>
          </a:xfrm>
          <a:prstGeom prst="roundRect">
            <a:avLst>
              <a:gd name="adj" fmla="val 50000"/>
            </a:avLst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163056" y="5084064"/>
            <a:ext cx="5461711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830" b="0" i="1">
                <a:solidFill>
                  <a:srgbClr val="6E7180"/>
                </a:solidFill>
                <a:latin typeface="Geist"/>
              </a:rPr>
              <a:t>Coded from 134 open-ended descriptions of a single most recent crash; riders could mention more than one factor — useful for the pattern, not a precise causal share.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44" name="TextBox 43"/>
          <p:cNvSpPr txBox="1"/>
          <p:nvPr/>
        </p:nvSpPr>
        <p:spPr>
          <a:xfrm>
            <a:off x="566928" y="6528816"/>
            <a:ext cx="8778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  ·    Gig Rider Safety — Crashes &amp; Near-misses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344607" y="6528816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THE SAFETY NET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Protection exists on paper,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not within reach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After a crash, most riders neither report it nor recover anything — and few even know a scheme exists.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975104"/>
            <a:ext cx="548640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4A35FF"/>
                </a:solidFill>
                <a:latin typeface="Montserrat"/>
              </a:rPr>
              <a:t>AFTER A CRASH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340864"/>
            <a:ext cx="5303520" cy="841248"/>
          </a:xfrm>
          <a:prstGeom prst="roundRect">
            <a:avLst>
              <a:gd name="adj" fmla="val 6000"/>
            </a:avLst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6384" y="2340864"/>
            <a:ext cx="502920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Montserrat"/>
              </a:rPr>
              <a:t>100%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218688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6181D"/>
                </a:solidFill>
                <a:latin typeface="Geist"/>
              </a:rPr>
              <a:t>Riders who crashed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3511296"/>
            <a:ext cx="2607868" cy="841248"/>
          </a:xfrm>
          <a:prstGeom prst="roundRect">
            <a:avLst>
              <a:gd name="adj" fmla="val 6000"/>
            </a:avLst>
          </a:prstGeom>
          <a:solidFill>
            <a:srgbClr val="E589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6384" y="3511296"/>
            <a:ext cx="2333548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Montserrat"/>
              </a:rPr>
              <a:t>~1 in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389120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6181D"/>
                </a:solidFill>
                <a:latin typeface="Geist"/>
              </a:rPr>
              <a:t>Reported it to the platform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681728"/>
            <a:ext cx="1903780" cy="841248"/>
          </a:xfrm>
          <a:prstGeom prst="roundRect">
            <a:avLst>
              <a:gd name="adj" fmla="val 6000"/>
            </a:avLst>
          </a:prstGeom>
          <a:solidFill>
            <a:srgbClr val="E5890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6384" y="4681728"/>
            <a:ext cx="1629460" cy="8412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 i="0">
                <a:solidFill>
                  <a:srgbClr val="FFFFFF"/>
                </a:solidFill>
                <a:latin typeface="Montserrat"/>
              </a:rPr>
              <a:t>14% / 17%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559552"/>
            <a:ext cx="585216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1" i="0">
                <a:solidFill>
                  <a:srgbClr val="16181D"/>
                </a:solidFill>
                <a:latin typeface="Geist"/>
              </a:rPr>
              <a:t>Actually claimed compensation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720840" y="1975104"/>
            <a:ext cx="4903927" cy="3931920"/>
          </a:xfrm>
          <a:prstGeom prst="roundRect">
            <a:avLst>
              <a:gd name="adj" fmla="val 5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76872" y="2212848"/>
            <a:ext cx="4391863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1" i="0" spc="180">
                <a:solidFill>
                  <a:srgbClr val="4A35FF"/>
                </a:solidFill>
                <a:latin typeface="Montserrat"/>
              </a:rPr>
              <a:t>AND MOST ARE NAVIGATING BLIND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976872" y="2615184"/>
            <a:ext cx="439186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 i="0">
                <a:solidFill>
                  <a:srgbClr val="E58900"/>
                </a:solidFill>
                <a:latin typeface="Montserrat"/>
              </a:rPr>
              <a:t>53% / 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76872" y="3200400"/>
            <a:ext cx="4391863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454855"/>
                </a:solidFill>
                <a:latin typeface="Geist"/>
              </a:rPr>
              <a:t>of riders have ever received any guidance on crash compensation or relief. (Food delivery / quick commerce.)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976872" y="3931920"/>
            <a:ext cx="4391863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6976872" y="4078224"/>
            <a:ext cx="4391863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454855"/>
                </a:solidFill>
                <a:latin typeface="Geist"/>
              </a:rPr>
              <a:t>Of those who do claim, nearly all rely on platform insurance — there is no independent safety net. The most-requested change from riders themselves is simply insurance that actually pays out.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566928" y="6528816"/>
            <a:ext cx="8778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  ·    Gig Rider Safety — The Safety Net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344607" y="6528816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274320"/>
            <a:ext cx="73152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20">
                <a:solidFill>
                  <a:srgbClr val="4A35FF"/>
                </a:solidFill>
                <a:latin typeface="Montserrat"/>
              </a:rPr>
              <a:t>WHAT THIS MEANS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66928" y="566928"/>
            <a:ext cx="502920" cy="0"/>
          </a:xfrm>
          <a:prstGeom prst="line">
            <a:avLst/>
          </a:prstGeom>
          <a:ln w="25400">
            <a:solidFill>
              <a:srgbClr val="4A35FF"/>
            </a:solidFill>
          </a:ln>
          <a:effectLst/>
        </p:spPr>
      </p:cxnSp>
      <p:sp>
        <p:nvSpPr>
          <p:cNvPr id="5" name="TextBox 4"/>
          <p:cNvSpPr txBox="1"/>
          <p:nvPr/>
        </p:nvSpPr>
        <p:spPr>
          <a:xfrm>
            <a:off x="566928" y="694944"/>
            <a:ext cx="11064240" cy="868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2250" b="1" i="0">
                <a:solidFill>
                  <a:srgbClr val="16181D"/>
                </a:solidFill>
                <a:latin typeface="Montserrat"/>
              </a:rPr>
              <a:t>The evidence points to </a:t>
            </a:r>
            <a:r>
              <a:rPr sz="2250" b="1" i="0">
                <a:solidFill>
                  <a:srgbClr val="4A35FF"/>
                </a:solidFill>
                <a:latin typeface="Montserrat"/>
              </a:rPr>
              <a:t>systems, not riders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481328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150" b="0" i="0">
                <a:solidFill>
                  <a:srgbClr val="6E7180"/>
                </a:solidFill>
                <a:latin typeface="Geist"/>
              </a:rPr>
              <a:t>Preliminary as it is, the data already lines up behind the three-system hypothesis — and shows where change must land.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2103120"/>
            <a:ext cx="3503066" cy="2743200"/>
          </a:xfrm>
          <a:prstGeom prst="roundRect">
            <a:avLst>
              <a:gd name="adj" fmla="val 5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804672" y="2340864"/>
            <a:ext cx="512064" cy="512064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9" name="Picture 8" descr="landmark_4A35FF_256_2.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468880"/>
            <a:ext cx="256032" cy="25603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338474" y="235915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1700" b="1" i="0">
                <a:solidFill>
                  <a:srgbClr val="C8C0FF"/>
                </a:solidFill>
                <a:latin typeface="Montserrat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3054096"/>
            <a:ext cx="302757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16181D"/>
                </a:solidFill>
                <a:latin typeface="Montserrat"/>
              </a:rPr>
              <a:t>Close the EV regulatory gap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3694176"/>
            <a:ext cx="302757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E7180"/>
                </a:solidFill>
                <a:latin typeface="Geist"/>
              </a:rPr>
              <a:t>Low-speed e-bikes evade licence, helmet and challan rules. The evidence base can support a clear regulatory ask.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4314" y="2103120"/>
            <a:ext cx="3503066" cy="2743200"/>
          </a:xfrm>
          <a:prstGeom prst="roundRect">
            <a:avLst>
              <a:gd name="adj" fmla="val 5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82058" y="2340864"/>
            <a:ext cx="512064" cy="512064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15" name="Picture 14" descr="bot_4A35FF_256_2.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0074" y="2468880"/>
            <a:ext cx="256032" cy="25603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7115860" y="235915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1700" b="1" i="0">
                <a:solidFill>
                  <a:srgbClr val="C8C0FF"/>
                </a:solidFill>
                <a:latin typeface="Montserrat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2058" y="3054096"/>
            <a:ext cx="302757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16181D"/>
                </a:solidFill>
                <a:latin typeface="Montserrat"/>
              </a:rPr>
              <a:t>Fix the pay &amp; pressure design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82058" y="3694176"/>
            <a:ext cx="302757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E7180"/>
                </a:solidFill>
                <a:latin typeface="Geist"/>
              </a:rPr>
              <a:t>Order-count incentives and long hours reward speed over safety. Platform-level, scalable changes are the lever.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21700" y="2103120"/>
            <a:ext cx="3503066" cy="2743200"/>
          </a:xfrm>
          <a:prstGeom prst="roundRect">
            <a:avLst>
              <a:gd name="adj" fmla="val 5000"/>
            </a:avLst>
          </a:prstGeom>
          <a:solidFill>
            <a:srgbClr val="F7F7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359444" y="2340864"/>
            <a:ext cx="512064" cy="512064"/>
          </a:xfrm>
          <a:prstGeom prst="ellipse">
            <a:avLst/>
          </a:prstGeom>
          <a:solidFill>
            <a:srgbClr val="EFED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21" name="Picture 20" descr="shield-check_4A35FF_256_2.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87460" y="2468880"/>
            <a:ext cx="256032" cy="25603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10893246" y="2359152"/>
            <a:ext cx="5486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8000"/>
              </a:lnSpc>
            </a:pPr>
            <a:r>
              <a:rPr sz="1700" b="1" i="0">
                <a:solidFill>
                  <a:srgbClr val="C8C0FF"/>
                </a:solidFill>
                <a:latin typeface="Montserrat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59444" y="3054096"/>
            <a:ext cx="3027578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8000"/>
              </a:lnSpc>
            </a:pPr>
            <a:r>
              <a:rPr sz="1400" b="1" i="0">
                <a:solidFill>
                  <a:srgbClr val="16181D"/>
                </a:solidFill>
                <a:latin typeface="Montserrat"/>
              </a:rPr>
              <a:t>Build a net riders can reach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59444" y="3694176"/>
            <a:ext cx="3027578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050" b="0" i="0">
                <a:solidFill>
                  <a:srgbClr val="6E7180"/>
                </a:solidFill>
                <a:latin typeface="Geist"/>
              </a:rPr>
              <a:t>Most crashes go unreported and uncompensated. Reporting, guidance and insurance that pays out must follow.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175504"/>
            <a:ext cx="11057839" cy="749808"/>
          </a:xfrm>
          <a:prstGeom prst="roundRect">
            <a:avLst>
              <a:gd name="adj" fmla="val 8000"/>
            </a:avLst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41248" y="5175504"/>
            <a:ext cx="10509199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Montserrat"/>
              </a:rPr>
              <a:t>An evidence base for platform engagement, regulatory clarity on EVs, and policy advocacy — built rider by rider.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566928" y="6455664"/>
            <a:ext cx="11057839" cy="0"/>
          </a:xfrm>
          <a:prstGeom prst="line">
            <a:avLst/>
          </a:prstGeom>
          <a:ln w="9525">
            <a:solidFill>
              <a:srgbClr val="E8E9EE"/>
            </a:solidFill>
          </a:ln>
          <a:effectLst/>
        </p:spPr>
      </p:cxnSp>
      <p:sp>
        <p:nvSpPr>
          <p:cNvPr id="28" name="TextBox 27"/>
          <p:cNvSpPr txBox="1"/>
          <p:nvPr/>
        </p:nvSpPr>
        <p:spPr>
          <a:xfrm>
            <a:off x="566928" y="6528816"/>
            <a:ext cx="8778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Crashfree India    ·    Gig Rider Safety — What This Means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344607" y="6528816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6E7180"/>
                </a:solidFill>
                <a:latin typeface="Geist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35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3" name="Picture 2" descr="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548640"/>
            <a:ext cx="1737360" cy="240075"/>
          </a:xfrm>
          <a:prstGeom prst="rect">
            <a:avLst/>
          </a:prstGeom>
        </p:spPr>
      </p:pic>
      <p:sp>
        <p:nvSpPr>
          <p:cNvPr id="4" name="4-Point Star 3"/>
          <p:cNvSpPr/>
          <p:nvPr/>
        </p:nvSpPr>
        <p:spPr>
          <a:xfrm>
            <a:off x="11356848" y="310896"/>
            <a:ext cx="384048" cy="384048"/>
          </a:xfrm>
          <a:prstGeom prst="star4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4-Point Star 4"/>
          <p:cNvSpPr/>
          <p:nvPr/>
        </p:nvSpPr>
        <p:spPr>
          <a:xfrm>
            <a:off x="11100816" y="640080"/>
            <a:ext cx="237744" cy="237744"/>
          </a:xfrm>
          <a:prstGeom prst="star4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2286000"/>
            <a:ext cx="10058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1" i="0" spc="240">
                <a:solidFill>
                  <a:srgbClr val="C8C0FF"/>
                </a:solidFill>
                <a:latin typeface="Montserrat"/>
              </a:rPr>
              <a:t>GIG RIDER SAFETY SURVEY  ·  PRELIMINARY FINDINGS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2697480"/>
            <a:ext cx="100584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 i="0">
                <a:solidFill>
                  <a:srgbClr val="FFFFFF"/>
                </a:solidFill>
                <a:latin typeface="Montserrat"/>
              </a:rP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3657600"/>
            <a:ext cx="96012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0" i="0">
                <a:solidFill>
                  <a:srgbClr val="C8C0FF"/>
                </a:solidFill>
                <a:latin typeface="Geist"/>
              </a:rPr>
              <a:t>Preliminary findings from the Gig Rider Safety Survey. We welcome your questions as fieldwork continues.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66928" y="4800600"/>
            <a:ext cx="11057839" cy="0"/>
          </a:xfrm>
          <a:prstGeom prst="line">
            <a:avLst/>
          </a:prstGeom>
          <a:ln w="12700">
            <a:solidFill>
              <a:srgbClr val="6A55FF"/>
            </a:solidFill>
          </a:ln>
          <a:effectLst/>
        </p:spPr>
      </p:cxnSp>
      <p:sp>
        <p:nvSpPr>
          <p:cNvPr id="10" name="TextBox 9"/>
          <p:cNvSpPr txBox="1"/>
          <p:nvPr/>
        </p:nvSpPr>
        <p:spPr>
          <a:xfrm>
            <a:off x="566928" y="5029200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00">
                <a:solidFill>
                  <a:srgbClr val="C8C0FF"/>
                </a:solidFill>
                <a:latin typeface="Montserrat"/>
              </a:rPr>
              <a:t>PREPARED BY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32180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Crashfree India  with research partner Ayvole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650992"/>
            <a:ext cx="512064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C8C0FF"/>
                </a:solidFill>
                <a:latin typeface="Geist"/>
              </a:rPr>
              <a:t>Survey design &amp; analysis in partnership · Qualitative consultations across enforcement, labour, transport &amp; policy.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5029200"/>
            <a:ext cx="51206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00" b="1" i="0" spc="200">
                <a:solidFill>
                  <a:srgbClr val="C8C0FF"/>
                </a:solidFill>
                <a:latin typeface="Montserrat"/>
              </a:rPr>
              <a:t>GET IN TOUCH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5321808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Montserrat"/>
              </a:rPr>
              <a:t>crashfreeindia.org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5650992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C8C0FF"/>
                </a:solidFill>
                <a:latin typeface="Geist"/>
              </a:rPr>
              <a:t>aastha.shreeharsh@crashfreeindia.org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344607" y="6309360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850" b="0" i="0">
                <a:solidFill>
                  <a:srgbClr val="C8C0FF"/>
                </a:solidFill>
                <a:latin typeface="Geist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