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5.png"/><Relationship Id="rId5"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png"/><Relationship Id="rId9" Type="http://schemas.openxmlformats.org/officeDocument/2006/relationships/image" Target="../media/image2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image" Target="../media/image26.jpg"/><Relationship Id="rId4" Type="http://schemas.openxmlformats.org/officeDocument/2006/relationships/image" Target="../media/image27.jpg"/><Relationship Id="rId5" Type="http://schemas.openxmlformats.org/officeDocument/2006/relationships/image" Target="../media/image28.jpg"/><Relationship Id="rId6" Type="http://schemas.openxmlformats.org/officeDocument/2006/relationships/image" Target="../media/image29.jpg"/><Relationship Id="rId7" Type="http://schemas.openxmlformats.org/officeDocument/2006/relationships/image" Target="../media/image3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image" Target="../media/image32.jp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image" Target="../media/image37.png"/><Relationship Id="rId9" Type="http://schemas.openxmlformats.org/officeDocument/2006/relationships/image" Target="../media/image38.png"/><Relationship Id="rId10" Type="http://schemas.openxmlformats.org/officeDocument/2006/relationships/image" Target="../media/image39.png"/><Relationship Id="rId11" Type="http://schemas.openxmlformats.org/officeDocument/2006/relationships/image" Target="../media/image4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image" Target="../media/image42.jp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2.png"/><Relationship Id="rId4" Type="http://schemas.openxmlformats.org/officeDocument/2006/relationships/image" Target="../media/image48.png"/><Relationship Id="rId5" Type="http://schemas.openxmlformats.org/officeDocument/2006/relationships/image" Target="../media/image49.png"/><Relationship Id="rId6" Type="http://schemas.openxmlformats.org/officeDocument/2006/relationships/image" Target="../media/image50.png"/><Relationship Id="rId7" Type="http://schemas.openxmlformats.org/officeDocument/2006/relationships/image" Target="../media/image51.png"/><Relationship Id="rId8" Type="http://schemas.openxmlformats.org/officeDocument/2006/relationships/image" Target="../media/image52.jpg"/><Relationship Id="rId9" Type="http://schemas.openxmlformats.org/officeDocument/2006/relationships/image" Target="../media/image5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jpg"/><Relationship Id="rId3" Type="http://schemas.openxmlformats.org/officeDocument/2006/relationships/image" Target="../media/image55.jp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jpg"/><Relationship Id="rId3" Type="http://schemas.openxmlformats.org/officeDocument/2006/relationships/image" Target="../media/image60.jpg"/><Relationship Id="rId4" Type="http://schemas.openxmlformats.org/officeDocument/2006/relationships/image" Target="../media/image61.jpg"/><Relationship Id="rId5" Type="http://schemas.openxmlformats.org/officeDocument/2006/relationships/image" Target="../media/image62.jpg"/><Relationship Id="rId6" Type="http://schemas.openxmlformats.org/officeDocument/2006/relationships/image" Target="../media/image6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jpg"/><Relationship Id="rId3" Type="http://schemas.openxmlformats.org/officeDocument/2006/relationships/image" Target="../media/image65.jpg"/><Relationship Id="rId4" Type="http://schemas.openxmlformats.org/officeDocument/2006/relationships/image" Target="../media/image66.jpg"/><Relationship Id="rId5" Type="http://schemas.openxmlformats.org/officeDocument/2006/relationships/image" Target="../media/image6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 Id="rId3" Type="http://schemas.openxmlformats.org/officeDocument/2006/relationships/image" Target="../media/image69.png"/><Relationship Id="rId4" Type="http://schemas.openxmlformats.org/officeDocument/2006/relationships/image" Target="../media/image70.png"/><Relationship Id="rId5" Type="http://schemas.openxmlformats.org/officeDocument/2006/relationships/image" Target="../media/image71.png"/><Relationship Id="rId6" Type="http://schemas.openxmlformats.org/officeDocument/2006/relationships/image" Target="../media/image72.png"/><Relationship Id="rId7" Type="http://schemas.openxmlformats.org/officeDocument/2006/relationships/image" Target="../media/image73.png"/><Relationship Id="rId8" Type="http://schemas.openxmlformats.org/officeDocument/2006/relationships/image" Target="../media/image74.png"/><Relationship Id="rId9" Type="http://schemas.openxmlformats.org/officeDocument/2006/relationships/image" Target="../media/image75.png"/><Relationship Id="rId10" Type="http://schemas.openxmlformats.org/officeDocument/2006/relationships/image" Target="../media/image76.png"/><Relationship Id="rId11" Type="http://schemas.openxmlformats.org/officeDocument/2006/relationships/image" Target="../media/image77.png"/><Relationship Id="rId12" Type="http://schemas.openxmlformats.org/officeDocument/2006/relationships/image" Target="../media/image78.png"/><Relationship Id="rId13" Type="http://schemas.openxmlformats.org/officeDocument/2006/relationships/image" Target="../media/image79.png"/><Relationship Id="rId14" Type="http://schemas.openxmlformats.org/officeDocument/2006/relationships/image" Target="../media/image80.png"/><Relationship Id="rId15" Type="http://schemas.openxmlformats.org/officeDocument/2006/relationships/image" Target="../media/image81.png"/><Relationship Id="rId16" Type="http://schemas.openxmlformats.org/officeDocument/2006/relationships/image" Target="../media/image82.png"/><Relationship Id="rId17" Type="http://schemas.openxmlformats.org/officeDocument/2006/relationships/image" Target="../media/image83.png"/><Relationship Id="rId18" Type="http://schemas.openxmlformats.org/officeDocument/2006/relationships/image" Target="../media/image84.png"/><Relationship Id="rId19" Type="http://schemas.openxmlformats.org/officeDocument/2006/relationships/image" Target="../media/image85.png"/><Relationship Id="rId20" Type="http://schemas.openxmlformats.org/officeDocument/2006/relationships/image" Target="../media/image86.png"/><Relationship Id="rId21" Type="http://schemas.openxmlformats.org/officeDocument/2006/relationships/image" Target="../media/image87.png"/><Relationship Id="rId22" Type="http://schemas.openxmlformats.org/officeDocument/2006/relationships/image" Target="../media/image88.png"/><Relationship Id="rId23" Type="http://schemas.openxmlformats.org/officeDocument/2006/relationships/image" Target="../media/image89.png"/><Relationship Id="rId24" Type="http://schemas.openxmlformats.org/officeDocument/2006/relationships/image" Target="../media/image90.png"/><Relationship Id="rId25" Type="http://schemas.openxmlformats.org/officeDocument/2006/relationships/image" Target="../media/image9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100.png"/><Relationship Id="rId11" Type="http://schemas.openxmlformats.org/officeDocument/2006/relationships/image" Target="../media/image101.png"/><Relationship Id="rId12" Type="http://schemas.openxmlformats.org/officeDocument/2006/relationships/image" Target="../media/image102.png"/><Relationship Id="rId13" Type="http://schemas.openxmlformats.org/officeDocument/2006/relationships/image" Target="../media/image103.png"/><Relationship Id="rId14" Type="http://schemas.openxmlformats.org/officeDocument/2006/relationships/image" Target="../media/image10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5.png"/><Relationship Id="rId3" Type="http://schemas.openxmlformats.org/officeDocument/2006/relationships/image" Target="../media/image21.png"/><Relationship Id="rId4" Type="http://schemas.openxmlformats.org/officeDocument/2006/relationships/image" Target="../media/image106.png"/><Relationship Id="rId5" Type="http://schemas.openxmlformats.org/officeDocument/2006/relationships/image" Target="../media/image107.png"/><Relationship Id="rId6" Type="http://schemas.openxmlformats.org/officeDocument/2006/relationships/image" Target="../media/image108.png"/><Relationship Id="rId7" Type="http://schemas.openxmlformats.org/officeDocument/2006/relationships/image" Target="../media/image23.png"/><Relationship Id="rId8" Type="http://schemas.openxmlformats.org/officeDocument/2006/relationships/image" Target="../media/image109.png"/><Relationship Id="rId9" Type="http://schemas.openxmlformats.org/officeDocument/2006/relationships/image" Target="../media/image110.png"/><Relationship Id="rId10" Type="http://schemas.openxmlformats.org/officeDocument/2006/relationships/image" Target="../media/image111.png"/><Relationship Id="rId11" Type="http://schemas.openxmlformats.org/officeDocument/2006/relationships/image" Target="../media/image112.png"/><Relationship Id="rId12" Type="http://schemas.openxmlformats.org/officeDocument/2006/relationships/image" Target="../media/image113.png"/><Relationship Id="rId13" Type="http://schemas.openxmlformats.org/officeDocument/2006/relationships/image" Target="../media/image1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5.png"/><Relationship Id="rId3" Type="http://schemas.openxmlformats.org/officeDocument/2006/relationships/image" Target="../media/image116.png"/><Relationship Id="rId4" Type="http://schemas.openxmlformats.org/officeDocument/2006/relationships/image" Target="../media/image117.png"/><Relationship Id="rId5" Type="http://schemas.openxmlformats.org/officeDocument/2006/relationships/image" Target="../media/image1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9.jpg"/><Relationship Id="rId3" Type="http://schemas.openxmlformats.org/officeDocument/2006/relationships/image" Target="../media/image120.png"/><Relationship Id="rId4" Type="http://schemas.openxmlformats.org/officeDocument/2006/relationships/image" Target="../media/image121.png"/><Relationship Id="rId5" Type="http://schemas.openxmlformats.org/officeDocument/2006/relationships/image" Target="../media/image117.png"/><Relationship Id="rId6" Type="http://schemas.openxmlformats.org/officeDocument/2006/relationships/image" Target="../media/image118.png"/><Relationship Id="rId7"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image" Target="../media/image124.png"/><Relationship Id="rId6" Type="http://schemas.openxmlformats.org/officeDocument/2006/relationships/image" Target="../media/image125.jpg"/><Relationship Id="rId7" Type="http://schemas.openxmlformats.org/officeDocument/2006/relationships/image" Target="../media/image12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7.png"/><Relationship Id="rId3" Type="http://schemas.openxmlformats.org/officeDocument/2006/relationships/image" Target="../media/image128.png"/><Relationship Id="rId4" Type="http://schemas.openxmlformats.org/officeDocument/2006/relationships/image" Target="../media/image129.png"/><Relationship Id="rId5" Type="http://schemas.openxmlformats.org/officeDocument/2006/relationships/image" Target="../media/image13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1.png"/><Relationship Id="rId3"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image" Target="../media/image13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5.jpg"/><Relationship Id="rId3" Type="http://schemas.openxmlformats.org/officeDocument/2006/relationships/image" Target="../media/image136.jpg"/><Relationship Id="rId4" Type="http://schemas.openxmlformats.org/officeDocument/2006/relationships/image" Target="../media/image137.png"/><Relationship Id="rId5" Type="http://schemas.openxmlformats.org/officeDocument/2006/relationships/image" Target="../media/image138.png"/><Relationship Id="rId6" Type="http://schemas.openxmlformats.org/officeDocument/2006/relationships/image" Target="../media/image139.png"/><Relationship Id="rId7" Type="http://schemas.openxmlformats.org/officeDocument/2006/relationships/image" Target="../media/image14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jpg"/><Relationship Id="rId3" Type="http://schemas.openxmlformats.org/officeDocument/2006/relationships/image" Target="../media/image142.jpg"/><Relationship Id="rId4" Type="http://schemas.openxmlformats.org/officeDocument/2006/relationships/image" Target="../media/image143.png"/><Relationship Id="rId5" Type="http://schemas.openxmlformats.org/officeDocument/2006/relationships/image" Target="../media/image8.png"/><Relationship Id="rId6" Type="http://schemas.openxmlformats.org/officeDocument/2006/relationships/image" Target="../media/image144.png"/><Relationship Id="rId7" Type="http://schemas.openxmlformats.org/officeDocument/2006/relationships/image" Target="../media/image5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5.png"/><Relationship Id="rId3" Type="http://schemas.openxmlformats.org/officeDocument/2006/relationships/image" Target="../media/image146.png"/><Relationship Id="rId4" Type="http://schemas.openxmlformats.org/officeDocument/2006/relationships/image" Target="../media/image147.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pic>
        <p:nvPicPr>
          <p:cNvPr id="3" name="Picture 2" descr="logo_blue.png"/>
          <p:cNvPicPr>
            <a:picLocks noChangeAspect="1"/>
          </p:cNvPicPr>
          <p:nvPr/>
        </p:nvPicPr>
        <p:blipFill>
          <a:blip r:embed="rId2"/>
          <a:stretch>
            <a:fillRect/>
          </a:stretch>
        </p:blipFill>
        <p:spPr>
          <a:xfrm>
            <a:off x="566928" y="457200"/>
            <a:ext cx="1691640" cy="233757"/>
          </a:xfrm>
          <a:prstGeom prst="rect">
            <a:avLst/>
          </a:prstGeom>
        </p:spPr>
      </p:pic>
      <p:sp>
        <p:nvSpPr>
          <p:cNvPr id="4" name="TextBox 3"/>
          <p:cNvSpPr txBox="1"/>
          <p:nvPr/>
        </p:nvSpPr>
        <p:spPr>
          <a:xfrm>
            <a:off x="8424367" y="502920"/>
            <a:ext cx="3200400" cy="274320"/>
          </a:xfrm>
          <a:prstGeom prst="rect">
            <a:avLst/>
          </a:prstGeom>
          <a:noFill/>
        </p:spPr>
        <p:txBody>
          <a:bodyPr wrap="square" lIns="0" rIns="0" tIns="0" bIns="0" anchor="t">
            <a:spAutoFit/>
          </a:bodyPr>
          <a:lstStyle/>
          <a:p>
            <a:pPr algn="r">
              <a:lnSpc>
                <a:spcPct val="128000"/>
              </a:lnSpc>
            </a:pPr>
            <a:r>
              <a:rPr sz="900" b="1" i="0" spc="180">
                <a:solidFill>
                  <a:srgbClr val="6E7180"/>
                </a:solidFill>
                <a:latin typeface="Montserrat"/>
              </a:rPr>
              <a:t>AUGUST 2026  ·  NEW DELHI</a:t>
            </a:r>
          </a:p>
        </p:txBody>
      </p:sp>
      <p:sp>
        <p:nvSpPr>
          <p:cNvPr id="5" name="TextBox 4"/>
          <p:cNvSpPr txBox="1"/>
          <p:nvPr/>
        </p:nvSpPr>
        <p:spPr>
          <a:xfrm>
            <a:off x="566928" y="1572768"/>
            <a:ext cx="7498079" cy="274320"/>
          </a:xfrm>
          <a:prstGeom prst="rect">
            <a:avLst/>
          </a:prstGeom>
          <a:noFill/>
        </p:spPr>
        <p:txBody>
          <a:bodyPr wrap="square" lIns="0" rIns="0" tIns="0" bIns="0" anchor="t">
            <a:spAutoFit/>
          </a:bodyPr>
          <a:lstStyle/>
          <a:p>
            <a:pPr algn="l">
              <a:lnSpc>
                <a:spcPct val="128000"/>
              </a:lnSpc>
            </a:pPr>
            <a:r>
              <a:rPr sz="1050" b="1" i="0" spc="220">
                <a:solidFill>
                  <a:srgbClr val="4A35FF"/>
                </a:solidFill>
                <a:latin typeface="Montserrat"/>
              </a:rPr>
              <a:t>EXPRESSION OF INTEREST  ·  NATIONAL ROAD SAFETY BOARD</a:t>
            </a:r>
          </a:p>
        </p:txBody>
      </p:sp>
      <p:sp>
        <p:nvSpPr>
          <p:cNvPr id="6" name="TextBox 5"/>
          <p:cNvSpPr txBox="1"/>
          <p:nvPr/>
        </p:nvSpPr>
        <p:spPr>
          <a:xfrm>
            <a:off x="566928" y="1956816"/>
            <a:ext cx="7589520" cy="777240"/>
          </a:xfrm>
          <a:prstGeom prst="rect">
            <a:avLst/>
          </a:prstGeom>
          <a:noFill/>
        </p:spPr>
        <p:txBody>
          <a:bodyPr wrap="square" lIns="0" rIns="0" tIns="0" bIns="0" anchor="t">
            <a:spAutoFit/>
          </a:bodyPr>
          <a:lstStyle/>
          <a:p>
            <a:pPr algn="l">
              <a:lnSpc>
                <a:spcPct val="100000"/>
              </a:lnSpc>
            </a:pPr>
            <a:r>
              <a:rPr sz="4600" b="1" i="0">
                <a:solidFill>
                  <a:srgbClr val="16181D"/>
                </a:solidFill>
                <a:latin typeface="Montserrat"/>
              </a:rPr>
              <a:t>Crashfree India</a:t>
            </a:r>
          </a:p>
        </p:txBody>
      </p:sp>
      <p:sp>
        <p:nvSpPr>
          <p:cNvPr id="7" name="TextBox 6"/>
          <p:cNvSpPr txBox="1"/>
          <p:nvPr/>
        </p:nvSpPr>
        <p:spPr>
          <a:xfrm>
            <a:off x="566928" y="2834640"/>
            <a:ext cx="7589520" cy="777240"/>
          </a:xfrm>
          <a:prstGeom prst="rect">
            <a:avLst/>
          </a:prstGeom>
          <a:noFill/>
        </p:spPr>
        <p:txBody>
          <a:bodyPr wrap="square" lIns="0" rIns="0" tIns="0" bIns="0" anchor="t">
            <a:spAutoFit/>
          </a:bodyPr>
          <a:lstStyle/>
          <a:p>
            <a:pPr algn="l">
              <a:lnSpc>
                <a:spcPct val="125000"/>
              </a:lnSpc>
            </a:pPr>
            <a:r>
              <a:rPr sz="1650" b="1" i="0">
                <a:solidFill>
                  <a:srgbClr val="4A35FF"/>
                </a:solidFill>
                <a:latin typeface="Montserrat"/>
              </a:rPr>
              <a:t>Application to Working Group 5:</a:t>
            </a:r>
          </a:p>
          <a:p>
            <a:pPr algn="l">
              <a:lnSpc>
                <a:spcPct val="125000"/>
              </a:lnSpc>
            </a:pPr>
            <a:r>
              <a:rPr sz="1650" b="1" i="0">
                <a:solidFill>
                  <a:srgbClr val="4A35FF"/>
                </a:solidFill>
                <a:latin typeface="Montserrat"/>
              </a:rPr>
              <a:t>Post-Crash Care, Policy Standards &amp; State Implementation</a:t>
            </a:r>
          </a:p>
        </p:txBody>
      </p:sp>
      <p:sp>
        <p:nvSpPr>
          <p:cNvPr id="8" name="Oval 7"/>
          <p:cNvSpPr/>
          <p:nvPr/>
        </p:nvSpPr>
        <p:spPr>
          <a:xfrm>
            <a:off x="566928" y="4251960"/>
            <a:ext cx="365760" cy="365760"/>
          </a:xfrm>
          <a:prstGeom prst="ellipse">
            <a:avLst/>
          </a:prstGeom>
          <a:solidFill>
            <a:srgbClr val="EFEDFF"/>
          </a:solidFill>
          <a:ln>
            <a:noFill/>
          </a:ln>
          <a:effectLst/>
        </p:spPr>
        <p:txBody>
          <a:bodyPr rtlCol="0" anchor="ctr"/>
          <a:lstStyle/>
          <a:p>
            <a:pPr algn="ctr"/>
          </a:p>
        </p:txBody>
      </p:sp>
      <p:pic>
        <p:nvPicPr>
          <p:cNvPr id="9" name="Picture 8" descr="bot_4A35FF_256_2.0.png"/>
          <p:cNvPicPr>
            <a:picLocks noChangeAspect="1"/>
          </p:cNvPicPr>
          <p:nvPr/>
        </p:nvPicPr>
        <p:blipFill>
          <a:blip r:embed="rId3"/>
          <a:stretch>
            <a:fillRect/>
          </a:stretch>
        </p:blipFill>
        <p:spPr>
          <a:xfrm>
            <a:off x="654710" y="4339742"/>
            <a:ext cx="190195" cy="190195"/>
          </a:xfrm>
          <a:prstGeom prst="rect">
            <a:avLst/>
          </a:prstGeom>
        </p:spPr>
      </p:pic>
      <p:sp>
        <p:nvSpPr>
          <p:cNvPr id="10" name="TextBox 9"/>
          <p:cNvSpPr txBox="1"/>
          <p:nvPr/>
        </p:nvSpPr>
        <p:spPr>
          <a:xfrm>
            <a:off x="1078992" y="4297680"/>
            <a:ext cx="7223760" cy="365760"/>
          </a:xfrm>
          <a:prstGeom prst="rect">
            <a:avLst/>
          </a:prstGeom>
          <a:noFill/>
        </p:spPr>
        <p:txBody>
          <a:bodyPr wrap="square" lIns="0" rIns="0" tIns="0" bIns="0" anchor="t">
            <a:spAutoFit/>
          </a:bodyPr>
          <a:lstStyle/>
          <a:p>
            <a:pPr algn="l">
              <a:lnSpc>
                <a:spcPct val="110000"/>
              </a:lnSpc>
            </a:pPr>
            <a:r>
              <a:rPr sz="1150" b="1" i="0">
                <a:solidFill>
                  <a:srgbClr val="16181D"/>
                </a:solidFill>
                <a:latin typeface="Montserrat"/>
              </a:rPr>
              <a:t>Tools families actually use: Aasha on WhatsApp, calculator, hospital helpdesks</a:t>
            </a:r>
          </a:p>
        </p:txBody>
      </p:sp>
      <p:sp>
        <p:nvSpPr>
          <p:cNvPr id="11" name="Oval 10"/>
          <p:cNvSpPr/>
          <p:nvPr/>
        </p:nvSpPr>
        <p:spPr>
          <a:xfrm>
            <a:off x="566928" y="4818888"/>
            <a:ext cx="365760" cy="365760"/>
          </a:xfrm>
          <a:prstGeom prst="ellipse">
            <a:avLst/>
          </a:prstGeom>
          <a:solidFill>
            <a:srgbClr val="EFEDFF"/>
          </a:solidFill>
          <a:ln>
            <a:noFill/>
          </a:ln>
          <a:effectLst/>
        </p:spPr>
        <p:txBody>
          <a:bodyPr rtlCol="0" anchor="ctr"/>
          <a:lstStyle/>
          <a:p>
            <a:pPr algn="ctr"/>
          </a:p>
        </p:txBody>
      </p:sp>
      <p:pic>
        <p:nvPicPr>
          <p:cNvPr id="12" name="Picture 11" descr="file-search_4A35FF_256_2.0.png"/>
          <p:cNvPicPr>
            <a:picLocks noChangeAspect="1"/>
          </p:cNvPicPr>
          <p:nvPr/>
        </p:nvPicPr>
        <p:blipFill>
          <a:blip r:embed="rId4"/>
          <a:stretch>
            <a:fillRect/>
          </a:stretch>
        </p:blipFill>
        <p:spPr>
          <a:xfrm>
            <a:off x="654710" y="4906670"/>
            <a:ext cx="190195" cy="190195"/>
          </a:xfrm>
          <a:prstGeom prst="rect">
            <a:avLst/>
          </a:prstGeom>
        </p:spPr>
      </p:pic>
      <p:sp>
        <p:nvSpPr>
          <p:cNvPr id="13" name="TextBox 12"/>
          <p:cNvSpPr txBox="1"/>
          <p:nvPr/>
        </p:nvSpPr>
        <p:spPr>
          <a:xfrm>
            <a:off x="1078992" y="4864608"/>
            <a:ext cx="7223760" cy="365760"/>
          </a:xfrm>
          <a:prstGeom prst="rect">
            <a:avLst/>
          </a:prstGeom>
          <a:noFill/>
        </p:spPr>
        <p:txBody>
          <a:bodyPr wrap="square" lIns="0" rIns="0" tIns="0" bIns="0" anchor="t">
            <a:spAutoFit/>
          </a:bodyPr>
          <a:lstStyle/>
          <a:p>
            <a:pPr algn="l">
              <a:lnSpc>
                <a:spcPct val="110000"/>
              </a:lnSpc>
            </a:pPr>
            <a:r>
              <a:rPr sz="1150" b="1" i="0">
                <a:solidFill>
                  <a:srgbClr val="16181D"/>
                </a:solidFill>
                <a:latin typeface="Montserrat"/>
              </a:rPr>
              <a:t>Published policy research: Justice Unserved and the Pre-Hospital Care Primer</a:t>
            </a:r>
          </a:p>
        </p:txBody>
      </p:sp>
      <p:sp>
        <p:nvSpPr>
          <p:cNvPr id="14" name="Oval 13"/>
          <p:cNvSpPr/>
          <p:nvPr/>
        </p:nvSpPr>
        <p:spPr>
          <a:xfrm>
            <a:off x="566928" y="5385816"/>
            <a:ext cx="365760" cy="365760"/>
          </a:xfrm>
          <a:prstGeom prst="ellipse">
            <a:avLst/>
          </a:prstGeom>
          <a:solidFill>
            <a:srgbClr val="EFEDFF"/>
          </a:solidFill>
          <a:ln>
            <a:noFill/>
          </a:ln>
          <a:effectLst/>
        </p:spPr>
        <p:txBody>
          <a:bodyPr rtlCol="0" anchor="ctr"/>
          <a:lstStyle/>
          <a:p>
            <a:pPr algn="ctr"/>
          </a:p>
        </p:txBody>
      </p:sp>
      <p:pic>
        <p:nvPicPr>
          <p:cNvPr id="15" name="Picture 14" descr="handshake_4A35FF_256_2.0.png"/>
          <p:cNvPicPr>
            <a:picLocks noChangeAspect="1"/>
          </p:cNvPicPr>
          <p:nvPr/>
        </p:nvPicPr>
        <p:blipFill>
          <a:blip r:embed="rId5"/>
          <a:stretch>
            <a:fillRect/>
          </a:stretch>
        </p:blipFill>
        <p:spPr>
          <a:xfrm>
            <a:off x="654710" y="5473598"/>
            <a:ext cx="190195" cy="190195"/>
          </a:xfrm>
          <a:prstGeom prst="rect">
            <a:avLst/>
          </a:prstGeom>
        </p:spPr>
      </p:pic>
      <p:sp>
        <p:nvSpPr>
          <p:cNvPr id="16" name="TextBox 15"/>
          <p:cNvSpPr txBox="1"/>
          <p:nvPr/>
        </p:nvSpPr>
        <p:spPr>
          <a:xfrm>
            <a:off x="1078992" y="5431536"/>
            <a:ext cx="7223760" cy="365760"/>
          </a:xfrm>
          <a:prstGeom prst="rect">
            <a:avLst/>
          </a:prstGeom>
          <a:noFill/>
        </p:spPr>
        <p:txBody>
          <a:bodyPr wrap="square" lIns="0" rIns="0" tIns="0" bIns="0" anchor="t">
            <a:spAutoFit/>
          </a:bodyPr>
          <a:lstStyle/>
          <a:p>
            <a:pPr algn="l">
              <a:lnSpc>
                <a:spcPct val="110000"/>
              </a:lnSpc>
            </a:pPr>
            <a:r>
              <a:rPr sz="1150" b="1" i="0">
                <a:solidFill>
                  <a:srgbClr val="16181D"/>
                </a:solidFill>
                <a:latin typeface="Montserrat"/>
              </a:rPr>
              <a:t>Hand in hand with authorities: 4 district committees, Rajasthan, police MoUs</a:t>
            </a:r>
          </a:p>
        </p:txBody>
      </p:sp>
      <p:sp>
        <p:nvSpPr>
          <p:cNvPr id="17" name="TextBox 16"/>
          <p:cNvSpPr txBox="1"/>
          <p:nvPr/>
        </p:nvSpPr>
        <p:spPr>
          <a:xfrm>
            <a:off x="566928" y="6309360"/>
            <a:ext cx="7863840" cy="27432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Submitted to the Chairperson and Members, Working Group 5, National Road Safety Board</a:t>
            </a:r>
          </a:p>
        </p:txBody>
      </p:sp>
      <p:sp>
        <p:nvSpPr>
          <p:cNvPr id="18" name="TextBox 17"/>
          <p:cNvSpPr txBox="1"/>
          <p:nvPr/>
        </p:nvSpPr>
        <p:spPr>
          <a:xfrm>
            <a:off x="9247327" y="6309360"/>
            <a:ext cx="2377440" cy="274320"/>
          </a:xfrm>
          <a:prstGeom prst="rect">
            <a:avLst/>
          </a:prstGeom>
          <a:noFill/>
        </p:spPr>
        <p:txBody>
          <a:bodyPr wrap="square" lIns="0" rIns="0" tIns="0" bIns="0" anchor="t">
            <a:spAutoFit/>
          </a:bodyPr>
          <a:lstStyle/>
          <a:p>
            <a:pPr algn="r">
              <a:lnSpc>
                <a:spcPct val="128000"/>
              </a:lnSpc>
            </a:pPr>
            <a:r>
              <a:rPr sz="950" b="1" i="0">
                <a:solidFill>
                  <a:srgbClr val="4A35FF"/>
                </a:solidFill>
                <a:latin typeface="Montserrat"/>
              </a:rPr>
              <a:t>crashfreeindia.org</a:t>
            </a:r>
          </a:p>
        </p:txBody>
      </p:sp>
      <p:pic>
        <p:nvPicPr>
          <p:cNvPr id="19" name="Picture 18" descr="ph_dhoni_white.jpg_3.60x4.90_0.12.jpg"/>
          <p:cNvPicPr>
            <a:picLocks noChangeAspect="1"/>
          </p:cNvPicPr>
          <p:nvPr/>
        </p:nvPicPr>
        <p:blipFill>
          <a:blip r:embed="rId6"/>
          <a:stretch>
            <a:fillRect/>
          </a:stretch>
        </p:blipFill>
        <p:spPr>
          <a:xfrm>
            <a:off x="8321040" y="1051560"/>
            <a:ext cx="3291840" cy="4480560"/>
          </a:xfrm>
          <a:prstGeom prst="rect">
            <a:avLst/>
          </a:prstGeom>
        </p:spPr>
      </p:pic>
      <p:sp>
        <p:nvSpPr>
          <p:cNvPr id="20" name="Rectangle 19"/>
          <p:cNvSpPr/>
          <p:nvPr/>
        </p:nvSpPr>
        <p:spPr>
          <a:xfrm>
            <a:off x="8321040" y="1051560"/>
            <a:ext cx="3291840" cy="4480560"/>
          </a:xfrm>
          <a:prstGeom prst="rect">
            <a:avLst/>
          </a:prstGeom>
          <a:noFill/>
          <a:ln w="12700">
            <a:solidFill>
              <a:srgbClr val="E8E9EE"/>
            </a:solidFill>
          </a:ln>
          <a:effectLst/>
        </p:spPr>
        <p:txBody>
          <a:bodyPr rtlCol="0" anchor="ctr"/>
          <a:lstStyle/>
          <a:p>
            <a:pPr algn="ctr"/>
          </a:p>
        </p:txBody>
      </p:sp>
      <p:sp>
        <p:nvSpPr>
          <p:cNvPr id="21" name="Rectangle 20"/>
          <p:cNvSpPr/>
          <p:nvPr/>
        </p:nvSpPr>
        <p:spPr>
          <a:xfrm>
            <a:off x="8321040" y="5020056"/>
            <a:ext cx="3291840" cy="512064"/>
          </a:xfrm>
          <a:prstGeom prst="rect">
            <a:avLst/>
          </a:prstGeom>
          <a:solidFill>
            <a:srgbClr val="4A35FF"/>
          </a:solidFill>
          <a:ln>
            <a:noFill/>
          </a:ln>
          <a:effectLst/>
        </p:spPr>
        <p:txBody>
          <a:bodyPr rtlCol="0" anchor="ctr"/>
          <a:lstStyle/>
          <a:p>
            <a:pPr algn="ctr"/>
          </a:p>
        </p:txBody>
      </p:sp>
      <p:sp>
        <p:nvSpPr>
          <p:cNvPr id="22" name="TextBox 21"/>
          <p:cNvSpPr txBox="1"/>
          <p:nvPr/>
        </p:nvSpPr>
        <p:spPr>
          <a:xfrm>
            <a:off x="8321040" y="5056632"/>
            <a:ext cx="3291840" cy="457200"/>
          </a:xfrm>
          <a:prstGeom prst="rect">
            <a:avLst/>
          </a:prstGeom>
          <a:noFill/>
        </p:spPr>
        <p:txBody>
          <a:bodyPr wrap="square" lIns="0" rIns="0" tIns="0" bIns="0" anchor="t">
            <a:spAutoFit/>
          </a:bodyPr>
          <a:lstStyle/>
          <a:p>
            <a:pPr algn="ctr">
              <a:lnSpc>
                <a:spcPct val="115000"/>
              </a:lnSpc>
            </a:pPr>
            <a:r>
              <a:rPr sz="850" b="1" i="0" spc="100">
                <a:solidFill>
                  <a:srgbClr val="FFFFFF"/>
                </a:solidFill>
                <a:latin typeface="Montserrat"/>
              </a:rPr>
              <a:t>MS DHONI · GOODWILL AMBASSADOR,</a:t>
            </a:r>
          </a:p>
          <a:p>
            <a:pPr algn="ctr">
              <a:lnSpc>
                <a:spcPct val="115000"/>
              </a:lnSpc>
            </a:pPr>
            <a:r>
              <a:rPr sz="850" b="1" i="0" spc="100">
                <a:solidFill>
                  <a:srgbClr val="FFFFFF"/>
                </a:solidFill>
                <a:latin typeface="Montserrat"/>
              </a:rPr>
              <a:t>CRASHFREE INDIA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BEFORE THE SLIDES</a:t>
            </a:r>
          </a:p>
        </p:txBody>
      </p:sp>
      <p:cxnSp>
        <p:nvCxnSpPr>
          <p:cNvPr id="4" name="Connector 3"/>
          <p:cNvCxnSpPr/>
          <p:nvPr/>
        </p:nvCxnSpPr>
        <p:spPr>
          <a:xfrm>
            <a:off x="566928" y="566928"/>
            <a:ext cx="502920" cy="0"/>
          </a:xfrm>
          <a:prstGeom prst="line">
            <a:avLst/>
          </a:prstGeom>
          <a:ln w="25400">
            <a:solidFill>
              <a:srgbClr val="4A35FF"/>
            </a:solidFill>
          </a:ln>
          <a:effectLst/>
        </p:spPr>
      </p:cxnSp>
      <p:sp>
        <p:nvSpPr>
          <p:cNvPr id="5" name="TextBox 4"/>
          <p:cNvSpPr txBox="1"/>
          <p:nvPr/>
        </p:nvSpPr>
        <p:spPr>
          <a:xfrm>
            <a:off x="566928" y="694944"/>
            <a:ext cx="10972800" cy="457200"/>
          </a:xfrm>
          <a:prstGeom prst="rect">
            <a:avLst/>
          </a:prstGeom>
          <a:noFill/>
        </p:spPr>
        <p:txBody>
          <a:bodyPr wrap="square" lIns="0" rIns="0" tIns="0" bIns="0" anchor="t">
            <a:spAutoFit/>
          </a:bodyPr>
          <a:lstStyle/>
          <a:p>
            <a:pPr algn="l">
              <a:lnSpc>
                <a:spcPct val="110000"/>
              </a:lnSpc>
            </a:pPr>
            <a:r>
              <a:rPr sz="2250" b="1" i="0">
                <a:solidFill>
                  <a:srgbClr val="16181D"/>
                </a:solidFill>
                <a:latin typeface="Montserrat"/>
              </a:rPr>
              <a:t>A letter to the </a:t>
            </a:r>
            <a:r>
              <a:rPr sz="2250" b="1" i="0">
                <a:solidFill>
                  <a:srgbClr val="4A35FF"/>
                </a:solidFill>
                <a:latin typeface="Montserrat"/>
              </a:rPr>
              <a:t>Working Group</a:t>
            </a:r>
          </a:p>
        </p:txBody>
      </p:sp>
      <p:sp>
        <p:nvSpPr>
          <p:cNvPr id="6" name="Rectangle 5"/>
          <p:cNvSpPr/>
          <p:nvPr/>
        </p:nvSpPr>
        <p:spPr>
          <a:xfrm>
            <a:off x="1435608" y="1371600"/>
            <a:ext cx="9326880" cy="4956048"/>
          </a:xfrm>
          <a:prstGeom prst="rect">
            <a:avLst/>
          </a:prstGeom>
          <a:solidFill>
            <a:srgbClr val="FFFFFF"/>
          </a:solidFill>
          <a:ln w="15240">
            <a:solidFill>
              <a:srgbClr val="E8E9EE"/>
            </a:solidFill>
          </a:ln>
          <a:effectLst/>
        </p:spPr>
        <p:txBody>
          <a:bodyPr rtlCol="0" anchor="ctr"/>
          <a:lstStyle/>
          <a:p>
            <a:pPr algn="ctr"/>
          </a:p>
        </p:txBody>
      </p:sp>
      <p:sp>
        <p:nvSpPr>
          <p:cNvPr id="7" name="Rectangle 6"/>
          <p:cNvSpPr/>
          <p:nvPr/>
        </p:nvSpPr>
        <p:spPr>
          <a:xfrm>
            <a:off x="1435608" y="1371600"/>
            <a:ext cx="9326880" cy="54864"/>
          </a:xfrm>
          <a:prstGeom prst="rect">
            <a:avLst/>
          </a:prstGeom>
          <a:solidFill>
            <a:srgbClr val="4A35FF"/>
          </a:solidFill>
          <a:ln>
            <a:noFill/>
          </a:ln>
          <a:effectLst/>
        </p:spPr>
        <p:txBody>
          <a:bodyPr rtlCol="0" anchor="ctr"/>
          <a:lstStyle/>
          <a:p>
            <a:pPr algn="ctr"/>
          </a:p>
        </p:txBody>
      </p:sp>
      <p:pic>
        <p:nvPicPr>
          <p:cNvPr id="8" name="Picture 7" descr="logo_blue.png"/>
          <p:cNvPicPr>
            <a:picLocks noChangeAspect="1"/>
          </p:cNvPicPr>
          <p:nvPr/>
        </p:nvPicPr>
        <p:blipFill>
          <a:blip r:embed="rId2"/>
          <a:stretch>
            <a:fillRect/>
          </a:stretch>
        </p:blipFill>
        <p:spPr>
          <a:xfrm>
            <a:off x="1892808" y="1664208"/>
            <a:ext cx="1234440" cy="170579"/>
          </a:xfrm>
          <a:prstGeom prst="rect">
            <a:avLst/>
          </a:prstGeom>
        </p:spPr>
      </p:pic>
      <p:sp>
        <p:nvSpPr>
          <p:cNvPr id="9" name="TextBox 8"/>
          <p:cNvSpPr txBox="1"/>
          <p:nvPr/>
        </p:nvSpPr>
        <p:spPr>
          <a:xfrm>
            <a:off x="7836408" y="1700784"/>
            <a:ext cx="2468880" cy="274320"/>
          </a:xfrm>
          <a:prstGeom prst="rect">
            <a:avLst/>
          </a:prstGeom>
          <a:noFill/>
        </p:spPr>
        <p:txBody>
          <a:bodyPr wrap="square" lIns="0" rIns="0" tIns="0" bIns="0" anchor="t">
            <a:spAutoFit/>
          </a:bodyPr>
          <a:lstStyle/>
          <a:p>
            <a:pPr algn="r">
              <a:lnSpc>
                <a:spcPct val="128000"/>
              </a:lnSpc>
            </a:pPr>
            <a:r>
              <a:rPr sz="950" b="0" i="0">
                <a:solidFill>
                  <a:srgbClr val="6E7180"/>
                </a:solidFill>
                <a:latin typeface="Geist"/>
              </a:rPr>
              <a:t>New Delhi · August 2026</a:t>
            </a:r>
          </a:p>
        </p:txBody>
      </p:sp>
      <p:sp>
        <p:nvSpPr>
          <p:cNvPr id="10" name="TextBox 9"/>
          <p:cNvSpPr txBox="1"/>
          <p:nvPr/>
        </p:nvSpPr>
        <p:spPr>
          <a:xfrm>
            <a:off x="1892808" y="2240280"/>
            <a:ext cx="8412480" cy="3291840"/>
          </a:xfrm>
          <a:prstGeom prst="rect">
            <a:avLst/>
          </a:prstGeom>
          <a:noFill/>
        </p:spPr>
        <p:txBody>
          <a:bodyPr wrap="square" lIns="0" rIns="0" tIns="0" bIns="0" anchor="t">
            <a:spAutoFit/>
          </a:bodyPr>
          <a:lstStyle/>
          <a:p>
            <a:pPr algn="l">
              <a:lnSpc>
                <a:spcPct val="130000"/>
              </a:lnSpc>
              <a:spcAft>
                <a:spcPts val="700"/>
              </a:spcAft>
            </a:pPr>
            <a:r>
              <a:rPr sz="1060" b="0" i="0">
                <a:solidFill>
                  <a:srgbClr val="16181D"/>
                </a:solidFill>
                <a:latin typeface="Geist"/>
              </a:rPr>
              <a:t>Respected Chairperson and Members of Working Group 5,</a:t>
            </a:r>
          </a:p>
          <a:p>
            <a:pPr algn="l">
              <a:lnSpc>
                <a:spcPct val="130000"/>
              </a:lnSpc>
              <a:spcAft>
                <a:spcPts val="700"/>
              </a:spcAft>
            </a:pPr>
            <a:r>
              <a:rPr sz="1060" b="0" i="0">
                <a:solidFill>
                  <a:srgbClr val="16181D"/>
                </a:solidFill>
                <a:latin typeface="Geist"/>
              </a:rPr>
              <a:t>Crashfree India is a young road safety nonprofit, registered as the Vision Zero Trust, co-founded with the Indian Road Safety Council, and backed by a three-year, US$3 million commitment from Cars24. We work alongside public authorities: our student teams audit dangerous locations under senior experts, our technology helps police and administrators see their own pipelines, and our support tools stand with families after a crash. MS Dhoni carries this message to the country as our Goodwill Ambassador.</a:t>
            </a:r>
          </a:p>
          <a:p>
            <a:pPr algn="l">
              <a:lnSpc>
                <a:spcPct val="130000"/>
              </a:lnSpc>
              <a:spcAft>
                <a:spcPts val="700"/>
              </a:spcAft>
            </a:pPr>
            <a:r>
              <a:rPr sz="1060" b="0" i="0">
                <a:solidFill>
                  <a:srgbClr val="16181D"/>
                </a:solidFill>
                <a:latin typeface="Geist"/>
              </a:rPr>
              <a:t>Our post-crash work began with evidence. 'Justice Unserved', our study of the hit-and-run compensation pipeline, showed how few eligible families ever receive what the law promises, and our follow-up brief, 'Deposited But Not Delivered', found ~₹986 crore of already-awarded compensation sitting unclaimed in just five cities. Since then we have joined four District Road Safety Committees, mapped Rajasthan's scheme office-by-office with the Transport Department, and built the tools families actually use, the Aasha chatbot, a compensation calculator, hospital helpdesks that supported 100+ victims in their first four days, and plain-language guides in Hindi.</a:t>
            </a:r>
          </a:p>
          <a:p>
            <a:pPr algn="l">
              <a:lnSpc>
                <a:spcPct val="130000"/>
              </a:lnSpc>
              <a:spcAft>
                <a:spcPts val="700"/>
              </a:spcAft>
            </a:pPr>
            <a:r>
              <a:rPr sz="1060" b="0" i="0">
                <a:solidFill>
                  <a:srgbClr val="16181D"/>
                </a:solidFill>
                <a:latin typeface="Geist"/>
              </a:rPr>
              <a:t>The pages that follow introduce the organisation briefly, then set out the work most relevant to this Working Group in the detail its mandate deserves. Everything shown is running today, is public, and is offered to the Board without cost. We would be honoured to contribute.</a:t>
            </a:r>
          </a:p>
        </p:txBody>
      </p:sp>
      <p:sp>
        <p:nvSpPr>
          <p:cNvPr id="11" name="TextBox 10"/>
          <p:cNvSpPr txBox="1"/>
          <p:nvPr/>
        </p:nvSpPr>
        <p:spPr>
          <a:xfrm>
            <a:off x="1892808" y="5596128"/>
            <a:ext cx="8412480" cy="274320"/>
          </a:xfrm>
          <a:prstGeom prst="rect">
            <a:avLst/>
          </a:prstGeom>
          <a:noFill/>
        </p:spPr>
        <p:txBody>
          <a:bodyPr wrap="square" lIns="0" rIns="0" tIns="0" bIns="0" anchor="t">
            <a:spAutoFit/>
          </a:bodyPr>
          <a:lstStyle/>
          <a:p>
            <a:pPr algn="l">
              <a:lnSpc>
                <a:spcPct val="128000"/>
              </a:lnSpc>
            </a:pPr>
            <a:r>
              <a:rPr sz="1060" b="0" i="0">
                <a:solidFill>
                  <a:srgbClr val="16181D"/>
                </a:solidFill>
                <a:latin typeface="Geist"/>
              </a:rPr>
              <a:t>Respectfully,</a:t>
            </a:r>
          </a:p>
        </p:txBody>
      </p:sp>
      <p:sp>
        <p:nvSpPr>
          <p:cNvPr id="12" name="TextBox 11"/>
          <p:cNvSpPr txBox="1"/>
          <p:nvPr/>
        </p:nvSpPr>
        <p:spPr>
          <a:xfrm>
            <a:off x="1892808" y="5870448"/>
            <a:ext cx="8412480" cy="274320"/>
          </a:xfrm>
          <a:prstGeom prst="rect">
            <a:avLst/>
          </a:prstGeom>
          <a:noFill/>
        </p:spPr>
        <p:txBody>
          <a:bodyPr wrap="square" lIns="0" rIns="0" tIns="0" bIns="0" anchor="t">
            <a:spAutoFit/>
          </a:bodyPr>
          <a:lstStyle/>
          <a:p>
            <a:pPr algn="l">
              <a:lnSpc>
                <a:spcPct val="128000"/>
              </a:lnSpc>
            </a:pPr>
            <a:r>
              <a:rPr sz="1150" b="1" i="0">
                <a:solidFill>
                  <a:srgbClr val="16181D"/>
                </a:solidFill>
                <a:latin typeface="Montserrat"/>
              </a:rPr>
              <a:t>Akhtar Hussain</a:t>
            </a:r>
          </a:p>
        </p:txBody>
      </p:sp>
      <p:sp>
        <p:nvSpPr>
          <p:cNvPr id="13" name="TextBox 12"/>
          <p:cNvSpPr txBox="1"/>
          <p:nvPr/>
        </p:nvSpPr>
        <p:spPr>
          <a:xfrm>
            <a:off x="1892808" y="6089904"/>
            <a:ext cx="8412480" cy="237744"/>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Mission Lead, Crashfree India  ·  akhtar@crashfreeindia.org  ·  crashfreeindia.org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HOW THIS DECK IS ORGANISED</a:t>
            </a:r>
          </a:p>
        </p:txBody>
      </p:sp>
      <p:cxnSp>
        <p:nvCxnSpPr>
          <p:cNvPr id="4" name="Connector 3"/>
          <p:cNvCxnSpPr/>
          <p:nvPr/>
        </p:nvCxnSpPr>
        <p:spPr>
          <a:xfrm>
            <a:off x="566928" y="566928"/>
            <a:ext cx="502920" cy="0"/>
          </a:xfrm>
          <a:prstGeom prst="line">
            <a:avLst/>
          </a:prstGeom>
          <a:ln w="25400">
            <a:solidFill>
              <a:srgbClr val="4A35FF"/>
            </a:solidFill>
          </a:ln>
          <a:effectLst/>
        </p:spPr>
      </p:cxnSp>
      <p:sp>
        <p:nvSpPr>
          <p:cNvPr id="5" name="TextBox 4"/>
          <p:cNvSpPr txBox="1"/>
          <p:nvPr/>
        </p:nvSpPr>
        <p:spPr>
          <a:xfrm>
            <a:off x="566928" y="694944"/>
            <a:ext cx="10972800" cy="457200"/>
          </a:xfrm>
          <a:prstGeom prst="rect">
            <a:avLst/>
          </a:prstGeom>
          <a:noFill/>
        </p:spPr>
        <p:txBody>
          <a:bodyPr wrap="square" lIns="0" rIns="0" tIns="0" bIns="0" anchor="t">
            <a:spAutoFit/>
          </a:bodyPr>
          <a:lstStyle/>
          <a:p>
            <a:pPr algn="l">
              <a:lnSpc>
                <a:spcPct val="110000"/>
              </a:lnSpc>
            </a:pPr>
            <a:r>
              <a:rPr sz="2250" b="1" i="0">
                <a:solidFill>
                  <a:srgbClr val="16181D"/>
                </a:solidFill>
                <a:latin typeface="Montserrat"/>
              </a:rPr>
              <a:t>Five sections, </a:t>
            </a:r>
            <a:r>
              <a:rPr sz="2250" b="1" i="0">
                <a:solidFill>
                  <a:srgbClr val="4A35FF"/>
                </a:solidFill>
                <a:latin typeface="Montserrat"/>
              </a:rPr>
              <a:t>from who we are to what we offer</a:t>
            </a:r>
          </a:p>
        </p:txBody>
      </p:sp>
      <p:sp>
        <p:nvSpPr>
          <p:cNvPr id="6" name="Rounded Rectangle 5"/>
          <p:cNvSpPr/>
          <p:nvPr/>
        </p:nvSpPr>
        <p:spPr>
          <a:xfrm>
            <a:off x="566928" y="1572768"/>
            <a:ext cx="11057839" cy="804672"/>
          </a:xfrm>
          <a:prstGeom prst="roundRect">
            <a:avLst>
              <a:gd name="adj" fmla="val 10000"/>
            </a:avLst>
          </a:prstGeom>
          <a:solidFill>
            <a:srgbClr val="F7F7FA"/>
          </a:solidFill>
          <a:ln>
            <a:noFill/>
          </a:ln>
          <a:effectLst/>
        </p:spPr>
        <p:txBody>
          <a:bodyPr rtlCol="0" anchor="ctr"/>
          <a:lstStyle/>
          <a:p>
            <a:pPr algn="ctr"/>
          </a:p>
        </p:txBody>
      </p:sp>
      <p:sp>
        <p:nvSpPr>
          <p:cNvPr id="7" name="Oval 6"/>
          <p:cNvSpPr/>
          <p:nvPr/>
        </p:nvSpPr>
        <p:spPr>
          <a:xfrm>
            <a:off x="768096" y="1755648"/>
            <a:ext cx="438912" cy="438912"/>
          </a:xfrm>
          <a:prstGeom prst="ellipse">
            <a:avLst/>
          </a:prstGeom>
          <a:solidFill>
            <a:srgbClr val="EFEDFF"/>
          </a:solidFill>
          <a:ln>
            <a:noFill/>
          </a:ln>
          <a:effectLst/>
        </p:spPr>
        <p:txBody>
          <a:bodyPr rtlCol="0" anchor="ctr"/>
          <a:lstStyle/>
          <a:p>
            <a:pPr algn="ctr"/>
          </a:p>
        </p:txBody>
      </p:sp>
      <p:sp>
        <p:nvSpPr>
          <p:cNvPr id="8" name="TextBox 7"/>
          <p:cNvSpPr txBox="1"/>
          <p:nvPr/>
        </p:nvSpPr>
        <p:spPr>
          <a:xfrm>
            <a:off x="768096" y="1744676"/>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1</a:t>
            </a:r>
          </a:p>
        </p:txBody>
      </p:sp>
      <p:sp>
        <p:nvSpPr>
          <p:cNvPr id="9" name="Oval 8"/>
          <p:cNvSpPr/>
          <p:nvPr/>
        </p:nvSpPr>
        <p:spPr>
          <a:xfrm>
            <a:off x="1435608" y="1755648"/>
            <a:ext cx="438912" cy="438912"/>
          </a:xfrm>
          <a:prstGeom prst="ellipse">
            <a:avLst/>
          </a:prstGeom>
          <a:solidFill>
            <a:srgbClr val="EFEDFF"/>
          </a:solidFill>
          <a:ln>
            <a:noFill/>
          </a:ln>
          <a:effectLst/>
        </p:spPr>
        <p:txBody>
          <a:bodyPr rtlCol="0" anchor="ctr"/>
          <a:lstStyle/>
          <a:p>
            <a:pPr algn="ctr"/>
          </a:p>
        </p:txBody>
      </p:sp>
      <p:pic>
        <p:nvPicPr>
          <p:cNvPr id="10" name="Picture 9" descr="building-2_4A35FF_256_2.0.png"/>
          <p:cNvPicPr>
            <a:picLocks noChangeAspect="1"/>
          </p:cNvPicPr>
          <p:nvPr/>
        </p:nvPicPr>
        <p:blipFill>
          <a:blip r:embed="rId2"/>
          <a:stretch>
            <a:fillRect/>
          </a:stretch>
        </p:blipFill>
        <p:spPr>
          <a:xfrm>
            <a:off x="1540946" y="1860986"/>
            <a:ext cx="228234" cy="228234"/>
          </a:xfrm>
          <a:prstGeom prst="rect">
            <a:avLst/>
          </a:prstGeom>
        </p:spPr>
      </p:pic>
      <p:sp>
        <p:nvSpPr>
          <p:cNvPr id="11" name="TextBox 10"/>
          <p:cNvSpPr txBox="1"/>
          <p:nvPr/>
        </p:nvSpPr>
        <p:spPr>
          <a:xfrm>
            <a:off x="2103120" y="1691640"/>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About us, and how we work</a:t>
            </a:r>
          </a:p>
        </p:txBody>
      </p:sp>
      <p:sp>
        <p:nvSpPr>
          <p:cNvPr id="12" name="TextBox 11"/>
          <p:cNvSpPr txBox="1"/>
          <p:nvPr/>
        </p:nvSpPr>
        <p:spPr>
          <a:xfrm>
            <a:off x="2103120" y="1993392"/>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Who we are, our approach to the road crash crisis, and why this Working Group.</a:t>
            </a:r>
          </a:p>
        </p:txBody>
      </p:sp>
      <p:sp>
        <p:nvSpPr>
          <p:cNvPr id="13" name="TextBox 12"/>
          <p:cNvSpPr txBox="1"/>
          <p:nvPr/>
        </p:nvSpPr>
        <p:spPr>
          <a:xfrm>
            <a:off x="10024567" y="1792224"/>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04 – 06</a:t>
            </a:r>
          </a:p>
        </p:txBody>
      </p:sp>
      <p:sp>
        <p:nvSpPr>
          <p:cNvPr id="14" name="Rounded Rectangle 13"/>
          <p:cNvSpPr/>
          <p:nvPr/>
        </p:nvSpPr>
        <p:spPr>
          <a:xfrm>
            <a:off x="566928" y="2505456"/>
            <a:ext cx="11057839" cy="804672"/>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15" name="Oval 14"/>
          <p:cNvSpPr/>
          <p:nvPr/>
        </p:nvSpPr>
        <p:spPr>
          <a:xfrm>
            <a:off x="768096" y="2688336"/>
            <a:ext cx="438912" cy="438912"/>
          </a:xfrm>
          <a:prstGeom prst="ellipse">
            <a:avLst/>
          </a:prstGeom>
          <a:solidFill>
            <a:srgbClr val="EFEDFF"/>
          </a:solidFill>
          <a:ln>
            <a:noFill/>
          </a:ln>
          <a:effectLst/>
        </p:spPr>
        <p:txBody>
          <a:bodyPr rtlCol="0" anchor="ctr"/>
          <a:lstStyle/>
          <a:p>
            <a:pPr algn="ctr"/>
          </a:p>
        </p:txBody>
      </p:sp>
      <p:sp>
        <p:nvSpPr>
          <p:cNvPr id="16" name="TextBox 15"/>
          <p:cNvSpPr txBox="1"/>
          <p:nvPr/>
        </p:nvSpPr>
        <p:spPr>
          <a:xfrm>
            <a:off x="768096" y="2677364"/>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2</a:t>
            </a:r>
          </a:p>
        </p:txBody>
      </p:sp>
      <p:sp>
        <p:nvSpPr>
          <p:cNvPr id="17" name="Oval 16"/>
          <p:cNvSpPr/>
          <p:nvPr/>
        </p:nvSpPr>
        <p:spPr>
          <a:xfrm>
            <a:off x="1435608" y="2688336"/>
            <a:ext cx="438912" cy="438912"/>
          </a:xfrm>
          <a:prstGeom prst="ellipse">
            <a:avLst/>
          </a:prstGeom>
          <a:solidFill>
            <a:srgbClr val="EFEDFF"/>
          </a:solidFill>
          <a:ln>
            <a:noFill/>
          </a:ln>
          <a:effectLst/>
        </p:spPr>
        <p:txBody>
          <a:bodyPr rtlCol="0" anchor="ctr"/>
          <a:lstStyle/>
          <a:p>
            <a:pPr algn="ctr"/>
          </a:p>
        </p:txBody>
      </p:sp>
      <p:pic>
        <p:nvPicPr>
          <p:cNvPr id="18" name="Picture 17" descr="layers_4A35FF_256_2.0.png"/>
          <p:cNvPicPr>
            <a:picLocks noChangeAspect="1"/>
          </p:cNvPicPr>
          <p:nvPr/>
        </p:nvPicPr>
        <p:blipFill>
          <a:blip r:embed="rId3"/>
          <a:stretch>
            <a:fillRect/>
          </a:stretch>
        </p:blipFill>
        <p:spPr>
          <a:xfrm>
            <a:off x="1540946" y="2793674"/>
            <a:ext cx="228234" cy="228234"/>
          </a:xfrm>
          <a:prstGeom prst="rect">
            <a:avLst/>
          </a:prstGeom>
        </p:spPr>
      </p:pic>
      <p:sp>
        <p:nvSpPr>
          <p:cNvPr id="19" name="TextBox 18"/>
          <p:cNvSpPr txBox="1"/>
          <p:nvPr/>
        </p:nvSpPr>
        <p:spPr>
          <a:xfrm>
            <a:off x="2103120" y="2624328"/>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What we have built</a:t>
            </a:r>
          </a:p>
        </p:txBody>
      </p:sp>
      <p:sp>
        <p:nvSpPr>
          <p:cNvPr id="20" name="TextBox 19"/>
          <p:cNvSpPr txBox="1"/>
          <p:nvPr/>
        </p:nvSpPr>
        <p:spPr>
          <a:xfrm>
            <a:off x="2103120" y="2926080"/>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Every public-facing programme, audits, enforcement tech, victim support, open data, youth, campaigns.</a:t>
            </a:r>
          </a:p>
        </p:txBody>
      </p:sp>
      <p:sp>
        <p:nvSpPr>
          <p:cNvPr id="21" name="TextBox 20"/>
          <p:cNvSpPr txBox="1"/>
          <p:nvPr/>
        </p:nvSpPr>
        <p:spPr>
          <a:xfrm>
            <a:off x="10024567" y="2724912"/>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07 – 14</a:t>
            </a:r>
          </a:p>
        </p:txBody>
      </p:sp>
      <p:sp>
        <p:nvSpPr>
          <p:cNvPr id="22" name="Rounded Rectangle 21"/>
          <p:cNvSpPr/>
          <p:nvPr/>
        </p:nvSpPr>
        <p:spPr>
          <a:xfrm>
            <a:off x="566928" y="3438144"/>
            <a:ext cx="11057839" cy="804672"/>
          </a:xfrm>
          <a:prstGeom prst="roundRect">
            <a:avLst>
              <a:gd name="adj" fmla="val 10000"/>
            </a:avLst>
          </a:prstGeom>
          <a:solidFill>
            <a:srgbClr val="F7F7FA"/>
          </a:solidFill>
          <a:ln>
            <a:noFill/>
          </a:ln>
          <a:effectLst/>
        </p:spPr>
        <p:txBody>
          <a:bodyPr rtlCol="0" anchor="ctr"/>
          <a:lstStyle/>
          <a:p>
            <a:pPr algn="ctr"/>
          </a:p>
        </p:txBody>
      </p:sp>
      <p:sp>
        <p:nvSpPr>
          <p:cNvPr id="23" name="Oval 22"/>
          <p:cNvSpPr/>
          <p:nvPr/>
        </p:nvSpPr>
        <p:spPr>
          <a:xfrm>
            <a:off x="768096" y="3621024"/>
            <a:ext cx="438912" cy="438912"/>
          </a:xfrm>
          <a:prstGeom prst="ellipse">
            <a:avLst/>
          </a:prstGeom>
          <a:solidFill>
            <a:srgbClr val="EFEDFF"/>
          </a:solidFill>
          <a:ln>
            <a:noFill/>
          </a:ln>
          <a:effectLst/>
        </p:spPr>
        <p:txBody>
          <a:bodyPr rtlCol="0" anchor="ctr"/>
          <a:lstStyle/>
          <a:p>
            <a:pPr algn="ctr"/>
          </a:p>
        </p:txBody>
      </p:sp>
      <p:sp>
        <p:nvSpPr>
          <p:cNvPr id="24" name="TextBox 23"/>
          <p:cNvSpPr txBox="1"/>
          <p:nvPr/>
        </p:nvSpPr>
        <p:spPr>
          <a:xfrm>
            <a:off x="768096" y="3610052"/>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3</a:t>
            </a:r>
          </a:p>
        </p:txBody>
      </p:sp>
      <p:sp>
        <p:nvSpPr>
          <p:cNvPr id="25" name="Oval 24"/>
          <p:cNvSpPr/>
          <p:nvPr/>
        </p:nvSpPr>
        <p:spPr>
          <a:xfrm>
            <a:off x="1435608" y="3621024"/>
            <a:ext cx="438912" cy="438912"/>
          </a:xfrm>
          <a:prstGeom prst="ellipse">
            <a:avLst/>
          </a:prstGeom>
          <a:solidFill>
            <a:srgbClr val="EFEDFF"/>
          </a:solidFill>
          <a:ln>
            <a:noFill/>
          </a:ln>
          <a:effectLst/>
        </p:spPr>
        <p:txBody>
          <a:bodyPr rtlCol="0" anchor="ctr"/>
          <a:lstStyle/>
          <a:p>
            <a:pPr algn="ctr"/>
          </a:p>
        </p:txBody>
      </p:sp>
      <p:pic>
        <p:nvPicPr>
          <p:cNvPr id="26" name="Picture 25" descr="users_4A35FF_256_2.0.png"/>
          <p:cNvPicPr>
            <a:picLocks noChangeAspect="1"/>
          </p:cNvPicPr>
          <p:nvPr/>
        </p:nvPicPr>
        <p:blipFill>
          <a:blip r:embed="rId4"/>
          <a:stretch>
            <a:fillRect/>
          </a:stretch>
        </p:blipFill>
        <p:spPr>
          <a:xfrm>
            <a:off x="1540946" y="3726362"/>
            <a:ext cx="228234" cy="228234"/>
          </a:xfrm>
          <a:prstGeom prst="rect">
            <a:avLst/>
          </a:prstGeom>
        </p:spPr>
      </p:pic>
      <p:sp>
        <p:nvSpPr>
          <p:cNvPr id="27" name="TextBox 26"/>
          <p:cNvSpPr txBox="1"/>
          <p:nvPr/>
        </p:nvSpPr>
        <p:spPr>
          <a:xfrm>
            <a:off x="2103120" y="3557016"/>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Our people</a:t>
            </a:r>
          </a:p>
        </p:txBody>
      </p:sp>
      <p:sp>
        <p:nvSpPr>
          <p:cNvPr id="28" name="TextBox 27"/>
          <p:cNvSpPr txBox="1"/>
          <p:nvPr/>
        </p:nvSpPr>
        <p:spPr>
          <a:xfrm>
            <a:off x="2103120" y="3858768"/>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The team, its capabilities, and the expert bench around the work.</a:t>
            </a:r>
          </a:p>
        </p:txBody>
      </p:sp>
      <p:sp>
        <p:nvSpPr>
          <p:cNvPr id="29" name="TextBox 28"/>
          <p:cNvSpPr txBox="1"/>
          <p:nvPr/>
        </p:nvSpPr>
        <p:spPr>
          <a:xfrm>
            <a:off x="10024567" y="3657600"/>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15 – 16</a:t>
            </a:r>
          </a:p>
        </p:txBody>
      </p:sp>
      <p:sp>
        <p:nvSpPr>
          <p:cNvPr id="30" name="Rounded Rectangle 29"/>
          <p:cNvSpPr/>
          <p:nvPr/>
        </p:nvSpPr>
        <p:spPr>
          <a:xfrm>
            <a:off x="566928" y="4370832"/>
            <a:ext cx="11057839" cy="804672"/>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31" name="Oval 30"/>
          <p:cNvSpPr/>
          <p:nvPr/>
        </p:nvSpPr>
        <p:spPr>
          <a:xfrm>
            <a:off x="768096" y="4553712"/>
            <a:ext cx="438912" cy="438912"/>
          </a:xfrm>
          <a:prstGeom prst="ellipse">
            <a:avLst/>
          </a:prstGeom>
          <a:solidFill>
            <a:srgbClr val="EFEDFF"/>
          </a:solidFill>
          <a:ln>
            <a:noFill/>
          </a:ln>
          <a:effectLst/>
        </p:spPr>
        <p:txBody>
          <a:bodyPr rtlCol="0" anchor="ctr"/>
          <a:lstStyle/>
          <a:p>
            <a:pPr algn="ctr"/>
          </a:p>
        </p:txBody>
      </p:sp>
      <p:sp>
        <p:nvSpPr>
          <p:cNvPr id="32" name="TextBox 31"/>
          <p:cNvSpPr txBox="1"/>
          <p:nvPr/>
        </p:nvSpPr>
        <p:spPr>
          <a:xfrm>
            <a:off x="768096" y="4542740"/>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4</a:t>
            </a:r>
          </a:p>
        </p:txBody>
      </p:sp>
      <p:sp>
        <p:nvSpPr>
          <p:cNvPr id="33" name="Oval 32"/>
          <p:cNvSpPr/>
          <p:nvPr/>
        </p:nvSpPr>
        <p:spPr>
          <a:xfrm>
            <a:off x="1435608" y="4553712"/>
            <a:ext cx="438912" cy="438912"/>
          </a:xfrm>
          <a:prstGeom prst="ellipse">
            <a:avLst/>
          </a:prstGeom>
          <a:solidFill>
            <a:srgbClr val="EFEDFF"/>
          </a:solidFill>
          <a:ln>
            <a:noFill/>
          </a:ln>
          <a:effectLst/>
        </p:spPr>
        <p:txBody>
          <a:bodyPr rtlCol="0" anchor="ctr"/>
          <a:lstStyle/>
          <a:p>
            <a:pPr algn="ctr"/>
          </a:p>
        </p:txBody>
      </p:sp>
      <p:pic>
        <p:nvPicPr>
          <p:cNvPr id="34" name="Picture 33" descr="target_4A35FF_256_2.0.png"/>
          <p:cNvPicPr>
            <a:picLocks noChangeAspect="1"/>
          </p:cNvPicPr>
          <p:nvPr/>
        </p:nvPicPr>
        <p:blipFill>
          <a:blip r:embed="rId5"/>
          <a:stretch>
            <a:fillRect/>
          </a:stretch>
        </p:blipFill>
        <p:spPr>
          <a:xfrm>
            <a:off x="1540946" y="4659050"/>
            <a:ext cx="228234" cy="228234"/>
          </a:xfrm>
          <a:prstGeom prst="rect">
            <a:avLst/>
          </a:prstGeom>
        </p:spPr>
      </p:pic>
      <p:sp>
        <p:nvSpPr>
          <p:cNvPr id="35" name="TextBox 34"/>
          <p:cNvSpPr txBox="1"/>
          <p:nvPr/>
        </p:nvSpPr>
        <p:spPr>
          <a:xfrm>
            <a:off x="2103120" y="4489704"/>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Post-crash care in depth</a:t>
            </a:r>
          </a:p>
        </p:txBody>
      </p:sp>
      <p:sp>
        <p:nvSpPr>
          <p:cNvPr id="36" name="TextBox 35"/>
          <p:cNvSpPr txBox="1"/>
          <p:nvPr/>
        </p:nvSpPr>
        <p:spPr>
          <a:xfrm>
            <a:off x="2103120" y="4791456"/>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The deep dive matched to this Working Group's mandate, evidence, method, results.</a:t>
            </a:r>
          </a:p>
        </p:txBody>
      </p:sp>
      <p:sp>
        <p:nvSpPr>
          <p:cNvPr id="37" name="TextBox 36"/>
          <p:cNvSpPr txBox="1"/>
          <p:nvPr/>
        </p:nvSpPr>
        <p:spPr>
          <a:xfrm>
            <a:off x="10024567" y="4590288"/>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17 – 24</a:t>
            </a:r>
          </a:p>
        </p:txBody>
      </p:sp>
      <p:sp>
        <p:nvSpPr>
          <p:cNvPr id="38" name="Rounded Rectangle 37"/>
          <p:cNvSpPr/>
          <p:nvPr/>
        </p:nvSpPr>
        <p:spPr>
          <a:xfrm>
            <a:off x="566928" y="5303520"/>
            <a:ext cx="11057839" cy="804672"/>
          </a:xfrm>
          <a:prstGeom prst="roundRect">
            <a:avLst>
              <a:gd name="adj" fmla="val 10000"/>
            </a:avLst>
          </a:prstGeom>
          <a:solidFill>
            <a:srgbClr val="F7F7FA"/>
          </a:solidFill>
          <a:ln>
            <a:noFill/>
          </a:ln>
          <a:effectLst/>
        </p:spPr>
        <p:txBody>
          <a:bodyPr rtlCol="0" anchor="ctr"/>
          <a:lstStyle/>
          <a:p>
            <a:pPr algn="ctr"/>
          </a:p>
        </p:txBody>
      </p:sp>
      <p:sp>
        <p:nvSpPr>
          <p:cNvPr id="39" name="Oval 38"/>
          <p:cNvSpPr/>
          <p:nvPr/>
        </p:nvSpPr>
        <p:spPr>
          <a:xfrm>
            <a:off x="768096" y="5486400"/>
            <a:ext cx="438912" cy="438912"/>
          </a:xfrm>
          <a:prstGeom prst="ellipse">
            <a:avLst/>
          </a:prstGeom>
          <a:solidFill>
            <a:srgbClr val="EFEDFF"/>
          </a:solidFill>
          <a:ln>
            <a:noFill/>
          </a:ln>
          <a:effectLst/>
        </p:spPr>
        <p:txBody>
          <a:bodyPr rtlCol="0" anchor="ctr"/>
          <a:lstStyle/>
          <a:p>
            <a:pPr algn="ctr"/>
          </a:p>
        </p:txBody>
      </p:sp>
      <p:sp>
        <p:nvSpPr>
          <p:cNvPr id="40" name="TextBox 39"/>
          <p:cNvSpPr txBox="1"/>
          <p:nvPr/>
        </p:nvSpPr>
        <p:spPr>
          <a:xfrm>
            <a:off x="768096" y="5475428"/>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5</a:t>
            </a:r>
          </a:p>
        </p:txBody>
      </p:sp>
      <p:sp>
        <p:nvSpPr>
          <p:cNvPr id="41" name="Oval 40"/>
          <p:cNvSpPr/>
          <p:nvPr/>
        </p:nvSpPr>
        <p:spPr>
          <a:xfrm>
            <a:off x="1435608" y="5486400"/>
            <a:ext cx="438912" cy="438912"/>
          </a:xfrm>
          <a:prstGeom prst="ellipse">
            <a:avLst/>
          </a:prstGeom>
          <a:solidFill>
            <a:srgbClr val="EFEDFF"/>
          </a:solidFill>
          <a:ln>
            <a:noFill/>
          </a:ln>
          <a:effectLst/>
        </p:spPr>
        <p:txBody>
          <a:bodyPr rtlCol="0" anchor="ctr"/>
          <a:lstStyle/>
          <a:p>
            <a:pPr algn="ctr"/>
          </a:p>
        </p:txBody>
      </p:sp>
      <p:pic>
        <p:nvPicPr>
          <p:cNvPr id="42" name="Picture 41" descr="handshake_4A35FF_256_2.0.png"/>
          <p:cNvPicPr>
            <a:picLocks noChangeAspect="1"/>
          </p:cNvPicPr>
          <p:nvPr/>
        </p:nvPicPr>
        <p:blipFill>
          <a:blip r:embed="rId6"/>
          <a:stretch>
            <a:fillRect/>
          </a:stretch>
        </p:blipFill>
        <p:spPr>
          <a:xfrm>
            <a:off x="1540946" y="5591738"/>
            <a:ext cx="228234" cy="228234"/>
          </a:xfrm>
          <a:prstGeom prst="rect">
            <a:avLst/>
          </a:prstGeom>
        </p:spPr>
      </p:pic>
      <p:sp>
        <p:nvSpPr>
          <p:cNvPr id="43" name="TextBox 42"/>
          <p:cNvSpPr txBox="1"/>
          <p:nvPr/>
        </p:nvSpPr>
        <p:spPr>
          <a:xfrm>
            <a:off x="2103120" y="5422392"/>
            <a:ext cx="402336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How we can contribute</a:t>
            </a:r>
          </a:p>
        </p:txBody>
      </p:sp>
      <p:sp>
        <p:nvSpPr>
          <p:cNvPr id="44" name="TextBox 43"/>
          <p:cNvSpPr txBox="1"/>
          <p:nvPr/>
        </p:nvSpPr>
        <p:spPr>
          <a:xfrm>
            <a:off x="2103120" y="5724144"/>
            <a:ext cx="7498079" cy="32004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Four concrete, no-cost offers to the Working Group.</a:t>
            </a:r>
          </a:p>
        </p:txBody>
      </p:sp>
      <p:sp>
        <p:nvSpPr>
          <p:cNvPr id="45" name="TextBox 44"/>
          <p:cNvSpPr txBox="1"/>
          <p:nvPr/>
        </p:nvSpPr>
        <p:spPr>
          <a:xfrm>
            <a:off x="10024567" y="5522976"/>
            <a:ext cx="137160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25 – 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ABOUT US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Crashfree India: a nonprofit that adds </a:t>
            </a:r>
            <a:r>
              <a:rPr sz="2250" b="1" i="0">
                <a:solidFill>
                  <a:srgbClr val="4A35FF"/>
                </a:solidFill>
                <a:latin typeface="Montserrat"/>
              </a:rPr>
              <a:t>capacity</a:t>
            </a:r>
            <a:r>
              <a:rPr sz="2250" b="1" i="0">
                <a:solidFill>
                  <a:srgbClr val="16181D"/>
                </a:solidFill>
                <a:latin typeface="Montserrat"/>
              </a:rPr>
              <a:t> to road safety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Registered as the Vision Zero Trust · Co-founded by Cars24 and the Indian Road Safety Council · Working since June 2025 · New Delhi</a:t>
            </a:r>
          </a:p>
        </p:txBody>
      </p:sp>
      <p:sp>
        <p:nvSpPr>
          <p:cNvPr id="8" name="Oval 7"/>
          <p:cNvSpPr/>
          <p:nvPr/>
        </p:nvSpPr>
        <p:spPr>
          <a:xfrm>
            <a:off x="566928" y="2011680"/>
            <a:ext cx="365760" cy="365760"/>
          </a:xfrm>
          <a:prstGeom prst="ellipse">
            <a:avLst/>
          </a:prstGeom>
          <a:solidFill>
            <a:srgbClr val="E9F7F0"/>
          </a:solidFill>
          <a:ln>
            <a:noFill/>
          </a:ln>
          <a:effectLst/>
        </p:spPr>
        <p:txBody>
          <a:bodyPr rtlCol="0" anchor="ctr"/>
          <a:lstStyle/>
          <a:p>
            <a:pPr algn="ctr"/>
          </a:p>
        </p:txBody>
      </p:sp>
      <p:pic>
        <p:nvPicPr>
          <p:cNvPr id="9" name="Picture 8" descr="search-check_0A9955_256_2.0.png"/>
          <p:cNvPicPr>
            <a:picLocks noChangeAspect="1"/>
          </p:cNvPicPr>
          <p:nvPr/>
        </p:nvPicPr>
        <p:blipFill>
          <a:blip r:embed="rId2"/>
          <a:stretch>
            <a:fillRect/>
          </a:stretch>
        </p:blipFill>
        <p:spPr>
          <a:xfrm>
            <a:off x="654710" y="2099462"/>
            <a:ext cx="190195" cy="190195"/>
          </a:xfrm>
          <a:prstGeom prst="rect">
            <a:avLst/>
          </a:prstGeom>
        </p:spPr>
      </p:pic>
      <p:sp>
        <p:nvSpPr>
          <p:cNvPr id="10" name="TextBox 9"/>
          <p:cNvSpPr txBox="1"/>
          <p:nvPr/>
        </p:nvSpPr>
        <p:spPr>
          <a:xfrm>
            <a:off x="1097280" y="19933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Evidence first</a:t>
            </a:r>
          </a:p>
        </p:txBody>
      </p:sp>
      <p:sp>
        <p:nvSpPr>
          <p:cNvPr id="11" name="TextBox 10"/>
          <p:cNvSpPr txBox="1"/>
          <p:nvPr/>
        </p:nvSpPr>
        <p:spPr>
          <a:xfrm>
            <a:off x="3566160" y="1993392"/>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Structured field audits, file reviews and research to official standards, not opinion.</a:t>
            </a:r>
          </a:p>
        </p:txBody>
      </p:sp>
      <p:sp>
        <p:nvSpPr>
          <p:cNvPr id="12" name="Oval 11"/>
          <p:cNvSpPr/>
          <p:nvPr/>
        </p:nvSpPr>
        <p:spPr>
          <a:xfrm>
            <a:off x="566928" y="2761488"/>
            <a:ext cx="365760" cy="365760"/>
          </a:xfrm>
          <a:prstGeom prst="ellipse">
            <a:avLst/>
          </a:prstGeom>
          <a:solidFill>
            <a:srgbClr val="EFEDFF"/>
          </a:solidFill>
          <a:ln>
            <a:noFill/>
          </a:ln>
          <a:effectLst/>
        </p:spPr>
        <p:txBody>
          <a:bodyPr rtlCol="0" anchor="ctr"/>
          <a:lstStyle/>
          <a:p>
            <a:pPr algn="ctr"/>
          </a:p>
        </p:txBody>
      </p:sp>
      <p:pic>
        <p:nvPicPr>
          <p:cNvPr id="13" name="Picture 12" descr="landmark_4A35FF_256_2.0.png"/>
          <p:cNvPicPr>
            <a:picLocks noChangeAspect="1"/>
          </p:cNvPicPr>
          <p:nvPr/>
        </p:nvPicPr>
        <p:blipFill>
          <a:blip r:embed="rId3"/>
          <a:stretch>
            <a:fillRect/>
          </a:stretch>
        </p:blipFill>
        <p:spPr>
          <a:xfrm>
            <a:off x="654710" y="2849270"/>
            <a:ext cx="190195" cy="190195"/>
          </a:xfrm>
          <a:prstGeom prst="rect">
            <a:avLst/>
          </a:prstGeom>
        </p:spPr>
      </p:pic>
      <p:sp>
        <p:nvSpPr>
          <p:cNvPr id="14" name="TextBox 13"/>
          <p:cNvSpPr txBox="1"/>
          <p:nvPr/>
        </p:nvSpPr>
        <p:spPr>
          <a:xfrm>
            <a:off x="1097280" y="2743200"/>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Institutional collaboration</a:t>
            </a:r>
          </a:p>
        </p:txBody>
      </p:sp>
      <p:sp>
        <p:nvSpPr>
          <p:cNvPr id="15" name="TextBox 14"/>
          <p:cNvSpPr txBox="1"/>
          <p:nvPr/>
        </p:nvSpPr>
        <p:spPr>
          <a:xfrm>
            <a:off x="3566160" y="2743200"/>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We work through PWDs, NHAI, transport departments, police and District Road Safety Committees.</a:t>
            </a:r>
          </a:p>
        </p:txBody>
      </p:sp>
      <p:sp>
        <p:nvSpPr>
          <p:cNvPr id="16" name="Oval 15"/>
          <p:cNvSpPr/>
          <p:nvPr/>
        </p:nvSpPr>
        <p:spPr>
          <a:xfrm>
            <a:off x="566928" y="3511296"/>
            <a:ext cx="365760" cy="365760"/>
          </a:xfrm>
          <a:prstGeom prst="ellipse">
            <a:avLst/>
          </a:prstGeom>
          <a:solidFill>
            <a:srgbClr val="FDF3E3"/>
          </a:solidFill>
          <a:ln>
            <a:noFill/>
          </a:ln>
          <a:effectLst/>
        </p:spPr>
        <p:txBody>
          <a:bodyPr rtlCol="0" anchor="ctr"/>
          <a:lstStyle/>
          <a:p>
            <a:pPr algn="ctr"/>
          </a:p>
        </p:txBody>
      </p:sp>
      <p:pic>
        <p:nvPicPr>
          <p:cNvPr id="17" name="Picture 16" descr="users_E58900_256_2.0.png"/>
          <p:cNvPicPr>
            <a:picLocks noChangeAspect="1"/>
          </p:cNvPicPr>
          <p:nvPr/>
        </p:nvPicPr>
        <p:blipFill>
          <a:blip r:embed="rId4"/>
          <a:stretch>
            <a:fillRect/>
          </a:stretch>
        </p:blipFill>
        <p:spPr>
          <a:xfrm>
            <a:off x="654710" y="3599078"/>
            <a:ext cx="190195" cy="190195"/>
          </a:xfrm>
          <a:prstGeom prst="rect">
            <a:avLst/>
          </a:prstGeom>
        </p:spPr>
      </p:pic>
      <p:sp>
        <p:nvSpPr>
          <p:cNvPr id="18" name="TextBox 17"/>
          <p:cNvSpPr txBox="1"/>
          <p:nvPr/>
        </p:nvSpPr>
        <p:spPr>
          <a:xfrm>
            <a:off x="1097280" y="3493008"/>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Youth-led capacity</a:t>
            </a:r>
          </a:p>
        </p:txBody>
      </p:sp>
      <p:sp>
        <p:nvSpPr>
          <p:cNvPr id="19" name="TextBox 18"/>
          <p:cNvSpPr txBox="1"/>
          <p:nvPr/>
        </p:nvSpPr>
        <p:spPr>
          <a:xfrm>
            <a:off x="3566160" y="3493008"/>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Trained student teams from IITs, NITs and SPAs add the auditing hands the system needs.</a:t>
            </a:r>
          </a:p>
        </p:txBody>
      </p:sp>
      <p:sp>
        <p:nvSpPr>
          <p:cNvPr id="20" name="Oval 19"/>
          <p:cNvSpPr/>
          <p:nvPr/>
        </p:nvSpPr>
        <p:spPr>
          <a:xfrm>
            <a:off x="566928" y="4261104"/>
            <a:ext cx="365760" cy="365760"/>
          </a:xfrm>
          <a:prstGeom prst="ellipse">
            <a:avLst/>
          </a:prstGeom>
          <a:solidFill>
            <a:srgbClr val="E7F4F4"/>
          </a:solidFill>
          <a:ln>
            <a:noFill/>
          </a:ln>
          <a:effectLst/>
        </p:spPr>
        <p:txBody>
          <a:bodyPr rtlCol="0" anchor="ctr"/>
          <a:lstStyle/>
          <a:p>
            <a:pPr algn="ctr"/>
          </a:p>
        </p:txBody>
      </p:sp>
      <p:pic>
        <p:nvPicPr>
          <p:cNvPr id="21" name="Picture 20" descr="monitor-check_0E8A8A_256_2.0.png"/>
          <p:cNvPicPr>
            <a:picLocks noChangeAspect="1"/>
          </p:cNvPicPr>
          <p:nvPr/>
        </p:nvPicPr>
        <p:blipFill>
          <a:blip r:embed="rId5"/>
          <a:stretch>
            <a:fillRect/>
          </a:stretch>
        </p:blipFill>
        <p:spPr>
          <a:xfrm>
            <a:off x="654710" y="4348886"/>
            <a:ext cx="190195" cy="190195"/>
          </a:xfrm>
          <a:prstGeom prst="rect">
            <a:avLst/>
          </a:prstGeom>
        </p:spPr>
      </p:pic>
      <p:sp>
        <p:nvSpPr>
          <p:cNvPr id="22" name="TextBox 21"/>
          <p:cNvSpPr txBox="1"/>
          <p:nvPr/>
        </p:nvSpPr>
        <p:spPr>
          <a:xfrm>
            <a:off x="1097280" y="424281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Technology for follow-through</a:t>
            </a:r>
          </a:p>
        </p:txBody>
      </p:sp>
      <p:sp>
        <p:nvSpPr>
          <p:cNvPr id="23" name="TextBox 22"/>
          <p:cNvSpPr txBox="1"/>
          <p:nvPr/>
        </p:nvSpPr>
        <p:spPr>
          <a:xfrm>
            <a:off x="3566160" y="4242816"/>
            <a:ext cx="388620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Public dashboards track every recommendation from submission to completion.</a:t>
            </a:r>
          </a:p>
        </p:txBody>
      </p:sp>
      <p:sp>
        <p:nvSpPr>
          <p:cNvPr id="24" name="Rounded Rectangle 23"/>
          <p:cNvSpPr/>
          <p:nvPr/>
        </p:nvSpPr>
        <p:spPr>
          <a:xfrm>
            <a:off x="566928" y="5166360"/>
            <a:ext cx="6903720" cy="841248"/>
          </a:xfrm>
          <a:prstGeom prst="roundRect">
            <a:avLst>
              <a:gd name="adj" fmla="val 16000"/>
            </a:avLst>
          </a:prstGeom>
          <a:solidFill>
            <a:srgbClr val="EFEDFF"/>
          </a:solidFill>
          <a:ln>
            <a:noFill/>
          </a:ln>
          <a:effectLst/>
        </p:spPr>
        <p:txBody>
          <a:bodyPr rtlCol="0" anchor="ctr"/>
          <a:lstStyle/>
          <a:p>
            <a:pPr algn="ctr"/>
          </a:p>
        </p:txBody>
      </p:sp>
      <p:sp>
        <p:nvSpPr>
          <p:cNvPr id="25" name="TextBox 24"/>
          <p:cNvSpPr txBox="1"/>
          <p:nvPr/>
        </p:nvSpPr>
        <p:spPr>
          <a:xfrm>
            <a:off x="795528" y="5230368"/>
            <a:ext cx="6492240" cy="731520"/>
          </a:xfrm>
          <a:prstGeom prst="rect">
            <a:avLst/>
          </a:prstGeom>
          <a:noFill/>
        </p:spPr>
        <p:txBody>
          <a:bodyPr wrap="square" lIns="0" rIns="0" tIns="0" bIns="0" anchor="t">
            <a:spAutoFit/>
          </a:bodyPr>
          <a:lstStyle/>
          <a:p>
            <a:pPr algn="l">
              <a:lnSpc>
                <a:spcPct val="130000"/>
              </a:lnSpc>
            </a:pPr>
            <a:r>
              <a:rPr sz="1150" b="1" i="0">
                <a:solidFill>
                  <a:srgbClr val="4A35FF"/>
                </a:solidFill>
                <a:latin typeface="Geist"/>
              </a:rPr>
              <a:t>Everything in this deck serves the Group's agenda: </a:t>
            </a:r>
            <a:r>
              <a:rPr sz="1150" b="0" i="0">
                <a:solidFill>
                  <a:srgbClr val="4A35FF"/>
                </a:solidFill>
                <a:latin typeface="Geist"/>
              </a:rPr>
              <a:t>faster compensation, stronger EMS evidence, and support victims can actually use.</a:t>
            </a:r>
          </a:p>
        </p:txBody>
      </p:sp>
      <p:pic>
        <p:nvPicPr>
          <p:cNvPr id="26" name="Picture 25" descr="cfi_map_dots.png"/>
          <p:cNvPicPr>
            <a:picLocks noChangeAspect="1"/>
          </p:cNvPicPr>
          <p:nvPr/>
        </p:nvPicPr>
        <p:blipFill>
          <a:blip r:embed="rId6"/>
          <a:stretch>
            <a:fillRect/>
          </a:stretch>
        </p:blipFill>
        <p:spPr>
          <a:xfrm>
            <a:off x="8092440" y="1965960"/>
            <a:ext cx="3291840" cy="3911357"/>
          </a:xfrm>
          <a:prstGeom prst="rect">
            <a:avLst/>
          </a:prstGeom>
        </p:spPr>
      </p:pic>
      <p:sp>
        <p:nvSpPr>
          <p:cNvPr id="27" name="Rectangle 26"/>
          <p:cNvSpPr/>
          <p:nvPr/>
        </p:nvSpPr>
        <p:spPr>
          <a:xfrm>
            <a:off x="8092440" y="1965960"/>
            <a:ext cx="3291840" cy="3911357"/>
          </a:xfrm>
          <a:prstGeom prst="rect">
            <a:avLst/>
          </a:prstGeom>
          <a:noFill/>
          <a:ln w="12700">
            <a:solidFill>
              <a:srgbClr val="E8E9EE"/>
            </a:solidFill>
          </a:ln>
          <a:effectLst/>
        </p:spPr>
        <p:txBody>
          <a:bodyPr rtlCol="0" anchor="ctr"/>
          <a:lstStyle/>
          <a:p>
            <a:pPr algn="ctr"/>
          </a:p>
        </p:txBody>
      </p:sp>
      <p:sp>
        <p:nvSpPr>
          <p:cNvPr id="28" name="TextBox 27"/>
          <p:cNvSpPr txBox="1"/>
          <p:nvPr/>
        </p:nvSpPr>
        <p:spPr>
          <a:xfrm>
            <a:off x="8092440" y="5923037"/>
            <a:ext cx="32918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Where we work today, 18 cities, north to south.</a:t>
            </a:r>
          </a:p>
        </p:txBody>
      </p:sp>
      <p:cxnSp>
        <p:nvCxnSpPr>
          <p:cNvPr id="29" name="Connector 28"/>
          <p:cNvCxnSpPr/>
          <p:nvPr/>
        </p:nvCxnSpPr>
        <p:spPr>
          <a:xfrm>
            <a:off x="566928" y="6455664"/>
            <a:ext cx="11057839" cy="0"/>
          </a:xfrm>
          <a:prstGeom prst="line">
            <a:avLst/>
          </a:prstGeom>
          <a:ln w="9525">
            <a:solidFill>
              <a:srgbClr val="E8E9EE"/>
            </a:solidFill>
          </a:ln>
          <a:effectLst/>
        </p:spPr>
      </p:cxnSp>
      <p:sp>
        <p:nvSpPr>
          <p:cNvPr id="30" name="TextBox 2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1" name="TextBox 3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04 / 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ABOUT US, OUR APPROACH</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Our approach: work </a:t>
            </a:r>
            <a:r>
              <a:rPr sz="2250" b="1" i="0">
                <a:solidFill>
                  <a:srgbClr val="4A35FF"/>
                </a:solidFill>
                <a:latin typeface="Montserrat"/>
              </a:rPr>
              <a:t>with the system</a:t>
            </a:r>
            <a:r>
              <a:rPr sz="2250" b="1" i="0">
                <a:solidFill>
                  <a:srgbClr val="16181D"/>
                </a:solidFill>
                <a:latin typeface="Montserrat"/>
              </a:rPr>
              <a:t>, and prove it with data</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Four steps, applied to every problem we take up, from a dangerous junction to a stalled compensation claim.</a:t>
            </a:r>
          </a:p>
        </p:txBody>
      </p:sp>
      <p:sp>
        <p:nvSpPr>
          <p:cNvPr id="8" name="Rounded Rectangle 7"/>
          <p:cNvSpPr/>
          <p:nvPr/>
        </p:nvSpPr>
        <p:spPr>
          <a:xfrm>
            <a:off x="56692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9" name="Oval 8"/>
          <p:cNvSpPr/>
          <p:nvPr/>
        </p:nvSpPr>
        <p:spPr>
          <a:xfrm>
            <a:off x="749808" y="2258568"/>
            <a:ext cx="475488" cy="475488"/>
          </a:xfrm>
          <a:prstGeom prst="ellipse">
            <a:avLst/>
          </a:prstGeom>
          <a:solidFill>
            <a:srgbClr val="E9F7F0"/>
          </a:solidFill>
          <a:ln>
            <a:noFill/>
          </a:ln>
          <a:effectLst/>
        </p:spPr>
        <p:txBody>
          <a:bodyPr rtlCol="0" anchor="ctr"/>
          <a:lstStyle/>
          <a:p>
            <a:pPr algn="ctr"/>
          </a:p>
        </p:txBody>
      </p:sp>
      <p:pic>
        <p:nvPicPr>
          <p:cNvPr id="10" name="Picture 9" descr="search-check_0A9955_256_2.0.png"/>
          <p:cNvPicPr>
            <a:picLocks noChangeAspect="1"/>
          </p:cNvPicPr>
          <p:nvPr/>
        </p:nvPicPr>
        <p:blipFill>
          <a:blip r:embed="rId2"/>
          <a:stretch>
            <a:fillRect/>
          </a:stretch>
        </p:blipFill>
        <p:spPr>
          <a:xfrm>
            <a:off x="863925" y="2372685"/>
            <a:ext cx="247253" cy="247253"/>
          </a:xfrm>
          <a:prstGeom prst="rect">
            <a:avLst/>
          </a:prstGeom>
        </p:spPr>
      </p:pic>
      <p:sp>
        <p:nvSpPr>
          <p:cNvPr id="11" name="TextBox 10"/>
          <p:cNvSpPr txBox="1"/>
          <p:nvPr/>
        </p:nvSpPr>
        <p:spPr>
          <a:xfrm>
            <a:off x="74980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1 · Evidence</a:t>
            </a:r>
          </a:p>
        </p:txBody>
      </p:sp>
      <p:sp>
        <p:nvSpPr>
          <p:cNvPr id="12" name="TextBox 11"/>
          <p:cNvSpPr txBox="1"/>
          <p:nvPr/>
        </p:nvSpPr>
        <p:spPr>
          <a:xfrm>
            <a:off x="74980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Field audits, file reviews and research to official standards.</a:t>
            </a:r>
          </a:p>
        </p:txBody>
      </p:sp>
      <p:cxnSp>
        <p:nvCxnSpPr>
          <p:cNvPr id="13" name="Connector 12"/>
          <p:cNvCxnSpPr/>
          <p:nvPr/>
        </p:nvCxnSpPr>
        <p:spPr>
          <a:xfrm>
            <a:off x="749808" y="4270248"/>
            <a:ext cx="2304288" cy="0"/>
          </a:xfrm>
          <a:prstGeom prst="line">
            <a:avLst/>
          </a:prstGeom>
          <a:ln w="9525">
            <a:solidFill>
              <a:srgbClr val="E8E9EE"/>
            </a:solidFill>
          </a:ln>
          <a:effectLst/>
        </p:spPr>
      </p:cxnSp>
      <p:sp>
        <p:nvSpPr>
          <p:cNvPr id="14" name="TextBox 13"/>
          <p:cNvSpPr txBox="1"/>
          <p:nvPr/>
        </p:nvSpPr>
        <p:spPr>
          <a:xfrm>
            <a:off x="74980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31 sites audited · 50+ stakeholder consultations</a:t>
            </a:r>
          </a:p>
        </p:txBody>
      </p:sp>
      <p:sp>
        <p:nvSpPr>
          <p:cNvPr id="15" name="TextBox 14"/>
          <p:cNvSpPr txBox="1"/>
          <p:nvPr/>
        </p:nvSpPr>
        <p:spPr>
          <a:xfrm>
            <a:off x="749808" y="4361688"/>
            <a:ext cx="2304288" cy="502920"/>
          </a:xfrm>
          <a:prstGeom prst="rect">
            <a:avLst/>
          </a:prstGeom>
          <a:noFill/>
        </p:spPr>
        <p:txBody>
          <a:bodyPr wrap="square" lIns="0" rIns="0" tIns="0" bIns="0" anchor="t">
            <a:spAutoFit/>
          </a:bodyPr>
          <a:lstStyle/>
          <a:p>
            <a:pPr algn="l">
              <a:lnSpc>
                <a:spcPct val="125000"/>
              </a:lnSpc>
            </a:pPr>
            <a:r>
              <a:rPr sz="850" b="1" i="0">
                <a:solidFill>
                  <a:srgbClr val="0A9955"/>
                </a:solidFill>
                <a:latin typeface="Montserrat"/>
              </a:rPr>
              <a:t>31 sites audited · 50+ stakeholder consultations</a:t>
            </a:r>
          </a:p>
        </p:txBody>
      </p:sp>
      <p:sp>
        <p:nvSpPr>
          <p:cNvPr id="16" name="TextBox 15"/>
          <p:cNvSpPr txBox="1"/>
          <p:nvPr/>
        </p:nvSpPr>
        <p:spPr>
          <a:xfrm>
            <a:off x="3209544" y="3291840"/>
            <a:ext cx="201168" cy="365760"/>
          </a:xfrm>
          <a:prstGeom prst="rect">
            <a:avLst/>
          </a:prstGeom>
          <a:noFill/>
        </p:spPr>
        <p:txBody>
          <a:bodyPr wrap="square" lIns="0" rIns="0" tIns="0" bIns="0" anchor="t">
            <a:spAutoFit/>
          </a:bodyPr>
          <a:lstStyle/>
          <a:p>
            <a:pPr algn="l">
              <a:lnSpc>
                <a:spcPct val="128000"/>
              </a:lnSpc>
            </a:pPr>
            <a:r>
              <a:rPr sz="1500" b="0" i="0">
                <a:solidFill>
                  <a:srgbClr val="6E7180"/>
                </a:solidFill>
                <a:latin typeface="Geist"/>
              </a:rPr>
              <a:t>→</a:t>
            </a:r>
          </a:p>
        </p:txBody>
      </p:sp>
      <p:sp>
        <p:nvSpPr>
          <p:cNvPr id="17" name="Rounded Rectangle 16"/>
          <p:cNvSpPr/>
          <p:nvPr/>
        </p:nvSpPr>
        <p:spPr>
          <a:xfrm>
            <a:off x="335584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18" name="Oval 17"/>
          <p:cNvSpPr/>
          <p:nvPr/>
        </p:nvSpPr>
        <p:spPr>
          <a:xfrm>
            <a:off x="3538728" y="2258568"/>
            <a:ext cx="475488" cy="475488"/>
          </a:xfrm>
          <a:prstGeom prst="ellipse">
            <a:avLst/>
          </a:prstGeom>
          <a:solidFill>
            <a:srgbClr val="EFEDFF"/>
          </a:solidFill>
          <a:ln>
            <a:noFill/>
          </a:ln>
          <a:effectLst/>
        </p:spPr>
        <p:txBody>
          <a:bodyPr rtlCol="0" anchor="ctr"/>
          <a:lstStyle/>
          <a:p>
            <a:pPr algn="ctr"/>
          </a:p>
        </p:txBody>
      </p:sp>
      <p:pic>
        <p:nvPicPr>
          <p:cNvPr id="19" name="Picture 18" descr="landmark_4A35FF_256_2.0.png"/>
          <p:cNvPicPr>
            <a:picLocks noChangeAspect="1"/>
          </p:cNvPicPr>
          <p:nvPr/>
        </p:nvPicPr>
        <p:blipFill>
          <a:blip r:embed="rId3"/>
          <a:stretch>
            <a:fillRect/>
          </a:stretch>
        </p:blipFill>
        <p:spPr>
          <a:xfrm>
            <a:off x="3652845" y="2372685"/>
            <a:ext cx="247253" cy="247253"/>
          </a:xfrm>
          <a:prstGeom prst="rect">
            <a:avLst/>
          </a:prstGeom>
        </p:spPr>
      </p:pic>
      <p:sp>
        <p:nvSpPr>
          <p:cNvPr id="20" name="TextBox 19"/>
          <p:cNvSpPr txBox="1"/>
          <p:nvPr/>
        </p:nvSpPr>
        <p:spPr>
          <a:xfrm>
            <a:off x="353872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2 · Institutional partnership</a:t>
            </a:r>
          </a:p>
        </p:txBody>
      </p:sp>
      <p:sp>
        <p:nvSpPr>
          <p:cNvPr id="21" name="TextBox 20"/>
          <p:cNvSpPr txBox="1"/>
          <p:nvPr/>
        </p:nvSpPr>
        <p:spPr>
          <a:xfrm>
            <a:off x="353872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Work through the authority that owns the problem, never around it.</a:t>
            </a:r>
          </a:p>
        </p:txBody>
      </p:sp>
      <p:cxnSp>
        <p:nvCxnSpPr>
          <p:cNvPr id="22" name="Connector 21"/>
          <p:cNvCxnSpPr/>
          <p:nvPr/>
        </p:nvCxnSpPr>
        <p:spPr>
          <a:xfrm>
            <a:off x="3538728" y="4270248"/>
            <a:ext cx="2304288" cy="0"/>
          </a:xfrm>
          <a:prstGeom prst="line">
            <a:avLst/>
          </a:prstGeom>
          <a:ln w="9525">
            <a:solidFill>
              <a:srgbClr val="E8E9EE"/>
            </a:solidFill>
          </a:ln>
          <a:effectLst/>
        </p:spPr>
      </p:cxnSp>
      <p:sp>
        <p:nvSpPr>
          <p:cNvPr id="23" name="TextBox 22"/>
          <p:cNvSpPr txBox="1"/>
          <p:nvPr/>
        </p:nvSpPr>
        <p:spPr>
          <a:xfrm>
            <a:off x="353872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25+ written approvals · 4 DRSCs · MoUs with police</a:t>
            </a:r>
          </a:p>
        </p:txBody>
      </p:sp>
      <p:sp>
        <p:nvSpPr>
          <p:cNvPr id="24" name="TextBox 23"/>
          <p:cNvSpPr txBox="1"/>
          <p:nvPr/>
        </p:nvSpPr>
        <p:spPr>
          <a:xfrm>
            <a:off x="3538728" y="4361688"/>
            <a:ext cx="2304288" cy="502920"/>
          </a:xfrm>
          <a:prstGeom prst="rect">
            <a:avLst/>
          </a:prstGeom>
          <a:noFill/>
        </p:spPr>
        <p:txBody>
          <a:bodyPr wrap="square" lIns="0" rIns="0" tIns="0" bIns="0" anchor="t">
            <a:spAutoFit/>
          </a:bodyPr>
          <a:lstStyle/>
          <a:p>
            <a:pPr algn="l">
              <a:lnSpc>
                <a:spcPct val="125000"/>
              </a:lnSpc>
            </a:pPr>
            <a:r>
              <a:rPr sz="850" b="1" i="0">
                <a:solidFill>
                  <a:srgbClr val="4A35FF"/>
                </a:solidFill>
                <a:latin typeface="Montserrat"/>
              </a:rPr>
              <a:t>25+ written approvals · 4 DRSCs · MoUs with police</a:t>
            </a:r>
          </a:p>
        </p:txBody>
      </p:sp>
      <p:sp>
        <p:nvSpPr>
          <p:cNvPr id="25" name="TextBox 24"/>
          <p:cNvSpPr txBox="1"/>
          <p:nvPr/>
        </p:nvSpPr>
        <p:spPr>
          <a:xfrm>
            <a:off x="5998464" y="3291840"/>
            <a:ext cx="201168" cy="365760"/>
          </a:xfrm>
          <a:prstGeom prst="rect">
            <a:avLst/>
          </a:prstGeom>
          <a:noFill/>
        </p:spPr>
        <p:txBody>
          <a:bodyPr wrap="square" lIns="0" rIns="0" tIns="0" bIns="0" anchor="t">
            <a:spAutoFit/>
          </a:bodyPr>
          <a:lstStyle/>
          <a:p>
            <a:pPr algn="l">
              <a:lnSpc>
                <a:spcPct val="128000"/>
              </a:lnSpc>
            </a:pPr>
            <a:r>
              <a:rPr sz="1500" b="0" i="0">
                <a:solidFill>
                  <a:srgbClr val="6E7180"/>
                </a:solidFill>
                <a:latin typeface="Geist"/>
              </a:rPr>
              <a:t>→</a:t>
            </a:r>
          </a:p>
        </p:txBody>
      </p:sp>
      <p:sp>
        <p:nvSpPr>
          <p:cNvPr id="26" name="Rounded Rectangle 25"/>
          <p:cNvSpPr/>
          <p:nvPr/>
        </p:nvSpPr>
        <p:spPr>
          <a:xfrm>
            <a:off x="614476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27" name="Oval 26"/>
          <p:cNvSpPr/>
          <p:nvPr/>
        </p:nvSpPr>
        <p:spPr>
          <a:xfrm>
            <a:off x="6327648" y="2258568"/>
            <a:ext cx="475488" cy="475488"/>
          </a:xfrm>
          <a:prstGeom prst="ellipse">
            <a:avLst/>
          </a:prstGeom>
          <a:solidFill>
            <a:srgbClr val="E7F4F4"/>
          </a:solidFill>
          <a:ln>
            <a:noFill/>
          </a:ln>
          <a:effectLst/>
        </p:spPr>
        <p:txBody>
          <a:bodyPr rtlCol="0" anchor="ctr"/>
          <a:lstStyle/>
          <a:p>
            <a:pPr algn="ctr"/>
          </a:p>
        </p:txBody>
      </p:sp>
      <p:pic>
        <p:nvPicPr>
          <p:cNvPr id="28" name="Picture 27" descr="cpu_0E8A8A_256_2.0.png"/>
          <p:cNvPicPr>
            <a:picLocks noChangeAspect="1"/>
          </p:cNvPicPr>
          <p:nvPr/>
        </p:nvPicPr>
        <p:blipFill>
          <a:blip r:embed="rId4"/>
          <a:stretch>
            <a:fillRect/>
          </a:stretch>
        </p:blipFill>
        <p:spPr>
          <a:xfrm>
            <a:off x="6441765" y="2372685"/>
            <a:ext cx="247253" cy="247253"/>
          </a:xfrm>
          <a:prstGeom prst="rect">
            <a:avLst/>
          </a:prstGeom>
        </p:spPr>
      </p:pic>
      <p:sp>
        <p:nvSpPr>
          <p:cNvPr id="29" name="TextBox 28"/>
          <p:cNvSpPr txBox="1"/>
          <p:nvPr/>
        </p:nvSpPr>
        <p:spPr>
          <a:xfrm>
            <a:off x="632764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3 · Technology</a:t>
            </a:r>
          </a:p>
        </p:txBody>
      </p:sp>
      <p:sp>
        <p:nvSpPr>
          <p:cNvPr id="30" name="TextBox 29"/>
          <p:cNvSpPr txBox="1"/>
          <p:nvPr/>
        </p:nvSpPr>
        <p:spPr>
          <a:xfrm>
            <a:off x="632764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Dashboards, AI and WhatsApp tools that fit how officials already work.</a:t>
            </a:r>
          </a:p>
        </p:txBody>
      </p:sp>
      <p:cxnSp>
        <p:nvCxnSpPr>
          <p:cNvPr id="31" name="Connector 30"/>
          <p:cNvCxnSpPr/>
          <p:nvPr/>
        </p:nvCxnSpPr>
        <p:spPr>
          <a:xfrm>
            <a:off x="6327648" y="4270248"/>
            <a:ext cx="2304288" cy="0"/>
          </a:xfrm>
          <a:prstGeom prst="line">
            <a:avLst/>
          </a:prstGeom>
          <a:ln w="9525">
            <a:solidFill>
              <a:srgbClr val="E8E9EE"/>
            </a:solidFill>
          </a:ln>
          <a:effectLst/>
        </p:spPr>
      </p:cxnSp>
      <p:sp>
        <p:nvSpPr>
          <p:cNvPr id="32" name="TextBox 31"/>
          <p:cNvSpPr txBox="1"/>
          <p:nvPr/>
        </p:nvSpPr>
        <p:spPr>
          <a:xfrm>
            <a:off x="632764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6 live public products</a:t>
            </a:r>
          </a:p>
        </p:txBody>
      </p:sp>
      <p:sp>
        <p:nvSpPr>
          <p:cNvPr id="33" name="TextBox 32"/>
          <p:cNvSpPr txBox="1"/>
          <p:nvPr/>
        </p:nvSpPr>
        <p:spPr>
          <a:xfrm>
            <a:off x="6327648" y="4361688"/>
            <a:ext cx="2304288" cy="502920"/>
          </a:xfrm>
          <a:prstGeom prst="rect">
            <a:avLst/>
          </a:prstGeom>
          <a:noFill/>
        </p:spPr>
        <p:txBody>
          <a:bodyPr wrap="square" lIns="0" rIns="0" tIns="0" bIns="0" anchor="t">
            <a:spAutoFit/>
          </a:bodyPr>
          <a:lstStyle/>
          <a:p>
            <a:pPr algn="l">
              <a:lnSpc>
                <a:spcPct val="125000"/>
              </a:lnSpc>
            </a:pPr>
            <a:r>
              <a:rPr sz="850" b="1" i="0">
                <a:solidFill>
                  <a:srgbClr val="0E8A8A"/>
                </a:solidFill>
                <a:latin typeface="Montserrat"/>
              </a:rPr>
              <a:t>6 live public products</a:t>
            </a:r>
          </a:p>
        </p:txBody>
      </p:sp>
      <p:sp>
        <p:nvSpPr>
          <p:cNvPr id="34" name="TextBox 33"/>
          <p:cNvSpPr txBox="1"/>
          <p:nvPr/>
        </p:nvSpPr>
        <p:spPr>
          <a:xfrm>
            <a:off x="8787384" y="3291840"/>
            <a:ext cx="201168" cy="365760"/>
          </a:xfrm>
          <a:prstGeom prst="rect">
            <a:avLst/>
          </a:prstGeom>
          <a:noFill/>
        </p:spPr>
        <p:txBody>
          <a:bodyPr wrap="square" lIns="0" rIns="0" tIns="0" bIns="0" anchor="t">
            <a:spAutoFit/>
          </a:bodyPr>
          <a:lstStyle/>
          <a:p>
            <a:pPr algn="l">
              <a:lnSpc>
                <a:spcPct val="128000"/>
              </a:lnSpc>
            </a:pPr>
            <a:r>
              <a:rPr sz="1500" b="0" i="0">
                <a:solidFill>
                  <a:srgbClr val="6E7180"/>
                </a:solidFill>
                <a:latin typeface="Geist"/>
              </a:rPr>
              <a:t>→</a:t>
            </a:r>
          </a:p>
        </p:txBody>
      </p:sp>
      <p:sp>
        <p:nvSpPr>
          <p:cNvPr id="35" name="Rounded Rectangle 34"/>
          <p:cNvSpPr/>
          <p:nvPr/>
        </p:nvSpPr>
        <p:spPr>
          <a:xfrm>
            <a:off x="8933688" y="2057400"/>
            <a:ext cx="2670048" cy="288036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36" name="Oval 35"/>
          <p:cNvSpPr/>
          <p:nvPr/>
        </p:nvSpPr>
        <p:spPr>
          <a:xfrm>
            <a:off x="9116568" y="2258568"/>
            <a:ext cx="475488" cy="475488"/>
          </a:xfrm>
          <a:prstGeom prst="ellipse">
            <a:avLst/>
          </a:prstGeom>
          <a:solidFill>
            <a:srgbClr val="FDF3E3"/>
          </a:solidFill>
          <a:ln>
            <a:noFill/>
          </a:ln>
          <a:effectLst/>
        </p:spPr>
        <p:txBody>
          <a:bodyPr rtlCol="0" anchor="ctr"/>
          <a:lstStyle/>
          <a:p>
            <a:pPr algn="ctr"/>
          </a:p>
        </p:txBody>
      </p:sp>
      <p:pic>
        <p:nvPicPr>
          <p:cNvPr id="37" name="Picture 36" descr="route_E58900_256_2.0.png"/>
          <p:cNvPicPr>
            <a:picLocks noChangeAspect="1"/>
          </p:cNvPicPr>
          <p:nvPr/>
        </p:nvPicPr>
        <p:blipFill>
          <a:blip r:embed="rId5"/>
          <a:stretch>
            <a:fillRect/>
          </a:stretch>
        </p:blipFill>
        <p:spPr>
          <a:xfrm>
            <a:off x="9230685" y="2372685"/>
            <a:ext cx="247253" cy="247253"/>
          </a:xfrm>
          <a:prstGeom prst="rect">
            <a:avLst/>
          </a:prstGeom>
        </p:spPr>
      </p:pic>
      <p:sp>
        <p:nvSpPr>
          <p:cNvPr id="38" name="TextBox 37"/>
          <p:cNvSpPr txBox="1"/>
          <p:nvPr/>
        </p:nvSpPr>
        <p:spPr>
          <a:xfrm>
            <a:off x="9116568" y="2898648"/>
            <a:ext cx="2304288" cy="32004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4 · Follow-through</a:t>
            </a:r>
          </a:p>
        </p:txBody>
      </p:sp>
      <p:sp>
        <p:nvSpPr>
          <p:cNvPr id="39" name="TextBox 38"/>
          <p:cNvSpPr txBox="1"/>
          <p:nvPr/>
        </p:nvSpPr>
        <p:spPr>
          <a:xfrm>
            <a:off x="9116568" y="3264408"/>
            <a:ext cx="2304288" cy="91440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Every recommendation tracked publicly to completion.</a:t>
            </a:r>
          </a:p>
        </p:txBody>
      </p:sp>
      <p:cxnSp>
        <p:nvCxnSpPr>
          <p:cNvPr id="40" name="Connector 39"/>
          <p:cNvCxnSpPr/>
          <p:nvPr/>
        </p:nvCxnSpPr>
        <p:spPr>
          <a:xfrm>
            <a:off x="9116568" y="4270248"/>
            <a:ext cx="2304288" cy="0"/>
          </a:xfrm>
          <a:prstGeom prst="line">
            <a:avLst/>
          </a:prstGeom>
          <a:ln w="9525">
            <a:solidFill>
              <a:srgbClr val="E8E9EE"/>
            </a:solidFill>
          </a:ln>
          <a:effectLst/>
        </p:spPr>
      </p:cxnSp>
      <p:sp>
        <p:nvSpPr>
          <p:cNvPr id="41" name="TextBox 40"/>
          <p:cNvSpPr txBox="1"/>
          <p:nvPr/>
        </p:nvSpPr>
        <p:spPr>
          <a:xfrm>
            <a:off x="9116568" y="4361688"/>
            <a:ext cx="2304288" cy="502920"/>
          </a:xfrm>
          <a:prstGeom prst="rect">
            <a:avLst/>
          </a:prstGeom>
          <a:noFill/>
        </p:spPr>
        <p:txBody>
          <a:bodyPr wrap="square" lIns="0" rIns="0" tIns="0" bIns="0" anchor="t">
            <a:spAutoFit/>
          </a:bodyPr>
          <a:lstStyle/>
          <a:p>
            <a:pPr algn="l">
              <a:lnSpc>
                <a:spcPct val="125000"/>
              </a:lnSpc>
            </a:pPr>
            <a:r>
              <a:rPr sz="850" b="1" i="0">
                <a:solidFill>
                  <a:srgbClr val="16181D"/>
                </a:solidFill>
                <a:latin typeface="Montserrat"/>
              </a:rPr>
              <a:t>7 sites fully implemented · 6 more partially</a:t>
            </a:r>
          </a:p>
        </p:txBody>
      </p:sp>
      <p:sp>
        <p:nvSpPr>
          <p:cNvPr id="42" name="TextBox 41"/>
          <p:cNvSpPr txBox="1"/>
          <p:nvPr/>
        </p:nvSpPr>
        <p:spPr>
          <a:xfrm>
            <a:off x="9116568" y="4361688"/>
            <a:ext cx="2304288" cy="502920"/>
          </a:xfrm>
          <a:prstGeom prst="rect">
            <a:avLst/>
          </a:prstGeom>
          <a:noFill/>
        </p:spPr>
        <p:txBody>
          <a:bodyPr wrap="square" lIns="0" rIns="0" tIns="0" bIns="0" anchor="t">
            <a:spAutoFit/>
          </a:bodyPr>
          <a:lstStyle/>
          <a:p>
            <a:pPr algn="l">
              <a:lnSpc>
                <a:spcPct val="125000"/>
              </a:lnSpc>
            </a:pPr>
            <a:r>
              <a:rPr sz="850" b="1" i="0">
                <a:solidFill>
                  <a:srgbClr val="E58900"/>
                </a:solidFill>
                <a:latin typeface="Montserrat"/>
              </a:rPr>
              <a:t>7 sites fully implemented · 6 more partially</a:t>
            </a:r>
          </a:p>
        </p:txBody>
      </p:sp>
      <p:sp>
        <p:nvSpPr>
          <p:cNvPr id="43" name="Rounded Rectangle 42"/>
          <p:cNvSpPr/>
          <p:nvPr/>
        </p:nvSpPr>
        <p:spPr>
          <a:xfrm>
            <a:off x="566928" y="5257800"/>
            <a:ext cx="11057839" cy="640080"/>
          </a:xfrm>
          <a:prstGeom prst="roundRect">
            <a:avLst>
              <a:gd name="adj" fmla="val 14000"/>
            </a:avLst>
          </a:prstGeom>
          <a:solidFill>
            <a:srgbClr val="F7F7FA"/>
          </a:solidFill>
          <a:ln>
            <a:noFill/>
          </a:ln>
          <a:effectLst/>
        </p:spPr>
        <p:txBody>
          <a:bodyPr rtlCol="0" anchor="ctr"/>
          <a:lstStyle/>
          <a:p>
            <a:pPr algn="ctr"/>
          </a:p>
        </p:txBody>
      </p:sp>
      <p:sp>
        <p:nvSpPr>
          <p:cNvPr id="44" name="TextBox 43"/>
          <p:cNvSpPr txBox="1"/>
          <p:nvPr/>
        </p:nvSpPr>
        <p:spPr>
          <a:xfrm>
            <a:off x="795528" y="5358384"/>
            <a:ext cx="10600639" cy="457200"/>
          </a:xfrm>
          <a:prstGeom prst="rect">
            <a:avLst/>
          </a:prstGeom>
          <a:noFill/>
        </p:spPr>
        <p:txBody>
          <a:bodyPr wrap="square" lIns="0" rIns="0" tIns="0" bIns="0" anchor="t">
            <a:spAutoFit/>
          </a:bodyPr>
          <a:lstStyle/>
          <a:p>
            <a:pPr algn="l">
              <a:lnSpc>
                <a:spcPct val="130000"/>
              </a:lnSpc>
            </a:pPr>
            <a:r>
              <a:rPr sz="1100" b="1" i="0">
                <a:solidFill>
                  <a:srgbClr val="16181D"/>
                </a:solidFill>
                <a:latin typeface="Geist"/>
              </a:rPr>
              <a:t>We do not replace the system and we do not campaign against it. </a:t>
            </a:r>
            <a:r>
              <a:rPr sz="1100" b="0" i="0">
                <a:solidFill>
                  <a:srgbClr val="6E7180"/>
                </a:solidFill>
                <a:latin typeface="Geist"/>
              </a:rPr>
              <a:t>We add hands, evidence and tools to work the system has already committed to.</a:t>
            </a:r>
          </a:p>
        </p:txBody>
      </p:sp>
      <p:cxnSp>
        <p:nvCxnSpPr>
          <p:cNvPr id="45" name="Connector 44"/>
          <p:cNvCxnSpPr/>
          <p:nvPr/>
        </p:nvCxnSpPr>
        <p:spPr>
          <a:xfrm>
            <a:off x="566928" y="6455664"/>
            <a:ext cx="11057839" cy="0"/>
          </a:xfrm>
          <a:prstGeom prst="line">
            <a:avLst/>
          </a:prstGeom>
          <a:ln w="9525">
            <a:solidFill>
              <a:srgbClr val="E8E9EE"/>
            </a:solidFill>
          </a:ln>
          <a:effectLst/>
        </p:spPr>
      </p:cxnSp>
      <p:sp>
        <p:nvSpPr>
          <p:cNvPr id="46" name="TextBox 4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47" name="TextBox 4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05 / 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1 OF 5  ·  ABOUT US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WHY WORKING GROUP 5</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Why Working Group 5, </a:t>
            </a:r>
            <a:r>
              <a:rPr sz="2250" b="1" i="0">
                <a:solidFill>
                  <a:srgbClr val="4A35FF"/>
                </a:solidFill>
                <a:latin typeface="Montserrat"/>
              </a:rPr>
              <a:t>and what we bring to it</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The Group's mandate matches the deepest part of our portfolio. Three focus areas where we are ready on day one.</a:t>
            </a:r>
          </a:p>
        </p:txBody>
      </p:sp>
      <p:sp>
        <p:nvSpPr>
          <p:cNvPr id="8" name="Oval 7"/>
          <p:cNvSpPr/>
          <p:nvPr/>
        </p:nvSpPr>
        <p:spPr>
          <a:xfrm>
            <a:off x="566928" y="2011680"/>
            <a:ext cx="365760" cy="365760"/>
          </a:xfrm>
          <a:prstGeom prst="ellipse">
            <a:avLst/>
          </a:prstGeom>
          <a:solidFill>
            <a:srgbClr val="EFEDFF"/>
          </a:solidFill>
          <a:ln>
            <a:noFill/>
          </a:ln>
          <a:effectLst/>
        </p:spPr>
        <p:txBody>
          <a:bodyPr rtlCol="0" anchor="ctr"/>
          <a:lstStyle/>
          <a:p>
            <a:pPr algn="ctr"/>
          </a:p>
        </p:txBody>
      </p:sp>
      <p:pic>
        <p:nvPicPr>
          <p:cNvPr id="9" name="Picture 8" descr="banknote_4A35FF_256_2.0.png"/>
          <p:cNvPicPr>
            <a:picLocks noChangeAspect="1"/>
          </p:cNvPicPr>
          <p:nvPr/>
        </p:nvPicPr>
        <p:blipFill>
          <a:blip r:embed="rId2"/>
          <a:stretch>
            <a:fillRect/>
          </a:stretch>
        </p:blipFill>
        <p:spPr>
          <a:xfrm>
            <a:off x="654710" y="2099462"/>
            <a:ext cx="190195" cy="190195"/>
          </a:xfrm>
          <a:prstGeom prst="rect">
            <a:avLst/>
          </a:prstGeom>
        </p:spPr>
      </p:pic>
      <p:sp>
        <p:nvSpPr>
          <p:cNvPr id="10" name="TextBox 9"/>
          <p:cNvSpPr txBox="1"/>
          <p:nvPr/>
        </p:nvSpPr>
        <p:spPr>
          <a:xfrm>
            <a:off x="1097280" y="19933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Clearing the compensation pipeline</a:t>
            </a:r>
          </a:p>
        </p:txBody>
      </p:sp>
      <p:sp>
        <p:nvSpPr>
          <p:cNvPr id="11" name="TextBox 10"/>
          <p:cNvSpPr txBox="1"/>
          <p:nvPr/>
        </p:nvSpPr>
        <p:spPr>
          <a:xfrm>
            <a:off x="3566160" y="1993392"/>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Pendency is measured in years and thousands of crores. Our district work shows exactly where files stall, and how visibility clears them.</a:t>
            </a:r>
          </a:p>
        </p:txBody>
      </p:sp>
      <p:sp>
        <p:nvSpPr>
          <p:cNvPr id="12" name="Oval 11"/>
          <p:cNvSpPr/>
          <p:nvPr/>
        </p:nvSpPr>
        <p:spPr>
          <a:xfrm>
            <a:off x="566928" y="2907792"/>
            <a:ext cx="365760" cy="365760"/>
          </a:xfrm>
          <a:prstGeom prst="ellipse">
            <a:avLst/>
          </a:prstGeom>
          <a:solidFill>
            <a:srgbClr val="E9F7F0"/>
          </a:solidFill>
          <a:ln>
            <a:noFill/>
          </a:ln>
          <a:effectLst/>
        </p:spPr>
        <p:txBody>
          <a:bodyPr rtlCol="0" anchor="ctr"/>
          <a:lstStyle/>
          <a:p>
            <a:pPr algn="ctr"/>
          </a:p>
        </p:txBody>
      </p:sp>
      <p:pic>
        <p:nvPicPr>
          <p:cNvPr id="13" name="Picture 12" descr="bot_0A9955_256_2.0.png"/>
          <p:cNvPicPr>
            <a:picLocks noChangeAspect="1"/>
          </p:cNvPicPr>
          <p:nvPr/>
        </p:nvPicPr>
        <p:blipFill>
          <a:blip r:embed="rId3"/>
          <a:stretch>
            <a:fillRect/>
          </a:stretch>
        </p:blipFill>
        <p:spPr>
          <a:xfrm>
            <a:off x="654710" y="2995574"/>
            <a:ext cx="190195" cy="190195"/>
          </a:xfrm>
          <a:prstGeom prst="rect">
            <a:avLst/>
          </a:prstGeom>
        </p:spPr>
      </p:pic>
      <p:sp>
        <p:nvSpPr>
          <p:cNvPr id="14" name="TextBox 13"/>
          <p:cNvSpPr txBox="1"/>
          <p:nvPr/>
        </p:nvSpPr>
        <p:spPr>
          <a:xfrm>
            <a:off x="1097280" y="2889504"/>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Victim-facing standards &amp; tools</a:t>
            </a:r>
          </a:p>
        </p:txBody>
      </p:sp>
      <p:sp>
        <p:nvSpPr>
          <p:cNvPr id="15" name="TextBox 14"/>
          <p:cNvSpPr txBox="1"/>
          <p:nvPr/>
        </p:nvSpPr>
        <p:spPr>
          <a:xfrm>
            <a:off x="3566160" y="2889504"/>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Aasha, the calculator, guides and helpdesks, working models for the citizen-facing standards WG-5 will set.</a:t>
            </a:r>
          </a:p>
        </p:txBody>
      </p:sp>
      <p:sp>
        <p:nvSpPr>
          <p:cNvPr id="16" name="Oval 15"/>
          <p:cNvSpPr/>
          <p:nvPr/>
        </p:nvSpPr>
        <p:spPr>
          <a:xfrm>
            <a:off x="566928" y="3803904"/>
            <a:ext cx="365760" cy="365760"/>
          </a:xfrm>
          <a:prstGeom prst="ellipse">
            <a:avLst/>
          </a:prstGeom>
          <a:solidFill>
            <a:srgbClr val="E7F4F4"/>
          </a:solidFill>
          <a:ln>
            <a:noFill/>
          </a:ln>
          <a:effectLst/>
        </p:spPr>
        <p:txBody>
          <a:bodyPr rtlCol="0" anchor="ctr"/>
          <a:lstStyle/>
          <a:p>
            <a:pPr algn="ctr"/>
          </a:p>
        </p:txBody>
      </p:sp>
      <p:pic>
        <p:nvPicPr>
          <p:cNvPr id="17" name="Picture 16" descr="stethoscope_0E8A8A_256_2.0.png"/>
          <p:cNvPicPr>
            <a:picLocks noChangeAspect="1"/>
          </p:cNvPicPr>
          <p:nvPr/>
        </p:nvPicPr>
        <p:blipFill>
          <a:blip r:embed="rId4"/>
          <a:stretch>
            <a:fillRect/>
          </a:stretch>
        </p:blipFill>
        <p:spPr>
          <a:xfrm>
            <a:off x="654710" y="3891686"/>
            <a:ext cx="190195" cy="190195"/>
          </a:xfrm>
          <a:prstGeom prst="rect">
            <a:avLst/>
          </a:prstGeom>
        </p:spPr>
      </p:pic>
      <p:sp>
        <p:nvSpPr>
          <p:cNvPr id="18" name="TextBox 17"/>
          <p:cNvSpPr txBox="1"/>
          <p:nvPr/>
        </p:nvSpPr>
        <p:spPr>
          <a:xfrm>
            <a:off x="1097280" y="378561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EMS &amp; trauma-care evidence</a:t>
            </a:r>
          </a:p>
        </p:txBody>
      </p:sp>
      <p:sp>
        <p:nvSpPr>
          <p:cNvPr id="19" name="TextBox 18"/>
          <p:cNvSpPr txBox="1"/>
          <p:nvPr/>
        </p:nvSpPr>
        <p:spPr>
          <a:xfrm>
            <a:off x="3566160" y="3785616"/>
            <a:ext cx="361188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The Pre-Hospital Care Primer benchmarks ERSS-112 and documents state innovations, a ready baseline for care standards.</a:t>
            </a:r>
          </a:p>
        </p:txBody>
      </p:sp>
      <p:sp>
        <p:nvSpPr>
          <p:cNvPr id="20" name="TextBox 19"/>
          <p:cNvSpPr txBox="1"/>
          <p:nvPr/>
        </p:nvSpPr>
        <p:spPr>
          <a:xfrm>
            <a:off x="7452360" y="1920240"/>
            <a:ext cx="4023360" cy="237744"/>
          </a:xfrm>
          <a:prstGeom prst="rect">
            <a:avLst/>
          </a:prstGeom>
          <a:noFill/>
        </p:spPr>
        <p:txBody>
          <a:bodyPr wrap="square" lIns="0" rIns="0" tIns="0" bIns="0" anchor="t">
            <a:spAutoFit/>
          </a:bodyPr>
          <a:lstStyle/>
          <a:p>
            <a:pPr algn="l">
              <a:lnSpc>
                <a:spcPct val="128000"/>
              </a:lnSpc>
            </a:pPr>
            <a:r>
              <a:rPr sz="850" b="1" i="0" spc="140">
                <a:solidFill>
                  <a:srgbClr val="6E7180"/>
                </a:solidFill>
                <a:latin typeface="Montserrat"/>
              </a:rPr>
              <a:t>EXISTING CAPABILITIES WE PUT ON THE TABLE</a:t>
            </a:r>
          </a:p>
        </p:txBody>
      </p:sp>
      <p:sp>
        <p:nvSpPr>
          <p:cNvPr id="21" name="Rounded Rectangle 20"/>
          <p:cNvSpPr/>
          <p:nvPr/>
        </p:nvSpPr>
        <p:spPr>
          <a:xfrm>
            <a:off x="7452360" y="2212848"/>
            <a:ext cx="2048256" cy="402336"/>
          </a:xfrm>
          <a:prstGeom prst="roundRect">
            <a:avLst>
              <a:gd name="adj" fmla="val 50000"/>
            </a:avLst>
          </a:prstGeom>
          <a:solidFill>
            <a:srgbClr val="EFEDFF"/>
          </a:solidFill>
          <a:ln>
            <a:noFill/>
          </a:ln>
          <a:effectLst/>
        </p:spPr>
        <p:txBody>
          <a:bodyPr rtlCol="0" anchor="ctr"/>
          <a:lstStyle/>
          <a:p>
            <a:pPr algn="ctr"/>
          </a:p>
        </p:txBody>
      </p:sp>
      <p:sp>
        <p:nvSpPr>
          <p:cNvPr id="22" name="TextBox 21"/>
          <p:cNvSpPr txBox="1"/>
          <p:nvPr/>
        </p:nvSpPr>
        <p:spPr>
          <a:xfrm>
            <a:off x="7470648" y="2212848"/>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Justice Unserved evidence</a:t>
            </a:r>
          </a:p>
        </p:txBody>
      </p:sp>
      <p:sp>
        <p:nvSpPr>
          <p:cNvPr id="23" name="Rounded Rectangle 22"/>
          <p:cNvSpPr/>
          <p:nvPr/>
        </p:nvSpPr>
        <p:spPr>
          <a:xfrm>
            <a:off x="9573768" y="2212848"/>
            <a:ext cx="2048256" cy="402336"/>
          </a:xfrm>
          <a:prstGeom prst="roundRect">
            <a:avLst>
              <a:gd name="adj" fmla="val 50000"/>
            </a:avLst>
          </a:prstGeom>
          <a:solidFill>
            <a:srgbClr val="EFEDFF"/>
          </a:solidFill>
          <a:ln>
            <a:noFill/>
          </a:ln>
          <a:effectLst/>
        </p:spPr>
        <p:txBody>
          <a:bodyPr rtlCol="0" anchor="ctr"/>
          <a:lstStyle/>
          <a:p>
            <a:pPr algn="ctr"/>
          </a:p>
        </p:txBody>
      </p:sp>
      <p:sp>
        <p:nvSpPr>
          <p:cNvPr id="24" name="TextBox 23"/>
          <p:cNvSpPr txBox="1"/>
          <p:nvPr/>
        </p:nvSpPr>
        <p:spPr>
          <a:xfrm>
            <a:off x="9592056" y="2212848"/>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Rajasthan portal blueprint</a:t>
            </a:r>
          </a:p>
        </p:txBody>
      </p:sp>
      <p:sp>
        <p:nvSpPr>
          <p:cNvPr id="25" name="Rounded Rectangle 24"/>
          <p:cNvSpPr/>
          <p:nvPr/>
        </p:nvSpPr>
        <p:spPr>
          <a:xfrm>
            <a:off x="7452360" y="2688336"/>
            <a:ext cx="2048256" cy="402336"/>
          </a:xfrm>
          <a:prstGeom prst="roundRect">
            <a:avLst>
              <a:gd name="adj" fmla="val 50000"/>
            </a:avLst>
          </a:prstGeom>
          <a:solidFill>
            <a:srgbClr val="EFEDFF"/>
          </a:solidFill>
          <a:ln>
            <a:noFill/>
          </a:ln>
          <a:effectLst/>
        </p:spPr>
        <p:txBody>
          <a:bodyPr rtlCol="0" anchor="ctr"/>
          <a:lstStyle/>
          <a:p>
            <a:pPr algn="ctr"/>
          </a:p>
        </p:txBody>
      </p:sp>
      <p:sp>
        <p:nvSpPr>
          <p:cNvPr id="26" name="TextBox 25"/>
          <p:cNvSpPr txBox="1"/>
          <p:nvPr/>
        </p:nvSpPr>
        <p:spPr>
          <a:xfrm>
            <a:off x="7470648" y="2688336"/>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4 DRSC working seats</a:t>
            </a:r>
          </a:p>
        </p:txBody>
      </p:sp>
      <p:sp>
        <p:nvSpPr>
          <p:cNvPr id="27" name="Rounded Rectangle 26"/>
          <p:cNvSpPr/>
          <p:nvPr/>
        </p:nvSpPr>
        <p:spPr>
          <a:xfrm>
            <a:off x="9573768" y="2688336"/>
            <a:ext cx="2048256" cy="402336"/>
          </a:xfrm>
          <a:prstGeom prst="roundRect">
            <a:avLst>
              <a:gd name="adj" fmla="val 50000"/>
            </a:avLst>
          </a:prstGeom>
          <a:solidFill>
            <a:srgbClr val="EFEDFF"/>
          </a:solidFill>
          <a:ln>
            <a:noFill/>
          </a:ln>
          <a:effectLst/>
        </p:spPr>
        <p:txBody>
          <a:bodyPr rtlCol="0" anchor="ctr"/>
          <a:lstStyle/>
          <a:p>
            <a:pPr algn="ctr"/>
          </a:p>
        </p:txBody>
      </p:sp>
      <p:sp>
        <p:nvSpPr>
          <p:cNvPr id="28" name="TextBox 27"/>
          <p:cNvSpPr txBox="1"/>
          <p:nvPr/>
        </p:nvSpPr>
        <p:spPr>
          <a:xfrm>
            <a:off x="9592056" y="2688336"/>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Legal bench: MACT + DLSA</a:t>
            </a:r>
          </a:p>
        </p:txBody>
      </p:sp>
      <p:sp>
        <p:nvSpPr>
          <p:cNvPr id="29" name="Rounded Rectangle 28"/>
          <p:cNvSpPr/>
          <p:nvPr/>
        </p:nvSpPr>
        <p:spPr>
          <a:xfrm>
            <a:off x="7452360" y="3163824"/>
            <a:ext cx="2048256" cy="402336"/>
          </a:xfrm>
          <a:prstGeom prst="roundRect">
            <a:avLst>
              <a:gd name="adj" fmla="val 50000"/>
            </a:avLst>
          </a:prstGeom>
          <a:solidFill>
            <a:srgbClr val="EFEDFF"/>
          </a:solidFill>
          <a:ln>
            <a:noFill/>
          </a:ln>
          <a:effectLst/>
        </p:spPr>
        <p:txBody>
          <a:bodyPr rtlCol="0" anchor="ctr"/>
          <a:lstStyle/>
          <a:p>
            <a:pPr algn="ctr"/>
          </a:p>
        </p:txBody>
      </p:sp>
      <p:sp>
        <p:nvSpPr>
          <p:cNvPr id="30" name="TextBox 29"/>
          <p:cNvSpPr txBox="1"/>
          <p:nvPr/>
        </p:nvSpPr>
        <p:spPr>
          <a:xfrm>
            <a:off x="7470648" y="3163824"/>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Aasha + calculator live</a:t>
            </a:r>
          </a:p>
        </p:txBody>
      </p:sp>
      <p:sp>
        <p:nvSpPr>
          <p:cNvPr id="31" name="Rounded Rectangle 30"/>
          <p:cNvSpPr/>
          <p:nvPr/>
        </p:nvSpPr>
        <p:spPr>
          <a:xfrm>
            <a:off x="9573768" y="3163824"/>
            <a:ext cx="2048256" cy="402336"/>
          </a:xfrm>
          <a:prstGeom prst="roundRect">
            <a:avLst>
              <a:gd name="adj" fmla="val 50000"/>
            </a:avLst>
          </a:prstGeom>
          <a:solidFill>
            <a:srgbClr val="EFEDFF"/>
          </a:solidFill>
          <a:ln>
            <a:noFill/>
          </a:ln>
          <a:effectLst/>
        </p:spPr>
        <p:txBody>
          <a:bodyPr rtlCol="0" anchor="ctr"/>
          <a:lstStyle/>
          <a:p>
            <a:pPr algn="ctr"/>
          </a:p>
        </p:txBody>
      </p:sp>
      <p:sp>
        <p:nvSpPr>
          <p:cNvPr id="32" name="TextBox 31"/>
          <p:cNvSpPr txBox="1"/>
          <p:nvPr/>
        </p:nvSpPr>
        <p:spPr>
          <a:xfrm>
            <a:off x="9592056" y="3163824"/>
            <a:ext cx="2011680" cy="402336"/>
          </a:xfrm>
          <a:prstGeom prst="rect">
            <a:avLst/>
          </a:prstGeom>
          <a:noFill/>
        </p:spPr>
        <p:txBody>
          <a:bodyPr wrap="square" lIns="0" rIns="0" tIns="0" bIns="0" anchor="ctr">
            <a:spAutoFit/>
          </a:bodyPr>
          <a:lstStyle/>
          <a:p>
            <a:pPr algn="ctr">
              <a:lnSpc>
                <a:spcPct val="100000"/>
              </a:lnSpc>
            </a:pPr>
            <a:r>
              <a:rPr sz="850" b="1" i="0">
                <a:solidFill>
                  <a:srgbClr val="4A35FF"/>
                </a:solidFill>
                <a:latin typeface="Montserrat"/>
              </a:rPr>
              <a:t>Trauma-ward helpdesks</a:t>
            </a:r>
          </a:p>
        </p:txBody>
      </p:sp>
      <p:sp>
        <p:nvSpPr>
          <p:cNvPr id="33" name="TextBox 32"/>
          <p:cNvSpPr txBox="1"/>
          <p:nvPr/>
        </p:nvSpPr>
        <p:spPr>
          <a:xfrm>
            <a:off x="566928" y="4709160"/>
            <a:ext cx="10972800" cy="237744"/>
          </a:xfrm>
          <a:prstGeom prst="rect">
            <a:avLst/>
          </a:prstGeom>
          <a:noFill/>
        </p:spPr>
        <p:txBody>
          <a:bodyPr wrap="square" lIns="0" rIns="0" tIns="0" bIns="0" anchor="t">
            <a:spAutoFit/>
          </a:bodyPr>
          <a:lstStyle/>
          <a:p>
            <a:pPr algn="l">
              <a:lnSpc>
                <a:spcPct val="128000"/>
              </a:lnSpc>
            </a:pPr>
            <a:r>
              <a:rPr sz="850" b="1" i="0" spc="140">
                <a:solidFill>
                  <a:srgbClr val="6E7180"/>
                </a:solidFill>
                <a:latin typeface="Montserrat"/>
              </a:rPr>
              <a:t>SUBJECT-MATTER EXPERTS ALREADY ENGAGED ON THIS AGENDA</a:t>
            </a:r>
          </a:p>
        </p:txBody>
      </p:sp>
      <p:sp>
        <p:nvSpPr>
          <p:cNvPr id="34" name="Rounded Rectangle 33"/>
          <p:cNvSpPr/>
          <p:nvPr/>
        </p:nvSpPr>
        <p:spPr>
          <a:xfrm>
            <a:off x="566928" y="4983480"/>
            <a:ext cx="2145731" cy="1097280"/>
          </a:xfrm>
          <a:prstGeom prst="roundRect">
            <a:avLst>
              <a:gd name="adj" fmla="val 10000"/>
            </a:avLst>
          </a:prstGeom>
          <a:solidFill>
            <a:srgbClr val="F7F7FA"/>
          </a:solidFill>
          <a:ln>
            <a:noFill/>
          </a:ln>
          <a:effectLst/>
        </p:spPr>
        <p:txBody>
          <a:bodyPr rtlCol="0" anchor="ctr"/>
          <a:lstStyle/>
          <a:p>
            <a:pPr algn="ctr"/>
          </a:p>
        </p:txBody>
      </p:sp>
      <p:pic>
        <p:nvPicPr>
          <p:cNvPr id="35" name="Picture 34" descr="x_pp_midha.png"/>
          <p:cNvPicPr>
            <a:picLocks noChangeAspect="1"/>
          </p:cNvPicPr>
          <p:nvPr/>
        </p:nvPicPr>
        <p:blipFill>
          <a:blip r:embed="rId5"/>
          <a:stretch>
            <a:fillRect/>
          </a:stretch>
        </p:blipFill>
        <p:spPr>
          <a:xfrm>
            <a:off x="676656" y="5138928"/>
            <a:ext cx="777240" cy="777240"/>
          </a:xfrm>
          <a:prstGeom prst="rect">
            <a:avLst/>
          </a:prstGeom>
        </p:spPr>
      </p:pic>
      <p:sp>
        <p:nvSpPr>
          <p:cNvPr id="36" name="TextBox 35"/>
          <p:cNvSpPr txBox="1"/>
          <p:nvPr/>
        </p:nvSpPr>
        <p:spPr>
          <a:xfrm>
            <a:off x="1536192" y="4983480"/>
            <a:ext cx="1094171" cy="1097280"/>
          </a:xfrm>
          <a:prstGeom prst="rect">
            <a:avLst/>
          </a:prstGeom>
          <a:noFill/>
        </p:spPr>
        <p:txBody>
          <a:bodyPr wrap="square" lIns="0" rIns="0" tIns="0" bIns="0" anchor="ctr">
            <a:spAutoFit/>
          </a:bodyPr>
          <a:lstStyle/>
          <a:p>
            <a:pPr algn="l">
              <a:lnSpc>
                <a:spcPct val="112000"/>
              </a:lnSpc>
            </a:pPr>
            <a:r>
              <a:rPr sz="900" b="1" i="0">
                <a:solidFill>
                  <a:srgbClr val="16181D"/>
                </a:solidFill>
                <a:latin typeface="Montserrat"/>
              </a:rPr>
              <a:t>Justice J.R. Midha</a:t>
            </a:r>
            <a:r>
              <a:rPr sz="750" b="0" i="0">
                <a:solidFill>
                  <a:srgbClr val="6E7180"/>
                </a:solidFill>
                <a:latin typeface="Montserrat"/>
              </a:rPr>
              <a:t>
Retd., Delhi HC · MACT process architect</a:t>
            </a:r>
          </a:p>
        </p:txBody>
      </p:sp>
      <p:sp>
        <p:nvSpPr>
          <p:cNvPr id="37" name="Rounded Rectangle 36"/>
          <p:cNvSpPr/>
          <p:nvPr/>
        </p:nvSpPr>
        <p:spPr>
          <a:xfrm>
            <a:off x="2794955" y="4983480"/>
            <a:ext cx="2145731" cy="1097280"/>
          </a:xfrm>
          <a:prstGeom prst="roundRect">
            <a:avLst>
              <a:gd name="adj" fmla="val 10000"/>
            </a:avLst>
          </a:prstGeom>
          <a:solidFill>
            <a:srgbClr val="F7F7FA"/>
          </a:solidFill>
          <a:ln>
            <a:noFill/>
          </a:ln>
          <a:effectLst/>
        </p:spPr>
        <p:txBody>
          <a:bodyPr rtlCol="0" anchor="ctr"/>
          <a:lstStyle/>
          <a:p>
            <a:pPr algn="ctr"/>
          </a:p>
        </p:txBody>
      </p:sp>
      <p:pic>
        <p:nvPicPr>
          <p:cNvPr id="38" name="Picture 37" descr="x_tewari.png"/>
          <p:cNvPicPr>
            <a:picLocks noChangeAspect="1"/>
          </p:cNvPicPr>
          <p:nvPr/>
        </p:nvPicPr>
        <p:blipFill>
          <a:blip r:embed="rId6"/>
          <a:stretch>
            <a:fillRect/>
          </a:stretch>
        </p:blipFill>
        <p:spPr>
          <a:xfrm>
            <a:off x="2904683" y="5138928"/>
            <a:ext cx="777240" cy="777240"/>
          </a:xfrm>
          <a:prstGeom prst="rect">
            <a:avLst/>
          </a:prstGeom>
        </p:spPr>
      </p:pic>
      <p:sp>
        <p:nvSpPr>
          <p:cNvPr id="39" name="TextBox 38"/>
          <p:cNvSpPr txBox="1"/>
          <p:nvPr/>
        </p:nvSpPr>
        <p:spPr>
          <a:xfrm>
            <a:off x="3764219" y="4983480"/>
            <a:ext cx="1094171" cy="1097280"/>
          </a:xfrm>
          <a:prstGeom prst="rect">
            <a:avLst/>
          </a:prstGeom>
          <a:noFill/>
        </p:spPr>
        <p:txBody>
          <a:bodyPr wrap="square" lIns="0" rIns="0" tIns="0" bIns="0" anchor="ctr">
            <a:spAutoFit/>
          </a:bodyPr>
          <a:lstStyle/>
          <a:p>
            <a:pPr algn="l">
              <a:lnSpc>
                <a:spcPct val="112000"/>
              </a:lnSpc>
            </a:pPr>
            <a:r>
              <a:rPr sz="900" b="1" i="0">
                <a:solidFill>
                  <a:srgbClr val="16181D"/>
                </a:solidFill>
                <a:latin typeface="Montserrat"/>
              </a:rPr>
              <a:t>Piyush Tewari</a:t>
            </a:r>
            <a:r>
              <a:rPr sz="750" b="0" i="0">
                <a:solidFill>
                  <a:srgbClr val="6E7180"/>
                </a:solidFill>
                <a:latin typeface="Montserrat"/>
              </a:rPr>
              <a:t>
SaveLIFE Foundation · Good Samaritan Law</a:t>
            </a:r>
          </a:p>
        </p:txBody>
      </p:sp>
      <p:sp>
        <p:nvSpPr>
          <p:cNvPr id="40" name="Rounded Rectangle 39"/>
          <p:cNvSpPr/>
          <p:nvPr/>
        </p:nvSpPr>
        <p:spPr>
          <a:xfrm>
            <a:off x="5022982" y="4983480"/>
            <a:ext cx="2145731" cy="1097280"/>
          </a:xfrm>
          <a:prstGeom prst="roundRect">
            <a:avLst>
              <a:gd name="adj" fmla="val 10000"/>
            </a:avLst>
          </a:prstGeom>
          <a:solidFill>
            <a:srgbClr val="F7F7FA"/>
          </a:solidFill>
          <a:ln>
            <a:noFill/>
          </a:ln>
          <a:effectLst/>
        </p:spPr>
        <p:txBody>
          <a:bodyPr rtlCol="0" anchor="ctr"/>
          <a:lstStyle/>
          <a:p>
            <a:pPr algn="ctr"/>
          </a:p>
        </p:txBody>
      </p:sp>
      <p:pic>
        <p:nvPicPr>
          <p:cNvPr id="41" name="Picture 40" descr="x_sagar.png"/>
          <p:cNvPicPr>
            <a:picLocks noChangeAspect="1"/>
          </p:cNvPicPr>
          <p:nvPr/>
        </p:nvPicPr>
        <p:blipFill>
          <a:blip r:embed="rId7"/>
          <a:stretch>
            <a:fillRect/>
          </a:stretch>
        </p:blipFill>
        <p:spPr>
          <a:xfrm>
            <a:off x="5132710" y="5138928"/>
            <a:ext cx="777240" cy="777240"/>
          </a:xfrm>
          <a:prstGeom prst="rect">
            <a:avLst/>
          </a:prstGeom>
        </p:spPr>
      </p:pic>
      <p:sp>
        <p:nvSpPr>
          <p:cNvPr id="42" name="TextBox 41"/>
          <p:cNvSpPr txBox="1"/>
          <p:nvPr/>
        </p:nvSpPr>
        <p:spPr>
          <a:xfrm>
            <a:off x="5992246" y="4983480"/>
            <a:ext cx="1094171" cy="1097280"/>
          </a:xfrm>
          <a:prstGeom prst="rect">
            <a:avLst/>
          </a:prstGeom>
          <a:noFill/>
        </p:spPr>
        <p:txBody>
          <a:bodyPr wrap="square" lIns="0" rIns="0" tIns="0" bIns="0" anchor="ctr">
            <a:spAutoFit/>
          </a:bodyPr>
          <a:lstStyle/>
          <a:p>
            <a:pPr algn="l">
              <a:lnSpc>
                <a:spcPct val="112000"/>
              </a:lnSpc>
            </a:pPr>
            <a:r>
              <a:rPr sz="900" b="1" i="0">
                <a:solidFill>
                  <a:srgbClr val="16181D"/>
                </a:solidFill>
                <a:latin typeface="Montserrat"/>
              </a:rPr>
              <a:t>Dr. Sushma Sagar</a:t>
            </a:r>
            <a:r>
              <a:rPr sz="750" b="0" i="0">
                <a:solidFill>
                  <a:srgbClr val="6E7180"/>
                </a:solidFill>
                <a:latin typeface="Montserrat"/>
              </a:rPr>
              <a:t>
Prof. &amp; In-charge, Trauma Surgery, JPN Apex Trauma Centre, AIIMS</a:t>
            </a:r>
          </a:p>
        </p:txBody>
      </p:sp>
      <p:sp>
        <p:nvSpPr>
          <p:cNvPr id="43" name="Rounded Rectangle 42"/>
          <p:cNvSpPr/>
          <p:nvPr/>
        </p:nvSpPr>
        <p:spPr>
          <a:xfrm>
            <a:off x="7251009" y="4983480"/>
            <a:ext cx="2145731" cy="1097280"/>
          </a:xfrm>
          <a:prstGeom prst="roundRect">
            <a:avLst>
              <a:gd name="adj" fmla="val 10000"/>
            </a:avLst>
          </a:prstGeom>
          <a:solidFill>
            <a:srgbClr val="F7F7FA"/>
          </a:solidFill>
          <a:ln>
            <a:noFill/>
          </a:ln>
          <a:effectLst/>
        </p:spPr>
        <p:txBody>
          <a:bodyPr rtlCol="0" anchor="ctr"/>
          <a:lstStyle/>
          <a:p>
            <a:pPr algn="ctr"/>
          </a:p>
        </p:txBody>
      </p:sp>
      <p:pic>
        <p:nvPicPr>
          <p:cNvPr id="44" name="Picture 43" descr="x_tandon.png"/>
          <p:cNvPicPr>
            <a:picLocks noChangeAspect="1"/>
          </p:cNvPicPr>
          <p:nvPr/>
        </p:nvPicPr>
        <p:blipFill>
          <a:blip r:embed="rId8"/>
          <a:stretch>
            <a:fillRect/>
          </a:stretch>
        </p:blipFill>
        <p:spPr>
          <a:xfrm>
            <a:off x="7360737" y="5138928"/>
            <a:ext cx="777240" cy="777240"/>
          </a:xfrm>
          <a:prstGeom prst="rect">
            <a:avLst/>
          </a:prstGeom>
        </p:spPr>
      </p:pic>
      <p:sp>
        <p:nvSpPr>
          <p:cNvPr id="45" name="TextBox 44"/>
          <p:cNvSpPr txBox="1"/>
          <p:nvPr/>
        </p:nvSpPr>
        <p:spPr>
          <a:xfrm>
            <a:off x="8220273" y="4983480"/>
            <a:ext cx="1094171" cy="1097280"/>
          </a:xfrm>
          <a:prstGeom prst="rect">
            <a:avLst/>
          </a:prstGeom>
          <a:noFill/>
        </p:spPr>
        <p:txBody>
          <a:bodyPr wrap="square" lIns="0" rIns="0" tIns="0" bIns="0" anchor="ctr">
            <a:spAutoFit/>
          </a:bodyPr>
          <a:lstStyle/>
          <a:p>
            <a:pPr algn="l">
              <a:lnSpc>
                <a:spcPct val="112000"/>
              </a:lnSpc>
            </a:pPr>
            <a:r>
              <a:rPr sz="900" b="1" i="0">
                <a:solidFill>
                  <a:srgbClr val="16181D"/>
                </a:solidFill>
                <a:latin typeface="Montserrat"/>
              </a:rPr>
              <a:t>Dr. Maya Tandon</a:t>
            </a:r>
            <a:r>
              <a:rPr sz="750" b="0" i="0">
                <a:solidFill>
                  <a:srgbClr val="6E7180"/>
                </a:solidFill>
                <a:latin typeface="Montserrat"/>
              </a:rPr>
              <a:t>
Sahayta Trust · trauma-response pioneer</a:t>
            </a:r>
          </a:p>
        </p:txBody>
      </p:sp>
      <p:sp>
        <p:nvSpPr>
          <p:cNvPr id="46" name="Rounded Rectangle 45"/>
          <p:cNvSpPr/>
          <p:nvPr/>
        </p:nvSpPr>
        <p:spPr>
          <a:xfrm>
            <a:off x="9479036" y="4983480"/>
            <a:ext cx="2145731" cy="1097280"/>
          </a:xfrm>
          <a:prstGeom prst="roundRect">
            <a:avLst>
              <a:gd name="adj" fmla="val 10000"/>
            </a:avLst>
          </a:prstGeom>
          <a:solidFill>
            <a:srgbClr val="F7F7FA"/>
          </a:solidFill>
          <a:ln>
            <a:noFill/>
          </a:ln>
          <a:effectLst/>
        </p:spPr>
        <p:txBody>
          <a:bodyPr rtlCol="0" anchor="ctr"/>
          <a:lstStyle/>
          <a:p>
            <a:pPr algn="ctr"/>
          </a:p>
        </p:txBody>
      </p:sp>
      <p:pic>
        <p:nvPicPr>
          <p:cNvPr id="47" name="Picture 46" descr="x_pp_mishika.png"/>
          <p:cNvPicPr>
            <a:picLocks noChangeAspect="1"/>
          </p:cNvPicPr>
          <p:nvPr/>
        </p:nvPicPr>
        <p:blipFill>
          <a:blip r:embed="rId9"/>
          <a:stretch>
            <a:fillRect/>
          </a:stretch>
        </p:blipFill>
        <p:spPr>
          <a:xfrm>
            <a:off x="9588764" y="5138928"/>
            <a:ext cx="777240" cy="777240"/>
          </a:xfrm>
          <a:prstGeom prst="rect">
            <a:avLst/>
          </a:prstGeom>
        </p:spPr>
      </p:pic>
      <p:sp>
        <p:nvSpPr>
          <p:cNvPr id="48" name="TextBox 47"/>
          <p:cNvSpPr txBox="1"/>
          <p:nvPr/>
        </p:nvSpPr>
        <p:spPr>
          <a:xfrm>
            <a:off x="10448300" y="4983480"/>
            <a:ext cx="1094171" cy="1097280"/>
          </a:xfrm>
          <a:prstGeom prst="rect">
            <a:avLst/>
          </a:prstGeom>
          <a:noFill/>
        </p:spPr>
        <p:txBody>
          <a:bodyPr wrap="square" lIns="0" rIns="0" tIns="0" bIns="0" anchor="ctr">
            <a:spAutoFit/>
          </a:bodyPr>
          <a:lstStyle/>
          <a:p>
            <a:pPr algn="l">
              <a:lnSpc>
                <a:spcPct val="112000"/>
              </a:lnSpc>
            </a:pPr>
            <a:r>
              <a:rPr sz="900" b="1" i="0">
                <a:solidFill>
                  <a:srgbClr val="16181D"/>
                </a:solidFill>
                <a:latin typeface="Montserrat"/>
              </a:rPr>
              <a:t>Mishika Singh</a:t>
            </a:r>
            <a:r>
              <a:rPr sz="750" b="0" i="0">
                <a:solidFill>
                  <a:srgbClr val="6E7180"/>
                </a:solidFill>
                <a:latin typeface="Montserrat"/>
              </a:rPr>
              <a:t>
Neev Foundation · legal helpdesks</a:t>
            </a:r>
          </a:p>
        </p:txBody>
      </p:sp>
      <p:cxnSp>
        <p:nvCxnSpPr>
          <p:cNvPr id="49" name="Connector 48"/>
          <p:cNvCxnSpPr/>
          <p:nvPr/>
        </p:nvCxnSpPr>
        <p:spPr>
          <a:xfrm>
            <a:off x="566928" y="6455664"/>
            <a:ext cx="11057839" cy="0"/>
          </a:xfrm>
          <a:prstGeom prst="line">
            <a:avLst/>
          </a:prstGeom>
          <a:ln w="9525">
            <a:solidFill>
              <a:srgbClr val="E8E9EE"/>
            </a:solidFill>
          </a:ln>
          <a:effectLst/>
        </p:spPr>
      </p:cxnSp>
      <p:sp>
        <p:nvSpPr>
          <p:cNvPr id="50" name="TextBox 4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51" name="TextBox 5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06 / 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Six lines of work, </a:t>
            </a:r>
            <a:r>
              <a:rPr sz="2250" b="1" i="0">
                <a:solidFill>
                  <a:srgbClr val="4A35FF"/>
                </a:solidFill>
                <a:latin typeface="Montserrat"/>
              </a:rPr>
              <a:t>one connected system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Audits create data · data supports policy · policy guides the field. Everything below is live today.</a:t>
            </a:r>
          </a:p>
        </p:txBody>
      </p:sp>
      <p:sp>
        <p:nvSpPr>
          <p:cNvPr id="8" name="Rounded Rectangle 7"/>
          <p:cNvSpPr/>
          <p:nvPr/>
        </p:nvSpPr>
        <p:spPr>
          <a:xfrm>
            <a:off x="566928"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9" name="Picture 8" descr="implementation_work.jpg_3.95x1.28_0.30.jpg"/>
          <p:cNvPicPr>
            <a:picLocks noChangeAspect="1"/>
          </p:cNvPicPr>
          <p:nvPr/>
        </p:nvPicPr>
        <p:blipFill>
          <a:blip r:embed="rId2"/>
          <a:stretch>
            <a:fillRect/>
          </a:stretch>
        </p:blipFill>
        <p:spPr>
          <a:xfrm>
            <a:off x="566928" y="1938528"/>
            <a:ext cx="3611880" cy="1170432"/>
          </a:xfrm>
          <a:prstGeom prst="rect">
            <a:avLst/>
          </a:prstGeom>
        </p:spPr>
      </p:pic>
      <p:sp>
        <p:nvSpPr>
          <p:cNvPr id="10" name="Rectangle 9"/>
          <p:cNvSpPr/>
          <p:nvPr/>
        </p:nvSpPr>
        <p:spPr>
          <a:xfrm>
            <a:off x="566928" y="1938528"/>
            <a:ext cx="3611880" cy="1170432"/>
          </a:xfrm>
          <a:prstGeom prst="rect">
            <a:avLst/>
          </a:prstGeom>
          <a:noFill/>
          <a:ln w="12700">
            <a:solidFill>
              <a:srgbClr val="E8E9EE"/>
            </a:solidFill>
          </a:ln>
          <a:effectLst/>
        </p:spPr>
        <p:txBody>
          <a:bodyPr rtlCol="0" anchor="ctr"/>
          <a:lstStyle/>
          <a:p>
            <a:pPr algn="ctr"/>
          </a:p>
        </p:txBody>
      </p:sp>
      <p:sp>
        <p:nvSpPr>
          <p:cNvPr id="11" name="TextBox 10"/>
          <p:cNvSpPr txBox="1"/>
          <p:nvPr/>
        </p:nvSpPr>
        <p:spPr>
          <a:xfrm>
            <a:off x="694944"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Project Rakshak</a:t>
            </a:r>
          </a:p>
        </p:txBody>
      </p:sp>
      <p:sp>
        <p:nvSpPr>
          <p:cNvPr id="12" name="TextBox 11"/>
          <p:cNvSpPr txBox="1"/>
          <p:nvPr/>
        </p:nvSpPr>
        <p:spPr>
          <a:xfrm>
            <a:off x="694944"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Student-led road audits, fixed with authorities</a:t>
            </a:r>
          </a:p>
        </p:txBody>
      </p:sp>
      <p:sp>
        <p:nvSpPr>
          <p:cNvPr id="13" name="TextBox 12"/>
          <p:cNvSpPr txBox="1"/>
          <p:nvPr/>
        </p:nvSpPr>
        <p:spPr>
          <a:xfrm>
            <a:off x="694944"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31 sites · 7 fixes fully built</a:t>
            </a:r>
          </a:p>
        </p:txBody>
      </p:sp>
      <p:sp>
        <p:nvSpPr>
          <p:cNvPr id="14" name="Rounded Rectangle 13"/>
          <p:cNvSpPr/>
          <p:nvPr/>
        </p:nvSpPr>
        <p:spPr>
          <a:xfrm>
            <a:off x="4288536"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15" name="Picture 14" descr="satark_billboard.jpg_3.95x1.28_0.42.jpg"/>
          <p:cNvPicPr>
            <a:picLocks noChangeAspect="1"/>
          </p:cNvPicPr>
          <p:nvPr/>
        </p:nvPicPr>
        <p:blipFill>
          <a:blip r:embed="rId3"/>
          <a:stretch>
            <a:fillRect/>
          </a:stretch>
        </p:blipFill>
        <p:spPr>
          <a:xfrm>
            <a:off x="4288536" y="1938528"/>
            <a:ext cx="3611880" cy="1170432"/>
          </a:xfrm>
          <a:prstGeom prst="rect">
            <a:avLst/>
          </a:prstGeom>
        </p:spPr>
      </p:pic>
      <p:sp>
        <p:nvSpPr>
          <p:cNvPr id="16" name="Rectangle 15"/>
          <p:cNvSpPr/>
          <p:nvPr/>
        </p:nvSpPr>
        <p:spPr>
          <a:xfrm>
            <a:off x="4288536" y="1938528"/>
            <a:ext cx="3611880" cy="1170432"/>
          </a:xfrm>
          <a:prstGeom prst="rect">
            <a:avLst/>
          </a:prstGeom>
          <a:noFill/>
          <a:ln w="12700">
            <a:solidFill>
              <a:srgbClr val="E8E9EE"/>
            </a:solidFill>
          </a:ln>
          <a:effectLst/>
        </p:spPr>
        <p:txBody>
          <a:bodyPr rtlCol="0" anchor="ctr"/>
          <a:lstStyle/>
          <a:p>
            <a:pPr algn="ctr"/>
          </a:p>
        </p:txBody>
      </p:sp>
      <p:sp>
        <p:nvSpPr>
          <p:cNvPr id="17" name="TextBox 16"/>
          <p:cNvSpPr txBox="1"/>
          <p:nvPr/>
        </p:nvSpPr>
        <p:spPr>
          <a:xfrm>
            <a:off x="4416552"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SATARK enforcement</a:t>
            </a:r>
          </a:p>
        </p:txBody>
      </p:sp>
      <p:sp>
        <p:nvSpPr>
          <p:cNvPr id="18" name="TextBox 17"/>
          <p:cNvSpPr txBox="1"/>
          <p:nvPr/>
        </p:nvSpPr>
        <p:spPr>
          <a:xfrm>
            <a:off x="4416552"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AI support that helps police find high-risk vehicles</a:t>
            </a:r>
          </a:p>
        </p:txBody>
      </p:sp>
      <p:sp>
        <p:nvSpPr>
          <p:cNvPr id="19" name="TextBox 18"/>
          <p:cNvSpPr txBox="1"/>
          <p:nvPr/>
        </p:nvSpPr>
        <p:spPr>
          <a:xfrm>
            <a:off x="4416552"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3,00,000+ vehicles screened</a:t>
            </a:r>
          </a:p>
        </p:txBody>
      </p:sp>
      <p:sp>
        <p:nvSpPr>
          <p:cNvPr id="20" name="Rounded Rectangle 19"/>
          <p:cNvSpPr/>
          <p:nvPr/>
        </p:nvSpPr>
        <p:spPr>
          <a:xfrm>
            <a:off x="8010144" y="1938528"/>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1" name="Picture 20" descr="ph_helpdesk_desk.jpg_3.95x1.28_0.42.jpg"/>
          <p:cNvPicPr>
            <a:picLocks noChangeAspect="1"/>
          </p:cNvPicPr>
          <p:nvPr/>
        </p:nvPicPr>
        <p:blipFill>
          <a:blip r:embed="rId4"/>
          <a:stretch>
            <a:fillRect/>
          </a:stretch>
        </p:blipFill>
        <p:spPr>
          <a:xfrm>
            <a:off x="8010144" y="1938528"/>
            <a:ext cx="3611880" cy="1170432"/>
          </a:xfrm>
          <a:prstGeom prst="rect">
            <a:avLst/>
          </a:prstGeom>
        </p:spPr>
      </p:pic>
      <p:sp>
        <p:nvSpPr>
          <p:cNvPr id="22" name="Rectangle 21"/>
          <p:cNvSpPr/>
          <p:nvPr/>
        </p:nvSpPr>
        <p:spPr>
          <a:xfrm>
            <a:off x="8010144" y="1938528"/>
            <a:ext cx="3611880" cy="1170432"/>
          </a:xfrm>
          <a:prstGeom prst="rect">
            <a:avLst/>
          </a:prstGeom>
          <a:noFill/>
          <a:ln w="12700">
            <a:solidFill>
              <a:srgbClr val="E8E9EE"/>
            </a:solidFill>
          </a:ln>
          <a:effectLst/>
        </p:spPr>
        <p:txBody>
          <a:bodyPr rtlCol="0" anchor="ctr"/>
          <a:lstStyle/>
          <a:p>
            <a:pPr algn="ctr"/>
          </a:p>
        </p:txBody>
      </p:sp>
      <p:sp>
        <p:nvSpPr>
          <p:cNvPr id="23" name="TextBox 22"/>
          <p:cNvSpPr txBox="1"/>
          <p:nvPr/>
        </p:nvSpPr>
        <p:spPr>
          <a:xfrm>
            <a:off x="8138160" y="3182112"/>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Victim support</a:t>
            </a:r>
          </a:p>
        </p:txBody>
      </p:sp>
      <p:sp>
        <p:nvSpPr>
          <p:cNvPr id="24" name="TextBox 23"/>
          <p:cNvSpPr txBox="1"/>
          <p:nvPr/>
        </p:nvSpPr>
        <p:spPr>
          <a:xfrm>
            <a:off x="8138160" y="3419856"/>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Aasha chatbot, calculator, hospital helpdesks</a:t>
            </a:r>
          </a:p>
        </p:txBody>
      </p:sp>
      <p:sp>
        <p:nvSpPr>
          <p:cNvPr id="25" name="TextBox 24"/>
          <p:cNvSpPr txBox="1"/>
          <p:nvPr/>
        </p:nvSpPr>
        <p:spPr>
          <a:xfrm>
            <a:off x="8138160" y="3785616"/>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100+ victims helped in first 4 days</a:t>
            </a:r>
          </a:p>
        </p:txBody>
      </p:sp>
      <p:sp>
        <p:nvSpPr>
          <p:cNvPr id="26" name="Rounded Rectangle 25"/>
          <p:cNvSpPr/>
          <p:nvPr/>
        </p:nvSpPr>
        <p:spPr>
          <a:xfrm>
            <a:off x="566928"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7" name="Picture 26" descr="sctracker.png_3.95x1.28_0.05.jpg"/>
          <p:cNvPicPr>
            <a:picLocks noChangeAspect="1"/>
          </p:cNvPicPr>
          <p:nvPr/>
        </p:nvPicPr>
        <p:blipFill>
          <a:blip r:embed="rId5"/>
          <a:stretch>
            <a:fillRect/>
          </a:stretch>
        </p:blipFill>
        <p:spPr>
          <a:xfrm>
            <a:off x="566928" y="4206240"/>
            <a:ext cx="3611880" cy="1170432"/>
          </a:xfrm>
          <a:prstGeom prst="rect">
            <a:avLst/>
          </a:prstGeom>
        </p:spPr>
      </p:pic>
      <p:sp>
        <p:nvSpPr>
          <p:cNvPr id="28" name="Rectangle 27"/>
          <p:cNvSpPr/>
          <p:nvPr/>
        </p:nvSpPr>
        <p:spPr>
          <a:xfrm>
            <a:off x="566928" y="4206240"/>
            <a:ext cx="3611880" cy="1170432"/>
          </a:xfrm>
          <a:prstGeom prst="rect">
            <a:avLst/>
          </a:prstGeom>
          <a:noFill/>
          <a:ln w="12700">
            <a:solidFill>
              <a:srgbClr val="E8E9EE"/>
            </a:solidFill>
          </a:ln>
          <a:effectLst/>
        </p:spPr>
        <p:txBody>
          <a:bodyPr rtlCol="0" anchor="ctr"/>
          <a:lstStyle/>
          <a:p>
            <a:pPr algn="ctr"/>
          </a:p>
        </p:txBody>
      </p:sp>
      <p:sp>
        <p:nvSpPr>
          <p:cNvPr id="29" name="TextBox 28"/>
          <p:cNvSpPr txBox="1"/>
          <p:nvPr/>
        </p:nvSpPr>
        <p:spPr>
          <a:xfrm>
            <a:off x="694944"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Open public data</a:t>
            </a:r>
          </a:p>
        </p:txBody>
      </p:sp>
      <p:sp>
        <p:nvSpPr>
          <p:cNvPr id="30" name="TextBox 29"/>
          <p:cNvSpPr txBox="1"/>
          <p:nvPr/>
        </p:nvSpPr>
        <p:spPr>
          <a:xfrm>
            <a:off x="694944"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Four self-updating data platforms, free to use</a:t>
            </a:r>
          </a:p>
        </p:txBody>
      </p:sp>
      <p:sp>
        <p:nvSpPr>
          <p:cNvPr id="31" name="TextBox 30"/>
          <p:cNvSpPr txBox="1"/>
          <p:nvPr/>
        </p:nvSpPr>
        <p:spPr>
          <a:xfrm>
            <a:off x="694944"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36 states &amp; 50 cities covered</a:t>
            </a:r>
          </a:p>
        </p:txBody>
      </p:sp>
      <p:sp>
        <p:nvSpPr>
          <p:cNvPr id="32" name="Rounded Rectangle 31"/>
          <p:cNvSpPr/>
          <p:nvPr/>
        </p:nvSpPr>
        <p:spPr>
          <a:xfrm>
            <a:off x="4288536"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33" name="Picture 32" descr="ph_ideathon_winners.jpg_3.95x1.28_0.25.jpg"/>
          <p:cNvPicPr>
            <a:picLocks noChangeAspect="1"/>
          </p:cNvPicPr>
          <p:nvPr/>
        </p:nvPicPr>
        <p:blipFill>
          <a:blip r:embed="rId6"/>
          <a:stretch>
            <a:fillRect/>
          </a:stretch>
        </p:blipFill>
        <p:spPr>
          <a:xfrm>
            <a:off x="4288536" y="4206240"/>
            <a:ext cx="3611880" cy="1170432"/>
          </a:xfrm>
          <a:prstGeom prst="rect">
            <a:avLst/>
          </a:prstGeom>
        </p:spPr>
      </p:pic>
      <p:sp>
        <p:nvSpPr>
          <p:cNvPr id="34" name="Rectangle 33"/>
          <p:cNvSpPr/>
          <p:nvPr/>
        </p:nvSpPr>
        <p:spPr>
          <a:xfrm>
            <a:off x="4288536" y="4206240"/>
            <a:ext cx="3611880" cy="1170432"/>
          </a:xfrm>
          <a:prstGeom prst="rect">
            <a:avLst/>
          </a:prstGeom>
          <a:noFill/>
          <a:ln w="12700">
            <a:solidFill>
              <a:srgbClr val="E8E9EE"/>
            </a:solidFill>
          </a:ln>
          <a:effectLst/>
        </p:spPr>
        <p:txBody>
          <a:bodyPr rtlCol="0" anchor="ctr"/>
          <a:lstStyle/>
          <a:p>
            <a:pPr algn="ctr"/>
          </a:p>
        </p:txBody>
      </p:sp>
      <p:sp>
        <p:nvSpPr>
          <p:cNvPr id="35" name="TextBox 34"/>
          <p:cNvSpPr txBox="1"/>
          <p:nvPr/>
        </p:nvSpPr>
        <p:spPr>
          <a:xfrm>
            <a:off x="4416552"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Youth &amp; policy</a:t>
            </a:r>
          </a:p>
        </p:txBody>
      </p:sp>
      <p:sp>
        <p:nvSpPr>
          <p:cNvPr id="36" name="TextBox 35"/>
          <p:cNvSpPr txBox="1"/>
          <p:nvPr/>
        </p:nvSpPr>
        <p:spPr>
          <a:xfrm>
            <a:off x="4416552"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NextMile ideathon and national dialogue series</a:t>
            </a:r>
          </a:p>
        </p:txBody>
      </p:sp>
      <p:sp>
        <p:nvSpPr>
          <p:cNvPr id="37" name="TextBox 36"/>
          <p:cNvSpPr txBox="1"/>
          <p:nvPr/>
        </p:nvSpPr>
        <p:spPr>
          <a:xfrm>
            <a:off x="4416552"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2,000+ participants engaged</a:t>
            </a:r>
          </a:p>
        </p:txBody>
      </p:sp>
      <p:sp>
        <p:nvSpPr>
          <p:cNvPr id="38" name="Rounded Rectangle 37"/>
          <p:cNvSpPr/>
          <p:nvPr/>
        </p:nvSpPr>
        <p:spPr>
          <a:xfrm>
            <a:off x="8010144" y="4206240"/>
            <a:ext cx="3611880" cy="2121408"/>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39" name="Picture 38" descr="ph_police_rally.jpg_3.95x1.28_0.35.jpg"/>
          <p:cNvPicPr>
            <a:picLocks noChangeAspect="1"/>
          </p:cNvPicPr>
          <p:nvPr/>
        </p:nvPicPr>
        <p:blipFill>
          <a:blip r:embed="rId7"/>
          <a:stretch>
            <a:fillRect/>
          </a:stretch>
        </p:blipFill>
        <p:spPr>
          <a:xfrm>
            <a:off x="8010144" y="4206240"/>
            <a:ext cx="3611880" cy="1170432"/>
          </a:xfrm>
          <a:prstGeom prst="rect">
            <a:avLst/>
          </a:prstGeom>
        </p:spPr>
      </p:pic>
      <p:sp>
        <p:nvSpPr>
          <p:cNvPr id="40" name="Rectangle 39"/>
          <p:cNvSpPr/>
          <p:nvPr/>
        </p:nvSpPr>
        <p:spPr>
          <a:xfrm>
            <a:off x="8010144" y="4206240"/>
            <a:ext cx="3611880" cy="1170432"/>
          </a:xfrm>
          <a:prstGeom prst="rect">
            <a:avLst/>
          </a:prstGeom>
          <a:noFill/>
          <a:ln w="12700">
            <a:solidFill>
              <a:srgbClr val="E8E9EE"/>
            </a:solidFill>
          </a:ln>
          <a:effectLst/>
        </p:spPr>
        <p:txBody>
          <a:bodyPr rtlCol="0" anchor="ctr"/>
          <a:lstStyle/>
          <a:p>
            <a:pPr algn="ctr"/>
          </a:p>
        </p:txBody>
      </p:sp>
      <p:sp>
        <p:nvSpPr>
          <p:cNvPr id="41" name="TextBox 40"/>
          <p:cNvSpPr txBox="1"/>
          <p:nvPr/>
        </p:nvSpPr>
        <p:spPr>
          <a:xfrm>
            <a:off x="8138160" y="5449824"/>
            <a:ext cx="3355848"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Public campaigns</a:t>
            </a:r>
          </a:p>
        </p:txBody>
      </p:sp>
      <p:sp>
        <p:nvSpPr>
          <p:cNvPr id="42" name="TextBox 41"/>
          <p:cNvSpPr txBox="1"/>
          <p:nvPr/>
        </p:nvSpPr>
        <p:spPr>
          <a:xfrm>
            <a:off x="8138160" y="5687568"/>
            <a:ext cx="3355848" cy="32004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Road Safety Month with police &amp; schools; MS Dhoni</a:t>
            </a:r>
          </a:p>
        </p:txBody>
      </p:sp>
      <p:sp>
        <p:nvSpPr>
          <p:cNvPr id="43" name="TextBox 42"/>
          <p:cNvSpPr txBox="1"/>
          <p:nvPr/>
        </p:nvSpPr>
        <p:spPr>
          <a:xfrm>
            <a:off x="8138160" y="6053328"/>
            <a:ext cx="3355848" cy="237744"/>
          </a:xfrm>
          <a:prstGeom prst="rect">
            <a:avLst/>
          </a:prstGeom>
          <a:noFill/>
        </p:spPr>
        <p:txBody>
          <a:bodyPr wrap="square" lIns="0" rIns="0" tIns="0" bIns="0" anchor="t">
            <a:spAutoFit/>
          </a:bodyPr>
          <a:lstStyle/>
          <a:p>
            <a:pPr algn="l">
              <a:lnSpc>
                <a:spcPct val="100000"/>
              </a:lnSpc>
            </a:pPr>
            <a:r>
              <a:rPr sz="900" b="1" i="0">
                <a:solidFill>
                  <a:srgbClr val="4A35FF"/>
                </a:solidFill>
                <a:latin typeface="Montserrat"/>
              </a:rPr>
              <a:t>1M+ citizens reached</a:t>
            </a:r>
          </a:p>
        </p:txBody>
      </p:sp>
      <p:cxnSp>
        <p:nvCxnSpPr>
          <p:cNvPr id="44" name="Connector 43"/>
          <p:cNvCxnSpPr/>
          <p:nvPr/>
        </p:nvCxnSpPr>
        <p:spPr>
          <a:xfrm>
            <a:off x="566928" y="6455664"/>
            <a:ext cx="11057839" cy="0"/>
          </a:xfrm>
          <a:prstGeom prst="line">
            <a:avLst/>
          </a:prstGeom>
          <a:ln w="9525">
            <a:solidFill>
              <a:srgbClr val="E8E9EE"/>
            </a:solidFill>
          </a:ln>
          <a:effectLst/>
        </p:spPr>
      </p:cxnSp>
      <p:sp>
        <p:nvSpPr>
          <p:cNvPr id="45" name="TextBox 44"/>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46" name="TextBox 4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07 / 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ENFORCEMENT TECHNOLOGY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SATARK: AI that helps police stop </a:t>
            </a:r>
            <a:r>
              <a:rPr sz="2250" b="1" i="0">
                <a:solidFill>
                  <a:srgbClr val="4A35FF"/>
                </a:solidFill>
                <a:latin typeface="Montserrat"/>
              </a:rPr>
              <a:t>the right vehicle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Built with Cars24 engineers. Reads number plates, checks government records, and alerts officers to repeat offenders, in real time.</a:t>
            </a:r>
          </a:p>
        </p:txBody>
      </p:sp>
      <p:pic>
        <p:nvPicPr>
          <p:cNvPr id="8" name="Picture 7" descr="satark_billboard.jpg_4.35x2.65_0.42.jpg"/>
          <p:cNvPicPr>
            <a:picLocks noChangeAspect="1"/>
          </p:cNvPicPr>
          <p:nvPr/>
        </p:nvPicPr>
        <p:blipFill>
          <a:blip r:embed="rId2"/>
          <a:stretch>
            <a:fillRect/>
          </a:stretch>
        </p:blipFill>
        <p:spPr>
          <a:xfrm>
            <a:off x="566928" y="1965960"/>
            <a:ext cx="3977639" cy="2423160"/>
          </a:xfrm>
          <a:prstGeom prst="rect">
            <a:avLst/>
          </a:prstGeom>
        </p:spPr>
      </p:pic>
      <p:sp>
        <p:nvSpPr>
          <p:cNvPr id="9" name="Rectangle 8"/>
          <p:cNvSpPr/>
          <p:nvPr/>
        </p:nvSpPr>
        <p:spPr>
          <a:xfrm>
            <a:off x="566928" y="1965960"/>
            <a:ext cx="3977639" cy="242316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434840"/>
            <a:ext cx="3977639"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Rambagh Circle, Jaipur, live plate, pending challans and dues on a public billboard.</a:t>
            </a:r>
          </a:p>
        </p:txBody>
      </p:sp>
      <p:pic>
        <p:nvPicPr>
          <p:cNvPr id="11" name="Picture 10" descr="satark_officer_app.jpg"/>
          <p:cNvPicPr>
            <a:picLocks noChangeAspect="1"/>
          </p:cNvPicPr>
          <p:nvPr/>
        </p:nvPicPr>
        <p:blipFill>
          <a:blip r:embed="rId3"/>
          <a:stretch>
            <a:fillRect/>
          </a:stretch>
        </p:blipFill>
        <p:spPr>
          <a:xfrm>
            <a:off x="4709160" y="1965960"/>
            <a:ext cx="1828800" cy="2150283"/>
          </a:xfrm>
          <a:prstGeom prst="rect">
            <a:avLst/>
          </a:prstGeom>
        </p:spPr>
      </p:pic>
      <p:sp>
        <p:nvSpPr>
          <p:cNvPr id="12" name="Rectangle 11"/>
          <p:cNvSpPr/>
          <p:nvPr/>
        </p:nvSpPr>
        <p:spPr>
          <a:xfrm>
            <a:off x="4709160" y="1965960"/>
            <a:ext cx="1828800" cy="2150283"/>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4709160" y="4161963"/>
            <a:ext cx="182880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Officer view, challans,</a:t>
            </a:r>
          </a:p>
          <a:p>
            <a:pPr algn="l">
              <a:lnSpc>
                <a:spcPct val="112000"/>
              </a:lnSpc>
            </a:pPr>
            <a:r>
              <a:rPr sz="850" b="0" i="0">
                <a:solidFill>
                  <a:srgbClr val="6E7180"/>
                </a:solidFill>
                <a:latin typeface="Geist"/>
              </a:rPr>
              <a:t>RC &amp; compliance status.</a:t>
            </a:r>
          </a:p>
        </p:txBody>
      </p:sp>
      <p:sp>
        <p:nvSpPr>
          <p:cNvPr id="14" name="TextBox 13"/>
          <p:cNvSpPr txBox="1"/>
          <p:nvPr/>
        </p:nvSpPr>
        <p:spPr>
          <a:xfrm>
            <a:off x="6784848" y="1920240"/>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3,00,000+</a:t>
            </a:r>
          </a:p>
        </p:txBody>
      </p:sp>
      <p:sp>
        <p:nvSpPr>
          <p:cNvPr id="15" name="TextBox 14"/>
          <p:cNvSpPr txBox="1"/>
          <p:nvPr/>
        </p:nvSpPr>
        <p:spPr>
          <a:xfrm>
            <a:off x="6784848" y="2377440"/>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vehicles screened</a:t>
            </a:r>
          </a:p>
        </p:txBody>
      </p:sp>
      <p:sp>
        <p:nvSpPr>
          <p:cNvPr id="16" name="TextBox 15"/>
          <p:cNvSpPr txBox="1"/>
          <p:nvPr/>
        </p:nvSpPr>
        <p:spPr>
          <a:xfrm>
            <a:off x="9235440" y="1920240"/>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₹30 Cr+</a:t>
            </a:r>
          </a:p>
        </p:txBody>
      </p:sp>
      <p:sp>
        <p:nvSpPr>
          <p:cNvPr id="17" name="TextBox 16"/>
          <p:cNvSpPr txBox="1"/>
          <p:nvPr/>
        </p:nvSpPr>
        <p:spPr>
          <a:xfrm>
            <a:off x="9235440" y="2377440"/>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pending challan value identified</a:t>
            </a:r>
          </a:p>
        </p:txBody>
      </p:sp>
      <p:sp>
        <p:nvSpPr>
          <p:cNvPr id="18" name="TextBox 17"/>
          <p:cNvSpPr txBox="1"/>
          <p:nvPr/>
        </p:nvSpPr>
        <p:spPr>
          <a:xfrm>
            <a:off x="6784848" y="2816352"/>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350+</a:t>
            </a:r>
          </a:p>
        </p:txBody>
      </p:sp>
      <p:sp>
        <p:nvSpPr>
          <p:cNvPr id="19" name="TextBox 18"/>
          <p:cNvSpPr txBox="1"/>
          <p:nvPr/>
        </p:nvSpPr>
        <p:spPr>
          <a:xfrm>
            <a:off x="6784848" y="3273552"/>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high-risk vehicles intercepted</a:t>
            </a:r>
          </a:p>
        </p:txBody>
      </p:sp>
      <p:sp>
        <p:nvSpPr>
          <p:cNvPr id="20" name="TextBox 19"/>
          <p:cNvSpPr txBox="1"/>
          <p:nvPr/>
        </p:nvSpPr>
        <p:spPr>
          <a:xfrm>
            <a:off x="9235440" y="2816352"/>
            <a:ext cx="2331720" cy="502920"/>
          </a:xfrm>
          <a:prstGeom prst="rect">
            <a:avLst/>
          </a:prstGeom>
          <a:noFill/>
        </p:spPr>
        <p:txBody>
          <a:bodyPr wrap="square" lIns="0" rIns="0" tIns="0" bIns="0" anchor="t">
            <a:spAutoFit/>
          </a:bodyPr>
          <a:lstStyle/>
          <a:p>
            <a:pPr algn="l">
              <a:lnSpc>
                <a:spcPct val="100000"/>
              </a:lnSpc>
            </a:pPr>
            <a:r>
              <a:rPr sz="2100" b="1" i="0">
                <a:solidFill>
                  <a:srgbClr val="4A35FF"/>
                </a:solidFill>
                <a:latin typeface="Montserrat"/>
              </a:rPr>
              <a:t>70,019</a:t>
            </a:r>
          </a:p>
        </p:txBody>
      </p:sp>
      <p:sp>
        <p:nvSpPr>
          <p:cNvPr id="21" name="TextBox 20"/>
          <p:cNvSpPr txBox="1"/>
          <p:nvPr/>
        </p:nvSpPr>
        <p:spPr>
          <a:xfrm>
            <a:off x="9235440" y="3273552"/>
            <a:ext cx="2331720" cy="411480"/>
          </a:xfrm>
          <a:prstGeom prst="rect">
            <a:avLst/>
          </a:prstGeom>
          <a:noFill/>
        </p:spPr>
        <p:txBody>
          <a:bodyPr wrap="square" lIns="0" rIns="0" tIns="0" bIns="0" anchor="t">
            <a:spAutoFit/>
          </a:bodyPr>
          <a:lstStyle/>
          <a:p>
            <a:pPr algn="l">
              <a:lnSpc>
                <a:spcPct val="112000"/>
              </a:lnSpc>
            </a:pPr>
            <a:r>
              <a:rPr sz="950" b="0" i="0">
                <a:solidFill>
                  <a:srgbClr val="6E7180"/>
                </a:solidFill>
                <a:latin typeface="Geist"/>
              </a:rPr>
              <a:t>vehicles found with pending challans</a:t>
            </a:r>
          </a:p>
        </p:txBody>
      </p:sp>
      <p:sp>
        <p:nvSpPr>
          <p:cNvPr id="22" name="Rounded Rectangle 21"/>
          <p:cNvSpPr/>
          <p:nvPr/>
        </p:nvSpPr>
        <p:spPr>
          <a:xfrm>
            <a:off x="6784848" y="3767328"/>
            <a:ext cx="2240280" cy="384048"/>
          </a:xfrm>
          <a:prstGeom prst="roundRect">
            <a:avLst>
              <a:gd name="adj" fmla="val 50000"/>
            </a:avLst>
          </a:prstGeom>
          <a:solidFill>
            <a:srgbClr val="E9F7F0"/>
          </a:solidFill>
          <a:ln>
            <a:noFill/>
          </a:ln>
          <a:effectLst/>
        </p:spPr>
        <p:txBody>
          <a:bodyPr rtlCol="0" anchor="ctr"/>
          <a:lstStyle/>
          <a:p>
            <a:pPr algn="ctr"/>
          </a:p>
        </p:txBody>
      </p:sp>
      <p:sp>
        <p:nvSpPr>
          <p:cNvPr id="23" name="TextBox 22"/>
          <p:cNvSpPr txBox="1"/>
          <p:nvPr/>
        </p:nvSpPr>
        <p:spPr>
          <a:xfrm>
            <a:off x="6803136" y="3767328"/>
            <a:ext cx="2203704" cy="384048"/>
          </a:xfrm>
          <a:prstGeom prst="rect">
            <a:avLst/>
          </a:prstGeom>
          <a:noFill/>
        </p:spPr>
        <p:txBody>
          <a:bodyPr wrap="square" lIns="0" rIns="0" tIns="0" bIns="0" anchor="ctr">
            <a:spAutoFit/>
          </a:bodyPr>
          <a:lstStyle/>
          <a:p>
            <a:pPr algn="ctr">
              <a:lnSpc>
                <a:spcPct val="100000"/>
              </a:lnSpc>
            </a:pPr>
            <a:r>
              <a:rPr sz="950" b="1" i="0">
                <a:solidFill>
                  <a:srgbClr val="0A9955"/>
                </a:solidFill>
                <a:latin typeface="Montserrat"/>
              </a:rPr>
              <a:t>LIVE · Jaipur &amp; Bengaluru</a:t>
            </a:r>
          </a:p>
        </p:txBody>
      </p:sp>
      <p:sp>
        <p:nvSpPr>
          <p:cNvPr id="24" name="Rounded Rectangle 23"/>
          <p:cNvSpPr/>
          <p:nvPr/>
        </p:nvSpPr>
        <p:spPr>
          <a:xfrm>
            <a:off x="9144000" y="3767328"/>
            <a:ext cx="1600200" cy="384048"/>
          </a:xfrm>
          <a:prstGeom prst="roundRect">
            <a:avLst>
              <a:gd name="adj" fmla="val 50000"/>
            </a:avLst>
          </a:prstGeom>
          <a:solidFill>
            <a:srgbClr val="EFEDFF"/>
          </a:solidFill>
          <a:ln>
            <a:noFill/>
          </a:ln>
          <a:effectLst/>
        </p:spPr>
        <p:txBody>
          <a:bodyPr rtlCol="0" anchor="ctr"/>
          <a:lstStyle/>
          <a:p>
            <a:pPr algn="ctr"/>
          </a:p>
        </p:txBody>
      </p:sp>
      <p:sp>
        <p:nvSpPr>
          <p:cNvPr id="25" name="TextBox 24"/>
          <p:cNvSpPr txBox="1"/>
          <p:nvPr/>
        </p:nvSpPr>
        <p:spPr>
          <a:xfrm>
            <a:off x="9162288" y="3767328"/>
            <a:ext cx="1563624" cy="384048"/>
          </a:xfrm>
          <a:prstGeom prst="rect">
            <a:avLst/>
          </a:prstGeom>
          <a:noFill/>
        </p:spPr>
        <p:txBody>
          <a:bodyPr wrap="square" lIns="0" rIns="0" tIns="0" bIns="0" anchor="ctr">
            <a:spAutoFit/>
          </a:bodyPr>
          <a:lstStyle/>
          <a:p>
            <a:pPr algn="ctr">
              <a:lnSpc>
                <a:spcPct val="100000"/>
              </a:lnSpc>
            </a:pPr>
            <a:r>
              <a:rPr sz="950" b="1" i="0">
                <a:solidFill>
                  <a:srgbClr val="4A35FF"/>
                </a:solidFill>
                <a:latin typeface="Montserrat"/>
              </a:rPr>
              <a:t>NEW · Gurugram</a:t>
            </a:r>
          </a:p>
        </p:txBody>
      </p:sp>
      <p:sp>
        <p:nvSpPr>
          <p:cNvPr id="26" name="TextBox 25"/>
          <p:cNvSpPr txBox="1"/>
          <p:nvPr/>
        </p:nvSpPr>
        <p:spPr>
          <a:xfrm>
            <a:off x="6784848" y="4261104"/>
            <a:ext cx="4754880" cy="27432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Bengaluru's Trinity Circle billboard was India's first, covered by Deccan Herald and national press. Pune and Ahmedabad are next.</a:t>
            </a:r>
          </a:p>
        </p:txBody>
      </p:sp>
      <p:cxnSp>
        <p:nvCxnSpPr>
          <p:cNvPr id="27" name="Connector 26"/>
          <p:cNvCxnSpPr/>
          <p:nvPr/>
        </p:nvCxnSpPr>
        <p:spPr>
          <a:xfrm>
            <a:off x="932688" y="5358384"/>
            <a:ext cx="10326319" cy="0"/>
          </a:xfrm>
          <a:prstGeom prst="line">
            <a:avLst/>
          </a:prstGeom>
          <a:ln w="12700">
            <a:solidFill>
              <a:srgbClr val="E8E9EE"/>
            </a:solidFill>
          </a:ln>
          <a:effectLst/>
        </p:spPr>
      </p:cxnSp>
      <p:sp>
        <p:nvSpPr>
          <p:cNvPr id="28" name="Oval 27"/>
          <p:cNvSpPr/>
          <p:nvPr/>
        </p:nvSpPr>
        <p:spPr>
          <a:xfrm>
            <a:off x="1038586" y="5138928"/>
            <a:ext cx="438912" cy="438912"/>
          </a:xfrm>
          <a:prstGeom prst="ellipse">
            <a:avLst/>
          </a:prstGeom>
          <a:solidFill>
            <a:srgbClr val="F7F7FA"/>
          </a:solidFill>
          <a:ln>
            <a:noFill/>
          </a:ln>
          <a:effectLst/>
        </p:spPr>
        <p:txBody>
          <a:bodyPr rtlCol="0" anchor="ctr"/>
          <a:lstStyle/>
          <a:p>
            <a:pPr algn="ctr"/>
          </a:p>
        </p:txBody>
      </p:sp>
      <p:pic>
        <p:nvPicPr>
          <p:cNvPr id="29" name="Picture 28" descr="camera_4A35FF_256_2.0.png"/>
          <p:cNvPicPr>
            <a:picLocks noChangeAspect="1"/>
          </p:cNvPicPr>
          <p:nvPr/>
        </p:nvPicPr>
        <p:blipFill>
          <a:blip r:embed="rId4"/>
          <a:stretch>
            <a:fillRect/>
          </a:stretch>
        </p:blipFill>
        <p:spPr>
          <a:xfrm>
            <a:off x="1143924" y="5244266"/>
            <a:ext cx="228234" cy="228234"/>
          </a:xfrm>
          <a:prstGeom prst="rect">
            <a:avLst/>
          </a:prstGeom>
        </p:spPr>
      </p:pic>
      <p:sp>
        <p:nvSpPr>
          <p:cNvPr id="30" name="TextBox 29"/>
          <p:cNvSpPr txBox="1"/>
          <p:nvPr/>
        </p:nvSpPr>
        <p:spPr>
          <a:xfrm>
            <a:off x="566928"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ANPR camera</a:t>
            </a:r>
          </a:p>
        </p:txBody>
      </p:sp>
      <p:sp>
        <p:nvSpPr>
          <p:cNvPr id="31" name="Oval 30"/>
          <p:cNvSpPr/>
          <p:nvPr/>
        </p:nvSpPr>
        <p:spPr>
          <a:xfrm>
            <a:off x="2420815" y="5138928"/>
            <a:ext cx="438912" cy="438912"/>
          </a:xfrm>
          <a:prstGeom prst="ellipse">
            <a:avLst/>
          </a:prstGeom>
          <a:solidFill>
            <a:srgbClr val="F7F7FA"/>
          </a:solidFill>
          <a:ln>
            <a:noFill/>
          </a:ln>
          <a:effectLst/>
        </p:spPr>
        <p:txBody>
          <a:bodyPr rtlCol="0" anchor="ctr"/>
          <a:lstStyle/>
          <a:p>
            <a:pPr algn="ctr"/>
          </a:p>
        </p:txBody>
      </p:sp>
      <p:pic>
        <p:nvPicPr>
          <p:cNvPr id="32" name="Picture 31" descr="scan-line_4A35FF_256_2.0.png"/>
          <p:cNvPicPr>
            <a:picLocks noChangeAspect="1"/>
          </p:cNvPicPr>
          <p:nvPr/>
        </p:nvPicPr>
        <p:blipFill>
          <a:blip r:embed="rId5"/>
          <a:stretch>
            <a:fillRect/>
          </a:stretch>
        </p:blipFill>
        <p:spPr>
          <a:xfrm>
            <a:off x="2526153" y="5244266"/>
            <a:ext cx="228234" cy="228234"/>
          </a:xfrm>
          <a:prstGeom prst="rect">
            <a:avLst/>
          </a:prstGeom>
        </p:spPr>
      </p:pic>
      <p:sp>
        <p:nvSpPr>
          <p:cNvPr id="33" name="TextBox 32"/>
          <p:cNvSpPr txBox="1"/>
          <p:nvPr/>
        </p:nvSpPr>
        <p:spPr>
          <a:xfrm>
            <a:off x="194915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Plate read</a:t>
            </a:r>
          </a:p>
        </p:txBody>
      </p:sp>
      <p:sp>
        <p:nvSpPr>
          <p:cNvPr id="34" name="Oval 33"/>
          <p:cNvSpPr/>
          <p:nvPr/>
        </p:nvSpPr>
        <p:spPr>
          <a:xfrm>
            <a:off x="3803045" y="5138928"/>
            <a:ext cx="438912" cy="438912"/>
          </a:xfrm>
          <a:prstGeom prst="ellipse">
            <a:avLst/>
          </a:prstGeom>
          <a:solidFill>
            <a:srgbClr val="F7F7FA"/>
          </a:solidFill>
          <a:ln>
            <a:noFill/>
          </a:ln>
          <a:effectLst/>
        </p:spPr>
        <p:txBody>
          <a:bodyPr rtlCol="0" anchor="ctr"/>
          <a:lstStyle/>
          <a:p>
            <a:pPr algn="ctr"/>
          </a:p>
        </p:txBody>
      </p:sp>
      <p:pic>
        <p:nvPicPr>
          <p:cNvPr id="35" name="Picture 34" descr="database_4A35FF_256_2.0.png"/>
          <p:cNvPicPr>
            <a:picLocks noChangeAspect="1"/>
          </p:cNvPicPr>
          <p:nvPr/>
        </p:nvPicPr>
        <p:blipFill>
          <a:blip r:embed="rId6"/>
          <a:stretch>
            <a:fillRect/>
          </a:stretch>
        </p:blipFill>
        <p:spPr>
          <a:xfrm>
            <a:off x="3908383" y="5244266"/>
            <a:ext cx="228234" cy="228234"/>
          </a:xfrm>
          <a:prstGeom prst="rect">
            <a:avLst/>
          </a:prstGeom>
        </p:spPr>
      </p:pic>
      <p:sp>
        <p:nvSpPr>
          <p:cNvPr id="36" name="TextBox 35"/>
          <p:cNvSpPr txBox="1"/>
          <p:nvPr/>
        </p:nvSpPr>
        <p:spPr>
          <a:xfrm>
            <a:off x="333138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Records check</a:t>
            </a:r>
          </a:p>
        </p:txBody>
      </p:sp>
      <p:sp>
        <p:nvSpPr>
          <p:cNvPr id="37" name="Oval 36"/>
          <p:cNvSpPr/>
          <p:nvPr/>
        </p:nvSpPr>
        <p:spPr>
          <a:xfrm>
            <a:off x="5185275" y="5138928"/>
            <a:ext cx="438912" cy="438912"/>
          </a:xfrm>
          <a:prstGeom prst="ellipse">
            <a:avLst/>
          </a:prstGeom>
          <a:solidFill>
            <a:srgbClr val="F7F7FA"/>
          </a:solidFill>
          <a:ln>
            <a:noFill/>
          </a:ln>
          <a:effectLst/>
        </p:spPr>
        <p:txBody>
          <a:bodyPr rtlCol="0" anchor="ctr"/>
          <a:lstStyle/>
          <a:p>
            <a:pPr algn="ctr"/>
          </a:p>
        </p:txBody>
      </p:sp>
      <p:pic>
        <p:nvPicPr>
          <p:cNvPr id="38" name="Picture 37" descr="alert-triangle_4A35FF_256_2.0.png"/>
          <p:cNvPicPr>
            <a:picLocks noChangeAspect="1"/>
          </p:cNvPicPr>
          <p:nvPr/>
        </p:nvPicPr>
        <p:blipFill>
          <a:blip r:embed="rId7"/>
          <a:stretch>
            <a:fillRect/>
          </a:stretch>
        </p:blipFill>
        <p:spPr>
          <a:xfrm>
            <a:off x="5290613" y="5244266"/>
            <a:ext cx="228234" cy="228234"/>
          </a:xfrm>
          <a:prstGeom prst="rect">
            <a:avLst/>
          </a:prstGeom>
        </p:spPr>
      </p:pic>
      <p:sp>
        <p:nvSpPr>
          <p:cNvPr id="39" name="TextBox 38"/>
          <p:cNvSpPr txBox="1"/>
          <p:nvPr/>
        </p:nvSpPr>
        <p:spPr>
          <a:xfrm>
            <a:off x="471361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Risk flag</a:t>
            </a:r>
          </a:p>
        </p:txBody>
      </p:sp>
      <p:sp>
        <p:nvSpPr>
          <p:cNvPr id="40" name="Oval 39"/>
          <p:cNvSpPr/>
          <p:nvPr/>
        </p:nvSpPr>
        <p:spPr>
          <a:xfrm>
            <a:off x="6567505" y="5138928"/>
            <a:ext cx="438912" cy="438912"/>
          </a:xfrm>
          <a:prstGeom prst="ellipse">
            <a:avLst/>
          </a:prstGeom>
          <a:solidFill>
            <a:srgbClr val="F7F7FA"/>
          </a:solidFill>
          <a:ln>
            <a:noFill/>
          </a:ln>
          <a:effectLst/>
        </p:spPr>
        <p:txBody>
          <a:bodyPr rtlCol="0" anchor="ctr"/>
          <a:lstStyle/>
          <a:p>
            <a:pPr algn="ctr"/>
          </a:p>
        </p:txBody>
      </p:sp>
      <p:pic>
        <p:nvPicPr>
          <p:cNvPr id="41" name="Picture 40" descr="bell-ring_4A35FF_256_2.0.png"/>
          <p:cNvPicPr>
            <a:picLocks noChangeAspect="1"/>
          </p:cNvPicPr>
          <p:nvPr/>
        </p:nvPicPr>
        <p:blipFill>
          <a:blip r:embed="rId8"/>
          <a:stretch>
            <a:fillRect/>
          </a:stretch>
        </p:blipFill>
        <p:spPr>
          <a:xfrm>
            <a:off x="6672843" y="5244266"/>
            <a:ext cx="228234" cy="228234"/>
          </a:xfrm>
          <a:prstGeom prst="rect">
            <a:avLst/>
          </a:prstGeom>
        </p:spPr>
      </p:pic>
      <p:sp>
        <p:nvSpPr>
          <p:cNvPr id="42" name="TextBox 41"/>
          <p:cNvSpPr txBox="1"/>
          <p:nvPr/>
        </p:nvSpPr>
        <p:spPr>
          <a:xfrm>
            <a:off x="609584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Officer alert</a:t>
            </a:r>
          </a:p>
        </p:txBody>
      </p:sp>
      <p:sp>
        <p:nvSpPr>
          <p:cNvPr id="43" name="Oval 42"/>
          <p:cNvSpPr/>
          <p:nvPr/>
        </p:nvSpPr>
        <p:spPr>
          <a:xfrm>
            <a:off x="7949735" y="5138928"/>
            <a:ext cx="438912" cy="438912"/>
          </a:xfrm>
          <a:prstGeom prst="ellipse">
            <a:avLst/>
          </a:prstGeom>
          <a:solidFill>
            <a:srgbClr val="F7F7FA"/>
          </a:solidFill>
          <a:ln>
            <a:noFill/>
          </a:ln>
          <a:effectLst/>
        </p:spPr>
        <p:txBody>
          <a:bodyPr rtlCol="0" anchor="ctr"/>
          <a:lstStyle/>
          <a:p>
            <a:pPr algn="ctr"/>
          </a:p>
        </p:txBody>
      </p:sp>
      <p:pic>
        <p:nvPicPr>
          <p:cNvPr id="44" name="Picture 43" descr="monitor_4A35FF_256_2.0.png"/>
          <p:cNvPicPr>
            <a:picLocks noChangeAspect="1"/>
          </p:cNvPicPr>
          <p:nvPr/>
        </p:nvPicPr>
        <p:blipFill>
          <a:blip r:embed="rId9"/>
          <a:stretch>
            <a:fillRect/>
          </a:stretch>
        </p:blipFill>
        <p:spPr>
          <a:xfrm>
            <a:off x="8055073" y="5244266"/>
            <a:ext cx="228234" cy="228234"/>
          </a:xfrm>
          <a:prstGeom prst="rect">
            <a:avLst/>
          </a:prstGeom>
        </p:spPr>
      </p:pic>
      <p:sp>
        <p:nvSpPr>
          <p:cNvPr id="45" name="TextBox 44"/>
          <p:cNvSpPr txBox="1"/>
          <p:nvPr/>
        </p:nvSpPr>
        <p:spPr>
          <a:xfrm>
            <a:off x="747807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Billboard</a:t>
            </a:r>
          </a:p>
        </p:txBody>
      </p:sp>
      <p:sp>
        <p:nvSpPr>
          <p:cNvPr id="46" name="Oval 45"/>
          <p:cNvSpPr/>
          <p:nvPr/>
        </p:nvSpPr>
        <p:spPr>
          <a:xfrm>
            <a:off x="9331965" y="5138928"/>
            <a:ext cx="438912" cy="438912"/>
          </a:xfrm>
          <a:prstGeom prst="ellipse">
            <a:avLst/>
          </a:prstGeom>
          <a:solidFill>
            <a:srgbClr val="F7F7FA"/>
          </a:solidFill>
          <a:ln>
            <a:noFill/>
          </a:ln>
          <a:effectLst/>
        </p:spPr>
        <p:txBody>
          <a:bodyPr rtlCol="0" anchor="ctr"/>
          <a:lstStyle/>
          <a:p>
            <a:pPr algn="ctr"/>
          </a:p>
        </p:txBody>
      </p:sp>
      <p:pic>
        <p:nvPicPr>
          <p:cNvPr id="47" name="Picture 46" descr="hand_4A35FF_256_2.0.png"/>
          <p:cNvPicPr>
            <a:picLocks noChangeAspect="1"/>
          </p:cNvPicPr>
          <p:nvPr/>
        </p:nvPicPr>
        <p:blipFill>
          <a:blip r:embed="rId10"/>
          <a:stretch>
            <a:fillRect/>
          </a:stretch>
        </p:blipFill>
        <p:spPr>
          <a:xfrm>
            <a:off x="9437303" y="5244266"/>
            <a:ext cx="228234" cy="228234"/>
          </a:xfrm>
          <a:prstGeom prst="rect">
            <a:avLst/>
          </a:prstGeom>
        </p:spPr>
      </p:pic>
      <p:sp>
        <p:nvSpPr>
          <p:cNvPr id="48" name="TextBox 47"/>
          <p:cNvSpPr txBox="1"/>
          <p:nvPr/>
        </p:nvSpPr>
        <p:spPr>
          <a:xfrm>
            <a:off x="886030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Interception</a:t>
            </a:r>
          </a:p>
        </p:txBody>
      </p:sp>
      <p:sp>
        <p:nvSpPr>
          <p:cNvPr id="49" name="Oval 48"/>
          <p:cNvSpPr/>
          <p:nvPr/>
        </p:nvSpPr>
        <p:spPr>
          <a:xfrm>
            <a:off x="10714195" y="5138928"/>
            <a:ext cx="438912" cy="438912"/>
          </a:xfrm>
          <a:prstGeom prst="ellipse">
            <a:avLst/>
          </a:prstGeom>
          <a:solidFill>
            <a:srgbClr val="F7F7FA"/>
          </a:solidFill>
          <a:ln>
            <a:noFill/>
          </a:ln>
          <a:effectLst/>
        </p:spPr>
        <p:txBody>
          <a:bodyPr rtlCol="0" anchor="ctr"/>
          <a:lstStyle/>
          <a:p>
            <a:pPr algn="ctr"/>
          </a:p>
        </p:txBody>
      </p:sp>
      <p:pic>
        <p:nvPicPr>
          <p:cNvPr id="50" name="Picture 49" descr="shield-check_4A35FF_256_2.0.png"/>
          <p:cNvPicPr>
            <a:picLocks noChangeAspect="1"/>
          </p:cNvPicPr>
          <p:nvPr/>
        </p:nvPicPr>
        <p:blipFill>
          <a:blip r:embed="rId11"/>
          <a:stretch>
            <a:fillRect/>
          </a:stretch>
        </p:blipFill>
        <p:spPr>
          <a:xfrm>
            <a:off x="10819533" y="5244266"/>
            <a:ext cx="228234" cy="228234"/>
          </a:xfrm>
          <a:prstGeom prst="rect">
            <a:avLst/>
          </a:prstGeom>
        </p:spPr>
      </p:pic>
      <p:sp>
        <p:nvSpPr>
          <p:cNvPr id="51" name="TextBox 50"/>
          <p:cNvSpPr txBox="1"/>
          <p:nvPr/>
        </p:nvSpPr>
        <p:spPr>
          <a:xfrm>
            <a:off x="10242537" y="5650992"/>
            <a:ext cx="1382229" cy="274320"/>
          </a:xfrm>
          <a:prstGeom prst="rect">
            <a:avLst/>
          </a:prstGeom>
          <a:noFill/>
        </p:spPr>
        <p:txBody>
          <a:bodyPr wrap="square" lIns="0" rIns="0" tIns="0" bIns="0" anchor="t">
            <a:spAutoFit/>
          </a:bodyPr>
          <a:lstStyle/>
          <a:p>
            <a:pPr algn="ctr">
              <a:lnSpc>
                <a:spcPct val="100000"/>
              </a:lnSpc>
            </a:pPr>
            <a:r>
              <a:rPr sz="850" b="0" i="0">
                <a:solidFill>
                  <a:srgbClr val="6E7180"/>
                </a:solidFill>
                <a:latin typeface="Geist"/>
              </a:rPr>
              <a:t>Enforcement</a:t>
            </a:r>
          </a:p>
        </p:txBody>
      </p:sp>
      <p:cxnSp>
        <p:nvCxnSpPr>
          <p:cNvPr id="52" name="Connector 51"/>
          <p:cNvCxnSpPr/>
          <p:nvPr/>
        </p:nvCxnSpPr>
        <p:spPr>
          <a:xfrm>
            <a:off x="566928" y="6455664"/>
            <a:ext cx="11057839" cy="0"/>
          </a:xfrm>
          <a:prstGeom prst="line">
            <a:avLst/>
          </a:prstGeom>
          <a:ln w="9525">
            <a:solidFill>
              <a:srgbClr val="E8E9EE"/>
            </a:solidFill>
          </a:ln>
          <a:effectLst/>
        </p:spPr>
      </p:cxnSp>
      <p:sp>
        <p:nvSpPr>
          <p:cNvPr id="53" name="TextBox 52"/>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54" name="TextBox 53"/>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08 / 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OPEN PUBLIC DATA</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Live public data platforms, </a:t>
            </a:r>
            <a:r>
              <a:rPr sz="2250" b="1" i="0">
                <a:solidFill>
                  <a:srgbClr val="4A35FF"/>
                </a:solidFill>
                <a:latin typeface="Montserrat"/>
              </a:rPr>
              <a:t>free for any authority</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Four platforms, each turning a scattered public record into structured, citable evidence. The two trackers are shown live, as captured this week.</a:t>
            </a:r>
          </a:p>
        </p:txBody>
      </p:sp>
      <p:pic>
        <p:nvPicPr>
          <p:cNvPr id="8" name="Picture 7" descr="parliament_live.png_6.00x2.62_0.00.jpg"/>
          <p:cNvPicPr>
            <a:picLocks noChangeAspect="1"/>
          </p:cNvPicPr>
          <p:nvPr/>
        </p:nvPicPr>
        <p:blipFill>
          <a:blip r:embed="rId2"/>
          <a:stretch>
            <a:fillRect/>
          </a:stretch>
        </p:blipFill>
        <p:spPr>
          <a:xfrm>
            <a:off x="566928" y="1938528"/>
            <a:ext cx="5486400" cy="2395728"/>
          </a:xfrm>
          <a:prstGeom prst="rect">
            <a:avLst/>
          </a:prstGeom>
        </p:spPr>
      </p:pic>
      <p:sp>
        <p:nvSpPr>
          <p:cNvPr id="9" name="Rectangle 8"/>
          <p:cNvSpPr/>
          <p:nvPr/>
        </p:nvSpPr>
        <p:spPr>
          <a:xfrm>
            <a:off x="566928" y="1938528"/>
            <a:ext cx="5486400" cy="2395728"/>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379976"/>
            <a:ext cx="548640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Road Safety in Parliament: all 1,444 questions since 2014 across four ministries; 275 of 540 sitting Lok Sabha MPs have never asked one.</a:t>
            </a:r>
          </a:p>
        </p:txBody>
      </p:sp>
      <p:pic>
        <p:nvPicPr>
          <p:cNvPr id="11" name="Picture 10" descr="sctracker.png_6.00x2.62_0.00.jpg"/>
          <p:cNvPicPr>
            <a:picLocks noChangeAspect="1"/>
          </p:cNvPicPr>
          <p:nvPr/>
        </p:nvPicPr>
        <p:blipFill>
          <a:blip r:embed="rId3"/>
          <a:stretch>
            <a:fillRect/>
          </a:stretch>
        </p:blipFill>
        <p:spPr>
          <a:xfrm>
            <a:off x="6144768" y="1938528"/>
            <a:ext cx="5486400" cy="2395728"/>
          </a:xfrm>
          <a:prstGeom prst="rect">
            <a:avLst/>
          </a:prstGeom>
        </p:spPr>
      </p:pic>
      <p:sp>
        <p:nvSpPr>
          <p:cNvPr id="12" name="Rectangle 11"/>
          <p:cNvSpPr/>
          <p:nvPr/>
        </p:nvSpPr>
        <p:spPr>
          <a:xfrm>
            <a:off x="6144768" y="1938528"/>
            <a:ext cx="5486400" cy="2395728"/>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6144768" y="4379976"/>
            <a:ext cx="548640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Supreme Court Litigation Tracker: 20 systemic cases, 191 orders indexed, 30 precedent judgments. Refreshes every Tuesday.</a:t>
            </a:r>
          </a:p>
        </p:txBody>
      </p:sp>
      <p:sp>
        <p:nvSpPr>
          <p:cNvPr id="14" name="Rounded Rectangle 13"/>
          <p:cNvSpPr/>
          <p:nvPr/>
        </p:nvSpPr>
        <p:spPr>
          <a:xfrm>
            <a:off x="566928" y="4956048"/>
            <a:ext cx="5486400" cy="1298448"/>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15" name="Oval 14"/>
          <p:cNvSpPr/>
          <p:nvPr/>
        </p:nvSpPr>
        <p:spPr>
          <a:xfrm>
            <a:off x="713232" y="5102352"/>
            <a:ext cx="365760" cy="365760"/>
          </a:xfrm>
          <a:prstGeom prst="ellipse">
            <a:avLst/>
          </a:prstGeom>
          <a:solidFill>
            <a:srgbClr val="E7F4F4"/>
          </a:solidFill>
          <a:ln>
            <a:noFill/>
          </a:ln>
          <a:effectLst/>
        </p:spPr>
        <p:txBody>
          <a:bodyPr rtlCol="0" anchor="ctr"/>
          <a:lstStyle/>
          <a:p>
            <a:pPr algn="ctr"/>
          </a:p>
        </p:txBody>
      </p:sp>
      <p:pic>
        <p:nvPicPr>
          <p:cNvPr id="16" name="Picture 15" descr="database_0E8A8A_256_2.0.png"/>
          <p:cNvPicPr>
            <a:picLocks noChangeAspect="1"/>
          </p:cNvPicPr>
          <p:nvPr/>
        </p:nvPicPr>
        <p:blipFill>
          <a:blip r:embed="rId4"/>
          <a:stretch>
            <a:fillRect/>
          </a:stretch>
        </p:blipFill>
        <p:spPr>
          <a:xfrm>
            <a:off x="801014" y="5190134"/>
            <a:ext cx="190195" cy="190195"/>
          </a:xfrm>
          <a:prstGeom prst="rect">
            <a:avLst/>
          </a:prstGeom>
        </p:spPr>
      </p:pic>
      <p:sp>
        <p:nvSpPr>
          <p:cNvPr id="17" name="TextBox 16"/>
          <p:cNvSpPr txBox="1"/>
          <p:nvPr/>
        </p:nvSpPr>
        <p:spPr>
          <a:xfrm>
            <a:off x="1188720" y="5074920"/>
            <a:ext cx="3291840" cy="274320"/>
          </a:xfrm>
          <a:prstGeom prst="rect">
            <a:avLst/>
          </a:prstGeom>
          <a:noFill/>
        </p:spPr>
        <p:txBody>
          <a:bodyPr wrap="square" lIns="0" rIns="0" tIns="0" bIns="0" anchor="t">
            <a:spAutoFit/>
          </a:bodyPr>
          <a:lstStyle/>
          <a:p>
            <a:pPr algn="l">
              <a:lnSpc>
                <a:spcPct val="100000"/>
              </a:lnSpc>
            </a:pPr>
            <a:r>
              <a:rPr sz="1000" b="1" i="0">
                <a:solidFill>
                  <a:srgbClr val="16181D"/>
                </a:solidFill>
                <a:latin typeface="Montserrat"/>
              </a:rPr>
              <a:t>Road-Infrastructure Defect Repository</a:t>
            </a:r>
          </a:p>
        </p:txBody>
      </p:sp>
      <p:sp>
        <p:nvSpPr>
          <p:cNvPr id="18" name="Rounded Rectangle 17"/>
          <p:cNvSpPr/>
          <p:nvPr/>
        </p:nvSpPr>
        <p:spPr>
          <a:xfrm>
            <a:off x="4572000" y="5093208"/>
            <a:ext cx="1353312" cy="292608"/>
          </a:xfrm>
          <a:prstGeom prst="roundRect">
            <a:avLst>
              <a:gd name="adj" fmla="val 50000"/>
            </a:avLst>
          </a:prstGeom>
          <a:solidFill>
            <a:srgbClr val="E7F4F4"/>
          </a:solidFill>
          <a:ln>
            <a:noFill/>
          </a:ln>
          <a:effectLst/>
        </p:spPr>
        <p:txBody>
          <a:bodyPr rtlCol="0" anchor="ctr"/>
          <a:lstStyle/>
          <a:p>
            <a:pPr algn="ctr"/>
          </a:p>
        </p:txBody>
      </p:sp>
      <p:sp>
        <p:nvSpPr>
          <p:cNvPr id="19" name="TextBox 18"/>
          <p:cNvSpPr txBox="1"/>
          <p:nvPr/>
        </p:nvSpPr>
        <p:spPr>
          <a:xfrm>
            <a:off x="4590288" y="5093208"/>
            <a:ext cx="1316736" cy="292608"/>
          </a:xfrm>
          <a:prstGeom prst="rect">
            <a:avLst/>
          </a:prstGeom>
          <a:noFill/>
        </p:spPr>
        <p:txBody>
          <a:bodyPr wrap="square" lIns="0" rIns="0" tIns="0" bIns="0" anchor="ctr">
            <a:spAutoFit/>
          </a:bodyPr>
          <a:lstStyle/>
          <a:p>
            <a:pPr algn="ctr">
              <a:lnSpc>
                <a:spcPct val="100000"/>
              </a:lnSpc>
            </a:pPr>
            <a:r>
              <a:rPr sz="700" b="1" i="0">
                <a:solidFill>
                  <a:srgbClr val="0E8A8A"/>
                </a:solidFill>
                <a:latin typeface="Montserrat"/>
              </a:rPr>
              <a:t>DAILY · 07:00 IST</a:t>
            </a:r>
          </a:p>
        </p:txBody>
      </p:sp>
      <p:sp>
        <p:nvSpPr>
          <p:cNvPr id="20" name="TextBox 19"/>
          <p:cNvSpPr txBox="1"/>
          <p:nvPr/>
        </p:nvSpPr>
        <p:spPr>
          <a:xfrm>
            <a:off x="713232" y="5522976"/>
            <a:ext cx="3246120" cy="658368"/>
          </a:xfrm>
          <a:prstGeom prst="rect">
            <a:avLst/>
          </a:prstGeom>
          <a:noFill/>
        </p:spPr>
        <p:txBody>
          <a:bodyPr wrap="square" lIns="0" rIns="0" tIns="0" bIns="0" anchor="t">
            <a:spAutoFit/>
          </a:bodyPr>
          <a:lstStyle/>
          <a:p>
            <a:pPr algn="l">
              <a:lnSpc>
                <a:spcPct val="116000"/>
              </a:lnSpc>
            </a:pPr>
            <a:r>
              <a:rPr sz="800" b="0" i="0">
                <a:solidFill>
                  <a:srgbClr val="6E7180"/>
                </a:solidFill>
                <a:latin typeface="Geist"/>
              </a:rPr>
              <a:t>An AI pipeline reads local-language news from 146 districts every morning and turns road-defect reports, potholes, missing signage, unlit stretches, into structured, mapped evidence.</a:t>
            </a:r>
          </a:p>
        </p:txBody>
      </p:sp>
      <p:pic>
        <p:nvPicPr>
          <p:cNvPr id="21" name="Picture 20" descr="strip_defect.png"/>
          <p:cNvPicPr>
            <a:picLocks noChangeAspect="1"/>
          </p:cNvPicPr>
          <p:nvPr/>
        </p:nvPicPr>
        <p:blipFill>
          <a:blip r:embed="rId5"/>
          <a:stretch>
            <a:fillRect/>
          </a:stretch>
        </p:blipFill>
        <p:spPr>
          <a:xfrm>
            <a:off x="4059936" y="5522976"/>
            <a:ext cx="1847088" cy="349372"/>
          </a:xfrm>
          <a:prstGeom prst="rect">
            <a:avLst/>
          </a:prstGeom>
        </p:spPr>
      </p:pic>
      <p:sp>
        <p:nvSpPr>
          <p:cNvPr id="22" name="Rounded Rectangle 21"/>
          <p:cNvSpPr/>
          <p:nvPr/>
        </p:nvSpPr>
        <p:spPr>
          <a:xfrm>
            <a:off x="6144768" y="4956048"/>
            <a:ext cx="5486400" cy="1298448"/>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23" name="Oval 22"/>
          <p:cNvSpPr/>
          <p:nvPr/>
        </p:nvSpPr>
        <p:spPr>
          <a:xfrm>
            <a:off x="6291072" y="5102352"/>
            <a:ext cx="365760" cy="365760"/>
          </a:xfrm>
          <a:prstGeom prst="ellipse">
            <a:avLst/>
          </a:prstGeom>
          <a:solidFill>
            <a:srgbClr val="FDF3E3"/>
          </a:solidFill>
          <a:ln>
            <a:noFill/>
          </a:ln>
          <a:effectLst/>
        </p:spPr>
        <p:txBody>
          <a:bodyPr rtlCol="0" anchor="ctr"/>
          <a:lstStyle/>
          <a:p>
            <a:pPr algn="ctr"/>
          </a:p>
        </p:txBody>
      </p:sp>
      <p:pic>
        <p:nvPicPr>
          <p:cNvPr id="24" name="Picture 23" descr="bar-chart-3_E58900_256_2.0.png"/>
          <p:cNvPicPr>
            <a:picLocks noChangeAspect="1"/>
          </p:cNvPicPr>
          <p:nvPr/>
        </p:nvPicPr>
        <p:blipFill>
          <a:blip r:embed="rId6"/>
          <a:stretch>
            <a:fillRect/>
          </a:stretch>
        </p:blipFill>
        <p:spPr>
          <a:xfrm>
            <a:off x="6378854" y="5190134"/>
            <a:ext cx="190195" cy="190195"/>
          </a:xfrm>
          <a:prstGeom prst="rect">
            <a:avLst/>
          </a:prstGeom>
        </p:spPr>
      </p:pic>
      <p:sp>
        <p:nvSpPr>
          <p:cNvPr id="25" name="TextBox 24"/>
          <p:cNvSpPr txBox="1"/>
          <p:nvPr/>
        </p:nvSpPr>
        <p:spPr>
          <a:xfrm>
            <a:off x="6766560" y="5074920"/>
            <a:ext cx="3291840" cy="274320"/>
          </a:xfrm>
          <a:prstGeom prst="rect">
            <a:avLst/>
          </a:prstGeom>
          <a:noFill/>
        </p:spPr>
        <p:txBody>
          <a:bodyPr wrap="square" lIns="0" rIns="0" tIns="0" bIns="0" anchor="t">
            <a:spAutoFit/>
          </a:bodyPr>
          <a:lstStyle/>
          <a:p>
            <a:pPr algn="l">
              <a:lnSpc>
                <a:spcPct val="100000"/>
              </a:lnSpc>
            </a:pPr>
            <a:r>
              <a:rPr sz="1000" b="1" i="0">
                <a:solidFill>
                  <a:srgbClr val="16181D"/>
                </a:solidFill>
                <a:latin typeface="Montserrat"/>
              </a:rPr>
              <a:t>Crash Data Dashboard</a:t>
            </a:r>
          </a:p>
        </p:txBody>
      </p:sp>
      <p:sp>
        <p:nvSpPr>
          <p:cNvPr id="26" name="Rounded Rectangle 25"/>
          <p:cNvSpPr/>
          <p:nvPr/>
        </p:nvSpPr>
        <p:spPr>
          <a:xfrm>
            <a:off x="10149840" y="5093208"/>
            <a:ext cx="1353312" cy="292608"/>
          </a:xfrm>
          <a:prstGeom prst="roundRect">
            <a:avLst>
              <a:gd name="adj" fmla="val 50000"/>
            </a:avLst>
          </a:prstGeom>
          <a:solidFill>
            <a:srgbClr val="FDF3E3"/>
          </a:solidFill>
          <a:ln>
            <a:noFill/>
          </a:ln>
          <a:effectLst/>
        </p:spPr>
        <p:txBody>
          <a:bodyPr rtlCol="0" anchor="ctr"/>
          <a:lstStyle/>
          <a:p>
            <a:pPr algn="ctr"/>
          </a:p>
        </p:txBody>
      </p:sp>
      <p:sp>
        <p:nvSpPr>
          <p:cNvPr id="27" name="TextBox 26"/>
          <p:cNvSpPr txBox="1"/>
          <p:nvPr/>
        </p:nvSpPr>
        <p:spPr>
          <a:xfrm>
            <a:off x="10168128" y="5093208"/>
            <a:ext cx="1316736" cy="292608"/>
          </a:xfrm>
          <a:prstGeom prst="rect">
            <a:avLst/>
          </a:prstGeom>
          <a:noFill/>
        </p:spPr>
        <p:txBody>
          <a:bodyPr wrap="square" lIns="0" rIns="0" tIns="0" bIns="0" anchor="ctr">
            <a:spAutoFit/>
          </a:bodyPr>
          <a:lstStyle/>
          <a:p>
            <a:pPr algn="ctr">
              <a:lnSpc>
                <a:spcPct val="100000"/>
              </a:lnSpc>
            </a:pPr>
            <a:r>
              <a:rPr sz="700" b="1" i="0">
                <a:solidFill>
                  <a:srgbClr val="E58900"/>
                </a:solidFill>
                <a:latin typeface="Montserrat"/>
              </a:rPr>
              <a:t>ANNUAL · OPEN DATA</a:t>
            </a:r>
          </a:p>
        </p:txBody>
      </p:sp>
      <p:sp>
        <p:nvSpPr>
          <p:cNvPr id="28" name="TextBox 27"/>
          <p:cNvSpPr txBox="1"/>
          <p:nvPr/>
        </p:nvSpPr>
        <p:spPr>
          <a:xfrm>
            <a:off x="6291072" y="5522976"/>
            <a:ext cx="3246120" cy="658368"/>
          </a:xfrm>
          <a:prstGeom prst="rect">
            <a:avLst/>
          </a:prstGeom>
          <a:noFill/>
        </p:spPr>
        <p:txBody>
          <a:bodyPr wrap="square" lIns="0" rIns="0" tIns="0" bIns="0" anchor="t">
            <a:spAutoFit/>
          </a:bodyPr>
          <a:lstStyle/>
          <a:p>
            <a:pPr algn="l">
              <a:lnSpc>
                <a:spcPct val="116000"/>
              </a:lnSpc>
            </a:pPr>
            <a:r>
              <a:rPr sz="800" b="0" i="0">
                <a:solidFill>
                  <a:srgbClr val="6E7180"/>
                </a:solidFill>
                <a:latin typeface="Geist"/>
              </a:rPr>
              <a:t>MoRTH's annual 'Road Accidents in India' books as a usable product: report cards for 36 states and 50 cities, every number reconciled against the printed books, open licence (CC-BY).</a:t>
            </a:r>
          </a:p>
        </p:txBody>
      </p:sp>
      <p:pic>
        <p:nvPicPr>
          <p:cNvPr id="29" name="Picture 28" descr="strip_crash.png"/>
          <p:cNvPicPr>
            <a:picLocks noChangeAspect="1"/>
          </p:cNvPicPr>
          <p:nvPr/>
        </p:nvPicPr>
        <p:blipFill>
          <a:blip r:embed="rId7"/>
          <a:stretch>
            <a:fillRect/>
          </a:stretch>
        </p:blipFill>
        <p:spPr>
          <a:xfrm>
            <a:off x="9637776" y="5522976"/>
            <a:ext cx="1847088" cy="362006"/>
          </a:xfrm>
          <a:prstGeom prst="rect">
            <a:avLst/>
          </a:prstGeom>
        </p:spPr>
      </p:pic>
      <p:cxnSp>
        <p:nvCxnSpPr>
          <p:cNvPr id="30" name="Connector 29"/>
          <p:cNvCxnSpPr/>
          <p:nvPr/>
        </p:nvCxnSpPr>
        <p:spPr>
          <a:xfrm>
            <a:off x="566928" y="6455664"/>
            <a:ext cx="11057839" cy="0"/>
          </a:xfrm>
          <a:prstGeom prst="line">
            <a:avLst/>
          </a:prstGeom>
          <a:ln w="9525">
            <a:solidFill>
              <a:srgbClr val="E8E9EE"/>
            </a:solidFill>
          </a:ln>
          <a:effectLst/>
        </p:spPr>
      </p:cxnSp>
      <p:sp>
        <p:nvSpPr>
          <p:cNvPr id="31" name="TextBox 30"/>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2" name="TextBox 31"/>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09 / 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VICTIM SUPPORT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Help a family can actually use, </a:t>
            </a:r>
            <a:r>
              <a:rPr sz="2250" b="1" i="0">
                <a:solidFill>
                  <a:srgbClr val="4A35FF"/>
                </a:solidFill>
                <a:latin typeface="Montserrat"/>
              </a:rPr>
              <a:t>in their language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From the first hours after a crash to the final compensation order, on WhatsApp, on paper, and in person.</a:t>
            </a:r>
          </a:p>
        </p:txBody>
      </p:sp>
      <p:sp>
        <p:nvSpPr>
          <p:cNvPr id="8" name="Rounded Rectangle 7"/>
          <p:cNvSpPr/>
          <p:nvPr/>
        </p:nvSpPr>
        <p:spPr>
          <a:xfrm>
            <a:off x="566928" y="1920240"/>
            <a:ext cx="2679192" cy="379476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9" name="Picture 8" descr="ui_aasha_chat.png"/>
          <p:cNvPicPr>
            <a:picLocks noChangeAspect="1"/>
          </p:cNvPicPr>
          <p:nvPr/>
        </p:nvPicPr>
        <p:blipFill>
          <a:blip r:embed="rId2"/>
          <a:stretch>
            <a:fillRect/>
          </a:stretch>
        </p:blipFill>
        <p:spPr>
          <a:xfrm>
            <a:off x="676656" y="2048256"/>
            <a:ext cx="2459736" cy="1810774"/>
          </a:xfrm>
          <a:prstGeom prst="rect">
            <a:avLst/>
          </a:prstGeom>
        </p:spPr>
      </p:pic>
      <p:sp>
        <p:nvSpPr>
          <p:cNvPr id="10" name="Oval 9"/>
          <p:cNvSpPr/>
          <p:nvPr/>
        </p:nvSpPr>
        <p:spPr>
          <a:xfrm>
            <a:off x="694944" y="4526280"/>
            <a:ext cx="347472" cy="347472"/>
          </a:xfrm>
          <a:prstGeom prst="ellipse">
            <a:avLst/>
          </a:prstGeom>
          <a:solidFill>
            <a:srgbClr val="EFEDFF"/>
          </a:solidFill>
          <a:ln>
            <a:noFill/>
          </a:ln>
          <a:effectLst/>
        </p:spPr>
        <p:txBody>
          <a:bodyPr rtlCol="0" anchor="ctr"/>
          <a:lstStyle/>
          <a:p>
            <a:pPr algn="ctr"/>
          </a:p>
        </p:txBody>
      </p:sp>
      <p:pic>
        <p:nvPicPr>
          <p:cNvPr id="11" name="Picture 10" descr="bot_4A35FF_256_2.0.png"/>
          <p:cNvPicPr>
            <a:picLocks noChangeAspect="1"/>
          </p:cNvPicPr>
          <p:nvPr/>
        </p:nvPicPr>
        <p:blipFill>
          <a:blip r:embed="rId3"/>
          <a:stretch>
            <a:fillRect/>
          </a:stretch>
        </p:blipFill>
        <p:spPr>
          <a:xfrm>
            <a:off x="778337" y="4609673"/>
            <a:ext cx="180685" cy="180685"/>
          </a:xfrm>
          <a:prstGeom prst="rect">
            <a:avLst/>
          </a:prstGeom>
        </p:spPr>
      </p:pic>
      <p:sp>
        <p:nvSpPr>
          <p:cNvPr id="12" name="TextBox 11"/>
          <p:cNvSpPr txBox="1"/>
          <p:nvPr/>
        </p:nvSpPr>
        <p:spPr>
          <a:xfrm>
            <a:off x="1133856" y="4562856"/>
            <a:ext cx="2002536" cy="292608"/>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Aasha chatbot</a:t>
            </a:r>
          </a:p>
        </p:txBody>
      </p:sp>
      <p:sp>
        <p:nvSpPr>
          <p:cNvPr id="13" name="TextBox 12"/>
          <p:cNvSpPr txBox="1"/>
          <p:nvPr/>
        </p:nvSpPr>
        <p:spPr>
          <a:xfrm>
            <a:off x="694944" y="4956048"/>
            <a:ext cx="2423160" cy="685800"/>
          </a:xfrm>
          <a:prstGeom prst="rect">
            <a:avLst/>
          </a:prstGeom>
          <a:noFill/>
        </p:spPr>
        <p:txBody>
          <a:bodyPr wrap="square" lIns="0" rIns="0" tIns="0" bIns="0" anchor="t">
            <a:spAutoFit/>
          </a:bodyPr>
          <a:lstStyle/>
          <a:p>
            <a:pPr algn="l">
              <a:lnSpc>
                <a:spcPct val="122000"/>
              </a:lnSpc>
            </a:pPr>
            <a:r>
              <a:rPr sz="850" b="0" i="0">
                <a:solidFill>
                  <a:srgbClr val="6E7180"/>
                </a:solidFill>
                <a:latin typeface="Geist"/>
              </a:rPr>
              <a:t>India's first AI legal companion for crash victims, on WhatsApp and voice, no app needed.</a:t>
            </a:r>
          </a:p>
        </p:txBody>
      </p:sp>
      <p:sp>
        <p:nvSpPr>
          <p:cNvPr id="14" name="Rounded Rectangle 13"/>
          <p:cNvSpPr/>
          <p:nvPr/>
        </p:nvSpPr>
        <p:spPr>
          <a:xfrm>
            <a:off x="3355848" y="1920240"/>
            <a:ext cx="2679192" cy="379476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15" name="Picture 14" descr="ui_mact_calc.png"/>
          <p:cNvPicPr>
            <a:picLocks noChangeAspect="1"/>
          </p:cNvPicPr>
          <p:nvPr/>
        </p:nvPicPr>
        <p:blipFill>
          <a:blip r:embed="rId4"/>
          <a:stretch>
            <a:fillRect/>
          </a:stretch>
        </p:blipFill>
        <p:spPr>
          <a:xfrm>
            <a:off x="3537522" y="2048256"/>
            <a:ext cx="2315843" cy="2286000"/>
          </a:xfrm>
          <a:prstGeom prst="rect">
            <a:avLst/>
          </a:prstGeom>
        </p:spPr>
      </p:pic>
      <p:sp>
        <p:nvSpPr>
          <p:cNvPr id="16" name="Oval 15"/>
          <p:cNvSpPr/>
          <p:nvPr/>
        </p:nvSpPr>
        <p:spPr>
          <a:xfrm>
            <a:off x="3483864" y="4526280"/>
            <a:ext cx="347472" cy="347472"/>
          </a:xfrm>
          <a:prstGeom prst="ellipse">
            <a:avLst/>
          </a:prstGeom>
          <a:solidFill>
            <a:srgbClr val="E7F4F4"/>
          </a:solidFill>
          <a:ln>
            <a:noFill/>
          </a:ln>
          <a:effectLst/>
        </p:spPr>
        <p:txBody>
          <a:bodyPr rtlCol="0" anchor="ctr"/>
          <a:lstStyle/>
          <a:p>
            <a:pPr algn="ctr"/>
          </a:p>
        </p:txBody>
      </p:sp>
      <p:pic>
        <p:nvPicPr>
          <p:cNvPr id="17" name="Picture 16" descr="calculator_0E8A8A_256_2.0.png"/>
          <p:cNvPicPr>
            <a:picLocks noChangeAspect="1"/>
          </p:cNvPicPr>
          <p:nvPr/>
        </p:nvPicPr>
        <p:blipFill>
          <a:blip r:embed="rId5"/>
          <a:stretch>
            <a:fillRect/>
          </a:stretch>
        </p:blipFill>
        <p:spPr>
          <a:xfrm>
            <a:off x="3567257" y="4609673"/>
            <a:ext cx="180685" cy="180685"/>
          </a:xfrm>
          <a:prstGeom prst="rect">
            <a:avLst/>
          </a:prstGeom>
        </p:spPr>
      </p:pic>
      <p:sp>
        <p:nvSpPr>
          <p:cNvPr id="18" name="TextBox 17"/>
          <p:cNvSpPr txBox="1"/>
          <p:nvPr/>
        </p:nvSpPr>
        <p:spPr>
          <a:xfrm>
            <a:off x="3922776" y="4562856"/>
            <a:ext cx="2002536" cy="292608"/>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Compensation Calculator</a:t>
            </a:r>
          </a:p>
        </p:txBody>
      </p:sp>
      <p:sp>
        <p:nvSpPr>
          <p:cNvPr id="19" name="TextBox 18"/>
          <p:cNvSpPr txBox="1"/>
          <p:nvPr/>
        </p:nvSpPr>
        <p:spPr>
          <a:xfrm>
            <a:off x="3483864" y="4956048"/>
            <a:ext cx="2423160" cy="685800"/>
          </a:xfrm>
          <a:prstGeom prst="rect">
            <a:avLst/>
          </a:prstGeom>
          <a:noFill/>
        </p:spPr>
        <p:txBody>
          <a:bodyPr wrap="square" lIns="0" rIns="0" tIns="0" bIns="0" anchor="t">
            <a:spAutoFit/>
          </a:bodyPr>
          <a:lstStyle/>
          <a:p>
            <a:pPr algn="l">
              <a:lnSpc>
                <a:spcPct val="122000"/>
              </a:lnSpc>
            </a:pPr>
            <a:r>
              <a:rPr sz="850" b="0" i="0">
                <a:solidFill>
                  <a:srgbClr val="6E7180"/>
                </a:solidFill>
                <a:latin typeface="Geist"/>
              </a:rPr>
              <a:t>Free instant estimates computed on Supreme Court principles (Sarla Verma, Pranay Sethi).</a:t>
            </a:r>
          </a:p>
        </p:txBody>
      </p:sp>
      <p:sp>
        <p:nvSpPr>
          <p:cNvPr id="20" name="Rounded Rectangle 19"/>
          <p:cNvSpPr/>
          <p:nvPr/>
        </p:nvSpPr>
        <p:spPr>
          <a:xfrm>
            <a:off x="6144768" y="1920240"/>
            <a:ext cx="2679192" cy="379476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1" name="Picture 20" descr="comic_aasha_page.png"/>
          <p:cNvPicPr>
            <a:picLocks noChangeAspect="1"/>
          </p:cNvPicPr>
          <p:nvPr/>
        </p:nvPicPr>
        <p:blipFill>
          <a:blip r:embed="rId6"/>
          <a:stretch>
            <a:fillRect/>
          </a:stretch>
        </p:blipFill>
        <p:spPr>
          <a:xfrm>
            <a:off x="6620503" y="2048256"/>
            <a:ext cx="1727722" cy="2286000"/>
          </a:xfrm>
          <a:prstGeom prst="rect">
            <a:avLst/>
          </a:prstGeom>
        </p:spPr>
      </p:pic>
      <p:sp>
        <p:nvSpPr>
          <p:cNvPr id="22" name="Oval 21"/>
          <p:cNvSpPr/>
          <p:nvPr/>
        </p:nvSpPr>
        <p:spPr>
          <a:xfrm>
            <a:off x="6272784" y="4526280"/>
            <a:ext cx="347472" cy="347472"/>
          </a:xfrm>
          <a:prstGeom prst="ellipse">
            <a:avLst/>
          </a:prstGeom>
          <a:solidFill>
            <a:srgbClr val="FDF3E3"/>
          </a:solidFill>
          <a:ln>
            <a:noFill/>
          </a:ln>
          <a:effectLst/>
        </p:spPr>
        <p:txBody>
          <a:bodyPr rtlCol="0" anchor="ctr"/>
          <a:lstStyle/>
          <a:p>
            <a:pPr algn="ctr"/>
          </a:p>
        </p:txBody>
      </p:sp>
      <p:pic>
        <p:nvPicPr>
          <p:cNvPr id="23" name="Picture 22" descr="book-open_E58900_256_2.0.png"/>
          <p:cNvPicPr>
            <a:picLocks noChangeAspect="1"/>
          </p:cNvPicPr>
          <p:nvPr/>
        </p:nvPicPr>
        <p:blipFill>
          <a:blip r:embed="rId7"/>
          <a:stretch>
            <a:fillRect/>
          </a:stretch>
        </p:blipFill>
        <p:spPr>
          <a:xfrm>
            <a:off x="6356177" y="4609673"/>
            <a:ext cx="180685" cy="180685"/>
          </a:xfrm>
          <a:prstGeom prst="rect">
            <a:avLst/>
          </a:prstGeom>
        </p:spPr>
      </p:pic>
      <p:sp>
        <p:nvSpPr>
          <p:cNvPr id="24" name="TextBox 23"/>
          <p:cNvSpPr txBox="1"/>
          <p:nvPr/>
        </p:nvSpPr>
        <p:spPr>
          <a:xfrm>
            <a:off x="6711696" y="4562856"/>
            <a:ext cx="2002536" cy="292608"/>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'Meet Aasha' comics</a:t>
            </a:r>
          </a:p>
        </p:txBody>
      </p:sp>
      <p:sp>
        <p:nvSpPr>
          <p:cNvPr id="25" name="TextBox 24"/>
          <p:cNvSpPr txBox="1"/>
          <p:nvPr/>
        </p:nvSpPr>
        <p:spPr>
          <a:xfrm>
            <a:off x="6272784" y="4956048"/>
            <a:ext cx="2423160" cy="685800"/>
          </a:xfrm>
          <a:prstGeom prst="rect">
            <a:avLst/>
          </a:prstGeom>
          <a:noFill/>
        </p:spPr>
        <p:txBody>
          <a:bodyPr wrap="square" lIns="0" rIns="0" tIns="0" bIns="0" anchor="t">
            <a:spAutoFit/>
          </a:bodyPr>
          <a:lstStyle/>
          <a:p>
            <a:pPr algn="l">
              <a:lnSpc>
                <a:spcPct val="122000"/>
              </a:lnSpc>
            </a:pPr>
            <a:r>
              <a:rPr sz="850" b="0" i="0">
                <a:solidFill>
                  <a:srgbClr val="6E7180"/>
                </a:solidFill>
                <a:latin typeface="Geist"/>
              </a:rPr>
              <a:t>Plain-language legal education that families actually read, at desks and in schools.</a:t>
            </a:r>
          </a:p>
        </p:txBody>
      </p:sp>
      <p:sp>
        <p:nvSpPr>
          <p:cNvPr id="26" name="Rounded Rectangle 25"/>
          <p:cNvSpPr/>
          <p:nvPr/>
        </p:nvSpPr>
        <p:spPr>
          <a:xfrm>
            <a:off x="8933688" y="1920240"/>
            <a:ext cx="2679192" cy="379476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27" name="Picture 26" descr="opt_guide_p1_1500.jpg"/>
          <p:cNvPicPr>
            <a:picLocks noChangeAspect="1"/>
          </p:cNvPicPr>
          <p:nvPr/>
        </p:nvPicPr>
        <p:blipFill>
          <a:blip r:embed="rId8"/>
          <a:stretch>
            <a:fillRect/>
          </a:stretch>
        </p:blipFill>
        <p:spPr>
          <a:xfrm>
            <a:off x="9438979" y="2048256"/>
            <a:ext cx="1668610" cy="2286000"/>
          </a:xfrm>
          <a:prstGeom prst="rect">
            <a:avLst/>
          </a:prstGeom>
        </p:spPr>
      </p:pic>
      <p:sp>
        <p:nvSpPr>
          <p:cNvPr id="28" name="Oval 27"/>
          <p:cNvSpPr/>
          <p:nvPr/>
        </p:nvSpPr>
        <p:spPr>
          <a:xfrm>
            <a:off x="9061704" y="4526280"/>
            <a:ext cx="347472" cy="347472"/>
          </a:xfrm>
          <a:prstGeom prst="ellipse">
            <a:avLst/>
          </a:prstGeom>
          <a:solidFill>
            <a:srgbClr val="E9F7F0"/>
          </a:solidFill>
          <a:ln>
            <a:noFill/>
          </a:ln>
          <a:effectLst/>
        </p:spPr>
        <p:txBody>
          <a:bodyPr rtlCol="0" anchor="ctr"/>
          <a:lstStyle/>
          <a:p>
            <a:pPr algn="ctr"/>
          </a:p>
        </p:txBody>
      </p:sp>
      <p:pic>
        <p:nvPicPr>
          <p:cNvPr id="29" name="Picture 28" descr="languages_0A9955_256_2.0.png"/>
          <p:cNvPicPr>
            <a:picLocks noChangeAspect="1"/>
          </p:cNvPicPr>
          <p:nvPr/>
        </p:nvPicPr>
        <p:blipFill>
          <a:blip r:embed="rId9"/>
          <a:stretch>
            <a:fillRect/>
          </a:stretch>
        </p:blipFill>
        <p:spPr>
          <a:xfrm>
            <a:off x="9145097" y="4609673"/>
            <a:ext cx="180685" cy="180685"/>
          </a:xfrm>
          <a:prstGeom prst="rect">
            <a:avLst/>
          </a:prstGeom>
        </p:spPr>
      </p:pic>
      <p:sp>
        <p:nvSpPr>
          <p:cNvPr id="30" name="TextBox 29"/>
          <p:cNvSpPr txBox="1"/>
          <p:nvPr/>
        </p:nvSpPr>
        <p:spPr>
          <a:xfrm>
            <a:off x="9500616" y="4562856"/>
            <a:ext cx="2002536" cy="292608"/>
          </a:xfrm>
          <a:prstGeom prst="rect">
            <a:avLst/>
          </a:prstGeom>
          <a:noFill/>
        </p:spPr>
        <p:txBody>
          <a:bodyPr wrap="square" lIns="0" rIns="0" tIns="0" bIns="0" anchor="t">
            <a:spAutoFit/>
          </a:bodyPr>
          <a:lstStyle/>
          <a:p>
            <a:pPr algn="l">
              <a:lnSpc>
                <a:spcPct val="100000"/>
              </a:lnSpc>
            </a:pPr>
            <a:r>
              <a:rPr sz="1050" b="1" i="0">
                <a:solidFill>
                  <a:srgbClr val="16181D"/>
                </a:solidFill>
                <a:latin typeface="Montserrat"/>
              </a:rPr>
              <a:t>Hindi rights guide</a:t>
            </a:r>
          </a:p>
        </p:txBody>
      </p:sp>
      <p:sp>
        <p:nvSpPr>
          <p:cNvPr id="31" name="TextBox 30"/>
          <p:cNvSpPr txBox="1"/>
          <p:nvPr/>
        </p:nvSpPr>
        <p:spPr>
          <a:xfrm>
            <a:off x="9061704" y="4956048"/>
            <a:ext cx="2423160" cy="685800"/>
          </a:xfrm>
          <a:prstGeom prst="rect">
            <a:avLst/>
          </a:prstGeom>
          <a:noFill/>
        </p:spPr>
        <p:txBody>
          <a:bodyPr wrap="square" lIns="0" rIns="0" tIns="0" bIns="0" anchor="t">
            <a:spAutoFit/>
          </a:bodyPr>
          <a:lstStyle/>
          <a:p>
            <a:pPr algn="l">
              <a:lnSpc>
                <a:spcPct val="122000"/>
              </a:lnSpc>
            </a:pPr>
            <a:r>
              <a:rPr sz="850" b="0" i="0">
                <a:solidFill>
                  <a:srgbClr val="6E7180"/>
                </a:solidFill>
                <a:latin typeface="Geist"/>
              </a:rPr>
              <a:t>All three compensation routes, NALSA 15100 and the Cashless Treatment Scheme 2025.</a:t>
            </a:r>
          </a:p>
        </p:txBody>
      </p:sp>
      <p:sp>
        <p:nvSpPr>
          <p:cNvPr id="32" name="Rounded Rectangle 31"/>
          <p:cNvSpPr/>
          <p:nvPr/>
        </p:nvSpPr>
        <p:spPr>
          <a:xfrm>
            <a:off x="566928" y="5870448"/>
            <a:ext cx="11057839" cy="457200"/>
          </a:xfrm>
          <a:prstGeom prst="roundRect">
            <a:avLst>
              <a:gd name="adj" fmla="val 14000"/>
            </a:avLst>
          </a:prstGeom>
          <a:solidFill>
            <a:srgbClr val="E9F7F0"/>
          </a:solidFill>
          <a:ln>
            <a:noFill/>
          </a:ln>
          <a:effectLst/>
        </p:spPr>
        <p:txBody>
          <a:bodyPr rtlCol="0" anchor="ctr"/>
          <a:lstStyle/>
          <a:p>
            <a:pPr algn="ctr"/>
          </a:p>
        </p:txBody>
      </p:sp>
      <p:sp>
        <p:nvSpPr>
          <p:cNvPr id="33" name="TextBox 32"/>
          <p:cNvSpPr txBox="1"/>
          <p:nvPr/>
        </p:nvSpPr>
        <p:spPr>
          <a:xfrm>
            <a:off x="768096" y="5943600"/>
            <a:ext cx="10646359" cy="329184"/>
          </a:xfrm>
          <a:prstGeom prst="rect">
            <a:avLst/>
          </a:prstGeom>
          <a:noFill/>
        </p:spPr>
        <p:txBody>
          <a:bodyPr wrap="square" lIns="0" rIns="0" tIns="0" bIns="0" anchor="t">
            <a:spAutoFit/>
          </a:bodyPr>
          <a:lstStyle/>
          <a:p>
            <a:pPr algn="l">
              <a:lnSpc>
                <a:spcPct val="120000"/>
              </a:lnSpc>
            </a:pPr>
            <a:r>
              <a:rPr sz="950" b="1" i="0">
                <a:solidFill>
                  <a:srgbClr val="0A9955"/>
                </a:solidFill>
                <a:latin typeface="Geist"/>
              </a:rPr>
              <a:t>Hospital helpdesks bring all of this to the trauma-ward bedside </a:t>
            </a:r>
            <a:r>
              <a:rPr sz="950" b="0" i="0">
                <a:solidFill>
                  <a:srgbClr val="0A9955"/>
                </a:solidFill>
                <a:latin typeface="Geist"/>
              </a:rPr>
              <a:t>, 100+ victims supported in the first four days, run with DLSA and Neev Foundation.</a:t>
            </a:r>
          </a:p>
        </p:txBody>
      </p:sp>
      <p:cxnSp>
        <p:nvCxnSpPr>
          <p:cNvPr id="34" name="Connector 33"/>
          <p:cNvCxnSpPr/>
          <p:nvPr/>
        </p:nvCxnSpPr>
        <p:spPr>
          <a:xfrm>
            <a:off x="566928" y="6455664"/>
            <a:ext cx="11057839" cy="0"/>
          </a:xfrm>
          <a:prstGeom prst="line">
            <a:avLst/>
          </a:prstGeom>
          <a:ln w="9525">
            <a:solidFill>
              <a:srgbClr val="E8E9EE"/>
            </a:solidFill>
          </a:ln>
          <a:effectLst/>
        </p:spPr>
      </p:cxnSp>
      <p:sp>
        <p:nvSpPr>
          <p:cNvPr id="35" name="TextBox 34"/>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6" name="TextBox 35"/>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10 / 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YOUTH &amp; POLICY</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Young talent and senior experts, </a:t>
            </a:r>
            <a:r>
              <a:rPr sz="2250" b="1" i="0">
                <a:solidFill>
                  <a:srgbClr val="4A35FF"/>
                </a:solidFill>
                <a:latin typeface="Montserrat"/>
              </a:rPr>
              <a:t>working the same problem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 steady pipeline of engineers and policy minds, so road safety work never runs out of hands.</a:t>
            </a:r>
          </a:p>
        </p:txBody>
      </p:sp>
      <p:pic>
        <p:nvPicPr>
          <p:cNvPr id="8" name="Picture 7" descr="ph_ideathon_winners.jpg_4.05x2.50_0.20.jpg"/>
          <p:cNvPicPr>
            <a:picLocks noChangeAspect="1"/>
          </p:cNvPicPr>
          <p:nvPr/>
        </p:nvPicPr>
        <p:blipFill>
          <a:blip r:embed="rId2"/>
          <a:stretch>
            <a:fillRect/>
          </a:stretch>
        </p:blipFill>
        <p:spPr>
          <a:xfrm>
            <a:off x="566928" y="1938528"/>
            <a:ext cx="3703320" cy="2286000"/>
          </a:xfrm>
          <a:prstGeom prst="rect">
            <a:avLst/>
          </a:prstGeom>
        </p:spPr>
      </p:pic>
      <p:sp>
        <p:nvSpPr>
          <p:cNvPr id="9" name="Rectangle 8"/>
          <p:cNvSpPr/>
          <p:nvPr/>
        </p:nvSpPr>
        <p:spPr>
          <a:xfrm>
            <a:off x="566928" y="1938528"/>
            <a:ext cx="3703320" cy="228600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4270248"/>
            <a:ext cx="37033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NextMile: Road Safety Policy Ideathon, grand finale, 28 Sep 2025, New Delhi.</a:t>
            </a:r>
          </a:p>
        </p:txBody>
      </p:sp>
      <p:sp>
        <p:nvSpPr>
          <p:cNvPr id="11" name="TextBox 10"/>
          <p:cNvSpPr txBox="1"/>
          <p:nvPr/>
        </p:nvSpPr>
        <p:spPr>
          <a:xfrm>
            <a:off x="56692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2,000+</a:t>
            </a:r>
          </a:p>
        </p:txBody>
      </p:sp>
      <p:sp>
        <p:nvSpPr>
          <p:cNvPr id="12" name="TextBox 11"/>
          <p:cNvSpPr txBox="1"/>
          <p:nvPr/>
        </p:nvSpPr>
        <p:spPr>
          <a:xfrm>
            <a:off x="56692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participants</a:t>
            </a:r>
          </a:p>
        </p:txBody>
      </p:sp>
      <p:sp>
        <p:nvSpPr>
          <p:cNvPr id="13" name="TextBox 12"/>
          <p:cNvSpPr txBox="1"/>
          <p:nvPr/>
        </p:nvSpPr>
        <p:spPr>
          <a:xfrm>
            <a:off x="152704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250+</a:t>
            </a:r>
          </a:p>
        </p:txBody>
      </p:sp>
      <p:sp>
        <p:nvSpPr>
          <p:cNvPr id="14" name="TextBox 13"/>
          <p:cNvSpPr txBox="1"/>
          <p:nvPr/>
        </p:nvSpPr>
        <p:spPr>
          <a:xfrm>
            <a:off x="152704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concept notes</a:t>
            </a:r>
          </a:p>
        </p:txBody>
      </p:sp>
      <p:sp>
        <p:nvSpPr>
          <p:cNvPr id="15" name="TextBox 14"/>
          <p:cNvSpPr txBox="1"/>
          <p:nvPr/>
        </p:nvSpPr>
        <p:spPr>
          <a:xfrm>
            <a:off x="248716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700+</a:t>
            </a:r>
          </a:p>
        </p:txBody>
      </p:sp>
      <p:sp>
        <p:nvSpPr>
          <p:cNvPr id="16" name="TextBox 15"/>
          <p:cNvSpPr txBox="1"/>
          <p:nvPr/>
        </p:nvSpPr>
        <p:spPr>
          <a:xfrm>
            <a:off x="248716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teams</a:t>
            </a:r>
          </a:p>
        </p:txBody>
      </p:sp>
      <p:sp>
        <p:nvSpPr>
          <p:cNvPr id="17" name="TextBox 16"/>
          <p:cNvSpPr txBox="1"/>
          <p:nvPr/>
        </p:nvSpPr>
        <p:spPr>
          <a:xfrm>
            <a:off x="3447288" y="4846320"/>
            <a:ext cx="914400" cy="502920"/>
          </a:xfrm>
          <a:prstGeom prst="rect">
            <a:avLst/>
          </a:prstGeom>
          <a:noFill/>
        </p:spPr>
        <p:txBody>
          <a:bodyPr wrap="square" lIns="0" rIns="0" tIns="0" bIns="0" anchor="t">
            <a:spAutoFit/>
          </a:bodyPr>
          <a:lstStyle/>
          <a:p>
            <a:pPr algn="l">
              <a:lnSpc>
                <a:spcPct val="100000"/>
              </a:lnSpc>
            </a:pPr>
            <a:r>
              <a:rPr sz="1400" b="1" i="0">
                <a:solidFill>
                  <a:srgbClr val="4A35FF"/>
                </a:solidFill>
                <a:latin typeface="Montserrat"/>
              </a:rPr>
              <a:t>10</a:t>
            </a:r>
          </a:p>
        </p:txBody>
      </p:sp>
      <p:sp>
        <p:nvSpPr>
          <p:cNvPr id="18" name="TextBox 17"/>
          <p:cNvSpPr txBox="1"/>
          <p:nvPr/>
        </p:nvSpPr>
        <p:spPr>
          <a:xfrm>
            <a:off x="3447288" y="5303520"/>
            <a:ext cx="914400" cy="411480"/>
          </a:xfrm>
          <a:prstGeom prst="rect">
            <a:avLst/>
          </a:prstGeom>
          <a:noFill/>
        </p:spPr>
        <p:txBody>
          <a:bodyPr wrap="square" lIns="0" rIns="0" tIns="0" bIns="0" anchor="t">
            <a:spAutoFit/>
          </a:bodyPr>
          <a:lstStyle/>
          <a:p>
            <a:pPr algn="l">
              <a:lnSpc>
                <a:spcPct val="112000"/>
              </a:lnSpc>
            </a:pPr>
            <a:r>
              <a:rPr sz="800" b="0" i="0">
                <a:solidFill>
                  <a:srgbClr val="6E7180"/>
                </a:solidFill>
                <a:latin typeface="Geist"/>
              </a:rPr>
              <a:t>finalist teams</a:t>
            </a:r>
          </a:p>
        </p:txBody>
      </p:sp>
      <p:pic>
        <p:nvPicPr>
          <p:cNvPr id="19" name="Picture 18" descr="ph_forum_stage2.jpg_3.70x2.50_0.30.jpg"/>
          <p:cNvPicPr>
            <a:picLocks noChangeAspect="1"/>
          </p:cNvPicPr>
          <p:nvPr/>
        </p:nvPicPr>
        <p:blipFill>
          <a:blip r:embed="rId3"/>
          <a:stretch>
            <a:fillRect/>
          </a:stretch>
        </p:blipFill>
        <p:spPr>
          <a:xfrm>
            <a:off x="4434840" y="1938528"/>
            <a:ext cx="3383280" cy="2286000"/>
          </a:xfrm>
          <a:prstGeom prst="rect">
            <a:avLst/>
          </a:prstGeom>
        </p:spPr>
      </p:pic>
      <p:sp>
        <p:nvSpPr>
          <p:cNvPr id="20" name="Rectangle 19"/>
          <p:cNvSpPr/>
          <p:nvPr/>
        </p:nvSpPr>
        <p:spPr>
          <a:xfrm>
            <a:off x="4434840" y="1938528"/>
            <a:ext cx="3383280" cy="2286000"/>
          </a:xfrm>
          <a:prstGeom prst="rect">
            <a:avLst/>
          </a:prstGeom>
          <a:noFill/>
          <a:ln w="12700">
            <a:solidFill>
              <a:srgbClr val="E8E9EE"/>
            </a:solidFill>
          </a:ln>
          <a:effectLst/>
        </p:spPr>
        <p:txBody>
          <a:bodyPr rtlCol="0" anchor="ctr"/>
          <a:lstStyle/>
          <a:p>
            <a:pPr algn="ctr"/>
          </a:p>
        </p:txBody>
      </p:sp>
      <p:sp>
        <p:nvSpPr>
          <p:cNvPr id="21" name="TextBox 20"/>
          <p:cNvSpPr txBox="1"/>
          <p:nvPr/>
        </p:nvSpPr>
        <p:spPr>
          <a:xfrm>
            <a:off x="4434840" y="4270248"/>
            <a:ext cx="33832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National Road Safety Implementation Forum, IIT Delhi: 60+ experts from MoRTH, WHO, UNICEF, iRAP and CSIR-CRRI reviewed the work.</a:t>
            </a:r>
          </a:p>
        </p:txBody>
      </p:sp>
      <p:sp>
        <p:nvSpPr>
          <p:cNvPr id="22" name="TextBox 21"/>
          <p:cNvSpPr txBox="1"/>
          <p:nvPr/>
        </p:nvSpPr>
        <p:spPr>
          <a:xfrm>
            <a:off x="4434840" y="4828032"/>
            <a:ext cx="3383280" cy="731520"/>
          </a:xfrm>
          <a:prstGeom prst="rect">
            <a:avLst/>
          </a:prstGeom>
          <a:noFill/>
        </p:spPr>
        <p:txBody>
          <a:bodyPr wrap="square" lIns="0" rIns="0" tIns="0" bIns="0" anchor="t">
            <a:spAutoFit/>
          </a:bodyPr>
          <a:lstStyle/>
          <a:p>
            <a:pPr algn="l">
              <a:lnSpc>
                <a:spcPct val="125000"/>
              </a:lnSpc>
            </a:pPr>
            <a:r>
              <a:rPr sz="950" b="0" i="0">
                <a:solidFill>
                  <a:srgbClr val="6E7180"/>
                </a:solidFill>
                <a:latin typeface="Geist"/>
              </a:rPr>
              <a:t>Mentors and jury from the Government of Rajasthan, NIUA, OMI, NASSCOM and CSEP judged the student teams; winning tracks now feed our audit and research pipeline.</a:t>
            </a:r>
          </a:p>
        </p:txBody>
      </p:sp>
      <p:sp>
        <p:nvSpPr>
          <p:cNvPr id="23" name="Oval 22"/>
          <p:cNvSpPr/>
          <p:nvPr/>
        </p:nvSpPr>
        <p:spPr>
          <a:xfrm>
            <a:off x="8229600" y="1938528"/>
            <a:ext cx="384048" cy="384048"/>
          </a:xfrm>
          <a:prstGeom prst="ellipse">
            <a:avLst/>
          </a:prstGeom>
          <a:solidFill>
            <a:srgbClr val="EFEDFF"/>
          </a:solidFill>
          <a:ln>
            <a:noFill/>
          </a:ln>
          <a:effectLst/>
        </p:spPr>
        <p:txBody>
          <a:bodyPr rtlCol="0" anchor="ctr"/>
          <a:lstStyle/>
          <a:p>
            <a:pPr algn="ctr"/>
          </a:p>
        </p:txBody>
      </p:sp>
      <p:pic>
        <p:nvPicPr>
          <p:cNvPr id="24" name="Picture 23" descr="mic_4A35FF_256_2.0.png"/>
          <p:cNvPicPr>
            <a:picLocks noChangeAspect="1"/>
          </p:cNvPicPr>
          <p:nvPr/>
        </p:nvPicPr>
        <p:blipFill>
          <a:blip r:embed="rId4"/>
          <a:stretch>
            <a:fillRect/>
          </a:stretch>
        </p:blipFill>
        <p:spPr>
          <a:xfrm>
            <a:off x="8321771" y="2030699"/>
            <a:ext cx="199704" cy="199704"/>
          </a:xfrm>
          <a:prstGeom prst="rect">
            <a:avLst/>
          </a:prstGeom>
        </p:spPr>
      </p:pic>
      <p:sp>
        <p:nvSpPr>
          <p:cNvPr id="25" name="TextBox 24"/>
          <p:cNvSpPr txBox="1"/>
          <p:nvPr/>
        </p:nvSpPr>
        <p:spPr>
          <a:xfrm>
            <a:off x="8759952" y="1911096"/>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National Road Safety Dialogue Series</a:t>
            </a:r>
          </a:p>
        </p:txBody>
      </p:sp>
      <p:sp>
        <p:nvSpPr>
          <p:cNvPr id="26" name="TextBox 25"/>
          <p:cNvSpPr txBox="1"/>
          <p:nvPr/>
        </p:nvSpPr>
        <p:spPr>
          <a:xfrm>
            <a:off x="8759952" y="2267712"/>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200+ live attendees; speakers from MoRTH, CIRT, AIIMS Trauma Centre, CSIR-CRRI and ARAI.</a:t>
            </a:r>
          </a:p>
        </p:txBody>
      </p:sp>
      <p:sp>
        <p:nvSpPr>
          <p:cNvPr id="27" name="Oval 26"/>
          <p:cNvSpPr/>
          <p:nvPr/>
        </p:nvSpPr>
        <p:spPr>
          <a:xfrm>
            <a:off x="8229600" y="3108960"/>
            <a:ext cx="384048" cy="384048"/>
          </a:xfrm>
          <a:prstGeom prst="ellipse">
            <a:avLst/>
          </a:prstGeom>
          <a:solidFill>
            <a:srgbClr val="E7F4F4"/>
          </a:solidFill>
          <a:ln>
            <a:noFill/>
          </a:ln>
          <a:effectLst/>
        </p:spPr>
        <p:txBody>
          <a:bodyPr rtlCol="0" anchor="ctr"/>
          <a:lstStyle/>
          <a:p>
            <a:pPr algn="ctr"/>
          </a:p>
        </p:txBody>
      </p:sp>
      <p:pic>
        <p:nvPicPr>
          <p:cNvPr id="28" name="Picture 27" descr="message-square_0E8A8A_256_2.0.png"/>
          <p:cNvPicPr>
            <a:picLocks noChangeAspect="1"/>
          </p:cNvPicPr>
          <p:nvPr/>
        </p:nvPicPr>
        <p:blipFill>
          <a:blip r:embed="rId5"/>
          <a:stretch>
            <a:fillRect/>
          </a:stretch>
        </p:blipFill>
        <p:spPr>
          <a:xfrm>
            <a:off x="8321771" y="3201131"/>
            <a:ext cx="199704" cy="199704"/>
          </a:xfrm>
          <a:prstGeom prst="rect">
            <a:avLst/>
          </a:prstGeom>
        </p:spPr>
      </p:pic>
      <p:sp>
        <p:nvSpPr>
          <p:cNvPr id="29" name="TextBox 28"/>
          <p:cNvSpPr txBox="1"/>
          <p:nvPr/>
        </p:nvSpPr>
        <p:spPr>
          <a:xfrm>
            <a:off x="8759952" y="3081528"/>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Three sessions so far</a:t>
            </a:r>
          </a:p>
        </p:txBody>
      </p:sp>
      <p:sp>
        <p:nvSpPr>
          <p:cNvPr id="30" name="TextBox 29"/>
          <p:cNvSpPr txBox="1"/>
          <p:nvPr/>
        </p:nvSpPr>
        <p:spPr>
          <a:xfrm>
            <a:off x="8759952" y="3438144"/>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Bus safety · Delivery rider safety · Good Samaritan law &amp; the Cashless Treatment Scheme.</a:t>
            </a:r>
          </a:p>
        </p:txBody>
      </p:sp>
      <p:sp>
        <p:nvSpPr>
          <p:cNvPr id="31" name="Oval 30"/>
          <p:cNvSpPr/>
          <p:nvPr/>
        </p:nvSpPr>
        <p:spPr>
          <a:xfrm>
            <a:off x="8229600" y="4279392"/>
            <a:ext cx="384048" cy="384048"/>
          </a:xfrm>
          <a:prstGeom prst="ellipse">
            <a:avLst/>
          </a:prstGeom>
          <a:solidFill>
            <a:srgbClr val="FDEFEC"/>
          </a:solidFill>
          <a:ln>
            <a:noFill/>
          </a:ln>
          <a:effectLst/>
        </p:spPr>
        <p:txBody>
          <a:bodyPr rtlCol="0" anchor="ctr"/>
          <a:lstStyle/>
          <a:p>
            <a:pPr algn="ctr"/>
          </a:p>
        </p:txBody>
      </p:sp>
      <p:pic>
        <p:nvPicPr>
          <p:cNvPr id="32" name="Picture 31" descr="monitor-play_E11900_256_2.0.png"/>
          <p:cNvPicPr>
            <a:picLocks noChangeAspect="1"/>
          </p:cNvPicPr>
          <p:nvPr/>
        </p:nvPicPr>
        <p:blipFill>
          <a:blip r:embed="rId6"/>
          <a:stretch>
            <a:fillRect/>
          </a:stretch>
        </p:blipFill>
        <p:spPr>
          <a:xfrm>
            <a:off x="8321771" y="4371563"/>
            <a:ext cx="199704" cy="199704"/>
          </a:xfrm>
          <a:prstGeom prst="rect">
            <a:avLst/>
          </a:prstGeom>
        </p:spPr>
      </p:pic>
      <p:sp>
        <p:nvSpPr>
          <p:cNvPr id="33" name="TextBox 32"/>
          <p:cNvSpPr txBox="1"/>
          <p:nvPr/>
        </p:nvSpPr>
        <p:spPr>
          <a:xfrm>
            <a:off x="8759952" y="4251960"/>
            <a:ext cx="2880360" cy="50292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Advocacy on video</a:t>
            </a:r>
          </a:p>
        </p:txBody>
      </p:sp>
      <p:sp>
        <p:nvSpPr>
          <p:cNvPr id="34" name="TextBox 33"/>
          <p:cNvSpPr txBox="1"/>
          <p:nvPr/>
        </p:nvSpPr>
        <p:spPr>
          <a:xfrm>
            <a:off x="8759952" y="4608576"/>
            <a:ext cx="2880360" cy="77724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Our YouTube channel documents hazards and fixes on camera: ground-audit walkthroughs, Dialogue Series recordings and victim-education explainers. A public record any authority can cite.</a:t>
            </a:r>
          </a:p>
        </p:txBody>
      </p:sp>
      <p:sp>
        <p:nvSpPr>
          <p:cNvPr id="35" name="Rounded Rectangle 34"/>
          <p:cNvSpPr/>
          <p:nvPr/>
        </p:nvSpPr>
        <p:spPr>
          <a:xfrm>
            <a:off x="8229600" y="5486400"/>
            <a:ext cx="3383280" cy="658368"/>
          </a:xfrm>
          <a:prstGeom prst="roundRect">
            <a:avLst>
              <a:gd name="adj" fmla="val 14000"/>
            </a:avLst>
          </a:prstGeom>
          <a:solidFill>
            <a:srgbClr val="F7F7FA"/>
          </a:solidFill>
          <a:ln>
            <a:noFill/>
          </a:ln>
          <a:effectLst/>
        </p:spPr>
        <p:txBody>
          <a:bodyPr rtlCol="0" anchor="ctr"/>
          <a:lstStyle/>
          <a:p>
            <a:pPr algn="ctr"/>
          </a:p>
        </p:txBody>
      </p:sp>
      <p:sp>
        <p:nvSpPr>
          <p:cNvPr id="36" name="TextBox 35"/>
          <p:cNvSpPr txBox="1"/>
          <p:nvPr/>
        </p:nvSpPr>
        <p:spPr>
          <a:xfrm>
            <a:off x="8394192" y="5559552"/>
            <a:ext cx="3108960" cy="548640"/>
          </a:xfrm>
          <a:prstGeom prst="rect">
            <a:avLst/>
          </a:prstGeom>
          <a:noFill/>
        </p:spPr>
        <p:txBody>
          <a:bodyPr wrap="square" lIns="0" rIns="0" tIns="0" bIns="0" anchor="t">
            <a:spAutoFit/>
          </a:bodyPr>
          <a:lstStyle/>
          <a:p>
            <a:pPr algn="l">
              <a:lnSpc>
                <a:spcPct val="125000"/>
              </a:lnSpc>
            </a:pPr>
            <a:r>
              <a:rPr sz="950" b="1" i="0">
                <a:solidFill>
                  <a:srgbClr val="16181D"/>
                </a:solidFill>
                <a:latin typeface="Geist"/>
              </a:rPr>
              <a:t>Next: </a:t>
            </a:r>
            <a:r>
              <a:rPr sz="950" b="0" i="0">
                <a:solidFill>
                  <a:srgbClr val="6E7180"/>
                </a:solidFill>
                <a:latin typeface="Geist"/>
              </a:rPr>
              <a:t>'Be a Rakshak' university chapters at IITs, NITs and SPAs.</a:t>
            </a:r>
          </a:p>
        </p:txBody>
      </p:sp>
      <p:cxnSp>
        <p:nvCxnSpPr>
          <p:cNvPr id="37" name="Connector 36"/>
          <p:cNvCxnSpPr/>
          <p:nvPr/>
        </p:nvCxnSpPr>
        <p:spPr>
          <a:xfrm>
            <a:off x="566928" y="6455664"/>
            <a:ext cx="11057839" cy="0"/>
          </a:xfrm>
          <a:prstGeom prst="line">
            <a:avLst/>
          </a:prstGeom>
          <a:ln w="9525">
            <a:solidFill>
              <a:srgbClr val="E8E9EE"/>
            </a:solidFill>
          </a:ln>
          <a:effectLst/>
        </p:spPr>
      </p:cxnSp>
      <p:sp>
        <p:nvSpPr>
          <p:cNvPr id="38" name="TextBox 37"/>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9" name="TextBox 38"/>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11 / 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ON THE GROUND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Road Safety Month 2026, run </a:t>
            </a:r>
            <a:r>
              <a:rPr sz="2250" b="1" i="0">
                <a:solidFill>
                  <a:srgbClr val="4A35FF"/>
                </a:solidFill>
                <a:latin typeface="Montserrat"/>
              </a:rPr>
              <a:t>with the system</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With district police, schools, hospitals and delivery platforms, in Hindi and local languages.</a:t>
            </a:r>
          </a:p>
        </p:txBody>
      </p:sp>
      <p:pic>
        <p:nvPicPr>
          <p:cNvPr id="8" name="Picture 7" descr="ph_police_rally.jpg_4.70x3.55_0.35.jpg"/>
          <p:cNvPicPr>
            <a:picLocks noChangeAspect="1"/>
          </p:cNvPicPr>
          <p:nvPr/>
        </p:nvPicPr>
        <p:blipFill>
          <a:blip r:embed="rId2"/>
          <a:stretch>
            <a:fillRect/>
          </a:stretch>
        </p:blipFill>
        <p:spPr>
          <a:xfrm>
            <a:off x="566928" y="1938528"/>
            <a:ext cx="4297680" cy="3246120"/>
          </a:xfrm>
          <a:prstGeom prst="rect">
            <a:avLst/>
          </a:prstGeom>
        </p:spPr>
      </p:pic>
      <p:sp>
        <p:nvSpPr>
          <p:cNvPr id="9" name="Rectangle 8"/>
          <p:cNvSpPr/>
          <p:nvPr/>
        </p:nvSpPr>
        <p:spPr>
          <a:xfrm>
            <a:off x="566928" y="1938528"/>
            <a:ext cx="4297680" cy="324612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5230368"/>
            <a:ext cx="42976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National Road Safety Month rally, on the road with district traffic police, Jan 2026.</a:t>
            </a:r>
          </a:p>
        </p:txBody>
      </p:sp>
      <p:pic>
        <p:nvPicPr>
          <p:cNvPr id="11" name="Picture 10" descr="ph_stall.jpg_3.55x1.72_0.45.jpg"/>
          <p:cNvPicPr>
            <a:picLocks noChangeAspect="1"/>
          </p:cNvPicPr>
          <p:nvPr/>
        </p:nvPicPr>
        <p:blipFill>
          <a:blip r:embed="rId3"/>
          <a:stretch>
            <a:fillRect/>
          </a:stretch>
        </p:blipFill>
        <p:spPr>
          <a:xfrm>
            <a:off x="5074920" y="1938528"/>
            <a:ext cx="3246120" cy="1572768"/>
          </a:xfrm>
          <a:prstGeom prst="rect">
            <a:avLst/>
          </a:prstGeom>
        </p:spPr>
      </p:pic>
      <p:sp>
        <p:nvSpPr>
          <p:cNvPr id="12" name="Rectangle 11"/>
          <p:cNvSpPr/>
          <p:nvPr/>
        </p:nvSpPr>
        <p:spPr>
          <a:xfrm>
            <a:off x="5074920" y="1938528"/>
            <a:ext cx="3246120" cy="1572768"/>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5074920" y="355701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CFI stall at a government office</a:t>
            </a:r>
          </a:p>
        </p:txBody>
      </p:sp>
      <p:pic>
        <p:nvPicPr>
          <p:cNvPr id="14" name="Picture 13" descr="ph_police_station.jpg_3.55x1.72_0.35.jpg"/>
          <p:cNvPicPr>
            <a:picLocks noChangeAspect="1"/>
          </p:cNvPicPr>
          <p:nvPr/>
        </p:nvPicPr>
        <p:blipFill>
          <a:blip r:embed="rId4"/>
          <a:stretch>
            <a:fillRect/>
          </a:stretch>
        </p:blipFill>
        <p:spPr>
          <a:xfrm>
            <a:off x="8412480" y="1938528"/>
            <a:ext cx="3246120" cy="1572768"/>
          </a:xfrm>
          <a:prstGeom prst="rect">
            <a:avLst/>
          </a:prstGeom>
        </p:spPr>
      </p:pic>
      <p:sp>
        <p:nvSpPr>
          <p:cNvPr id="15" name="Rectangle 14"/>
          <p:cNvSpPr/>
          <p:nvPr/>
        </p:nvSpPr>
        <p:spPr>
          <a:xfrm>
            <a:off x="8412480" y="1938528"/>
            <a:ext cx="3246120" cy="1572768"/>
          </a:xfrm>
          <a:prstGeom prst="rect">
            <a:avLst/>
          </a:prstGeom>
          <a:noFill/>
          <a:ln w="12700">
            <a:solidFill>
              <a:srgbClr val="E8E9EE"/>
            </a:solidFill>
          </a:ln>
          <a:effectLst/>
        </p:spPr>
        <p:txBody>
          <a:bodyPr rtlCol="0" anchor="ctr"/>
          <a:lstStyle/>
          <a:p>
            <a:pPr algn="ctr"/>
          </a:p>
        </p:txBody>
      </p:sp>
      <p:sp>
        <p:nvSpPr>
          <p:cNvPr id="16" name="TextBox 15"/>
          <p:cNvSpPr txBox="1"/>
          <p:nvPr/>
        </p:nvSpPr>
        <p:spPr>
          <a:xfrm>
            <a:off x="8412480" y="355701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Materials briefing with police staff</a:t>
            </a:r>
          </a:p>
        </p:txBody>
      </p:sp>
      <p:pic>
        <p:nvPicPr>
          <p:cNvPr id="17" name="Picture 16" descr="ph_school_kids.jpg_3.55x1.72_0.30.jpg"/>
          <p:cNvPicPr>
            <a:picLocks noChangeAspect="1"/>
          </p:cNvPicPr>
          <p:nvPr/>
        </p:nvPicPr>
        <p:blipFill>
          <a:blip r:embed="rId5"/>
          <a:stretch>
            <a:fillRect/>
          </a:stretch>
        </p:blipFill>
        <p:spPr>
          <a:xfrm>
            <a:off x="5074920" y="3904488"/>
            <a:ext cx="3246120" cy="1572768"/>
          </a:xfrm>
          <a:prstGeom prst="rect">
            <a:avLst/>
          </a:prstGeom>
        </p:spPr>
      </p:pic>
      <p:sp>
        <p:nvSpPr>
          <p:cNvPr id="18" name="Rectangle 17"/>
          <p:cNvSpPr/>
          <p:nvPr/>
        </p:nvSpPr>
        <p:spPr>
          <a:xfrm>
            <a:off x="5074920" y="3904488"/>
            <a:ext cx="3246120" cy="1572768"/>
          </a:xfrm>
          <a:prstGeom prst="rect">
            <a:avLst/>
          </a:prstGeom>
          <a:noFill/>
          <a:ln w="12700">
            <a:solidFill>
              <a:srgbClr val="E8E9EE"/>
            </a:solidFill>
          </a:ln>
          <a:effectLst/>
        </p:spPr>
        <p:txBody>
          <a:bodyPr rtlCol="0" anchor="ctr"/>
          <a:lstStyle/>
          <a:p>
            <a:pPr algn="ctr"/>
          </a:p>
        </p:txBody>
      </p:sp>
      <p:sp>
        <p:nvSpPr>
          <p:cNvPr id="19" name="TextBox 18"/>
          <p:cNvSpPr txBox="1"/>
          <p:nvPr/>
        </p:nvSpPr>
        <p:spPr>
          <a:xfrm>
            <a:off x="5074920" y="552297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School programme with certificates</a:t>
            </a:r>
          </a:p>
        </p:txBody>
      </p:sp>
      <p:pic>
        <p:nvPicPr>
          <p:cNvPr id="20" name="Picture 19" descr="ph_gig_riders.jpg_3.55x1.72_0.40.jpg"/>
          <p:cNvPicPr>
            <a:picLocks noChangeAspect="1"/>
          </p:cNvPicPr>
          <p:nvPr/>
        </p:nvPicPr>
        <p:blipFill>
          <a:blip r:embed="rId6"/>
          <a:stretch>
            <a:fillRect/>
          </a:stretch>
        </p:blipFill>
        <p:spPr>
          <a:xfrm>
            <a:off x="8412480" y="3904488"/>
            <a:ext cx="3246120" cy="1572768"/>
          </a:xfrm>
          <a:prstGeom prst="rect">
            <a:avLst/>
          </a:prstGeom>
        </p:spPr>
      </p:pic>
      <p:sp>
        <p:nvSpPr>
          <p:cNvPr id="21" name="Rectangle 20"/>
          <p:cNvSpPr/>
          <p:nvPr/>
        </p:nvSpPr>
        <p:spPr>
          <a:xfrm>
            <a:off x="8412480" y="3904488"/>
            <a:ext cx="3246120" cy="1572768"/>
          </a:xfrm>
          <a:prstGeom prst="rect">
            <a:avLst/>
          </a:prstGeom>
          <a:noFill/>
          <a:ln w="12700">
            <a:solidFill>
              <a:srgbClr val="E8E9EE"/>
            </a:solidFill>
          </a:ln>
          <a:effectLst/>
        </p:spPr>
        <p:txBody>
          <a:bodyPr rtlCol="0" anchor="ctr"/>
          <a:lstStyle/>
          <a:p>
            <a:pPr algn="ctr"/>
          </a:p>
        </p:txBody>
      </p:sp>
      <p:sp>
        <p:nvSpPr>
          <p:cNvPr id="22" name="TextBox 21"/>
          <p:cNvSpPr txBox="1"/>
          <p:nvPr/>
        </p:nvSpPr>
        <p:spPr>
          <a:xfrm>
            <a:off x="8412480" y="5522976"/>
            <a:ext cx="32461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Delivery-rider outreach, Swiggy &amp; Instamart</a:t>
            </a:r>
          </a:p>
        </p:txBody>
      </p:sp>
      <p:sp>
        <p:nvSpPr>
          <p:cNvPr id="23" name="Rounded Rectangle 22"/>
          <p:cNvSpPr/>
          <p:nvPr/>
        </p:nvSpPr>
        <p:spPr>
          <a:xfrm>
            <a:off x="566928" y="5623560"/>
            <a:ext cx="4297680" cy="566928"/>
          </a:xfrm>
          <a:prstGeom prst="roundRect">
            <a:avLst>
              <a:gd name="adj" fmla="val 16000"/>
            </a:avLst>
          </a:prstGeom>
          <a:solidFill>
            <a:srgbClr val="E9F7F0"/>
          </a:solidFill>
          <a:ln>
            <a:noFill/>
          </a:ln>
          <a:effectLst/>
        </p:spPr>
        <p:txBody>
          <a:bodyPr rtlCol="0" anchor="ctr"/>
          <a:lstStyle/>
          <a:p>
            <a:pPr algn="ctr"/>
          </a:p>
        </p:txBody>
      </p:sp>
      <p:sp>
        <p:nvSpPr>
          <p:cNvPr id="24" name="TextBox 23"/>
          <p:cNvSpPr txBox="1"/>
          <p:nvPr/>
        </p:nvSpPr>
        <p:spPr>
          <a:xfrm>
            <a:off x="749808" y="5705856"/>
            <a:ext cx="4023360" cy="457200"/>
          </a:xfrm>
          <a:prstGeom prst="rect">
            <a:avLst/>
          </a:prstGeom>
          <a:noFill/>
        </p:spPr>
        <p:txBody>
          <a:bodyPr wrap="square" lIns="0" rIns="0" tIns="0" bIns="0" anchor="t">
            <a:spAutoFit/>
          </a:bodyPr>
          <a:lstStyle/>
          <a:p>
            <a:pPr algn="l">
              <a:lnSpc>
                <a:spcPct val="120000"/>
              </a:lnSpc>
            </a:pPr>
            <a:r>
              <a:rPr sz="1050" b="1" i="0">
                <a:solidFill>
                  <a:srgbClr val="0A9955"/>
                </a:solidFill>
                <a:latin typeface="Geist"/>
              </a:rPr>
              <a:t>1M+ citizens reached </a:t>
            </a:r>
            <a:r>
              <a:rPr sz="1050" b="0" i="0">
                <a:solidFill>
                  <a:srgbClr val="0A9955"/>
                </a:solidFill>
                <a:latin typeface="Geist"/>
              </a:rPr>
              <a:t>across campaigns in year one.</a:t>
            </a:r>
          </a:p>
        </p:txBody>
      </p:sp>
      <p:cxnSp>
        <p:nvCxnSpPr>
          <p:cNvPr id="25" name="Connector 24"/>
          <p:cNvCxnSpPr/>
          <p:nvPr/>
        </p:nvCxnSpPr>
        <p:spPr>
          <a:xfrm>
            <a:off x="566928" y="6455664"/>
            <a:ext cx="11057839" cy="0"/>
          </a:xfrm>
          <a:prstGeom prst="line">
            <a:avLst/>
          </a:prstGeom>
          <a:ln w="9525">
            <a:solidFill>
              <a:srgbClr val="E8E9EE"/>
            </a:solidFill>
          </a:ln>
          <a:effectLst/>
        </p:spPr>
      </p:cxnSp>
      <p:sp>
        <p:nvSpPr>
          <p:cNvPr id="26" name="TextBox 2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27" name="TextBox 2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12 / 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PUBLIC VOICE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MS Dhoni gives road safety </a:t>
            </a:r>
            <a:r>
              <a:rPr sz="2250" b="1" i="0">
                <a:solidFill>
                  <a:srgbClr val="4A35FF"/>
                </a:solidFill>
                <a:latin typeface="Montserrat"/>
              </a:rPr>
              <a:t>a national voice</a:t>
            </a:r>
          </a:p>
        </p:txBody>
      </p:sp>
      <p:pic>
        <p:nvPicPr>
          <p:cNvPr id="7" name="Picture 6" descr="ph_dhoni_helmet.jpg_2.85x3.60_0.10.jpg"/>
          <p:cNvPicPr>
            <a:picLocks noChangeAspect="1"/>
          </p:cNvPicPr>
          <p:nvPr/>
        </p:nvPicPr>
        <p:blipFill>
          <a:blip r:embed="rId2"/>
          <a:stretch>
            <a:fillRect/>
          </a:stretch>
        </p:blipFill>
        <p:spPr>
          <a:xfrm>
            <a:off x="566928" y="1783080"/>
            <a:ext cx="2606040" cy="3291840"/>
          </a:xfrm>
          <a:prstGeom prst="rect">
            <a:avLst/>
          </a:prstGeom>
        </p:spPr>
      </p:pic>
      <p:sp>
        <p:nvSpPr>
          <p:cNvPr id="8" name="Rectangle 7"/>
          <p:cNvSpPr/>
          <p:nvPr/>
        </p:nvSpPr>
        <p:spPr>
          <a:xfrm>
            <a:off x="566928" y="1783080"/>
            <a:ext cx="2606040" cy="3291840"/>
          </a:xfrm>
          <a:prstGeom prst="rect">
            <a:avLst/>
          </a:prstGeom>
          <a:noFill/>
          <a:ln w="12700">
            <a:solidFill>
              <a:srgbClr val="E8E9EE"/>
            </a:solidFill>
          </a:ln>
          <a:effectLst/>
        </p:spPr>
        <p:txBody>
          <a:bodyPr rtlCol="0" anchor="ctr"/>
          <a:lstStyle/>
          <a:p>
            <a:pPr algn="ctr"/>
          </a:p>
        </p:txBody>
      </p:sp>
      <p:sp>
        <p:nvSpPr>
          <p:cNvPr id="9" name="TextBox 8"/>
          <p:cNvSpPr txBox="1"/>
          <p:nvPr/>
        </p:nvSpPr>
        <p:spPr>
          <a:xfrm>
            <a:off x="566928" y="5120640"/>
            <a:ext cx="260604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MS Dhoni, Goodwill Ambassador, announced April 2026.</a:t>
            </a:r>
          </a:p>
        </p:txBody>
      </p:sp>
      <p:sp>
        <p:nvSpPr>
          <p:cNvPr id="10" name="Rounded Rectangle 9"/>
          <p:cNvSpPr/>
          <p:nvPr/>
        </p:nvSpPr>
        <p:spPr>
          <a:xfrm>
            <a:off x="3429000" y="1783080"/>
            <a:ext cx="3063240" cy="3291840"/>
          </a:xfrm>
          <a:prstGeom prst="roundRect">
            <a:avLst>
              <a:gd name="adj" fmla="val 8000"/>
            </a:avLst>
          </a:prstGeom>
          <a:solidFill>
            <a:srgbClr val="F7F7FA"/>
          </a:solidFill>
          <a:ln>
            <a:noFill/>
          </a:ln>
          <a:effectLst/>
        </p:spPr>
        <p:txBody>
          <a:bodyPr rtlCol="0" anchor="ctr"/>
          <a:lstStyle/>
          <a:p>
            <a:pPr algn="ctr"/>
          </a:p>
        </p:txBody>
      </p:sp>
      <p:sp>
        <p:nvSpPr>
          <p:cNvPr id="11" name="TextBox 10"/>
          <p:cNvSpPr txBox="1"/>
          <p:nvPr/>
        </p:nvSpPr>
        <p:spPr>
          <a:xfrm>
            <a:off x="3657600" y="2057400"/>
            <a:ext cx="2606040" cy="2011680"/>
          </a:xfrm>
          <a:prstGeom prst="rect">
            <a:avLst/>
          </a:prstGeom>
          <a:noFill/>
        </p:spPr>
        <p:txBody>
          <a:bodyPr wrap="square" lIns="0" rIns="0" tIns="0" bIns="0" anchor="t">
            <a:spAutoFit/>
          </a:bodyPr>
          <a:lstStyle/>
          <a:p>
            <a:pPr algn="l">
              <a:lnSpc>
                <a:spcPct val="135000"/>
              </a:lnSpc>
            </a:pPr>
            <a:r>
              <a:rPr sz="1300" b="1" i="1">
                <a:solidFill>
                  <a:srgbClr val="16181D"/>
                </a:solidFill>
                <a:latin typeface="Montserrat"/>
              </a:rPr>
              <a:t>"We already know what is going wrong. What we need now is more responsibility, more discipline, more respect for life."</a:t>
            </a:r>
          </a:p>
        </p:txBody>
      </p:sp>
      <p:sp>
        <p:nvSpPr>
          <p:cNvPr id="12" name="TextBox 11"/>
          <p:cNvSpPr txBox="1"/>
          <p:nvPr/>
        </p:nvSpPr>
        <p:spPr>
          <a:xfrm>
            <a:off x="3657600" y="4206240"/>
            <a:ext cx="2606040" cy="548640"/>
          </a:xfrm>
          <a:prstGeom prst="rect">
            <a:avLst/>
          </a:prstGeom>
          <a:noFill/>
        </p:spPr>
        <p:txBody>
          <a:bodyPr wrap="square" lIns="0" rIns="0" tIns="0" bIns="0" anchor="t">
            <a:spAutoFit/>
          </a:bodyPr>
          <a:lstStyle/>
          <a:p>
            <a:pPr algn="l">
              <a:lnSpc>
                <a:spcPct val="125000"/>
              </a:lnSpc>
            </a:pPr>
            <a:r>
              <a:rPr sz="900" b="0" i="0">
                <a:solidFill>
                  <a:srgbClr val="6E7180"/>
                </a:solidFill>
                <a:latin typeface="Geist"/>
              </a:rPr>
              <a:t>MS Dhoni, at the National Road Safety</a:t>
            </a:r>
          </a:p>
          <a:p>
            <a:pPr algn="l">
              <a:lnSpc>
                <a:spcPct val="125000"/>
              </a:lnSpc>
            </a:pPr>
            <a:r>
              <a:rPr sz="900" b="0" i="0">
                <a:solidFill>
                  <a:srgbClr val="6E7180"/>
                </a:solidFill>
                <a:latin typeface="Geist"/>
              </a:rPr>
              <a:t>Implementation Forum, IIT Delhi</a:t>
            </a:r>
          </a:p>
        </p:txBody>
      </p:sp>
      <p:sp>
        <p:nvSpPr>
          <p:cNvPr id="13" name="TextBox 12"/>
          <p:cNvSpPr txBox="1"/>
          <p:nvPr/>
        </p:nvSpPr>
        <p:spPr>
          <a:xfrm>
            <a:off x="6766560" y="1783080"/>
            <a:ext cx="4846320" cy="237744"/>
          </a:xfrm>
          <a:prstGeom prst="rect">
            <a:avLst/>
          </a:prstGeom>
          <a:noFill/>
        </p:spPr>
        <p:txBody>
          <a:bodyPr wrap="square" lIns="0" rIns="0" tIns="0" bIns="0" anchor="t">
            <a:spAutoFit/>
          </a:bodyPr>
          <a:lstStyle/>
          <a:p>
            <a:pPr algn="l">
              <a:lnSpc>
                <a:spcPct val="128000"/>
              </a:lnSpc>
            </a:pPr>
            <a:r>
              <a:rPr sz="800" b="1" i="0" spc="160">
                <a:solidFill>
                  <a:srgbClr val="6E7180"/>
                </a:solidFill>
                <a:latin typeface="Montserrat"/>
              </a:rPr>
              <a:t>AS SEEN IN THE PRESS</a:t>
            </a:r>
          </a:p>
        </p:txBody>
      </p:sp>
      <p:pic>
        <p:nvPicPr>
          <p:cNvPr id="14" name="Picture 13" descr="opt_press_ht_primer_1500.jpg"/>
          <p:cNvPicPr>
            <a:picLocks noChangeAspect="1"/>
          </p:cNvPicPr>
          <p:nvPr/>
        </p:nvPicPr>
        <p:blipFill>
          <a:blip r:embed="rId3"/>
          <a:stretch>
            <a:fillRect/>
          </a:stretch>
        </p:blipFill>
        <p:spPr>
          <a:xfrm>
            <a:off x="6766560" y="2084831"/>
            <a:ext cx="2313584" cy="1965960"/>
          </a:xfrm>
          <a:prstGeom prst="rect">
            <a:avLst/>
          </a:prstGeom>
        </p:spPr>
      </p:pic>
      <p:sp>
        <p:nvSpPr>
          <p:cNvPr id="15" name="Rectangle 14"/>
          <p:cNvSpPr/>
          <p:nvPr/>
        </p:nvSpPr>
        <p:spPr>
          <a:xfrm>
            <a:off x="6766560" y="2084831"/>
            <a:ext cx="2313584" cy="1965960"/>
          </a:xfrm>
          <a:prstGeom prst="rect">
            <a:avLst/>
          </a:prstGeom>
          <a:noFill/>
          <a:ln w="12700">
            <a:solidFill>
              <a:srgbClr val="E8E9EE"/>
            </a:solidFill>
          </a:ln>
          <a:effectLst/>
        </p:spPr>
        <p:txBody>
          <a:bodyPr rtlCol="0" anchor="ctr"/>
          <a:lstStyle/>
          <a:p>
            <a:pPr algn="ctr"/>
          </a:p>
        </p:txBody>
      </p:sp>
      <p:sp>
        <p:nvSpPr>
          <p:cNvPr id="16" name="TextBox 15"/>
          <p:cNvSpPr txBox="1"/>
          <p:nvPr/>
        </p:nvSpPr>
        <p:spPr>
          <a:xfrm>
            <a:off x="6766560" y="4096511"/>
            <a:ext cx="2313584"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Hindustan Times, on our</a:t>
            </a:r>
          </a:p>
          <a:p>
            <a:pPr algn="l">
              <a:lnSpc>
                <a:spcPct val="112000"/>
              </a:lnSpc>
            </a:pPr>
            <a:r>
              <a:rPr sz="850" b="0" i="0">
                <a:solidFill>
                  <a:srgbClr val="6E7180"/>
                </a:solidFill>
                <a:latin typeface="Geist"/>
              </a:rPr>
              <a:t>Pre-Hospital Care Primer.</a:t>
            </a:r>
          </a:p>
        </p:txBody>
      </p:sp>
      <p:pic>
        <p:nvPicPr>
          <p:cNvPr id="17" name="Picture 16" descr="opt_press_print_ideathon_1500.jpg"/>
          <p:cNvPicPr>
            <a:picLocks noChangeAspect="1"/>
          </p:cNvPicPr>
          <p:nvPr/>
        </p:nvPicPr>
        <p:blipFill>
          <a:blip r:embed="rId4"/>
          <a:stretch>
            <a:fillRect/>
          </a:stretch>
        </p:blipFill>
        <p:spPr>
          <a:xfrm>
            <a:off x="9281160" y="2084831"/>
            <a:ext cx="2331720" cy="1600567"/>
          </a:xfrm>
          <a:prstGeom prst="rect">
            <a:avLst/>
          </a:prstGeom>
        </p:spPr>
      </p:pic>
      <p:sp>
        <p:nvSpPr>
          <p:cNvPr id="18" name="Rectangle 17"/>
          <p:cNvSpPr/>
          <p:nvPr/>
        </p:nvSpPr>
        <p:spPr>
          <a:xfrm>
            <a:off x="9281160" y="2084831"/>
            <a:ext cx="2331720" cy="1600567"/>
          </a:xfrm>
          <a:prstGeom prst="rect">
            <a:avLst/>
          </a:prstGeom>
          <a:noFill/>
          <a:ln w="12700">
            <a:solidFill>
              <a:srgbClr val="E8E9EE"/>
            </a:solidFill>
          </a:ln>
          <a:effectLst/>
        </p:spPr>
        <p:txBody>
          <a:bodyPr rtlCol="0" anchor="ctr"/>
          <a:lstStyle/>
          <a:p>
            <a:pPr algn="ctr"/>
          </a:p>
        </p:txBody>
      </p:sp>
      <p:sp>
        <p:nvSpPr>
          <p:cNvPr id="19" name="TextBox 18"/>
          <p:cNvSpPr txBox="1"/>
          <p:nvPr/>
        </p:nvSpPr>
        <p:spPr>
          <a:xfrm>
            <a:off x="9281160" y="3731118"/>
            <a:ext cx="233172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ThePrint, on the NextMile</a:t>
            </a:r>
          </a:p>
          <a:p>
            <a:pPr algn="l">
              <a:lnSpc>
                <a:spcPct val="112000"/>
              </a:lnSpc>
            </a:pPr>
            <a:r>
              <a:rPr sz="850" b="0" i="0">
                <a:solidFill>
                  <a:srgbClr val="6E7180"/>
                </a:solidFill>
                <a:latin typeface="Geist"/>
              </a:rPr>
              <a:t>ideathon finale.</a:t>
            </a:r>
          </a:p>
        </p:txBody>
      </p:sp>
      <p:sp>
        <p:nvSpPr>
          <p:cNvPr id="20" name="Rounded Rectangle 19"/>
          <p:cNvSpPr/>
          <p:nvPr/>
        </p:nvSpPr>
        <p:spPr>
          <a:xfrm>
            <a:off x="6766560" y="4709160"/>
            <a:ext cx="1463040" cy="548640"/>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1" name="Picture 20" descr="lg_bloomberg.png"/>
          <p:cNvPicPr>
            <a:picLocks noChangeAspect="1"/>
          </p:cNvPicPr>
          <p:nvPr/>
        </p:nvPicPr>
        <p:blipFill>
          <a:blip r:embed="rId5"/>
          <a:stretch>
            <a:fillRect/>
          </a:stretch>
        </p:blipFill>
        <p:spPr>
          <a:xfrm>
            <a:off x="6876288" y="4867715"/>
            <a:ext cx="1243584" cy="231530"/>
          </a:xfrm>
          <a:prstGeom prst="rect">
            <a:avLst/>
          </a:prstGeom>
        </p:spPr>
      </p:pic>
      <p:sp>
        <p:nvSpPr>
          <p:cNvPr id="22" name="Rounded Rectangle 21"/>
          <p:cNvSpPr/>
          <p:nvPr/>
        </p:nvSpPr>
        <p:spPr>
          <a:xfrm>
            <a:off x="8339327" y="4709160"/>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3" name="TextBox 22"/>
          <p:cNvSpPr txBox="1"/>
          <p:nvPr/>
        </p:nvSpPr>
        <p:spPr>
          <a:xfrm>
            <a:off x="8357615" y="4709160"/>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Deccan Herald</a:t>
            </a:r>
          </a:p>
        </p:txBody>
      </p:sp>
      <p:sp>
        <p:nvSpPr>
          <p:cNvPr id="24" name="Rounded Rectangle 23"/>
          <p:cNvSpPr/>
          <p:nvPr/>
        </p:nvSpPr>
        <p:spPr>
          <a:xfrm>
            <a:off x="9473183" y="4709160"/>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5" name="TextBox 24"/>
          <p:cNvSpPr txBox="1"/>
          <p:nvPr/>
        </p:nvSpPr>
        <p:spPr>
          <a:xfrm>
            <a:off x="9491471" y="4709160"/>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Economic Times</a:t>
            </a:r>
          </a:p>
        </p:txBody>
      </p:sp>
      <p:sp>
        <p:nvSpPr>
          <p:cNvPr id="26" name="Rounded Rectangle 25"/>
          <p:cNvSpPr/>
          <p:nvPr/>
        </p:nvSpPr>
        <p:spPr>
          <a:xfrm>
            <a:off x="10607039" y="4709160"/>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7" name="TextBox 26"/>
          <p:cNvSpPr txBox="1"/>
          <p:nvPr/>
        </p:nvSpPr>
        <p:spPr>
          <a:xfrm>
            <a:off x="10625327" y="4709160"/>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Fortune India</a:t>
            </a:r>
          </a:p>
        </p:txBody>
      </p:sp>
      <p:sp>
        <p:nvSpPr>
          <p:cNvPr id="28" name="Rounded Rectangle 27"/>
          <p:cNvSpPr/>
          <p:nvPr/>
        </p:nvSpPr>
        <p:spPr>
          <a:xfrm>
            <a:off x="8339327" y="5020056"/>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29" name="TextBox 28"/>
          <p:cNvSpPr txBox="1"/>
          <p:nvPr/>
        </p:nvSpPr>
        <p:spPr>
          <a:xfrm>
            <a:off x="8357615" y="5020056"/>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IndiaSpend</a:t>
            </a:r>
          </a:p>
        </p:txBody>
      </p:sp>
      <p:sp>
        <p:nvSpPr>
          <p:cNvPr id="30" name="Rounded Rectangle 29"/>
          <p:cNvSpPr/>
          <p:nvPr/>
        </p:nvSpPr>
        <p:spPr>
          <a:xfrm>
            <a:off x="9473183" y="5020056"/>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1" name="TextBox 30"/>
          <p:cNvSpPr txBox="1"/>
          <p:nvPr/>
        </p:nvSpPr>
        <p:spPr>
          <a:xfrm>
            <a:off x="9491471" y="5020056"/>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Scroll.in</a:t>
            </a:r>
          </a:p>
        </p:txBody>
      </p:sp>
      <p:sp>
        <p:nvSpPr>
          <p:cNvPr id="32" name="Rounded Rectangle 31"/>
          <p:cNvSpPr/>
          <p:nvPr/>
        </p:nvSpPr>
        <p:spPr>
          <a:xfrm>
            <a:off x="10607039" y="5020056"/>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3" name="TextBox 32"/>
          <p:cNvSpPr txBox="1"/>
          <p:nvPr/>
        </p:nvSpPr>
        <p:spPr>
          <a:xfrm>
            <a:off x="10625327" y="5020056"/>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The Wire</a:t>
            </a:r>
          </a:p>
        </p:txBody>
      </p:sp>
      <p:sp>
        <p:nvSpPr>
          <p:cNvPr id="34" name="Rounded Rectangle 33"/>
          <p:cNvSpPr/>
          <p:nvPr/>
        </p:nvSpPr>
        <p:spPr>
          <a:xfrm>
            <a:off x="8339327" y="5330952"/>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5" name="TextBox 34"/>
          <p:cNvSpPr txBox="1"/>
          <p:nvPr/>
        </p:nvSpPr>
        <p:spPr>
          <a:xfrm>
            <a:off x="8357615" y="5330952"/>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Times of India</a:t>
            </a:r>
          </a:p>
        </p:txBody>
      </p:sp>
      <p:sp>
        <p:nvSpPr>
          <p:cNvPr id="36" name="Rounded Rectangle 35"/>
          <p:cNvSpPr/>
          <p:nvPr/>
        </p:nvSpPr>
        <p:spPr>
          <a:xfrm>
            <a:off x="9473183" y="5330952"/>
            <a:ext cx="1078992" cy="256032"/>
          </a:xfrm>
          <a:prstGeom prst="roundRect">
            <a:avLst>
              <a:gd name="adj" fmla="val 50000"/>
            </a:avLst>
          </a:prstGeom>
          <a:solidFill>
            <a:srgbClr val="FFFFFF"/>
          </a:solidFill>
          <a:ln w="9525">
            <a:solidFill>
              <a:srgbClr val="E8E9EE"/>
            </a:solidFill>
          </a:ln>
          <a:effectLst/>
        </p:spPr>
        <p:txBody>
          <a:bodyPr rtlCol="0" anchor="ctr"/>
          <a:lstStyle/>
          <a:p>
            <a:pPr algn="ctr"/>
          </a:p>
        </p:txBody>
      </p:sp>
      <p:sp>
        <p:nvSpPr>
          <p:cNvPr id="37" name="TextBox 36"/>
          <p:cNvSpPr txBox="1"/>
          <p:nvPr/>
        </p:nvSpPr>
        <p:spPr>
          <a:xfrm>
            <a:off x="9491471" y="5330952"/>
            <a:ext cx="1042416" cy="256032"/>
          </a:xfrm>
          <a:prstGeom prst="rect">
            <a:avLst/>
          </a:prstGeom>
          <a:noFill/>
        </p:spPr>
        <p:txBody>
          <a:bodyPr wrap="square" lIns="0" rIns="0" tIns="0" bIns="0" anchor="ctr">
            <a:spAutoFit/>
          </a:bodyPr>
          <a:lstStyle/>
          <a:p>
            <a:pPr algn="ctr">
              <a:lnSpc>
                <a:spcPct val="100000"/>
              </a:lnSpc>
            </a:pPr>
            <a:r>
              <a:rPr sz="650" b="0" i="0">
                <a:solidFill>
                  <a:srgbClr val="16181D"/>
                </a:solidFill>
                <a:latin typeface="Montserrat"/>
              </a:rPr>
              <a:t>Business Standard</a:t>
            </a:r>
          </a:p>
        </p:txBody>
      </p:sp>
      <p:sp>
        <p:nvSpPr>
          <p:cNvPr id="38" name="TextBox 37"/>
          <p:cNvSpPr txBox="1"/>
          <p:nvPr/>
        </p:nvSpPr>
        <p:spPr>
          <a:xfrm>
            <a:off x="566928" y="5440680"/>
            <a:ext cx="6035040" cy="502920"/>
          </a:xfrm>
          <a:prstGeom prst="rect">
            <a:avLst/>
          </a:prstGeom>
          <a:noFill/>
        </p:spPr>
        <p:txBody>
          <a:bodyPr wrap="square" lIns="0" rIns="0" tIns="0" bIns="0" anchor="t">
            <a:spAutoFit/>
          </a:bodyPr>
          <a:lstStyle/>
          <a:p>
            <a:pPr algn="l">
              <a:lnSpc>
                <a:spcPct val="130000"/>
              </a:lnSpc>
            </a:pPr>
            <a:r>
              <a:rPr sz="1000" b="0" i="0">
                <a:solidFill>
                  <a:srgbClr val="6E7180"/>
                </a:solidFill>
                <a:latin typeface="Geist"/>
              </a:rPr>
              <a:t>Dhoni's voice powers 'Be a Rakshak', school-zone safety and compensation-awareness campaigns.</a:t>
            </a:r>
          </a:p>
        </p:txBody>
      </p:sp>
      <p:cxnSp>
        <p:nvCxnSpPr>
          <p:cNvPr id="39" name="Connector 38"/>
          <p:cNvCxnSpPr/>
          <p:nvPr/>
        </p:nvCxnSpPr>
        <p:spPr>
          <a:xfrm>
            <a:off x="566928" y="6455664"/>
            <a:ext cx="11057839" cy="0"/>
          </a:xfrm>
          <a:prstGeom prst="line">
            <a:avLst/>
          </a:prstGeom>
          <a:ln w="9525">
            <a:solidFill>
              <a:srgbClr val="E8E9EE"/>
            </a:solidFill>
          </a:ln>
          <a:effectLst/>
        </p:spPr>
      </p:cxnSp>
      <p:sp>
        <p:nvSpPr>
          <p:cNvPr id="40" name="TextBox 3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41" name="TextBox 4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13 / 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2 OF 5  ·  WHAT WE HAVE BUILT</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WHAT WE HAVE BUILT, THE NETWORK</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The institutions </a:t>
            </a:r>
            <a:r>
              <a:rPr sz="2250" b="1" i="0">
                <a:solidFill>
                  <a:srgbClr val="4A35FF"/>
                </a:solidFill>
                <a:latin typeface="Montserrat"/>
              </a:rPr>
              <a:t>around the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As they appear in our working decks, engagement ranges from formal MoUs and written approvals to jury, mentoring and research collaboration.</a:t>
            </a:r>
          </a:p>
        </p:txBody>
      </p:sp>
      <p:sp>
        <p:nvSpPr>
          <p:cNvPr id="8" name="TextBox 7"/>
          <p:cNvSpPr txBox="1"/>
          <p:nvPr/>
        </p:nvSpPr>
        <p:spPr>
          <a:xfrm>
            <a:off x="566928" y="1783080"/>
            <a:ext cx="10972800" cy="219456"/>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AUTHORITIES &amp; PUBLIC BODIES WE WORK WITH</a:t>
            </a:r>
          </a:p>
        </p:txBody>
      </p:sp>
      <p:sp>
        <p:nvSpPr>
          <p:cNvPr id="9" name="Rounded Rectangle 8"/>
          <p:cNvSpPr/>
          <p:nvPr/>
        </p:nvSpPr>
        <p:spPr>
          <a:xfrm>
            <a:off x="566928"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0" name="Picture 9" descr="lg_nhai.png"/>
          <p:cNvPicPr>
            <a:picLocks noChangeAspect="1"/>
          </p:cNvPicPr>
          <p:nvPr/>
        </p:nvPicPr>
        <p:blipFill>
          <a:blip r:embed="rId2"/>
          <a:stretch>
            <a:fillRect/>
          </a:stretch>
        </p:blipFill>
        <p:spPr>
          <a:xfrm>
            <a:off x="841725" y="2167128"/>
            <a:ext cx="748854" cy="493776"/>
          </a:xfrm>
          <a:prstGeom prst="rect">
            <a:avLst/>
          </a:prstGeom>
        </p:spPr>
      </p:pic>
      <p:sp>
        <p:nvSpPr>
          <p:cNvPr id="11" name="Rounded Rectangle 10"/>
          <p:cNvSpPr/>
          <p:nvPr/>
        </p:nvSpPr>
        <p:spPr>
          <a:xfrm>
            <a:off x="1956816"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2" name="Picture 11" descr="lg_pwd.png"/>
          <p:cNvPicPr>
            <a:picLocks noChangeAspect="1"/>
          </p:cNvPicPr>
          <p:nvPr/>
        </p:nvPicPr>
        <p:blipFill>
          <a:blip r:embed="rId3"/>
          <a:stretch>
            <a:fillRect/>
          </a:stretch>
        </p:blipFill>
        <p:spPr>
          <a:xfrm>
            <a:off x="2234145" y="2167128"/>
            <a:ext cx="743789" cy="493776"/>
          </a:xfrm>
          <a:prstGeom prst="rect">
            <a:avLst/>
          </a:prstGeom>
        </p:spPr>
      </p:pic>
      <p:sp>
        <p:nvSpPr>
          <p:cNvPr id="13" name="Rounded Rectangle 12"/>
          <p:cNvSpPr/>
          <p:nvPr/>
        </p:nvSpPr>
        <p:spPr>
          <a:xfrm>
            <a:off x="3346704"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4" name="Picture 13" descr="lg_indore_nn.png"/>
          <p:cNvPicPr>
            <a:picLocks noChangeAspect="1"/>
          </p:cNvPicPr>
          <p:nvPr/>
        </p:nvPicPr>
        <p:blipFill>
          <a:blip r:embed="rId4"/>
          <a:stretch>
            <a:fillRect/>
          </a:stretch>
        </p:blipFill>
        <p:spPr>
          <a:xfrm>
            <a:off x="3784517" y="2167128"/>
            <a:ext cx="422822" cy="493776"/>
          </a:xfrm>
          <a:prstGeom prst="rect">
            <a:avLst/>
          </a:prstGeom>
        </p:spPr>
      </p:pic>
      <p:sp>
        <p:nvSpPr>
          <p:cNvPr id="15" name="Rounded Rectangle 14"/>
          <p:cNvSpPr/>
          <p:nvPr/>
        </p:nvSpPr>
        <p:spPr>
          <a:xfrm>
            <a:off x="4736592"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6" name="Picture 15" descr="lg_vijayawada_police.png"/>
          <p:cNvPicPr>
            <a:picLocks noChangeAspect="1"/>
          </p:cNvPicPr>
          <p:nvPr/>
        </p:nvPicPr>
        <p:blipFill>
          <a:blip r:embed="rId5"/>
          <a:stretch>
            <a:fillRect/>
          </a:stretch>
        </p:blipFill>
        <p:spPr>
          <a:xfrm>
            <a:off x="5138928" y="2167128"/>
            <a:ext cx="493776" cy="493776"/>
          </a:xfrm>
          <a:prstGeom prst="rect">
            <a:avLst/>
          </a:prstGeom>
        </p:spPr>
      </p:pic>
      <p:sp>
        <p:nvSpPr>
          <p:cNvPr id="17" name="Rounded Rectangle 16"/>
          <p:cNvSpPr/>
          <p:nvPr/>
        </p:nvSpPr>
        <p:spPr>
          <a:xfrm>
            <a:off x="6126480"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18" name="Picture 17" descr="lg_haryana_police.png"/>
          <p:cNvPicPr>
            <a:picLocks noChangeAspect="1"/>
          </p:cNvPicPr>
          <p:nvPr/>
        </p:nvPicPr>
        <p:blipFill>
          <a:blip r:embed="rId6"/>
          <a:stretch>
            <a:fillRect/>
          </a:stretch>
        </p:blipFill>
        <p:spPr>
          <a:xfrm>
            <a:off x="6528816" y="2167128"/>
            <a:ext cx="493776" cy="493776"/>
          </a:xfrm>
          <a:prstGeom prst="rect">
            <a:avLst/>
          </a:prstGeom>
        </p:spPr>
      </p:pic>
      <p:sp>
        <p:nvSpPr>
          <p:cNvPr id="19" name="Rounded Rectangle 18"/>
          <p:cNvSpPr/>
          <p:nvPr/>
        </p:nvSpPr>
        <p:spPr>
          <a:xfrm>
            <a:off x="7516368"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0" name="Picture 19" descr="lg_kolkata_police.png"/>
          <p:cNvPicPr>
            <a:picLocks noChangeAspect="1"/>
          </p:cNvPicPr>
          <p:nvPr/>
        </p:nvPicPr>
        <p:blipFill>
          <a:blip r:embed="rId7"/>
          <a:stretch>
            <a:fillRect/>
          </a:stretch>
        </p:blipFill>
        <p:spPr>
          <a:xfrm>
            <a:off x="7909726" y="2167128"/>
            <a:ext cx="511731" cy="493776"/>
          </a:xfrm>
          <a:prstGeom prst="rect">
            <a:avLst/>
          </a:prstGeom>
        </p:spPr>
      </p:pic>
      <p:sp>
        <p:nvSpPr>
          <p:cNvPr id="21" name="Rounded Rectangle 20"/>
          <p:cNvSpPr/>
          <p:nvPr/>
        </p:nvSpPr>
        <p:spPr>
          <a:xfrm>
            <a:off x="8906256"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2" name="Picture 21" descr="lg_kozhikode_tp.png"/>
          <p:cNvPicPr>
            <a:picLocks noChangeAspect="1"/>
          </p:cNvPicPr>
          <p:nvPr/>
        </p:nvPicPr>
        <p:blipFill>
          <a:blip r:embed="rId8"/>
          <a:stretch>
            <a:fillRect/>
          </a:stretch>
        </p:blipFill>
        <p:spPr>
          <a:xfrm>
            <a:off x="9307490" y="2167128"/>
            <a:ext cx="495980" cy="493776"/>
          </a:xfrm>
          <a:prstGeom prst="rect">
            <a:avLst/>
          </a:prstGeom>
        </p:spPr>
      </p:pic>
      <p:sp>
        <p:nvSpPr>
          <p:cNvPr id="23" name="Rounded Rectangle 22"/>
          <p:cNvSpPr/>
          <p:nvPr/>
        </p:nvSpPr>
        <p:spPr>
          <a:xfrm>
            <a:off x="10296144" y="205740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4" name="Picture 23" descr="lg_dlsa.png"/>
          <p:cNvPicPr>
            <a:picLocks noChangeAspect="1"/>
          </p:cNvPicPr>
          <p:nvPr/>
        </p:nvPicPr>
        <p:blipFill>
          <a:blip r:embed="rId9"/>
          <a:stretch>
            <a:fillRect/>
          </a:stretch>
        </p:blipFill>
        <p:spPr>
          <a:xfrm>
            <a:off x="10735297" y="2167128"/>
            <a:ext cx="420142" cy="493776"/>
          </a:xfrm>
          <a:prstGeom prst="rect">
            <a:avLst/>
          </a:prstGeom>
        </p:spPr>
      </p:pic>
      <p:sp>
        <p:nvSpPr>
          <p:cNvPr id="25" name="TextBox 24"/>
          <p:cNvSpPr txBox="1"/>
          <p:nvPr/>
        </p:nvSpPr>
        <p:spPr>
          <a:xfrm>
            <a:off x="566928" y="3063240"/>
            <a:ext cx="10972800" cy="219456"/>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UNIVERSITIES &amp; INSTITUTES FIELDING AUDIT TEAMS</a:t>
            </a:r>
          </a:p>
        </p:txBody>
      </p:sp>
      <p:sp>
        <p:nvSpPr>
          <p:cNvPr id="26" name="Rounded Rectangle 25"/>
          <p:cNvSpPr/>
          <p:nvPr/>
        </p:nvSpPr>
        <p:spPr>
          <a:xfrm>
            <a:off x="566928"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7" name="Picture 26" descr="lg_iitm.png"/>
          <p:cNvPicPr>
            <a:picLocks noChangeAspect="1"/>
          </p:cNvPicPr>
          <p:nvPr/>
        </p:nvPicPr>
        <p:blipFill>
          <a:blip r:embed="rId10"/>
          <a:stretch>
            <a:fillRect/>
          </a:stretch>
        </p:blipFill>
        <p:spPr>
          <a:xfrm>
            <a:off x="969264" y="3447288"/>
            <a:ext cx="493776" cy="493776"/>
          </a:xfrm>
          <a:prstGeom prst="rect">
            <a:avLst/>
          </a:prstGeom>
        </p:spPr>
      </p:pic>
      <p:sp>
        <p:nvSpPr>
          <p:cNvPr id="28" name="Rounded Rectangle 27"/>
          <p:cNvSpPr/>
          <p:nvPr/>
        </p:nvSpPr>
        <p:spPr>
          <a:xfrm>
            <a:off x="1956816"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29" name="Picture 28" descr="lg_iitd.png"/>
          <p:cNvPicPr>
            <a:picLocks noChangeAspect="1"/>
          </p:cNvPicPr>
          <p:nvPr/>
        </p:nvPicPr>
        <p:blipFill>
          <a:blip r:embed="rId11"/>
          <a:stretch>
            <a:fillRect/>
          </a:stretch>
        </p:blipFill>
        <p:spPr>
          <a:xfrm>
            <a:off x="2361751" y="3447288"/>
            <a:ext cx="488578" cy="493776"/>
          </a:xfrm>
          <a:prstGeom prst="rect">
            <a:avLst/>
          </a:prstGeom>
        </p:spPr>
      </p:pic>
      <p:sp>
        <p:nvSpPr>
          <p:cNvPr id="30" name="Rounded Rectangle 29"/>
          <p:cNvSpPr/>
          <p:nvPr/>
        </p:nvSpPr>
        <p:spPr>
          <a:xfrm>
            <a:off x="3346704"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1" name="Picture 30" descr="lg_nitc.png"/>
          <p:cNvPicPr>
            <a:picLocks noChangeAspect="1"/>
          </p:cNvPicPr>
          <p:nvPr/>
        </p:nvPicPr>
        <p:blipFill>
          <a:blip r:embed="rId12"/>
          <a:stretch>
            <a:fillRect/>
          </a:stretch>
        </p:blipFill>
        <p:spPr>
          <a:xfrm>
            <a:off x="3784951" y="3447288"/>
            <a:ext cx="421954" cy="493776"/>
          </a:xfrm>
          <a:prstGeom prst="rect">
            <a:avLst/>
          </a:prstGeom>
        </p:spPr>
      </p:pic>
      <p:sp>
        <p:nvSpPr>
          <p:cNvPr id="32" name="Rounded Rectangle 31"/>
          <p:cNvSpPr/>
          <p:nvPr/>
        </p:nvSpPr>
        <p:spPr>
          <a:xfrm>
            <a:off x="4736592"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3" name="Picture 32" descr="lg_u29.png"/>
          <p:cNvPicPr>
            <a:picLocks noChangeAspect="1"/>
          </p:cNvPicPr>
          <p:nvPr/>
        </p:nvPicPr>
        <p:blipFill>
          <a:blip r:embed="rId13"/>
          <a:stretch>
            <a:fillRect/>
          </a:stretch>
        </p:blipFill>
        <p:spPr>
          <a:xfrm>
            <a:off x="5136329" y="3447288"/>
            <a:ext cx="498973" cy="493776"/>
          </a:xfrm>
          <a:prstGeom prst="rect">
            <a:avLst/>
          </a:prstGeom>
        </p:spPr>
      </p:pic>
      <p:sp>
        <p:nvSpPr>
          <p:cNvPr id="34" name="Rounded Rectangle 33"/>
          <p:cNvSpPr/>
          <p:nvPr/>
        </p:nvSpPr>
        <p:spPr>
          <a:xfrm>
            <a:off x="6126480"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5" name="Picture 34" descr="lg_u30.png"/>
          <p:cNvPicPr>
            <a:picLocks noChangeAspect="1"/>
          </p:cNvPicPr>
          <p:nvPr/>
        </p:nvPicPr>
        <p:blipFill>
          <a:blip r:embed="rId14"/>
          <a:stretch>
            <a:fillRect/>
          </a:stretch>
        </p:blipFill>
        <p:spPr>
          <a:xfrm>
            <a:off x="6453450" y="3447288"/>
            <a:ext cx="644507" cy="493776"/>
          </a:xfrm>
          <a:prstGeom prst="rect">
            <a:avLst/>
          </a:prstGeom>
        </p:spPr>
      </p:pic>
      <p:sp>
        <p:nvSpPr>
          <p:cNvPr id="36" name="Rounded Rectangle 35"/>
          <p:cNvSpPr/>
          <p:nvPr/>
        </p:nvSpPr>
        <p:spPr>
          <a:xfrm>
            <a:off x="7516368"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7" name="Picture 36" descr="lg_u25.png"/>
          <p:cNvPicPr>
            <a:picLocks noChangeAspect="1"/>
          </p:cNvPicPr>
          <p:nvPr/>
        </p:nvPicPr>
        <p:blipFill>
          <a:blip r:embed="rId15"/>
          <a:stretch>
            <a:fillRect/>
          </a:stretch>
        </p:blipFill>
        <p:spPr>
          <a:xfrm>
            <a:off x="7918704" y="3447288"/>
            <a:ext cx="493776" cy="493776"/>
          </a:xfrm>
          <a:prstGeom prst="rect">
            <a:avLst/>
          </a:prstGeom>
        </p:spPr>
      </p:pic>
      <p:sp>
        <p:nvSpPr>
          <p:cNvPr id="38" name="Rounded Rectangle 37"/>
          <p:cNvSpPr/>
          <p:nvPr/>
        </p:nvSpPr>
        <p:spPr>
          <a:xfrm>
            <a:off x="8906256"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39" name="Picture 38" descr="lg_u22.png"/>
          <p:cNvPicPr>
            <a:picLocks noChangeAspect="1"/>
          </p:cNvPicPr>
          <p:nvPr/>
        </p:nvPicPr>
        <p:blipFill>
          <a:blip r:embed="rId16"/>
          <a:stretch>
            <a:fillRect/>
          </a:stretch>
        </p:blipFill>
        <p:spPr>
          <a:xfrm>
            <a:off x="9308592" y="3447288"/>
            <a:ext cx="493776" cy="493776"/>
          </a:xfrm>
          <a:prstGeom prst="rect">
            <a:avLst/>
          </a:prstGeom>
        </p:spPr>
      </p:pic>
      <p:sp>
        <p:nvSpPr>
          <p:cNvPr id="40" name="Rounded Rectangle 39"/>
          <p:cNvSpPr/>
          <p:nvPr/>
        </p:nvSpPr>
        <p:spPr>
          <a:xfrm>
            <a:off x="10296144" y="333756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1" name="Picture 40" descr="lg_u105.png"/>
          <p:cNvPicPr>
            <a:picLocks noChangeAspect="1"/>
          </p:cNvPicPr>
          <p:nvPr/>
        </p:nvPicPr>
        <p:blipFill>
          <a:blip r:embed="rId17"/>
          <a:stretch>
            <a:fillRect/>
          </a:stretch>
        </p:blipFill>
        <p:spPr>
          <a:xfrm>
            <a:off x="10698480" y="3447288"/>
            <a:ext cx="493776" cy="493776"/>
          </a:xfrm>
          <a:prstGeom prst="rect">
            <a:avLst/>
          </a:prstGeom>
        </p:spPr>
      </p:pic>
      <p:sp>
        <p:nvSpPr>
          <p:cNvPr id="42" name="TextBox 41"/>
          <p:cNvSpPr txBox="1"/>
          <p:nvPr/>
        </p:nvSpPr>
        <p:spPr>
          <a:xfrm>
            <a:off x="566928" y="4343400"/>
            <a:ext cx="10972800" cy="219456"/>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EXPERT &amp; ECOSYSTEM PARTNERS</a:t>
            </a:r>
          </a:p>
        </p:txBody>
      </p:sp>
      <p:sp>
        <p:nvSpPr>
          <p:cNvPr id="43" name="Rounded Rectangle 42"/>
          <p:cNvSpPr/>
          <p:nvPr/>
        </p:nvSpPr>
        <p:spPr>
          <a:xfrm>
            <a:off x="566928"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4" name="Picture 43" descr="lg_tripc.png"/>
          <p:cNvPicPr>
            <a:picLocks noChangeAspect="1"/>
          </p:cNvPicPr>
          <p:nvPr/>
        </p:nvPicPr>
        <p:blipFill>
          <a:blip r:embed="rId18"/>
          <a:stretch>
            <a:fillRect/>
          </a:stretch>
        </p:blipFill>
        <p:spPr>
          <a:xfrm>
            <a:off x="676656" y="4823014"/>
            <a:ext cx="1078992" cy="302644"/>
          </a:xfrm>
          <a:prstGeom prst="rect">
            <a:avLst/>
          </a:prstGeom>
        </p:spPr>
      </p:pic>
      <p:sp>
        <p:nvSpPr>
          <p:cNvPr id="45" name="Rounded Rectangle 44"/>
          <p:cNvSpPr/>
          <p:nvPr/>
        </p:nvSpPr>
        <p:spPr>
          <a:xfrm>
            <a:off x="1956816"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6" name="Picture 45" descr="lg_niua.png"/>
          <p:cNvPicPr>
            <a:picLocks noChangeAspect="1"/>
          </p:cNvPicPr>
          <p:nvPr/>
        </p:nvPicPr>
        <p:blipFill>
          <a:blip r:embed="rId19"/>
          <a:stretch>
            <a:fillRect/>
          </a:stretch>
        </p:blipFill>
        <p:spPr>
          <a:xfrm>
            <a:off x="2066544" y="4762204"/>
            <a:ext cx="1078992" cy="424263"/>
          </a:xfrm>
          <a:prstGeom prst="rect">
            <a:avLst/>
          </a:prstGeom>
        </p:spPr>
      </p:pic>
      <p:sp>
        <p:nvSpPr>
          <p:cNvPr id="47" name="Rounded Rectangle 46"/>
          <p:cNvSpPr/>
          <p:nvPr/>
        </p:nvSpPr>
        <p:spPr>
          <a:xfrm>
            <a:off x="3346704"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48" name="Picture 47" descr="lg_omi.png"/>
          <p:cNvPicPr>
            <a:picLocks noChangeAspect="1"/>
          </p:cNvPicPr>
          <p:nvPr/>
        </p:nvPicPr>
        <p:blipFill>
          <a:blip r:embed="rId20"/>
          <a:stretch>
            <a:fillRect/>
          </a:stretch>
        </p:blipFill>
        <p:spPr>
          <a:xfrm>
            <a:off x="3632379" y="4727448"/>
            <a:ext cx="727098" cy="493776"/>
          </a:xfrm>
          <a:prstGeom prst="rect">
            <a:avLst/>
          </a:prstGeom>
        </p:spPr>
      </p:pic>
      <p:sp>
        <p:nvSpPr>
          <p:cNvPr id="49" name="Rounded Rectangle 48"/>
          <p:cNvSpPr/>
          <p:nvPr/>
        </p:nvSpPr>
        <p:spPr>
          <a:xfrm>
            <a:off x="4736592"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0" name="Picture 49" descr="lg_wri.png"/>
          <p:cNvPicPr>
            <a:picLocks noChangeAspect="1"/>
          </p:cNvPicPr>
          <p:nvPr/>
        </p:nvPicPr>
        <p:blipFill>
          <a:blip r:embed="rId21"/>
          <a:stretch>
            <a:fillRect/>
          </a:stretch>
        </p:blipFill>
        <p:spPr>
          <a:xfrm>
            <a:off x="4846320" y="4781659"/>
            <a:ext cx="1078992" cy="385354"/>
          </a:xfrm>
          <a:prstGeom prst="rect">
            <a:avLst/>
          </a:prstGeom>
        </p:spPr>
      </p:pic>
      <p:sp>
        <p:nvSpPr>
          <p:cNvPr id="51" name="Rounded Rectangle 50"/>
          <p:cNvSpPr/>
          <p:nvPr/>
        </p:nvSpPr>
        <p:spPr>
          <a:xfrm>
            <a:off x="6126480"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2" name="Picture 51" descr="lg_cii.png"/>
          <p:cNvPicPr>
            <a:picLocks noChangeAspect="1"/>
          </p:cNvPicPr>
          <p:nvPr/>
        </p:nvPicPr>
        <p:blipFill>
          <a:blip r:embed="rId22"/>
          <a:stretch>
            <a:fillRect/>
          </a:stretch>
        </p:blipFill>
        <p:spPr>
          <a:xfrm>
            <a:off x="6236208" y="4809382"/>
            <a:ext cx="1078992" cy="329907"/>
          </a:xfrm>
          <a:prstGeom prst="rect">
            <a:avLst/>
          </a:prstGeom>
        </p:spPr>
      </p:pic>
      <p:sp>
        <p:nvSpPr>
          <p:cNvPr id="53" name="Rounded Rectangle 52"/>
          <p:cNvSpPr/>
          <p:nvPr/>
        </p:nvSpPr>
        <p:spPr>
          <a:xfrm>
            <a:off x="7516368"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4" name="Picture 53" descr="lg_gic.png"/>
          <p:cNvPicPr>
            <a:picLocks noChangeAspect="1"/>
          </p:cNvPicPr>
          <p:nvPr/>
        </p:nvPicPr>
        <p:blipFill>
          <a:blip r:embed="rId23"/>
          <a:stretch>
            <a:fillRect/>
          </a:stretch>
        </p:blipFill>
        <p:spPr>
          <a:xfrm>
            <a:off x="7705051" y="4727448"/>
            <a:ext cx="921082" cy="493776"/>
          </a:xfrm>
          <a:prstGeom prst="rect">
            <a:avLst/>
          </a:prstGeom>
        </p:spPr>
      </p:pic>
      <p:sp>
        <p:nvSpPr>
          <p:cNvPr id="55" name="Rounded Rectangle 54"/>
          <p:cNvSpPr/>
          <p:nvPr/>
        </p:nvSpPr>
        <p:spPr>
          <a:xfrm>
            <a:off x="8906256"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6" name="Picture 55" descr="lg_iffco.png"/>
          <p:cNvPicPr>
            <a:picLocks noChangeAspect="1"/>
          </p:cNvPicPr>
          <p:nvPr/>
        </p:nvPicPr>
        <p:blipFill>
          <a:blip r:embed="rId24"/>
          <a:stretch>
            <a:fillRect/>
          </a:stretch>
        </p:blipFill>
        <p:spPr>
          <a:xfrm>
            <a:off x="9116286" y="4727448"/>
            <a:ext cx="878388" cy="493776"/>
          </a:xfrm>
          <a:prstGeom prst="rect">
            <a:avLst/>
          </a:prstGeom>
        </p:spPr>
      </p:pic>
      <p:sp>
        <p:nvSpPr>
          <p:cNvPr id="57" name="Rounded Rectangle 56"/>
          <p:cNvSpPr/>
          <p:nvPr/>
        </p:nvSpPr>
        <p:spPr>
          <a:xfrm>
            <a:off x="10296144" y="4617720"/>
            <a:ext cx="1298448" cy="713232"/>
          </a:xfrm>
          <a:prstGeom prst="roundRect">
            <a:avLst>
              <a:gd name="adj" fmla="val 10000"/>
            </a:avLst>
          </a:prstGeom>
          <a:solidFill>
            <a:srgbClr val="FFFFFF"/>
          </a:solidFill>
          <a:ln w="9525">
            <a:solidFill>
              <a:srgbClr val="E8E9EE"/>
            </a:solidFill>
          </a:ln>
          <a:effectLst/>
        </p:spPr>
        <p:txBody>
          <a:bodyPr rtlCol="0" anchor="ctr"/>
          <a:lstStyle/>
          <a:p>
            <a:pPr algn="ctr"/>
          </a:p>
        </p:txBody>
      </p:sp>
      <p:pic>
        <p:nvPicPr>
          <p:cNvPr id="58" name="Picture 57" descr="lg_nia.png"/>
          <p:cNvPicPr>
            <a:picLocks noChangeAspect="1"/>
          </p:cNvPicPr>
          <p:nvPr/>
        </p:nvPicPr>
        <p:blipFill>
          <a:blip r:embed="rId25"/>
          <a:stretch>
            <a:fillRect/>
          </a:stretch>
        </p:blipFill>
        <p:spPr>
          <a:xfrm>
            <a:off x="10405872" y="4769184"/>
            <a:ext cx="1078992" cy="410304"/>
          </a:xfrm>
          <a:prstGeom prst="rect">
            <a:avLst/>
          </a:prstGeom>
        </p:spPr>
      </p:pic>
      <p:sp>
        <p:nvSpPr>
          <p:cNvPr id="59" name="Rounded Rectangle 58"/>
          <p:cNvSpPr/>
          <p:nvPr/>
        </p:nvSpPr>
        <p:spPr>
          <a:xfrm>
            <a:off x="566928" y="5623560"/>
            <a:ext cx="11057839" cy="548640"/>
          </a:xfrm>
          <a:prstGeom prst="roundRect">
            <a:avLst>
              <a:gd name="adj" fmla="val 14000"/>
            </a:avLst>
          </a:prstGeom>
          <a:solidFill>
            <a:srgbClr val="F7F7FA"/>
          </a:solidFill>
          <a:ln>
            <a:noFill/>
          </a:ln>
          <a:effectLst/>
        </p:spPr>
        <p:txBody>
          <a:bodyPr rtlCol="0" anchor="ctr"/>
          <a:lstStyle/>
          <a:p>
            <a:pPr algn="ctr"/>
          </a:p>
        </p:txBody>
      </p:sp>
      <p:sp>
        <p:nvSpPr>
          <p:cNvPr id="60" name="TextBox 59"/>
          <p:cNvSpPr txBox="1"/>
          <p:nvPr/>
        </p:nvSpPr>
        <p:spPr>
          <a:xfrm>
            <a:off x="768096" y="5715000"/>
            <a:ext cx="10646359" cy="384048"/>
          </a:xfrm>
          <a:prstGeom prst="rect">
            <a:avLst/>
          </a:prstGeom>
          <a:noFill/>
        </p:spPr>
        <p:txBody>
          <a:bodyPr wrap="square" lIns="0" rIns="0" tIns="0" bIns="0" anchor="t">
            <a:spAutoFit/>
          </a:bodyPr>
          <a:lstStyle/>
          <a:p>
            <a:pPr algn="l">
              <a:lnSpc>
                <a:spcPct val="120000"/>
              </a:lnSpc>
            </a:pPr>
            <a:r>
              <a:rPr sz="950" b="1" i="0">
                <a:solidFill>
                  <a:srgbClr val="16181D"/>
                </a:solidFill>
                <a:latin typeface="Geist"/>
              </a:rPr>
              <a:t>Plus: </a:t>
            </a:r>
            <a:r>
              <a:rPr sz="950" b="0" i="0">
                <a:solidFill>
                  <a:srgbClr val="6E7180"/>
                </a:solidFill>
                <a:latin typeface="Geist"/>
              </a:rPr>
              <a:t>Jaipur Traffic Police &amp; Gurugram Police (MoUs) · CPWD &amp; district administrations · Bloomberg, Johns Hopkins, Centre for Green Mobility and PwC experts on juries and reviews.</a:t>
            </a:r>
          </a:p>
        </p:txBody>
      </p:sp>
      <p:cxnSp>
        <p:nvCxnSpPr>
          <p:cNvPr id="61" name="Connector 60"/>
          <p:cNvCxnSpPr/>
          <p:nvPr/>
        </p:nvCxnSpPr>
        <p:spPr>
          <a:xfrm>
            <a:off x="566928" y="6455664"/>
            <a:ext cx="11057839" cy="0"/>
          </a:xfrm>
          <a:prstGeom prst="line">
            <a:avLst/>
          </a:prstGeom>
          <a:ln w="9525">
            <a:solidFill>
              <a:srgbClr val="E8E9EE"/>
            </a:solidFill>
          </a:ln>
          <a:effectLst/>
        </p:spPr>
      </p:cxnSp>
      <p:sp>
        <p:nvSpPr>
          <p:cNvPr id="62" name="TextBox 61"/>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63" name="TextBox 62"/>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14 / 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3 OF 5  ·  OUR PEOPLE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03 · OUR PEOPLE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 full-time team </a:t>
            </a:r>
            <a:r>
              <a:rPr sz="2250" b="1" i="0">
                <a:solidFill>
                  <a:srgbClr val="4A35FF"/>
                </a:solidFill>
                <a:latin typeface="Montserrat"/>
              </a:rPr>
              <a:t>built for this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Engineering, law, policy, product and field operations, under trustees who have led Indian road safety for a decade.</a:t>
            </a:r>
          </a:p>
        </p:txBody>
      </p:sp>
      <p:sp>
        <p:nvSpPr>
          <p:cNvPr id="8" name="Rounded Rectangle 7"/>
          <p:cNvSpPr/>
          <p:nvPr/>
        </p:nvSpPr>
        <p:spPr>
          <a:xfrm>
            <a:off x="566928" y="1883664"/>
            <a:ext cx="3630168" cy="859536"/>
          </a:xfrm>
          <a:prstGeom prst="roundRect">
            <a:avLst>
              <a:gd name="adj" fmla="val 10000"/>
            </a:avLst>
          </a:prstGeom>
          <a:solidFill>
            <a:srgbClr val="F7F7FA"/>
          </a:solidFill>
          <a:ln>
            <a:noFill/>
          </a:ln>
          <a:effectLst/>
        </p:spPr>
        <p:txBody>
          <a:bodyPr rtlCol="0" anchor="ctr"/>
          <a:lstStyle/>
          <a:p>
            <a:pPr algn="ctr"/>
          </a:p>
        </p:txBody>
      </p:sp>
      <p:pic>
        <p:nvPicPr>
          <p:cNvPr id="9" name="Picture 8" descr="t_amar.png"/>
          <p:cNvPicPr>
            <a:picLocks noChangeAspect="1"/>
          </p:cNvPicPr>
          <p:nvPr/>
        </p:nvPicPr>
        <p:blipFill>
          <a:blip r:embed="rId2"/>
          <a:stretch>
            <a:fillRect/>
          </a:stretch>
        </p:blipFill>
        <p:spPr>
          <a:xfrm>
            <a:off x="685800" y="1993392"/>
            <a:ext cx="640080" cy="640080"/>
          </a:xfrm>
          <a:prstGeom prst="rect">
            <a:avLst/>
          </a:prstGeom>
        </p:spPr>
      </p:pic>
      <p:sp>
        <p:nvSpPr>
          <p:cNvPr id="10" name="TextBox 9"/>
          <p:cNvSpPr txBox="1"/>
          <p:nvPr/>
        </p:nvSpPr>
        <p:spPr>
          <a:xfrm>
            <a:off x="1463040" y="196596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Amar Srivastava</a:t>
            </a:r>
          </a:p>
        </p:txBody>
      </p:sp>
      <p:sp>
        <p:nvSpPr>
          <p:cNvPr id="11" name="TextBox 10"/>
          <p:cNvSpPr txBox="1"/>
          <p:nvPr/>
        </p:nvSpPr>
        <p:spPr>
          <a:xfrm>
            <a:off x="1463040" y="224028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President · Founder, Indian Road Safety Campaign · Member, National Road Safety Council</a:t>
            </a:r>
          </a:p>
        </p:txBody>
      </p:sp>
      <p:sp>
        <p:nvSpPr>
          <p:cNvPr id="12" name="Rounded Rectangle 11"/>
          <p:cNvSpPr/>
          <p:nvPr/>
        </p:nvSpPr>
        <p:spPr>
          <a:xfrm>
            <a:off x="4279391" y="1883664"/>
            <a:ext cx="3630168" cy="859536"/>
          </a:xfrm>
          <a:prstGeom prst="roundRect">
            <a:avLst>
              <a:gd name="adj" fmla="val 10000"/>
            </a:avLst>
          </a:prstGeom>
          <a:solidFill>
            <a:srgbClr val="F7F7FA"/>
          </a:solidFill>
          <a:ln>
            <a:noFill/>
          </a:ln>
          <a:effectLst/>
        </p:spPr>
        <p:txBody>
          <a:bodyPr rtlCol="0" anchor="ctr"/>
          <a:lstStyle/>
          <a:p>
            <a:pPr algn="ctr"/>
          </a:p>
        </p:txBody>
      </p:sp>
      <p:pic>
        <p:nvPicPr>
          <p:cNvPr id="13" name="Picture 12" descr="t_deepanshu.png"/>
          <p:cNvPicPr>
            <a:picLocks noChangeAspect="1"/>
          </p:cNvPicPr>
          <p:nvPr/>
        </p:nvPicPr>
        <p:blipFill>
          <a:blip r:embed="rId3"/>
          <a:stretch>
            <a:fillRect/>
          </a:stretch>
        </p:blipFill>
        <p:spPr>
          <a:xfrm>
            <a:off x="4398263" y="1993392"/>
            <a:ext cx="640080" cy="640080"/>
          </a:xfrm>
          <a:prstGeom prst="rect">
            <a:avLst/>
          </a:prstGeom>
        </p:spPr>
      </p:pic>
      <p:sp>
        <p:nvSpPr>
          <p:cNvPr id="14" name="TextBox 13"/>
          <p:cNvSpPr txBox="1"/>
          <p:nvPr/>
        </p:nvSpPr>
        <p:spPr>
          <a:xfrm>
            <a:off x="5175503" y="196596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Deepanshu Gupta</a:t>
            </a:r>
          </a:p>
        </p:txBody>
      </p:sp>
      <p:sp>
        <p:nvSpPr>
          <p:cNvPr id="15" name="TextBox 14"/>
          <p:cNvSpPr txBox="1"/>
          <p:nvPr/>
        </p:nvSpPr>
        <p:spPr>
          <a:xfrm>
            <a:off x="5175503" y="224028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Managing Trustee · Founder, IRSC · Global Youth Coalition for Road Safety</a:t>
            </a:r>
          </a:p>
        </p:txBody>
      </p:sp>
      <p:sp>
        <p:nvSpPr>
          <p:cNvPr id="16" name="Rounded Rectangle 15"/>
          <p:cNvSpPr/>
          <p:nvPr/>
        </p:nvSpPr>
        <p:spPr>
          <a:xfrm>
            <a:off x="7991854" y="1883664"/>
            <a:ext cx="3630168" cy="859536"/>
          </a:xfrm>
          <a:prstGeom prst="roundRect">
            <a:avLst>
              <a:gd name="adj" fmla="val 10000"/>
            </a:avLst>
          </a:prstGeom>
          <a:solidFill>
            <a:srgbClr val="F7F7FA"/>
          </a:solidFill>
          <a:ln>
            <a:noFill/>
          </a:ln>
          <a:effectLst/>
        </p:spPr>
        <p:txBody>
          <a:bodyPr rtlCol="0" anchor="ctr"/>
          <a:lstStyle/>
          <a:p>
            <a:pPr algn="ctr"/>
          </a:p>
        </p:txBody>
      </p:sp>
      <p:pic>
        <p:nvPicPr>
          <p:cNvPr id="17" name="Picture 16" descr="t_gajendra.png"/>
          <p:cNvPicPr>
            <a:picLocks noChangeAspect="1"/>
          </p:cNvPicPr>
          <p:nvPr/>
        </p:nvPicPr>
        <p:blipFill>
          <a:blip r:embed="rId4"/>
          <a:stretch>
            <a:fillRect/>
          </a:stretch>
        </p:blipFill>
        <p:spPr>
          <a:xfrm>
            <a:off x="8110726" y="1993392"/>
            <a:ext cx="640080" cy="640080"/>
          </a:xfrm>
          <a:prstGeom prst="rect">
            <a:avLst/>
          </a:prstGeom>
        </p:spPr>
      </p:pic>
      <p:sp>
        <p:nvSpPr>
          <p:cNvPr id="18" name="TextBox 17"/>
          <p:cNvSpPr txBox="1"/>
          <p:nvPr/>
        </p:nvSpPr>
        <p:spPr>
          <a:xfrm>
            <a:off x="8887966" y="1965960"/>
            <a:ext cx="2651760" cy="292608"/>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Gajendra Jangid</a:t>
            </a:r>
          </a:p>
        </p:txBody>
      </p:sp>
      <p:sp>
        <p:nvSpPr>
          <p:cNvPr id="19" name="TextBox 18"/>
          <p:cNvSpPr txBox="1"/>
          <p:nvPr/>
        </p:nvSpPr>
        <p:spPr>
          <a:xfrm>
            <a:off x="8887966" y="2240280"/>
            <a:ext cx="2651760" cy="502920"/>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General Secretary · Co-founder, Cars24</a:t>
            </a:r>
          </a:p>
        </p:txBody>
      </p:sp>
      <p:sp>
        <p:nvSpPr>
          <p:cNvPr id="20" name="TextBox 19"/>
          <p:cNvSpPr txBox="1"/>
          <p:nvPr/>
        </p:nvSpPr>
        <p:spPr>
          <a:xfrm>
            <a:off x="566928" y="2944368"/>
            <a:ext cx="10972800" cy="237744"/>
          </a:xfrm>
          <a:prstGeom prst="rect">
            <a:avLst/>
          </a:prstGeom>
          <a:noFill/>
        </p:spPr>
        <p:txBody>
          <a:bodyPr wrap="square" lIns="0" rIns="0" tIns="0" bIns="0" anchor="t">
            <a:spAutoFit/>
          </a:bodyPr>
          <a:lstStyle/>
          <a:p>
            <a:pPr algn="l">
              <a:lnSpc>
                <a:spcPct val="128000"/>
              </a:lnSpc>
            </a:pPr>
            <a:r>
              <a:rPr sz="850" b="1" i="0" spc="150">
                <a:solidFill>
                  <a:srgbClr val="6E7180"/>
                </a:solidFill>
                <a:latin typeface="Montserrat"/>
              </a:rPr>
              <a:t>THE FULL-TIME TEAM</a:t>
            </a:r>
          </a:p>
        </p:txBody>
      </p:sp>
      <p:pic>
        <p:nvPicPr>
          <p:cNvPr id="21" name="Picture 20" descr="t_akhtar.png"/>
          <p:cNvPicPr>
            <a:picLocks noChangeAspect="1"/>
          </p:cNvPicPr>
          <p:nvPr/>
        </p:nvPicPr>
        <p:blipFill>
          <a:blip r:embed="rId5"/>
          <a:stretch>
            <a:fillRect/>
          </a:stretch>
        </p:blipFill>
        <p:spPr>
          <a:xfrm>
            <a:off x="566928" y="3273552"/>
            <a:ext cx="530352" cy="530352"/>
          </a:xfrm>
          <a:prstGeom prst="rect">
            <a:avLst/>
          </a:prstGeom>
        </p:spPr>
      </p:pic>
      <p:sp>
        <p:nvSpPr>
          <p:cNvPr id="22" name="TextBox 21"/>
          <p:cNvSpPr txBox="1"/>
          <p:nvPr/>
        </p:nvSpPr>
        <p:spPr>
          <a:xfrm>
            <a:off x="1225296" y="3236976"/>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Akhtar Hussain  </a:t>
            </a:r>
            <a:r>
              <a:rPr sz="800" b="1" i="0">
                <a:solidFill>
                  <a:srgbClr val="4A35FF"/>
                </a:solidFill>
                <a:latin typeface="Geist"/>
              </a:rPr>
              <a:t>Mission Lead</a:t>
            </a:r>
          </a:p>
        </p:txBody>
      </p:sp>
      <p:sp>
        <p:nvSpPr>
          <p:cNvPr id="23" name="TextBox 22"/>
          <p:cNvSpPr txBox="1"/>
          <p:nvPr/>
        </p:nvSpPr>
        <p:spPr>
          <a:xfrm>
            <a:off x="1225296" y="3456432"/>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IIT Delhi · ex-Bain · strategy, programmes, new initiatives, partnerships and product</a:t>
            </a:r>
          </a:p>
        </p:txBody>
      </p:sp>
      <p:pic>
        <p:nvPicPr>
          <p:cNvPr id="24" name="Picture 23" descr="t_shubham.png"/>
          <p:cNvPicPr>
            <a:picLocks noChangeAspect="1"/>
          </p:cNvPicPr>
          <p:nvPr/>
        </p:nvPicPr>
        <p:blipFill>
          <a:blip r:embed="rId6"/>
          <a:stretch>
            <a:fillRect/>
          </a:stretch>
        </p:blipFill>
        <p:spPr>
          <a:xfrm>
            <a:off x="4279391" y="3273552"/>
            <a:ext cx="530352" cy="530352"/>
          </a:xfrm>
          <a:prstGeom prst="rect">
            <a:avLst/>
          </a:prstGeom>
        </p:spPr>
      </p:pic>
      <p:sp>
        <p:nvSpPr>
          <p:cNvPr id="25" name="TextBox 24"/>
          <p:cNvSpPr txBox="1"/>
          <p:nvPr/>
        </p:nvSpPr>
        <p:spPr>
          <a:xfrm>
            <a:off x="4937759" y="3236976"/>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Shubham Kumar  </a:t>
            </a:r>
            <a:r>
              <a:rPr sz="800" b="1" i="0">
                <a:solidFill>
                  <a:srgbClr val="4A35FF"/>
                </a:solidFill>
                <a:latin typeface="Geist"/>
              </a:rPr>
              <a:t>Policy &amp; Advocacy</a:t>
            </a:r>
          </a:p>
        </p:txBody>
      </p:sp>
      <p:sp>
        <p:nvSpPr>
          <p:cNvPr id="26" name="TextBox 25"/>
          <p:cNvSpPr txBox="1"/>
          <p:nvPr/>
        </p:nvSpPr>
        <p:spPr>
          <a:xfrm>
            <a:off x="4937759" y="3456432"/>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NALSAR Hyderabad · programmes, policy advocacy, legal research, government relations</a:t>
            </a:r>
          </a:p>
        </p:txBody>
      </p:sp>
      <p:pic>
        <p:nvPicPr>
          <p:cNvPr id="27" name="Picture 26" descr="t_muskan.png"/>
          <p:cNvPicPr>
            <a:picLocks noChangeAspect="1"/>
          </p:cNvPicPr>
          <p:nvPr/>
        </p:nvPicPr>
        <p:blipFill>
          <a:blip r:embed="rId7"/>
          <a:stretch>
            <a:fillRect/>
          </a:stretch>
        </p:blipFill>
        <p:spPr>
          <a:xfrm>
            <a:off x="7991854" y="3273552"/>
            <a:ext cx="530352" cy="530352"/>
          </a:xfrm>
          <a:prstGeom prst="rect">
            <a:avLst/>
          </a:prstGeom>
        </p:spPr>
      </p:pic>
      <p:sp>
        <p:nvSpPr>
          <p:cNvPr id="28" name="TextBox 27"/>
          <p:cNvSpPr txBox="1"/>
          <p:nvPr/>
        </p:nvSpPr>
        <p:spPr>
          <a:xfrm>
            <a:off x="8650222" y="3236976"/>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Muskan Yadav  </a:t>
            </a:r>
            <a:r>
              <a:rPr sz="800" b="1" i="0">
                <a:solidFill>
                  <a:srgbClr val="4A35FF"/>
                </a:solidFill>
                <a:latin typeface="Geist"/>
              </a:rPr>
              <a:t>Programmes</a:t>
            </a:r>
          </a:p>
        </p:txBody>
      </p:sp>
      <p:sp>
        <p:nvSpPr>
          <p:cNvPr id="29" name="TextBox 28"/>
          <p:cNvSpPr txBox="1"/>
          <p:nvPr/>
        </p:nvSpPr>
        <p:spPr>
          <a:xfrm>
            <a:off x="8650222" y="3456432"/>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TISS · district programmes, Project Rakshak, infrastructure interventions, DRSC work</a:t>
            </a:r>
          </a:p>
        </p:txBody>
      </p:sp>
      <p:pic>
        <p:nvPicPr>
          <p:cNvPr id="30" name="Picture 29" descr="t_krishna.png"/>
          <p:cNvPicPr>
            <a:picLocks noChangeAspect="1"/>
          </p:cNvPicPr>
          <p:nvPr/>
        </p:nvPicPr>
        <p:blipFill>
          <a:blip r:embed="rId8"/>
          <a:stretch>
            <a:fillRect/>
          </a:stretch>
        </p:blipFill>
        <p:spPr>
          <a:xfrm>
            <a:off x="566928" y="3968496"/>
            <a:ext cx="530352" cy="530352"/>
          </a:xfrm>
          <a:prstGeom prst="rect">
            <a:avLst/>
          </a:prstGeom>
        </p:spPr>
      </p:pic>
      <p:sp>
        <p:nvSpPr>
          <p:cNvPr id="31" name="TextBox 30"/>
          <p:cNvSpPr txBox="1"/>
          <p:nvPr/>
        </p:nvSpPr>
        <p:spPr>
          <a:xfrm>
            <a:off x="1225296" y="3931920"/>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Krishna  </a:t>
            </a:r>
            <a:r>
              <a:rPr sz="800" b="1" i="0">
                <a:solidFill>
                  <a:srgbClr val="4A35FF"/>
                </a:solidFill>
                <a:latin typeface="Geist"/>
              </a:rPr>
              <a:t>Tech &amp; Product</a:t>
            </a:r>
          </a:p>
        </p:txBody>
      </p:sp>
      <p:sp>
        <p:nvSpPr>
          <p:cNvPr id="32" name="TextBox 31"/>
          <p:cNvSpPr txBox="1"/>
          <p:nvPr/>
        </p:nvSpPr>
        <p:spPr>
          <a:xfrm>
            <a:off x="1225296" y="4151376"/>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Builds and runs Aasha, SATARK and the open public data platforms</a:t>
            </a:r>
          </a:p>
        </p:txBody>
      </p:sp>
      <p:pic>
        <p:nvPicPr>
          <p:cNvPr id="33" name="Picture 32" descr="t_aastha.png"/>
          <p:cNvPicPr>
            <a:picLocks noChangeAspect="1"/>
          </p:cNvPicPr>
          <p:nvPr/>
        </p:nvPicPr>
        <p:blipFill>
          <a:blip r:embed="rId9"/>
          <a:stretch>
            <a:fillRect/>
          </a:stretch>
        </p:blipFill>
        <p:spPr>
          <a:xfrm>
            <a:off x="4279391" y="3968496"/>
            <a:ext cx="530352" cy="530352"/>
          </a:xfrm>
          <a:prstGeom prst="rect">
            <a:avLst/>
          </a:prstGeom>
        </p:spPr>
      </p:pic>
      <p:sp>
        <p:nvSpPr>
          <p:cNvPr id="34" name="TextBox 33"/>
          <p:cNvSpPr txBox="1"/>
          <p:nvPr/>
        </p:nvSpPr>
        <p:spPr>
          <a:xfrm>
            <a:off x="4937759" y="3931920"/>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Aastha Shreeharsh  </a:t>
            </a:r>
            <a:r>
              <a:rPr sz="800" b="1" i="0">
                <a:solidFill>
                  <a:srgbClr val="4A35FF"/>
                </a:solidFill>
                <a:latin typeface="Geist"/>
              </a:rPr>
              <a:t>Development Communications</a:t>
            </a:r>
          </a:p>
        </p:txBody>
      </p:sp>
      <p:sp>
        <p:nvSpPr>
          <p:cNvPr id="35" name="TextBox 34"/>
          <p:cNvSpPr txBox="1"/>
          <p:nvPr/>
        </p:nvSpPr>
        <p:spPr>
          <a:xfrm>
            <a:off x="4937759" y="4151376"/>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HKUST · institutional communications, government relations</a:t>
            </a:r>
          </a:p>
        </p:txBody>
      </p:sp>
      <p:pic>
        <p:nvPicPr>
          <p:cNvPr id="36" name="Picture 35" descr="t_rohan.png"/>
          <p:cNvPicPr>
            <a:picLocks noChangeAspect="1"/>
          </p:cNvPicPr>
          <p:nvPr/>
        </p:nvPicPr>
        <p:blipFill>
          <a:blip r:embed="rId10"/>
          <a:stretch>
            <a:fillRect/>
          </a:stretch>
        </p:blipFill>
        <p:spPr>
          <a:xfrm>
            <a:off x="7991854" y="3968496"/>
            <a:ext cx="530352" cy="530352"/>
          </a:xfrm>
          <a:prstGeom prst="rect">
            <a:avLst/>
          </a:prstGeom>
        </p:spPr>
      </p:pic>
      <p:sp>
        <p:nvSpPr>
          <p:cNvPr id="37" name="TextBox 36"/>
          <p:cNvSpPr txBox="1"/>
          <p:nvPr/>
        </p:nvSpPr>
        <p:spPr>
          <a:xfrm>
            <a:off x="8650222" y="3931920"/>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Rohan Sharma  </a:t>
            </a:r>
            <a:r>
              <a:rPr sz="800" b="1" i="0">
                <a:solidFill>
                  <a:srgbClr val="4A35FF"/>
                </a:solidFill>
                <a:latin typeface="Geist"/>
              </a:rPr>
              <a:t>Cause Marketing</a:t>
            </a:r>
          </a:p>
        </p:txBody>
      </p:sp>
      <p:sp>
        <p:nvSpPr>
          <p:cNvPr id="38" name="TextBox 37"/>
          <p:cNvSpPr txBox="1"/>
          <p:nvPr/>
        </p:nvSpPr>
        <p:spPr>
          <a:xfrm>
            <a:off x="8650222" y="4151376"/>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Awareness campaigns, digital advocacy, community mobilisation</a:t>
            </a:r>
          </a:p>
        </p:txBody>
      </p:sp>
      <p:pic>
        <p:nvPicPr>
          <p:cNvPr id="39" name="Picture 38" descr="t_ishita.png"/>
          <p:cNvPicPr>
            <a:picLocks noChangeAspect="1"/>
          </p:cNvPicPr>
          <p:nvPr/>
        </p:nvPicPr>
        <p:blipFill>
          <a:blip r:embed="rId11"/>
          <a:stretch>
            <a:fillRect/>
          </a:stretch>
        </p:blipFill>
        <p:spPr>
          <a:xfrm>
            <a:off x="566928" y="4663440"/>
            <a:ext cx="530352" cy="530352"/>
          </a:xfrm>
          <a:prstGeom prst="rect">
            <a:avLst/>
          </a:prstGeom>
        </p:spPr>
      </p:pic>
      <p:sp>
        <p:nvSpPr>
          <p:cNvPr id="40" name="TextBox 39"/>
          <p:cNvSpPr txBox="1"/>
          <p:nvPr/>
        </p:nvSpPr>
        <p:spPr>
          <a:xfrm>
            <a:off x="1225296" y="4626864"/>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Ishita Rathore  </a:t>
            </a:r>
            <a:r>
              <a:rPr sz="800" b="1" i="0">
                <a:solidFill>
                  <a:srgbClr val="4A35FF"/>
                </a:solidFill>
                <a:latin typeface="Geist"/>
              </a:rPr>
              <a:t>People &amp; Culture</a:t>
            </a:r>
          </a:p>
        </p:txBody>
      </p:sp>
      <p:sp>
        <p:nvSpPr>
          <p:cNvPr id="41" name="TextBox 40"/>
          <p:cNvSpPr txBox="1"/>
          <p:nvPr/>
        </p:nvSpPr>
        <p:spPr>
          <a:xfrm>
            <a:off x="1225296" y="4846320"/>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Talent and hiring, volunteers, the 75+ intern engineering corps</a:t>
            </a:r>
          </a:p>
        </p:txBody>
      </p:sp>
      <p:pic>
        <p:nvPicPr>
          <p:cNvPr id="42" name="Picture 41" descr="t_yuvraj.png"/>
          <p:cNvPicPr>
            <a:picLocks noChangeAspect="1"/>
          </p:cNvPicPr>
          <p:nvPr/>
        </p:nvPicPr>
        <p:blipFill>
          <a:blip r:embed="rId12"/>
          <a:stretch>
            <a:fillRect/>
          </a:stretch>
        </p:blipFill>
        <p:spPr>
          <a:xfrm>
            <a:off x="4279391" y="4663440"/>
            <a:ext cx="530352" cy="530352"/>
          </a:xfrm>
          <a:prstGeom prst="rect">
            <a:avLst/>
          </a:prstGeom>
        </p:spPr>
      </p:pic>
      <p:sp>
        <p:nvSpPr>
          <p:cNvPr id="43" name="TextBox 42"/>
          <p:cNvSpPr txBox="1"/>
          <p:nvPr/>
        </p:nvSpPr>
        <p:spPr>
          <a:xfrm>
            <a:off x="4937759" y="4626864"/>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Yuvraj Yadav  </a:t>
            </a:r>
            <a:r>
              <a:rPr sz="800" b="1" i="0">
                <a:solidFill>
                  <a:srgbClr val="4A35FF"/>
                </a:solidFill>
                <a:latin typeface="Geist"/>
              </a:rPr>
              <a:t>Operations</a:t>
            </a:r>
          </a:p>
        </p:txBody>
      </p:sp>
      <p:sp>
        <p:nvSpPr>
          <p:cNvPr id="44" name="TextBox 43"/>
          <p:cNvSpPr txBox="1"/>
          <p:nvPr/>
        </p:nvSpPr>
        <p:spPr>
          <a:xfrm>
            <a:off x="4937759" y="4846320"/>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Field operations across 18 cities · works with police on SATARK and enforcement rollouts</a:t>
            </a:r>
          </a:p>
        </p:txBody>
      </p:sp>
      <p:pic>
        <p:nvPicPr>
          <p:cNvPr id="45" name="Picture 44" descr="t_lovish.png"/>
          <p:cNvPicPr>
            <a:picLocks noChangeAspect="1"/>
          </p:cNvPicPr>
          <p:nvPr/>
        </p:nvPicPr>
        <p:blipFill>
          <a:blip r:embed="rId13"/>
          <a:stretch>
            <a:fillRect/>
          </a:stretch>
        </p:blipFill>
        <p:spPr>
          <a:xfrm>
            <a:off x="7991854" y="4663440"/>
            <a:ext cx="530352" cy="530352"/>
          </a:xfrm>
          <a:prstGeom prst="rect">
            <a:avLst/>
          </a:prstGeom>
        </p:spPr>
      </p:pic>
      <p:sp>
        <p:nvSpPr>
          <p:cNvPr id="46" name="TextBox 45"/>
          <p:cNvSpPr txBox="1"/>
          <p:nvPr/>
        </p:nvSpPr>
        <p:spPr>
          <a:xfrm>
            <a:off x="8650222" y="4626864"/>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Lovish  </a:t>
            </a:r>
            <a:r>
              <a:rPr sz="800" b="1" i="0">
                <a:solidFill>
                  <a:srgbClr val="4A35FF"/>
                </a:solidFill>
                <a:latin typeface="Geist"/>
              </a:rPr>
              <a:t>Creative (Video)</a:t>
            </a:r>
          </a:p>
        </p:txBody>
      </p:sp>
      <p:sp>
        <p:nvSpPr>
          <p:cNvPr id="47" name="TextBox 46"/>
          <p:cNvSpPr txBox="1"/>
          <p:nvPr/>
        </p:nvSpPr>
        <p:spPr>
          <a:xfrm>
            <a:off x="8650222" y="4846320"/>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Video explainers, ground-audit films and the YouTube channel</a:t>
            </a:r>
          </a:p>
        </p:txBody>
      </p:sp>
      <p:pic>
        <p:nvPicPr>
          <p:cNvPr id="48" name="Picture 47" descr="t_shipra.png"/>
          <p:cNvPicPr>
            <a:picLocks noChangeAspect="1"/>
          </p:cNvPicPr>
          <p:nvPr/>
        </p:nvPicPr>
        <p:blipFill>
          <a:blip r:embed="rId14"/>
          <a:stretch>
            <a:fillRect/>
          </a:stretch>
        </p:blipFill>
        <p:spPr>
          <a:xfrm>
            <a:off x="566928" y="5358384"/>
            <a:ext cx="530352" cy="530352"/>
          </a:xfrm>
          <a:prstGeom prst="rect">
            <a:avLst/>
          </a:prstGeom>
        </p:spPr>
      </p:pic>
      <p:sp>
        <p:nvSpPr>
          <p:cNvPr id="49" name="TextBox 48"/>
          <p:cNvSpPr txBox="1"/>
          <p:nvPr/>
        </p:nvSpPr>
        <p:spPr>
          <a:xfrm>
            <a:off x="1225296" y="5321808"/>
            <a:ext cx="2999232" cy="274320"/>
          </a:xfrm>
          <a:prstGeom prst="rect">
            <a:avLst/>
          </a:prstGeom>
          <a:noFill/>
        </p:spPr>
        <p:txBody>
          <a:bodyPr wrap="square" lIns="0" rIns="0" tIns="0" bIns="0" anchor="t">
            <a:spAutoFit/>
          </a:bodyPr>
          <a:lstStyle/>
          <a:p>
            <a:pPr algn="l">
              <a:lnSpc>
                <a:spcPct val="100000"/>
              </a:lnSpc>
            </a:pPr>
            <a:r>
              <a:rPr sz="950" b="1" i="0">
                <a:solidFill>
                  <a:srgbClr val="16181D"/>
                </a:solidFill>
                <a:latin typeface="Geist"/>
              </a:rPr>
              <a:t>Shipra Kushwaha  </a:t>
            </a:r>
            <a:r>
              <a:rPr sz="800" b="1" i="0">
                <a:solidFill>
                  <a:srgbClr val="4A35FF"/>
                </a:solidFill>
                <a:latin typeface="Geist"/>
              </a:rPr>
              <a:t>Creative (Graphic)</a:t>
            </a:r>
          </a:p>
        </p:txBody>
      </p:sp>
      <p:sp>
        <p:nvSpPr>
          <p:cNvPr id="50" name="TextBox 49"/>
          <p:cNvSpPr txBox="1"/>
          <p:nvPr/>
        </p:nvSpPr>
        <p:spPr>
          <a:xfrm>
            <a:off x="1225296" y="5541264"/>
            <a:ext cx="2999232" cy="457200"/>
          </a:xfrm>
          <a:prstGeom prst="rect">
            <a:avLst/>
          </a:prstGeom>
          <a:noFill/>
        </p:spPr>
        <p:txBody>
          <a:bodyPr wrap="square" lIns="0" rIns="0" tIns="0" bIns="0" anchor="t">
            <a:spAutoFit/>
          </a:bodyPr>
          <a:lstStyle/>
          <a:p>
            <a:pPr algn="l">
              <a:lnSpc>
                <a:spcPct val="112000"/>
              </a:lnSpc>
            </a:pPr>
            <a:r>
              <a:rPr sz="750" b="0" i="0">
                <a:solidFill>
                  <a:srgbClr val="6E7180"/>
                </a:solidFill>
                <a:latin typeface="Geist"/>
              </a:rPr>
              <a:t>Guides, comics and bilingual campaign material families actually read</a:t>
            </a:r>
          </a:p>
        </p:txBody>
      </p:sp>
      <p:sp>
        <p:nvSpPr>
          <p:cNvPr id="51" name="Rounded Rectangle 50"/>
          <p:cNvSpPr/>
          <p:nvPr/>
        </p:nvSpPr>
        <p:spPr>
          <a:xfrm>
            <a:off x="4553712" y="5340096"/>
            <a:ext cx="5120640" cy="548640"/>
          </a:xfrm>
          <a:prstGeom prst="roundRect">
            <a:avLst>
              <a:gd name="adj" fmla="val 12000"/>
            </a:avLst>
          </a:prstGeom>
          <a:solidFill>
            <a:srgbClr val="EFEDFF"/>
          </a:solidFill>
          <a:ln>
            <a:noFill/>
          </a:ln>
          <a:effectLst/>
        </p:spPr>
        <p:txBody>
          <a:bodyPr rtlCol="0" anchor="ctr"/>
          <a:lstStyle/>
          <a:p>
            <a:pPr algn="ctr"/>
          </a:p>
        </p:txBody>
      </p:sp>
      <p:sp>
        <p:nvSpPr>
          <p:cNvPr id="52" name="TextBox 51"/>
          <p:cNvSpPr txBox="1"/>
          <p:nvPr/>
        </p:nvSpPr>
        <p:spPr>
          <a:xfrm>
            <a:off x="4754880" y="5340096"/>
            <a:ext cx="4754880" cy="548640"/>
          </a:xfrm>
          <a:prstGeom prst="rect">
            <a:avLst/>
          </a:prstGeom>
          <a:noFill/>
        </p:spPr>
        <p:txBody>
          <a:bodyPr wrap="square" lIns="0" rIns="0" tIns="0" bIns="0" anchor="ctr">
            <a:spAutoFit/>
          </a:bodyPr>
          <a:lstStyle/>
          <a:p>
            <a:pPr algn="l">
              <a:lnSpc>
                <a:spcPct val="115000"/>
              </a:lnSpc>
            </a:pPr>
            <a:r>
              <a:rPr sz="900" b="1" i="0">
                <a:solidFill>
                  <a:srgbClr val="4A35FF"/>
                </a:solidFill>
                <a:latin typeface="Geist"/>
              </a:rPr>
              <a:t>Plus 75+ engineering interns and 31 student audit teams.</a:t>
            </a:r>
          </a:p>
        </p:txBody>
      </p:sp>
      <p:sp>
        <p:nvSpPr>
          <p:cNvPr id="53" name="Rounded Rectangle 52"/>
          <p:cNvSpPr/>
          <p:nvPr/>
        </p:nvSpPr>
        <p:spPr>
          <a:xfrm>
            <a:off x="566928" y="5989320"/>
            <a:ext cx="11057839" cy="384048"/>
          </a:xfrm>
          <a:prstGeom prst="roundRect">
            <a:avLst>
              <a:gd name="adj" fmla="val 14000"/>
            </a:avLst>
          </a:prstGeom>
          <a:solidFill>
            <a:srgbClr val="F7F7FA"/>
          </a:solidFill>
          <a:ln>
            <a:noFill/>
          </a:ln>
          <a:effectLst/>
        </p:spPr>
        <p:txBody>
          <a:bodyPr rtlCol="0" anchor="ctr"/>
          <a:lstStyle/>
          <a:p>
            <a:pPr algn="ctr"/>
          </a:p>
        </p:txBody>
      </p:sp>
      <p:sp>
        <p:nvSpPr>
          <p:cNvPr id="54" name="TextBox 53"/>
          <p:cNvSpPr txBox="1"/>
          <p:nvPr/>
        </p:nvSpPr>
        <p:spPr>
          <a:xfrm>
            <a:off x="768096" y="6053328"/>
            <a:ext cx="10646359" cy="292608"/>
          </a:xfrm>
          <a:prstGeom prst="rect">
            <a:avLst/>
          </a:prstGeom>
          <a:noFill/>
        </p:spPr>
        <p:txBody>
          <a:bodyPr wrap="square" lIns="0" rIns="0" tIns="0" bIns="0" anchor="t">
            <a:spAutoFit/>
          </a:bodyPr>
          <a:lstStyle/>
          <a:p>
            <a:pPr algn="l">
              <a:lnSpc>
                <a:spcPct val="115000"/>
              </a:lnSpc>
            </a:pPr>
            <a:r>
              <a:rPr sz="900" b="1" i="0">
                <a:solidFill>
                  <a:srgbClr val="16181D"/>
                </a:solidFill>
                <a:latin typeface="Geist"/>
              </a:rPr>
              <a:t>In-house capabilities: </a:t>
            </a:r>
            <a:r>
              <a:rPr sz="900" b="0" i="0">
                <a:solidFill>
                  <a:srgbClr val="6E7180"/>
                </a:solidFill>
                <a:latin typeface="Geist"/>
              </a:rPr>
              <a:t>road-engineering audits · legal &amp; policy research · AI product development · district operations · behaviour-change communication</a:t>
            </a:r>
          </a:p>
        </p:txBody>
      </p:sp>
      <p:cxnSp>
        <p:nvCxnSpPr>
          <p:cNvPr id="55" name="Connector 54"/>
          <p:cNvCxnSpPr/>
          <p:nvPr/>
        </p:nvCxnSpPr>
        <p:spPr>
          <a:xfrm>
            <a:off x="566928" y="6455664"/>
            <a:ext cx="11057839" cy="0"/>
          </a:xfrm>
          <a:prstGeom prst="line">
            <a:avLst/>
          </a:prstGeom>
          <a:ln w="9525">
            <a:solidFill>
              <a:srgbClr val="E8E9EE"/>
            </a:solidFill>
          </a:ln>
          <a:effectLst/>
        </p:spPr>
      </p:cxnSp>
      <p:sp>
        <p:nvSpPr>
          <p:cNvPr id="56" name="TextBox 5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57" name="TextBox 5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15 / 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3 OF 5  ·  OUR PEOPLE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03 · OUR PEOPLE, THE EXPERT BENCH</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Advised by the people who </a:t>
            </a:r>
            <a:r>
              <a:rPr sz="2250" b="1" i="0">
                <a:solidFill>
                  <a:srgbClr val="4A35FF"/>
                </a:solidFill>
                <a:latin typeface="Montserrat"/>
              </a:rPr>
              <a:t>built India's road safety practice</a:t>
            </a:r>
          </a:p>
        </p:txBody>
      </p:sp>
      <p:sp>
        <p:nvSpPr>
          <p:cNvPr id="7" name="Rounded Rectangle 6"/>
          <p:cNvSpPr/>
          <p:nvPr/>
        </p:nvSpPr>
        <p:spPr>
          <a:xfrm>
            <a:off x="566928" y="1554480"/>
            <a:ext cx="5486400" cy="932688"/>
          </a:xfrm>
          <a:prstGeom prst="roundRect">
            <a:avLst>
              <a:gd name="adj" fmla="val 12000"/>
            </a:avLst>
          </a:prstGeom>
          <a:solidFill>
            <a:srgbClr val="F7F7FA"/>
          </a:solidFill>
          <a:ln>
            <a:noFill/>
          </a:ln>
          <a:effectLst/>
        </p:spPr>
        <p:txBody>
          <a:bodyPr rtlCol="0" anchor="ctr"/>
          <a:lstStyle/>
          <a:p>
            <a:pPr algn="ctr"/>
          </a:p>
        </p:txBody>
      </p:sp>
      <p:pic>
        <p:nvPicPr>
          <p:cNvPr id="8" name="Picture 7" descr="x_gtiwari.png"/>
          <p:cNvPicPr>
            <a:picLocks noChangeAspect="1"/>
          </p:cNvPicPr>
          <p:nvPr/>
        </p:nvPicPr>
        <p:blipFill>
          <a:blip r:embed="rId2"/>
          <a:stretch>
            <a:fillRect/>
          </a:stretch>
        </p:blipFill>
        <p:spPr>
          <a:xfrm>
            <a:off x="694944" y="1682496"/>
            <a:ext cx="676656" cy="676656"/>
          </a:xfrm>
          <a:prstGeom prst="rect">
            <a:avLst/>
          </a:prstGeom>
        </p:spPr>
      </p:pic>
      <p:sp>
        <p:nvSpPr>
          <p:cNvPr id="9" name="TextBox 8"/>
          <p:cNvSpPr txBox="1"/>
          <p:nvPr/>
        </p:nvSpPr>
        <p:spPr>
          <a:xfrm>
            <a:off x="1499616" y="1673352"/>
            <a:ext cx="448056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Prof. Geetam Tiwari, Board of Advisors</a:t>
            </a:r>
          </a:p>
        </p:txBody>
      </p:sp>
      <p:sp>
        <p:nvSpPr>
          <p:cNvPr id="10" name="TextBox 9"/>
          <p:cNvSpPr txBox="1"/>
          <p:nvPr/>
        </p:nvSpPr>
        <p:spPr>
          <a:xfrm>
            <a:off x="1499616" y="1965960"/>
            <a:ext cx="4480560" cy="5029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Professor Emerita &amp; Chair, TRIP Centre, IIT Delhi · four decades of transport safety research</a:t>
            </a:r>
          </a:p>
        </p:txBody>
      </p:sp>
      <p:sp>
        <p:nvSpPr>
          <p:cNvPr id="11" name="Rounded Rectangle 10"/>
          <p:cNvSpPr/>
          <p:nvPr/>
        </p:nvSpPr>
        <p:spPr>
          <a:xfrm>
            <a:off x="6263640" y="1554480"/>
            <a:ext cx="5349240" cy="932688"/>
          </a:xfrm>
          <a:prstGeom prst="roundRect">
            <a:avLst>
              <a:gd name="adj" fmla="val 12000"/>
            </a:avLst>
          </a:prstGeom>
          <a:solidFill>
            <a:srgbClr val="F7F7FA"/>
          </a:solidFill>
          <a:ln>
            <a:noFill/>
          </a:ln>
          <a:effectLst/>
        </p:spPr>
        <p:txBody>
          <a:bodyPr rtlCol="0" anchor="ctr"/>
          <a:lstStyle/>
          <a:p>
            <a:pPr algn="ctr"/>
          </a:p>
        </p:txBody>
      </p:sp>
      <p:pic>
        <p:nvPicPr>
          <p:cNvPr id="12" name="Picture 11" descr="x_tewari.png"/>
          <p:cNvPicPr>
            <a:picLocks noChangeAspect="1"/>
          </p:cNvPicPr>
          <p:nvPr/>
        </p:nvPicPr>
        <p:blipFill>
          <a:blip r:embed="rId3"/>
          <a:stretch>
            <a:fillRect/>
          </a:stretch>
        </p:blipFill>
        <p:spPr>
          <a:xfrm>
            <a:off x="6391656" y="1682496"/>
            <a:ext cx="676656" cy="676656"/>
          </a:xfrm>
          <a:prstGeom prst="rect">
            <a:avLst/>
          </a:prstGeom>
        </p:spPr>
      </p:pic>
      <p:sp>
        <p:nvSpPr>
          <p:cNvPr id="13" name="TextBox 12"/>
          <p:cNvSpPr txBox="1"/>
          <p:nvPr/>
        </p:nvSpPr>
        <p:spPr>
          <a:xfrm>
            <a:off x="7196328" y="1673352"/>
            <a:ext cx="4297680" cy="32004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Piyush Tewari, Board of Advisors</a:t>
            </a:r>
          </a:p>
        </p:txBody>
      </p:sp>
      <p:sp>
        <p:nvSpPr>
          <p:cNvPr id="14" name="TextBox 13"/>
          <p:cNvSpPr txBox="1"/>
          <p:nvPr/>
        </p:nvSpPr>
        <p:spPr>
          <a:xfrm>
            <a:off x="7196328" y="1965960"/>
            <a:ext cx="4297680" cy="5029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Founder &amp; CEO, SaveLIFE Foundation · Architect of the Good Samaritan Law · Zero-Fatality Corridors</a:t>
            </a:r>
          </a:p>
        </p:txBody>
      </p:sp>
      <p:sp>
        <p:nvSpPr>
          <p:cNvPr id="15" name="TextBox 14"/>
          <p:cNvSpPr txBox="1"/>
          <p:nvPr/>
        </p:nvSpPr>
        <p:spPr>
          <a:xfrm>
            <a:off x="566928" y="2697480"/>
            <a:ext cx="10058400" cy="237744"/>
          </a:xfrm>
          <a:prstGeom prst="rect">
            <a:avLst/>
          </a:prstGeom>
          <a:noFill/>
        </p:spPr>
        <p:txBody>
          <a:bodyPr wrap="square" lIns="0" rIns="0" tIns="0" bIns="0" anchor="t">
            <a:spAutoFit/>
          </a:bodyPr>
          <a:lstStyle/>
          <a:p>
            <a:pPr algn="l">
              <a:lnSpc>
                <a:spcPct val="128000"/>
              </a:lnSpc>
            </a:pPr>
            <a:r>
              <a:rPr sz="850" b="1" i="0" spc="160">
                <a:solidFill>
                  <a:srgbClr val="6E7180"/>
                </a:solidFill>
                <a:latin typeface="Montserrat"/>
              </a:rPr>
              <a:t>JURY, MENTORS &amp; REVIEWERS AROUND OUR WORK</a:t>
            </a:r>
          </a:p>
        </p:txBody>
      </p:sp>
      <p:pic>
        <p:nvPicPr>
          <p:cNvPr id="16" name="Picture 15" descr="x_midha.png"/>
          <p:cNvPicPr>
            <a:picLocks noChangeAspect="1"/>
          </p:cNvPicPr>
          <p:nvPr/>
        </p:nvPicPr>
        <p:blipFill>
          <a:blip r:embed="rId4"/>
          <a:stretch>
            <a:fillRect/>
          </a:stretch>
        </p:blipFill>
        <p:spPr>
          <a:xfrm>
            <a:off x="1353312" y="2999232"/>
            <a:ext cx="640080" cy="640080"/>
          </a:xfrm>
          <a:prstGeom prst="rect">
            <a:avLst/>
          </a:prstGeom>
        </p:spPr>
      </p:pic>
      <p:sp>
        <p:nvSpPr>
          <p:cNvPr id="17" name="TextBox 16"/>
          <p:cNvSpPr txBox="1"/>
          <p:nvPr/>
        </p:nvSpPr>
        <p:spPr>
          <a:xfrm>
            <a:off x="566928" y="3675888"/>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Justice J.R. Midha</a:t>
            </a:r>
          </a:p>
        </p:txBody>
      </p:sp>
      <p:sp>
        <p:nvSpPr>
          <p:cNvPr id="18" name="TextBox 17"/>
          <p:cNvSpPr txBox="1"/>
          <p:nvPr/>
        </p:nvSpPr>
        <p:spPr>
          <a:xfrm>
            <a:off x="566928" y="3867912"/>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Delhi High Court (Retd.)</a:t>
            </a:r>
          </a:p>
        </p:txBody>
      </p:sp>
      <p:pic>
        <p:nvPicPr>
          <p:cNvPr id="19" name="Picture 18" descr="x_damle.png"/>
          <p:cNvPicPr>
            <a:picLocks noChangeAspect="1"/>
          </p:cNvPicPr>
          <p:nvPr/>
        </p:nvPicPr>
        <p:blipFill>
          <a:blip r:embed="rId5"/>
          <a:stretch>
            <a:fillRect/>
          </a:stretch>
        </p:blipFill>
        <p:spPr>
          <a:xfrm>
            <a:off x="3566160" y="2999232"/>
            <a:ext cx="640080" cy="640080"/>
          </a:xfrm>
          <a:prstGeom prst="rect">
            <a:avLst/>
          </a:prstGeom>
        </p:spPr>
      </p:pic>
      <p:sp>
        <p:nvSpPr>
          <p:cNvPr id="20" name="TextBox 19"/>
          <p:cNvSpPr txBox="1"/>
          <p:nvPr/>
        </p:nvSpPr>
        <p:spPr>
          <a:xfrm>
            <a:off x="2779776" y="3675888"/>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Abhay Damle</a:t>
            </a:r>
          </a:p>
        </p:txBody>
      </p:sp>
      <p:sp>
        <p:nvSpPr>
          <p:cNvPr id="21" name="TextBox 20"/>
          <p:cNvSpPr txBox="1"/>
          <p:nvPr/>
        </p:nvSpPr>
        <p:spPr>
          <a:xfrm>
            <a:off x="2779776" y="3867912"/>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Ex-JS, MoRTH</a:t>
            </a:r>
          </a:p>
        </p:txBody>
      </p:sp>
      <p:pic>
        <p:nvPicPr>
          <p:cNvPr id="22" name="Picture 21" descr="x_dange.png"/>
          <p:cNvPicPr>
            <a:picLocks noChangeAspect="1"/>
          </p:cNvPicPr>
          <p:nvPr/>
        </p:nvPicPr>
        <p:blipFill>
          <a:blip r:embed="rId6"/>
          <a:stretch>
            <a:fillRect/>
          </a:stretch>
        </p:blipFill>
        <p:spPr>
          <a:xfrm>
            <a:off x="5779008" y="2999232"/>
            <a:ext cx="640080" cy="640080"/>
          </a:xfrm>
          <a:prstGeom prst="rect">
            <a:avLst/>
          </a:prstGeom>
        </p:spPr>
      </p:pic>
      <p:sp>
        <p:nvSpPr>
          <p:cNvPr id="23" name="TextBox 22"/>
          <p:cNvSpPr txBox="1"/>
          <p:nvPr/>
        </p:nvSpPr>
        <p:spPr>
          <a:xfrm>
            <a:off x="4992624" y="3675888"/>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Vaibhav Dange</a:t>
            </a:r>
          </a:p>
        </p:txBody>
      </p:sp>
      <p:sp>
        <p:nvSpPr>
          <p:cNvPr id="24" name="TextBox 23"/>
          <p:cNvSpPr txBox="1"/>
          <p:nvPr/>
        </p:nvSpPr>
        <p:spPr>
          <a:xfrm>
            <a:off x="4992624" y="3867912"/>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Ex-Advisor, MoRTH</a:t>
            </a:r>
          </a:p>
        </p:txBody>
      </p:sp>
      <p:pic>
        <p:nvPicPr>
          <p:cNvPr id="25" name="Picture 24" descr="x_tandon.png"/>
          <p:cNvPicPr>
            <a:picLocks noChangeAspect="1"/>
          </p:cNvPicPr>
          <p:nvPr/>
        </p:nvPicPr>
        <p:blipFill>
          <a:blip r:embed="rId7"/>
          <a:stretch>
            <a:fillRect/>
          </a:stretch>
        </p:blipFill>
        <p:spPr>
          <a:xfrm>
            <a:off x="7991856" y="2999232"/>
            <a:ext cx="640080" cy="640080"/>
          </a:xfrm>
          <a:prstGeom prst="rect">
            <a:avLst/>
          </a:prstGeom>
        </p:spPr>
      </p:pic>
      <p:sp>
        <p:nvSpPr>
          <p:cNvPr id="26" name="TextBox 25"/>
          <p:cNvSpPr txBox="1"/>
          <p:nvPr/>
        </p:nvSpPr>
        <p:spPr>
          <a:xfrm>
            <a:off x="7205472" y="3675888"/>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Dr. Maya Tandon</a:t>
            </a:r>
          </a:p>
        </p:txBody>
      </p:sp>
      <p:sp>
        <p:nvSpPr>
          <p:cNvPr id="27" name="TextBox 26"/>
          <p:cNvSpPr txBox="1"/>
          <p:nvPr/>
        </p:nvSpPr>
        <p:spPr>
          <a:xfrm>
            <a:off x="7205472" y="3867912"/>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Sahayta Trust</a:t>
            </a:r>
          </a:p>
        </p:txBody>
      </p:sp>
      <p:pic>
        <p:nvPicPr>
          <p:cNvPr id="28" name="Picture 27" descr="x_ratnam.png"/>
          <p:cNvPicPr>
            <a:picLocks noChangeAspect="1"/>
          </p:cNvPicPr>
          <p:nvPr/>
        </p:nvPicPr>
        <p:blipFill>
          <a:blip r:embed="rId8"/>
          <a:stretch>
            <a:fillRect/>
          </a:stretch>
        </p:blipFill>
        <p:spPr>
          <a:xfrm>
            <a:off x="10204704" y="2999232"/>
            <a:ext cx="640080" cy="640080"/>
          </a:xfrm>
          <a:prstGeom prst="rect">
            <a:avLst/>
          </a:prstGeom>
        </p:spPr>
      </p:pic>
      <p:sp>
        <p:nvSpPr>
          <p:cNvPr id="29" name="TextBox 28"/>
          <p:cNvSpPr txBox="1"/>
          <p:nvPr/>
        </p:nvSpPr>
        <p:spPr>
          <a:xfrm>
            <a:off x="9418320" y="3675888"/>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R. Venkat Ratnam</a:t>
            </a:r>
          </a:p>
        </p:txBody>
      </p:sp>
      <p:sp>
        <p:nvSpPr>
          <p:cNvPr id="30" name="TextBox 29"/>
          <p:cNvSpPr txBox="1"/>
          <p:nvPr/>
        </p:nvSpPr>
        <p:spPr>
          <a:xfrm>
            <a:off x="9418320" y="3867912"/>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Government of Punjab</a:t>
            </a:r>
          </a:p>
        </p:txBody>
      </p:sp>
      <p:pic>
        <p:nvPicPr>
          <p:cNvPr id="31" name="Picture 30" descr="x_asrivastava.png"/>
          <p:cNvPicPr>
            <a:picLocks noChangeAspect="1"/>
          </p:cNvPicPr>
          <p:nvPr/>
        </p:nvPicPr>
        <p:blipFill>
          <a:blip r:embed="rId9"/>
          <a:stretch>
            <a:fillRect/>
          </a:stretch>
        </p:blipFill>
        <p:spPr>
          <a:xfrm>
            <a:off x="1353312" y="4206240"/>
            <a:ext cx="640080" cy="640080"/>
          </a:xfrm>
          <a:prstGeom prst="rect">
            <a:avLst/>
          </a:prstGeom>
        </p:spPr>
      </p:pic>
      <p:sp>
        <p:nvSpPr>
          <p:cNvPr id="32" name="TextBox 31"/>
          <p:cNvSpPr txBox="1"/>
          <p:nvPr/>
        </p:nvSpPr>
        <p:spPr>
          <a:xfrm>
            <a:off x="566928" y="4882896"/>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Akhilesh Srivastava</a:t>
            </a:r>
          </a:p>
        </p:txBody>
      </p:sp>
      <p:sp>
        <p:nvSpPr>
          <p:cNvPr id="33" name="TextBox 32"/>
          <p:cNvSpPr txBox="1"/>
          <p:nvPr/>
        </p:nvSpPr>
        <p:spPr>
          <a:xfrm>
            <a:off x="566928" y="5074920"/>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ITS India · IRF</a:t>
            </a:r>
          </a:p>
        </p:txBody>
      </p:sp>
      <p:pic>
        <p:nvPicPr>
          <p:cNvPr id="34" name="Picture 33" descr="x_raman.png"/>
          <p:cNvPicPr>
            <a:picLocks noChangeAspect="1"/>
          </p:cNvPicPr>
          <p:nvPr/>
        </p:nvPicPr>
        <p:blipFill>
          <a:blip r:embed="rId10"/>
          <a:stretch>
            <a:fillRect/>
          </a:stretch>
        </p:blipFill>
        <p:spPr>
          <a:xfrm>
            <a:off x="3566160" y="4206240"/>
            <a:ext cx="640080" cy="640080"/>
          </a:xfrm>
          <a:prstGeom prst="rect">
            <a:avLst/>
          </a:prstGeom>
        </p:spPr>
      </p:pic>
      <p:sp>
        <p:nvSpPr>
          <p:cNvPr id="35" name="TextBox 34"/>
          <p:cNvSpPr txBox="1"/>
          <p:nvPr/>
        </p:nvSpPr>
        <p:spPr>
          <a:xfrm>
            <a:off x="2779776" y="4882896"/>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Aishwarya Raman</a:t>
            </a:r>
          </a:p>
        </p:txBody>
      </p:sp>
      <p:sp>
        <p:nvSpPr>
          <p:cNvPr id="36" name="TextBox 35"/>
          <p:cNvSpPr txBox="1"/>
          <p:nvPr/>
        </p:nvSpPr>
        <p:spPr>
          <a:xfrm>
            <a:off x="2779776" y="5074920"/>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OMI Foundation</a:t>
            </a:r>
          </a:p>
        </p:txBody>
      </p:sp>
      <p:pic>
        <p:nvPicPr>
          <p:cNvPr id="37" name="Picture 36" descr="x_nkumar.png"/>
          <p:cNvPicPr>
            <a:picLocks noChangeAspect="1"/>
          </p:cNvPicPr>
          <p:nvPr/>
        </p:nvPicPr>
        <p:blipFill>
          <a:blip r:embed="rId11"/>
          <a:stretch>
            <a:fillRect/>
          </a:stretch>
        </p:blipFill>
        <p:spPr>
          <a:xfrm>
            <a:off x="5779008" y="4206240"/>
            <a:ext cx="640080" cy="640080"/>
          </a:xfrm>
          <a:prstGeom prst="rect">
            <a:avLst/>
          </a:prstGeom>
        </p:spPr>
      </p:pic>
      <p:sp>
        <p:nvSpPr>
          <p:cNvPr id="38" name="TextBox 37"/>
          <p:cNvSpPr txBox="1"/>
          <p:nvPr/>
        </p:nvSpPr>
        <p:spPr>
          <a:xfrm>
            <a:off x="4992624" y="4882896"/>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Neeraj Kumar</a:t>
            </a:r>
          </a:p>
        </p:txBody>
      </p:sp>
      <p:sp>
        <p:nvSpPr>
          <p:cNvPr id="39" name="TextBox 38"/>
          <p:cNvSpPr txBox="1"/>
          <p:nvPr/>
        </p:nvSpPr>
        <p:spPr>
          <a:xfrm>
            <a:off x="4992624" y="5074920"/>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Tata AIG</a:t>
            </a:r>
          </a:p>
        </p:txBody>
      </p:sp>
      <p:pic>
        <p:nvPicPr>
          <p:cNvPr id="40" name="Picture 39" descr="x_pandey.png"/>
          <p:cNvPicPr>
            <a:picLocks noChangeAspect="1"/>
          </p:cNvPicPr>
          <p:nvPr/>
        </p:nvPicPr>
        <p:blipFill>
          <a:blip r:embed="rId12"/>
          <a:stretch>
            <a:fillRect/>
          </a:stretch>
        </p:blipFill>
        <p:spPr>
          <a:xfrm>
            <a:off x="7991856" y="4206240"/>
            <a:ext cx="640080" cy="640080"/>
          </a:xfrm>
          <a:prstGeom prst="rect">
            <a:avLst/>
          </a:prstGeom>
        </p:spPr>
      </p:pic>
      <p:sp>
        <p:nvSpPr>
          <p:cNvPr id="41" name="TextBox 40"/>
          <p:cNvSpPr txBox="1"/>
          <p:nvPr/>
        </p:nvSpPr>
        <p:spPr>
          <a:xfrm>
            <a:off x="7205472" y="4882896"/>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R.S. Pandey</a:t>
            </a:r>
          </a:p>
        </p:txBody>
      </p:sp>
      <p:sp>
        <p:nvSpPr>
          <p:cNvPr id="42" name="TextBox 41"/>
          <p:cNvSpPr txBox="1"/>
          <p:nvPr/>
        </p:nvSpPr>
        <p:spPr>
          <a:xfrm>
            <a:off x="7205472" y="5074920"/>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FICCI Road Safety</a:t>
            </a:r>
          </a:p>
        </p:txBody>
      </p:sp>
      <p:pic>
        <p:nvPicPr>
          <p:cNvPr id="43" name="Picture 42" descr="x_dash.png"/>
          <p:cNvPicPr>
            <a:picLocks noChangeAspect="1"/>
          </p:cNvPicPr>
          <p:nvPr/>
        </p:nvPicPr>
        <p:blipFill>
          <a:blip r:embed="rId13"/>
          <a:stretch>
            <a:fillRect/>
          </a:stretch>
        </p:blipFill>
        <p:spPr>
          <a:xfrm>
            <a:off x="10204704" y="4206240"/>
            <a:ext cx="640080" cy="640080"/>
          </a:xfrm>
          <a:prstGeom prst="rect">
            <a:avLst/>
          </a:prstGeom>
        </p:spPr>
      </p:pic>
      <p:sp>
        <p:nvSpPr>
          <p:cNvPr id="44" name="TextBox 43"/>
          <p:cNvSpPr txBox="1"/>
          <p:nvPr/>
        </p:nvSpPr>
        <p:spPr>
          <a:xfrm>
            <a:off x="9418320" y="4882896"/>
            <a:ext cx="2121408" cy="274320"/>
          </a:xfrm>
          <a:prstGeom prst="rect">
            <a:avLst/>
          </a:prstGeom>
          <a:noFill/>
        </p:spPr>
        <p:txBody>
          <a:bodyPr wrap="square" lIns="0" rIns="0" tIns="0" bIns="0" anchor="t">
            <a:spAutoFit/>
          </a:bodyPr>
          <a:lstStyle/>
          <a:p>
            <a:pPr algn="ctr">
              <a:lnSpc>
                <a:spcPct val="100000"/>
              </a:lnSpc>
            </a:pPr>
            <a:r>
              <a:rPr sz="850" b="1" i="0">
                <a:solidFill>
                  <a:srgbClr val="16181D"/>
                </a:solidFill>
                <a:latin typeface="Montserrat"/>
              </a:rPr>
              <a:t>Dipak K. Dash</a:t>
            </a:r>
          </a:p>
        </p:txBody>
      </p:sp>
      <p:sp>
        <p:nvSpPr>
          <p:cNvPr id="45" name="TextBox 44"/>
          <p:cNvSpPr txBox="1"/>
          <p:nvPr/>
        </p:nvSpPr>
        <p:spPr>
          <a:xfrm>
            <a:off x="9418320" y="5074920"/>
            <a:ext cx="2121408" cy="274320"/>
          </a:xfrm>
          <a:prstGeom prst="rect">
            <a:avLst/>
          </a:prstGeom>
          <a:noFill/>
        </p:spPr>
        <p:txBody>
          <a:bodyPr wrap="square" lIns="0" rIns="0" tIns="0" bIns="0" anchor="t">
            <a:spAutoFit/>
          </a:bodyPr>
          <a:lstStyle/>
          <a:p>
            <a:pPr algn="ctr">
              <a:lnSpc>
                <a:spcPct val="100000"/>
              </a:lnSpc>
            </a:pPr>
            <a:r>
              <a:rPr sz="750" b="0" i="0">
                <a:solidFill>
                  <a:srgbClr val="6E7180"/>
                </a:solidFill>
                <a:latin typeface="Geist"/>
              </a:rPr>
              <a:t>Times of India</a:t>
            </a:r>
          </a:p>
        </p:txBody>
      </p:sp>
      <p:sp>
        <p:nvSpPr>
          <p:cNvPr id="46" name="Rounded Rectangle 45"/>
          <p:cNvSpPr/>
          <p:nvPr/>
        </p:nvSpPr>
        <p:spPr>
          <a:xfrm>
            <a:off x="566928" y="5559552"/>
            <a:ext cx="11057839" cy="621792"/>
          </a:xfrm>
          <a:prstGeom prst="roundRect">
            <a:avLst>
              <a:gd name="adj" fmla="val 14000"/>
            </a:avLst>
          </a:prstGeom>
          <a:solidFill>
            <a:srgbClr val="F7F7FA"/>
          </a:solidFill>
          <a:ln>
            <a:noFill/>
          </a:ln>
          <a:effectLst/>
        </p:spPr>
        <p:txBody>
          <a:bodyPr rtlCol="0" anchor="ctr"/>
          <a:lstStyle/>
          <a:p>
            <a:pPr algn="ctr"/>
          </a:p>
        </p:txBody>
      </p:sp>
      <p:sp>
        <p:nvSpPr>
          <p:cNvPr id="47" name="TextBox 46"/>
          <p:cNvSpPr txBox="1"/>
          <p:nvPr/>
        </p:nvSpPr>
        <p:spPr>
          <a:xfrm>
            <a:off x="768096" y="5623560"/>
            <a:ext cx="10646359" cy="502920"/>
          </a:xfrm>
          <a:prstGeom prst="rect">
            <a:avLst/>
          </a:prstGeom>
          <a:noFill/>
        </p:spPr>
        <p:txBody>
          <a:bodyPr wrap="square" lIns="0" rIns="0" tIns="0" bIns="0" anchor="t">
            <a:spAutoFit/>
          </a:bodyPr>
          <a:lstStyle/>
          <a:p>
            <a:pPr algn="l">
              <a:lnSpc>
                <a:spcPct val="125000"/>
              </a:lnSpc>
            </a:pPr>
            <a:r>
              <a:rPr sz="900" b="1" i="0">
                <a:solidFill>
                  <a:srgbClr val="16181D"/>
                </a:solidFill>
                <a:latin typeface="Geist"/>
              </a:rPr>
              <a:t>Engaged through the National Road Safety Dialogue Series: </a:t>
            </a:r>
            <a:r>
              <a:rPr sz="900" b="0" i="0">
                <a:solidFill>
                  <a:srgbClr val="6E7180"/>
                </a:solidFill>
                <a:latin typeface="Geist"/>
              </a:rPr>
              <a:t>Balraj Bhanot (ex-Chair, CMVR-TSC) · I.V. Rao (TERI; ex-Maruti Suzuki) · D.P. Saste (CIRT / ex-MoRTH) · Dr. Sushma Sagar (AIIMS Trauma) · Dr. S. Velmurugan (CSIR-CRRI), and jurors from OMI, NIUA, WRI, CII and Tata AIG.</a:t>
            </a:r>
          </a:p>
        </p:txBody>
      </p:sp>
      <p:cxnSp>
        <p:nvCxnSpPr>
          <p:cNvPr id="48" name="Connector 47"/>
          <p:cNvCxnSpPr/>
          <p:nvPr/>
        </p:nvCxnSpPr>
        <p:spPr>
          <a:xfrm>
            <a:off x="566928" y="6455664"/>
            <a:ext cx="11057839" cy="0"/>
          </a:xfrm>
          <a:prstGeom prst="line">
            <a:avLst/>
          </a:prstGeom>
          <a:ln w="9525">
            <a:solidFill>
              <a:srgbClr val="E8E9EE"/>
            </a:solidFill>
          </a:ln>
          <a:effectLst/>
        </p:spPr>
      </p:cxnSp>
      <p:sp>
        <p:nvSpPr>
          <p:cNvPr id="49" name="TextBox 4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50" name="TextBox 4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16 / 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THE PROBLEM, MEASURED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Compensation pendency, </a:t>
            </a:r>
            <a:r>
              <a:rPr sz="2250" b="1" i="0">
                <a:solidFill>
                  <a:srgbClr val="4A35FF"/>
                </a:solidFill>
                <a:latin typeface="Montserrat"/>
              </a:rPr>
              <a:t>in numbers</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Families and courts both lose to process friction. This is a pipeline problem, and pipelines can be fixed with standards and visibility.</a:t>
            </a:r>
          </a:p>
        </p:txBody>
      </p:sp>
      <p:sp>
        <p:nvSpPr>
          <p:cNvPr id="8" name="Rounded Rectangle 7"/>
          <p:cNvSpPr/>
          <p:nvPr/>
        </p:nvSpPr>
        <p:spPr>
          <a:xfrm>
            <a:off x="566928" y="2103120"/>
            <a:ext cx="3611880" cy="1097280"/>
          </a:xfrm>
          <a:prstGeom prst="roundRect">
            <a:avLst>
              <a:gd name="adj" fmla="val 8000"/>
            </a:avLst>
          </a:prstGeom>
          <a:solidFill>
            <a:srgbClr val="F7F7FA"/>
          </a:solidFill>
          <a:ln>
            <a:noFill/>
          </a:ln>
          <a:effectLst/>
        </p:spPr>
        <p:txBody>
          <a:bodyPr rtlCol="0" anchor="ctr"/>
          <a:lstStyle/>
          <a:p>
            <a:pPr algn="ctr"/>
          </a:p>
        </p:txBody>
      </p:sp>
      <p:sp>
        <p:nvSpPr>
          <p:cNvPr id="9" name="TextBox 8"/>
          <p:cNvSpPr txBox="1"/>
          <p:nvPr/>
        </p:nvSpPr>
        <p:spPr>
          <a:xfrm>
            <a:off x="731520" y="2194560"/>
            <a:ext cx="3282696" cy="457200"/>
          </a:xfrm>
          <a:prstGeom prst="rect">
            <a:avLst/>
          </a:prstGeom>
          <a:noFill/>
        </p:spPr>
        <p:txBody>
          <a:bodyPr wrap="square" lIns="0" rIns="0" tIns="0" bIns="0" anchor="t">
            <a:spAutoFit/>
          </a:bodyPr>
          <a:lstStyle/>
          <a:p>
            <a:pPr algn="l">
              <a:lnSpc>
                <a:spcPct val="128000"/>
              </a:lnSpc>
            </a:pPr>
            <a:r>
              <a:rPr sz="2000" b="1" i="0">
                <a:solidFill>
                  <a:srgbClr val="4A35FF"/>
                </a:solidFill>
                <a:latin typeface="Montserrat"/>
              </a:rPr>
              <a:t>₹80,000+ Cr</a:t>
            </a:r>
          </a:p>
        </p:txBody>
      </p:sp>
      <p:sp>
        <p:nvSpPr>
          <p:cNvPr id="10" name="TextBox 9"/>
          <p:cNvSpPr txBox="1"/>
          <p:nvPr/>
        </p:nvSpPr>
        <p:spPr>
          <a:xfrm>
            <a:off x="731520" y="2651760"/>
            <a:ext cx="3282696" cy="5029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held up across 10.46 lakh pending MACT cases nationally</a:t>
            </a:r>
          </a:p>
        </p:txBody>
      </p:sp>
      <p:sp>
        <p:nvSpPr>
          <p:cNvPr id="11" name="Rounded Rectangle 10"/>
          <p:cNvSpPr/>
          <p:nvPr/>
        </p:nvSpPr>
        <p:spPr>
          <a:xfrm>
            <a:off x="4288536" y="2103120"/>
            <a:ext cx="3611880" cy="1097280"/>
          </a:xfrm>
          <a:prstGeom prst="roundRect">
            <a:avLst>
              <a:gd name="adj" fmla="val 8000"/>
            </a:avLst>
          </a:prstGeom>
          <a:solidFill>
            <a:srgbClr val="F7F7FA"/>
          </a:solidFill>
          <a:ln>
            <a:noFill/>
          </a:ln>
          <a:effectLst/>
        </p:spPr>
        <p:txBody>
          <a:bodyPr rtlCol="0" anchor="ctr"/>
          <a:lstStyle/>
          <a:p>
            <a:pPr algn="ctr"/>
          </a:p>
        </p:txBody>
      </p:sp>
      <p:sp>
        <p:nvSpPr>
          <p:cNvPr id="12" name="TextBox 11"/>
          <p:cNvSpPr txBox="1"/>
          <p:nvPr/>
        </p:nvSpPr>
        <p:spPr>
          <a:xfrm>
            <a:off x="4453128" y="2194560"/>
            <a:ext cx="3282696" cy="457200"/>
          </a:xfrm>
          <a:prstGeom prst="rect">
            <a:avLst/>
          </a:prstGeom>
          <a:noFill/>
        </p:spPr>
        <p:txBody>
          <a:bodyPr wrap="square" lIns="0" rIns="0" tIns="0" bIns="0" anchor="t">
            <a:spAutoFit/>
          </a:bodyPr>
          <a:lstStyle/>
          <a:p>
            <a:pPr algn="l">
              <a:lnSpc>
                <a:spcPct val="128000"/>
              </a:lnSpc>
            </a:pPr>
            <a:r>
              <a:rPr sz="2000" b="1" i="0">
                <a:solidFill>
                  <a:srgbClr val="4A35FF"/>
                </a:solidFill>
                <a:latin typeface="Montserrat"/>
              </a:rPr>
              <a:t>11 lakh</a:t>
            </a:r>
          </a:p>
        </p:txBody>
      </p:sp>
      <p:sp>
        <p:nvSpPr>
          <p:cNvPr id="13" name="TextBox 12"/>
          <p:cNvSpPr txBox="1"/>
          <p:nvPr/>
        </p:nvSpPr>
        <p:spPr>
          <a:xfrm>
            <a:off x="4453128" y="2651760"/>
            <a:ext cx="3282696" cy="5029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claims pending in MACT courts (FY 2023)</a:t>
            </a:r>
          </a:p>
        </p:txBody>
      </p:sp>
      <p:sp>
        <p:nvSpPr>
          <p:cNvPr id="14" name="Rounded Rectangle 13"/>
          <p:cNvSpPr/>
          <p:nvPr/>
        </p:nvSpPr>
        <p:spPr>
          <a:xfrm>
            <a:off x="8010144" y="2103120"/>
            <a:ext cx="3611880" cy="1097280"/>
          </a:xfrm>
          <a:prstGeom prst="roundRect">
            <a:avLst>
              <a:gd name="adj" fmla="val 8000"/>
            </a:avLst>
          </a:prstGeom>
          <a:solidFill>
            <a:srgbClr val="F7F7FA"/>
          </a:solidFill>
          <a:ln>
            <a:noFill/>
          </a:ln>
          <a:effectLst/>
        </p:spPr>
        <p:txBody>
          <a:bodyPr rtlCol="0" anchor="ctr"/>
          <a:lstStyle/>
          <a:p>
            <a:pPr algn="ctr"/>
          </a:p>
        </p:txBody>
      </p:sp>
      <p:sp>
        <p:nvSpPr>
          <p:cNvPr id="15" name="TextBox 14"/>
          <p:cNvSpPr txBox="1"/>
          <p:nvPr/>
        </p:nvSpPr>
        <p:spPr>
          <a:xfrm>
            <a:off x="8174736" y="2194560"/>
            <a:ext cx="3282696" cy="457200"/>
          </a:xfrm>
          <a:prstGeom prst="rect">
            <a:avLst/>
          </a:prstGeom>
          <a:noFill/>
        </p:spPr>
        <p:txBody>
          <a:bodyPr wrap="square" lIns="0" rIns="0" tIns="0" bIns="0" anchor="t">
            <a:spAutoFit/>
          </a:bodyPr>
          <a:lstStyle/>
          <a:p>
            <a:pPr algn="l">
              <a:lnSpc>
                <a:spcPct val="128000"/>
              </a:lnSpc>
            </a:pPr>
            <a:r>
              <a:rPr sz="2000" b="1" i="0">
                <a:solidFill>
                  <a:srgbClr val="4A35FF"/>
                </a:solidFill>
                <a:latin typeface="Montserrat"/>
              </a:rPr>
              <a:t>3.6 years</a:t>
            </a:r>
          </a:p>
        </p:txBody>
      </p:sp>
      <p:sp>
        <p:nvSpPr>
          <p:cNvPr id="16" name="TextBox 15"/>
          <p:cNvSpPr txBox="1"/>
          <p:nvPr/>
        </p:nvSpPr>
        <p:spPr>
          <a:xfrm>
            <a:off x="8174736" y="2651760"/>
            <a:ext cx="3282696" cy="5029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average time to settlement, for those who persist</a:t>
            </a:r>
          </a:p>
        </p:txBody>
      </p:sp>
      <p:sp>
        <p:nvSpPr>
          <p:cNvPr id="17" name="Rounded Rectangle 16"/>
          <p:cNvSpPr/>
          <p:nvPr/>
        </p:nvSpPr>
        <p:spPr>
          <a:xfrm>
            <a:off x="566928" y="3520440"/>
            <a:ext cx="11057839" cy="2697480"/>
          </a:xfrm>
          <a:prstGeom prst="roundRect">
            <a:avLst>
              <a:gd name="adj" fmla="val 6000"/>
            </a:avLst>
          </a:prstGeom>
          <a:solidFill>
            <a:srgbClr val="FFFFFF"/>
          </a:solidFill>
          <a:ln w="9525">
            <a:solidFill>
              <a:srgbClr val="E8E9EE"/>
            </a:solidFill>
          </a:ln>
          <a:effectLst/>
        </p:spPr>
        <p:txBody>
          <a:bodyPr rtlCol="0" anchor="ctr"/>
          <a:lstStyle/>
          <a:p>
            <a:pPr algn="ctr"/>
          </a:p>
        </p:txBody>
      </p:sp>
      <p:pic>
        <p:nvPicPr>
          <p:cNvPr id="18" name="Picture 17" descr="cov_deposited.png"/>
          <p:cNvPicPr>
            <a:picLocks noChangeAspect="1"/>
          </p:cNvPicPr>
          <p:nvPr/>
        </p:nvPicPr>
        <p:blipFill>
          <a:blip r:embed="rId2"/>
          <a:stretch>
            <a:fillRect/>
          </a:stretch>
        </p:blipFill>
        <p:spPr>
          <a:xfrm>
            <a:off x="749808" y="3721608"/>
            <a:ext cx="1737360" cy="2279693"/>
          </a:xfrm>
          <a:prstGeom prst="rect">
            <a:avLst/>
          </a:prstGeom>
        </p:spPr>
      </p:pic>
      <p:sp>
        <p:nvSpPr>
          <p:cNvPr id="19" name="Rectangle 18"/>
          <p:cNvSpPr/>
          <p:nvPr/>
        </p:nvSpPr>
        <p:spPr>
          <a:xfrm>
            <a:off x="749808" y="3721608"/>
            <a:ext cx="1737360" cy="2279693"/>
          </a:xfrm>
          <a:prstGeom prst="rect">
            <a:avLst/>
          </a:prstGeom>
          <a:noFill/>
          <a:ln w="12700">
            <a:solidFill>
              <a:srgbClr val="E8E9EE"/>
            </a:solidFill>
          </a:ln>
          <a:effectLst/>
        </p:spPr>
        <p:txBody>
          <a:bodyPr rtlCol="0" anchor="ctr"/>
          <a:lstStyle/>
          <a:p>
            <a:pPr algn="ctr"/>
          </a:p>
        </p:txBody>
      </p:sp>
      <p:sp>
        <p:nvSpPr>
          <p:cNvPr id="20" name="TextBox 19"/>
          <p:cNvSpPr txBox="1"/>
          <p:nvPr/>
        </p:nvSpPr>
        <p:spPr>
          <a:xfrm>
            <a:off x="2670048" y="3685032"/>
            <a:ext cx="8686800" cy="292608"/>
          </a:xfrm>
          <a:prstGeom prst="rect">
            <a:avLst/>
          </a:prstGeom>
          <a:noFill/>
        </p:spPr>
        <p:txBody>
          <a:bodyPr wrap="square" lIns="0" rIns="0" tIns="0" bIns="0" anchor="t">
            <a:spAutoFit/>
          </a:bodyPr>
          <a:lstStyle/>
          <a:p>
            <a:pPr algn="l">
              <a:lnSpc>
                <a:spcPct val="128000"/>
              </a:lnSpc>
            </a:pPr>
            <a:r>
              <a:rPr sz="900" b="1" i="0" spc="120">
                <a:solidFill>
                  <a:srgbClr val="4A35FF"/>
                </a:solidFill>
                <a:latin typeface="Montserrat"/>
              </a:rPr>
              <a:t>WHAT OUR RESEARCH FOUND: 'DEPOSITED BUT NOT DELIVERED'</a:t>
            </a:r>
          </a:p>
        </p:txBody>
      </p:sp>
      <p:sp>
        <p:nvSpPr>
          <p:cNvPr id="21" name="TextBox 20"/>
          <p:cNvSpPr txBox="1"/>
          <p:nvPr/>
        </p:nvSpPr>
        <p:spPr>
          <a:xfrm>
            <a:off x="2670048" y="3977640"/>
            <a:ext cx="5486400" cy="566928"/>
          </a:xfrm>
          <a:prstGeom prst="rect">
            <a:avLst/>
          </a:prstGeom>
          <a:noFill/>
        </p:spPr>
        <p:txBody>
          <a:bodyPr wrap="square" lIns="0" rIns="0" tIns="0" bIns="0" anchor="t">
            <a:spAutoFit/>
          </a:bodyPr>
          <a:lstStyle/>
          <a:p>
            <a:pPr algn="l">
              <a:lnSpc>
                <a:spcPct val="128000"/>
              </a:lnSpc>
            </a:pPr>
            <a:r>
              <a:rPr sz="950" b="0" i="0">
                <a:solidFill>
                  <a:srgbClr val="16181D"/>
                </a:solidFill>
                <a:latin typeface="Geist"/>
              </a:rPr>
              <a:t>Money that families have already won in court, deposited by insurers, sitting unclaimed. The Supreme Court took note in 2025 and ordered public dashboards and claimant tracing.</a:t>
            </a:r>
          </a:p>
        </p:txBody>
      </p:sp>
      <p:sp>
        <p:nvSpPr>
          <p:cNvPr id="22" name="Oval 21"/>
          <p:cNvSpPr/>
          <p:nvPr/>
        </p:nvSpPr>
        <p:spPr>
          <a:xfrm>
            <a:off x="2670048" y="4690872"/>
            <a:ext cx="329184" cy="329184"/>
          </a:xfrm>
          <a:prstGeom prst="ellipse">
            <a:avLst/>
          </a:prstGeom>
          <a:solidFill>
            <a:srgbClr val="FDF3E3"/>
          </a:solidFill>
          <a:ln>
            <a:noFill/>
          </a:ln>
          <a:effectLst/>
        </p:spPr>
        <p:txBody>
          <a:bodyPr rtlCol="0" anchor="ctr"/>
          <a:lstStyle/>
          <a:p>
            <a:pPr algn="ctr"/>
          </a:p>
        </p:txBody>
      </p:sp>
      <p:pic>
        <p:nvPicPr>
          <p:cNvPr id="23" name="Picture 22" descr="bell-off_E58900_256_2.0.png"/>
          <p:cNvPicPr>
            <a:picLocks noChangeAspect="1"/>
          </p:cNvPicPr>
          <p:nvPr/>
        </p:nvPicPr>
        <p:blipFill>
          <a:blip r:embed="rId3"/>
          <a:stretch>
            <a:fillRect/>
          </a:stretch>
        </p:blipFill>
        <p:spPr>
          <a:xfrm>
            <a:off x="2749052" y="4769876"/>
            <a:ext cx="171175" cy="171175"/>
          </a:xfrm>
          <a:prstGeom prst="rect">
            <a:avLst/>
          </a:prstGeom>
        </p:spPr>
      </p:pic>
      <p:sp>
        <p:nvSpPr>
          <p:cNvPr id="24" name="TextBox 23"/>
          <p:cNvSpPr txBox="1"/>
          <p:nvPr/>
        </p:nvSpPr>
        <p:spPr>
          <a:xfrm>
            <a:off x="3108960" y="4681728"/>
            <a:ext cx="2331720" cy="457200"/>
          </a:xfrm>
          <a:prstGeom prst="rect">
            <a:avLst/>
          </a:prstGeom>
          <a:noFill/>
        </p:spPr>
        <p:txBody>
          <a:bodyPr wrap="square" lIns="0" rIns="0" tIns="0" bIns="0" anchor="t">
            <a:spAutoFit/>
          </a:bodyPr>
          <a:lstStyle/>
          <a:p>
            <a:pPr algn="l">
              <a:lnSpc>
                <a:spcPct val="105000"/>
              </a:lnSpc>
            </a:pPr>
            <a:r>
              <a:rPr sz="900" b="1" i="0">
                <a:solidFill>
                  <a:srgbClr val="16181D"/>
                </a:solidFill>
                <a:latin typeface="Montserrat"/>
              </a:rPr>
              <a:t>Families are never told</a:t>
            </a:r>
          </a:p>
        </p:txBody>
      </p:sp>
      <p:sp>
        <p:nvSpPr>
          <p:cNvPr id="25" name="TextBox 24"/>
          <p:cNvSpPr txBox="1"/>
          <p:nvPr/>
        </p:nvSpPr>
        <p:spPr>
          <a:xfrm>
            <a:off x="5522976" y="4681728"/>
            <a:ext cx="3063240" cy="475488"/>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No proactive notification exists when an insurer deposits the award; many families learn months or years later, or never.</a:t>
            </a:r>
          </a:p>
        </p:txBody>
      </p:sp>
      <p:sp>
        <p:nvSpPr>
          <p:cNvPr id="26" name="Oval 25"/>
          <p:cNvSpPr/>
          <p:nvPr/>
        </p:nvSpPr>
        <p:spPr>
          <a:xfrm>
            <a:off x="2670048" y="5202936"/>
            <a:ext cx="329184" cy="329184"/>
          </a:xfrm>
          <a:prstGeom prst="ellipse">
            <a:avLst/>
          </a:prstGeom>
          <a:solidFill>
            <a:srgbClr val="FDF3E3"/>
          </a:solidFill>
          <a:ln>
            <a:noFill/>
          </a:ln>
          <a:effectLst/>
        </p:spPr>
        <p:txBody>
          <a:bodyPr rtlCol="0" anchor="ctr"/>
          <a:lstStyle/>
          <a:p>
            <a:pPr algn="ctr"/>
          </a:p>
        </p:txBody>
      </p:sp>
      <p:pic>
        <p:nvPicPr>
          <p:cNvPr id="27" name="Picture 26" descr="file-x_E58900_256_2.0.png"/>
          <p:cNvPicPr>
            <a:picLocks noChangeAspect="1"/>
          </p:cNvPicPr>
          <p:nvPr/>
        </p:nvPicPr>
        <p:blipFill>
          <a:blip r:embed="rId4"/>
          <a:stretch>
            <a:fillRect/>
          </a:stretch>
        </p:blipFill>
        <p:spPr>
          <a:xfrm>
            <a:off x="2749052" y="5281940"/>
            <a:ext cx="171175" cy="171175"/>
          </a:xfrm>
          <a:prstGeom prst="rect">
            <a:avLst/>
          </a:prstGeom>
        </p:spPr>
      </p:pic>
      <p:sp>
        <p:nvSpPr>
          <p:cNvPr id="28" name="TextBox 27"/>
          <p:cNvSpPr txBox="1"/>
          <p:nvPr/>
        </p:nvSpPr>
        <p:spPr>
          <a:xfrm>
            <a:off x="3108960" y="5193792"/>
            <a:ext cx="2331720" cy="457200"/>
          </a:xfrm>
          <a:prstGeom prst="rect">
            <a:avLst/>
          </a:prstGeom>
          <a:noFill/>
        </p:spPr>
        <p:txBody>
          <a:bodyPr wrap="square" lIns="0" rIns="0" tIns="0" bIns="0" anchor="t">
            <a:spAutoFit/>
          </a:bodyPr>
          <a:lstStyle/>
          <a:p>
            <a:pPr algn="l">
              <a:lnSpc>
                <a:spcPct val="105000"/>
              </a:lnSpc>
            </a:pPr>
            <a:r>
              <a:rPr sz="900" b="1" i="0">
                <a:solidFill>
                  <a:srgbClr val="16181D"/>
                </a:solidFill>
                <a:latin typeface="Montserrat"/>
              </a:rPr>
              <a:t>Withdrawal stalls on paperwork</a:t>
            </a:r>
          </a:p>
        </p:txBody>
      </p:sp>
      <p:sp>
        <p:nvSpPr>
          <p:cNvPr id="29" name="TextBox 28"/>
          <p:cNvSpPr txBox="1"/>
          <p:nvPr/>
        </p:nvSpPr>
        <p:spPr>
          <a:xfrm>
            <a:off x="5522976" y="5193792"/>
            <a:ext cx="3063240" cy="475488"/>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A 15–20 day process in theory; in practice, documents, missing bank details in older judgments, and office hand-offs stall it.</a:t>
            </a:r>
          </a:p>
        </p:txBody>
      </p:sp>
      <p:sp>
        <p:nvSpPr>
          <p:cNvPr id="30" name="Oval 29"/>
          <p:cNvSpPr/>
          <p:nvPr/>
        </p:nvSpPr>
        <p:spPr>
          <a:xfrm>
            <a:off x="2670048" y="5715000"/>
            <a:ext cx="329184" cy="329184"/>
          </a:xfrm>
          <a:prstGeom prst="ellipse">
            <a:avLst/>
          </a:prstGeom>
          <a:solidFill>
            <a:srgbClr val="FDF3E3"/>
          </a:solidFill>
          <a:ln>
            <a:noFill/>
          </a:ln>
          <a:effectLst/>
        </p:spPr>
        <p:txBody>
          <a:bodyPr rtlCol="0" anchor="ctr"/>
          <a:lstStyle/>
          <a:p>
            <a:pPr algn="ctr"/>
          </a:p>
        </p:txBody>
      </p:sp>
      <p:pic>
        <p:nvPicPr>
          <p:cNvPr id="31" name="Picture 30" descr="scale_E58900_256_2.0.png"/>
          <p:cNvPicPr>
            <a:picLocks noChangeAspect="1"/>
          </p:cNvPicPr>
          <p:nvPr/>
        </p:nvPicPr>
        <p:blipFill>
          <a:blip r:embed="rId5"/>
          <a:stretch>
            <a:fillRect/>
          </a:stretch>
        </p:blipFill>
        <p:spPr>
          <a:xfrm>
            <a:off x="2749052" y="5794004"/>
            <a:ext cx="171175" cy="171175"/>
          </a:xfrm>
          <a:prstGeom prst="rect">
            <a:avLst/>
          </a:prstGeom>
        </p:spPr>
      </p:pic>
      <p:sp>
        <p:nvSpPr>
          <p:cNvPr id="32" name="TextBox 31"/>
          <p:cNvSpPr txBox="1"/>
          <p:nvPr/>
        </p:nvSpPr>
        <p:spPr>
          <a:xfrm>
            <a:off x="3108960" y="5705856"/>
            <a:ext cx="2331720" cy="457200"/>
          </a:xfrm>
          <a:prstGeom prst="rect">
            <a:avLst/>
          </a:prstGeom>
          <a:noFill/>
        </p:spPr>
        <p:txBody>
          <a:bodyPr wrap="square" lIns="0" rIns="0" tIns="0" bIns="0" anchor="t">
            <a:spAutoFit/>
          </a:bodyPr>
          <a:lstStyle/>
          <a:p>
            <a:pPr algn="l">
              <a:lnSpc>
                <a:spcPct val="105000"/>
              </a:lnSpc>
            </a:pPr>
            <a:r>
              <a:rPr sz="900" b="1" i="0">
                <a:solidFill>
                  <a:srgbClr val="16181D"/>
                </a:solidFill>
                <a:latin typeface="Montserrat"/>
              </a:rPr>
              <a:t>Advocate incentives cut against families</a:t>
            </a:r>
          </a:p>
        </p:txBody>
      </p:sp>
      <p:sp>
        <p:nvSpPr>
          <p:cNvPr id="33" name="TextBox 32"/>
          <p:cNvSpPr txBox="1"/>
          <p:nvPr/>
        </p:nvSpPr>
        <p:spPr>
          <a:xfrm>
            <a:off x="5522976" y="5705856"/>
            <a:ext cx="3063240" cy="475488"/>
          </a:xfrm>
          <a:prstGeom prst="rect">
            <a:avLst/>
          </a:prstGeom>
          <a:noFill/>
        </p:spPr>
        <p:txBody>
          <a:bodyPr wrap="square" lIns="0" rIns="0" tIns="0" bIns="0" anchor="t">
            <a:spAutoFit/>
          </a:bodyPr>
          <a:lstStyle/>
          <a:p>
            <a:pPr algn="l">
              <a:lnSpc>
                <a:spcPct val="115000"/>
              </a:lnSpc>
            </a:pPr>
            <a:r>
              <a:rPr sz="800" b="0" i="0">
                <a:solidFill>
                  <a:srgbClr val="6E7180"/>
                </a:solidFill>
                <a:latin typeface="Geist"/>
              </a:rPr>
              <a:t>Consultations found contingency fees of 20–30%, and little reason for counsel to speed up the final hand-over.</a:t>
            </a:r>
          </a:p>
        </p:txBody>
      </p:sp>
      <p:sp>
        <p:nvSpPr>
          <p:cNvPr id="34" name="TextBox 33"/>
          <p:cNvSpPr txBox="1"/>
          <p:nvPr/>
        </p:nvSpPr>
        <p:spPr>
          <a:xfrm>
            <a:off x="8796528" y="3977640"/>
            <a:ext cx="2651760" cy="237744"/>
          </a:xfrm>
          <a:prstGeom prst="rect">
            <a:avLst/>
          </a:prstGeom>
          <a:noFill/>
        </p:spPr>
        <p:txBody>
          <a:bodyPr wrap="square" lIns="0" rIns="0" tIns="0" bIns="0" anchor="t">
            <a:spAutoFit/>
          </a:bodyPr>
          <a:lstStyle/>
          <a:p>
            <a:pPr algn="l">
              <a:lnSpc>
                <a:spcPct val="128000"/>
              </a:lnSpc>
            </a:pPr>
            <a:r>
              <a:rPr sz="800" b="1" i="0" spc="120">
                <a:solidFill>
                  <a:srgbClr val="6E7180"/>
                </a:solidFill>
                <a:latin typeface="Montserrat"/>
              </a:rPr>
              <a:t>UNCLAIMED, BY HIGH COURT</a:t>
            </a:r>
          </a:p>
        </p:txBody>
      </p:sp>
      <p:sp>
        <p:nvSpPr>
          <p:cNvPr id="35" name="TextBox 34"/>
          <p:cNvSpPr txBox="1"/>
          <p:nvPr/>
        </p:nvSpPr>
        <p:spPr>
          <a:xfrm>
            <a:off x="8796528" y="4270248"/>
            <a:ext cx="1463040" cy="237744"/>
          </a:xfrm>
          <a:prstGeom prst="rect">
            <a:avLst/>
          </a:prstGeom>
          <a:noFill/>
        </p:spPr>
        <p:txBody>
          <a:bodyPr wrap="square" lIns="0" rIns="0" tIns="0" bIns="0" anchor="t">
            <a:spAutoFit/>
          </a:bodyPr>
          <a:lstStyle/>
          <a:p>
            <a:pPr algn="l">
              <a:lnSpc>
                <a:spcPct val="100000"/>
              </a:lnSpc>
            </a:pPr>
            <a:r>
              <a:rPr sz="850" b="0" i="0">
                <a:solidFill>
                  <a:srgbClr val="16181D"/>
                </a:solidFill>
                <a:latin typeface="Geist"/>
              </a:rPr>
              <a:t>Bombay</a:t>
            </a:r>
          </a:p>
        </p:txBody>
      </p:sp>
      <p:sp>
        <p:nvSpPr>
          <p:cNvPr id="36" name="TextBox 35"/>
          <p:cNvSpPr txBox="1"/>
          <p:nvPr/>
        </p:nvSpPr>
        <p:spPr>
          <a:xfrm>
            <a:off x="10305288" y="4270248"/>
            <a:ext cx="1097280" cy="237744"/>
          </a:xfrm>
          <a:prstGeom prst="rect">
            <a:avLst/>
          </a:prstGeom>
          <a:noFill/>
        </p:spPr>
        <p:txBody>
          <a:bodyPr wrap="square" lIns="0" rIns="0" tIns="0" bIns="0" anchor="t">
            <a:spAutoFit/>
          </a:bodyPr>
          <a:lstStyle/>
          <a:p>
            <a:pPr algn="r">
              <a:lnSpc>
                <a:spcPct val="100000"/>
              </a:lnSpc>
            </a:pPr>
            <a:r>
              <a:rPr sz="850" b="1" i="0">
                <a:solidFill>
                  <a:srgbClr val="4A35FF"/>
                </a:solidFill>
                <a:latin typeface="Montserrat"/>
              </a:rPr>
              <a:t>₹459 Cr</a:t>
            </a:r>
          </a:p>
        </p:txBody>
      </p:sp>
      <p:sp>
        <p:nvSpPr>
          <p:cNvPr id="37" name="TextBox 36"/>
          <p:cNvSpPr txBox="1"/>
          <p:nvPr/>
        </p:nvSpPr>
        <p:spPr>
          <a:xfrm>
            <a:off x="8796528" y="4544568"/>
            <a:ext cx="1463040" cy="237744"/>
          </a:xfrm>
          <a:prstGeom prst="rect">
            <a:avLst/>
          </a:prstGeom>
          <a:noFill/>
        </p:spPr>
        <p:txBody>
          <a:bodyPr wrap="square" lIns="0" rIns="0" tIns="0" bIns="0" anchor="t">
            <a:spAutoFit/>
          </a:bodyPr>
          <a:lstStyle/>
          <a:p>
            <a:pPr algn="l">
              <a:lnSpc>
                <a:spcPct val="100000"/>
              </a:lnSpc>
            </a:pPr>
            <a:r>
              <a:rPr sz="850" b="0" i="0">
                <a:solidFill>
                  <a:srgbClr val="16181D"/>
                </a:solidFill>
                <a:latin typeface="Geist"/>
              </a:rPr>
              <a:t>Gujarat</a:t>
            </a:r>
          </a:p>
        </p:txBody>
      </p:sp>
      <p:sp>
        <p:nvSpPr>
          <p:cNvPr id="38" name="TextBox 37"/>
          <p:cNvSpPr txBox="1"/>
          <p:nvPr/>
        </p:nvSpPr>
        <p:spPr>
          <a:xfrm>
            <a:off x="10305288" y="4544568"/>
            <a:ext cx="1097280" cy="237744"/>
          </a:xfrm>
          <a:prstGeom prst="rect">
            <a:avLst/>
          </a:prstGeom>
          <a:noFill/>
        </p:spPr>
        <p:txBody>
          <a:bodyPr wrap="square" lIns="0" rIns="0" tIns="0" bIns="0" anchor="t">
            <a:spAutoFit/>
          </a:bodyPr>
          <a:lstStyle/>
          <a:p>
            <a:pPr algn="r">
              <a:lnSpc>
                <a:spcPct val="100000"/>
              </a:lnSpc>
            </a:pPr>
            <a:r>
              <a:rPr sz="850" b="1" i="0">
                <a:solidFill>
                  <a:srgbClr val="4A35FF"/>
                </a:solidFill>
                <a:latin typeface="Montserrat"/>
              </a:rPr>
              <a:t>₹282 Cr</a:t>
            </a:r>
          </a:p>
        </p:txBody>
      </p:sp>
      <p:sp>
        <p:nvSpPr>
          <p:cNvPr id="39" name="TextBox 38"/>
          <p:cNvSpPr txBox="1"/>
          <p:nvPr/>
        </p:nvSpPr>
        <p:spPr>
          <a:xfrm>
            <a:off x="8796528" y="4818888"/>
            <a:ext cx="1463040" cy="237744"/>
          </a:xfrm>
          <a:prstGeom prst="rect">
            <a:avLst/>
          </a:prstGeom>
          <a:noFill/>
        </p:spPr>
        <p:txBody>
          <a:bodyPr wrap="square" lIns="0" rIns="0" tIns="0" bIns="0" anchor="t">
            <a:spAutoFit/>
          </a:bodyPr>
          <a:lstStyle/>
          <a:p>
            <a:pPr algn="l">
              <a:lnSpc>
                <a:spcPct val="100000"/>
              </a:lnSpc>
            </a:pPr>
            <a:r>
              <a:rPr sz="850" b="0" i="0">
                <a:solidFill>
                  <a:srgbClr val="16181D"/>
                </a:solidFill>
                <a:latin typeface="Geist"/>
              </a:rPr>
              <a:t>Allahabad</a:t>
            </a:r>
          </a:p>
        </p:txBody>
      </p:sp>
      <p:sp>
        <p:nvSpPr>
          <p:cNvPr id="40" name="TextBox 39"/>
          <p:cNvSpPr txBox="1"/>
          <p:nvPr/>
        </p:nvSpPr>
        <p:spPr>
          <a:xfrm>
            <a:off x="10305288" y="4818888"/>
            <a:ext cx="1097280" cy="237744"/>
          </a:xfrm>
          <a:prstGeom prst="rect">
            <a:avLst/>
          </a:prstGeom>
          <a:noFill/>
        </p:spPr>
        <p:txBody>
          <a:bodyPr wrap="square" lIns="0" rIns="0" tIns="0" bIns="0" anchor="t">
            <a:spAutoFit/>
          </a:bodyPr>
          <a:lstStyle/>
          <a:p>
            <a:pPr algn="r">
              <a:lnSpc>
                <a:spcPct val="100000"/>
              </a:lnSpc>
            </a:pPr>
            <a:r>
              <a:rPr sz="850" b="1" i="0">
                <a:solidFill>
                  <a:srgbClr val="4A35FF"/>
                </a:solidFill>
                <a:latin typeface="Montserrat"/>
              </a:rPr>
              <a:t>₹239 Cr</a:t>
            </a:r>
          </a:p>
        </p:txBody>
      </p:sp>
      <p:sp>
        <p:nvSpPr>
          <p:cNvPr id="41" name="TextBox 40"/>
          <p:cNvSpPr txBox="1"/>
          <p:nvPr/>
        </p:nvSpPr>
        <p:spPr>
          <a:xfrm>
            <a:off x="8796528" y="5093208"/>
            <a:ext cx="1463040" cy="237744"/>
          </a:xfrm>
          <a:prstGeom prst="rect">
            <a:avLst/>
          </a:prstGeom>
          <a:noFill/>
        </p:spPr>
        <p:txBody>
          <a:bodyPr wrap="square" lIns="0" rIns="0" tIns="0" bIns="0" anchor="t">
            <a:spAutoFit/>
          </a:bodyPr>
          <a:lstStyle/>
          <a:p>
            <a:pPr algn="l">
              <a:lnSpc>
                <a:spcPct val="100000"/>
              </a:lnSpc>
            </a:pPr>
            <a:r>
              <a:rPr sz="850" b="0" i="0">
                <a:solidFill>
                  <a:srgbClr val="16181D"/>
                </a:solidFill>
                <a:latin typeface="Geist"/>
              </a:rPr>
              <a:t>Goa</a:t>
            </a:r>
          </a:p>
        </p:txBody>
      </p:sp>
      <p:sp>
        <p:nvSpPr>
          <p:cNvPr id="42" name="TextBox 41"/>
          <p:cNvSpPr txBox="1"/>
          <p:nvPr/>
        </p:nvSpPr>
        <p:spPr>
          <a:xfrm>
            <a:off x="10305288" y="5093208"/>
            <a:ext cx="1097280" cy="237744"/>
          </a:xfrm>
          <a:prstGeom prst="rect">
            <a:avLst/>
          </a:prstGeom>
          <a:noFill/>
        </p:spPr>
        <p:txBody>
          <a:bodyPr wrap="square" lIns="0" rIns="0" tIns="0" bIns="0" anchor="t">
            <a:spAutoFit/>
          </a:bodyPr>
          <a:lstStyle/>
          <a:p>
            <a:pPr algn="r">
              <a:lnSpc>
                <a:spcPct val="100000"/>
              </a:lnSpc>
            </a:pPr>
            <a:r>
              <a:rPr sz="850" b="1" i="0">
                <a:solidFill>
                  <a:srgbClr val="4A35FF"/>
                </a:solidFill>
                <a:latin typeface="Montserrat"/>
              </a:rPr>
              <a:t>₹3.6 Cr</a:t>
            </a:r>
          </a:p>
        </p:txBody>
      </p:sp>
      <p:sp>
        <p:nvSpPr>
          <p:cNvPr id="43" name="TextBox 42"/>
          <p:cNvSpPr txBox="1"/>
          <p:nvPr/>
        </p:nvSpPr>
        <p:spPr>
          <a:xfrm>
            <a:off x="8796528" y="5367528"/>
            <a:ext cx="1463040" cy="237744"/>
          </a:xfrm>
          <a:prstGeom prst="rect">
            <a:avLst/>
          </a:prstGeom>
          <a:noFill/>
        </p:spPr>
        <p:txBody>
          <a:bodyPr wrap="square" lIns="0" rIns="0" tIns="0" bIns="0" anchor="t">
            <a:spAutoFit/>
          </a:bodyPr>
          <a:lstStyle/>
          <a:p>
            <a:pPr algn="l">
              <a:lnSpc>
                <a:spcPct val="100000"/>
              </a:lnSpc>
            </a:pPr>
            <a:r>
              <a:rPr sz="850" b="0" i="0">
                <a:solidFill>
                  <a:srgbClr val="16181D"/>
                </a:solidFill>
                <a:latin typeface="Geist"/>
              </a:rPr>
              <a:t>Calcutta</a:t>
            </a:r>
          </a:p>
        </p:txBody>
      </p:sp>
      <p:sp>
        <p:nvSpPr>
          <p:cNvPr id="44" name="TextBox 43"/>
          <p:cNvSpPr txBox="1"/>
          <p:nvPr/>
        </p:nvSpPr>
        <p:spPr>
          <a:xfrm>
            <a:off x="10305288" y="5367528"/>
            <a:ext cx="1097280" cy="237744"/>
          </a:xfrm>
          <a:prstGeom prst="rect">
            <a:avLst/>
          </a:prstGeom>
          <a:noFill/>
        </p:spPr>
        <p:txBody>
          <a:bodyPr wrap="square" lIns="0" rIns="0" tIns="0" bIns="0" anchor="t">
            <a:spAutoFit/>
          </a:bodyPr>
          <a:lstStyle/>
          <a:p>
            <a:pPr algn="r">
              <a:lnSpc>
                <a:spcPct val="100000"/>
              </a:lnSpc>
            </a:pPr>
            <a:r>
              <a:rPr sz="850" b="1" i="0">
                <a:solidFill>
                  <a:srgbClr val="4A35FF"/>
                </a:solidFill>
                <a:latin typeface="Montserrat"/>
              </a:rPr>
              <a:t>₹2.5 Cr</a:t>
            </a:r>
          </a:p>
        </p:txBody>
      </p:sp>
      <p:cxnSp>
        <p:nvCxnSpPr>
          <p:cNvPr id="45" name="Connector 44"/>
          <p:cNvCxnSpPr/>
          <p:nvPr/>
        </p:nvCxnSpPr>
        <p:spPr>
          <a:xfrm>
            <a:off x="8796528" y="5678424"/>
            <a:ext cx="2606040" cy="0"/>
          </a:xfrm>
          <a:prstGeom prst="line">
            <a:avLst/>
          </a:prstGeom>
          <a:ln w="9525">
            <a:solidFill>
              <a:srgbClr val="E8E9EE"/>
            </a:solidFill>
          </a:ln>
          <a:effectLst/>
        </p:spPr>
      </p:cxnSp>
      <p:sp>
        <p:nvSpPr>
          <p:cNvPr id="46" name="TextBox 45"/>
          <p:cNvSpPr txBox="1"/>
          <p:nvPr/>
        </p:nvSpPr>
        <p:spPr>
          <a:xfrm>
            <a:off x="8796528" y="5751576"/>
            <a:ext cx="1463040" cy="237744"/>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Five HCs only</a:t>
            </a:r>
          </a:p>
        </p:txBody>
      </p:sp>
      <p:sp>
        <p:nvSpPr>
          <p:cNvPr id="47" name="TextBox 46"/>
          <p:cNvSpPr txBox="1"/>
          <p:nvPr/>
        </p:nvSpPr>
        <p:spPr>
          <a:xfrm>
            <a:off x="10305288" y="5751576"/>
            <a:ext cx="1097280" cy="237744"/>
          </a:xfrm>
          <a:prstGeom prst="rect">
            <a:avLst/>
          </a:prstGeom>
          <a:noFill/>
        </p:spPr>
        <p:txBody>
          <a:bodyPr wrap="square" lIns="0" rIns="0" tIns="0" bIns="0" anchor="t">
            <a:spAutoFit/>
          </a:bodyPr>
          <a:lstStyle/>
          <a:p>
            <a:pPr algn="r">
              <a:lnSpc>
                <a:spcPct val="100000"/>
              </a:lnSpc>
            </a:pPr>
            <a:r>
              <a:rPr sz="950" b="1" i="0">
                <a:solidFill>
                  <a:srgbClr val="E58900"/>
                </a:solidFill>
                <a:latin typeface="Montserrat"/>
              </a:rPr>
              <a:t>~₹986 Cr</a:t>
            </a:r>
          </a:p>
        </p:txBody>
      </p:sp>
      <p:sp>
        <p:nvSpPr>
          <p:cNvPr id="48" name="TextBox 47"/>
          <p:cNvSpPr txBox="1"/>
          <p:nvPr/>
        </p:nvSpPr>
        <p:spPr>
          <a:xfrm>
            <a:off x="566928" y="5989320"/>
            <a:ext cx="11057839" cy="320040"/>
          </a:xfrm>
          <a:prstGeom prst="rect">
            <a:avLst/>
          </a:prstGeom>
          <a:noFill/>
        </p:spPr>
        <p:txBody>
          <a:bodyPr wrap="square" lIns="0" rIns="0" tIns="0" bIns="0" anchor="t">
            <a:spAutoFit/>
          </a:bodyPr>
          <a:lstStyle/>
          <a:p>
            <a:pPr algn="l">
              <a:lnSpc>
                <a:spcPct val="120000"/>
              </a:lnSpc>
            </a:pPr>
            <a:r>
              <a:rPr sz="850" b="0" i="0">
                <a:solidFill>
                  <a:srgbClr val="6E7180"/>
                </a:solidFill>
                <a:latin typeface="Geist"/>
              </a:rPr>
              <a:t>Source: Supreme Court, In Re: Compensation Amounts Deposited with MACTs and Labour Courts (2025); CFI stakeholder consultations, Oct–Nov 2025. The national figure is likely far higher.</a:t>
            </a:r>
          </a:p>
        </p:txBody>
      </p:sp>
      <p:cxnSp>
        <p:nvCxnSpPr>
          <p:cNvPr id="49" name="Connector 48"/>
          <p:cNvCxnSpPr/>
          <p:nvPr/>
        </p:nvCxnSpPr>
        <p:spPr>
          <a:xfrm>
            <a:off x="566928" y="6455664"/>
            <a:ext cx="11057839" cy="0"/>
          </a:xfrm>
          <a:prstGeom prst="line">
            <a:avLst/>
          </a:prstGeom>
          <a:ln w="9525">
            <a:solidFill>
              <a:srgbClr val="E8E9EE"/>
            </a:solidFill>
          </a:ln>
          <a:effectLst/>
        </p:spPr>
      </p:cxnSp>
      <p:sp>
        <p:nvSpPr>
          <p:cNvPr id="50" name="TextBox 49"/>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51" name="TextBox 50"/>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17 / 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OUR RESEARCH FOUNDATION</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'Justice Unserved', </a:t>
            </a:r>
            <a:r>
              <a:rPr sz="2250" b="1" i="0">
                <a:solidFill>
                  <a:srgbClr val="4A35FF"/>
                </a:solidFill>
                <a:latin typeface="Montserrat"/>
              </a:rPr>
              <a:t>the evidence base</a:t>
            </a:r>
            <a:r>
              <a:rPr sz="2250" b="1" i="0">
                <a:solidFill>
                  <a:srgbClr val="16181D"/>
                </a:solidFill>
                <a:latin typeface="Montserrat"/>
              </a:rPr>
              <a:t> we built first</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Published January 2026 · launched at IIT Delhi · findings presented to MoRTH · covered by national press.</a:t>
            </a:r>
          </a:p>
        </p:txBody>
      </p:sp>
      <p:pic>
        <p:nvPicPr>
          <p:cNvPr id="8" name="Picture 7" descr="opt_comp_image1_1500.jpg"/>
          <p:cNvPicPr>
            <a:picLocks noChangeAspect="1"/>
          </p:cNvPicPr>
          <p:nvPr/>
        </p:nvPicPr>
        <p:blipFill>
          <a:blip r:embed="rId2"/>
          <a:stretch>
            <a:fillRect/>
          </a:stretch>
        </p:blipFill>
        <p:spPr>
          <a:xfrm>
            <a:off x="566928" y="1965960"/>
            <a:ext cx="2514600" cy="3244842"/>
          </a:xfrm>
          <a:prstGeom prst="rect">
            <a:avLst/>
          </a:prstGeom>
        </p:spPr>
      </p:pic>
      <p:sp>
        <p:nvSpPr>
          <p:cNvPr id="9" name="Rectangle 8"/>
          <p:cNvSpPr/>
          <p:nvPr/>
        </p:nvSpPr>
        <p:spPr>
          <a:xfrm>
            <a:off x="566928" y="1965960"/>
            <a:ext cx="2514600" cy="3244842"/>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5256522"/>
            <a:ext cx="251460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The report, file reviews, RTIs and</a:t>
            </a:r>
          </a:p>
          <a:p>
            <a:pPr algn="l">
              <a:lnSpc>
                <a:spcPct val="110000"/>
              </a:lnSpc>
            </a:pPr>
            <a:r>
              <a:rPr sz="850" b="0" i="0">
                <a:solidFill>
                  <a:srgbClr val="6E7180"/>
                </a:solidFill>
                <a:latin typeface="Geist"/>
              </a:rPr>
              <a:t>consultations across the pipeline.</a:t>
            </a:r>
          </a:p>
        </p:txBody>
      </p:sp>
      <p:sp>
        <p:nvSpPr>
          <p:cNvPr id="11" name="Oval 10"/>
          <p:cNvSpPr/>
          <p:nvPr/>
        </p:nvSpPr>
        <p:spPr>
          <a:xfrm>
            <a:off x="3611880" y="1965960"/>
            <a:ext cx="365760" cy="365760"/>
          </a:xfrm>
          <a:prstGeom prst="ellipse">
            <a:avLst/>
          </a:prstGeom>
          <a:solidFill>
            <a:srgbClr val="FDF3E3"/>
          </a:solidFill>
          <a:ln>
            <a:noFill/>
          </a:ln>
          <a:effectLst/>
        </p:spPr>
        <p:txBody>
          <a:bodyPr rtlCol="0" anchor="ctr"/>
          <a:lstStyle/>
          <a:p>
            <a:pPr algn="ctr"/>
          </a:p>
        </p:txBody>
      </p:sp>
      <p:pic>
        <p:nvPicPr>
          <p:cNvPr id="12" name="Picture 11" descr="megaphone_E58900_256_2.0.png"/>
          <p:cNvPicPr>
            <a:picLocks noChangeAspect="1"/>
          </p:cNvPicPr>
          <p:nvPr/>
        </p:nvPicPr>
        <p:blipFill>
          <a:blip r:embed="rId3"/>
          <a:stretch>
            <a:fillRect/>
          </a:stretch>
        </p:blipFill>
        <p:spPr>
          <a:xfrm>
            <a:off x="3699662" y="2053742"/>
            <a:ext cx="190195" cy="190195"/>
          </a:xfrm>
          <a:prstGeom prst="rect">
            <a:avLst/>
          </a:prstGeom>
        </p:spPr>
      </p:pic>
      <p:sp>
        <p:nvSpPr>
          <p:cNvPr id="13" name="TextBox 12"/>
          <p:cNvSpPr txBox="1"/>
          <p:nvPr/>
        </p:nvSpPr>
        <p:spPr>
          <a:xfrm>
            <a:off x="4114800" y="1947672"/>
            <a:ext cx="1554480" cy="320040"/>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Awareness</a:t>
            </a:r>
          </a:p>
        </p:txBody>
      </p:sp>
      <p:sp>
        <p:nvSpPr>
          <p:cNvPr id="14" name="TextBox 13"/>
          <p:cNvSpPr txBox="1"/>
          <p:nvPr/>
        </p:nvSpPr>
        <p:spPr>
          <a:xfrm>
            <a:off x="5696711" y="1947672"/>
            <a:ext cx="2395728" cy="621792"/>
          </a:xfrm>
          <a:prstGeom prst="rect">
            <a:avLst/>
          </a:prstGeom>
          <a:noFill/>
        </p:spPr>
        <p:txBody>
          <a:bodyPr wrap="square" lIns="0" rIns="0" tIns="0" bIns="0" anchor="t">
            <a:spAutoFit/>
          </a:bodyPr>
          <a:lstStyle/>
          <a:p>
            <a:pPr algn="l">
              <a:lnSpc>
                <a:spcPct val="118000"/>
              </a:lnSpc>
            </a:pPr>
            <a:r>
              <a:rPr sz="900" b="0" i="0">
                <a:solidFill>
                  <a:srgbClr val="6E7180"/>
                </a:solidFill>
                <a:latin typeface="Geist"/>
              </a:rPr>
              <a:t>70% of low-income families are unaware compensation exists.</a:t>
            </a:r>
          </a:p>
        </p:txBody>
      </p:sp>
      <p:sp>
        <p:nvSpPr>
          <p:cNvPr id="15" name="Oval 14"/>
          <p:cNvSpPr/>
          <p:nvPr/>
        </p:nvSpPr>
        <p:spPr>
          <a:xfrm>
            <a:off x="3611880" y="2624328"/>
            <a:ext cx="365760" cy="365760"/>
          </a:xfrm>
          <a:prstGeom prst="ellipse">
            <a:avLst/>
          </a:prstGeom>
          <a:solidFill>
            <a:srgbClr val="FDF3E3"/>
          </a:solidFill>
          <a:ln>
            <a:noFill/>
          </a:ln>
          <a:effectLst/>
        </p:spPr>
        <p:txBody>
          <a:bodyPr rtlCol="0" anchor="ctr"/>
          <a:lstStyle/>
          <a:p>
            <a:pPr algn="ctr"/>
          </a:p>
        </p:txBody>
      </p:sp>
      <p:pic>
        <p:nvPicPr>
          <p:cNvPr id="16" name="Picture 15" descr="clock_E58900_256_2.0.png"/>
          <p:cNvPicPr>
            <a:picLocks noChangeAspect="1"/>
          </p:cNvPicPr>
          <p:nvPr/>
        </p:nvPicPr>
        <p:blipFill>
          <a:blip r:embed="rId4"/>
          <a:stretch>
            <a:fillRect/>
          </a:stretch>
        </p:blipFill>
        <p:spPr>
          <a:xfrm>
            <a:off x="3699662" y="2712110"/>
            <a:ext cx="190195" cy="190195"/>
          </a:xfrm>
          <a:prstGeom prst="rect">
            <a:avLst/>
          </a:prstGeom>
        </p:spPr>
      </p:pic>
      <p:sp>
        <p:nvSpPr>
          <p:cNvPr id="17" name="TextBox 16"/>
          <p:cNvSpPr txBox="1"/>
          <p:nvPr/>
        </p:nvSpPr>
        <p:spPr>
          <a:xfrm>
            <a:off x="4114800" y="2606040"/>
            <a:ext cx="1554480" cy="320040"/>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Timeliness</a:t>
            </a:r>
          </a:p>
        </p:txBody>
      </p:sp>
      <p:sp>
        <p:nvSpPr>
          <p:cNvPr id="18" name="TextBox 17"/>
          <p:cNvSpPr txBox="1"/>
          <p:nvPr/>
        </p:nvSpPr>
        <p:spPr>
          <a:xfrm>
            <a:off x="5696711" y="2606040"/>
            <a:ext cx="2395728" cy="621792"/>
          </a:xfrm>
          <a:prstGeom prst="rect">
            <a:avLst/>
          </a:prstGeom>
          <a:noFill/>
        </p:spPr>
        <p:txBody>
          <a:bodyPr wrap="square" lIns="0" rIns="0" tIns="0" bIns="0" anchor="t">
            <a:spAutoFit/>
          </a:bodyPr>
          <a:lstStyle/>
          <a:p>
            <a:pPr algn="l">
              <a:lnSpc>
                <a:spcPct val="118000"/>
              </a:lnSpc>
            </a:pPr>
            <a:r>
              <a:rPr sz="900" b="0" i="0">
                <a:solidFill>
                  <a:srgbClr val="6E7180"/>
                </a:solidFill>
                <a:latin typeface="Geist"/>
              </a:rPr>
              <a:t>3.6-year average claim; MACT cases often run 8–10 years.</a:t>
            </a:r>
          </a:p>
        </p:txBody>
      </p:sp>
      <p:sp>
        <p:nvSpPr>
          <p:cNvPr id="19" name="Oval 18"/>
          <p:cNvSpPr/>
          <p:nvPr/>
        </p:nvSpPr>
        <p:spPr>
          <a:xfrm>
            <a:off x="3611880" y="3282696"/>
            <a:ext cx="365760" cy="365760"/>
          </a:xfrm>
          <a:prstGeom prst="ellipse">
            <a:avLst/>
          </a:prstGeom>
          <a:solidFill>
            <a:srgbClr val="FDF3E3"/>
          </a:solidFill>
          <a:ln>
            <a:noFill/>
          </a:ln>
          <a:effectLst/>
        </p:spPr>
        <p:txBody>
          <a:bodyPr rtlCol="0" anchor="ctr"/>
          <a:lstStyle/>
          <a:p>
            <a:pPr algn="ctr"/>
          </a:p>
        </p:txBody>
      </p:sp>
      <p:pic>
        <p:nvPicPr>
          <p:cNvPr id="20" name="Picture 19" descr="file-x_E58900_256_2.0.png"/>
          <p:cNvPicPr>
            <a:picLocks noChangeAspect="1"/>
          </p:cNvPicPr>
          <p:nvPr/>
        </p:nvPicPr>
        <p:blipFill>
          <a:blip r:embed="rId5"/>
          <a:stretch>
            <a:fillRect/>
          </a:stretch>
        </p:blipFill>
        <p:spPr>
          <a:xfrm>
            <a:off x="3699662" y="3370478"/>
            <a:ext cx="190195" cy="190195"/>
          </a:xfrm>
          <a:prstGeom prst="rect">
            <a:avLst/>
          </a:prstGeom>
        </p:spPr>
      </p:pic>
      <p:sp>
        <p:nvSpPr>
          <p:cNvPr id="21" name="TextBox 20"/>
          <p:cNvSpPr txBox="1"/>
          <p:nvPr/>
        </p:nvSpPr>
        <p:spPr>
          <a:xfrm>
            <a:off x="4114800" y="3264408"/>
            <a:ext cx="1554480" cy="320040"/>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Documentation</a:t>
            </a:r>
          </a:p>
        </p:txBody>
      </p:sp>
      <p:sp>
        <p:nvSpPr>
          <p:cNvPr id="22" name="TextBox 21"/>
          <p:cNvSpPr txBox="1"/>
          <p:nvPr/>
        </p:nvSpPr>
        <p:spPr>
          <a:xfrm>
            <a:off x="5696711" y="3264408"/>
            <a:ext cx="2395728" cy="621792"/>
          </a:xfrm>
          <a:prstGeom prst="rect">
            <a:avLst/>
          </a:prstGeom>
          <a:noFill/>
        </p:spPr>
        <p:txBody>
          <a:bodyPr wrap="square" lIns="0" rIns="0" tIns="0" bIns="0" anchor="t">
            <a:spAutoFit/>
          </a:bodyPr>
          <a:lstStyle/>
          <a:p>
            <a:pPr algn="l">
              <a:lnSpc>
                <a:spcPct val="118000"/>
              </a:lnSpc>
            </a:pPr>
            <a:r>
              <a:rPr sz="900" b="0" i="0">
                <a:solidFill>
                  <a:srgbClr val="6E7180"/>
                </a:solidFill>
                <a:latin typeface="Geist"/>
              </a:rPr>
              <a:t>90% of pending hit-and-run claims stall on documents alone.</a:t>
            </a:r>
          </a:p>
        </p:txBody>
      </p:sp>
      <p:sp>
        <p:nvSpPr>
          <p:cNvPr id="23" name="Oval 22"/>
          <p:cNvSpPr/>
          <p:nvPr/>
        </p:nvSpPr>
        <p:spPr>
          <a:xfrm>
            <a:off x="3611880" y="3941064"/>
            <a:ext cx="365760" cy="365760"/>
          </a:xfrm>
          <a:prstGeom prst="ellipse">
            <a:avLst/>
          </a:prstGeom>
          <a:solidFill>
            <a:srgbClr val="FDF3E3"/>
          </a:solidFill>
          <a:ln>
            <a:noFill/>
          </a:ln>
          <a:effectLst/>
        </p:spPr>
        <p:txBody>
          <a:bodyPr rtlCol="0" anchor="ctr"/>
          <a:lstStyle/>
          <a:p>
            <a:pPr algn="ctr"/>
          </a:p>
        </p:txBody>
      </p:sp>
      <p:pic>
        <p:nvPicPr>
          <p:cNvPr id="24" name="Picture 23" descr="scale_E58900_256_2.0.png"/>
          <p:cNvPicPr>
            <a:picLocks noChangeAspect="1"/>
          </p:cNvPicPr>
          <p:nvPr/>
        </p:nvPicPr>
        <p:blipFill>
          <a:blip r:embed="rId6"/>
          <a:stretch>
            <a:fillRect/>
          </a:stretch>
        </p:blipFill>
        <p:spPr>
          <a:xfrm>
            <a:off x="3699662" y="4028846"/>
            <a:ext cx="190195" cy="190195"/>
          </a:xfrm>
          <a:prstGeom prst="rect">
            <a:avLst/>
          </a:prstGeom>
        </p:spPr>
      </p:pic>
      <p:sp>
        <p:nvSpPr>
          <p:cNvPr id="25" name="TextBox 24"/>
          <p:cNvSpPr txBox="1"/>
          <p:nvPr/>
        </p:nvSpPr>
        <p:spPr>
          <a:xfrm>
            <a:off x="4114800" y="3922776"/>
            <a:ext cx="1554480" cy="320040"/>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Adequacy</a:t>
            </a:r>
          </a:p>
        </p:txBody>
      </p:sp>
      <p:sp>
        <p:nvSpPr>
          <p:cNvPr id="26" name="TextBox 25"/>
          <p:cNvSpPr txBox="1"/>
          <p:nvPr/>
        </p:nvSpPr>
        <p:spPr>
          <a:xfrm>
            <a:off x="5696711" y="3922776"/>
            <a:ext cx="2395728" cy="621792"/>
          </a:xfrm>
          <a:prstGeom prst="rect">
            <a:avLst/>
          </a:prstGeom>
          <a:noFill/>
        </p:spPr>
        <p:txBody>
          <a:bodyPr wrap="square" lIns="0" rIns="0" tIns="0" bIns="0" anchor="t">
            <a:spAutoFit/>
          </a:bodyPr>
          <a:lstStyle/>
          <a:p>
            <a:pPr algn="l">
              <a:lnSpc>
                <a:spcPct val="118000"/>
              </a:lnSpc>
            </a:pPr>
            <a:r>
              <a:rPr sz="900" b="0" i="0">
                <a:solidFill>
                  <a:srgbClr val="6E7180"/>
                </a:solidFill>
                <a:latin typeface="Geist"/>
              </a:rPr>
              <a:t>Informal workers are often valued at minimum wage in courts.</a:t>
            </a:r>
          </a:p>
        </p:txBody>
      </p:sp>
      <p:sp>
        <p:nvSpPr>
          <p:cNvPr id="27" name="Oval 26"/>
          <p:cNvSpPr/>
          <p:nvPr/>
        </p:nvSpPr>
        <p:spPr>
          <a:xfrm>
            <a:off x="3611880" y="4599432"/>
            <a:ext cx="365760" cy="365760"/>
          </a:xfrm>
          <a:prstGeom prst="ellipse">
            <a:avLst/>
          </a:prstGeom>
          <a:solidFill>
            <a:srgbClr val="FDF3E3"/>
          </a:solidFill>
          <a:ln>
            <a:noFill/>
          </a:ln>
          <a:effectLst/>
        </p:spPr>
        <p:txBody>
          <a:bodyPr rtlCol="0" anchor="ctr"/>
          <a:lstStyle/>
          <a:p>
            <a:pPr algn="ctr"/>
          </a:p>
        </p:txBody>
      </p:sp>
      <p:pic>
        <p:nvPicPr>
          <p:cNvPr id="28" name="Picture 27" descr="users_E58900_256_2.0.png"/>
          <p:cNvPicPr>
            <a:picLocks noChangeAspect="1"/>
          </p:cNvPicPr>
          <p:nvPr/>
        </p:nvPicPr>
        <p:blipFill>
          <a:blip r:embed="rId7"/>
          <a:stretch>
            <a:fillRect/>
          </a:stretch>
        </p:blipFill>
        <p:spPr>
          <a:xfrm>
            <a:off x="3699662" y="4687214"/>
            <a:ext cx="190195" cy="190195"/>
          </a:xfrm>
          <a:prstGeom prst="rect">
            <a:avLst/>
          </a:prstGeom>
        </p:spPr>
      </p:pic>
      <p:sp>
        <p:nvSpPr>
          <p:cNvPr id="29" name="TextBox 28"/>
          <p:cNvSpPr txBox="1"/>
          <p:nvPr/>
        </p:nvSpPr>
        <p:spPr>
          <a:xfrm>
            <a:off x="4114800" y="4581144"/>
            <a:ext cx="1554480" cy="320040"/>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Equity</a:t>
            </a:r>
          </a:p>
        </p:txBody>
      </p:sp>
      <p:sp>
        <p:nvSpPr>
          <p:cNvPr id="30" name="TextBox 29"/>
          <p:cNvSpPr txBox="1"/>
          <p:nvPr/>
        </p:nvSpPr>
        <p:spPr>
          <a:xfrm>
            <a:off x="5696711" y="4581144"/>
            <a:ext cx="2395728" cy="621792"/>
          </a:xfrm>
          <a:prstGeom prst="rect">
            <a:avLst/>
          </a:prstGeom>
          <a:noFill/>
        </p:spPr>
        <p:txBody>
          <a:bodyPr wrap="square" lIns="0" rIns="0" tIns="0" bIns="0" anchor="t">
            <a:spAutoFit/>
          </a:bodyPr>
          <a:lstStyle/>
          <a:p>
            <a:pPr algn="l">
              <a:lnSpc>
                <a:spcPct val="118000"/>
              </a:lnSpc>
            </a:pPr>
            <a:r>
              <a:rPr sz="900" b="0" i="0">
                <a:solidFill>
                  <a:srgbClr val="6E7180"/>
                </a:solidFill>
                <a:latin typeface="Geist"/>
              </a:rPr>
              <a:t>14% of low-income households compensated vs 24% of high-income.</a:t>
            </a:r>
          </a:p>
        </p:txBody>
      </p:sp>
      <p:sp>
        <p:nvSpPr>
          <p:cNvPr id="31" name="Rounded Rectangle 30"/>
          <p:cNvSpPr/>
          <p:nvPr/>
        </p:nvSpPr>
        <p:spPr>
          <a:xfrm>
            <a:off x="8275320" y="1965960"/>
            <a:ext cx="3337560" cy="3703320"/>
          </a:xfrm>
          <a:prstGeom prst="roundRect">
            <a:avLst>
              <a:gd name="adj" fmla="val 8000"/>
            </a:avLst>
          </a:prstGeom>
          <a:solidFill>
            <a:srgbClr val="F7F7FA"/>
          </a:solidFill>
          <a:ln>
            <a:noFill/>
          </a:ln>
          <a:effectLst/>
        </p:spPr>
        <p:txBody>
          <a:bodyPr rtlCol="0" anchor="ctr"/>
          <a:lstStyle/>
          <a:p>
            <a:pPr algn="ctr"/>
          </a:p>
        </p:txBody>
      </p:sp>
      <p:sp>
        <p:nvSpPr>
          <p:cNvPr id="32" name="TextBox 31"/>
          <p:cNvSpPr txBox="1"/>
          <p:nvPr/>
        </p:nvSpPr>
        <p:spPr>
          <a:xfrm>
            <a:off x="8458200" y="2103120"/>
            <a:ext cx="3017520" cy="274320"/>
          </a:xfrm>
          <a:prstGeom prst="rect">
            <a:avLst/>
          </a:prstGeom>
          <a:noFill/>
        </p:spPr>
        <p:txBody>
          <a:bodyPr wrap="square" lIns="0" rIns="0" tIns="0" bIns="0" anchor="t">
            <a:spAutoFit/>
          </a:bodyPr>
          <a:lstStyle/>
          <a:p>
            <a:pPr algn="l">
              <a:lnSpc>
                <a:spcPct val="128000"/>
              </a:lnSpc>
            </a:pPr>
            <a:r>
              <a:rPr sz="850" b="1" i="0" spc="120">
                <a:solidFill>
                  <a:srgbClr val="6E7180"/>
                </a:solidFill>
                <a:latin typeface="Montserrat"/>
              </a:rPr>
              <a:t>THE CLAIM RATE, NATIONALLY</a:t>
            </a:r>
          </a:p>
        </p:txBody>
      </p:sp>
      <p:sp>
        <p:nvSpPr>
          <p:cNvPr id="33" name="Rounded Rectangle 32"/>
          <p:cNvSpPr/>
          <p:nvPr/>
        </p:nvSpPr>
        <p:spPr>
          <a:xfrm>
            <a:off x="8458200" y="2487168"/>
            <a:ext cx="2834640" cy="256032"/>
          </a:xfrm>
          <a:prstGeom prst="roundRect">
            <a:avLst>
              <a:gd name="adj" fmla="val 50000"/>
            </a:avLst>
          </a:prstGeom>
          <a:solidFill>
            <a:srgbClr val="16181D"/>
          </a:solidFill>
          <a:ln>
            <a:noFill/>
          </a:ln>
          <a:effectLst/>
        </p:spPr>
        <p:txBody>
          <a:bodyPr rtlCol="0" anchor="ctr"/>
          <a:lstStyle/>
          <a:p>
            <a:pPr algn="ctr"/>
          </a:p>
        </p:txBody>
      </p:sp>
      <p:sp>
        <p:nvSpPr>
          <p:cNvPr id="34" name="TextBox 33"/>
          <p:cNvSpPr txBox="1"/>
          <p:nvPr/>
        </p:nvSpPr>
        <p:spPr>
          <a:xfrm>
            <a:off x="8458200" y="2761488"/>
            <a:ext cx="3017520" cy="256032"/>
          </a:xfrm>
          <a:prstGeom prst="rect">
            <a:avLst/>
          </a:prstGeom>
          <a:noFill/>
        </p:spPr>
        <p:txBody>
          <a:bodyPr wrap="square" lIns="0" rIns="0" tIns="0" bIns="0" anchor="t">
            <a:spAutoFit/>
          </a:bodyPr>
          <a:lstStyle/>
          <a:p>
            <a:pPr algn="l">
              <a:lnSpc>
                <a:spcPct val="100000"/>
              </a:lnSpc>
            </a:pPr>
            <a:r>
              <a:rPr sz="1000" b="1" i="0">
                <a:solidFill>
                  <a:srgbClr val="16181D"/>
                </a:solidFill>
                <a:latin typeface="Geist"/>
              </a:rPr>
              <a:t>68,584  </a:t>
            </a:r>
            <a:r>
              <a:rPr sz="800" b="0" i="0">
                <a:solidFill>
                  <a:srgbClr val="6E7180"/>
                </a:solidFill>
                <a:latin typeface="Geist"/>
              </a:rPr>
              <a:t>hit-and-run crashes recorded in 2024</a:t>
            </a:r>
          </a:p>
        </p:txBody>
      </p:sp>
      <p:sp>
        <p:nvSpPr>
          <p:cNvPr id="35" name="Rounded Rectangle 34"/>
          <p:cNvSpPr/>
          <p:nvPr/>
        </p:nvSpPr>
        <p:spPr>
          <a:xfrm>
            <a:off x="8458200" y="3145536"/>
            <a:ext cx="1243584" cy="256032"/>
          </a:xfrm>
          <a:prstGeom prst="roundRect">
            <a:avLst>
              <a:gd name="adj" fmla="val 50000"/>
            </a:avLst>
          </a:prstGeom>
          <a:solidFill>
            <a:srgbClr val="8A8F98"/>
          </a:solidFill>
          <a:ln>
            <a:noFill/>
          </a:ln>
          <a:effectLst/>
        </p:spPr>
        <p:txBody>
          <a:bodyPr rtlCol="0" anchor="ctr"/>
          <a:lstStyle/>
          <a:p>
            <a:pPr algn="ctr"/>
          </a:p>
        </p:txBody>
      </p:sp>
      <p:sp>
        <p:nvSpPr>
          <p:cNvPr id="36" name="TextBox 35"/>
          <p:cNvSpPr txBox="1"/>
          <p:nvPr/>
        </p:nvSpPr>
        <p:spPr>
          <a:xfrm>
            <a:off x="8458200" y="3419856"/>
            <a:ext cx="3017520" cy="256032"/>
          </a:xfrm>
          <a:prstGeom prst="rect">
            <a:avLst/>
          </a:prstGeom>
          <a:noFill/>
        </p:spPr>
        <p:txBody>
          <a:bodyPr wrap="square" lIns="0" rIns="0" tIns="0" bIns="0" anchor="t">
            <a:spAutoFit/>
          </a:bodyPr>
          <a:lstStyle/>
          <a:p>
            <a:pPr algn="l">
              <a:lnSpc>
                <a:spcPct val="100000"/>
              </a:lnSpc>
            </a:pPr>
            <a:r>
              <a:rPr sz="1000" b="1" i="0">
                <a:solidFill>
                  <a:srgbClr val="8A8F98"/>
                </a:solidFill>
                <a:latin typeface="Geist"/>
              </a:rPr>
              <a:t>~30,000  </a:t>
            </a:r>
            <a:r>
              <a:rPr sz="800" b="0" i="0">
                <a:solidFill>
                  <a:srgbClr val="6E7180"/>
                </a:solidFill>
                <a:latin typeface="Geist"/>
              </a:rPr>
              <a:t>of them kill, every year (MoRTH)</a:t>
            </a:r>
          </a:p>
        </p:txBody>
      </p:sp>
      <p:sp>
        <p:nvSpPr>
          <p:cNvPr id="37" name="Rounded Rectangle 36"/>
          <p:cNvSpPr/>
          <p:nvPr/>
        </p:nvSpPr>
        <p:spPr>
          <a:xfrm>
            <a:off x="8458200" y="3803904"/>
            <a:ext cx="411480" cy="256032"/>
          </a:xfrm>
          <a:prstGeom prst="roundRect">
            <a:avLst>
              <a:gd name="adj" fmla="val 50000"/>
            </a:avLst>
          </a:prstGeom>
          <a:solidFill>
            <a:srgbClr val="4A35FF"/>
          </a:solidFill>
          <a:ln>
            <a:noFill/>
          </a:ln>
          <a:effectLst/>
        </p:spPr>
        <p:txBody>
          <a:bodyPr rtlCol="0" anchor="ctr"/>
          <a:lstStyle/>
          <a:p>
            <a:pPr algn="ctr"/>
          </a:p>
        </p:txBody>
      </p:sp>
      <p:sp>
        <p:nvSpPr>
          <p:cNvPr id="38" name="TextBox 37"/>
          <p:cNvSpPr txBox="1"/>
          <p:nvPr/>
        </p:nvSpPr>
        <p:spPr>
          <a:xfrm>
            <a:off x="8458200" y="4078224"/>
            <a:ext cx="3017520" cy="256032"/>
          </a:xfrm>
          <a:prstGeom prst="rect">
            <a:avLst/>
          </a:prstGeom>
          <a:noFill/>
        </p:spPr>
        <p:txBody>
          <a:bodyPr wrap="square" lIns="0" rIns="0" tIns="0" bIns="0" anchor="t">
            <a:spAutoFit/>
          </a:bodyPr>
          <a:lstStyle/>
          <a:p>
            <a:pPr algn="l">
              <a:lnSpc>
                <a:spcPct val="100000"/>
              </a:lnSpc>
            </a:pPr>
            <a:r>
              <a:rPr sz="1000" b="1" i="0">
                <a:solidFill>
                  <a:srgbClr val="4A35FF"/>
                </a:solidFill>
                <a:latin typeface="Geist"/>
              </a:rPr>
              <a:t>9,813  </a:t>
            </a:r>
            <a:r>
              <a:rPr sz="800" b="0" i="0">
                <a:solidFill>
                  <a:srgbClr val="6E7180"/>
                </a:solidFill>
                <a:latin typeface="Geist"/>
              </a:rPr>
              <a:t>claims registered, FY 2025-26</a:t>
            </a:r>
          </a:p>
        </p:txBody>
      </p:sp>
      <p:sp>
        <p:nvSpPr>
          <p:cNvPr id="39" name="Rounded Rectangle 38"/>
          <p:cNvSpPr/>
          <p:nvPr/>
        </p:nvSpPr>
        <p:spPr>
          <a:xfrm>
            <a:off x="8458200" y="4462272"/>
            <a:ext cx="310896" cy="256032"/>
          </a:xfrm>
          <a:prstGeom prst="roundRect">
            <a:avLst>
              <a:gd name="adj" fmla="val 50000"/>
            </a:avLst>
          </a:prstGeom>
          <a:solidFill>
            <a:srgbClr val="0A9955"/>
          </a:solidFill>
          <a:ln>
            <a:noFill/>
          </a:ln>
          <a:effectLst/>
        </p:spPr>
        <p:txBody>
          <a:bodyPr rtlCol="0" anchor="ctr"/>
          <a:lstStyle/>
          <a:p>
            <a:pPr algn="ctr"/>
          </a:p>
        </p:txBody>
      </p:sp>
      <p:sp>
        <p:nvSpPr>
          <p:cNvPr id="40" name="TextBox 39"/>
          <p:cNvSpPr txBox="1"/>
          <p:nvPr/>
        </p:nvSpPr>
        <p:spPr>
          <a:xfrm>
            <a:off x="8458200" y="4736592"/>
            <a:ext cx="3017520" cy="256032"/>
          </a:xfrm>
          <a:prstGeom prst="rect">
            <a:avLst/>
          </a:prstGeom>
          <a:noFill/>
        </p:spPr>
        <p:txBody>
          <a:bodyPr wrap="square" lIns="0" rIns="0" tIns="0" bIns="0" anchor="t">
            <a:spAutoFit/>
          </a:bodyPr>
          <a:lstStyle/>
          <a:p>
            <a:pPr algn="l">
              <a:lnSpc>
                <a:spcPct val="100000"/>
              </a:lnSpc>
            </a:pPr>
            <a:r>
              <a:rPr sz="1000" b="1" i="0">
                <a:solidFill>
                  <a:srgbClr val="0A9955"/>
                </a:solidFill>
                <a:latin typeface="Geist"/>
              </a:rPr>
              <a:t>7,348  </a:t>
            </a:r>
            <a:r>
              <a:rPr sz="800" b="0" i="0">
                <a:solidFill>
                  <a:srgbClr val="6E7180"/>
                </a:solidFill>
                <a:latin typeface="Geist"/>
              </a:rPr>
              <a:t>claims paid, to 28 Feb 2026</a:t>
            </a:r>
          </a:p>
        </p:txBody>
      </p:sp>
      <p:sp>
        <p:nvSpPr>
          <p:cNvPr id="41" name="TextBox 40"/>
          <p:cNvSpPr txBox="1"/>
          <p:nvPr/>
        </p:nvSpPr>
        <p:spPr>
          <a:xfrm>
            <a:off x="8458200" y="5138928"/>
            <a:ext cx="2971800" cy="457200"/>
          </a:xfrm>
          <a:prstGeom prst="rect">
            <a:avLst/>
          </a:prstGeom>
          <a:noFill/>
        </p:spPr>
        <p:txBody>
          <a:bodyPr wrap="square" lIns="0" rIns="0" tIns="0" bIns="0" anchor="t">
            <a:spAutoFit/>
          </a:bodyPr>
          <a:lstStyle/>
          <a:p>
            <a:pPr algn="l">
              <a:lnSpc>
                <a:spcPct val="120000"/>
              </a:lnSpc>
            </a:pPr>
            <a:r>
              <a:rPr sz="850" b="0" i="1">
                <a:solidFill>
                  <a:srgbClr val="6E7180"/>
                </a:solidFill>
                <a:latin typeface="Geist"/>
              </a:rPr>
              <a:t>About 1 claim for every 7 crashes, up 48x since FY23 (205), and still far from the loss. Source: Lok Sabha reply AU6419, April 2026.</a:t>
            </a:r>
          </a:p>
        </p:txBody>
      </p:sp>
      <p:sp>
        <p:nvSpPr>
          <p:cNvPr id="42" name="TextBox 41"/>
          <p:cNvSpPr txBox="1"/>
          <p:nvPr/>
        </p:nvSpPr>
        <p:spPr>
          <a:xfrm>
            <a:off x="566928" y="5760720"/>
            <a:ext cx="7498079" cy="457200"/>
          </a:xfrm>
          <a:prstGeom prst="rect">
            <a:avLst/>
          </a:prstGeom>
          <a:noFill/>
        </p:spPr>
        <p:txBody>
          <a:bodyPr wrap="square" lIns="0" rIns="0" tIns="0" bIns="0" anchor="t">
            <a:spAutoFit/>
          </a:bodyPr>
          <a:lstStyle/>
          <a:p>
            <a:pPr algn="l">
              <a:lnSpc>
                <a:spcPct val="120000"/>
              </a:lnSpc>
            </a:pPr>
            <a:r>
              <a:rPr sz="950" b="1" i="0">
                <a:solidFill>
                  <a:srgbClr val="16181D"/>
                </a:solidFill>
                <a:latin typeface="Geist"/>
              </a:rPr>
              <a:t>Press: </a:t>
            </a:r>
            <a:r>
              <a:rPr sz="950" b="0" i="0">
                <a:solidFill>
                  <a:srgbClr val="6E7180"/>
                </a:solidFill>
                <a:latin typeface="Geist"/>
              </a:rPr>
              <a:t>Deccan Herald · Economic Times · Fortune India · IndiaSpend · Scroll.in · The Wire, and cited in Parliament-facing briefings.</a:t>
            </a:r>
          </a:p>
        </p:txBody>
      </p:sp>
      <p:cxnSp>
        <p:nvCxnSpPr>
          <p:cNvPr id="43" name="Connector 42"/>
          <p:cNvCxnSpPr/>
          <p:nvPr/>
        </p:nvCxnSpPr>
        <p:spPr>
          <a:xfrm>
            <a:off x="566928" y="6455664"/>
            <a:ext cx="11057839" cy="0"/>
          </a:xfrm>
          <a:prstGeom prst="line">
            <a:avLst/>
          </a:prstGeom>
          <a:ln w="9525">
            <a:solidFill>
              <a:srgbClr val="E8E9EE"/>
            </a:solidFill>
          </a:ln>
          <a:effectLst/>
        </p:spPr>
      </p:cxnSp>
      <p:sp>
        <p:nvSpPr>
          <p:cNvPr id="44" name="TextBox 43"/>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45" name="TextBox 44"/>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18 / 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FROM RESEARCH TO DISTRICTS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Working </a:t>
            </a:r>
            <a:r>
              <a:rPr sz="2250" b="1" i="0">
                <a:solidFill>
                  <a:srgbClr val="4A35FF"/>
                </a:solidFill>
                <a:latin typeface="Montserrat"/>
              </a:rPr>
              <a:t>inside the district machinery</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Not commentary from outside, formal seats, formal tasking, files on the table.</a:t>
            </a:r>
          </a:p>
        </p:txBody>
      </p:sp>
      <p:sp>
        <p:nvSpPr>
          <p:cNvPr id="8" name="Oval 7"/>
          <p:cNvSpPr/>
          <p:nvPr/>
        </p:nvSpPr>
        <p:spPr>
          <a:xfrm>
            <a:off x="566928" y="2057400"/>
            <a:ext cx="365760" cy="365760"/>
          </a:xfrm>
          <a:prstGeom prst="ellipse">
            <a:avLst/>
          </a:prstGeom>
          <a:solidFill>
            <a:srgbClr val="EFEDFF"/>
          </a:solidFill>
          <a:ln>
            <a:noFill/>
          </a:ln>
          <a:effectLst/>
        </p:spPr>
        <p:txBody>
          <a:bodyPr rtlCol="0" anchor="ctr"/>
          <a:lstStyle/>
          <a:p>
            <a:pPr algn="ctr"/>
          </a:p>
        </p:txBody>
      </p:sp>
      <p:pic>
        <p:nvPicPr>
          <p:cNvPr id="9" name="Picture 8" descr="landmark_4A35FF_256_2.0.png"/>
          <p:cNvPicPr>
            <a:picLocks noChangeAspect="1"/>
          </p:cNvPicPr>
          <p:nvPr/>
        </p:nvPicPr>
        <p:blipFill>
          <a:blip r:embed="rId2"/>
          <a:stretch>
            <a:fillRect/>
          </a:stretch>
        </p:blipFill>
        <p:spPr>
          <a:xfrm>
            <a:off x="654710" y="2145182"/>
            <a:ext cx="190195" cy="190195"/>
          </a:xfrm>
          <a:prstGeom prst="rect">
            <a:avLst/>
          </a:prstGeom>
        </p:spPr>
      </p:pic>
      <p:sp>
        <p:nvSpPr>
          <p:cNvPr id="10" name="TextBox 9"/>
          <p:cNvSpPr txBox="1"/>
          <p:nvPr/>
        </p:nvSpPr>
        <p:spPr>
          <a:xfrm>
            <a:off x="1097280" y="203911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Four DRSCs joined</a:t>
            </a:r>
          </a:p>
        </p:txBody>
      </p:sp>
      <p:sp>
        <p:nvSpPr>
          <p:cNvPr id="11" name="TextBox 10"/>
          <p:cNvSpPr txBox="1"/>
          <p:nvPr/>
        </p:nvSpPr>
        <p:spPr>
          <a:xfrm>
            <a:off x="3566160" y="203911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Gurugram, South-West Delhi, North-West Delhi and Jaipur, with MoUs with Jaipur Traffic Police and Gurugram Police.</a:t>
            </a:r>
          </a:p>
        </p:txBody>
      </p:sp>
      <p:sp>
        <p:nvSpPr>
          <p:cNvPr id="12" name="Oval 11"/>
          <p:cNvSpPr/>
          <p:nvPr/>
        </p:nvSpPr>
        <p:spPr>
          <a:xfrm>
            <a:off x="566928" y="2971800"/>
            <a:ext cx="365760" cy="365760"/>
          </a:xfrm>
          <a:prstGeom prst="ellipse">
            <a:avLst/>
          </a:prstGeom>
          <a:solidFill>
            <a:srgbClr val="E7F4F4"/>
          </a:solidFill>
          <a:ln>
            <a:noFill/>
          </a:ln>
          <a:effectLst/>
        </p:spPr>
        <p:txBody>
          <a:bodyPr rtlCol="0" anchor="ctr"/>
          <a:lstStyle/>
          <a:p>
            <a:pPr algn="ctr"/>
          </a:p>
        </p:txBody>
      </p:sp>
      <p:pic>
        <p:nvPicPr>
          <p:cNvPr id="13" name="Picture 12" descr="folder-open_0E8A8A_256_2.0.png"/>
          <p:cNvPicPr>
            <a:picLocks noChangeAspect="1"/>
          </p:cNvPicPr>
          <p:nvPr/>
        </p:nvPicPr>
        <p:blipFill>
          <a:blip r:embed="rId3"/>
          <a:stretch>
            <a:fillRect/>
          </a:stretch>
        </p:blipFill>
        <p:spPr>
          <a:xfrm>
            <a:off x="654710" y="3059582"/>
            <a:ext cx="190195" cy="190195"/>
          </a:xfrm>
          <a:prstGeom prst="rect">
            <a:avLst/>
          </a:prstGeom>
        </p:spPr>
      </p:pic>
      <p:sp>
        <p:nvSpPr>
          <p:cNvPr id="14" name="TextBox 13"/>
          <p:cNvSpPr txBox="1"/>
          <p:nvPr/>
        </p:nvSpPr>
        <p:spPr>
          <a:xfrm>
            <a:off x="1097280" y="295351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File-level pipeline support</a:t>
            </a:r>
          </a:p>
        </p:txBody>
      </p:sp>
      <p:sp>
        <p:nvSpPr>
          <p:cNvPr id="15" name="TextBox 14"/>
          <p:cNvSpPr txBox="1"/>
          <p:nvPr/>
        </p:nvSpPr>
        <p:spPr>
          <a:xfrm>
            <a:off x="3566160" y="295351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With district administrations we work the hit-and-run pipeline file by file, mapping where eligible families drop out, and helping offices close those gaps.</a:t>
            </a:r>
          </a:p>
        </p:txBody>
      </p:sp>
      <p:sp>
        <p:nvSpPr>
          <p:cNvPr id="16" name="Oval 15"/>
          <p:cNvSpPr/>
          <p:nvPr/>
        </p:nvSpPr>
        <p:spPr>
          <a:xfrm>
            <a:off x="566928" y="3886200"/>
            <a:ext cx="365760" cy="365760"/>
          </a:xfrm>
          <a:prstGeom prst="ellipse">
            <a:avLst/>
          </a:prstGeom>
          <a:solidFill>
            <a:srgbClr val="E9F7F0"/>
          </a:solidFill>
          <a:ln>
            <a:noFill/>
          </a:ln>
          <a:effectLst/>
        </p:spPr>
        <p:txBody>
          <a:bodyPr rtlCol="0" anchor="ctr"/>
          <a:lstStyle/>
          <a:p>
            <a:pPr algn="ctr"/>
          </a:p>
        </p:txBody>
      </p:sp>
      <p:pic>
        <p:nvPicPr>
          <p:cNvPr id="17" name="Picture 16" descr="clipboard-check_0A9955_256_2.0.png"/>
          <p:cNvPicPr>
            <a:picLocks noChangeAspect="1"/>
          </p:cNvPicPr>
          <p:nvPr/>
        </p:nvPicPr>
        <p:blipFill>
          <a:blip r:embed="rId4"/>
          <a:stretch>
            <a:fillRect/>
          </a:stretch>
        </p:blipFill>
        <p:spPr>
          <a:xfrm>
            <a:off x="654710" y="3973982"/>
            <a:ext cx="190195" cy="190195"/>
          </a:xfrm>
          <a:prstGeom prst="rect">
            <a:avLst/>
          </a:prstGeom>
        </p:spPr>
      </p:pic>
      <p:sp>
        <p:nvSpPr>
          <p:cNvPr id="18" name="TextBox 17"/>
          <p:cNvSpPr txBox="1"/>
          <p:nvPr/>
        </p:nvSpPr>
        <p:spPr>
          <a:xfrm>
            <a:off x="1097280" y="386791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Formally tasked</a:t>
            </a:r>
          </a:p>
        </p:txBody>
      </p:sp>
      <p:sp>
        <p:nvSpPr>
          <p:cNvPr id="19" name="TextBox 18"/>
          <p:cNvSpPr txBox="1"/>
          <p:nvPr/>
        </p:nvSpPr>
        <p:spPr>
          <a:xfrm>
            <a:off x="3566160" y="386791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The South-West Delhi DRSC's signed minutes task Crashfree India with digitisation and analytics support for scheme files.</a:t>
            </a:r>
          </a:p>
        </p:txBody>
      </p:sp>
      <p:sp>
        <p:nvSpPr>
          <p:cNvPr id="20" name="Oval 19"/>
          <p:cNvSpPr/>
          <p:nvPr/>
        </p:nvSpPr>
        <p:spPr>
          <a:xfrm>
            <a:off x="566928" y="4800600"/>
            <a:ext cx="365760" cy="365760"/>
          </a:xfrm>
          <a:prstGeom prst="ellipse">
            <a:avLst/>
          </a:prstGeom>
          <a:solidFill>
            <a:srgbClr val="FDF3E3"/>
          </a:solidFill>
          <a:ln>
            <a:noFill/>
          </a:ln>
          <a:effectLst/>
        </p:spPr>
        <p:txBody>
          <a:bodyPr rtlCol="0" anchor="ctr"/>
          <a:lstStyle/>
          <a:p>
            <a:pPr algn="ctr"/>
          </a:p>
        </p:txBody>
      </p:sp>
      <p:pic>
        <p:nvPicPr>
          <p:cNvPr id="21" name="Picture 20" descr="user-check_E58900_256_2.0.png"/>
          <p:cNvPicPr>
            <a:picLocks noChangeAspect="1"/>
          </p:cNvPicPr>
          <p:nvPr/>
        </p:nvPicPr>
        <p:blipFill>
          <a:blip r:embed="rId5"/>
          <a:stretch>
            <a:fillRect/>
          </a:stretch>
        </p:blipFill>
        <p:spPr>
          <a:xfrm>
            <a:off x="654710" y="4888382"/>
            <a:ext cx="190195" cy="190195"/>
          </a:xfrm>
          <a:prstGeom prst="rect">
            <a:avLst/>
          </a:prstGeom>
        </p:spPr>
      </p:pic>
      <p:sp>
        <p:nvSpPr>
          <p:cNvPr id="22" name="TextBox 21"/>
          <p:cNvSpPr txBox="1"/>
          <p:nvPr/>
        </p:nvSpPr>
        <p:spPr>
          <a:xfrm>
            <a:off x="1097280" y="478231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Embedded presence</a:t>
            </a:r>
          </a:p>
        </p:txBody>
      </p:sp>
      <p:sp>
        <p:nvSpPr>
          <p:cNvPr id="23" name="TextBox 22"/>
          <p:cNvSpPr txBox="1"/>
          <p:nvPr/>
        </p:nvSpPr>
        <p:spPr>
          <a:xfrm>
            <a:off x="3566160" y="4782312"/>
            <a:ext cx="37947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A research fellow sits with Gurugram district offices, implementation support, not external commentary.</a:t>
            </a:r>
          </a:p>
        </p:txBody>
      </p:sp>
      <p:pic>
        <p:nvPicPr>
          <p:cNvPr id="24" name="Picture 23" descr="ph_helpdesk_camp.jpg_4.20x2.20_0.35.jpg"/>
          <p:cNvPicPr>
            <a:picLocks noChangeAspect="1"/>
          </p:cNvPicPr>
          <p:nvPr/>
        </p:nvPicPr>
        <p:blipFill>
          <a:blip r:embed="rId6"/>
          <a:stretch>
            <a:fillRect/>
          </a:stretch>
        </p:blipFill>
        <p:spPr>
          <a:xfrm>
            <a:off x="7772400" y="2011680"/>
            <a:ext cx="3840480" cy="2011680"/>
          </a:xfrm>
          <a:prstGeom prst="rect">
            <a:avLst/>
          </a:prstGeom>
        </p:spPr>
      </p:pic>
      <p:sp>
        <p:nvSpPr>
          <p:cNvPr id="25" name="Rectangle 24"/>
          <p:cNvSpPr/>
          <p:nvPr/>
        </p:nvSpPr>
        <p:spPr>
          <a:xfrm>
            <a:off x="7772400" y="2011680"/>
            <a:ext cx="3840480" cy="2011680"/>
          </a:xfrm>
          <a:prstGeom prst="rect">
            <a:avLst/>
          </a:prstGeom>
          <a:noFill/>
          <a:ln w="12700">
            <a:solidFill>
              <a:srgbClr val="E8E9EE"/>
            </a:solidFill>
          </a:ln>
          <a:effectLst/>
        </p:spPr>
        <p:txBody>
          <a:bodyPr rtlCol="0" anchor="ctr"/>
          <a:lstStyle/>
          <a:p>
            <a:pPr algn="ctr"/>
          </a:p>
        </p:txBody>
      </p:sp>
      <p:sp>
        <p:nvSpPr>
          <p:cNvPr id="26" name="TextBox 25"/>
          <p:cNvSpPr txBox="1"/>
          <p:nvPr/>
        </p:nvSpPr>
        <p:spPr>
          <a:xfrm>
            <a:off x="7772400" y="4069080"/>
            <a:ext cx="38404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Legal-rights helpdesk with district administration, Jan 2026.</a:t>
            </a:r>
          </a:p>
        </p:txBody>
      </p:sp>
      <p:pic>
        <p:nvPicPr>
          <p:cNvPr id="27" name="Picture 26" descr="ph_law_students.jpg_4.20x1.60_0.30.jpg"/>
          <p:cNvPicPr>
            <a:picLocks noChangeAspect="1"/>
          </p:cNvPicPr>
          <p:nvPr/>
        </p:nvPicPr>
        <p:blipFill>
          <a:blip r:embed="rId7"/>
          <a:stretch>
            <a:fillRect/>
          </a:stretch>
        </p:blipFill>
        <p:spPr>
          <a:xfrm>
            <a:off x="7772400" y="4526280"/>
            <a:ext cx="3840480" cy="1463040"/>
          </a:xfrm>
          <a:prstGeom prst="rect">
            <a:avLst/>
          </a:prstGeom>
        </p:spPr>
      </p:pic>
      <p:sp>
        <p:nvSpPr>
          <p:cNvPr id="28" name="Rectangle 27"/>
          <p:cNvSpPr/>
          <p:nvPr/>
        </p:nvSpPr>
        <p:spPr>
          <a:xfrm>
            <a:off x="7772400" y="4526280"/>
            <a:ext cx="3840480" cy="1463040"/>
          </a:xfrm>
          <a:prstGeom prst="rect">
            <a:avLst/>
          </a:prstGeom>
          <a:noFill/>
          <a:ln w="12700">
            <a:solidFill>
              <a:srgbClr val="E8E9EE"/>
            </a:solidFill>
          </a:ln>
          <a:effectLst/>
        </p:spPr>
        <p:txBody>
          <a:bodyPr rtlCol="0" anchor="ctr"/>
          <a:lstStyle/>
          <a:p>
            <a:pPr algn="ctr"/>
          </a:p>
        </p:txBody>
      </p:sp>
      <p:sp>
        <p:nvSpPr>
          <p:cNvPr id="29" name="TextBox 28"/>
          <p:cNvSpPr txBox="1"/>
          <p:nvPr/>
        </p:nvSpPr>
        <p:spPr>
          <a:xfrm>
            <a:off x="7772400" y="6035040"/>
            <a:ext cx="384048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Law-student volunteers after a hospital helpdesk drive.</a:t>
            </a:r>
          </a:p>
        </p:txBody>
      </p:sp>
      <p:cxnSp>
        <p:nvCxnSpPr>
          <p:cNvPr id="30" name="Connector 29"/>
          <p:cNvCxnSpPr/>
          <p:nvPr/>
        </p:nvCxnSpPr>
        <p:spPr>
          <a:xfrm>
            <a:off x="566928" y="6455664"/>
            <a:ext cx="11057839" cy="0"/>
          </a:xfrm>
          <a:prstGeom prst="line">
            <a:avLst/>
          </a:prstGeom>
          <a:ln w="9525">
            <a:solidFill>
              <a:srgbClr val="E8E9EE"/>
            </a:solidFill>
          </a:ln>
          <a:effectLst/>
        </p:spPr>
      </p:cxnSp>
      <p:sp>
        <p:nvSpPr>
          <p:cNvPr id="31" name="TextBox 30"/>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2" name="TextBox 31"/>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19 / 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STATE ENGAGEMENT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With Rajasthan: from ground mapping to </a:t>
            </a:r>
            <a:r>
              <a:rPr sz="2250" b="1" i="0">
                <a:solidFill>
                  <a:srgbClr val="4A35FF"/>
                </a:solidFill>
                <a:latin typeface="Montserrat"/>
              </a:rPr>
              <a:t>a working template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Supporting the State Road Safety Lead Agency and Transport Department on the Hit-and-Run Compensation Scheme.</a:t>
            </a:r>
          </a:p>
        </p:txBody>
      </p:sp>
      <p:sp>
        <p:nvSpPr>
          <p:cNvPr id="8" name="Rounded Rectangle 7"/>
          <p:cNvSpPr/>
          <p:nvPr/>
        </p:nvSpPr>
        <p:spPr>
          <a:xfrm>
            <a:off x="566928" y="2057400"/>
            <a:ext cx="3291840" cy="1737360"/>
          </a:xfrm>
          <a:prstGeom prst="roundRect">
            <a:avLst>
              <a:gd name="adj" fmla="val 8000"/>
            </a:avLst>
          </a:prstGeom>
          <a:solidFill>
            <a:srgbClr val="F7F7FA"/>
          </a:solidFill>
          <a:ln>
            <a:noFill/>
          </a:ln>
          <a:effectLst/>
        </p:spPr>
        <p:txBody>
          <a:bodyPr rtlCol="0" anchor="ctr"/>
          <a:lstStyle/>
          <a:p>
            <a:pPr algn="ctr"/>
          </a:p>
        </p:txBody>
      </p:sp>
      <p:sp>
        <p:nvSpPr>
          <p:cNvPr id="9" name="TextBox 8"/>
          <p:cNvSpPr txBox="1"/>
          <p:nvPr/>
        </p:nvSpPr>
        <p:spPr>
          <a:xfrm>
            <a:off x="749808" y="2240280"/>
            <a:ext cx="2926080" cy="640080"/>
          </a:xfrm>
          <a:prstGeom prst="rect">
            <a:avLst/>
          </a:prstGeom>
          <a:noFill/>
        </p:spPr>
        <p:txBody>
          <a:bodyPr wrap="square" lIns="0" rIns="0" tIns="0" bIns="0" anchor="t">
            <a:spAutoFit/>
          </a:bodyPr>
          <a:lstStyle/>
          <a:p>
            <a:pPr algn="l">
              <a:lnSpc>
                <a:spcPct val="128000"/>
              </a:lnSpc>
            </a:pPr>
            <a:r>
              <a:rPr sz="3600" b="1" i="0">
                <a:solidFill>
                  <a:srgbClr val="4A35FF"/>
                </a:solidFill>
                <a:latin typeface="Montserrat"/>
              </a:rPr>
              <a:t>~180</a:t>
            </a:r>
          </a:p>
        </p:txBody>
      </p:sp>
      <p:sp>
        <p:nvSpPr>
          <p:cNvPr id="10" name="TextBox 9"/>
          <p:cNvSpPr txBox="1"/>
          <p:nvPr/>
        </p:nvSpPr>
        <p:spPr>
          <a:xfrm>
            <a:off x="749808" y="2926080"/>
            <a:ext cx="2926080" cy="73152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of ~</a:t>
            </a:r>
            <a:r>
              <a:rPr sz="1000" b="1" i="0">
                <a:solidFill>
                  <a:srgbClr val="16181D"/>
                </a:solidFill>
                <a:latin typeface="Geist"/>
              </a:rPr>
              <a:t>395</a:t>
            </a:r>
            <a:r>
              <a:rPr sz="1000" b="0" i="0">
                <a:solidFill>
                  <a:srgbClr val="6E7180"/>
                </a:solidFill>
                <a:latin typeface="Geist"/>
              </a:rPr>
              <a:t> monthly hit-and-run claims in Rajasthan come from Jaipur alone (~46%)</a:t>
            </a:r>
          </a:p>
        </p:txBody>
      </p:sp>
      <p:sp>
        <p:nvSpPr>
          <p:cNvPr id="11" name="TextBox 10"/>
          <p:cNvSpPr txBox="1"/>
          <p:nvPr/>
        </p:nvSpPr>
        <p:spPr>
          <a:xfrm>
            <a:off x="566928" y="4023360"/>
            <a:ext cx="3291840" cy="914400"/>
          </a:xfrm>
          <a:prstGeom prst="rect">
            <a:avLst/>
          </a:prstGeom>
          <a:noFill/>
        </p:spPr>
        <p:txBody>
          <a:bodyPr wrap="square" lIns="0" rIns="0" tIns="0" bIns="0" anchor="t">
            <a:spAutoFit/>
          </a:bodyPr>
          <a:lstStyle/>
          <a:p>
            <a:pPr algn="l">
              <a:lnSpc>
                <a:spcPct val="130000"/>
              </a:lnSpc>
            </a:pPr>
            <a:r>
              <a:rPr sz="950" b="0" i="0">
                <a:solidFill>
                  <a:srgbClr val="6E7180"/>
                </a:solidFill>
                <a:latin typeface="Geist"/>
              </a:rPr>
              <a:t>Not because crashes happen only there, because Jaipur runs active outreach and a single coordination cell. The template is replicable.</a:t>
            </a:r>
          </a:p>
        </p:txBody>
      </p:sp>
      <p:sp>
        <p:nvSpPr>
          <p:cNvPr id="12" name="Oval 11"/>
          <p:cNvSpPr/>
          <p:nvPr/>
        </p:nvSpPr>
        <p:spPr>
          <a:xfrm>
            <a:off x="4114800" y="2057400"/>
            <a:ext cx="384048" cy="384048"/>
          </a:xfrm>
          <a:prstGeom prst="ellipse">
            <a:avLst/>
          </a:prstGeom>
          <a:solidFill>
            <a:srgbClr val="FDF3E3"/>
          </a:solidFill>
          <a:ln>
            <a:noFill/>
          </a:ln>
          <a:effectLst/>
        </p:spPr>
        <p:txBody>
          <a:bodyPr rtlCol="0" anchor="ctr"/>
          <a:lstStyle/>
          <a:p>
            <a:pPr algn="ctr"/>
          </a:p>
        </p:txBody>
      </p:sp>
      <p:pic>
        <p:nvPicPr>
          <p:cNvPr id="13" name="Picture 12" descr="file-warning_E58900_256_2.0.png"/>
          <p:cNvPicPr>
            <a:picLocks noChangeAspect="1"/>
          </p:cNvPicPr>
          <p:nvPr/>
        </p:nvPicPr>
        <p:blipFill>
          <a:blip r:embed="rId2"/>
          <a:stretch>
            <a:fillRect/>
          </a:stretch>
        </p:blipFill>
        <p:spPr>
          <a:xfrm>
            <a:off x="4206971" y="2149571"/>
            <a:ext cx="199704" cy="199704"/>
          </a:xfrm>
          <a:prstGeom prst="rect">
            <a:avLst/>
          </a:prstGeom>
        </p:spPr>
      </p:pic>
      <p:sp>
        <p:nvSpPr>
          <p:cNvPr id="14" name="TextBox 13"/>
          <p:cNvSpPr txBox="1"/>
          <p:nvPr/>
        </p:nvSpPr>
        <p:spPr>
          <a:xfrm>
            <a:off x="4645152" y="2029968"/>
            <a:ext cx="2286000" cy="548640"/>
          </a:xfrm>
          <a:prstGeom prst="rect">
            <a:avLst/>
          </a:prstGeom>
          <a:noFill/>
        </p:spPr>
        <p:txBody>
          <a:bodyPr wrap="square" lIns="0" rIns="0" tIns="0" bIns="0" anchor="t">
            <a:spAutoFit/>
          </a:bodyPr>
          <a:lstStyle/>
          <a:p>
            <a:pPr algn="l">
              <a:lnSpc>
                <a:spcPct val="110000"/>
              </a:lnSpc>
            </a:pPr>
            <a:r>
              <a:rPr sz="1100" b="1" i="0">
                <a:solidFill>
                  <a:srgbClr val="16181D"/>
                </a:solidFill>
                <a:latin typeface="Montserrat"/>
              </a:rPr>
              <a:t>What holds claims back</a:t>
            </a:r>
          </a:p>
        </p:txBody>
      </p:sp>
      <p:sp>
        <p:nvSpPr>
          <p:cNvPr id="15" name="TextBox 14"/>
          <p:cNvSpPr txBox="1"/>
          <p:nvPr/>
        </p:nvSpPr>
        <p:spPr>
          <a:xfrm>
            <a:off x="6995160" y="2029968"/>
            <a:ext cx="4617720" cy="868680"/>
          </a:xfrm>
          <a:prstGeom prst="rect">
            <a:avLst/>
          </a:prstGeom>
          <a:noFill/>
        </p:spPr>
        <p:txBody>
          <a:bodyPr wrap="square" lIns="0" rIns="0" tIns="0" bIns="0" anchor="t">
            <a:spAutoFit/>
          </a:bodyPr>
          <a:lstStyle/>
          <a:p>
            <a:pPr algn="l">
              <a:lnSpc>
                <a:spcPct val="122000"/>
              </a:lnSpc>
            </a:pPr>
            <a:r>
              <a:rPr sz="950" b="0" i="0">
                <a:solidFill>
                  <a:srgbClr val="6E7180"/>
                </a:solidFill>
                <a:latin typeface="Geist"/>
              </a:rPr>
              <a:t>11–13 documents demanded vs the 7 court-agreed standard · ~50% of files lack a usable family phone number · manual hand-offs between six offices.</a:t>
            </a:r>
          </a:p>
        </p:txBody>
      </p:sp>
      <p:sp>
        <p:nvSpPr>
          <p:cNvPr id="16" name="Oval 15"/>
          <p:cNvSpPr/>
          <p:nvPr/>
        </p:nvSpPr>
        <p:spPr>
          <a:xfrm>
            <a:off x="4114800" y="3026664"/>
            <a:ext cx="384048" cy="384048"/>
          </a:xfrm>
          <a:prstGeom prst="ellipse">
            <a:avLst/>
          </a:prstGeom>
          <a:solidFill>
            <a:srgbClr val="FDEFEC"/>
          </a:solidFill>
          <a:ln>
            <a:noFill/>
          </a:ln>
          <a:effectLst/>
        </p:spPr>
        <p:txBody>
          <a:bodyPr rtlCol="0" anchor="ctr"/>
          <a:lstStyle/>
          <a:p>
            <a:pPr algn="ctr"/>
          </a:p>
        </p:txBody>
      </p:sp>
      <p:pic>
        <p:nvPicPr>
          <p:cNvPr id="17" name="Picture 16" descr="alert-octagon_E11900_256_2.0.png"/>
          <p:cNvPicPr>
            <a:picLocks noChangeAspect="1"/>
          </p:cNvPicPr>
          <p:nvPr/>
        </p:nvPicPr>
        <p:blipFill>
          <a:blip r:embed="rId3"/>
          <a:stretch>
            <a:fillRect/>
          </a:stretch>
        </p:blipFill>
        <p:spPr>
          <a:xfrm>
            <a:off x="4206971" y="3118835"/>
            <a:ext cx="199704" cy="199704"/>
          </a:xfrm>
          <a:prstGeom prst="rect">
            <a:avLst/>
          </a:prstGeom>
        </p:spPr>
      </p:pic>
      <p:sp>
        <p:nvSpPr>
          <p:cNvPr id="18" name="TextBox 17"/>
          <p:cNvSpPr txBox="1"/>
          <p:nvPr/>
        </p:nvSpPr>
        <p:spPr>
          <a:xfrm>
            <a:off x="4645152" y="2999232"/>
            <a:ext cx="2286000" cy="548640"/>
          </a:xfrm>
          <a:prstGeom prst="rect">
            <a:avLst/>
          </a:prstGeom>
          <a:noFill/>
        </p:spPr>
        <p:txBody>
          <a:bodyPr wrap="square" lIns="0" rIns="0" tIns="0" bIns="0" anchor="t">
            <a:spAutoFit/>
          </a:bodyPr>
          <a:lstStyle/>
          <a:p>
            <a:pPr algn="l">
              <a:lnSpc>
                <a:spcPct val="110000"/>
              </a:lnSpc>
            </a:pPr>
            <a:r>
              <a:rPr sz="1100" b="1" i="0">
                <a:solidFill>
                  <a:srgbClr val="16181D"/>
                </a:solidFill>
                <a:latin typeface="Montserrat"/>
              </a:rPr>
              <a:t>The cautionary example</a:t>
            </a:r>
          </a:p>
        </p:txBody>
      </p:sp>
      <p:sp>
        <p:nvSpPr>
          <p:cNvPr id="19" name="TextBox 18"/>
          <p:cNvSpPr txBox="1"/>
          <p:nvPr/>
        </p:nvSpPr>
        <p:spPr>
          <a:xfrm>
            <a:off x="6995160" y="2999232"/>
            <a:ext cx="4617720" cy="868680"/>
          </a:xfrm>
          <a:prstGeom prst="rect">
            <a:avLst/>
          </a:prstGeom>
          <a:noFill/>
        </p:spPr>
        <p:txBody>
          <a:bodyPr wrap="square" lIns="0" rIns="0" tIns="0" bIns="0" anchor="t">
            <a:spAutoFit/>
          </a:bodyPr>
          <a:lstStyle/>
          <a:p>
            <a:pPr algn="l">
              <a:lnSpc>
                <a:spcPct val="122000"/>
              </a:lnSpc>
            </a:pPr>
            <a:r>
              <a:rPr sz="950" b="0" i="0">
                <a:solidFill>
                  <a:srgbClr val="6E7180"/>
                </a:solidFill>
                <a:latin typeface="Geist"/>
              </a:rPr>
              <a:t>A state portal that changed how offices work saw monthly requests fall 350 → 25. Our design rule: no stakeholder changes their medium.</a:t>
            </a:r>
          </a:p>
        </p:txBody>
      </p:sp>
      <p:sp>
        <p:nvSpPr>
          <p:cNvPr id="20" name="Oval 19"/>
          <p:cNvSpPr/>
          <p:nvPr/>
        </p:nvSpPr>
        <p:spPr>
          <a:xfrm>
            <a:off x="4114800" y="3995928"/>
            <a:ext cx="384048" cy="384048"/>
          </a:xfrm>
          <a:prstGeom prst="ellipse">
            <a:avLst/>
          </a:prstGeom>
          <a:solidFill>
            <a:srgbClr val="EFEDFF"/>
          </a:solidFill>
          <a:ln>
            <a:noFill/>
          </a:ln>
          <a:effectLst/>
        </p:spPr>
        <p:txBody>
          <a:bodyPr rtlCol="0" anchor="ctr"/>
          <a:lstStyle/>
          <a:p>
            <a:pPr algn="ctr"/>
          </a:p>
        </p:txBody>
      </p:sp>
      <p:pic>
        <p:nvPicPr>
          <p:cNvPr id="21" name="Picture 20" descr="route_4A35FF_256_2.0.png"/>
          <p:cNvPicPr>
            <a:picLocks noChangeAspect="1"/>
          </p:cNvPicPr>
          <p:nvPr/>
        </p:nvPicPr>
        <p:blipFill>
          <a:blip r:embed="rId4"/>
          <a:stretch>
            <a:fillRect/>
          </a:stretch>
        </p:blipFill>
        <p:spPr>
          <a:xfrm>
            <a:off x="4206971" y="4088099"/>
            <a:ext cx="199704" cy="199704"/>
          </a:xfrm>
          <a:prstGeom prst="rect">
            <a:avLst/>
          </a:prstGeom>
        </p:spPr>
      </p:pic>
      <p:sp>
        <p:nvSpPr>
          <p:cNvPr id="22" name="TextBox 21"/>
          <p:cNvSpPr txBox="1"/>
          <p:nvPr/>
        </p:nvSpPr>
        <p:spPr>
          <a:xfrm>
            <a:off x="4645152" y="3968496"/>
            <a:ext cx="2286000" cy="548640"/>
          </a:xfrm>
          <a:prstGeom prst="rect">
            <a:avLst/>
          </a:prstGeom>
          <a:noFill/>
        </p:spPr>
        <p:txBody>
          <a:bodyPr wrap="square" lIns="0" rIns="0" tIns="0" bIns="0" anchor="t">
            <a:spAutoFit/>
          </a:bodyPr>
          <a:lstStyle/>
          <a:p>
            <a:pPr algn="l">
              <a:lnSpc>
                <a:spcPct val="110000"/>
              </a:lnSpc>
            </a:pPr>
            <a:r>
              <a:rPr sz="1100" b="1" i="0">
                <a:solidFill>
                  <a:srgbClr val="16181D"/>
                </a:solidFill>
                <a:latin typeface="Montserrat"/>
              </a:rPr>
              <a:t>Office-by-office mapping</a:t>
            </a:r>
          </a:p>
        </p:txBody>
      </p:sp>
      <p:sp>
        <p:nvSpPr>
          <p:cNvPr id="23" name="TextBox 22"/>
          <p:cNvSpPr txBox="1"/>
          <p:nvPr/>
        </p:nvSpPr>
        <p:spPr>
          <a:xfrm>
            <a:off x="6995160" y="3968496"/>
            <a:ext cx="4617720" cy="868680"/>
          </a:xfrm>
          <a:prstGeom prst="rect">
            <a:avLst/>
          </a:prstGeom>
          <a:noFill/>
        </p:spPr>
        <p:txBody>
          <a:bodyPr wrap="square" lIns="0" rIns="0" tIns="0" bIns="0" anchor="t">
            <a:spAutoFit/>
          </a:bodyPr>
          <a:lstStyle/>
          <a:p>
            <a:pPr algn="l">
              <a:lnSpc>
                <a:spcPct val="122000"/>
              </a:lnSpc>
            </a:pPr>
            <a:r>
              <a:rPr sz="950" b="0" i="0">
                <a:solidFill>
                  <a:srgbClr val="6E7180"/>
                </a:solidFill>
                <a:latin typeface="Geist"/>
              </a:rPr>
              <a:t>We walked the file's actual path, police, SDM office, insurer desk, treasury, and mapped every hand-off where families drop out.</a:t>
            </a:r>
          </a:p>
        </p:txBody>
      </p:sp>
      <p:sp>
        <p:nvSpPr>
          <p:cNvPr id="24" name="Oval 23"/>
          <p:cNvSpPr/>
          <p:nvPr/>
        </p:nvSpPr>
        <p:spPr>
          <a:xfrm>
            <a:off x="4114800" y="4965192"/>
            <a:ext cx="384048" cy="384048"/>
          </a:xfrm>
          <a:prstGeom prst="ellipse">
            <a:avLst/>
          </a:prstGeom>
          <a:solidFill>
            <a:srgbClr val="E9F7F0"/>
          </a:solidFill>
          <a:ln>
            <a:noFill/>
          </a:ln>
          <a:effectLst/>
        </p:spPr>
        <p:txBody>
          <a:bodyPr rtlCol="0" anchor="ctr"/>
          <a:lstStyle/>
          <a:p>
            <a:pPr algn="ctr"/>
          </a:p>
        </p:txBody>
      </p:sp>
      <p:pic>
        <p:nvPicPr>
          <p:cNvPr id="25" name="Picture 24" descr="rocket_0A9955_256_2.0.png"/>
          <p:cNvPicPr>
            <a:picLocks noChangeAspect="1"/>
          </p:cNvPicPr>
          <p:nvPr/>
        </p:nvPicPr>
        <p:blipFill>
          <a:blip r:embed="rId5"/>
          <a:stretch>
            <a:fillRect/>
          </a:stretch>
        </p:blipFill>
        <p:spPr>
          <a:xfrm>
            <a:off x="4206971" y="5057363"/>
            <a:ext cx="199704" cy="199704"/>
          </a:xfrm>
          <a:prstGeom prst="rect">
            <a:avLst/>
          </a:prstGeom>
        </p:spPr>
      </p:pic>
      <p:sp>
        <p:nvSpPr>
          <p:cNvPr id="26" name="TextBox 25"/>
          <p:cNvSpPr txBox="1"/>
          <p:nvPr/>
        </p:nvSpPr>
        <p:spPr>
          <a:xfrm>
            <a:off x="4645152" y="4937760"/>
            <a:ext cx="2286000" cy="548640"/>
          </a:xfrm>
          <a:prstGeom prst="rect">
            <a:avLst/>
          </a:prstGeom>
          <a:noFill/>
        </p:spPr>
        <p:txBody>
          <a:bodyPr wrap="square" lIns="0" rIns="0" tIns="0" bIns="0" anchor="t">
            <a:spAutoFit/>
          </a:bodyPr>
          <a:lstStyle/>
          <a:p>
            <a:pPr algn="l">
              <a:lnSpc>
                <a:spcPct val="110000"/>
              </a:lnSpc>
            </a:pPr>
            <a:r>
              <a:rPr sz="1100" b="1" i="0">
                <a:solidFill>
                  <a:srgbClr val="16181D"/>
                </a:solidFill>
                <a:latin typeface="Montserrat"/>
              </a:rPr>
              <a:t>Six asks → 60 days</a:t>
            </a:r>
          </a:p>
        </p:txBody>
      </p:sp>
      <p:sp>
        <p:nvSpPr>
          <p:cNvPr id="27" name="TextBox 26"/>
          <p:cNvSpPr txBox="1"/>
          <p:nvPr/>
        </p:nvSpPr>
        <p:spPr>
          <a:xfrm>
            <a:off x="6995160" y="4937760"/>
            <a:ext cx="4617720" cy="868680"/>
          </a:xfrm>
          <a:prstGeom prst="rect">
            <a:avLst/>
          </a:prstGeom>
          <a:noFill/>
        </p:spPr>
        <p:txBody>
          <a:bodyPr wrap="square" lIns="0" rIns="0" tIns="0" bIns="0" anchor="t">
            <a:spAutoFit/>
          </a:bodyPr>
          <a:lstStyle/>
          <a:p>
            <a:pPr algn="l">
              <a:lnSpc>
                <a:spcPct val="122000"/>
              </a:lnSpc>
            </a:pPr>
            <a:r>
              <a:rPr sz="950" b="0" i="0">
                <a:solidFill>
                  <a:srgbClr val="6E7180"/>
                </a:solidFill>
                <a:latin typeface="Geist"/>
              </a:rPr>
              <a:t>Decisions identified with the Department that put Phase 1 (family traceability) in motion within 60 days.</a:t>
            </a:r>
          </a:p>
        </p:txBody>
      </p:sp>
      <p:cxnSp>
        <p:nvCxnSpPr>
          <p:cNvPr id="28" name="Connector 27"/>
          <p:cNvCxnSpPr/>
          <p:nvPr/>
        </p:nvCxnSpPr>
        <p:spPr>
          <a:xfrm>
            <a:off x="566928" y="6455664"/>
            <a:ext cx="11057839" cy="0"/>
          </a:xfrm>
          <a:prstGeom prst="line">
            <a:avLst/>
          </a:prstGeom>
          <a:ln w="9525">
            <a:solidFill>
              <a:srgbClr val="E8E9EE"/>
            </a:solidFill>
          </a:ln>
          <a:effectLst/>
        </p:spPr>
      </p:cxnSp>
      <p:sp>
        <p:nvSpPr>
          <p:cNvPr id="29" name="TextBox 2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0" name="TextBox 2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20 / 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THE PORTAL CONCEPT</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Designed so </a:t>
            </a:r>
            <a:r>
              <a:rPr sz="2250" b="1" i="0">
                <a:solidFill>
                  <a:srgbClr val="4A35FF"/>
                </a:solidFill>
                <a:latin typeface="Montserrat"/>
              </a:rPr>
              <a:t>no stakeholder changes how they work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Families stay on WhatsApp; officers keep their queues and sign-offs; the system connects them behind the scenes.</a:t>
            </a:r>
          </a:p>
        </p:txBody>
      </p:sp>
      <p:pic>
        <p:nvPicPr>
          <p:cNvPr id="8" name="Picture 7" descr="wa_phone1.png"/>
          <p:cNvPicPr>
            <a:picLocks noChangeAspect="1"/>
          </p:cNvPicPr>
          <p:nvPr/>
        </p:nvPicPr>
        <p:blipFill>
          <a:blip r:embed="rId2"/>
          <a:stretch>
            <a:fillRect/>
          </a:stretch>
        </p:blipFill>
        <p:spPr>
          <a:xfrm>
            <a:off x="566928" y="2011680"/>
            <a:ext cx="1325880" cy="1964267"/>
          </a:xfrm>
          <a:prstGeom prst="rect">
            <a:avLst/>
          </a:prstGeom>
        </p:spPr>
      </p:pic>
      <p:pic>
        <p:nvPicPr>
          <p:cNvPr id="9" name="Picture 8" descr="wa_phone2.png"/>
          <p:cNvPicPr>
            <a:picLocks noChangeAspect="1"/>
          </p:cNvPicPr>
          <p:nvPr/>
        </p:nvPicPr>
        <p:blipFill>
          <a:blip r:embed="rId3"/>
          <a:stretch>
            <a:fillRect/>
          </a:stretch>
        </p:blipFill>
        <p:spPr>
          <a:xfrm>
            <a:off x="1984248" y="2011680"/>
            <a:ext cx="1325880" cy="1964267"/>
          </a:xfrm>
          <a:prstGeom prst="rect">
            <a:avLst/>
          </a:prstGeom>
        </p:spPr>
      </p:pic>
      <p:pic>
        <p:nvPicPr>
          <p:cNvPr id="10" name="Picture 9" descr="wa_phone3.png"/>
          <p:cNvPicPr>
            <a:picLocks noChangeAspect="1"/>
          </p:cNvPicPr>
          <p:nvPr/>
        </p:nvPicPr>
        <p:blipFill>
          <a:blip r:embed="rId4"/>
          <a:stretch>
            <a:fillRect/>
          </a:stretch>
        </p:blipFill>
        <p:spPr>
          <a:xfrm>
            <a:off x="3401568" y="2011680"/>
            <a:ext cx="1325880" cy="1964267"/>
          </a:xfrm>
          <a:prstGeom prst="rect">
            <a:avLst/>
          </a:prstGeom>
        </p:spPr>
      </p:pic>
      <p:sp>
        <p:nvSpPr>
          <p:cNvPr id="11" name="TextBox 10"/>
          <p:cNvSpPr txBox="1"/>
          <p:nvPr/>
        </p:nvSpPr>
        <p:spPr>
          <a:xfrm>
            <a:off x="566928" y="4069080"/>
            <a:ext cx="4206240" cy="457200"/>
          </a:xfrm>
          <a:prstGeom prst="rect">
            <a:avLst/>
          </a:prstGeom>
          <a:noFill/>
        </p:spPr>
        <p:txBody>
          <a:bodyPr wrap="square" lIns="0" rIns="0" tIns="0" bIns="0" anchor="t">
            <a:spAutoFit/>
          </a:bodyPr>
          <a:lstStyle/>
          <a:p>
            <a:pPr algn="l">
              <a:lnSpc>
                <a:spcPct val="125000"/>
              </a:lnSpc>
            </a:pPr>
            <a:r>
              <a:rPr sz="900" b="0" i="0">
                <a:solidFill>
                  <a:srgbClr val="6E7180"/>
                </a:solidFill>
                <a:latin typeface="Geist"/>
              </a:rPr>
              <a:t>The family flow, day-one intake, document capture, live status. All inside WhatsApp, in Hindi.</a:t>
            </a:r>
          </a:p>
        </p:txBody>
      </p:sp>
      <p:pic>
        <p:nvPicPr>
          <p:cNvPr id="12" name="Picture 11" descr="opt_queue_ui_1500.jpg"/>
          <p:cNvPicPr>
            <a:picLocks noChangeAspect="1"/>
          </p:cNvPicPr>
          <p:nvPr/>
        </p:nvPicPr>
        <p:blipFill>
          <a:blip r:embed="rId5"/>
          <a:stretch>
            <a:fillRect/>
          </a:stretch>
        </p:blipFill>
        <p:spPr>
          <a:xfrm>
            <a:off x="5074920" y="2011680"/>
            <a:ext cx="6537960" cy="2405969"/>
          </a:xfrm>
          <a:prstGeom prst="rect">
            <a:avLst/>
          </a:prstGeom>
        </p:spPr>
      </p:pic>
      <p:sp>
        <p:nvSpPr>
          <p:cNvPr id="13" name="Rectangle 12"/>
          <p:cNvSpPr/>
          <p:nvPr/>
        </p:nvSpPr>
        <p:spPr>
          <a:xfrm>
            <a:off x="5074920" y="2011680"/>
            <a:ext cx="6537960" cy="2405969"/>
          </a:xfrm>
          <a:prstGeom prst="rect">
            <a:avLst/>
          </a:prstGeom>
          <a:noFill/>
          <a:ln w="12700">
            <a:solidFill>
              <a:srgbClr val="E8E9EE"/>
            </a:solidFill>
          </a:ln>
          <a:effectLst/>
        </p:spPr>
        <p:txBody>
          <a:bodyPr rtlCol="0" anchor="ctr"/>
          <a:lstStyle/>
          <a:p>
            <a:pPr algn="ctr"/>
          </a:p>
        </p:txBody>
      </p:sp>
      <p:sp>
        <p:nvSpPr>
          <p:cNvPr id="14" name="TextBox 13"/>
          <p:cNvSpPr txBox="1"/>
          <p:nvPr/>
        </p:nvSpPr>
        <p:spPr>
          <a:xfrm>
            <a:off x="5074920" y="4463369"/>
            <a:ext cx="653796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Officer view, same cases, filtered to what each desk owns; AI pre-checks flag issues, the decision stays human.</a:t>
            </a:r>
          </a:p>
        </p:txBody>
      </p:sp>
      <p:sp>
        <p:nvSpPr>
          <p:cNvPr id="15" name="Rounded Rectangle 14"/>
          <p:cNvSpPr/>
          <p:nvPr/>
        </p:nvSpPr>
        <p:spPr>
          <a:xfrm>
            <a:off x="566928" y="5349240"/>
            <a:ext cx="2157984" cy="420624"/>
          </a:xfrm>
          <a:prstGeom prst="roundRect">
            <a:avLst>
              <a:gd name="adj" fmla="val 50000"/>
            </a:avLst>
          </a:prstGeom>
          <a:solidFill>
            <a:srgbClr val="EFEDFF"/>
          </a:solidFill>
          <a:ln>
            <a:noFill/>
          </a:ln>
          <a:effectLst/>
        </p:spPr>
        <p:txBody>
          <a:bodyPr rtlCol="0" anchor="ctr"/>
          <a:lstStyle/>
          <a:p>
            <a:pPr algn="ctr"/>
          </a:p>
        </p:txBody>
      </p:sp>
      <p:sp>
        <p:nvSpPr>
          <p:cNvPr id="16" name="TextBox 15"/>
          <p:cNvSpPr txBox="1"/>
          <p:nvPr/>
        </p:nvSpPr>
        <p:spPr>
          <a:xfrm>
            <a:off x="585216" y="5349240"/>
            <a:ext cx="2121408" cy="420624"/>
          </a:xfrm>
          <a:prstGeom prst="rect">
            <a:avLst/>
          </a:prstGeom>
          <a:noFill/>
        </p:spPr>
        <p:txBody>
          <a:bodyPr wrap="square" lIns="0" rIns="0" tIns="0" bIns="0" anchor="ctr">
            <a:spAutoFit/>
          </a:bodyPr>
          <a:lstStyle/>
          <a:p>
            <a:pPr algn="ctr">
              <a:lnSpc>
                <a:spcPct val="100000"/>
              </a:lnSpc>
            </a:pPr>
            <a:r>
              <a:rPr sz="900" b="1" i="0">
                <a:solidFill>
                  <a:srgbClr val="4A35FF"/>
                </a:solidFill>
                <a:latin typeface="Montserrat"/>
              </a:rPr>
              <a:t>Family keeps WhatsApp</a:t>
            </a:r>
          </a:p>
        </p:txBody>
      </p:sp>
      <p:sp>
        <p:nvSpPr>
          <p:cNvPr id="17" name="Rounded Rectangle 16"/>
          <p:cNvSpPr/>
          <p:nvPr/>
        </p:nvSpPr>
        <p:spPr>
          <a:xfrm>
            <a:off x="2816352" y="5349240"/>
            <a:ext cx="2157984" cy="420624"/>
          </a:xfrm>
          <a:prstGeom prst="roundRect">
            <a:avLst>
              <a:gd name="adj" fmla="val 50000"/>
            </a:avLst>
          </a:prstGeom>
          <a:solidFill>
            <a:srgbClr val="EFEDFF"/>
          </a:solidFill>
          <a:ln>
            <a:noFill/>
          </a:ln>
          <a:effectLst/>
        </p:spPr>
        <p:txBody>
          <a:bodyPr rtlCol="0" anchor="ctr"/>
          <a:lstStyle/>
          <a:p>
            <a:pPr algn="ctr"/>
          </a:p>
        </p:txBody>
      </p:sp>
      <p:sp>
        <p:nvSpPr>
          <p:cNvPr id="18" name="TextBox 17"/>
          <p:cNvSpPr txBox="1"/>
          <p:nvPr/>
        </p:nvSpPr>
        <p:spPr>
          <a:xfrm>
            <a:off x="2834640" y="5349240"/>
            <a:ext cx="2121408" cy="420624"/>
          </a:xfrm>
          <a:prstGeom prst="rect">
            <a:avLst/>
          </a:prstGeom>
          <a:noFill/>
        </p:spPr>
        <p:txBody>
          <a:bodyPr wrap="square" lIns="0" rIns="0" tIns="0" bIns="0" anchor="ctr">
            <a:spAutoFit/>
          </a:bodyPr>
          <a:lstStyle/>
          <a:p>
            <a:pPr algn="ctr">
              <a:lnSpc>
                <a:spcPct val="100000"/>
              </a:lnSpc>
            </a:pPr>
            <a:r>
              <a:rPr sz="900" b="1" i="0">
                <a:solidFill>
                  <a:srgbClr val="4A35FF"/>
                </a:solidFill>
                <a:latin typeface="Montserrat"/>
              </a:rPr>
              <a:t>Officer keeps every decision</a:t>
            </a:r>
          </a:p>
        </p:txBody>
      </p:sp>
      <p:sp>
        <p:nvSpPr>
          <p:cNvPr id="19" name="Rounded Rectangle 18"/>
          <p:cNvSpPr/>
          <p:nvPr/>
        </p:nvSpPr>
        <p:spPr>
          <a:xfrm>
            <a:off x="5065776" y="5349240"/>
            <a:ext cx="2157984" cy="420624"/>
          </a:xfrm>
          <a:prstGeom prst="roundRect">
            <a:avLst>
              <a:gd name="adj" fmla="val 50000"/>
            </a:avLst>
          </a:prstGeom>
          <a:solidFill>
            <a:srgbClr val="EFEDFF"/>
          </a:solidFill>
          <a:ln>
            <a:noFill/>
          </a:ln>
          <a:effectLst/>
        </p:spPr>
        <p:txBody>
          <a:bodyPr rtlCol="0" anchor="ctr"/>
          <a:lstStyle/>
          <a:p>
            <a:pPr algn="ctr"/>
          </a:p>
        </p:txBody>
      </p:sp>
      <p:sp>
        <p:nvSpPr>
          <p:cNvPr id="20" name="TextBox 19"/>
          <p:cNvSpPr txBox="1"/>
          <p:nvPr/>
        </p:nvSpPr>
        <p:spPr>
          <a:xfrm>
            <a:off x="5084064" y="5349240"/>
            <a:ext cx="2121408" cy="420624"/>
          </a:xfrm>
          <a:prstGeom prst="rect">
            <a:avLst/>
          </a:prstGeom>
          <a:noFill/>
        </p:spPr>
        <p:txBody>
          <a:bodyPr wrap="square" lIns="0" rIns="0" tIns="0" bIns="0" anchor="ctr">
            <a:spAutoFit/>
          </a:bodyPr>
          <a:lstStyle/>
          <a:p>
            <a:pPr algn="ctr">
              <a:lnSpc>
                <a:spcPct val="100000"/>
              </a:lnSpc>
            </a:pPr>
            <a:r>
              <a:rPr sz="900" b="1" i="0">
                <a:solidFill>
                  <a:srgbClr val="4A35FF"/>
                </a:solidFill>
                <a:latin typeface="Montserrat"/>
              </a:rPr>
              <a:t>Traceability before automation</a:t>
            </a:r>
          </a:p>
        </p:txBody>
      </p:sp>
      <p:sp>
        <p:nvSpPr>
          <p:cNvPr id="21" name="Rounded Rectangle 20"/>
          <p:cNvSpPr/>
          <p:nvPr/>
        </p:nvSpPr>
        <p:spPr>
          <a:xfrm>
            <a:off x="7315200" y="5349240"/>
            <a:ext cx="2157984" cy="420624"/>
          </a:xfrm>
          <a:prstGeom prst="roundRect">
            <a:avLst>
              <a:gd name="adj" fmla="val 50000"/>
            </a:avLst>
          </a:prstGeom>
          <a:solidFill>
            <a:srgbClr val="EFEDFF"/>
          </a:solidFill>
          <a:ln>
            <a:noFill/>
          </a:ln>
          <a:effectLst/>
        </p:spPr>
        <p:txBody>
          <a:bodyPr rtlCol="0" anchor="ctr"/>
          <a:lstStyle/>
          <a:p>
            <a:pPr algn="ctr"/>
          </a:p>
        </p:txBody>
      </p:sp>
      <p:sp>
        <p:nvSpPr>
          <p:cNvPr id="22" name="TextBox 21"/>
          <p:cNvSpPr txBox="1"/>
          <p:nvPr/>
        </p:nvSpPr>
        <p:spPr>
          <a:xfrm>
            <a:off x="7333488" y="5349240"/>
            <a:ext cx="2121408" cy="420624"/>
          </a:xfrm>
          <a:prstGeom prst="rect">
            <a:avLst/>
          </a:prstGeom>
          <a:noFill/>
        </p:spPr>
        <p:txBody>
          <a:bodyPr wrap="square" lIns="0" rIns="0" tIns="0" bIns="0" anchor="ctr">
            <a:spAutoFit/>
          </a:bodyPr>
          <a:lstStyle/>
          <a:p>
            <a:pPr algn="ctr">
              <a:lnSpc>
                <a:spcPct val="100000"/>
              </a:lnSpc>
            </a:pPr>
            <a:r>
              <a:rPr sz="900" b="1" i="0">
                <a:solidFill>
                  <a:srgbClr val="4A35FF"/>
                </a:solidFill>
                <a:latin typeface="Montserrat"/>
              </a:rPr>
              <a:t>Single-pass clarification</a:t>
            </a:r>
          </a:p>
        </p:txBody>
      </p:sp>
      <p:sp>
        <p:nvSpPr>
          <p:cNvPr id="23" name="Rounded Rectangle 22"/>
          <p:cNvSpPr/>
          <p:nvPr/>
        </p:nvSpPr>
        <p:spPr>
          <a:xfrm>
            <a:off x="9564624" y="5349240"/>
            <a:ext cx="2157984" cy="420624"/>
          </a:xfrm>
          <a:prstGeom prst="roundRect">
            <a:avLst>
              <a:gd name="adj" fmla="val 50000"/>
            </a:avLst>
          </a:prstGeom>
          <a:solidFill>
            <a:srgbClr val="EFEDFF"/>
          </a:solidFill>
          <a:ln>
            <a:noFill/>
          </a:ln>
          <a:effectLst/>
        </p:spPr>
        <p:txBody>
          <a:bodyPr rtlCol="0" anchor="ctr"/>
          <a:lstStyle/>
          <a:p>
            <a:pPr algn="ctr"/>
          </a:p>
        </p:txBody>
      </p:sp>
      <p:sp>
        <p:nvSpPr>
          <p:cNvPr id="24" name="TextBox 23"/>
          <p:cNvSpPr txBox="1"/>
          <p:nvPr/>
        </p:nvSpPr>
        <p:spPr>
          <a:xfrm>
            <a:off x="9582912" y="5349240"/>
            <a:ext cx="2121408" cy="420624"/>
          </a:xfrm>
          <a:prstGeom prst="rect">
            <a:avLst/>
          </a:prstGeom>
          <a:noFill/>
        </p:spPr>
        <p:txBody>
          <a:bodyPr wrap="square" lIns="0" rIns="0" tIns="0" bIns="0" anchor="ctr">
            <a:spAutoFit/>
          </a:bodyPr>
          <a:lstStyle/>
          <a:p>
            <a:pPr algn="ctr">
              <a:lnSpc>
                <a:spcPct val="100000"/>
              </a:lnSpc>
            </a:pPr>
            <a:r>
              <a:rPr sz="900" b="1" i="0">
                <a:solidFill>
                  <a:srgbClr val="4A35FF"/>
                </a:solidFill>
                <a:latin typeface="Montserrat"/>
              </a:rPr>
              <a:t>Dashboards for administrators</a:t>
            </a:r>
          </a:p>
        </p:txBody>
      </p:sp>
      <p:cxnSp>
        <p:nvCxnSpPr>
          <p:cNvPr id="25" name="Connector 24"/>
          <p:cNvCxnSpPr/>
          <p:nvPr/>
        </p:nvCxnSpPr>
        <p:spPr>
          <a:xfrm>
            <a:off x="566928" y="6455664"/>
            <a:ext cx="11057839" cy="0"/>
          </a:xfrm>
          <a:prstGeom prst="line">
            <a:avLst/>
          </a:prstGeom>
          <a:ln w="9525">
            <a:solidFill>
              <a:srgbClr val="E8E9EE"/>
            </a:solidFill>
          </a:ln>
          <a:effectLst/>
        </p:spPr>
      </p:cxnSp>
      <p:sp>
        <p:nvSpPr>
          <p:cNvPr id="26" name="TextBox 25"/>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27" name="TextBox 26"/>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21 / 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THE FIRST HOUR</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The Pre-Hospital Care Primer, </a:t>
            </a:r>
            <a:r>
              <a:rPr sz="2250" b="1" i="0">
                <a:solidFill>
                  <a:srgbClr val="4A35FF"/>
                </a:solidFill>
                <a:latin typeface="Montserrat"/>
              </a:rPr>
              <a:t>our EMS evidence line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Published September 2025. Contributors include Dr. Sushma Sagar (AIIMS JPN Apex Trauma Centre) and Dr. Richa Ahuja (IIT Kharagpur).</a:t>
            </a:r>
          </a:p>
        </p:txBody>
      </p:sp>
      <p:pic>
        <p:nvPicPr>
          <p:cNvPr id="8" name="Picture 7" descr="primer_cover-01.jpg"/>
          <p:cNvPicPr>
            <a:picLocks noChangeAspect="1"/>
          </p:cNvPicPr>
          <p:nvPr/>
        </p:nvPicPr>
        <p:blipFill>
          <a:blip r:embed="rId2"/>
          <a:stretch>
            <a:fillRect/>
          </a:stretch>
        </p:blipFill>
        <p:spPr>
          <a:xfrm>
            <a:off x="566928" y="1965960"/>
            <a:ext cx="2263530" cy="3200400"/>
          </a:xfrm>
          <a:prstGeom prst="rect">
            <a:avLst/>
          </a:prstGeom>
        </p:spPr>
      </p:pic>
      <p:sp>
        <p:nvSpPr>
          <p:cNvPr id="9" name="Rectangle 8"/>
          <p:cNvSpPr/>
          <p:nvPr/>
        </p:nvSpPr>
        <p:spPr>
          <a:xfrm>
            <a:off x="566928" y="1965960"/>
            <a:ext cx="2263530" cy="3200400"/>
          </a:xfrm>
          <a:prstGeom prst="rect">
            <a:avLst/>
          </a:prstGeom>
          <a:noFill/>
          <a:ln w="12700">
            <a:solidFill>
              <a:srgbClr val="E8E9EE"/>
            </a:solidFill>
          </a:ln>
          <a:effectLst/>
        </p:spPr>
        <p:txBody>
          <a:bodyPr rtlCol="0" anchor="ctr"/>
          <a:lstStyle/>
          <a:p>
            <a:pPr algn="ctr"/>
          </a:p>
        </p:txBody>
      </p:sp>
      <p:sp>
        <p:nvSpPr>
          <p:cNvPr id="10" name="TextBox 9"/>
          <p:cNvSpPr txBox="1"/>
          <p:nvPr/>
        </p:nvSpPr>
        <p:spPr>
          <a:xfrm>
            <a:off x="566928" y="5212080"/>
            <a:ext cx="226353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The Primer, ERSS-112, global</a:t>
            </a:r>
          </a:p>
          <a:p>
            <a:pPr algn="l">
              <a:lnSpc>
                <a:spcPct val="112000"/>
              </a:lnSpc>
            </a:pPr>
            <a:r>
              <a:rPr sz="850" b="0" i="0">
                <a:solidFill>
                  <a:srgbClr val="6E7180"/>
                </a:solidFill>
                <a:latin typeface="Geist"/>
              </a:rPr>
              <a:t>comparisons, state innovations.</a:t>
            </a:r>
          </a:p>
        </p:txBody>
      </p:sp>
      <p:pic>
        <p:nvPicPr>
          <p:cNvPr id="11" name="Picture 10" descr="primer_chain-07.jpg"/>
          <p:cNvPicPr>
            <a:picLocks noChangeAspect="1"/>
          </p:cNvPicPr>
          <p:nvPr/>
        </p:nvPicPr>
        <p:blipFill>
          <a:blip r:embed="rId3"/>
          <a:stretch>
            <a:fillRect/>
          </a:stretch>
        </p:blipFill>
        <p:spPr>
          <a:xfrm>
            <a:off x="3108960" y="1965960"/>
            <a:ext cx="2263530" cy="3200400"/>
          </a:xfrm>
          <a:prstGeom prst="rect">
            <a:avLst/>
          </a:prstGeom>
        </p:spPr>
      </p:pic>
      <p:sp>
        <p:nvSpPr>
          <p:cNvPr id="12" name="Rectangle 11"/>
          <p:cNvSpPr/>
          <p:nvPr/>
        </p:nvSpPr>
        <p:spPr>
          <a:xfrm>
            <a:off x="3108960" y="1965960"/>
            <a:ext cx="2263530" cy="3200400"/>
          </a:xfrm>
          <a:prstGeom prst="rect">
            <a:avLst/>
          </a:prstGeom>
          <a:noFill/>
          <a:ln w="12700">
            <a:solidFill>
              <a:srgbClr val="E8E9EE"/>
            </a:solidFill>
          </a:ln>
          <a:effectLst/>
        </p:spPr>
        <p:txBody>
          <a:bodyPr rtlCol="0" anchor="ctr"/>
          <a:lstStyle/>
          <a:p>
            <a:pPr algn="ctr"/>
          </a:p>
        </p:txBody>
      </p:sp>
      <p:sp>
        <p:nvSpPr>
          <p:cNvPr id="13" name="TextBox 12"/>
          <p:cNvSpPr txBox="1"/>
          <p:nvPr/>
        </p:nvSpPr>
        <p:spPr>
          <a:xfrm>
            <a:off x="3108960" y="5212080"/>
            <a:ext cx="2263530" cy="274320"/>
          </a:xfrm>
          <a:prstGeom prst="rect">
            <a:avLst/>
          </a:prstGeom>
          <a:noFill/>
        </p:spPr>
        <p:txBody>
          <a:bodyPr wrap="square" lIns="0" rIns="0" tIns="0" bIns="0" anchor="t">
            <a:spAutoFit/>
          </a:bodyPr>
          <a:lstStyle/>
          <a:p>
            <a:pPr algn="l">
              <a:lnSpc>
                <a:spcPct val="112000"/>
              </a:lnSpc>
            </a:pPr>
            <a:r>
              <a:rPr sz="850" b="0" i="0">
                <a:solidFill>
                  <a:srgbClr val="6E7180"/>
                </a:solidFill>
                <a:latin typeface="Geist"/>
              </a:rPr>
              <a:t>The Chain of Survival, six links,</a:t>
            </a:r>
          </a:p>
          <a:p>
            <a:pPr algn="l">
              <a:lnSpc>
                <a:spcPct val="112000"/>
              </a:lnSpc>
            </a:pPr>
            <a:r>
              <a:rPr sz="850" b="0" i="0">
                <a:solidFill>
                  <a:srgbClr val="6E7180"/>
                </a:solidFill>
                <a:latin typeface="Geist"/>
              </a:rPr>
              <a:t>benchmarked for India.</a:t>
            </a:r>
          </a:p>
        </p:txBody>
      </p:sp>
      <p:sp>
        <p:nvSpPr>
          <p:cNvPr id="14" name="Oval 13"/>
          <p:cNvSpPr/>
          <p:nvPr/>
        </p:nvSpPr>
        <p:spPr>
          <a:xfrm>
            <a:off x="6035040" y="1965960"/>
            <a:ext cx="384048" cy="384048"/>
          </a:xfrm>
          <a:prstGeom prst="ellipse">
            <a:avLst/>
          </a:prstGeom>
          <a:solidFill>
            <a:srgbClr val="E7F4F4"/>
          </a:solidFill>
          <a:ln>
            <a:noFill/>
          </a:ln>
          <a:effectLst/>
        </p:spPr>
        <p:txBody>
          <a:bodyPr rtlCol="0" anchor="ctr"/>
          <a:lstStyle/>
          <a:p>
            <a:pPr algn="ctr"/>
          </a:p>
        </p:txBody>
      </p:sp>
      <p:pic>
        <p:nvPicPr>
          <p:cNvPr id="15" name="Picture 14" descr="timer_0E8A8A_256_2.0.png"/>
          <p:cNvPicPr>
            <a:picLocks noChangeAspect="1"/>
          </p:cNvPicPr>
          <p:nvPr/>
        </p:nvPicPr>
        <p:blipFill>
          <a:blip r:embed="rId4"/>
          <a:stretch>
            <a:fillRect/>
          </a:stretch>
        </p:blipFill>
        <p:spPr>
          <a:xfrm>
            <a:off x="6127211" y="2058131"/>
            <a:ext cx="199704" cy="199704"/>
          </a:xfrm>
          <a:prstGeom prst="rect">
            <a:avLst/>
          </a:prstGeom>
        </p:spPr>
      </p:pic>
      <p:sp>
        <p:nvSpPr>
          <p:cNvPr id="16" name="TextBox 15"/>
          <p:cNvSpPr txBox="1"/>
          <p:nvPr/>
        </p:nvSpPr>
        <p:spPr>
          <a:xfrm>
            <a:off x="6565392" y="1938528"/>
            <a:ext cx="192024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The response gap, measured</a:t>
            </a:r>
          </a:p>
        </p:txBody>
      </p:sp>
      <p:sp>
        <p:nvSpPr>
          <p:cNvPr id="17" name="TextBox 16"/>
          <p:cNvSpPr txBox="1"/>
          <p:nvPr/>
        </p:nvSpPr>
        <p:spPr>
          <a:xfrm>
            <a:off x="8549640" y="1938528"/>
            <a:ext cx="3063240"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ERSS-112 is live across all 36 states &amp; UTs, yet ambulance arrival averages 25–35 minutes, and the full care episode runs 55–75 minutes against a 60-minute golden hour.</a:t>
            </a:r>
          </a:p>
        </p:txBody>
      </p:sp>
      <p:sp>
        <p:nvSpPr>
          <p:cNvPr id="18" name="Oval 17"/>
          <p:cNvSpPr/>
          <p:nvPr/>
        </p:nvSpPr>
        <p:spPr>
          <a:xfrm>
            <a:off x="6035040" y="2999231"/>
            <a:ext cx="384048" cy="384048"/>
          </a:xfrm>
          <a:prstGeom prst="ellipse">
            <a:avLst/>
          </a:prstGeom>
          <a:solidFill>
            <a:srgbClr val="EFEDFF"/>
          </a:solidFill>
          <a:ln>
            <a:noFill/>
          </a:ln>
          <a:effectLst/>
        </p:spPr>
        <p:txBody>
          <a:bodyPr rtlCol="0" anchor="ctr"/>
          <a:lstStyle/>
          <a:p>
            <a:pPr algn="ctr"/>
          </a:p>
        </p:txBody>
      </p:sp>
      <p:pic>
        <p:nvPicPr>
          <p:cNvPr id="19" name="Picture 18" descr="map_4A35FF_256_2.0.png"/>
          <p:cNvPicPr>
            <a:picLocks noChangeAspect="1"/>
          </p:cNvPicPr>
          <p:nvPr/>
        </p:nvPicPr>
        <p:blipFill>
          <a:blip r:embed="rId5"/>
          <a:stretch>
            <a:fillRect/>
          </a:stretch>
        </p:blipFill>
        <p:spPr>
          <a:xfrm>
            <a:off x="6127211" y="3091402"/>
            <a:ext cx="199704" cy="199704"/>
          </a:xfrm>
          <a:prstGeom prst="rect">
            <a:avLst/>
          </a:prstGeom>
        </p:spPr>
      </p:pic>
      <p:sp>
        <p:nvSpPr>
          <p:cNvPr id="20" name="TextBox 19"/>
          <p:cNvSpPr txBox="1"/>
          <p:nvPr/>
        </p:nvSpPr>
        <p:spPr>
          <a:xfrm>
            <a:off x="6565392" y="2971799"/>
            <a:ext cx="192024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State innovations documented</a:t>
            </a:r>
          </a:p>
        </p:txBody>
      </p:sp>
      <p:sp>
        <p:nvSpPr>
          <p:cNvPr id="21" name="TextBox 20"/>
          <p:cNvSpPr txBox="1"/>
          <p:nvPr/>
        </p:nvSpPr>
        <p:spPr>
          <a:xfrm>
            <a:off x="8549640" y="2971799"/>
            <a:ext cx="3063240"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Maharashtra's MEMS, 937 ambulances under centralised dispatch; Tamil Nadu's TAEI trauma corridors, pre-arrival alerts and protocols.</a:t>
            </a:r>
          </a:p>
        </p:txBody>
      </p:sp>
      <p:sp>
        <p:nvSpPr>
          <p:cNvPr id="22" name="Oval 21"/>
          <p:cNvSpPr/>
          <p:nvPr/>
        </p:nvSpPr>
        <p:spPr>
          <a:xfrm>
            <a:off x="6035040" y="4032502"/>
            <a:ext cx="384048" cy="384048"/>
          </a:xfrm>
          <a:prstGeom prst="ellipse">
            <a:avLst/>
          </a:prstGeom>
          <a:solidFill>
            <a:srgbClr val="E9F7F0"/>
          </a:solidFill>
          <a:ln>
            <a:noFill/>
          </a:ln>
          <a:effectLst/>
        </p:spPr>
        <p:txBody>
          <a:bodyPr rtlCol="0" anchor="ctr"/>
          <a:lstStyle/>
          <a:p>
            <a:pPr algn="ctr"/>
          </a:p>
        </p:txBody>
      </p:sp>
      <p:pic>
        <p:nvPicPr>
          <p:cNvPr id="23" name="Picture 22" descr="heart-handshake_0A9955_256_2.0.png"/>
          <p:cNvPicPr>
            <a:picLocks noChangeAspect="1"/>
          </p:cNvPicPr>
          <p:nvPr/>
        </p:nvPicPr>
        <p:blipFill>
          <a:blip r:embed="rId6"/>
          <a:stretch>
            <a:fillRect/>
          </a:stretch>
        </p:blipFill>
        <p:spPr>
          <a:xfrm>
            <a:off x="6127211" y="4124673"/>
            <a:ext cx="199704" cy="199704"/>
          </a:xfrm>
          <a:prstGeom prst="rect">
            <a:avLst/>
          </a:prstGeom>
        </p:spPr>
      </p:pic>
      <p:sp>
        <p:nvSpPr>
          <p:cNvPr id="24" name="TextBox 23"/>
          <p:cNvSpPr txBox="1"/>
          <p:nvPr/>
        </p:nvSpPr>
        <p:spPr>
          <a:xfrm>
            <a:off x="6565392" y="4005070"/>
            <a:ext cx="192024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The demand side too</a:t>
            </a:r>
          </a:p>
        </p:txBody>
      </p:sp>
      <p:sp>
        <p:nvSpPr>
          <p:cNvPr id="25" name="TextBox 24"/>
          <p:cNvSpPr txBox="1"/>
          <p:nvPr/>
        </p:nvSpPr>
        <p:spPr>
          <a:xfrm>
            <a:off x="8549640" y="4005070"/>
            <a:ext cx="3063240"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Good Samaritan protections and the ₹1.5 lakh / 7-day Cashless Treatment Scheme 2025, explained in our public guides and helpdesks.</a:t>
            </a:r>
          </a:p>
        </p:txBody>
      </p:sp>
      <p:sp>
        <p:nvSpPr>
          <p:cNvPr id="26" name="Oval 25"/>
          <p:cNvSpPr/>
          <p:nvPr/>
        </p:nvSpPr>
        <p:spPr>
          <a:xfrm>
            <a:off x="6035040" y="5065773"/>
            <a:ext cx="384048" cy="384048"/>
          </a:xfrm>
          <a:prstGeom prst="ellipse">
            <a:avLst/>
          </a:prstGeom>
          <a:solidFill>
            <a:srgbClr val="FDF3E3"/>
          </a:solidFill>
          <a:ln>
            <a:noFill/>
          </a:ln>
          <a:effectLst/>
        </p:spPr>
        <p:txBody>
          <a:bodyPr rtlCol="0" anchor="ctr"/>
          <a:lstStyle/>
          <a:p>
            <a:pPr algn="ctr"/>
          </a:p>
        </p:txBody>
      </p:sp>
      <p:pic>
        <p:nvPicPr>
          <p:cNvPr id="27" name="Picture 26" descr="stethoscope_E58900_256_2.0.png"/>
          <p:cNvPicPr>
            <a:picLocks noChangeAspect="1"/>
          </p:cNvPicPr>
          <p:nvPr/>
        </p:nvPicPr>
        <p:blipFill>
          <a:blip r:embed="rId7"/>
          <a:stretch>
            <a:fillRect/>
          </a:stretch>
        </p:blipFill>
        <p:spPr>
          <a:xfrm>
            <a:off x="6127211" y="5157944"/>
            <a:ext cx="199704" cy="199704"/>
          </a:xfrm>
          <a:prstGeom prst="rect">
            <a:avLst/>
          </a:prstGeom>
        </p:spPr>
      </p:pic>
      <p:sp>
        <p:nvSpPr>
          <p:cNvPr id="28" name="TextBox 27"/>
          <p:cNvSpPr txBox="1"/>
          <p:nvPr/>
        </p:nvSpPr>
        <p:spPr>
          <a:xfrm>
            <a:off x="6565392" y="5038341"/>
            <a:ext cx="192024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Ready for WG-5</a:t>
            </a:r>
          </a:p>
        </p:txBody>
      </p:sp>
      <p:sp>
        <p:nvSpPr>
          <p:cNvPr id="29" name="TextBox 28"/>
          <p:cNvSpPr txBox="1"/>
          <p:nvPr/>
        </p:nvSpPr>
        <p:spPr>
          <a:xfrm>
            <a:off x="8549640" y="5038341"/>
            <a:ext cx="3063240"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A referenced baseline for the Group's EMS and trauma-care standards discussions, states already compared, gaps already mapped.</a:t>
            </a:r>
          </a:p>
        </p:txBody>
      </p:sp>
      <p:sp>
        <p:nvSpPr>
          <p:cNvPr id="30" name="TextBox 29"/>
          <p:cNvSpPr txBox="1"/>
          <p:nvPr/>
        </p:nvSpPr>
        <p:spPr>
          <a:xfrm>
            <a:off x="566928" y="5532120"/>
            <a:ext cx="5486400" cy="548640"/>
          </a:xfrm>
          <a:prstGeom prst="rect">
            <a:avLst/>
          </a:prstGeom>
          <a:noFill/>
        </p:spPr>
        <p:txBody>
          <a:bodyPr wrap="square" lIns="0" rIns="0" tIns="0" bIns="0" anchor="t">
            <a:spAutoFit/>
          </a:bodyPr>
          <a:lstStyle/>
          <a:p>
            <a:pPr algn="l">
              <a:lnSpc>
                <a:spcPct val="130000"/>
              </a:lnSpc>
            </a:pPr>
            <a:r>
              <a:rPr sz="1000" b="1" i="0">
                <a:solidFill>
                  <a:srgbClr val="16181D"/>
                </a:solidFill>
                <a:latin typeface="Geist"/>
              </a:rPr>
              <a:t>Covered by Hindustan Times: </a:t>
            </a:r>
            <a:r>
              <a:rPr sz="1000" b="0" i="1">
                <a:solidFill>
                  <a:srgbClr val="6E7180"/>
                </a:solidFill>
                <a:latin typeface="Geist"/>
              </a:rPr>
              <a:t>'India's Road Safety Primer Flags Gaps in Pre-Hospital Emergency Care.'</a:t>
            </a:r>
          </a:p>
        </p:txBody>
      </p:sp>
      <p:cxnSp>
        <p:nvCxnSpPr>
          <p:cNvPr id="31" name="Connector 30"/>
          <p:cNvCxnSpPr/>
          <p:nvPr/>
        </p:nvCxnSpPr>
        <p:spPr>
          <a:xfrm>
            <a:off x="566928" y="6455664"/>
            <a:ext cx="11057839" cy="0"/>
          </a:xfrm>
          <a:prstGeom prst="line">
            <a:avLst/>
          </a:prstGeom>
          <a:ln w="9525">
            <a:solidFill>
              <a:srgbClr val="E8E9EE"/>
            </a:solidFill>
          </a:ln>
          <a:effectLst/>
        </p:spPr>
      </p:cxnSp>
      <p:sp>
        <p:nvSpPr>
          <p:cNvPr id="32" name="TextBox 31"/>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3" name="TextBox 32"/>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22 / 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IN THE WARDS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Helpdesks where families actually are: </a:t>
            </a:r>
            <a:r>
              <a:rPr sz="2250" b="1" i="0">
                <a:solidFill>
                  <a:srgbClr val="4A35FF"/>
                </a:solidFill>
                <a:latin typeface="Montserrat"/>
              </a:rPr>
              <a:t>trauma wards</a:t>
            </a:r>
          </a:p>
        </p:txBody>
      </p:sp>
      <p:pic>
        <p:nvPicPr>
          <p:cNvPr id="7" name="Picture 6" descr="ph_helpdesk_desk.jpg_4.30x2.60_0.40.jpg"/>
          <p:cNvPicPr>
            <a:picLocks noChangeAspect="1"/>
          </p:cNvPicPr>
          <p:nvPr/>
        </p:nvPicPr>
        <p:blipFill>
          <a:blip r:embed="rId2"/>
          <a:stretch>
            <a:fillRect/>
          </a:stretch>
        </p:blipFill>
        <p:spPr>
          <a:xfrm>
            <a:off x="566928" y="1874519"/>
            <a:ext cx="3931920" cy="2377440"/>
          </a:xfrm>
          <a:prstGeom prst="rect">
            <a:avLst/>
          </a:prstGeom>
        </p:spPr>
      </p:pic>
      <p:sp>
        <p:nvSpPr>
          <p:cNvPr id="8" name="Rectangle 7"/>
          <p:cNvSpPr/>
          <p:nvPr/>
        </p:nvSpPr>
        <p:spPr>
          <a:xfrm>
            <a:off x="566928" y="1874519"/>
            <a:ext cx="3931920" cy="2377440"/>
          </a:xfrm>
          <a:prstGeom prst="rect">
            <a:avLst/>
          </a:prstGeom>
          <a:noFill/>
          <a:ln w="12700">
            <a:solidFill>
              <a:srgbClr val="E8E9EE"/>
            </a:solidFill>
          </a:ln>
          <a:effectLst/>
        </p:spPr>
        <p:txBody>
          <a:bodyPr rtlCol="0" anchor="ctr"/>
          <a:lstStyle/>
          <a:p>
            <a:pPr algn="ctr"/>
          </a:p>
        </p:txBody>
      </p:sp>
      <p:sp>
        <p:nvSpPr>
          <p:cNvPr id="9" name="TextBox 8"/>
          <p:cNvSpPr txBox="1"/>
          <p:nvPr/>
        </p:nvSpPr>
        <p:spPr>
          <a:xfrm>
            <a:off x="566928" y="4297679"/>
            <a:ext cx="3931920" cy="228600"/>
          </a:xfrm>
          <a:prstGeom prst="rect">
            <a:avLst/>
          </a:prstGeom>
          <a:noFill/>
        </p:spPr>
        <p:txBody>
          <a:bodyPr wrap="square" lIns="0" rIns="0" tIns="0" bIns="0" anchor="t">
            <a:spAutoFit/>
          </a:bodyPr>
          <a:lstStyle/>
          <a:p>
            <a:pPr algn="l">
              <a:lnSpc>
                <a:spcPct val="110000"/>
              </a:lnSpc>
            </a:pPr>
            <a:r>
              <a:rPr sz="850" b="0" i="0">
                <a:solidFill>
                  <a:srgbClr val="6E7180"/>
                </a:solidFill>
                <a:latin typeface="Geist"/>
              </a:rPr>
              <a:t>Hospital legal helpdesk, 100+ victims supported in the first four days of operation.</a:t>
            </a:r>
          </a:p>
        </p:txBody>
      </p:sp>
      <p:pic>
        <p:nvPicPr>
          <p:cNvPr id="10" name="Picture 9" descr="ph_stall.jpg_4.30x1.45_0.45.jpg"/>
          <p:cNvPicPr>
            <a:picLocks noChangeAspect="1"/>
          </p:cNvPicPr>
          <p:nvPr/>
        </p:nvPicPr>
        <p:blipFill>
          <a:blip r:embed="rId3"/>
          <a:stretch>
            <a:fillRect/>
          </a:stretch>
        </p:blipFill>
        <p:spPr>
          <a:xfrm>
            <a:off x="566928" y="4709160"/>
            <a:ext cx="3931920" cy="1325880"/>
          </a:xfrm>
          <a:prstGeom prst="rect">
            <a:avLst/>
          </a:prstGeom>
        </p:spPr>
      </p:pic>
      <p:sp>
        <p:nvSpPr>
          <p:cNvPr id="11" name="Rectangle 10"/>
          <p:cNvSpPr/>
          <p:nvPr/>
        </p:nvSpPr>
        <p:spPr>
          <a:xfrm>
            <a:off x="566928" y="4709160"/>
            <a:ext cx="3931920" cy="1325880"/>
          </a:xfrm>
          <a:prstGeom prst="rect">
            <a:avLst/>
          </a:prstGeom>
          <a:noFill/>
          <a:ln w="12700">
            <a:solidFill>
              <a:srgbClr val="E8E9EE"/>
            </a:solidFill>
          </a:ln>
          <a:effectLst/>
        </p:spPr>
        <p:txBody>
          <a:bodyPr rtlCol="0" anchor="ctr"/>
          <a:lstStyle/>
          <a:p>
            <a:pPr algn="ctr"/>
          </a:p>
        </p:txBody>
      </p:sp>
      <p:sp>
        <p:nvSpPr>
          <p:cNvPr id="12" name="Oval 11"/>
          <p:cNvSpPr/>
          <p:nvPr/>
        </p:nvSpPr>
        <p:spPr>
          <a:xfrm>
            <a:off x="4892040" y="1874519"/>
            <a:ext cx="384048" cy="384048"/>
          </a:xfrm>
          <a:prstGeom prst="ellipse">
            <a:avLst/>
          </a:prstGeom>
          <a:solidFill>
            <a:srgbClr val="E9F7F0"/>
          </a:solidFill>
          <a:ln>
            <a:noFill/>
          </a:ln>
          <a:effectLst/>
        </p:spPr>
        <p:txBody>
          <a:bodyPr rtlCol="0" anchor="ctr"/>
          <a:lstStyle/>
          <a:p>
            <a:pPr algn="ctr"/>
          </a:p>
        </p:txBody>
      </p:sp>
      <p:pic>
        <p:nvPicPr>
          <p:cNvPr id="13" name="Picture 12" descr="life-buoy_0A9955_256_2.0.png"/>
          <p:cNvPicPr>
            <a:picLocks noChangeAspect="1"/>
          </p:cNvPicPr>
          <p:nvPr/>
        </p:nvPicPr>
        <p:blipFill>
          <a:blip r:embed="rId4"/>
          <a:stretch>
            <a:fillRect/>
          </a:stretch>
        </p:blipFill>
        <p:spPr>
          <a:xfrm>
            <a:off x="4984211" y="1966690"/>
            <a:ext cx="199704" cy="199704"/>
          </a:xfrm>
          <a:prstGeom prst="rect">
            <a:avLst/>
          </a:prstGeom>
        </p:spPr>
      </p:pic>
      <p:sp>
        <p:nvSpPr>
          <p:cNvPr id="14" name="TextBox 13"/>
          <p:cNvSpPr txBox="1"/>
          <p:nvPr/>
        </p:nvSpPr>
        <p:spPr>
          <a:xfrm>
            <a:off x="5422392" y="1847087"/>
            <a:ext cx="201168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What the desk does</a:t>
            </a:r>
          </a:p>
        </p:txBody>
      </p:sp>
      <p:sp>
        <p:nvSpPr>
          <p:cNvPr id="15" name="TextBox 14"/>
          <p:cNvSpPr txBox="1"/>
          <p:nvPr/>
        </p:nvSpPr>
        <p:spPr>
          <a:xfrm>
            <a:off x="7498080" y="1847087"/>
            <a:ext cx="4069080"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FIR follow-up, document checklists, DLSA referrals and compensation guidance, at the bedside, in Hindi.</a:t>
            </a:r>
          </a:p>
        </p:txBody>
      </p:sp>
      <p:sp>
        <p:nvSpPr>
          <p:cNvPr id="16" name="Oval 15"/>
          <p:cNvSpPr/>
          <p:nvPr/>
        </p:nvSpPr>
        <p:spPr>
          <a:xfrm>
            <a:off x="4892040" y="2907790"/>
            <a:ext cx="384048" cy="384048"/>
          </a:xfrm>
          <a:prstGeom prst="ellipse">
            <a:avLst/>
          </a:prstGeom>
          <a:solidFill>
            <a:srgbClr val="EFEDFF"/>
          </a:solidFill>
          <a:ln>
            <a:noFill/>
          </a:ln>
          <a:effectLst/>
        </p:spPr>
        <p:txBody>
          <a:bodyPr rtlCol="0" anchor="ctr"/>
          <a:lstStyle/>
          <a:p>
            <a:pPr algn="ctr"/>
          </a:p>
        </p:txBody>
      </p:sp>
      <p:pic>
        <p:nvPicPr>
          <p:cNvPr id="17" name="Picture 16" descr="users_4A35FF_256_2.0.png"/>
          <p:cNvPicPr>
            <a:picLocks noChangeAspect="1"/>
          </p:cNvPicPr>
          <p:nvPr/>
        </p:nvPicPr>
        <p:blipFill>
          <a:blip r:embed="rId5"/>
          <a:stretch>
            <a:fillRect/>
          </a:stretch>
        </p:blipFill>
        <p:spPr>
          <a:xfrm>
            <a:off x="4984211" y="2999961"/>
            <a:ext cx="199704" cy="199704"/>
          </a:xfrm>
          <a:prstGeom prst="rect">
            <a:avLst/>
          </a:prstGeom>
        </p:spPr>
      </p:pic>
      <p:sp>
        <p:nvSpPr>
          <p:cNvPr id="18" name="TextBox 17"/>
          <p:cNvSpPr txBox="1"/>
          <p:nvPr/>
        </p:nvSpPr>
        <p:spPr>
          <a:xfrm>
            <a:off x="5422392" y="2880358"/>
            <a:ext cx="201168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Who runs it</a:t>
            </a:r>
          </a:p>
        </p:txBody>
      </p:sp>
      <p:sp>
        <p:nvSpPr>
          <p:cNvPr id="19" name="TextBox 18"/>
          <p:cNvSpPr txBox="1"/>
          <p:nvPr/>
        </p:nvSpPr>
        <p:spPr>
          <a:xfrm>
            <a:off x="7498080" y="2880358"/>
            <a:ext cx="4069080"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Trained law-student volunteers under practising advocates, with Neev Foundation and DLSA coordination.</a:t>
            </a:r>
          </a:p>
        </p:txBody>
      </p:sp>
      <p:sp>
        <p:nvSpPr>
          <p:cNvPr id="20" name="Oval 19"/>
          <p:cNvSpPr/>
          <p:nvPr/>
        </p:nvSpPr>
        <p:spPr>
          <a:xfrm>
            <a:off x="4892040" y="3941061"/>
            <a:ext cx="384048" cy="384048"/>
          </a:xfrm>
          <a:prstGeom prst="ellipse">
            <a:avLst/>
          </a:prstGeom>
          <a:solidFill>
            <a:srgbClr val="E7F4F4"/>
          </a:solidFill>
          <a:ln>
            <a:noFill/>
          </a:ln>
          <a:effectLst/>
        </p:spPr>
        <p:txBody>
          <a:bodyPr rtlCol="0" anchor="ctr"/>
          <a:lstStyle/>
          <a:p>
            <a:pPr algn="ctr"/>
          </a:p>
        </p:txBody>
      </p:sp>
      <p:pic>
        <p:nvPicPr>
          <p:cNvPr id="21" name="Picture 20" descr="map-pin_0E8A8A_256_2.0.png"/>
          <p:cNvPicPr>
            <a:picLocks noChangeAspect="1"/>
          </p:cNvPicPr>
          <p:nvPr/>
        </p:nvPicPr>
        <p:blipFill>
          <a:blip r:embed="rId6"/>
          <a:stretch>
            <a:fillRect/>
          </a:stretch>
        </p:blipFill>
        <p:spPr>
          <a:xfrm>
            <a:off x="4984211" y="4033232"/>
            <a:ext cx="199704" cy="199704"/>
          </a:xfrm>
          <a:prstGeom prst="rect">
            <a:avLst/>
          </a:prstGeom>
        </p:spPr>
      </p:pic>
      <p:sp>
        <p:nvSpPr>
          <p:cNvPr id="22" name="TextBox 21"/>
          <p:cNvSpPr txBox="1"/>
          <p:nvPr/>
        </p:nvSpPr>
        <p:spPr>
          <a:xfrm>
            <a:off x="5422392" y="3913629"/>
            <a:ext cx="201168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Where it grows</a:t>
            </a:r>
          </a:p>
        </p:txBody>
      </p:sp>
      <p:sp>
        <p:nvSpPr>
          <p:cNvPr id="23" name="TextBox 22"/>
          <p:cNvSpPr txBox="1"/>
          <p:nvPr/>
        </p:nvSpPr>
        <p:spPr>
          <a:xfrm>
            <a:off x="7498080" y="3913629"/>
            <a:ext cx="4069080"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Gurugram and Delhi trauma wards first; the district toolkit makes it replicable wherever a DRSC wants one.</a:t>
            </a:r>
          </a:p>
        </p:txBody>
      </p:sp>
      <p:sp>
        <p:nvSpPr>
          <p:cNvPr id="24" name="Oval 23"/>
          <p:cNvSpPr/>
          <p:nvPr/>
        </p:nvSpPr>
        <p:spPr>
          <a:xfrm>
            <a:off x="4892040" y="4974332"/>
            <a:ext cx="384048" cy="384048"/>
          </a:xfrm>
          <a:prstGeom prst="ellipse">
            <a:avLst/>
          </a:prstGeom>
          <a:solidFill>
            <a:srgbClr val="FDF3E3"/>
          </a:solidFill>
          <a:ln>
            <a:noFill/>
          </a:ln>
          <a:effectLst/>
        </p:spPr>
        <p:txBody>
          <a:bodyPr rtlCol="0" anchor="ctr"/>
          <a:lstStyle/>
          <a:p>
            <a:pPr algn="ctr"/>
          </a:p>
        </p:txBody>
      </p:sp>
      <p:pic>
        <p:nvPicPr>
          <p:cNvPr id="25" name="Picture 24" descr="book-open_E58900_256_2.0.png"/>
          <p:cNvPicPr>
            <a:picLocks noChangeAspect="1"/>
          </p:cNvPicPr>
          <p:nvPr/>
        </p:nvPicPr>
        <p:blipFill>
          <a:blip r:embed="rId7"/>
          <a:stretch>
            <a:fillRect/>
          </a:stretch>
        </p:blipFill>
        <p:spPr>
          <a:xfrm>
            <a:off x="4984211" y="5066503"/>
            <a:ext cx="199704" cy="199704"/>
          </a:xfrm>
          <a:prstGeom prst="rect">
            <a:avLst/>
          </a:prstGeom>
        </p:spPr>
      </p:pic>
      <p:sp>
        <p:nvSpPr>
          <p:cNvPr id="26" name="TextBox 25"/>
          <p:cNvSpPr txBox="1"/>
          <p:nvPr/>
        </p:nvSpPr>
        <p:spPr>
          <a:xfrm>
            <a:off x="5422392" y="4946900"/>
            <a:ext cx="2011680" cy="548640"/>
          </a:xfrm>
          <a:prstGeom prst="rect">
            <a:avLst/>
          </a:prstGeom>
          <a:noFill/>
        </p:spPr>
        <p:txBody>
          <a:bodyPr wrap="square" lIns="0" rIns="0" tIns="0" bIns="0" anchor="t">
            <a:spAutoFit/>
          </a:bodyPr>
          <a:lstStyle/>
          <a:p>
            <a:pPr algn="l">
              <a:lnSpc>
                <a:spcPct val="108000"/>
              </a:lnSpc>
            </a:pPr>
            <a:r>
              <a:rPr sz="1050" b="1" i="0">
                <a:solidFill>
                  <a:srgbClr val="16181D"/>
                </a:solidFill>
                <a:latin typeface="Montserrat"/>
              </a:rPr>
              <a:t>Backed by materials</a:t>
            </a:r>
          </a:p>
        </p:txBody>
      </p:sp>
      <p:sp>
        <p:nvSpPr>
          <p:cNvPr id="27" name="TextBox 26"/>
          <p:cNvSpPr txBox="1"/>
          <p:nvPr/>
        </p:nvSpPr>
        <p:spPr>
          <a:xfrm>
            <a:off x="7498080" y="4946900"/>
            <a:ext cx="4069080" cy="960120"/>
          </a:xfrm>
          <a:prstGeom prst="rect">
            <a:avLst/>
          </a:prstGeom>
          <a:noFill/>
        </p:spPr>
        <p:txBody>
          <a:bodyPr wrap="square" lIns="0" rIns="0" tIns="0" bIns="0" anchor="t">
            <a:spAutoFit/>
          </a:bodyPr>
          <a:lstStyle/>
          <a:p>
            <a:pPr algn="l">
              <a:lnSpc>
                <a:spcPct val="120000"/>
              </a:lnSpc>
            </a:pPr>
            <a:r>
              <a:rPr sz="900" b="0" i="0">
                <a:solidFill>
                  <a:srgbClr val="6E7180"/>
                </a:solidFill>
                <a:latin typeface="Geist"/>
              </a:rPr>
              <a:t>The Hindi legal-rights guide and 'Meet Aasha' comics live at every desk, and Aasha continues the help at home, 24/7.</a:t>
            </a:r>
          </a:p>
        </p:txBody>
      </p:sp>
      <p:cxnSp>
        <p:nvCxnSpPr>
          <p:cNvPr id="28" name="Connector 27"/>
          <p:cNvCxnSpPr/>
          <p:nvPr/>
        </p:nvCxnSpPr>
        <p:spPr>
          <a:xfrm>
            <a:off x="566928" y="6455664"/>
            <a:ext cx="11057839" cy="0"/>
          </a:xfrm>
          <a:prstGeom prst="line">
            <a:avLst/>
          </a:prstGeom>
          <a:ln w="9525">
            <a:solidFill>
              <a:srgbClr val="E8E9EE"/>
            </a:solidFill>
          </a:ln>
          <a:effectLst/>
        </p:spPr>
      </p:cxnSp>
      <p:sp>
        <p:nvSpPr>
          <p:cNvPr id="29" name="TextBox 2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0" name="TextBox 2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23 / 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4 OF 5  ·  POST-CRASH CARE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POST-CRASH CARE, THE PIPELINE, MEASURED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Numbers a standard </a:t>
            </a:r>
            <a:r>
              <a:rPr sz="2250" b="1" i="0">
                <a:solidFill>
                  <a:srgbClr val="4A35FF"/>
                </a:solidFill>
                <a:latin typeface="Montserrat"/>
              </a:rPr>
              <a:t>can act on</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Each one is a lever for a WG-5 standard, toolkit entry or communication norm, none requires new legislation.</a:t>
            </a:r>
          </a:p>
        </p:txBody>
      </p:sp>
      <p:sp>
        <p:nvSpPr>
          <p:cNvPr id="8" name="Rounded Rectangle 7"/>
          <p:cNvSpPr/>
          <p:nvPr/>
        </p:nvSpPr>
        <p:spPr>
          <a:xfrm>
            <a:off x="566928" y="2148840"/>
            <a:ext cx="3611880" cy="1353312"/>
          </a:xfrm>
          <a:prstGeom prst="roundRect">
            <a:avLst>
              <a:gd name="adj" fmla="val 8000"/>
            </a:avLst>
          </a:prstGeom>
          <a:solidFill>
            <a:srgbClr val="F7F7FA"/>
          </a:solidFill>
          <a:ln>
            <a:noFill/>
          </a:ln>
          <a:effectLst/>
        </p:spPr>
        <p:txBody>
          <a:bodyPr rtlCol="0" anchor="ctr"/>
          <a:lstStyle/>
          <a:p>
            <a:pPr algn="ctr"/>
          </a:p>
        </p:txBody>
      </p:sp>
      <p:sp>
        <p:nvSpPr>
          <p:cNvPr id="9" name="TextBox 8"/>
          <p:cNvSpPr txBox="1"/>
          <p:nvPr/>
        </p:nvSpPr>
        <p:spPr>
          <a:xfrm>
            <a:off x="731520" y="2240280"/>
            <a:ext cx="3282696" cy="411480"/>
          </a:xfrm>
          <a:prstGeom prst="rect">
            <a:avLst/>
          </a:prstGeom>
          <a:noFill/>
        </p:spPr>
        <p:txBody>
          <a:bodyPr wrap="square" lIns="0" rIns="0" tIns="0" bIns="0" anchor="t">
            <a:spAutoFit/>
          </a:bodyPr>
          <a:lstStyle/>
          <a:p>
            <a:pPr algn="l">
              <a:lnSpc>
                <a:spcPct val="128000"/>
              </a:lnSpc>
            </a:pPr>
            <a:r>
              <a:rPr sz="1900" b="1" i="0">
                <a:solidFill>
                  <a:srgbClr val="4A35FF"/>
                </a:solidFill>
                <a:latin typeface="Montserrat"/>
              </a:rPr>
              <a:t>921 of 1,026</a:t>
            </a:r>
          </a:p>
        </p:txBody>
      </p:sp>
      <p:sp>
        <p:nvSpPr>
          <p:cNvPr id="10" name="TextBox 9"/>
          <p:cNvSpPr txBox="1"/>
          <p:nvPr/>
        </p:nvSpPr>
        <p:spPr>
          <a:xfrm>
            <a:off x="731520" y="2660904"/>
            <a:ext cx="3282696" cy="475488"/>
          </a:xfrm>
          <a:prstGeom prst="rect">
            <a:avLst/>
          </a:prstGeom>
          <a:noFill/>
        </p:spPr>
        <p:txBody>
          <a:bodyPr wrap="square" lIns="0" rIns="0" tIns="0" bIns="0" anchor="t">
            <a:spAutoFit/>
          </a:bodyPr>
          <a:lstStyle/>
          <a:p>
            <a:pPr algn="l">
              <a:lnSpc>
                <a:spcPct val="115000"/>
              </a:lnSpc>
            </a:pPr>
            <a:r>
              <a:rPr sz="850" b="0" i="0">
                <a:solidFill>
                  <a:srgbClr val="6E7180"/>
                </a:solidFill>
                <a:latin typeface="Geist"/>
              </a:rPr>
              <a:t>hit-and-run claims pending nationally were stalled at documentation alone (RTI, July 2024)</a:t>
            </a:r>
          </a:p>
        </p:txBody>
      </p:sp>
      <p:sp>
        <p:nvSpPr>
          <p:cNvPr id="11" name="TextBox 10"/>
          <p:cNvSpPr txBox="1"/>
          <p:nvPr/>
        </p:nvSpPr>
        <p:spPr>
          <a:xfrm>
            <a:off x="731520" y="3182111"/>
            <a:ext cx="3282696" cy="274320"/>
          </a:xfrm>
          <a:prstGeom prst="rect">
            <a:avLst/>
          </a:prstGeom>
          <a:noFill/>
        </p:spPr>
        <p:txBody>
          <a:bodyPr wrap="square" lIns="0" rIns="0" tIns="0" bIns="0" anchor="t">
            <a:spAutoFit/>
          </a:bodyPr>
          <a:lstStyle/>
          <a:p>
            <a:pPr algn="l">
              <a:lnSpc>
                <a:spcPct val="110000"/>
              </a:lnSpc>
            </a:pPr>
            <a:r>
              <a:rPr sz="800" b="1" i="0">
                <a:solidFill>
                  <a:srgbClr val="0A9955"/>
                </a:solidFill>
                <a:latin typeface="Geist"/>
              </a:rPr>
              <a:t>The standard: </a:t>
            </a:r>
            <a:r>
              <a:rPr sz="800" b="0" i="0">
                <a:solidFill>
                  <a:srgbClr val="0A9955"/>
                </a:solidFill>
                <a:latin typeface="Geist"/>
              </a:rPr>
              <a:t>A single national document checklist</a:t>
            </a:r>
          </a:p>
        </p:txBody>
      </p:sp>
      <p:sp>
        <p:nvSpPr>
          <p:cNvPr id="12" name="Rounded Rectangle 11"/>
          <p:cNvSpPr/>
          <p:nvPr/>
        </p:nvSpPr>
        <p:spPr>
          <a:xfrm>
            <a:off x="4288536" y="2148840"/>
            <a:ext cx="3611880" cy="1353312"/>
          </a:xfrm>
          <a:prstGeom prst="roundRect">
            <a:avLst>
              <a:gd name="adj" fmla="val 8000"/>
            </a:avLst>
          </a:prstGeom>
          <a:solidFill>
            <a:srgbClr val="F7F7FA"/>
          </a:solidFill>
          <a:ln>
            <a:noFill/>
          </a:ln>
          <a:effectLst/>
        </p:spPr>
        <p:txBody>
          <a:bodyPr rtlCol="0" anchor="ctr"/>
          <a:lstStyle/>
          <a:p>
            <a:pPr algn="ctr"/>
          </a:p>
        </p:txBody>
      </p:sp>
      <p:sp>
        <p:nvSpPr>
          <p:cNvPr id="13" name="TextBox 12"/>
          <p:cNvSpPr txBox="1"/>
          <p:nvPr/>
        </p:nvSpPr>
        <p:spPr>
          <a:xfrm>
            <a:off x="4453128" y="2240280"/>
            <a:ext cx="3282696" cy="411480"/>
          </a:xfrm>
          <a:prstGeom prst="rect">
            <a:avLst/>
          </a:prstGeom>
          <a:noFill/>
        </p:spPr>
        <p:txBody>
          <a:bodyPr wrap="square" lIns="0" rIns="0" tIns="0" bIns="0" anchor="t">
            <a:spAutoFit/>
          </a:bodyPr>
          <a:lstStyle/>
          <a:p>
            <a:pPr algn="l">
              <a:lnSpc>
                <a:spcPct val="128000"/>
              </a:lnSpc>
            </a:pPr>
            <a:r>
              <a:rPr sz="1900" b="1" i="0">
                <a:solidFill>
                  <a:srgbClr val="4A35FF"/>
                </a:solidFill>
                <a:latin typeface="Montserrat"/>
              </a:rPr>
              <a:t>11–13 vs 7</a:t>
            </a:r>
          </a:p>
        </p:txBody>
      </p:sp>
      <p:sp>
        <p:nvSpPr>
          <p:cNvPr id="14" name="TextBox 13"/>
          <p:cNvSpPr txBox="1"/>
          <p:nvPr/>
        </p:nvSpPr>
        <p:spPr>
          <a:xfrm>
            <a:off x="4453128" y="2660904"/>
            <a:ext cx="3282696" cy="475488"/>
          </a:xfrm>
          <a:prstGeom prst="rect">
            <a:avLst/>
          </a:prstGeom>
          <a:noFill/>
        </p:spPr>
        <p:txBody>
          <a:bodyPr wrap="square" lIns="0" rIns="0" tIns="0" bIns="0" anchor="t">
            <a:spAutoFit/>
          </a:bodyPr>
          <a:lstStyle/>
          <a:p>
            <a:pPr algn="l">
              <a:lnSpc>
                <a:spcPct val="115000"/>
              </a:lnSpc>
            </a:pPr>
            <a:r>
              <a:rPr sz="850" b="0" i="0">
                <a:solidFill>
                  <a:srgbClr val="6E7180"/>
                </a:solidFill>
                <a:latin typeface="Geist"/>
              </a:rPr>
              <a:t>documents demanded of claimants in practice, against the court-agreed standard of seven</a:t>
            </a:r>
          </a:p>
        </p:txBody>
      </p:sp>
      <p:sp>
        <p:nvSpPr>
          <p:cNvPr id="15" name="TextBox 14"/>
          <p:cNvSpPr txBox="1"/>
          <p:nvPr/>
        </p:nvSpPr>
        <p:spPr>
          <a:xfrm>
            <a:off x="4453128" y="3182111"/>
            <a:ext cx="3282696" cy="274320"/>
          </a:xfrm>
          <a:prstGeom prst="rect">
            <a:avLst/>
          </a:prstGeom>
          <a:noFill/>
        </p:spPr>
        <p:txBody>
          <a:bodyPr wrap="square" lIns="0" rIns="0" tIns="0" bIns="0" anchor="t">
            <a:spAutoFit/>
          </a:bodyPr>
          <a:lstStyle/>
          <a:p>
            <a:pPr algn="l">
              <a:lnSpc>
                <a:spcPct val="110000"/>
              </a:lnSpc>
            </a:pPr>
            <a:r>
              <a:rPr sz="800" b="1" i="0">
                <a:solidFill>
                  <a:srgbClr val="0A9955"/>
                </a:solidFill>
                <a:latin typeface="Geist"/>
              </a:rPr>
              <a:t>The standard: </a:t>
            </a:r>
            <a:r>
              <a:rPr sz="800" b="0" i="0">
                <a:solidFill>
                  <a:srgbClr val="0A9955"/>
                </a:solidFill>
                <a:latin typeface="Geist"/>
              </a:rPr>
              <a:t>Enforce the seven-document standard</a:t>
            </a:r>
          </a:p>
        </p:txBody>
      </p:sp>
      <p:sp>
        <p:nvSpPr>
          <p:cNvPr id="16" name="Rounded Rectangle 15"/>
          <p:cNvSpPr/>
          <p:nvPr/>
        </p:nvSpPr>
        <p:spPr>
          <a:xfrm>
            <a:off x="8010144" y="2148840"/>
            <a:ext cx="3611880" cy="1353312"/>
          </a:xfrm>
          <a:prstGeom prst="roundRect">
            <a:avLst>
              <a:gd name="adj" fmla="val 8000"/>
            </a:avLst>
          </a:prstGeom>
          <a:solidFill>
            <a:srgbClr val="F7F7FA"/>
          </a:solidFill>
          <a:ln>
            <a:noFill/>
          </a:ln>
          <a:effectLst/>
        </p:spPr>
        <p:txBody>
          <a:bodyPr rtlCol="0" anchor="ctr"/>
          <a:lstStyle/>
          <a:p>
            <a:pPr algn="ctr"/>
          </a:p>
        </p:txBody>
      </p:sp>
      <p:sp>
        <p:nvSpPr>
          <p:cNvPr id="17" name="TextBox 16"/>
          <p:cNvSpPr txBox="1"/>
          <p:nvPr/>
        </p:nvSpPr>
        <p:spPr>
          <a:xfrm>
            <a:off x="8174736" y="2240280"/>
            <a:ext cx="3282696" cy="411480"/>
          </a:xfrm>
          <a:prstGeom prst="rect">
            <a:avLst/>
          </a:prstGeom>
          <a:noFill/>
        </p:spPr>
        <p:txBody>
          <a:bodyPr wrap="square" lIns="0" rIns="0" tIns="0" bIns="0" anchor="t">
            <a:spAutoFit/>
          </a:bodyPr>
          <a:lstStyle/>
          <a:p>
            <a:pPr algn="l">
              <a:lnSpc>
                <a:spcPct val="128000"/>
              </a:lnSpc>
            </a:pPr>
            <a:r>
              <a:rPr sz="1900" b="1" i="0">
                <a:solidFill>
                  <a:srgbClr val="4A35FF"/>
                </a:solidFill>
                <a:latin typeface="Montserrat"/>
              </a:rPr>
              <a:t>~50%</a:t>
            </a:r>
          </a:p>
        </p:txBody>
      </p:sp>
      <p:sp>
        <p:nvSpPr>
          <p:cNvPr id="18" name="TextBox 17"/>
          <p:cNvSpPr txBox="1"/>
          <p:nvPr/>
        </p:nvSpPr>
        <p:spPr>
          <a:xfrm>
            <a:off x="8174736" y="2660904"/>
            <a:ext cx="3282696" cy="475488"/>
          </a:xfrm>
          <a:prstGeom prst="rect">
            <a:avLst/>
          </a:prstGeom>
          <a:noFill/>
        </p:spPr>
        <p:txBody>
          <a:bodyPr wrap="square" lIns="0" rIns="0" tIns="0" bIns="0" anchor="t">
            <a:spAutoFit/>
          </a:bodyPr>
          <a:lstStyle/>
          <a:p>
            <a:pPr algn="l">
              <a:lnSpc>
                <a:spcPct val="115000"/>
              </a:lnSpc>
            </a:pPr>
            <a:r>
              <a:rPr sz="850" b="0" i="0">
                <a:solidFill>
                  <a:srgbClr val="6E7180"/>
                </a:solidFill>
                <a:latin typeface="Geist"/>
              </a:rPr>
              <a:t>of case files lack a usable family phone number</a:t>
            </a:r>
          </a:p>
        </p:txBody>
      </p:sp>
      <p:sp>
        <p:nvSpPr>
          <p:cNvPr id="19" name="TextBox 18"/>
          <p:cNvSpPr txBox="1"/>
          <p:nvPr/>
        </p:nvSpPr>
        <p:spPr>
          <a:xfrm>
            <a:off x="8174736" y="3182111"/>
            <a:ext cx="3282696" cy="274320"/>
          </a:xfrm>
          <a:prstGeom prst="rect">
            <a:avLst/>
          </a:prstGeom>
          <a:noFill/>
        </p:spPr>
        <p:txBody>
          <a:bodyPr wrap="square" lIns="0" rIns="0" tIns="0" bIns="0" anchor="t">
            <a:spAutoFit/>
          </a:bodyPr>
          <a:lstStyle/>
          <a:p>
            <a:pPr algn="l">
              <a:lnSpc>
                <a:spcPct val="110000"/>
              </a:lnSpc>
            </a:pPr>
            <a:r>
              <a:rPr sz="800" b="1" i="0">
                <a:solidFill>
                  <a:srgbClr val="0A9955"/>
                </a:solidFill>
                <a:latin typeface="Geist"/>
              </a:rPr>
              <a:t>The standard: </a:t>
            </a:r>
            <a:r>
              <a:rPr sz="800" b="0" i="0">
                <a:solidFill>
                  <a:srgbClr val="0A9955"/>
                </a:solidFill>
                <a:latin typeface="Geist"/>
              </a:rPr>
              <a:t>A traceability norm at first contact</a:t>
            </a:r>
          </a:p>
        </p:txBody>
      </p:sp>
      <p:sp>
        <p:nvSpPr>
          <p:cNvPr id="20" name="Rounded Rectangle 19"/>
          <p:cNvSpPr/>
          <p:nvPr/>
        </p:nvSpPr>
        <p:spPr>
          <a:xfrm>
            <a:off x="566928" y="3630168"/>
            <a:ext cx="3611880" cy="1353312"/>
          </a:xfrm>
          <a:prstGeom prst="roundRect">
            <a:avLst>
              <a:gd name="adj" fmla="val 8000"/>
            </a:avLst>
          </a:prstGeom>
          <a:solidFill>
            <a:srgbClr val="F7F7FA"/>
          </a:solidFill>
          <a:ln>
            <a:noFill/>
          </a:ln>
          <a:effectLst/>
        </p:spPr>
        <p:txBody>
          <a:bodyPr rtlCol="0" anchor="ctr"/>
          <a:lstStyle/>
          <a:p>
            <a:pPr algn="ctr"/>
          </a:p>
        </p:txBody>
      </p:sp>
      <p:sp>
        <p:nvSpPr>
          <p:cNvPr id="21" name="TextBox 20"/>
          <p:cNvSpPr txBox="1"/>
          <p:nvPr/>
        </p:nvSpPr>
        <p:spPr>
          <a:xfrm>
            <a:off x="731520" y="3721608"/>
            <a:ext cx="3282696" cy="411480"/>
          </a:xfrm>
          <a:prstGeom prst="rect">
            <a:avLst/>
          </a:prstGeom>
          <a:noFill/>
        </p:spPr>
        <p:txBody>
          <a:bodyPr wrap="square" lIns="0" rIns="0" tIns="0" bIns="0" anchor="t">
            <a:spAutoFit/>
          </a:bodyPr>
          <a:lstStyle/>
          <a:p>
            <a:pPr algn="l">
              <a:lnSpc>
                <a:spcPct val="128000"/>
              </a:lnSpc>
            </a:pPr>
            <a:r>
              <a:rPr sz="1900" b="1" i="0">
                <a:solidFill>
                  <a:srgbClr val="4A35FF"/>
                </a:solidFill>
                <a:latin typeface="Montserrat"/>
              </a:rPr>
              <a:t>~60 days</a:t>
            </a:r>
          </a:p>
        </p:txBody>
      </p:sp>
      <p:sp>
        <p:nvSpPr>
          <p:cNvPr id="22" name="TextBox 21"/>
          <p:cNvSpPr txBox="1"/>
          <p:nvPr/>
        </p:nvSpPr>
        <p:spPr>
          <a:xfrm>
            <a:off x="731520" y="4142232"/>
            <a:ext cx="3282696" cy="475488"/>
          </a:xfrm>
          <a:prstGeom prst="rect">
            <a:avLst/>
          </a:prstGeom>
          <a:noFill/>
        </p:spPr>
        <p:txBody>
          <a:bodyPr wrap="square" lIns="0" rIns="0" tIns="0" bIns="0" anchor="t">
            <a:spAutoFit/>
          </a:bodyPr>
          <a:lstStyle/>
          <a:p>
            <a:pPr algn="l">
              <a:lnSpc>
                <a:spcPct val="115000"/>
              </a:lnSpc>
            </a:pPr>
            <a:r>
              <a:rPr sz="850" b="0" i="0">
                <a:solidFill>
                  <a:srgbClr val="6E7180"/>
                </a:solidFill>
                <a:latin typeface="Geist"/>
              </a:rPr>
              <a:t>typical intake delay where claims surface only through bi-monthly committee meetings</a:t>
            </a:r>
          </a:p>
        </p:txBody>
      </p:sp>
      <p:sp>
        <p:nvSpPr>
          <p:cNvPr id="23" name="TextBox 22"/>
          <p:cNvSpPr txBox="1"/>
          <p:nvPr/>
        </p:nvSpPr>
        <p:spPr>
          <a:xfrm>
            <a:off x="731520" y="4663439"/>
            <a:ext cx="3282696" cy="274320"/>
          </a:xfrm>
          <a:prstGeom prst="rect">
            <a:avLst/>
          </a:prstGeom>
          <a:noFill/>
        </p:spPr>
        <p:txBody>
          <a:bodyPr wrap="square" lIns="0" rIns="0" tIns="0" bIns="0" anchor="t">
            <a:spAutoFit/>
          </a:bodyPr>
          <a:lstStyle/>
          <a:p>
            <a:pPr algn="l">
              <a:lnSpc>
                <a:spcPct val="110000"/>
              </a:lnSpc>
            </a:pPr>
            <a:r>
              <a:rPr sz="800" b="1" i="0">
                <a:solidFill>
                  <a:srgbClr val="0A9955"/>
                </a:solidFill>
                <a:latin typeface="Geist"/>
              </a:rPr>
              <a:t>The standard: </a:t>
            </a:r>
            <a:r>
              <a:rPr sz="800" b="0" i="0">
                <a:solidFill>
                  <a:srgbClr val="0A9955"/>
                </a:solidFill>
                <a:latin typeface="Geist"/>
              </a:rPr>
              <a:t>A time-bound intake standard</a:t>
            </a:r>
          </a:p>
        </p:txBody>
      </p:sp>
      <p:sp>
        <p:nvSpPr>
          <p:cNvPr id="24" name="Rounded Rectangle 23"/>
          <p:cNvSpPr/>
          <p:nvPr/>
        </p:nvSpPr>
        <p:spPr>
          <a:xfrm>
            <a:off x="4288536" y="3630168"/>
            <a:ext cx="3611880" cy="1353312"/>
          </a:xfrm>
          <a:prstGeom prst="roundRect">
            <a:avLst>
              <a:gd name="adj" fmla="val 8000"/>
            </a:avLst>
          </a:prstGeom>
          <a:solidFill>
            <a:srgbClr val="F7F7FA"/>
          </a:solidFill>
          <a:ln>
            <a:noFill/>
          </a:ln>
          <a:effectLst/>
        </p:spPr>
        <p:txBody>
          <a:bodyPr rtlCol="0" anchor="ctr"/>
          <a:lstStyle/>
          <a:p>
            <a:pPr algn="ctr"/>
          </a:p>
        </p:txBody>
      </p:sp>
      <p:sp>
        <p:nvSpPr>
          <p:cNvPr id="25" name="TextBox 24"/>
          <p:cNvSpPr txBox="1"/>
          <p:nvPr/>
        </p:nvSpPr>
        <p:spPr>
          <a:xfrm>
            <a:off x="4453128" y="3721608"/>
            <a:ext cx="3282696" cy="411480"/>
          </a:xfrm>
          <a:prstGeom prst="rect">
            <a:avLst/>
          </a:prstGeom>
          <a:noFill/>
        </p:spPr>
        <p:txBody>
          <a:bodyPr wrap="square" lIns="0" rIns="0" tIns="0" bIns="0" anchor="t">
            <a:spAutoFit/>
          </a:bodyPr>
          <a:lstStyle/>
          <a:p>
            <a:pPr algn="l">
              <a:lnSpc>
                <a:spcPct val="128000"/>
              </a:lnSpc>
            </a:pPr>
            <a:r>
              <a:rPr sz="1900" b="1" i="0">
                <a:solidFill>
                  <a:srgbClr val="4A35FF"/>
                </a:solidFill>
                <a:latin typeface="Montserrat"/>
              </a:rPr>
              <a:t>1 in 7</a:t>
            </a:r>
          </a:p>
        </p:txBody>
      </p:sp>
      <p:sp>
        <p:nvSpPr>
          <p:cNvPr id="26" name="TextBox 25"/>
          <p:cNvSpPr txBox="1"/>
          <p:nvPr/>
        </p:nvSpPr>
        <p:spPr>
          <a:xfrm>
            <a:off x="4453128" y="4142232"/>
            <a:ext cx="3282696" cy="475488"/>
          </a:xfrm>
          <a:prstGeom prst="rect">
            <a:avLst/>
          </a:prstGeom>
          <a:noFill/>
        </p:spPr>
        <p:txBody>
          <a:bodyPr wrap="square" lIns="0" rIns="0" tIns="0" bIns="0" anchor="t">
            <a:spAutoFit/>
          </a:bodyPr>
          <a:lstStyle/>
          <a:p>
            <a:pPr algn="l">
              <a:lnSpc>
                <a:spcPct val="115000"/>
              </a:lnSpc>
            </a:pPr>
            <a:r>
              <a:rPr sz="850" b="0" i="0">
                <a:solidFill>
                  <a:srgbClr val="6E7180"/>
                </a:solidFill>
                <a:latin typeface="Geist"/>
              </a:rPr>
              <a:t>hit-and-run crashes becomes a claim: 9,813 claims against 68,584 crashes in 2024</a:t>
            </a:r>
          </a:p>
        </p:txBody>
      </p:sp>
      <p:sp>
        <p:nvSpPr>
          <p:cNvPr id="27" name="TextBox 26"/>
          <p:cNvSpPr txBox="1"/>
          <p:nvPr/>
        </p:nvSpPr>
        <p:spPr>
          <a:xfrm>
            <a:off x="4453128" y="4663439"/>
            <a:ext cx="3282696" cy="274320"/>
          </a:xfrm>
          <a:prstGeom prst="rect">
            <a:avLst/>
          </a:prstGeom>
          <a:noFill/>
        </p:spPr>
        <p:txBody>
          <a:bodyPr wrap="square" lIns="0" rIns="0" tIns="0" bIns="0" anchor="t">
            <a:spAutoFit/>
          </a:bodyPr>
          <a:lstStyle/>
          <a:p>
            <a:pPr algn="l">
              <a:lnSpc>
                <a:spcPct val="110000"/>
              </a:lnSpc>
            </a:pPr>
            <a:r>
              <a:rPr sz="800" b="1" i="0">
                <a:solidFill>
                  <a:srgbClr val="0A9955"/>
                </a:solidFill>
                <a:latin typeface="Geist"/>
              </a:rPr>
              <a:t>The standard: </a:t>
            </a:r>
            <a:r>
              <a:rPr sz="800" b="0" i="0">
                <a:solidFill>
                  <a:srgbClr val="0A9955"/>
                </a:solidFill>
                <a:latin typeface="Geist"/>
              </a:rPr>
              <a:t>Awareness and intake norms at scale</a:t>
            </a:r>
          </a:p>
        </p:txBody>
      </p:sp>
      <p:sp>
        <p:nvSpPr>
          <p:cNvPr id="28" name="Rounded Rectangle 27"/>
          <p:cNvSpPr/>
          <p:nvPr/>
        </p:nvSpPr>
        <p:spPr>
          <a:xfrm>
            <a:off x="8010144" y="3630168"/>
            <a:ext cx="3611880" cy="1353312"/>
          </a:xfrm>
          <a:prstGeom prst="roundRect">
            <a:avLst>
              <a:gd name="adj" fmla="val 8000"/>
            </a:avLst>
          </a:prstGeom>
          <a:solidFill>
            <a:srgbClr val="F7F7FA"/>
          </a:solidFill>
          <a:ln>
            <a:noFill/>
          </a:ln>
          <a:effectLst/>
        </p:spPr>
        <p:txBody>
          <a:bodyPr rtlCol="0" anchor="ctr"/>
          <a:lstStyle/>
          <a:p>
            <a:pPr algn="ctr"/>
          </a:p>
        </p:txBody>
      </p:sp>
      <p:sp>
        <p:nvSpPr>
          <p:cNvPr id="29" name="TextBox 28"/>
          <p:cNvSpPr txBox="1"/>
          <p:nvPr/>
        </p:nvSpPr>
        <p:spPr>
          <a:xfrm>
            <a:off x="8174736" y="3721608"/>
            <a:ext cx="3282696" cy="411480"/>
          </a:xfrm>
          <a:prstGeom prst="rect">
            <a:avLst/>
          </a:prstGeom>
          <a:noFill/>
        </p:spPr>
        <p:txBody>
          <a:bodyPr wrap="square" lIns="0" rIns="0" tIns="0" bIns="0" anchor="t">
            <a:spAutoFit/>
          </a:bodyPr>
          <a:lstStyle/>
          <a:p>
            <a:pPr algn="l">
              <a:lnSpc>
                <a:spcPct val="128000"/>
              </a:lnSpc>
            </a:pPr>
            <a:r>
              <a:rPr sz="1900" b="1" i="0">
                <a:solidFill>
                  <a:srgbClr val="4A35FF"/>
                </a:solidFill>
                <a:latin typeface="Montserrat"/>
              </a:rPr>
              <a:t>20–40</a:t>
            </a:r>
          </a:p>
        </p:txBody>
      </p:sp>
      <p:sp>
        <p:nvSpPr>
          <p:cNvPr id="30" name="TextBox 29"/>
          <p:cNvSpPr txBox="1"/>
          <p:nvPr/>
        </p:nvSpPr>
        <p:spPr>
          <a:xfrm>
            <a:off x="8174736" y="4142232"/>
            <a:ext cx="3282696" cy="475488"/>
          </a:xfrm>
          <a:prstGeom prst="rect">
            <a:avLst/>
          </a:prstGeom>
          <a:noFill/>
        </p:spPr>
        <p:txBody>
          <a:bodyPr wrap="square" lIns="0" rIns="0" tIns="0" bIns="0" anchor="t">
            <a:spAutoFit/>
          </a:bodyPr>
          <a:lstStyle/>
          <a:p>
            <a:pPr algn="l">
              <a:lnSpc>
                <a:spcPct val="115000"/>
              </a:lnSpc>
            </a:pPr>
            <a:r>
              <a:rPr sz="850" b="0" i="0">
                <a:solidFill>
                  <a:srgbClr val="6E7180"/>
                </a:solidFill>
                <a:latin typeface="Geist"/>
              </a:rPr>
              <a:t>office visits for a family to keep a single claim alive today</a:t>
            </a:r>
          </a:p>
        </p:txBody>
      </p:sp>
      <p:sp>
        <p:nvSpPr>
          <p:cNvPr id="31" name="TextBox 30"/>
          <p:cNvSpPr txBox="1"/>
          <p:nvPr/>
        </p:nvSpPr>
        <p:spPr>
          <a:xfrm>
            <a:off x="8174736" y="4663439"/>
            <a:ext cx="3282696" cy="274320"/>
          </a:xfrm>
          <a:prstGeom prst="rect">
            <a:avLst/>
          </a:prstGeom>
          <a:noFill/>
        </p:spPr>
        <p:txBody>
          <a:bodyPr wrap="square" lIns="0" rIns="0" tIns="0" bIns="0" anchor="t">
            <a:spAutoFit/>
          </a:bodyPr>
          <a:lstStyle/>
          <a:p>
            <a:pPr algn="l">
              <a:lnSpc>
                <a:spcPct val="110000"/>
              </a:lnSpc>
            </a:pPr>
            <a:r>
              <a:rPr sz="800" b="1" i="0">
                <a:solidFill>
                  <a:srgbClr val="0A9955"/>
                </a:solidFill>
                <a:latin typeface="Geist"/>
              </a:rPr>
              <a:t>The standard: </a:t>
            </a:r>
            <a:r>
              <a:rPr sz="800" b="0" i="0">
                <a:solidFill>
                  <a:srgbClr val="0A9955"/>
                </a:solidFill>
                <a:latin typeface="Geist"/>
              </a:rPr>
              <a:t>A single-window process for families</a:t>
            </a:r>
          </a:p>
        </p:txBody>
      </p:sp>
      <p:sp>
        <p:nvSpPr>
          <p:cNvPr id="32" name="TextBox 31"/>
          <p:cNvSpPr txBox="1"/>
          <p:nvPr/>
        </p:nvSpPr>
        <p:spPr>
          <a:xfrm>
            <a:off x="566928" y="5349240"/>
            <a:ext cx="11057839" cy="731520"/>
          </a:xfrm>
          <a:prstGeom prst="rect">
            <a:avLst/>
          </a:prstGeom>
          <a:noFill/>
        </p:spPr>
        <p:txBody>
          <a:bodyPr wrap="square" lIns="0" rIns="0" tIns="0" bIns="0" anchor="t">
            <a:spAutoFit/>
          </a:bodyPr>
          <a:lstStyle/>
          <a:p>
            <a:pPr algn="l">
              <a:lnSpc>
                <a:spcPct val="135000"/>
              </a:lnSpc>
            </a:pPr>
            <a:r>
              <a:rPr sz="1000" b="1" i="0">
                <a:solidFill>
                  <a:srgbClr val="16181D"/>
                </a:solidFill>
                <a:latin typeface="Geist"/>
              </a:rPr>
              <a:t>The claim's other side: </a:t>
            </a:r>
            <a:r>
              <a:rPr sz="1000" b="0" i="0">
                <a:solidFill>
                  <a:srgbClr val="6E7180"/>
                </a:solidFill>
                <a:latin typeface="Geist"/>
              </a:rPr>
              <a:t>guidance from Justice J.R. Midha (Retd.), architect of the FaSTDAR process · consultations with insurers on settlement practice · working partners across MACT courts, DLSAs and legal-services clinics, Mishika Singh (Neev Foundation), Yash Agarwal (Public Policy India), Sanchit Seth (Advocate, Delhi MACT).</a:t>
            </a:r>
          </a:p>
        </p:txBody>
      </p:sp>
      <p:cxnSp>
        <p:nvCxnSpPr>
          <p:cNvPr id="33" name="Connector 32"/>
          <p:cNvCxnSpPr/>
          <p:nvPr/>
        </p:nvCxnSpPr>
        <p:spPr>
          <a:xfrm>
            <a:off x="566928" y="6455664"/>
            <a:ext cx="11057839" cy="0"/>
          </a:xfrm>
          <a:prstGeom prst="line">
            <a:avLst/>
          </a:prstGeom>
          <a:ln w="9525">
            <a:solidFill>
              <a:srgbClr val="E8E9EE"/>
            </a:solidFill>
          </a:ln>
          <a:effectLst/>
        </p:spPr>
      </p:cxnSp>
      <p:sp>
        <p:nvSpPr>
          <p:cNvPr id="34" name="TextBox 33"/>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5" name="TextBox 34"/>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24 / 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8973007" y="274320"/>
            <a:ext cx="2651760" cy="219456"/>
          </a:xfrm>
          <a:prstGeom prst="rect">
            <a:avLst/>
          </a:prstGeom>
          <a:noFill/>
        </p:spPr>
        <p:txBody>
          <a:bodyPr wrap="square" lIns="0" rIns="0" tIns="0" bIns="0" anchor="t">
            <a:spAutoFit/>
          </a:bodyPr>
          <a:lstStyle/>
          <a:p>
            <a:pPr algn="r">
              <a:lnSpc>
                <a:spcPct val="128000"/>
              </a:lnSpc>
            </a:pPr>
            <a:r>
              <a:rPr sz="800" b="1" i="0" spc="160">
                <a:solidFill>
                  <a:srgbClr val="6E7180"/>
                </a:solidFill>
                <a:latin typeface="Montserrat"/>
              </a:rPr>
              <a:t>SECTION 5 OF 5  ·  OUR CONTRIBUTION</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05 · HOW WE CAN CONTRIBUTE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Four concrete offers to </a:t>
            </a:r>
            <a:r>
              <a:rPr sz="2250" b="1" i="0">
                <a:solidFill>
                  <a:srgbClr val="4A35FF"/>
                </a:solidFill>
                <a:latin typeface="Montserrat"/>
              </a:rPr>
              <a:t>Working Group 5</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All four are ready today, need no funding from the Board, and can begin within weeks.</a:t>
            </a:r>
          </a:p>
        </p:txBody>
      </p:sp>
      <p:sp>
        <p:nvSpPr>
          <p:cNvPr id="8" name="Rounded Rectangle 7"/>
          <p:cNvSpPr/>
          <p:nvPr/>
        </p:nvSpPr>
        <p:spPr>
          <a:xfrm>
            <a:off x="566928" y="2057400"/>
            <a:ext cx="11055096" cy="841248"/>
          </a:xfrm>
          <a:prstGeom prst="roundRect">
            <a:avLst>
              <a:gd name="adj" fmla="val 10000"/>
            </a:avLst>
          </a:prstGeom>
          <a:solidFill>
            <a:srgbClr val="F7F7FA"/>
          </a:solidFill>
          <a:ln>
            <a:noFill/>
          </a:ln>
          <a:effectLst/>
        </p:spPr>
        <p:txBody>
          <a:bodyPr rtlCol="0" anchor="ctr"/>
          <a:lstStyle/>
          <a:p>
            <a:pPr algn="ctr"/>
          </a:p>
        </p:txBody>
      </p:sp>
      <p:sp>
        <p:nvSpPr>
          <p:cNvPr id="9" name="Oval 8"/>
          <p:cNvSpPr/>
          <p:nvPr/>
        </p:nvSpPr>
        <p:spPr>
          <a:xfrm>
            <a:off x="749808" y="2258568"/>
            <a:ext cx="438912" cy="438912"/>
          </a:xfrm>
          <a:prstGeom prst="ellipse">
            <a:avLst/>
          </a:prstGeom>
          <a:solidFill>
            <a:srgbClr val="EFEDFF"/>
          </a:solidFill>
          <a:ln>
            <a:noFill/>
          </a:ln>
          <a:effectLst/>
        </p:spPr>
        <p:txBody>
          <a:bodyPr rtlCol="0" anchor="ctr"/>
          <a:lstStyle/>
          <a:p>
            <a:pPr algn="ctr"/>
          </a:p>
        </p:txBody>
      </p:sp>
      <p:sp>
        <p:nvSpPr>
          <p:cNvPr id="10" name="TextBox 9"/>
          <p:cNvSpPr txBox="1"/>
          <p:nvPr/>
        </p:nvSpPr>
        <p:spPr>
          <a:xfrm>
            <a:off x="749808" y="2247596"/>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1</a:t>
            </a:r>
          </a:p>
        </p:txBody>
      </p:sp>
      <p:sp>
        <p:nvSpPr>
          <p:cNvPr id="11" name="TextBox 10"/>
          <p:cNvSpPr txBox="1"/>
          <p:nvPr/>
        </p:nvSpPr>
        <p:spPr>
          <a:xfrm>
            <a:off x="1408176" y="2176272"/>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A victim-side evidence base</a:t>
            </a:r>
          </a:p>
        </p:txBody>
      </p:sp>
      <p:sp>
        <p:nvSpPr>
          <p:cNvPr id="12" name="TextBox 11"/>
          <p:cNvSpPr txBox="1"/>
          <p:nvPr/>
        </p:nvSpPr>
        <p:spPr>
          <a:xfrm>
            <a:off x="5138928" y="2176272"/>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'Justice Unserved', 'Deposited But Not Delivered', 120+ victim and family interactions, and file-level pipeline data showing precisely where eligible families drop out.</a:t>
            </a:r>
          </a:p>
        </p:txBody>
      </p:sp>
      <p:sp>
        <p:nvSpPr>
          <p:cNvPr id="13" name="Rounded Rectangle 12"/>
          <p:cNvSpPr/>
          <p:nvPr/>
        </p:nvSpPr>
        <p:spPr>
          <a:xfrm>
            <a:off x="566928" y="3026664"/>
            <a:ext cx="11055096" cy="841248"/>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14" name="Oval 13"/>
          <p:cNvSpPr/>
          <p:nvPr/>
        </p:nvSpPr>
        <p:spPr>
          <a:xfrm>
            <a:off x="749808" y="3227832"/>
            <a:ext cx="438912" cy="438912"/>
          </a:xfrm>
          <a:prstGeom prst="ellipse">
            <a:avLst/>
          </a:prstGeom>
          <a:solidFill>
            <a:srgbClr val="EFEDFF"/>
          </a:solidFill>
          <a:ln>
            <a:noFill/>
          </a:ln>
          <a:effectLst/>
        </p:spPr>
        <p:txBody>
          <a:bodyPr rtlCol="0" anchor="ctr"/>
          <a:lstStyle/>
          <a:p>
            <a:pPr algn="ctr"/>
          </a:p>
        </p:txBody>
      </p:sp>
      <p:sp>
        <p:nvSpPr>
          <p:cNvPr id="15" name="TextBox 14"/>
          <p:cNvSpPr txBox="1"/>
          <p:nvPr/>
        </p:nvSpPr>
        <p:spPr>
          <a:xfrm>
            <a:off x="749808" y="3216860"/>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2</a:t>
            </a:r>
          </a:p>
        </p:txBody>
      </p:sp>
      <p:sp>
        <p:nvSpPr>
          <p:cNvPr id="16" name="TextBox 15"/>
          <p:cNvSpPr txBox="1"/>
          <p:nvPr/>
        </p:nvSpPr>
        <p:spPr>
          <a:xfrm>
            <a:off x="1408176" y="3145536"/>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A district toolkit, drawn from practice</a:t>
            </a:r>
          </a:p>
        </p:txBody>
      </p:sp>
      <p:sp>
        <p:nvSpPr>
          <p:cNvPr id="17" name="TextBox 16"/>
          <p:cNvSpPr txBox="1"/>
          <p:nvPr/>
        </p:nvSpPr>
        <p:spPr>
          <a:xfrm>
            <a:off x="5138928" y="3145536"/>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Working DRSC integration experience, agendas, file digitisation, fellow placement, ready to be codified into the Group's district toolkit.</a:t>
            </a:r>
          </a:p>
        </p:txBody>
      </p:sp>
      <p:sp>
        <p:nvSpPr>
          <p:cNvPr id="18" name="Rounded Rectangle 17"/>
          <p:cNvSpPr/>
          <p:nvPr/>
        </p:nvSpPr>
        <p:spPr>
          <a:xfrm>
            <a:off x="566928" y="3995928"/>
            <a:ext cx="11055096" cy="841248"/>
          </a:xfrm>
          <a:prstGeom prst="roundRect">
            <a:avLst>
              <a:gd name="adj" fmla="val 10000"/>
            </a:avLst>
          </a:prstGeom>
          <a:solidFill>
            <a:srgbClr val="F7F7FA"/>
          </a:solidFill>
          <a:ln>
            <a:noFill/>
          </a:ln>
          <a:effectLst/>
        </p:spPr>
        <p:txBody>
          <a:bodyPr rtlCol="0" anchor="ctr"/>
          <a:lstStyle/>
          <a:p>
            <a:pPr algn="ctr"/>
          </a:p>
        </p:txBody>
      </p:sp>
      <p:sp>
        <p:nvSpPr>
          <p:cNvPr id="19" name="Oval 18"/>
          <p:cNvSpPr/>
          <p:nvPr/>
        </p:nvSpPr>
        <p:spPr>
          <a:xfrm>
            <a:off x="749808" y="4197096"/>
            <a:ext cx="438912" cy="438912"/>
          </a:xfrm>
          <a:prstGeom prst="ellipse">
            <a:avLst/>
          </a:prstGeom>
          <a:solidFill>
            <a:srgbClr val="EFEDFF"/>
          </a:solidFill>
          <a:ln>
            <a:noFill/>
          </a:ln>
          <a:effectLst/>
        </p:spPr>
        <p:txBody>
          <a:bodyPr rtlCol="0" anchor="ctr"/>
          <a:lstStyle/>
          <a:p>
            <a:pPr algn="ctr"/>
          </a:p>
        </p:txBody>
      </p:sp>
      <p:sp>
        <p:nvSpPr>
          <p:cNvPr id="20" name="TextBox 19"/>
          <p:cNvSpPr txBox="1"/>
          <p:nvPr/>
        </p:nvSpPr>
        <p:spPr>
          <a:xfrm>
            <a:off x="749808" y="4186124"/>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3</a:t>
            </a:r>
          </a:p>
        </p:txBody>
      </p:sp>
      <p:sp>
        <p:nvSpPr>
          <p:cNvPr id="21" name="TextBox 20"/>
          <p:cNvSpPr txBox="1"/>
          <p:nvPr/>
        </p:nvSpPr>
        <p:spPr>
          <a:xfrm>
            <a:off x="1408176" y="4114800"/>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A reusable state portal blueprint</a:t>
            </a:r>
          </a:p>
        </p:txBody>
      </p:sp>
      <p:sp>
        <p:nvSpPr>
          <p:cNvPr id="22" name="TextBox 21"/>
          <p:cNvSpPr txBox="1"/>
          <p:nvPr/>
        </p:nvSpPr>
        <p:spPr>
          <a:xfrm>
            <a:off x="5138928" y="4114800"/>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The Rajasthan case-management design, guided filing, stage-wise visibility, single-pass clarification, offered as a template any state can adapt.</a:t>
            </a:r>
          </a:p>
        </p:txBody>
      </p:sp>
      <p:sp>
        <p:nvSpPr>
          <p:cNvPr id="23" name="Rounded Rectangle 22"/>
          <p:cNvSpPr/>
          <p:nvPr/>
        </p:nvSpPr>
        <p:spPr>
          <a:xfrm>
            <a:off x="566928" y="4965192"/>
            <a:ext cx="11055096" cy="841248"/>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24" name="Oval 23"/>
          <p:cNvSpPr/>
          <p:nvPr/>
        </p:nvSpPr>
        <p:spPr>
          <a:xfrm>
            <a:off x="749808" y="5166360"/>
            <a:ext cx="438912" cy="438912"/>
          </a:xfrm>
          <a:prstGeom prst="ellipse">
            <a:avLst/>
          </a:prstGeom>
          <a:solidFill>
            <a:srgbClr val="EFEDFF"/>
          </a:solidFill>
          <a:ln>
            <a:noFill/>
          </a:ln>
          <a:effectLst/>
        </p:spPr>
        <p:txBody>
          <a:bodyPr rtlCol="0" anchor="ctr"/>
          <a:lstStyle/>
          <a:p>
            <a:pPr algn="ctr"/>
          </a:p>
        </p:txBody>
      </p:sp>
      <p:sp>
        <p:nvSpPr>
          <p:cNvPr id="25" name="TextBox 24"/>
          <p:cNvSpPr txBox="1"/>
          <p:nvPr/>
        </p:nvSpPr>
        <p:spPr>
          <a:xfrm>
            <a:off x="749808" y="5155388"/>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4</a:t>
            </a:r>
          </a:p>
        </p:txBody>
      </p:sp>
      <p:sp>
        <p:nvSpPr>
          <p:cNvPr id="26" name="TextBox 25"/>
          <p:cNvSpPr txBox="1"/>
          <p:nvPr/>
        </p:nvSpPr>
        <p:spPr>
          <a:xfrm>
            <a:off x="1408176" y="5084064"/>
            <a:ext cx="3566160" cy="548640"/>
          </a:xfrm>
          <a:prstGeom prst="rect">
            <a:avLst/>
          </a:prstGeom>
          <a:noFill/>
        </p:spPr>
        <p:txBody>
          <a:bodyPr wrap="square" lIns="0" rIns="0" tIns="0" bIns="0" anchor="t">
            <a:spAutoFit/>
          </a:bodyPr>
          <a:lstStyle/>
          <a:p>
            <a:pPr algn="l">
              <a:lnSpc>
                <a:spcPct val="110000"/>
              </a:lnSpc>
            </a:pPr>
            <a:r>
              <a:rPr sz="1250" b="1" i="0">
                <a:solidFill>
                  <a:srgbClr val="16181D"/>
                </a:solidFill>
                <a:latin typeface="Montserrat"/>
              </a:rPr>
              <a:t>Standards input from the claimant's side</a:t>
            </a:r>
          </a:p>
        </p:txBody>
      </p:sp>
      <p:sp>
        <p:nvSpPr>
          <p:cNvPr id="27" name="TextBox 26"/>
          <p:cNvSpPr txBox="1"/>
          <p:nvPr/>
        </p:nvSpPr>
        <p:spPr>
          <a:xfrm>
            <a:off x="5138928" y="5084064"/>
            <a:ext cx="6309360" cy="640080"/>
          </a:xfrm>
          <a:prstGeom prst="rect">
            <a:avLst/>
          </a:prstGeom>
          <a:noFill/>
        </p:spPr>
        <p:txBody>
          <a:bodyPr wrap="square" lIns="0" rIns="0" tIns="0" bIns="0" anchor="t">
            <a:spAutoFit/>
          </a:bodyPr>
          <a:lstStyle/>
          <a:p>
            <a:pPr algn="l">
              <a:lnSpc>
                <a:spcPct val="125000"/>
              </a:lnSpc>
            </a:pPr>
            <a:r>
              <a:rPr sz="1000" b="0" i="0">
                <a:solidFill>
                  <a:srgbClr val="6E7180"/>
                </a:solidFill>
                <a:latin typeface="Geist"/>
              </a:rPr>
              <a:t>Document standards (the court-agreed 7), communication norms and timeline benchmarks, grounded in what families actually experience.</a:t>
            </a:r>
          </a:p>
        </p:txBody>
      </p:sp>
      <p:cxnSp>
        <p:nvCxnSpPr>
          <p:cNvPr id="28" name="Connector 27"/>
          <p:cNvCxnSpPr/>
          <p:nvPr/>
        </p:nvCxnSpPr>
        <p:spPr>
          <a:xfrm>
            <a:off x="566928" y="6455664"/>
            <a:ext cx="11057839" cy="0"/>
          </a:xfrm>
          <a:prstGeom prst="line">
            <a:avLst/>
          </a:prstGeom>
          <a:ln w="9525">
            <a:solidFill>
              <a:srgbClr val="E8E9EE"/>
            </a:solidFill>
          </a:ln>
          <a:effectLst/>
        </p:spPr>
      </p:cxnSp>
      <p:sp>
        <p:nvSpPr>
          <p:cNvPr id="29" name="TextBox 28"/>
          <p:cNvSpPr txBox="1"/>
          <p:nvPr/>
        </p:nvSpPr>
        <p:spPr>
          <a:xfrm>
            <a:off x="566928" y="6528816"/>
            <a:ext cx="73152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Expression of Interest — Working Group 5</a:t>
            </a:r>
          </a:p>
        </p:txBody>
      </p:sp>
      <p:sp>
        <p:nvSpPr>
          <p:cNvPr id="30" name="TextBox 29"/>
          <p:cNvSpPr txBox="1"/>
          <p:nvPr/>
        </p:nvSpPr>
        <p:spPr>
          <a:xfrm>
            <a:off x="10527487" y="6528816"/>
            <a:ext cx="109728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25 / 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A35FF"/>
          </a:solidFill>
          <a:ln>
            <a:noFill/>
          </a:ln>
          <a:effectLst/>
        </p:spPr>
        <p:txBody>
          <a:bodyPr rtlCol="0" anchor="ctr"/>
          <a:lstStyle/>
          <a:p>
            <a:pPr algn="ctr"/>
          </a:p>
        </p:txBody>
      </p:sp>
      <p:pic>
        <p:nvPicPr>
          <p:cNvPr id="3" name="Picture 2" descr="logo_white.png"/>
          <p:cNvPicPr>
            <a:picLocks noChangeAspect="1"/>
          </p:cNvPicPr>
          <p:nvPr/>
        </p:nvPicPr>
        <p:blipFill>
          <a:blip r:embed="rId2"/>
          <a:stretch>
            <a:fillRect/>
          </a:stretch>
        </p:blipFill>
        <p:spPr>
          <a:xfrm>
            <a:off x="566928" y="566928"/>
            <a:ext cx="1828800" cy="252710"/>
          </a:xfrm>
          <a:prstGeom prst="rect">
            <a:avLst/>
          </a:prstGeom>
        </p:spPr>
      </p:pic>
      <p:sp>
        <p:nvSpPr>
          <p:cNvPr id="4" name="TextBox 3"/>
          <p:cNvSpPr txBox="1"/>
          <p:nvPr/>
        </p:nvSpPr>
        <p:spPr>
          <a:xfrm>
            <a:off x="566928" y="1920240"/>
            <a:ext cx="11064240" cy="1280160"/>
          </a:xfrm>
          <a:prstGeom prst="rect">
            <a:avLst/>
          </a:prstGeom>
          <a:noFill/>
        </p:spPr>
        <p:txBody>
          <a:bodyPr wrap="square" lIns="0" rIns="0" tIns="0" bIns="0" anchor="t">
            <a:spAutoFit/>
          </a:bodyPr>
          <a:lstStyle/>
          <a:p>
            <a:pPr algn="l">
              <a:lnSpc>
                <a:spcPct val="120000"/>
              </a:lnSpc>
            </a:pPr>
            <a:r>
              <a:rPr sz="3200" b="1" i="0">
                <a:solidFill>
                  <a:srgbClr val="FFFFFF"/>
                </a:solidFill>
                <a:latin typeface="Montserrat"/>
              </a:rPr>
              <a:t>We would be honoured to contribute</a:t>
            </a:r>
          </a:p>
          <a:p>
            <a:pPr algn="l">
              <a:lnSpc>
                <a:spcPct val="120000"/>
              </a:lnSpc>
            </a:pPr>
            <a:r>
              <a:rPr sz="3200" b="1" i="0">
                <a:solidFill>
                  <a:srgbClr val="FFFFFF"/>
                </a:solidFill>
                <a:latin typeface="Montserrat"/>
              </a:rPr>
              <a:t>to Working Group 5.</a:t>
            </a:r>
          </a:p>
        </p:txBody>
      </p:sp>
      <p:sp>
        <p:nvSpPr>
          <p:cNvPr id="5" name="TextBox 4"/>
          <p:cNvSpPr txBox="1"/>
          <p:nvPr/>
        </p:nvSpPr>
        <p:spPr>
          <a:xfrm>
            <a:off x="566928" y="3520440"/>
            <a:ext cx="10515600" cy="548640"/>
          </a:xfrm>
          <a:prstGeom prst="rect">
            <a:avLst/>
          </a:prstGeom>
          <a:noFill/>
        </p:spPr>
        <p:txBody>
          <a:bodyPr wrap="square" lIns="0" rIns="0" tIns="0" bIns="0" anchor="t">
            <a:spAutoFit/>
          </a:bodyPr>
          <a:lstStyle/>
          <a:p>
            <a:pPr algn="l">
              <a:lnSpc>
                <a:spcPct val="140000"/>
              </a:lnSpc>
            </a:pPr>
            <a:r>
              <a:rPr sz="1250" b="0" i="0">
                <a:solidFill>
                  <a:srgbClr val="C8C0FF"/>
                </a:solidFill>
                <a:latin typeface="Geist"/>
              </a:rPr>
              <a:t>Our evidence, our district relationships, our technology and our expert bench are available to the Board, in whichever form is most useful.</a:t>
            </a:r>
          </a:p>
        </p:txBody>
      </p:sp>
      <p:cxnSp>
        <p:nvCxnSpPr>
          <p:cNvPr id="6" name="Connector 5"/>
          <p:cNvCxnSpPr/>
          <p:nvPr/>
        </p:nvCxnSpPr>
        <p:spPr>
          <a:xfrm>
            <a:off x="566928" y="4315968"/>
            <a:ext cx="4754880" cy="0"/>
          </a:xfrm>
          <a:prstGeom prst="line">
            <a:avLst/>
          </a:prstGeom>
          <a:ln w="12700">
            <a:solidFill>
              <a:srgbClr val="6A55FF"/>
            </a:solidFill>
          </a:ln>
          <a:effectLst/>
        </p:spPr>
      </p:cxnSp>
      <p:sp>
        <p:nvSpPr>
          <p:cNvPr id="7" name="TextBox 6"/>
          <p:cNvSpPr txBox="1"/>
          <p:nvPr/>
        </p:nvSpPr>
        <p:spPr>
          <a:xfrm>
            <a:off x="566928" y="4517136"/>
            <a:ext cx="9875520" cy="777240"/>
          </a:xfrm>
          <a:prstGeom prst="rect">
            <a:avLst/>
          </a:prstGeom>
          <a:noFill/>
        </p:spPr>
        <p:txBody>
          <a:bodyPr wrap="square" lIns="0" rIns="0" tIns="0" bIns="0" anchor="t">
            <a:spAutoFit/>
          </a:bodyPr>
          <a:lstStyle/>
          <a:p>
            <a:pPr algn="l">
              <a:lnSpc>
                <a:spcPct val="135000"/>
              </a:lnSpc>
            </a:pPr>
            <a:r>
              <a:rPr sz="1400" b="1" i="1">
                <a:solidFill>
                  <a:srgbClr val="FFFFFF"/>
                </a:solidFill>
                <a:latin typeface="Montserrat"/>
              </a:rPr>
              <a:t>"We already know what is going wrong. What we need now is more responsibility, more discipline, more respect for life."</a:t>
            </a:r>
          </a:p>
        </p:txBody>
      </p:sp>
      <p:sp>
        <p:nvSpPr>
          <p:cNvPr id="8" name="TextBox 7"/>
          <p:cNvSpPr txBox="1"/>
          <p:nvPr/>
        </p:nvSpPr>
        <p:spPr>
          <a:xfrm>
            <a:off x="566928" y="5175504"/>
            <a:ext cx="7315200" cy="274320"/>
          </a:xfrm>
          <a:prstGeom prst="rect">
            <a:avLst/>
          </a:prstGeom>
          <a:noFill/>
        </p:spPr>
        <p:txBody>
          <a:bodyPr wrap="square" lIns="0" rIns="0" tIns="0" bIns="0" anchor="t">
            <a:spAutoFit/>
          </a:bodyPr>
          <a:lstStyle/>
          <a:p>
            <a:pPr algn="l">
              <a:lnSpc>
                <a:spcPct val="128000"/>
              </a:lnSpc>
            </a:pPr>
            <a:r>
              <a:rPr sz="1000" b="0" i="0">
                <a:solidFill>
                  <a:srgbClr val="C8C0FF"/>
                </a:solidFill>
                <a:latin typeface="Geist"/>
              </a:rPr>
              <a:t>MS Dhoni · Goodwill Ambassador, Crashfree India</a:t>
            </a:r>
          </a:p>
        </p:txBody>
      </p:sp>
      <p:pic>
        <p:nvPicPr>
          <p:cNvPr id="9" name="Picture 8" descr="globe_C8C0FF_256_2.0.png"/>
          <p:cNvPicPr>
            <a:picLocks noChangeAspect="1"/>
          </p:cNvPicPr>
          <p:nvPr/>
        </p:nvPicPr>
        <p:blipFill>
          <a:blip r:embed="rId3"/>
          <a:stretch>
            <a:fillRect/>
          </a:stretch>
        </p:blipFill>
        <p:spPr>
          <a:xfrm>
            <a:off x="566928" y="5614416"/>
            <a:ext cx="256032" cy="256032"/>
          </a:xfrm>
          <a:prstGeom prst="rect">
            <a:avLst/>
          </a:prstGeom>
        </p:spPr>
      </p:pic>
      <p:sp>
        <p:nvSpPr>
          <p:cNvPr id="10" name="TextBox 9"/>
          <p:cNvSpPr txBox="1"/>
          <p:nvPr/>
        </p:nvSpPr>
        <p:spPr>
          <a:xfrm>
            <a:off x="978408" y="5596128"/>
            <a:ext cx="10058400" cy="320040"/>
          </a:xfrm>
          <a:prstGeom prst="rect">
            <a:avLst/>
          </a:prstGeom>
          <a:noFill/>
        </p:spPr>
        <p:txBody>
          <a:bodyPr wrap="square" lIns="0" rIns="0" tIns="0" bIns="0" anchor="t">
            <a:spAutoFit/>
          </a:bodyPr>
          <a:lstStyle/>
          <a:p>
            <a:pPr algn="l">
              <a:lnSpc>
                <a:spcPct val="120000"/>
              </a:lnSpc>
            </a:pPr>
            <a:r>
              <a:rPr sz="1100" b="0" i="0">
                <a:solidFill>
                  <a:srgbClr val="FFFFFF"/>
                </a:solidFill>
                <a:latin typeface="Geist"/>
              </a:rPr>
              <a:t>crashfreeindia.org</a:t>
            </a:r>
          </a:p>
        </p:txBody>
      </p:sp>
      <p:pic>
        <p:nvPicPr>
          <p:cNvPr id="11" name="Picture 10" descr="mail_C8C0FF_256_2.0.png"/>
          <p:cNvPicPr>
            <a:picLocks noChangeAspect="1"/>
          </p:cNvPicPr>
          <p:nvPr/>
        </p:nvPicPr>
        <p:blipFill>
          <a:blip r:embed="rId4"/>
          <a:stretch>
            <a:fillRect/>
          </a:stretch>
        </p:blipFill>
        <p:spPr>
          <a:xfrm>
            <a:off x="566928" y="6035040"/>
            <a:ext cx="256032" cy="256032"/>
          </a:xfrm>
          <a:prstGeom prst="rect">
            <a:avLst/>
          </a:prstGeom>
        </p:spPr>
      </p:pic>
      <p:sp>
        <p:nvSpPr>
          <p:cNvPr id="12" name="TextBox 11"/>
          <p:cNvSpPr txBox="1"/>
          <p:nvPr/>
        </p:nvSpPr>
        <p:spPr>
          <a:xfrm>
            <a:off x="978408" y="6016752"/>
            <a:ext cx="10058400" cy="320040"/>
          </a:xfrm>
          <a:prstGeom prst="rect">
            <a:avLst/>
          </a:prstGeom>
          <a:noFill/>
        </p:spPr>
        <p:txBody>
          <a:bodyPr wrap="square" lIns="0" rIns="0" tIns="0" bIns="0" anchor="t">
            <a:spAutoFit/>
          </a:bodyPr>
          <a:lstStyle/>
          <a:p>
            <a:pPr algn="l">
              <a:lnSpc>
                <a:spcPct val="120000"/>
              </a:lnSpc>
            </a:pPr>
            <a:r>
              <a:rPr sz="1100" b="0" i="0">
                <a:solidFill>
                  <a:srgbClr val="FFFFFF"/>
                </a:solidFill>
                <a:latin typeface="Geist"/>
              </a:rPr>
              <a:t>akhtar@crashfreeindia.org  ·  helpdesk@crashfreeindia.org</a:t>
            </a:r>
          </a:p>
        </p:txBody>
      </p:sp>
      <p:sp>
        <p:nvSpPr>
          <p:cNvPr id="13" name="TextBox 12"/>
          <p:cNvSpPr txBox="1"/>
          <p:nvPr/>
        </p:nvSpPr>
        <p:spPr>
          <a:xfrm>
            <a:off x="566928" y="6446520"/>
            <a:ext cx="10972800" cy="274320"/>
          </a:xfrm>
          <a:prstGeom prst="rect">
            <a:avLst/>
          </a:prstGeom>
          <a:noFill/>
        </p:spPr>
        <p:txBody>
          <a:bodyPr wrap="square" lIns="0" rIns="0" tIns="0" bIns="0" anchor="t">
            <a:spAutoFit/>
          </a:bodyPr>
          <a:lstStyle/>
          <a:p>
            <a:pPr algn="l">
              <a:lnSpc>
                <a:spcPct val="128000"/>
              </a:lnSpc>
            </a:pPr>
            <a:r>
              <a:rPr sz="950" b="0" i="0">
                <a:solidFill>
                  <a:srgbClr val="C8C0FF"/>
                </a:solidFill>
                <a:latin typeface="Geist"/>
              </a:rPr>
              <a:t>Crashfree India · A Cars24 commitment · Operated by Vision Zero Trust, New Delhi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