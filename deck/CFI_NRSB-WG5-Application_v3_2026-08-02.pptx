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jpg"/><Relationship Id="rId6" Type="http://schemas.openxmlformats.org/officeDocument/2006/relationships/image" Target="../media/image19.jpg"/><Relationship Id="rId7" Type="http://schemas.openxmlformats.org/officeDocument/2006/relationships/image" Target="../media/image2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 Id="rId5" Type="http://schemas.openxmlformats.org/officeDocument/2006/relationships/image" Target="../media/image24.jpg"/><Relationship Id="rId6" Type="http://schemas.openxmlformats.org/officeDocument/2006/relationships/image" Target="../media/image25.jpg"/><Relationship Id="rId7" Type="http://schemas.openxmlformats.org/officeDocument/2006/relationships/image" Target="../media/image2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8.jp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image" Target="../media/image3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image" Target="../media/image38.jpg"/><Relationship Id="rId4" Type="http://schemas.openxmlformats.org/officeDocument/2006/relationships/image" Target="../media/image39.jpg"/><Relationship Id="rId5" Type="http://schemas.openxmlformats.org/officeDocument/2006/relationships/image" Target="../media/image40.jpg"/><Relationship Id="rId6" Type="http://schemas.openxmlformats.org/officeDocument/2006/relationships/image" Target="../media/image41.jpg"/><Relationship Id="rId7" Type="http://schemas.openxmlformats.org/officeDocument/2006/relationships/image" Target="../media/image4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52.jp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image" Target="../media/image57.jpg"/><Relationship Id="rId4" Type="http://schemas.openxmlformats.org/officeDocument/2006/relationships/image" Target="../media/image58.jpg"/><Relationship Id="rId5" Type="http://schemas.openxmlformats.org/officeDocument/2006/relationships/image" Target="../media/image59.jpg"/><Relationship Id="rId6" Type="http://schemas.openxmlformats.org/officeDocument/2006/relationships/image" Target="../media/image6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image" Target="../media/image62.jpg"/><Relationship Id="rId4" Type="http://schemas.openxmlformats.org/officeDocument/2006/relationships/image" Target="../media/image63.jpg"/><Relationship Id="rId5" Type="http://schemas.openxmlformats.org/officeDocument/2006/relationships/image" Target="../media/image6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0.png"/><Relationship Id="rId8" Type="http://schemas.openxmlformats.org/officeDocument/2006/relationships/image" Target="../media/image71.png"/><Relationship Id="rId9" Type="http://schemas.openxmlformats.org/officeDocument/2006/relationships/image" Target="../media/image72.png"/><Relationship Id="rId10" Type="http://schemas.openxmlformats.org/officeDocument/2006/relationships/image" Target="../media/image73.png"/><Relationship Id="rId11" Type="http://schemas.openxmlformats.org/officeDocument/2006/relationships/image" Target="../media/image74.png"/><Relationship Id="rId12" Type="http://schemas.openxmlformats.org/officeDocument/2006/relationships/image" Target="../media/image75.png"/><Relationship Id="rId13" Type="http://schemas.openxmlformats.org/officeDocument/2006/relationships/image" Target="../media/image76.png"/><Relationship Id="rId14" Type="http://schemas.openxmlformats.org/officeDocument/2006/relationships/image" Target="../media/image77.png"/><Relationship Id="rId15" Type="http://schemas.openxmlformats.org/officeDocument/2006/relationships/image" Target="../media/image78.png"/><Relationship Id="rId16" Type="http://schemas.openxmlformats.org/officeDocument/2006/relationships/image" Target="../media/image79.png"/><Relationship Id="rId17" Type="http://schemas.openxmlformats.org/officeDocument/2006/relationships/image" Target="../media/image80.png"/><Relationship Id="rId18" Type="http://schemas.openxmlformats.org/officeDocument/2006/relationships/image" Target="../media/image81.png"/><Relationship Id="rId19" Type="http://schemas.openxmlformats.org/officeDocument/2006/relationships/image" Target="../media/image82.png"/><Relationship Id="rId20" Type="http://schemas.openxmlformats.org/officeDocument/2006/relationships/image" Target="../media/image83.png"/><Relationship Id="rId21" Type="http://schemas.openxmlformats.org/officeDocument/2006/relationships/image" Target="../media/image84.png"/><Relationship Id="rId22" Type="http://schemas.openxmlformats.org/officeDocument/2006/relationships/image" Target="../media/image85.png"/><Relationship Id="rId23" Type="http://schemas.openxmlformats.org/officeDocument/2006/relationships/image" Target="../media/image86.png"/><Relationship Id="rId24" Type="http://schemas.openxmlformats.org/officeDocument/2006/relationships/image" Target="../media/image87.png"/><Relationship Id="rId25" Type="http://schemas.openxmlformats.org/officeDocument/2006/relationships/image" Target="../media/image8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jpg"/><Relationship Id="rId3" Type="http://schemas.openxmlformats.org/officeDocument/2006/relationships/image" Target="../media/image90.jpg"/><Relationship Id="rId4" Type="http://schemas.openxmlformats.org/officeDocument/2006/relationships/image" Target="../media/image91.jpg"/><Relationship Id="rId5" Type="http://schemas.openxmlformats.org/officeDocument/2006/relationships/image" Target="../media/image92.jpg"/><Relationship Id="rId6" Type="http://schemas.openxmlformats.org/officeDocument/2006/relationships/image" Target="../media/image93.jpg"/><Relationship Id="rId7" Type="http://schemas.openxmlformats.org/officeDocument/2006/relationships/image" Target="../media/image94.jpg"/><Relationship Id="rId8" Type="http://schemas.openxmlformats.org/officeDocument/2006/relationships/image" Target="../media/image95.jpg"/><Relationship Id="rId9" Type="http://schemas.openxmlformats.org/officeDocument/2006/relationships/image" Target="../media/image96.jpg"/><Relationship Id="rId10" Type="http://schemas.openxmlformats.org/officeDocument/2006/relationships/image" Target="../media/image97.jpg"/><Relationship Id="rId11" Type="http://schemas.openxmlformats.org/officeDocument/2006/relationships/image" Target="../media/image98.jpg"/><Relationship Id="rId12" Type="http://schemas.openxmlformats.org/officeDocument/2006/relationships/image" Target="../media/image99.jpg"/><Relationship Id="rId13" Type="http://schemas.openxmlformats.org/officeDocument/2006/relationships/image" Target="../media/image10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jp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7.png"/><Relationship Id="rId4" Type="http://schemas.openxmlformats.org/officeDocument/2006/relationships/image" Target="../media/image108.png"/><Relationship Id="rId5" Type="http://schemas.openxmlformats.org/officeDocument/2006/relationships/image" Target="../media/image109.png"/><Relationship Id="rId6" Type="http://schemas.openxmlformats.org/officeDocument/2006/relationships/image" Target="../media/image110.jpg"/><Relationship Id="rId7" Type="http://schemas.openxmlformats.org/officeDocument/2006/relationships/image" Target="../media/image1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 Id="rId3" Type="http://schemas.openxmlformats.org/officeDocument/2006/relationships/image" Target="../media/image117.png"/><Relationship Id="rId4" Type="http://schemas.openxmlformats.org/officeDocument/2006/relationships/image" Target="../media/image118.png"/><Relationship Id="rId5" Type="http://schemas.openxmlformats.org/officeDocument/2006/relationships/image" Target="../media/image11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jpg"/><Relationship Id="rId3" Type="http://schemas.openxmlformats.org/officeDocument/2006/relationships/image" Target="../media/image121.jp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image" Target="../media/image124.png"/><Relationship Id="rId7" Type="http://schemas.openxmlformats.org/officeDocument/2006/relationships/image" Target="../media/image1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jpg"/><Relationship Id="rId3" Type="http://schemas.openxmlformats.org/officeDocument/2006/relationships/image" Target="../media/image127.jpg"/><Relationship Id="rId4" Type="http://schemas.openxmlformats.org/officeDocument/2006/relationships/image" Target="../media/image46.png"/><Relationship Id="rId5" Type="http://schemas.openxmlformats.org/officeDocument/2006/relationships/image" Target="../media/image5.png"/><Relationship Id="rId6" Type="http://schemas.openxmlformats.org/officeDocument/2006/relationships/image" Target="../media/image128.png"/><Relationship Id="rId7" Type="http://schemas.openxmlformats.org/officeDocument/2006/relationships/image" Target="../media/image4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png"/><Relationship Id="rId3" Type="http://schemas.openxmlformats.org/officeDocument/2006/relationships/image" Target="../media/image130.png"/><Relationship Id="rId4" Type="http://schemas.openxmlformats.org/officeDocument/2006/relationships/image" Target="../media/image131.png"/><Relationship Id="rId5" Type="http://schemas.openxmlformats.org/officeDocument/2006/relationships/image" Target="../media/image13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AUGUST 2026  ·  NEW DELHI</a:t>
            </a:r>
          </a:p>
        </p:txBody>
      </p:sp>
      <p:sp>
        <p:nvSpPr>
          <p:cNvPr id="5" name="TextBox 4"/>
          <p:cNvSpPr txBox="1"/>
          <p:nvPr/>
        </p:nvSpPr>
        <p:spPr>
          <a:xfrm>
            <a:off x="566928" y="1371600"/>
            <a:ext cx="7498079" cy="274320"/>
          </a:xfrm>
          <a:prstGeom prst="rect">
            <a:avLst/>
          </a:prstGeom>
          <a:noFill/>
        </p:spPr>
        <p:txBody>
          <a:bodyPr wrap="square" lIns="0" rIns="0" tIns="0" bIns="0" anchor="t">
            <a:spAutoFit/>
          </a:bodyPr>
          <a:lstStyle/>
          <a:p>
            <a:pPr algn="l">
              <a:lnSpc>
                <a:spcPct val="128000"/>
              </a:lnSpc>
            </a:pPr>
            <a:r>
              <a:rPr sz="1050" b="1" i="0" spc="220">
                <a:solidFill>
                  <a:srgbClr val="4A35FF"/>
                </a:solidFill>
                <a:latin typeface="Montserrat"/>
              </a:rPr>
              <a:t>EXPRESSION OF INTEREST  ·  NATIONAL ROAD SAFETY BOARD</a:t>
            </a:r>
          </a:p>
        </p:txBody>
      </p:sp>
      <p:sp>
        <p:nvSpPr>
          <p:cNvPr id="6" name="TextBox 5"/>
          <p:cNvSpPr txBox="1"/>
          <p:nvPr/>
        </p:nvSpPr>
        <p:spPr>
          <a:xfrm>
            <a:off x="566928" y="1755648"/>
            <a:ext cx="7589520" cy="777240"/>
          </a:xfrm>
          <a:prstGeom prst="rect">
            <a:avLst/>
          </a:prstGeom>
          <a:noFill/>
        </p:spPr>
        <p:txBody>
          <a:bodyPr wrap="square" lIns="0" rIns="0" tIns="0" bIns="0" anchor="t">
            <a:spAutoFit/>
          </a:bodyPr>
          <a:lstStyle/>
          <a:p>
            <a:pPr algn="l">
              <a:lnSpc>
                <a:spcPct val="100000"/>
              </a:lnSpc>
            </a:pPr>
            <a:r>
              <a:rPr sz="4300" b="1" i="0">
                <a:solidFill>
                  <a:srgbClr val="16181D"/>
                </a:solidFill>
                <a:latin typeface="Montserrat"/>
              </a:rPr>
              <a:t>Crashfree India</a:t>
            </a:r>
          </a:p>
        </p:txBody>
      </p:sp>
      <p:sp>
        <p:nvSpPr>
          <p:cNvPr id="7" name="TextBox 6"/>
          <p:cNvSpPr txBox="1"/>
          <p:nvPr/>
        </p:nvSpPr>
        <p:spPr>
          <a:xfrm>
            <a:off x="566928" y="2578608"/>
            <a:ext cx="7589520" cy="777240"/>
          </a:xfrm>
          <a:prstGeom prst="rect">
            <a:avLst/>
          </a:prstGeom>
          <a:noFill/>
        </p:spPr>
        <p:txBody>
          <a:bodyPr wrap="square" lIns="0" rIns="0" tIns="0" bIns="0" anchor="t">
            <a:spAutoFit/>
          </a:bodyPr>
          <a:lstStyle/>
          <a:p>
            <a:pPr algn="l">
              <a:lnSpc>
                <a:spcPct val="125000"/>
              </a:lnSpc>
            </a:pPr>
            <a:r>
              <a:rPr sz="1650" b="1" i="0">
                <a:solidFill>
                  <a:srgbClr val="4A35FF"/>
                </a:solidFill>
                <a:latin typeface="Montserrat"/>
              </a:rPr>
              <a:t>Application to Working Group 5:</a:t>
            </a:r>
          </a:p>
          <a:p>
            <a:pPr algn="l">
              <a:lnSpc>
                <a:spcPct val="125000"/>
              </a:lnSpc>
            </a:pPr>
            <a:r>
              <a:rPr sz="1650" b="1" i="0">
                <a:solidFill>
                  <a:srgbClr val="4A35FF"/>
                </a:solidFill>
                <a:latin typeface="Montserrat"/>
              </a:rPr>
              <a:t>Post-Crash Care, Policy Standards &amp; State Implementation</a:t>
            </a:r>
          </a:p>
        </p:txBody>
      </p:sp>
      <p:sp>
        <p:nvSpPr>
          <p:cNvPr id="8" name="TextBox 7"/>
          <p:cNvSpPr txBox="1"/>
          <p:nvPr/>
        </p:nvSpPr>
        <p:spPr>
          <a:xfrm>
            <a:off x="566928" y="3520440"/>
            <a:ext cx="7406640" cy="594360"/>
          </a:xfrm>
          <a:prstGeom prst="rect">
            <a:avLst/>
          </a:prstGeom>
          <a:noFill/>
        </p:spPr>
        <p:txBody>
          <a:bodyPr wrap="square" lIns="0" rIns="0" tIns="0" bIns="0" anchor="t">
            <a:spAutoFit/>
          </a:bodyPr>
          <a:lstStyle/>
          <a:p>
            <a:pPr algn="l">
              <a:lnSpc>
                <a:spcPct val="135000"/>
              </a:lnSpc>
            </a:pPr>
            <a:r>
              <a:rPr sz="1150" b="0" i="0">
                <a:solidFill>
                  <a:srgbClr val="6E7180"/>
                </a:solidFill>
                <a:latin typeface="Geist"/>
              </a:rPr>
              <a:t>A technology-led road safety nonprofit — backed by Cars24, operated by the Vision Zero</a:t>
            </a:r>
          </a:p>
          <a:p>
            <a:pPr algn="l">
              <a:lnSpc>
                <a:spcPct val="135000"/>
              </a:lnSpc>
            </a:pPr>
            <a:r>
              <a:rPr sz="1150" b="0" i="0">
                <a:solidFill>
                  <a:srgbClr val="6E7180"/>
                </a:solidFill>
                <a:latin typeface="Geist"/>
              </a:rPr>
              <a:t>Trust — working with public authorities across 18 cities.</a:t>
            </a:r>
          </a:p>
        </p:txBody>
      </p:sp>
      <p:sp>
        <p:nvSpPr>
          <p:cNvPr id="9" name="Rounded Rectangle 8"/>
          <p:cNvSpPr/>
          <p:nvPr/>
        </p:nvSpPr>
        <p:spPr>
          <a:xfrm>
            <a:off x="566928" y="4315968"/>
            <a:ext cx="2395728" cy="841248"/>
          </a:xfrm>
          <a:prstGeom prst="roundRect">
            <a:avLst>
              <a:gd name="adj" fmla="val 14000"/>
            </a:avLst>
          </a:prstGeom>
          <a:solidFill>
            <a:srgbClr val="F7F7FA"/>
          </a:solidFill>
          <a:ln>
            <a:noFill/>
          </a:ln>
          <a:effectLst/>
        </p:spPr>
        <p:txBody>
          <a:bodyPr rtlCol="0" anchor="ctr"/>
          <a:lstStyle/>
          <a:p>
            <a:pPr algn="ctr"/>
          </a:p>
        </p:txBody>
      </p:sp>
      <p:sp>
        <p:nvSpPr>
          <p:cNvPr id="10" name="TextBox 9"/>
          <p:cNvSpPr txBox="1"/>
          <p:nvPr/>
        </p:nvSpPr>
        <p:spPr>
          <a:xfrm>
            <a:off x="713232" y="4407408"/>
            <a:ext cx="2121408" cy="384048"/>
          </a:xfrm>
          <a:prstGeom prst="rect">
            <a:avLst/>
          </a:prstGeom>
          <a:noFill/>
        </p:spPr>
        <p:txBody>
          <a:bodyPr wrap="square" lIns="0" rIns="0" tIns="0" bIns="0" anchor="t">
            <a:spAutoFit/>
          </a:bodyPr>
          <a:lstStyle/>
          <a:p>
            <a:pPr algn="l">
              <a:lnSpc>
                <a:spcPct val="100000"/>
              </a:lnSpc>
            </a:pPr>
            <a:r>
              <a:rPr sz="1500" b="1" i="0">
                <a:solidFill>
                  <a:srgbClr val="4A35FF"/>
                </a:solidFill>
                <a:latin typeface="Montserrat"/>
              </a:rPr>
              <a:t>24/7</a:t>
            </a:r>
          </a:p>
        </p:txBody>
      </p:sp>
      <p:sp>
        <p:nvSpPr>
          <p:cNvPr id="11" name="TextBox 10"/>
          <p:cNvSpPr txBox="1"/>
          <p:nvPr/>
        </p:nvSpPr>
        <p:spPr>
          <a:xfrm>
            <a:off x="713232" y="4745736"/>
            <a:ext cx="2121408" cy="384048"/>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Aasha — AI legal companion for victims</a:t>
            </a:r>
          </a:p>
        </p:txBody>
      </p:sp>
      <p:sp>
        <p:nvSpPr>
          <p:cNvPr id="12" name="Rounded Rectangle 11"/>
          <p:cNvSpPr/>
          <p:nvPr/>
        </p:nvSpPr>
        <p:spPr>
          <a:xfrm>
            <a:off x="3090672" y="4315968"/>
            <a:ext cx="2395728" cy="841248"/>
          </a:xfrm>
          <a:prstGeom prst="roundRect">
            <a:avLst>
              <a:gd name="adj" fmla="val 14000"/>
            </a:avLst>
          </a:prstGeom>
          <a:solidFill>
            <a:srgbClr val="F7F7FA"/>
          </a:solidFill>
          <a:ln>
            <a:noFill/>
          </a:ln>
          <a:effectLst/>
        </p:spPr>
        <p:txBody>
          <a:bodyPr rtlCol="0" anchor="ctr"/>
          <a:lstStyle/>
          <a:p>
            <a:pPr algn="ctr"/>
          </a:p>
        </p:txBody>
      </p:sp>
      <p:sp>
        <p:nvSpPr>
          <p:cNvPr id="13" name="TextBox 12"/>
          <p:cNvSpPr txBox="1"/>
          <p:nvPr/>
        </p:nvSpPr>
        <p:spPr>
          <a:xfrm>
            <a:off x="3236976" y="4407408"/>
            <a:ext cx="2121408" cy="384048"/>
          </a:xfrm>
          <a:prstGeom prst="rect">
            <a:avLst/>
          </a:prstGeom>
          <a:noFill/>
        </p:spPr>
        <p:txBody>
          <a:bodyPr wrap="square" lIns="0" rIns="0" tIns="0" bIns="0" anchor="t">
            <a:spAutoFit/>
          </a:bodyPr>
          <a:lstStyle/>
          <a:p>
            <a:pPr algn="l">
              <a:lnSpc>
                <a:spcPct val="100000"/>
              </a:lnSpc>
            </a:pPr>
            <a:r>
              <a:rPr sz="1500" b="1" i="0">
                <a:solidFill>
                  <a:srgbClr val="4A35FF"/>
                </a:solidFill>
                <a:latin typeface="Montserrat"/>
              </a:rPr>
              <a:t>100+</a:t>
            </a:r>
          </a:p>
        </p:txBody>
      </p:sp>
      <p:sp>
        <p:nvSpPr>
          <p:cNvPr id="14" name="TextBox 13"/>
          <p:cNvSpPr txBox="1"/>
          <p:nvPr/>
        </p:nvSpPr>
        <p:spPr>
          <a:xfrm>
            <a:off x="3236976" y="4745736"/>
            <a:ext cx="2121408" cy="384048"/>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victims helped in helpdesks' first 4 days</a:t>
            </a:r>
          </a:p>
        </p:txBody>
      </p:sp>
      <p:sp>
        <p:nvSpPr>
          <p:cNvPr id="15" name="Rounded Rectangle 14"/>
          <p:cNvSpPr/>
          <p:nvPr/>
        </p:nvSpPr>
        <p:spPr>
          <a:xfrm>
            <a:off x="5614416" y="4315968"/>
            <a:ext cx="2395728" cy="841248"/>
          </a:xfrm>
          <a:prstGeom prst="roundRect">
            <a:avLst>
              <a:gd name="adj" fmla="val 14000"/>
            </a:avLst>
          </a:prstGeom>
          <a:solidFill>
            <a:srgbClr val="F7F7FA"/>
          </a:solidFill>
          <a:ln>
            <a:noFill/>
          </a:ln>
          <a:effectLst/>
        </p:spPr>
        <p:txBody>
          <a:bodyPr rtlCol="0" anchor="ctr"/>
          <a:lstStyle/>
          <a:p>
            <a:pPr algn="ctr"/>
          </a:p>
        </p:txBody>
      </p:sp>
      <p:sp>
        <p:nvSpPr>
          <p:cNvPr id="16" name="TextBox 15"/>
          <p:cNvSpPr txBox="1"/>
          <p:nvPr/>
        </p:nvSpPr>
        <p:spPr>
          <a:xfrm>
            <a:off x="5760720" y="4407408"/>
            <a:ext cx="2121408" cy="384048"/>
          </a:xfrm>
          <a:prstGeom prst="rect">
            <a:avLst/>
          </a:prstGeom>
          <a:noFill/>
        </p:spPr>
        <p:txBody>
          <a:bodyPr wrap="square" lIns="0" rIns="0" tIns="0" bIns="0" anchor="t">
            <a:spAutoFit/>
          </a:bodyPr>
          <a:lstStyle/>
          <a:p>
            <a:pPr algn="l">
              <a:lnSpc>
                <a:spcPct val="100000"/>
              </a:lnSpc>
            </a:pPr>
            <a:r>
              <a:rPr sz="1500" b="1" i="0">
                <a:solidFill>
                  <a:srgbClr val="4A35FF"/>
                </a:solidFill>
                <a:latin typeface="Montserrat"/>
              </a:rPr>
              <a:t>4</a:t>
            </a:r>
          </a:p>
        </p:txBody>
      </p:sp>
      <p:sp>
        <p:nvSpPr>
          <p:cNvPr id="17" name="TextBox 16"/>
          <p:cNvSpPr txBox="1"/>
          <p:nvPr/>
        </p:nvSpPr>
        <p:spPr>
          <a:xfrm>
            <a:off x="5760720" y="4745736"/>
            <a:ext cx="2121408" cy="384048"/>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District Road Safety Committees joined</a:t>
            </a:r>
          </a:p>
        </p:txBody>
      </p:sp>
      <p:sp>
        <p:nvSpPr>
          <p:cNvPr id="18" name="TextBox 17"/>
          <p:cNvSpPr txBox="1"/>
          <p:nvPr/>
        </p:nvSpPr>
        <p:spPr>
          <a:xfrm>
            <a:off x="566928" y="6309360"/>
            <a:ext cx="786384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Submitted to the Chairperson and Members, Working Group 5, National Road Safety Board</a:t>
            </a:r>
          </a:p>
        </p:txBody>
      </p:sp>
      <p:sp>
        <p:nvSpPr>
          <p:cNvPr id="19" name="TextBox 18"/>
          <p:cNvSpPr txBox="1"/>
          <p:nvPr/>
        </p:nvSpPr>
        <p:spPr>
          <a:xfrm>
            <a:off x="9247327" y="6309360"/>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pic>
        <p:nvPicPr>
          <p:cNvPr id="20" name="Picture 19" descr="ph_dhoni_white.jpg_3.60x4.90_0.12.jpg"/>
          <p:cNvPicPr>
            <a:picLocks noChangeAspect="1"/>
          </p:cNvPicPr>
          <p:nvPr/>
        </p:nvPicPr>
        <p:blipFill>
          <a:blip r:embed="rId3"/>
          <a:stretch>
            <a:fillRect/>
          </a:stretch>
        </p:blipFill>
        <p:spPr>
          <a:xfrm>
            <a:off x="8321040" y="1051560"/>
            <a:ext cx="3291840" cy="4480560"/>
          </a:xfrm>
          <a:prstGeom prst="rect">
            <a:avLst/>
          </a:prstGeom>
        </p:spPr>
      </p:pic>
      <p:sp>
        <p:nvSpPr>
          <p:cNvPr id="21" name="Rectangle 20"/>
          <p:cNvSpPr/>
          <p:nvPr/>
        </p:nvSpPr>
        <p:spPr>
          <a:xfrm>
            <a:off x="8321040" y="1051560"/>
            <a:ext cx="3291840" cy="4480560"/>
          </a:xfrm>
          <a:prstGeom prst="rect">
            <a:avLst/>
          </a:prstGeom>
          <a:noFill/>
          <a:ln w="12700">
            <a:solidFill>
              <a:srgbClr val="E8E9EE"/>
            </a:solidFill>
          </a:ln>
          <a:effectLst/>
        </p:spPr>
        <p:txBody>
          <a:bodyPr rtlCol="0" anchor="ctr"/>
          <a:lstStyle/>
          <a:p>
            <a:pPr algn="ctr"/>
          </a:p>
        </p:txBody>
      </p:sp>
      <p:sp>
        <p:nvSpPr>
          <p:cNvPr id="22" name="Rectangle 21"/>
          <p:cNvSpPr/>
          <p:nvPr/>
        </p:nvSpPr>
        <p:spPr>
          <a:xfrm>
            <a:off x="8321040" y="5020056"/>
            <a:ext cx="3291840" cy="512064"/>
          </a:xfrm>
          <a:prstGeom prst="rect">
            <a:avLst/>
          </a:prstGeom>
          <a:solidFill>
            <a:srgbClr val="4A35FF"/>
          </a:solidFill>
          <a:ln>
            <a:noFill/>
          </a:ln>
          <a:effectLst/>
        </p:spPr>
        <p:txBody>
          <a:bodyPr rtlCol="0" anchor="ctr"/>
          <a:lstStyle/>
          <a:p>
            <a:pPr algn="ctr"/>
          </a:p>
        </p:txBody>
      </p:sp>
      <p:sp>
        <p:nvSpPr>
          <p:cNvPr id="23" name="TextBox 22"/>
          <p:cNvSpPr txBox="1"/>
          <p:nvPr/>
        </p:nvSpPr>
        <p:spPr>
          <a:xfrm>
            <a:off x="8321040" y="5056632"/>
            <a:ext cx="3291840" cy="457200"/>
          </a:xfrm>
          <a:prstGeom prst="rect">
            <a:avLst/>
          </a:prstGeom>
          <a:noFill/>
        </p:spPr>
        <p:txBody>
          <a:bodyPr wrap="square" lIns="0" rIns="0" tIns="0" bIns="0" anchor="t">
            <a:spAutoFit/>
          </a:bodyPr>
          <a:lstStyle/>
          <a:p>
            <a:pPr algn="ctr">
              <a:lnSpc>
                <a:spcPct val="115000"/>
              </a:lnSpc>
            </a:pPr>
            <a:r>
              <a:rPr sz="850" b="1" i="0" spc="100">
                <a:solidFill>
                  <a:srgbClr val="FFFFFF"/>
                </a:solidFill>
                <a:latin typeface="Montserrat"/>
              </a:rPr>
              <a:t>MS DHONI · GOODWILL AMBASSADOR,</a:t>
            </a:r>
          </a:p>
          <a:p>
            <a:pPr algn="ctr">
              <a:lnSpc>
                <a:spcPct val="115000"/>
              </a:lnSpc>
            </a:pPr>
            <a:r>
              <a:rPr sz="850" b="1" i="0" spc="100">
                <a:solidFill>
                  <a:srgbClr val="FFFFFF"/>
                </a:solidFill>
                <a:latin typeface="Montserrat"/>
              </a:rPr>
              <a:t>CRASHFREE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letter to the </a:t>
            </a:r>
            <a:r>
              <a:rPr sz="2250" b="1" i="0">
                <a:solidFill>
                  <a:srgbClr val="4A35FF"/>
                </a:solidFill>
                <a:latin typeface="Montserrat"/>
              </a:rPr>
              <a:t>Working Group</a:t>
            </a:r>
          </a:p>
        </p:txBody>
      </p:sp>
      <p:sp>
        <p:nvSpPr>
          <p:cNvPr id="6" name="Rectangle 5"/>
          <p:cNvSpPr/>
          <p:nvPr/>
        </p:nvSpPr>
        <p:spPr>
          <a:xfrm>
            <a:off x="1435608" y="1371600"/>
            <a:ext cx="9326880" cy="4956048"/>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435608" y="1371600"/>
            <a:ext cx="932688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92808" y="1664208"/>
            <a:ext cx="1234440" cy="170579"/>
          </a:xfrm>
          <a:prstGeom prst="rect">
            <a:avLst/>
          </a:prstGeom>
        </p:spPr>
      </p:pic>
      <p:sp>
        <p:nvSpPr>
          <p:cNvPr id="9" name="TextBox 8"/>
          <p:cNvSpPr txBox="1"/>
          <p:nvPr/>
        </p:nvSpPr>
        <p:spPr>
          <a:xfrm>
            <a:off x="7836408" y="1700784"/>
            <a:ext cx="246888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New Delhi · August 2026</a:t>
            </a:r>
          </a:p>
        </p:txBody>
      </p:sp>
      <p:sp>
        <p:nvSpPr>
          <p:cNvPr id="10" name="TextBox 9"/>
          <p:cNvSpPr txBox="1"/>
          <p:nvPr/>
        </p:nvSpPr>
        <p:spPr>
          <a:xfrm>
            <a:off x="1892808" y="2240280"/>
            <a:ext cx="8412480" cy="3291840"/>
          </a:xfrm>
          <a:prstGeom prst="rect">
            <a:avLst/>
          </a:prstGeom>
          <a:noFill/>
        </p:spPr>
        <p:txBody>
          <a:bodyPr wrap="square" lIns="0" rIns="0" tIns="0" bIns="0" anchor="t">
            <a:spAutoFit/>
          </a:bodyPr>
          <a:lstStyle/>
          <a:p>
            <a:pPr algn="l">
              <a:lnSpc>
                <a:spcPct val="130000"/>
              </a:lnSpc>
              <a:spcAft>
                <a:spcPts val="700"/>
              </a:spcAft>
            </a:pPr>
            <a:r>
              <a:rPr sz="1060" b="0" i="0">
                <a:solidFill>
                  <a:srgbClr val="16181D"/>
                </a:solidFill>
                <a:latin typeface="Geist"/>
              </a:rPr>
              <a:t>Respected Chairperson and Members of Working Group 5,</a:t>
            </a:r>
          </a:p>
          <a:p>
            <a:pPr algn="l">
              <a:lnSpc>
                <a:spcPct val="130000"/>
              </a:lnSpc>
              <a:spcAft>
                <a:spcPts val="700"/>
              </a:spcAft>
            </a:pPr>
            <a:r>
              <a:rPr sz="1060" b="0" i="0">
                <a:solidFill>
                  <a:srgbClr val="16181D"/>
                </a:solidFill>
                <a:latin typeface="Geist"/>
              </a:rPr>
              <a:t>Crashfree India is a young road safety nonprofit — registered as the Vision Zero Trust, co-founded with the Indian Road Safety Council, and backed by a three-year, US$3 million commitment from Cars24. We work alongside public authorities: our student teams audit dangerous locations under senior experts, our technology helps police and administrators see their own pipelines, and our support tools stand with families after a crash. MS Dhoni carries this message to the country as our Goodwill Ambassador.</a:t>
            </a:r>
          </a:p>
          <a:p>
            <a:pPr algn="l">
              <a:lnSpc>
                <a:spcPct val="130000"/>
              </a:lnSpc>
              <a:spcAft>
                <a:spcPts val="700"/>
              </a:spcAft>
            </a:pPr>
            <a:r>
              <a:rPr sz="1060" b="0" i="0">
                <a:solidFill>
                  <a:srgbClr val="16181D"/>
                </a:solidFill>
                <a:latin typeface="Geist"/>
              </a:rPr>
              <a:t>Our post-crash work began with evidence. 'Justice Unserved', our study of the hit-and-run compensation pipeline, showed how few eligible families ever receive what the law promises — and our follow-up brief, 'Deposited But Not Delivered', found ~₹986 crore of already-awarded compensation sitting unclaimed in just five cities. Since then we have joined four District Road Safety Committees, mapped Rajasthan's scheme office-by-office with the Transport Department, and built the tools families actually use — the Aasha chatbot, a compensation calculator, hospital helpdesks that supported 100+ victims in their first four days, and plain-language guides in Hindi.</a:t>
            </a:r>
          </a:p>
          <a:p>
            <a:pPr algn="l">
              <a:lnSpc>
                <a:spcPct val="130000"/>
              </a:lnSpc>
              <a:spcAft>
                <a:spcPts val="700"/>
              </a:spcAft>
            </a:pPr>
            <a:r>
              <a:rPr sz="1060" b="0" i="0">
                <a:solidFill>
                  <a:srgbClr val="16181D"/>
                </a:solidFill>
                <a:latin typeface="Geist"/>
              </a:rPr>
              <a:t>The pages that follow introduce the organisation briefly, then set out the work most relevant to this Working Group in the detail its mandate deserves. Everything shown is running today, is public, and is offered to the Board without cost. We would be honoured to contribute.</a:t>
            </a:r>
          </a:p>
        </p:txBody>
      </p:sp>
      <p:sp>
        <p:nvSpPr>
          <p:cNvPr id="11" name="TextBox 10"/>
          <p:cNvSpPr txBox="1"/>
          <p:nvPr/>
        </p:nvSpPr>
        <p:spPr>
          <a:xfrm>
            <a:off x="1892808" y="5596128"/>
            <a:ext cx="8412480" cy="274320"/>
          </a:xfrm>
          <a:prstGeom prst="rect">
            <a:avLst/>
          </a:prstGeom>
          <a:noFill/>
        </p:spPr>
        <p:txBody>
          <a:bodyPr wrap="square" lIns="0" rIns="0" tIns="0" bIns="0" anchor="t">
            <a:spAutoFit/>
          </a:bodyPr>
          <a:lstStyle/>
          <a:p>
            <a:pPr algn="l">
              <a:lnSpc>
                <a:spcPct val="128000"/>
              </a:lnSpc>
            </a:pPr>
            <a:r>
              <a:rPr sz="1060" b="0" i="0">
                <a:solidFill>
                  <a:srgbClr val="16181D"/>
                </a:solidFill>
                <a:latin typeface="Geist"/>
              </a:rPr>
              <a:t>Respectfully,</a:t>
            </a:r>
          </a:p>
        </p:txBody>
      </p:sp>
      <p:sp>
        <p:nvSpPr>
          <p:cNvPr id="12" name="TextBox 11"/>
          <p:cNvSpPr txBox="1"/>
          <p:nvPr/>
        </p:nvSpPr>
        <p:spPr>
          <a:xfrm>
            <a:off x="1892808" y="5870448"/>
            <a:ext cx="8412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92808" y="6089904"/>
            <a:ext cx="841248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  ·  crashfreeindia.org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HOW THIS DECK IS ORGANISED</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Five sections, </a:t>
            </a:r>
            <a:r>
              <a:rPr sz="2250" b="1" i="0">
                <a:solidFill>
                  <a:srgbClr val="4A35FF"/>
                </a:solidFill>
                <a:latin typeface="Montserrat"/>
              </a:rPr>
              <a:t>three minutes</a:t>
            </a:r>
            <a:r>
              <a:rPr sz="2250" b="1" i="0">
                <a:solidFill>
                  <a:srgbClr val="16181D"/>
                </a:solidFill>
                <a:latin typeface="Montserrat"/>
              </a:rPr>
              <a:t> to skim</a:t>
            </a:r>
          </a:p>
        </p:txBody>
      </p:sp>
      <p:sp>
        <p:nvSpPr>
          <p:cNvPr id="6" name="Rounded Rectangle 5"/>
          <p:cNvSpPr/>
          <p:nvPr/>
        </p:nvSpPr>
        <p:spPr>
          <a:xfrm>
            <a:off x="566928" y="1572768"/>
            <a:ext cx="11057839" cy="804672"/>
          </a:xfrm>
          <a:prstGeom prst="roundRect">
            <a:avLst>
              <a:gd name="adj" fmla="val 10000"/>
            </a:avLst>
          </a:prstGeom>
          <a:solidFill>
            <a:srgbClr val="F7F7FA"/>
          </a:solidFill>
          <a:ln>
            <a:noFill/>
          </a:ln>
          <a:effectLst/>
        </p:spPr>
        <p:txBody>
          <a:bodyPr rtlCol="0" anchor="ctr"/>
          <a:lstStyle/>
          <a:p>
            <a:pPr algn="ctr"/>
          </a:p>
        </p:txBody>
      </p:sp>
      <p:sp>
        <p:nvSpPr>
          <p:cNvPr id="7" name="Oval 6"/>
          <p:cNvSpPr/>
          <p:nvPr/>
        </p:nvSpPr>
        <p:spPr>
          <a:xfrm>
            <a:off x="768096" y="1755648"/>
            <a:ext cx="438912" cy="438912"/>
          </a:xfrm>
          <a:prstGeom prst="ellipse">
            <a:avLst/>
          </a:prstGeom>
          <a:solidFill>
            <a:srgbClr val="EFEDFF"/>
          </a:solidFill>
          <a:ln>
            <a:noFill/>
          </a:ln>
          <a:effectLst/>
        </p:spPr>
        <p:txBody>
          <a:bodyPr rtlCol="0" anchor="ctr"/>
          <a:lstStyle/>
          <a:p>
            <a:pPr algn="ctr"/>
          </a:p>
        </p:txBody>
      </p:sp>
      <p:sp>
        <p:nvSpPr>
          <p:cNvPr id="8" name="TextBox 7"/>
          <p:cNvSpPr txBox="1"/>
          <p:nvPr/>
        </p:nvSpPr>
        <p:spPr>
          <a:xfrm>
            <a:off x="768096" y="174467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9" name="Oval 8"/>
          <p:cNvSpPr/>
          <p:nvPr/>
        </p:nvSpPr>
        <p:spPr>
          <a:xfrm>
            <a:off x="1435608" y="1755648"/>
            <a:ext cx="438912" cy="438912"/>
          </a:xfrm>
          <a:prstGeom prst="ellipse">
            <a:avLst/>
          </a:prstGeom>
          <a:solidFill>
            <a:srgbClr val="EFEDFF"/>
          </a:solidFill>
          <a:ln>
            <a:noFill/>
          </a:ln>
          <a:effectLst/>
        </p:spPr>
        <p:txBody>
          <a:bodyPr rtlCol="0" anchor="ctr"/>
          <a:lstStyle/>
          <a:p>
            <a:pPr algn="ctr"/>
          </a:p>
        </p:txBody>
      </p:sp>
      <p:pic>
        <p:nvPicPr>
          <p:cNvPr id="10" name="Picture 9" descr="building-2_4A35FF_256_2.0.png"/>
          <p:cNvPicPr>
            <a:picLocks noChangeAspect="1"/>
          </p:cNvPicPr>
          <p:nvPr/>
        </p:nvPicPr>
        <p:blipFill>
          <a:blip r:embed="rId2"/>
          <a:stretch>
            <a:fillRect/>
          </a:stretch>
        </p:blipFill>
        <p:spPr>
          <a:xfrm>
            <a:off x="1540946" y="1860986"/>
            <a:ext cx="228234" cy="228234"/>
          </a:xfrm>
          <a:prstGeom prst="rect">
            <a:avLst/>
          </a:prstGeom>
        </p:spPr>
      </p:pic>
      <p:sp>
        <p:nvSpPr>
          <p:cNvPr id="11" name="TextBox 10"/>
          <p:cNvSpPr txBox="1"/>
          <p:nvPr/>
        </p:nvSpPr>
        <p:spPr>
          <a:xfrm>
            <a:off x="2103120" y="1691640"/>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About us — and how we work</a:t>
            </a:r>
          </a:p>
        </p:txBody>
      </p:sp>
      <p:sp>
        <p:nvSpPr>
          <p:cNvPr id="12" name="TextBox 11"/>
          <p:cNvSpPr txBox="1"/>
          <p:nvPr/>
        </p:nvSpPr>
        <p:spPr>
          <a:xfrm>
            <a:off x="2103120" y="1993392"/>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Who we are, our approach to the road crash crisis, and why this Working Group.</a:t>
            </a:r>
          </a:p>
        </p:txBody>
      </p:sp>
      <p:sp>
        <p:nvSpPr>
          <p:cNvPr id="13" name="TextBox 12"/>
          <p:cNvSpPr txBox="1"/>
          <p:nvPr/>
        </p:nvSpPr>
        <p:spPr>
          <a:xfrm>
            <a:off x="10024567" y="1792224"/>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04 – 06</a:t>
            </a:r>
          </a:p>
        </p:txBody>
      </p:sp>
      <p:sp>
        <p:nvSpPr>
          <p:cNvPr id="14" name="Rounded Rectangle 13"/>
          <p:cNvSpPr/>
          <p:nvPr/>
        </p:nvSpPr>
        <p:spPr>
          <a:xfrm>
            <a:off x="566928" y="2505456"/>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68096" y="2688336"/>
            <a:ext cx="438912" cy="438912"/>
          </a:xfrm>
          <a:prstGeom prst="ellipse">
            <a:avLst/>
          </a:prstGeom>
          <a:solidFill>
            <a:srgbClr val="EFEDFF"/>
          </a:solidFill>
          <a:ln>
            <a:noFill/>
          </a:ln>
          <a:effectLst/>
        </p:spPr>
        <p:txBody>
          <a:bodyPr rtlCol="0" anchor="ctr"/>
          <a:lstStyle/>
          <a:p>
            <a:pPr algn="ctr"/>
          </a:p>
        </p:txBody>
      </p:sp>
      <p:sp>
        <p:nvSpPr>
          <p:cNvPr id="16" name="TextBox 15"/>
          <p:cNvSpPr txBox="1"/>
          <p:nvPr/>
        </p:nvSpPr>
        <p:spPr>
          <a:xfrm>
            <a:off x="768096" y="267736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7" name="Oval 16"/>
          <p:cNvSpPr/>
          <p:nvPr/>
        </p:nvSpPr>
        <p:spPr>
          <a:xfrm>
            <a:off x="1435608" y="2688336"/>
            <a:ext cx="438912" cy="438912"/>
          </a:xfrm>
          <a:prstGeom prst="ellipse">
            <a:avLst/>
          </a:prstGeom>
          <a:solidFill>
            <a:srgbClr val="EFEDFF"/>
          </a:solidFill>
          <a:ln>
            <a:noFill/>
          </a:ln>
          <a:effectLst/>
        </p:spPr>
        <p:txBody>
          <a:bodyPr rtlCol="0" anchor="ctr"/>
          <a:lstStyle/>
          <a:p>
            <a:pPr algn="ctr"/>
          </a:p>
        </p:txBody>
      </p:sp>
      <p:pic>
        <p:nvPicPr>
          <p:cNvPr id="18" name="Picture 17" descr="layers_4A35FF_256_2.0.png"/>
          <p:cNvPicPr>
            <a:picLocks noChangeAspect="1"/>
          </p:cNvPicPr>
          <p:nvPr/>
        </p:nvPicPr>
        <p:blipFill>
          <a:blip r:embed="rId3"/>
          <a:stretch>
            <a:fillRect/>
          </a:stretch>
        </p:blipFill>
        <p:spPr>
          <a:xfrm>
            <a:off x="1540946" y="2793674"/>
            <a:ext cx="228234" cy="228234"/>
          </a:xfrm>
          <a:prstGeom prst="rect">
            <a:avLst/>
          </a:prstGeom>
        </p:spPr>
      </p:pic>
      <p:sp>
        <p:nvSpPr>
          <p:cNvPr id="19" name="TextBox 18"/>
          <p:cNvSpPr txBox="1"/>
          <p:nvPr/>
        </p:nvSpPr>
        <p:spPr>
          <a:xfrm>
            <a:off x="2103120" y="2624328"/>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What we have built</a:t>
            </a:r>
          </a:p>
        </p:txBody>
      </p:sp>
      <p:sp>
        <p:nvSpPr>
          <p:cNvPr id="20" name="TextBox 19"/>
          <p:cNvSpPr txBox="1"/>
          <p:nvPr/>
        </p:nvSpPr>
        <p:spPr>
          <a:xfrm>
            <a:off x="2103120" y="2926080"/>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Every public-facing programme — audits, enforcement tech, victim support, open data, youth, campaigns.</a:t>
            </a:r>
          </a:p>
        </p:txBody>
      </p:sp>
      <p:sp>
        <p:nvSpPr>
          <p:cNvPr id="21" name="TextBox 20"/>
          <p:cNvSpPr txBox="1"/>
          <p:nvPr/>
        </p:nvSpPr>
        <p:spPr>
          <a:xfrm>
            <a:off x="10024567" y="2724912"/>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07 – 14</a:t>
            </a:r>
          </a:p>
        </p:txBody>
      </p:sp>
      <p:sp>
        <p:nvSpPr>
          <p:cNvPr id="22" name="Rounded Rectangle 21"/>
          <p:cNvSpPr/>
          <p:nvPr/>
        </p:nvSpPr>
        <p:spPr>
          <a:xfrm>
            <a:off x="566928" y="3438144"/>
            <a:ext cx="11057839" cy="804672"/>
          </a:xfrm>
          <a:prstGeom prst="roundRect">
            <a:avLst>
              <a:gd name="adj" fmla="val 10000"/>
            </a:avLst>
          </a:prstGeom>
          <a:solidFill>
            <a:srgbClr val="F7F7FA"/>
          </a:solidFill>
          <a:ln>
            <a:noFill/>
          </a:ln>
          <a:effectLst/>
        </p:spPr>
        <p:txBody>
          <a:bodyPr rtlCol="0" anchor="ctr"/>
          <a:lstStyle/>
          <a:p>
            <a:pPr algn="ctr"/>
          </a:p>
        </p:txBody>
      </p:sp>
      <p:sp>
        <p:nvSpPr>
          <p:cNvPr id="23" name="Oval 22"/>
          <p:cNvSpPr/>
          <p:nvPr/>
        </p:nvSpPr>
        <p:spPr>
          <a:xfrm>
            <a:off x="768096" y="3621024"/>
            <a:ext cx="438912" cy="438912"/>
          </a:xfrm>
          <a:prstGeom prst="ellipse">
            <a:avLst/>
          </a:prstGeom>
          <a:solidFill>
            <a:srgbClr val="EFEDFF"/>
          </a:solidFill>
          <a:ln>
            <a:noFill/>
          </a:ln>
          <a:effectLst/>
        </p:spPr>
        <p:txBody>
          <a:bodyPr rtlCol="0" anchor="ctr"/>
          <a:lstStyle/>
          <a:p>
            <a:pPr algn="ctr"/>
          </a:p>
        </p:txBody>
      </p:sp>
      <p:sp>
        <p:nvSpPr>
          <p:cNvPr id="24" name="TextBox 23"/>
          <p:cNvSpPr txBox="1"/>
          <p:nvPr/>
        </p:nvSpPr>
        <p:spPr>
          <a:xfrm>
            <a:off x="768096" y="3610052"/>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5" name="Oval 24"/>
          <p:cNvSpPr/>
          <p:nvPr/>
        </p:nvSpPr>
        <p:spPr>
          <a:xfrm>
            <a:off x="1435608" y="3621024"/>
            <a:ext cx="438912" cy="438912"/>
          </a:xfrm>
          <a:prstGeom prst="ellipse">
            <a:avLst/>
          </a:prstGeom>
          <a:solidFill>
            <a:srgbClr val="EFEDFF"/>
          </a:solidFill>
          <a:ln>
            <a:noFill/>
          </a:ln>
          <a:effectLst/>
        </p:spPr>
        <p:txBody>
          <a:bodyPr rtlCol="0" anchor="ctr"/>
          <a:lstStyle/>
          <a:p>
            <a:pPr algn="ctr"/>
          </a:p>
        </p:txBody>
      </p:sp>
      <p:pic>
        <p:nvPicPr>
          <p:cNvPr id="26" name="Picture 25" descr="users_4A35FF_256_2.0.png"/>
          <p:cNvPicPr>
            <a:picLocks noChangeAspect="1"/>
          </p:cNvPicPr>
          <p:nvPr/>
        </p:nvPicPr>
        <p:blipFill>
          <a:blip r:embed="rId4"/>
          <a:stretch>
            <a:fillRect/>
          </a:stretch>
        </p:blipFill>
        <p:spPr>
          <a:xfrm>
            <a:off x="1540946" y="3726362"/>
            <a:ext cx="228234" cy="228234"/>
          </a:xfrm>
          <a:prstGeom prst="rect">
            <a:avLst/>
          </a:prstGeom>
        </p:spPr>
      </p:pic>
      <p:sp>
        <p:nvSpPr>
          <p:cNvPr id="27" name="TextBox 26"/>
          <p:cNvSpPr txBox="1"/>
          <p:nvPr/>
        </p:nvSpPr>
        <p:spPr>
          <a:xfrm>
            <a:off x="2103120" y="3557016"/>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Our people</a:t>
            </a:r>
          </a:p>
        </p:txBody>
      </p:sp>
      <p:sp>
        <p:nvSpPr>
          <p:cNvPr id="28" name="TextBox 27"/>
          <p:cNvSpPr txBox="1"/>
          <p:nvPr/>
        </p:nvSpPr>
        <p:spPr>
          <a:xfrm>
            <a:off x="2103120" y="3858768"/>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team, its capabilities, and the expert bench around the work.</a:t>
            </a:r>
          </a:p>
        </p:txBody>
      </p:sp>
      <p:sp>
        <p:nvSpPr>
          <p:cNvPr id="29" name="TextBox 28"/>
          <p:cNvSpPr txBox="1"/>
          <p:nvPr/>
        </p:nvSpPr>
        <p:spPr>
          <a:xfrm>
            <a:off x="10024567" y="3657600"/>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15 – 16</a:t>
            </a:r>
          </a:p>
        </p:txBody>
      </p:sp>
      <p:sp>
        <p:nvSpPr>
          <p:cNvPr id="30" name="Rounded Rectangle 29"/>
          <p:cNvSpPr/>
          <p:nvPr/>
        </p:nvSpPr>
        <p:spPr>
          <a:xfrm>
            <a:off x="566928" y="4370832"/>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1" name="Oval 30"/>
          <p:cNvSpPr/>
          <p:nvPr/>
        </p:nvSpPr>
        <p:spPr>
          <a:xfrm>
            <a:off x="768096" y="4553712"/>
            <a:ext cx="438912" cy="438912"/>
          </a:xfrm>
          <a:prstGeom prst="ellipse">
            <a:avLst/>
          </a:prstGeom>
          <a:solidFill>
            <a:srgbClr val="EFEDFF"/>
          </a:solidFill>
          <a:ln>
            <a:noFill/>
          </a:ln>
          <a:effectLst/>
        </p:spPr>
        <p:txBody>
          <a:bodyPr rtlCol="0" anchor="ctr"/>
          <a:lstStyle/>
          <a:p>
            <a:pPr algn="ctr"/>
          </a:p>
        </p:txBody>
      </p:sp>
      <p:sp>
        <p:nvSpPr>
          <p:cNvPr id="32" name="TextBox 31"/>
          <p:cNvSpPr txBox="1"/>
          <p:nvPr/>
        </p:nvSpPr>
        <p:spPr>
          <a:xfrm>
            <a:off x="768096" y="454274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33" name="Oval 32"/>
          <p:cNvSpPr/>
          <p:nvPr/>
        </p:nvSpPr>
        <p:spPr>
          <a:xfrm>
            <a:off x="1435608" y="4553712"/>
            <a:ext cx="438912" cy="438912"/>
          </a:xfrm>
          <a:prstGeom prst="ellipse">
            <a:avLst/>
          </a:prstGeom>
          <a:solidFill>
            <a:srgbClr val="EFEDFF"/>
          </a:solidFill>
          <a:ln>
            <a:noFill/>
          </a:ln>
          <a:effectLst/>
        </p:spPr>
        <p:txBody>
          <a:bodyPr rtlCol="0" anchor="ctr"/>
          <a:lstStyle/>
          <a:p>
            <a:pPr algn="ctr"/>
          </a:p>
        </p:txBody>
      </p:sp>
      <p:pic>
        <p:nvPicPr>
          <p:cNvPr id="34" name="Picture 33" descr="target_4A35FF_256_2.0.png"/>
          <p:cNvPicPr>
            <a:picLocks noChangeAspect="1"/>
          </p:cNvPicPr>
          <p:nvPr/>
        </p:nvPicPr>
        <p:blipFill>
          <a:blip r:embed="rId5"/>
          <a:stretch>
            <a:fillRect/>
          </a:stretch>
        </p:blipFill>
        <p:spPr>
          <a:xfrm>
            <a:off x="1540946" y="4659050"/>
            <a:ext cx="228234" cy="228234"/>
          </a:xfrm>
          <a:prstGeom prst="rect">
            <a:avLst/>
          </a:prstGeom>
        </p:spPr>
      </p:pic>
      <p:sp>
        <p:nvSpPr>
          <p:cNvPr id="35" name="TextBox 34"/>
          <p:cNvSpPr txBox="1"/>
          <p:nvPr/>
        </p:nvSpPr>
        <p:spPr>
          <a:xfrm>
            <a:off x="2103120" y="4489704"/>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Post-crash care in depth</a:t>
            </a:r>
          </a:p>
        </p:txBody>
      </p:sp>
      <p:sp>
        <p:nvSpPr>
          <p:cNvPr id="36" name="TextBox 35"/>
          <p:cNvSpPr txBox="1"/>
          <p:nvPr/>
        </p:nvSpPr>
        <p:spPr>
          <a:xfrm>
            <a:off x="2103120" y="4791456"/>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deep dive matched to this Working Group's mandate — evidence, method, results.</a:t>
            </a:r>
          </a:p>
        </p:txBody>
      </p:sp>
      <p:sp>
        <p:nvSpPr>
          <p:cNvPr id="37" name="TextBox 36"/>
          <p:cNvSpPr txBox="1"/>
          <p:nvPr/>
        </p:nvSpPr>
        <p:spPr>
          <a:xfrm>
            <a:off x="10024567" y="4590288"/>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17 – 24</a:t>
            </a:r>
          </a:p>
        </p:txBody>
      </p:sp>
      <p:sp>
        <p:nvSpPr>
          <p:cNvPr id="38" name="Rounded Rectangle 37"/>
          <p:cNvSpPr/>
          <p:nvPr/>
        </p:nvSpPr>
        <p:spPr>
          <a:xfrm>
            <a:off x="566928" y="5303520"/>
            <a:ext cx="11057839" cy="804672"/>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768096" y="5486400"/>
            <a:ext cx="438912" cy="438912"/>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768096" y="547542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41" name="Oval 40"/>
          <p:cNvSpPr/>
          <p:nvPr/>
        </p:nvSpPr>
        <p:spPr>
          <a:xfrm>
            <a:off x="1435608" y="5486400"/>
            <a:ext cx="438912" cy="438912"/>
          </a:xfrm>
          <a:prstGeom prst="ellipse">
            <a:avLst/>
          </a:prstGeom>
          <a:solidFill>
            <a:srgbClr val="EFEDFF"/>
          </a:solidFill>
          <a:ln>
            <a:noFill/>
          </a:ln>
          <a:effectLst/>
        </p:spPr>
        <p:txBody>
          <a:bodyPr rtlCol="0" anchor="ctr"/>
          <a:lstStyle/>
          <a:p>
            <a:pPr algn="ctr"/>
          </a:p>
        </p:txBody>
      </p:sp>
      <p:pic>
        <p:nvPicPr>
          <p:cNvPr id="42" name="Picture 41" descr="handshake_4A35FF_256_2.0.png"/>
          <p:cNvPicPr>
            <a:picLocks noChangeAspect="1"/>
          </p:cNvPicPr>
          <p:nvPr/>
        </p:nvPicPr>
        <p:blipFill>
          <a:blip r:embed="rId6"/>
          <a:stretch>
            <a:fillRect/>
          </a:stretch>
        </p:blipFill>
        <p:spPr>
          <a:xfrm>
            <a:off x="1540946" y="5591738"/>
            <a:ext cx="228234" cy="228234"/>
          </a:xfrm>
          <a:prstGeom prst="rect">
            <a:avLst/>
          </a:prstGeom>
        </p:spPr>
      </p:pic>
      <p:sp>
        <p:nvSpPr>
          <p:cNvPr id="43" name="TextBox 42"/>
          <p:cNvSpPr txBox="1"/>
          <p:nvPr/>
        </p:nvSpPr>
        <p:spPr>
          <a:xfrm>
            <a:off x="2103120" y="5422392"/>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How we can contribute</a:t>
            </a:r>
          </a:p>
        </p:txBody>
      </p:sp>
      <p:sp>
        <p:nvSpPr>
          <p:cNvPr id="44" name="TextBox 43"/>
          <p:cNvSpPr txBox="1"/>
          <p:nvPr/>
        </p:nvSpPr>
        <p:spPr>
          <a:xfrm>
            <a:off x="2103120" y="5724144"/>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Four concrete, no-cost offers to the Working Group.</a:t>
            </a:r>
          </a:p>
        </p:txBody>
      </p:sp>
      <p:sp>
        <p:nvSpPr>
          <p:cNvPr id="45" name="TextBox 44"/>
          <p:cNvSpPr txBox="1"/>
          <p:nvPr/>
        </p:nvSpPr>
        <p:spPr>
          <a:xfrm>
            <a:off x="10024567" y="5522976"/>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25 – 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a nonprofit that adds </a:t>
            </a:r>
            <a:r>
              <a:rPr sz="2250" b="1" i="0">
                <a:solidFill>
                  <a:srgbClr val="4A35FF"/>
                </a:solidFill>
                <a:latin typeface="Montserrat"/>
              </a:rPr>
              <a:t>capacity</a:t>
            </a:r>
            <a:r>
              <a:rPr sz="2250" b="1" i="0">
                <a:solidFill>
                  <a:srgbClr val="16181D"/>
                </a:solidFill>
                <a:latin typeface="Montserrat"/>
              </a:rPr>
              <a:t> to road safety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 not opinion.</a:t>
            </a:r>
          </a:p>
        </p:txBody>
      </p:sp>
      <p:sp>
        <p:nvSpPr>
          <p:cNvPr id="12" name="Oval 11"/>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3" name="Picture 12" descr="landmark_4A35FF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Institutional collaboration</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We work through PWDs, NHAI, transport departments, police and District Road Safety Committees.</a:t>
            </a:r>
          </a:p>
        </p:txBody>
      </p:sp>
      <p:sp>
        <p:nvSpPr>
          <p:cNvPr id="16" name="Oval 15"/>
          <p:cNvSpPr/>
          <p:nvPr/>
        </p:nvSpPr>
        <p:spPr>
          <a:xfrm>
            <a:off x="566928" y="3511296"/>
            <a:ext cx="365760" cy="365760"/>
          </a:xfrm>
          <a:prstGeom prst="ellipse">
            <a:avLst/>
          </a:prstGeom>
          <a:solidFill>
            <a:srgbClr val="FDF3E3"/>
          </a:solidFill>
          <a:ln>
            <a:noFill/>
          </a:ln>
          <a:effectLst/>
        </p:spPr>
        <p:txBody>
          <a:bodyPr rtlCol="0" anchor="ctr"/>
          <a:lstStyle/>
          <a:p>
            <a:pPr algn="ctr"/>
          </a:p>
        </p:txBody>
      </p:sp>
      <p:pic>
        <p:nvPicPr>
          <p:cNvPr id="17" name="Picture 16" descr="users_E58900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Youth-led capacity</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Trained student teams from IITs, NITs and SPAs add the auditing hands the system needs.</a:t>
            </a:r>
          </a:p>
        </p:txBody>
      </p:sp>
      <p:sp>
        <p:nvSpPr>
          <p:cNvPr id="20" name="Oval 19"/>
          <p:cNvSpPr/>
          <p:nvPr/>
        </p:nvSpPr>
        <p:spPr>
          <a:xfrm>
            <a:off x="566928" y="4261104"/>
            <a:ext cx="365760" cy="365760"/>
          </a:xfrm>
          <a:prstGeom prst="ellipse">
            <a:avLst/>
          </a:prstGeom>
          <a:solidFill>
            <a:srgbClr val="E7F4F4"/>
          </a:solidFill>
          <a:ln>
            <a:noFill/>
          </a:ln>
          <a:effectLst/>
        </p:spPr>
        <p:txBody>
          <a:bodyPr rtlCol="0" anchor="ctr"/>
          <a:lstStyle/>
          <a:p>
            <a:pPr algn="ctr"/>
          </a:p>
        </p:txBody>
      </p:sp>
      <p:pic>
        <p:nvPicPr>
          <p:cNvPr id="21" name="Picture 20" descr="monitor-check_0E8A8A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for follow-through</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Public dashboards track every recommendation from submission to completion.</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Backed by a US$3 million, three-year commitment from Cars24 </a:t>
            </a:r>
            <a:r>
              <a:rPr sz="1150" b="0" i="0">
                <a:solidFill>
                  <a:srgbClr val="4A35FF"/>
                </a:solidFill>
                <a:latin typeface="Geist"/>
              </a:rPr>
              <a:t>— programmes, not overheads, receive 71% of the budget.</a:t>
            </a:r>
          </a:p>
        </p:txBody>
      </p:sp>
      <p:pic>
        <p:nvPicPr>
          <p:cNvPr id="26" name="Picture 25" descr="cfi_map_dots.png"/>
          <p:cNvPicPr>
            <a:picLocks noChangeAspect="1"/>
          </p:cNvPicPr>
          <p:nvPr/>
        </p:nvPicPr>
        <p:blipFill>
          <a:blip r:embed="rId6"/>
          <a:stretch>
            <a:fillRect/>
          </a:stretch>
        </p:blipFill>
        <p:spPr>
          <a:xfrm>
            <a:off x="7863840" y="1965960"/>
            <a:ext cx="3703320" cy="4400277"/>
          </a:xfrm>
          <a:prstGeom prst="rect">
            <a:avLst/>
          </a:prstGeom>
        </p:spPr>
      </p:pic>
      <p:sp>
        <p:nvSpPr>
          <p:cNvPr id="27" name="Rectangle 26"/>
          <p:cNvSpPr/>
          <p:nvPr/>
        </p:nvSpPr>
        <p:spPr>
          <a:xfrm>
            <a:off x="7863840" y="1965960"/>
            <a:ext cx="3703320" cy="440027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7863840" y="6411957"/>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 — OUR APPROACH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Our approach: work </a:t>
            </a:r>
            <a:r>
              <a:rPr sz="2250" b="1" i="0">
                <a:solidFill>
                  <a:srgbClr val="4A35FF"/>
                </a:solidFill>
                <a:latin typeface="Montserrat"/>
              </a:rPr>
              <a:t>with the system</a:t>
            </a:r>
            <a:r>
              <a:rPr sz="2250" b="1" i="0">
                <a:solidFill>
                  <a:srgbClr val="16181D"/>
                </a:solidFill>
                <a:latin typeface="Montserrat"/>
              </a:rPr>
              <a:t>, and prove it with data</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steps, applied to every problem we take up — from a dangerous junction to a stalled compensation claim.</a:t>
            </a:r>
          </a:p>
        </p:txBody>
      </p:sp>
      <p:sp>
        <p:nvSpPr>
          <p:cNvPr id="8" name="Rounded Rectangle 7"/>
          <p:cNvSpPr/>
          <p:nvPr/>
        </p:nvSpPr>
        <p:spPr>
          <a:xfrm>
            <a:off x="56692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258568"/>
            <a:ext cx="475488" cy="475488"/>
          </a:xfrm>
          <a:prstGeom prst="ellipse">
            <a:avLst/>
          </a:prstGeom>
          <a:solidFill>
            <a:srgbClr val="E9F7F0"/>
          </a:solidFill>
          <a:ln>
            <a:noFill/>
          </a:ln>
          <a:effectLst/>
        </p:spPr>
        <p:txBody>
          <a:bodyPr rtlCol="0" anchor="ctr"/>
          <a:lstStyle/>
          <a:p>
            <a:pPr algn="ctr"/>
          </a:p>
        </p:txBody>
      </p:sp>
      <p:pic>
        <p:nvPicPr>
          <p:cNvPr id="10" name="Picture 9" descr="search-check_0A9955_256_2.0.png"/>
          <p:cNvPicPr>
            <a:picLocks noChangeAspect="1"/>
          </p:cNvPicPr>
          <p:nvPr/>
        </p:nvPicPr>
        <p:blipFill>
          <a:blip r:embed="rId2"/>
          <a:stretch>
            <a:fillRect/>
          </a:stretch>
        </p:blipFill>
        <p:spPr>
          <a:xfrm>
            <a:off x="863925" y="2372685"/>
            <a:ext cx="247253" cy="247253"/>
          </a:xfrm>
          <a:prstGeom prst="rect">
            <a:avLst/>
          </a:prstGeom>
        </p:spPr>
      </p:pic>
      <p:sp>
        <p:nvSpPr>
          <p:cNvPr id="11" name="TextBox 10"/>
          <p:cNvSpPr txBox="1"/>
          <p:nvPr/>
        </p:nvSpPr>
        <p:spPr>
          <a:xfrm>
            <a:off x="74980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1 · Evidence</a:t>
            </a:r>
          </a:p>
        </p:txBody>
      </p:sp>
      <p:sp>
        <p:nvSpPr>
          <p:cNvPr id="12" name="TextBox 11"/>
          <p:cNvSpPr txBox="1"/>
          <p:nvPr/>
        </p:nvSpPr>
        <p:spPr>
          <a:xfrm>
            <a:off x="74980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Field audits, file reviews and research to official standards.</a:t>
            </a:r>
          </a:p>
        </p:txBody>
      </p:sp>
      <p:cxnSp>
        <p:nvCxnSpPr>
          <p:cNvPr id="13" name="Connector 12"/>
          <p:cNvCxnSpPr/>
          <p:nvPr/>
        </p:nvCxnSpPr>
        <p:spPr>
          <a:xfrm>
            <a:off x="749808" y="4270248"/>
            <a:ext cx="2304288" cy="0"/>
          </a:xfrm>
          <a:prstGeom prst="line">
            <a:avLst/>
          </a:prstGeom>
          <a:ln w="9525">
            <a:solidFill>
              <a:srgbClr val="E8E9EE"/>
            </a:solidFill>
          </a:ln>
          <a:effectLst/>
        </p:spPr>
      </p:cxnSp>
      <p:sp>
        <p:nvSpPr>
          <p:cNvPr id="14" name="TextBox 13"/>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31 sites audited · 50+ stakeholder consultations</a:t>
            </a:r>
          </a:p>
        </p:txBody>
      </p:sp>
      <p:sp>
        <p:nvSpPr>
          <p:cNvPr id="15" name="TextBox 14"/>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0A9955"/>
                </a:solidFill>
                <a:latin typeface="Montserrat"/>
              </a:rPr>
              <a:t>31 sites audited · 50+ stakeholder consultations</a:t>
            </a:r>
          </a:p>
        </p:txBody>
      </p:sp>
      <p:sp>
        <p:nvSpPr>
          <p:cNvPr id="16" name="TextBox 15"/>
          <p:cNvSpPr txBox="1"/>
          <p:nvPr/>
        </p:nvSpPr>
        <p:spPr>
          <a:xfrm>
            <a:off x="320954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17" name="Rounded Rectangle 16"/>
          <p:cNvSpPr/>
          <p:nvPr/>
        </p:nvSpPr>
        <p:spPr>
          <a:xfrm>
            <a:off x="335584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8" name="Oval 17"/>
          <p:cNvSpPr/>
          <p:nvPr/>
        </p:nvSpPr>
        <p:spPr>
          <a:xfrm>
            <a:off x="3538728" y="2258568"/>
            <a:ext cx="475488" cy="475488"/>
          </a:xfrm>
          <a:prstGeom prst="ellipse">
            <a:avLst/>
          </a:prstGeom>
          <a:solidFill>
            <a:srgbClr val="EFEDFF"/>
          </a:solidFill>
          <a:ln>
            <a:noFill/>
          </a:ln>
          <a:effectLst/>
        </p:spPr>
        <p:txBody>
          <a:bodyPr rtlCol="0" anchor="ctr"/>
          <a:lstStyle/>
          <a:p>
            <a:pPr algn="ctr"/>
          </a:p>
        </p:txBody>
      </p:sp>
      <p:pic>
        <p:nvPicPr>
          <p:cNvPr id="19" name="Picture 18" descr="landmark_4A35FF_256_2.0.png"/>
          <p:cNvPicPr>
            <a:picLocks noChangeAspect="1"/>
          </p:cNvPicPr>
          <p:nvPr/>
        </p:nvPicPr>
        <p:blipFill>
          <a:blip r:embed="rId3"/>
          <a:stretch>
            <a:fillRect/>
          </a:stretch>
        </p:blipFill>
        <p:spPr>
          <a:xfrm>
            <a:off x="3652845" y="2372685"/>
            <a:ext cx="247253" cy="247253"/>
          </a:xfrm>
          <a:prstGeom prst="rect">
            <a:avLst/>
          </a:prstGeom>
        </p:spPr>
      </p:pic>
      <p:sp>
        <p:nvSpPr>
          <p:cNvPr id="20" name="TextBox 19"/>
          <p:cNvSpPr txBox="1"/>
          <p:nvPr/>
        </p:nvSpPr>
        <p:spPr>
          <a:xfrm>
            <a:off x="353872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2 · Institutional partnership</a:t>
            </a:r>
          </a:p>
        </p:txBody>
      </p:sp>
      <p:sp>
        <p:nvSpPr>
          <p:cNvPr id="21" name="TextBox 20"/>
          <p:cNvSpPr txBox="1"/>
          <p:nvPr/>
        </p:nvSpPr>
        <p:spPr>
          <a:xfrm>
            <a:off x="353872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Work through the authority that owns the problem — never around it.</a:t>
            </a:r>
          </a:p>
        </p:txBody>
      </p:sp>
      <p:cxnSp>
        <p:nvCxnSpPr>
          <p:cNvPr id="22" name="Connector 21"/>
          <p:cNvCxnSpPr/>
          <p:nvPr/>
        </p:nvCxnSpPr>
        <p:spPr>
          <a:xfrm>
            <a:off x="3538728" y="4270248"/>
            <a:ext cx="2304288" cy="0"/>
          </a:xfrm>
          <a:prstGeom prst="line">
            <a:avLst/>
          </a:prstGeom>
          <a:ln w="9525">
            <a:solidFill>
              <a:srgbClr val="E8E9EE"/>
            </a:solidFill>
          </a:ln>
          <a:effectLst/>
        </p:spPr>
      </p:cxnSp>
      <p:sp>
        <p:nvSpPr>
          <p:cNvPr id="23" name="TextBox 22"/>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25+ written approvals · 4 DRSCs · MoUs with police</a:t>
            </a:r>
          </a:p>
        </p:txBody>
      </p:sp>
      <p:sp>
        <p:nvSpPr>
          <p:cNvPr id="24" name="TextBox 23"/>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4A35FF"/>
                </a:solidFill>
                <a:latin typeface="Montserrat"/>
              </a:rPr>
              <a:t>25+ written approvals · 4 DRSCs · MoUs with police</a:t>
            </a:r>
          </a:p>
        </p:txBody>
      </p:sp>
      <p:sp>
        <p:nvSpPr>
          <p:cNvPr id="25" name="TextBox 24"/>
          <p:cNvSpPr txBox="1"/>
          <p:nvPr/>
        </p:nvSpPr>
        <p:spPr>
          <a:xfrm>
            <a:off x="599846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26" name="Rounded Rectangle 25"/>
          <p:cNvSpPr/>
          <p:nvPr/>
        </p:nvSpPr>
        <p:spPr>
          <a:xfrm>
            <a:off x="614476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7" name="Oval 26"/>
          <p:cNvSpPr/>
          <p:nvPr/>
        </p:nvSpPr>
        <p:spPr>
          <a:xfrm>
            <a:off x="6327648" y="2258568"/>
            <a:ext cx="475488" cy="475488"/>
          </a:xfrm>
          <a:prstGeom prst="ellipse">
            <a:avLst/>
          </a:prstGeom>
          <a:solidFill>
            <a:srgbClr val="E7F4F4"/>
          </a:solidFill>
          <a:ln>
            <a:noFill/>
          </a:ln>
          <a:effectLst/>
        </p:spPr>
        <p:txBody>
          <a:bodyPr rtlCol="0" anchor="ctr"/>
          <a:lstStyle/>
          <a:p>
            <a:pPr algn="ctr"/>
          </a:p>
        </p:txBody>
      </p:sp>
      <p:pic>
        <p:nvPicPr>
          <p:cNvPr id="28" name="Picture 27" descr="cpu_0E8A8A_256_2.0.png"/>
          <p:cNvPicPr>
            <a:picLocks noChangeAspect="1"/>
          </p:cNvPicPr>
          <p:nvPr/>
        </p:nvPicPr>
        <p:blipFill>
          <a:blip r:embed="rId4"/>
          <a:stretch>
            <a:fillRect/>
          </a:stretch>
        </p:blipFill>
        <p:spPr>
          <a:xfrm>
            <a:off x="6441765" y="2372685"/>
            <a:ext cx="247253" cy="247253"/>
          </a:xfrm>
          <a:prstGeom prst="rect">
            <a:avLst/>
          </a:prstGeom>
        </p:spPr>
      </p:pic>
      <p:sp>
        <p:nvSpPr>
          <p:cNvPr id="29" name="TextBox 28"/>
          <p:cNvSpPr txBox="1"/>
          <p:nvPr/>
        </p:nvSpPr>
        <p:spPr>
          <a:xfrm>
            <a:off x="632764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3 · Technology</a:t>
            </a:r>
          </a:p>
        </p:txBody>
      </p:sp>
      <p:sp>
        <p:nvSpPr>
          <p:cNvPr id="30" name="TextBox 29"/>
          <p:cNvSpPr txBox="1"/>
          <p:nvPr/>
        </p:nvSpPr>
        <p:spPr>
          <a:xfrm>
            <a:off x="632764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Dashboards, AI and WhatsApp tools that fit how officials already work.</a:t>
            </a:r>
          </a:p>
        </p:txBody>
      </p:sp>
      <p:cxnSp>
        <p:nvCxnSpPr>
          <p:cNvPr id="31" name="Connector 30"/>
          <p:cNvCxnSpPr/>
          <p:nvPr/>
        </p:nvCxnSpPr>
        <p:spPr>
          <a:xfrm>
            <a:off x="6327648" y="4270248"/>
            <a:ext cx="2304288" cy="0"/>
          </a:xfrm>
          <a:prstGeom prst="line">
            <a:avLst/>
          </a:prstGeom>
          <a:ln w="9525">
            <a:solidFill>
              <a:srgbClr val="E8E9EE"/>
            </a:solidFill>
          </a:ln>
          <a:effectLst/>
        </p:spPr>
      </p:cxnSp>
      <p:sp>
        <p:nvSpPr>
          <p:cNvPr id="32" name="TextBox 31"/>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6 live public products</a:t>
            </a:r>
          </a:p>
        </p:txBody>
      </p:sp>
      <p:sp>
        <p:nvSpPr>
          <p:cNvPr id="33" name="TextBox 32"/>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0E8A8A"/>
                </a:solidFill>
                <a:latin typeface="Montserrat"/>
              </a:rPr>
              <a:t>6 live public products</a:t>
            </a:r>
          </a:p>
        </p:txBody>
      </p:sp>
      <p:sp>
        <p:nvSpPr>
          <p:cNvPr id="34" name="TextBox 33"/>
          <p:cNvSpPr txBox="1"/>
          <p:nvPr/>
        </p:nvSpPr>
        <p:spPr>
          <a:xfrm>
            <a:off x="878738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35" name="Rounded Rectangle 34"/>
          <p:cNvSpPr/>
          <p:nvPr/>
        </p:nvSpPr>
        <p:spPr>
          <a:xfrm>
            <a:off x="893368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6" name="Oval 35"/>
          <p:cNvSpPr/>
          <p:nvPr/>
        </p:nvSpPr>
        <p:spPr>
          <a:xfrm>
            <a:off x="9116568" y="2258568"/>
            <a:ext cx="475488" cy="475488"/>
          </a:xfrm>
          <a:prstGeom prst="ellipse">
            <a:avLst/>
          </a:prstGeom>
          <a:solidFill>
            <a:srgbClr val="FDF3E3"/>
          </a:solidFill>
          <a:ln>
            <a:noFill/>
          </a:ln>
          <a:effectLst/>
        </p:spPr>
        <p:txBody>
          <a:bodyPr rtlCol="0" anchor="ctr"/>
          <a:lstStyle/>
          <a:p>
            <a:pPr algn="ctr"/>
          </a:p>
        </p:txBody>
      </p:sp>
      <p:pic>
        <p:nvPicPr>
          <p:cNvPr id="37" name="Picture 36" descr="route_E58900_256_2.0.png"/>
          <p:cNvPicPr>
            <a:picLocks noChangeAspect="1"/>
          </p:cNvPicPr>
          <p:nvPr/>
        </p:nvPicPr>
        <p:blipFill>
          <a:blip r:embed="rId5"/>
          <a:stretch>
            <a:fillRect/>
          </a:stretch>
        </p:blipFill>
        <p:spPr>
          <a:xfrm>
            <a:off x="9230685" y="2372685"/>
            <a:ext cx="247253" cy="247253"/>
          </a:xfrm>
          <a:prstGeom prst="rect">
            <a:avLst/>
          </a:prstGeom>
        </p:spPr>
      </p:pic>
      <p:sp>
        <p:nvSpPr>
          <p:cNvPr id="38" name="TextBox 37"/>
          <p:cNvSpPr txBox="1"/>
          <p:nvPr/>
        </p:nvSpPr>
        <p:spPr>
          <a:xfrm>
            <a:off x="911656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4 · Follow-through</a:t>
            </a:r>
          </a:p>
        </p:txBody>
      </p:sp>
      <p:sp>
        <p:nvSpPr>
          <p:cNvPr id="39" name="TextBox 38"/>
          <p:cNvSpPr txBox="1"/>
          <p:nvPr/>
        </p:nvSpPr>
        <p:spPr>
          <a:xfrm>
            <a:off x="911656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Every recommendation tracked publicly to completion.</a:t>
            </a:r>
          </a:p>
        </p:txBody>
      </p:sp>
      <p:cxnSp>
        <p:nvCxnSpPr>
          <p:cNvPr id="40" name="Connector 39"/>
          <p:cNvCxnSpPr/>
          <p:nvPr/>
        </p:nvCxnSpPr>
        <p:spPr>
          <a:xfrm>
            <a:off x="9116568" y="4270248"/>
            <a:ext cx="2304288" cy="0"/>
          </a:xfrm>
          <a:prstGeom prst="line">
            <a:avLst/>
          </a:prstGeom>
          <a:ln w="9525">
            <a:solidFill>
              <a:srgbClr val="E8E9EE"/>
            </a:solidFill>
          </a:ln>
          <a:effectLst/>
        </p:spPr>
      </p:cxnSp>
      <p:sp>
        <p:nvSpPr>
          <p:cNvPr id="41" name="TextBox 40"/>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7 sites fully implemented · 6 more partially</a:t>
            </a:r>
          </a:p>
        </p:txBody>
      </p:sp>
      <p:sp>
        <p:nvSpPr>
          <p:cNvPr id="42" name="TextBox 41"/>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E58900"/>
                </a:solidFill>
                <a:latin typeface="Montserrat"/>
              </a:rPr>
              <a:t>7 sites fully implemented · 6 more partially</a:t>
            </a:r>
          </a:p>
        </p:txBody>
      </p:sp>
      <p:sp>
        <p:nvSpPr>
          <p:cNvPr id="43" name="Rounded Rectangle 42"/>
          <p:cNvSpPr/>
          <p:nvPr/>
        </p:nvSpPr>
        <p:spPr>
          <a:xfrm>
            <a:off x="566928" y="5257800"/>
            <a:ext cx="11057839" cy="640080"/>
          </a:xfrm>
          <a:prstGeom prst="roundRect">
            <a:avLst>
              <a:gd name="adj" fmla="val 14000"/>
            </a:avLst>
          </a:prstGeom>
          <a:solidFill>
            <a:srgbClr val="F7F7FA"/>
          </a:solidFill>
          <a:ln>
            <a:noFill/>
          </a:ln>
          <a:effectLst/>
        </p:spPr>
        <p:txBody>
          <a:bodyPr rtlCol="0" anchor="ctr"/>
          <a:lstStyle/>
          <a:p>
            <a:pPr algn="ctr"/>
          </a:p>
        </p:txBody>
      </p:sp>
      <p:sp>
        <p:nvSpPr>
          <p:cNvPr id="44" name="TextBox 43"/>
          <p:cNvSpPr txBox="1"/>
          <p:nvPr/>
        </p:nvSpPr>
        <p:spPr>
          <a:xfrm>
            <a:off x="795528" y="5358384"/>
            <a:ext cx="10600639" cy="457200"/>
          </a:xfrm>
          <a:prstGeom prst="rect">
            <a:avLst/>
          </a:prstGeom>
          <a:noFill/>
        </p:spPr>
        <p:txBody>
          <a:bodyPr wrap="square" lIns="0" rIns="0" tIns="0" bIns="0" anchor="t">
            <a:spAutoFit/>
          </a:bodyPr>
          <a:lstStyle/>
          <a:p>
            <a:pPr algn="l">
              <a:lnSpc>
                <a:spcPct val="130000"/>
              </a:lnSpc>
            </a:pPr>
            <a:r>
              <a:rPr sz="1100" b="1" i="0">
                <a:solidFill>
                  <a:srgbClr val="16181D"/>
                </a:solidFill>
                <a:latin typeface="Geist"/>
              </a:rPr>
              <a:t>We do not replace the system and we do not campaign against it. </a:t>
            </a:r>
            <a:r>
              <a:rPr sz="1100" b="0" i="0">
                <a:solidFill>
                  <a:srgbClr val="6E7180"/>
                </a:solidFill>
                <a:latin typeface="Geist"/>
              </a:rPr>
              <a:t>We add hands, evidence and tools to work the system has already committed to.</a:t>
            </a:r>
          </a:p>
        </p:txBody>
      </p:sp>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WHY WORKING GROUP 5</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Why Working Group 5 — </a:t>
            </a:r>
            <a:r>
              <a:rPr sz="2250" b="1" i="0">
                <a:solidFill>
                  <a:srgbClr val="4A35FF"/>
                </a:solidFill>
                <a:latin typeface="Montserrat"/>
              </a:rPr>
              <a:t>and what we bring to it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Group's mandate matches the deepest part of our portfolio. Three focus areas where we are ready on day one.</a:t>
            </a:r>
          </a:p>
        </p:txBody>
      </p:sp>
      <p:sp>
        <p:nvSpPr>
          <p:cNvPr id="8" name="Oval 7"/>
          <p:cNvSpPr/>
          <p:nvPr/>
        </p:nvSpPr>
        <p:spPr>
          <a:xfrm>
            <a:off x="566928" y="2011680"/>
            <a:ext cx="365760" cy="365760"/>
          </a:xfrm>
          <a:prstGeom prst="ellipse">
            <a:avLst/>
          </a:prstGeom>
          <a:solidFill>
            <a:srgbClr val="EFEDFF"/>
          </a:solidFill>
          <a:ln>
            <a:noFill/>
          </a:ln>
          <a:effectLst/>
        </p:spPr>
        <p:txBody>
          <a:bodyPr rtlCol="0" anchor="ctr"/>
          <a:lstStyle/>
          <a:p>
            <a:pPr algn="ctr"/>
          </a:p>
        </p:txBody>
      </p:sp>
      <p:pic>
        <p:nvPicPr>
          <p:cNvPr id="9" name="Picture 8" descr="banknote_4A35FF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Clearing the compensation pipeline</a:t>
            </a:r>
          </a:p>
        </p:txBody>
      </p:sp>
      <p:sp>
        <p:nvSpPr>
          <p:cNvPr id="11" name="TextBox 10"/>
          <p:cNvSpPr txBox="1"/>
          <p:nvPr/>
        </p:nvSpPr>
        <p:spPr>
          <a:xfrm>
            <a:off x="3566160" y="1993392"/>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Pendency is measured in years and thousands of crores. Our district work shows exactly where files stall — and how visibility clears them.</a:t>
            </a:r>
          </a:p>
        </p:txBody>
      </p:sp>
      <p:sp>
        <p:nvSpPr>
          <p:cNvPr id="12" name="Oval 11"/>
          <p:cNvSpPr/>
          <p:nvPr/>
        </p:nvSpPr>
        <p:spPr>
          <a:xfrm>
            <a:off x="566928" y="2907792"/>
            <a:ext cx="365760" cy="365760"/>
          </a:xfrm>
          <a:prstGeom prst="ellipse">
            <a:avLst/>
          </a:prstGeom>
          <a:solidFill>
            <a:srgbClr val="E9F7F0"/>
          </a:solidFill>
          <a:ln>
            <a:noFill/>
          </a:ln>
          <a:effectLst/>
        </p:spPr>
        <p:txBody>
          <a:bodyPr rtlCol="0" anchor="ctr"/>
          <a:lstStyle/>
          <a:p>
            <a:pPr algn="ctr"/>
          </a:p>
        </p:txBody>
      </p:sp>
      <p:pic>
        <p:nvPicPr>
          <p:cNvPr id="13" name="Picture 12" descr="bot_0A9955_256_2.0.png"/>
          <p:cNvPicPr>
            <a:picLocks noChangeAspect="1"/>
          </p:cNvPicPr>
          <p:nvPr/>
        </p:nvPicPr>
        <p:blipFill>
          <a:blip r:embed="rId3"/>
          <a:stretch>
            <a:fillRect/>
          </a:stretch>
        </p:blipFill>
        <p:spPr>
          <a:xfrm>
            <a:off x="654710" y="2995574"/>
            <a:ext cx="190195" cy="190195"/>
          </a:xfrm>
          <a:prstGeom prst="rect">
            <a:avLst/>
          </a:prstGeom>
        </p:spPr>
      </p:pic>
      <p:sp>
        <p:nvSpPr>
          <p:cNvPr id="14" name="TextBox 13"/>
          <p:cNvSpPr txBox="1"/>
          <p:nvPr/>
        </p:nvSpPr>
        <p:spPr>
          <a:xfrm>
            <a:off x="1097280" y="288950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Victim-facing standards &amp; tools</a:t>
            </a:r>
          </a:p>
        </p:txBody>
      </p:sp>
      <p:sp>
        <p:nvSpPr>
          <p:cNvPr id="15" name="TextBox 14"/>
          <p:cNvSpPr txBox="1"/>
          <p:nvPr/>
        </p:nvSpPr>
        <p:spPr>
          <a:xfrm>
            <a:off x="3566160" y="2889504"/>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Aasha, the calculator, guides and helpdesks — working models for the citizen-facing standards WG-5 will set.</a:t>
            </a:r>
          </a:p>
        </p:txBody>
      </p:sp>
      <p:sp>
        <p:nvSpPr>
          <p:cNvPr id="16" name="Oval 15"/>
          <p:cNvSpPr/>
          <p:nvPr/>
        </p:nvSpPr>
        <p:spPr>
          <a:xfrm>
            <a:off x="566928" y="3803904"/>
            <a:ext cx="365760" cy="365760"/>
          </a:xfrm>
          <a:prstGeom prst="ellipse">
            <a:avLst/>
          </a:prstGeom>
          <a:solidFill>
            <a:srgbClr val="E7F4F4"/>
          </a:solidFill>
          <a:ln>
            <a:noFill/>
          </a:ln>
          <a:effectLst/>
        </p:spPr>
        <p:txBody>
          <a:bodyPr rtlCol="0" anchor="ctr"/>
          <a:lstStyle/>
          <a:p>
            <a:pPr algn="ctr"/>
          </a:p>
        </p:txBody>
      </p:sp>
      <p:pic>
        <p:nvPicPr>
          <p:cNvPr id="17" name="Picture 16" descr="stethoscope_0E8A8A_256_2.0.png"/>
          <p:cNvPicPr>
            <a:picLocks noChangeAspect="1"/>
          </p:cNvPicPr>
          <p:nvPr/>
        </p:nvPicPr>
        <p:blipFill>
          <a:blip r:embed="rId4"/>
          <a:stretch>
            <a:fillRect/>
          </a:stretch>
        </p:blipFill>
        <p:spPr>
          <a:xfrm>
            <a:off x="654710" y="3891686"/>
            <a:ext cx="190195" cy="190195"/>
          </a:xfrm>
          <a:prstGeom prst="rect">
            <a:avLst/>
          </a:prstGeom>
        </p:spPr>
      </p:pic>
      <p:sp>
        <p:nvSpPr>
          <p:cNvPr id="18" name="TextBox 17"/>
          <p:cNvSpPr txBox="1"/>
          <p:nvPr/>
        </p:nvSpPr>
        <p:spPr>
          <a:xfrm>
            <a:off x="1097280" y="37856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EMS &amp; trauma-care evidence</a:t>
            </a:r>
          </a:p>
        </p:txBody>
      </p:sp>
      <p:sp>
        <p:nvSpPr>
          <p:cNvPr id="19" name="TextBox 18"/>
          <p:cNvSpPr txBox="1"/>
          <p:nvPr/>
        </p:nvSpPr>
        <p:spPr>
          <a:xfrm>
            <a:off x="3566160" y="3785616"/>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Pre-Hospital Care Primer benchmarks ERSS-112 and documents state innovations — a ready baseline for care standards.</a:t>
            </a:r>
          </a:p>
        </p:txBody>
      </p:sp>
      <p:sp>
        <p:nvSpPr>
          <p:cNvPr id="20" name="TextBox 19"/>
          <p:cNvSpPr txBox="1"/>
          <p:nvPr/>
        </p:nvSpPr>
        <p:spPr>
          <a:xfrm>
            <a:off x="7452360" y="1920240"/>
            <a:ext cx="402336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EXISTING CAPABILITIES WE PUT ON THE TABLE</a:t>
            </a:r>
          </a:p>
        </p:txBody>
      </p:sp>
      <p:sp>
        <p:nvSpPr>
          <p:cNvPr id="21" name="Rounded Rectangle 20"/>
          <p:cNvSpPr/>
          <p:nvPr/>
        </p:nvSpPr>
        <p:spPr>
          <a:xfrm>
            <a:off x="7452360"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470648"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Justice Unserved evidence</a:t>
            </a:r>
          </a:p>
        </p:txBody>
      </p:sp>
      <p:sp>
        <p:nvSpPr>
          <p:cNvPr id="23" name="Rounded Rectangle 22"/>
          <p:cNvSpPr/>
          <p:nvPr/>
        </p:nvSpPr>
        <p:spPr>
          <a:xfrm>
            <a:off x="9573768"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92056"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Rajasthan portal blueprint</a:t>
            </a:r>
          </a:p>
        </p:txBody>
      </p:sp>
      <p:sp>
        <p:nvSpPr>
          <p:cNvPr id="25" name="Rounded Rectangle 24"/>
          <p:cNvSpPr/>
          <p:nvPr/>
        </p:nvSpPr>
        <p:spPr>
          <a:xfrm>
            <a:off x="7452360"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6" name="TextBox 25"/>
          <p:cNvSpPr txBox="1"/>
          <p:nvPr/>
        </p:nvSpPr>
        <p:spPr>
          <a:xfrm>
            <a:off x="7470648"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4 DRSC working seats</a:t>
            </a:r>
          </a:p>
        </p:txBody>
      </p:sp>
      <p:sp>
        <p:nvSpPr>
          <p:cNvPr id="27" name="Rounded Rectangle 26"/>
          <p:cNvSpPr/>
          <p:nvPr/>
        </p:nvSpPr>
        <p:spPr>
          <a:xfrm>
            <a:off x="9573768"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8" name="TextBox 27"/>
          <p:cNvSpPr txBox="1"/>
          <p:nvPr/>
        </p:nvSpPr>
        <p:spPr>
          <a:xfrm>
            <a:off x="9592056"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Legal bench: MACT + DLSA</a:t>
            </a:r>
          </a:p>
        </p:txBody>
      </p:sp>
      <p:sp>
        <p:nvSpPr>
          <p:cNvPr id="29" name="Rounded Rectangle 28"/>
          <p:cNvSpPr/>
          <p:nvPr/>
        </p:nvSpPr>
        <p:spPr>
          <a:xfrm>
            <a:off x="7452360"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0" name="TextBox 29"/>
          <p:cNvSpPr txBox="1"/>
          <p:nvPr/>
        </p:nvSpPr>
        <p:spPr>
          <a:xfrm>
            <a:off x="7470648"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Aasha + calculator live</a:t>
            </a:r>
          </a:p>
        </p:txBody>
      </p:sp>
      <p:sp>
        <p:nvSpPr>
          <p:cNvPr id="31" name="Rounded Rectangle 30"/>
          <p:cNvSpPr/>
          <p:nvPr/>
        </p:nvSpPr>
        <p:spPr>
          <a:xfrm>
            <a:off x="9573768"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2" name="TextBox 31"/>
          <p:cNvSpPr txBox="1"/>
          <p:nvPr/>
        </p:nvSpPr>
        <p:spPr>
          <a:xfrm>
            <a:off x="9592056"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Trauma-ward helpdesks</a:t>
            </a:r>
          </a:p>
        </p:txBody>
      </p:sp>
      <p:sp>
        <p:nvSpPr>
          <p:cNvPr id="33" name="TextBox 32"/>
          <p:cNvSpPr txBox="1"/>
          <p:nvPr/>
        </p:nvSpPr>
        <p:spPr>
          <a:xfrm>
            <a:off x="566928" y="4709160"/>
            <a:ext cx="1097280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SUBJECT-MATTER EXPERTS ALREADY ENGAGED ON THIS AGENDA</a:t>
            </a:r>
          </a:p>
        </p:txBody>
      </p:sp>
      <p:sp>
        <p:nvSpPr>
          <p:cNvPr id="34" name="Rounded Rectangle 33"/>
          <p:cNvSpPr/>
          <p:nvPr/>
        </p:nvSpPr>
        <p:spPr>
          <a:xfrm>
            <a:off x="566928" y="4983480"/>
            <a:ext cx="2715768" cy="1051560"/>
          </a:xfrm>
          <a:prstGeom prst="roundRect">
            <a:avLst>
              <a:gd name="adj" fmla="val 10000"/>
            </a:avLst>
          </a:prstGeom>
          <a:solidFill>
            <a:srgbClr val="F7F7FA"/>
          </a:solidFill>
          <a:ln>
            <a:noFill/>
          </a:ln>
          <a:effectLst/>
        </p:spPr>
        <p:txBody>
          <a:bodyPr rtlCol="0" anchor="ctr"/>
          <a:lstStyle/>
          <a:p>
            <a:pPr algn="ctr"/>
          </a:p>
        </p:txBody>
      </p:sp>
      <p:pic>
        <p:nvPicPr>
          <p:cNvPr id="35" name="Picture 34" descr="pp_midha.png_0.85x0.90_0.12.jpg"/>
          <p:cNvPicPr>
            <a:picLocks noChangeAspect="1"/>
          </p:cNvPicPr>
          <p:nvPr/>
        </p:nvPicPr>
        <p:blipFill>
          <a:blip r:embed="rId5"/>
          <a:stretch>
            <a:fillRect/>
          </a:stretch>
        </p:blipFill>
        <p:spPr>
          <a:xfrm>
            <a:off x="676656" y="5102352"/>
            <a:ext cx="777240" cy="822960"/>
          </a:xfrm>
          <a:prstGeom prst="rect">
            <a:avLst/>
          </a:prstGeom>
        </p:spPr>
      </p:pic>
      <p:sp>
        <p:nvSpPr>
          <p:cNvPr id="36" name="TextBox 35"/>
          <p:cNvSpPr txBox="1"/>
          <p:nvPr/>
        </p:nvSpPr>
        <p:spPr>
          <a:xfrm>
            <a:off x="1554480" y="5084064"/>
            <a:ext cx="1691640" cy="365760"/>
          </a:xfrm>
          <a:prstGeom prst="rect">
            <a:avLst/>
          </a:prstGeom>
          <a:noFill/>
        </p:spPr>
        <p:txBody>
          <a:bodyPr wrap="square" lIns="0" rIns="0" tIns="0" bIns="0" anchor="t">
            <a:spAutoFit/>
          </a:bodyPr>
          <a:lstStyle/>
          <a:p>
            <a:pPr algn="l">
              <a:lnSpc>
                <a:spcPct val="105000"/>
              </a:lnSpc>
            </a:pPr>
            <a:r>
              <a:rPr sz="950" b="1" i="0">
                <a:solidFill>
                  <a:srgbClr val="16181D"/>
                </a:solidFill>
                <a:latin typeface="Montserrat"/>
              </a:rPr>
              <a:t>Justice J.R. Midha</a:t>
            </a:r>
          </a:p>
        </p:txBody>
      </p:sp>
      <p:sp>
        <p:nvSpPr>
          <p:cNvPr id="37" name="TextBox 36"/>
          <p:cNvSpPr txBox="1"/>
          <p:nvPr/>
        </p:nvSpPr>
        <p:spPr>
          <a:xfrm>
            <a:off x="1554480" y="5440680"/>
            <a:ext cx="1691640" cy="54864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Retd., Delhi HC · MACT process architect</a:t>
            </a:r>
          </a:p>
        </p:txBody>
      </p:sp>
      <p:sp>
        <p:nvSpPr>
          <p:cNvPr id="38" name="Rounded Rectangle 37"/>
          <p:cNvSpPr/>
          <p:nvPr/>
        </p:nvSpPr>
        <p:spPr>
          <a:xfrm>
            <a:off x="3364992" y="4983480"/>
            <a:ext cx="2715768" cy="1051560"/>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3474720" y="5102352"/>
            <a:ext cx="777240" cy="777240"/>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3474720" y="5084064"/>
            <a:ext cx="777240" cy="822960"/>
          </a:xfrm>
          <a:prstGeom prst="rect">
            <a:avLst/>
          </a:prstGeom>
          <a:noFill/>
        </p:spPr>
        <p:txBody>
          <a:bodyPr wrap="square" lIns="0" rIns="0" tIns="0" bIns="0" anchor="ctr">
            <a:spAutoFit/>
          </a:bodyPr>
          <a:lstStyle/>
          <a:p>
            <a:pPr algn="ctr">
              <a:lnSpc>
                <a:spcPct val="128000"/>
              </a:lnSpc>
            </a:pPr>
            <a:r>
              <a:rPr sz="1400" b="1" i="0">
                <a:solidFill>
                  <a:srgbClr val="4A35FF"/>
                </a:solidFill>
                <a:latin typeface="Montserrat"/>
              </a:rPr>
              <a:t>PT</a:t>
            </a:r>
          </a:p>
        </p:txBody>
      </p:sp>
      <p:sp>
        <p:nvSpPr>
          <p:cNvPr id="41" name="TextBox 40"/>
          <p:cNvSpPr txBox="1"/>
          <p:nvPr/>
        </p:nvSpPr>
        <p:spPr>
          <a:xfrm>
            <a:off x="4352544" y="5084064"/>
            <a:ext cx="1691640" cy="365760"/>
          </a:xfrm>
          <a:prstGeom prst="rect">
            <a:avLst/>
          </a:prstGeom>
          <a:noFill/>
        </p:spPr>
        <p:txBody>
          <a:bodyPr wrap="square" lIns="0" rIns="0" tIns="0" bIns="0" anchor="t">
            <a:spAutoFit/>
          </a:bodyPr>
          <a:lstStyle/>
          <a:p>
            <a:pPr algn="l">
              <a:lnSpc>
                <a:spcPct val="105000"/>
              </a:lnSpc>
            </a:pPr>
            <a:r>
              <a:rPr sz="950" b="1" i="0">
                <a:solidFill>
                  <a:srgbClr val="16181D"/>
                </a:solidFill>
                <a:latin typeface="Montserrat"/>
              </a:rPr>
              <a:t>Piyush Tewari</a:t>
            </a:r>
          </a:p>
        </p:txBody>
      </p:sp>
      <p:sp>
        <p:nvSpPr>
          <p:cNvPr id="42" name="TextBox 41"/>
          <p:cNvSpPr txBox="1"/>
          <p:nvPr/>
        </p:nvSpPr>
        <p:spPr>
          <a:xfrm>
            <a:off x="4352544" y="5440680"/>
            <a:ext cx="1691640" cy="54864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SaveLIFE Foundation · Good Samaritan Law</a:t>
            </a:r>
          </a:p>
        </p:txBody>
      </p:sp>
      <p:sp>
        <p:nvSpPr>
          <p:cNvPr id="43" name="Rounded Rectangle 42"/>
          <p:cNvSpPr/>
          <p:nvPr/>
        </p:nvSpPr>
        <p:spPr>
          <a:xfrm>
            <a:off x="6163056" y="4983480"/>
            <a:ext cx="2715768" cy="1051560"/>
          </a:xfrm>
          <a:prstGeom prst="roundRect">
            <a:avLst>
              <a:gd name="adj" fmla="val 10000"/>
            </a:avLst>
          </a:prstGeom>
          <a:solidFill>
            <a:srgbClr val="F7F7FA"/>
          </a:solidFill>
          <a:ln>
            <a:noFill/>
          </a:ln>
          <a:effectLst/>
        </p:spPr>
        <p:txBody>
          <a:bodyPr rtlCol="0" anchor="ctr"/>
          <a:lstStyle/>
          <a:p>
            <a:pPr algn="ctr"/>
          </a:p>
        </p:txBody>
      </p:sp>
      <p:pic>
        <p:nvPicPr>
          <p:cNvPr id="44" name="Picture 43" descr="tandon.png_0.85x0.90_0.12.jpg"/>
          <p:cNvPicPr>
            <a:picLocks noChangeAspect="1"/>
          </p:cNvPicPr>
          <p:nvPr/>
        </p:nvPicPr>
        <p:blipFill>
          <a:blip r:embed="rId6"/>
          <a:stretch>
            <a:fillRect/>
          </a:stretch>
        </p:blipFill>
        <p:spPr>
          <a:xfrm>
            <a:off x="6272784" y="5102352"/>
            <a:ext cx="777240" cy="822960"/>
          </a:xfrm>
          <a:prstGeom prst="rect">
            <a:avLst/>
          </a:prstGeom>
        </p:spPr>
      </p:pic>
      <p:sp>
        <p:nvSpPr>
          <p:cNvPr id="45" name="TextBox 44"/>
          <p:cNvSpPr txBox="1"/>
          <p:nvPr/>
        </p:nvSpPr>
        <p:spPr>
          <a:xfrm>
            <a:off x="7150608" y="5084064"/>
            <a:ext cx="1691640" cy="365760"/>
          </a:xfrm>
          <a:prstGeom prst="rect">
            <a:avLst/>
          </a:prstGeom>
          <a:noFill/>
        </p:spPr>
        <p:txBody>
          <a:bodyPr wrap="square" lIns="0" rIns="0" tIns="0" bIns="0" anchor="t">
            <a:spAutoFit/>
          </a:bodyPr>
          <a:lstStyle/>
          <a:p>
            <a:pPr algn="l">
              <a:lnSpc>
                <a:spcPct val="105000"/>
              </a:lnSpc>
            </a:pPr>
            <a:r>
              <a:rPr sz="950" b="1" i="0">
                <a:solidFill>
                  <a:srgbClr val="16181D"/>
                </a:solidFill>
                <a:latin typeface="Montserrat"/>
              </a:rPr>
              <a:t>Dr. Maya Tandon</a:t>
            </a:r>
          </a:p>
        </p:txBody>
      </p:sp>
      <p:sp>
        <p:nvSpPr>
          <p:cNvPr id="46" name="TextBox 45"/>
          <p:cNvSpPr txBox="1"/>
          <p:nvPr/>
        </p:nvSpPr>
        <p:spPr>
          <a:xfrm>
            <a:off x="7150608" y="5440680"/>
            <a:ext cx="1691640" cy="54864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Sahayta Trust · trauma-response pioneer</a:t>
            </a:r>
          </a:p>
        </p:txBody>
      </p:sp>
      <p:sp>
        <p:nvSpPr>
          <p:cNvPr id="47" name="Rounded Rectangle 46"/>
          <p:cNvSpPr/>
          <p:nvPr/>
        </p:nvSpPr>
        <p:spPr>
          <a:xfrm>
            <a:off x="8961120" y="4983480"/>
            <a:ext cx="2715768" cy="1051560"/>
          </a:xfrm>
          <a:prstGeom prst="roundRect">
            <a:avLst>
              <a:gd name="adj" fmla="val 10000"/>
            </a:avLst>
          </a:prstGeom>
          <a:solidFill>
            <a:srgbClr val="F7F7FA"/>
          </a:solidFill>
          <a:ln>
            <a:noFill/>
          </a:ln>
          <a:effectLst/>
        </p:spPr>
        <p:txBody>
          <a:bodyPr rtlCol="0" anchor="ctr"/>
          <a:lstStyle/>
          <a:p>
            <a:pPr algn="ctr"/>
          </a:p>
        </p:txBody>
      </p:sp>
      <p:pic>
        <p:nvPicPr>
          <p:cNvPr id="48" name="Picture 47" descr="pp_mishika.png_0.85x0.90_0.12.jpg"/>
          <p:cNvPicPr>
            <a:picLocks noChangeAspect="1"/>
          </p:cNvPicPr>
          <p:nvPr/>
        </p:nvPicPr>
        <p:blipFill>
          <a:blip r:embed="rId7"/>
          <a:stretch>
            <a:fillRect/>
          </a:stretch>
        </p:blipFill>
        <p:spPr>
          <a:xfrm>
            <a:off x="9070848" y="5102352"/>
            <a:ext cx="777240" cy="822960"/>
          </a:xfrm>
          <a:prstGeom prst="rect">
            <a:avLst/>
          </a:prstGeom>
        </p:spPr>
      </p:pic>
      <p:sp>
        <p:nvSpPr>
          <p:cNvPr id="49" name="TextBox 48"/>
          <p:cNvSpPr txBox="1"/>
          <p:nvPr/>
        </p:nvSpPr>
        <p:spPr>
          <a:xfrm>
            <a:off x="9948672" y="5084064"/>
            <a:ext cx="1691640" cy="365760"/>
          </a:xfrm>
          <a:prstGeom prst="rect">
            <a:avLst/>
          </a:prstGeom>
          <a:noFill/>
        </p:spPr>
        <p:txBody>
          <a:bodyPr wrap="square" lIns="0" rIns="0" tIns="0" bIns="0" anchor="t">
            <a:spAutoFit/>
          </a:bodyPr>
          <a:lstStyle/>
          <a:p>
            <a:pPr algn="l">
              <a:lnSpc>
                <a:spcPct val="105000"/>
              </a:lnSpc>
            </a:pPr>
            <a:r>
              <a:rPr sz="950" b="1" i="0">
                <a:solidFill>
                  <a:srgbClr val="16181D"/>
                </a:solidFill>
                <a:latin typeface="Montserrat"/>
              </a:rPr>
              <a:t>Mishika Singh</a:t>
            </a:r>
          </a:p>
        </p:txBody>
      </p:sp>
      <p:sp>
        <p:nvSpPr>
          <p:cNvPr id="50" name="TextBox 49"/>
          <p:cNvSpPr txBox="1"/>
          <p:nvPr/>
        </p:nvSpPr>
        <p:spPr>
          <a:xfrm>
            <a:off x="9948672" y="5440680"/>
            <a:ext cx="1691640" cy="54864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Neev Foundation · legal helpdesks</a:t>
            </a:r>
          </a:p>
        </p:txBody>
      </p:sp>
      <p:cxnSp>
        <p:nvCxnSpPr>
          <p:cNvPr id="51" name="Connector 50"/>
          <p:cNvCxnSpPr/>
          <p:nvPr/>
        </p:nvCxnSpPr>
        <p:spPr>
          <a:xfrm>
            <a:off x="566928" y="6455664"/>
            <a:ext cx="11057839" cy="0"/>
          </a:xfrm>
          <a:prstGeom prst="line">
            <a:avLst/>
          </a:prstGeom>
          <a:ln w="9525">
            <a:solidFill>
              <a:srgbClr val="E8E9EE"/>
            </a:solidFill>
          </a:ln>
          <a:effectLst/>
        </p:spPr>
      </p:cxnSp>
      <p:sp>
        <p:nvSpPr>
          <p:cNvPr id="52" name="TextBox 5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3" name="TextBox 5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_0.30.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7 fixes fully built</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_0.42.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_0.42.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_0.05.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ph_ideathon_winners.jpg_3.95x1.28_0.25.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police_rally.jpg_3.95x1.28_0.35.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Public campaigns</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Road Safety Month with police &amp; schools; MS Dhoni</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1M+ citizens reached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ENFORCEMENT TECHNOLOGY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SATARK: AI that helps police stop </a:t>
            </a:r>
            <a:r>
              <a:rPr sz="2250" b="1" i="0">
                <a:solidFill>
                  <a:srgbClr val="4A35FF"/>
                </a:solidFill>
                <a:latin typeface="Montserrat"/>
              </a:rPr>
              <a:t>the right vehicle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with Cars24 engineers. Reads number plates, checks government records, and alerts officers to repeat offenders — in real time.</a:t>
            </a:r>
          </a:p>
        </p:txBody>
      </p:sp>
      <p:pic>
        <p:nvPicPr>
          <p:cNvPr id="8" name="Picture 7" descr="satark_billboard.jpg_4.35x2.65_0.42.jpg"/>
          <p:cNvPicPr>
            <a:picLocks noChangeAspect="1"/>
          </p:cNvPicPr>
          <p:nvPr/>
        </p:nvPicPr>
        <p:blipFill>
          <a:blip r:embed="rId2"/>
          <a:stretch>
            <a:fillRect/>
          </a:stretch>
        </p:blipFill>
        <p:spPr>
          <a:xfrm>
            <a:off x="566928" y="1965960"/>
            <a:ext cx="3977639" cy="2423160"/>
          </a:xfrm>
          <a:prstGeom prst="rect">
            <a:avLst/>
          </a:prstGeom>
        </p:spPr>
      </p:pic>
      <p:sp>
        <p:nvSpPr>
          <p:cNvPr id="9" name="Rectangle 8"/>
          <p:cNvSpPr/>
          <p:nvPr/>
        </p:nvSpPr>
        <p:spPr>
          <a:xfrm>
            <a:off x="566928" y="1965960"/>
            <a:ext cx="3977639" cy="24231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43484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Rambagh Circle, Jaipur — live plate, pending challans and dues on a public billboard.</a:t>
            </a:r>
          </a:p>
        </p:txBody>
      </p:sp>
      <p:pic>
        <p:nvPicPr>
          <p:cNvPr id="11" name="Picture 10" descr="satark_officer_app.jpg"/>
          <p:cNvPicPr>
            <a:picLocks noChangeAspect="1"/>
          </p:cNvPicPr>
          <p:nvPr/>
        </p:nvPicPr>
        <p:blipFill>
          <a:blip r:embed="rId3"/>
          <a:stretch>
            <a:fillRect/>
          </a:stretch>
        </p:blipFill>
        <p:spPr>
          <a:xfrm>
            <a:off x="4709160" y="1965960"/>
            <a:ext cx="1828800" cy="2150283"/>
          </a:xfrm>
          <a:prstGeom prst="rect">
            <a:avLst/>
          </a:prstGeom>
        </p:spPr>
      </p:pic>
      <p:sp>
        <p:nvSpPr>
          <p:cNvPr id="12" name="Rectangle 11"/>
          <p:cNvSpPr/>
          <p:nvPr/>
        </p:nvSpPr>
        <p:spPr>
          <a:xfrm>
            <a:off x="4709160" y="1965960"/>
            <a:ext cx="1828800" cy="2150283"/>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4709160" y="4161963"/>
            <a:ext cx="182880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Officer view — challans,</a:t>
            </a:r>
          </a:p>
          <a:p>
            <a:pPr algn="l">
              <a:lnSpc>
                <a:spcPct val="112000"/>
              </a:lnSpc>
            </a:pPr>
            <a:r>
              <a:rPr sz="850" b="0" i="0">
                <a:solidFill>
                  <a:srgbClr val="6E7180"/>
                </a:solidFill>
                <a:latin typeface="Geist"/>
              </a:rPr>
              <a:t>RC &amp; compliance status.</a:t>
            </a:r>
          </a:p>
        </p:txBody>
      </p:sp>
      <p:sp>
        <p:nvSpPr>
          <p:cNvPr id="14" name="TextBox 13"/>
          <p:cNvSpPr txBox="1"/>
          <p:nvPr/>
        </p:nvSpPr>
        <p:spPr>
          <a:xfrm>
            <a:off x="6784848"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3,00,000+</a:t>
            </a:r>
          </a:p>
        </p:txBody>
      </p:sp>
      <p:sp>
        <p:nvSpPr>
          <p:cNvPr id="15" name="TextBox 14"/>
          <p:cNvSpPr txBox="1"/>
          <p:nvPr/>
        </p:nvSpPr>
        <p:spPr>
          <a:xfrm>
            <a:off x="6784848"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screened</a:t>
            </a:r>
          </a:p>
        </p:txBody>
      </p:sp>
      <p:sp>
        <p:nvSpPr>
          <p:cNvPr id="16" name="TextBox 15"/>
          <p:cNvSpPr txBox="1"/>
          <p:nvPr/>
        </p:nvSpPr>
        <p:spPr>
          <a:xfrm>
            <a:off x="9235440"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 Cr+</a:t>
            </a:r>
          </a:p>
        </p:txBody>
      </p:sp>
      <p:sp>
        <p:nvSpPr>
          <p:cNvPr id="17" name="TextBox 16"/>
          <p:cNvSpPr txBox="1"/>
          <p:nvPr/>
        </p:nvSpPr>
        <p:spPr>
          <a:xfrm>
            <a:off x="9235440"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pending challan value identified</a:t>
            </a:r>
          </a:p>
        </p:txBody>
      </p:sp>
      <p:sp>
        <p:nvSpPr>
          <p:cNvPr id="18" name="TextBox 17"/>
          <p:cNvSpPr txBox="1"/>
          <p:nvPr/>
        </p:nvSpPr>
        <p:spPr>
          <a:xfrm>
            <a:off x="6784848"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350+</a:t>
            </a:r>
          </a:p>
        </p:txBody>
      </p:sp>
      <p:sp>
        <p:nvSpPr>
          <p:cNvPr id="19" name="TextBox 18"/>
          <p:cNvSpPr txBox="1"/>
          <p:nvPr/>
        </p:nvSpPr>
        <p:spPr>
          <a:xfrm>
            <a:off x="6784848"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high-risk vehicles intercepted</a:t>
            </a:r>
          </a:p>
        </p:txBody>
      </p:sp>
      <p:sp>
        <p:nvSpPr>
          <p:cNvPr id="20" name="TextBox 19"/>
          <p:cNvSpPr txBox="1"/>
          <p:nvPr/>
        </p:nvSpPr>
        <p:spPr>
          <a:xfrm>
            <a:off x="9235440"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70,019</a:t>
            </a:r>
          </a:p>
        </p:txBody>
      </p:sp>
      <p:sp>
        <p:nvSpPr>
          <p:cNvPr id="21" name="TextBox 20"/>
          <p:cNvSpPr txBox="1"/>
          <p:nvPr/>
        </p:nvSpPr>
        <p:spPr>
          <a:xfrm>
            <a:off x="9235440"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found with pending challans</a:t>
            </a:r>
          </a:p>
        </p:txBody>
      </p:sp>
      <p:sp>
        <p:nvSpPr>
          <p:cNvPr id="22" name="Rounded Rectangle 21"/>
          <p:cNvSpPr/>
          <p:nvPr/>
        </p:nvSpPr>
        <p:spPr>
          <a:xfrm>
            <a:off x="6784848" y="3767328"/>
            <a:ext cx="2240280" cy="384048"/>
          </a:xfrm>
          <a:prstGeom prst="roundRect">
            <a:avLst>
              <a:gd name="adj" fmla="val 50000"/>
            </a:avLst>
          </a:prstGeom>
          <a:solidFill>
            <a:srgbClr val="E9F7F0"/>
          </a:solidFill>
          <a:ln>
            <a:noFill/>
          </a:ln>
          <a:effectLst/>
        </p:spPr>
        <p:txBody>
          <a:bodyPr rtlCol="0" anchor="ctr"/>
          <a:lstStyle/>
          <a:p>
            <a:pPr algn="ctr"/>
          </a:p>
        </p:txBody>
      </p:sp>
      <p:sp>
        <p:nvSpPr>
          <p:cNvPr id="23" name="TextBox 22"/>
          <p:cNvSpPr txBox="1"/>
          <p:nvPr/>
        </p:nvSpPr>
        <p:spPr>
          <a:xfrm>
            <a:off x="6803136" y="3767328"/>
            <a:ext cx="22037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LIVE · Jaipur &amp; Bengaluru</a:t>
            </a:r>
          </a:p>
        </p:txBody>
      </p:sp>
      <p:sp>
        <p:nvSpPr>
          <p:cNvPr id="24" name="Rounded Rectangle 23"/>
          <p:cNvSpPr/>
          <p:nvPr/>
        </p:nvSpPr>
        <p:spPr>
          <a:xfrm>
            <a:off x="9144000" y="3767328"/>
            <a:ext cx="1600200" cy="384048"/>
          </a:xfrm>
          <a:prstGeom prst="roundRect">
            <a:avLst>
              <a:gd name="adj" fmla="val 50000"/>
            </a:avLst>
          </a:prstGeom>
          <a:solidFill>
            <a:srgbClr val="EFEDFF"/>
          </a:solidFill>
          <a:ln>
            <a:noFill/>
          </a:ln>
          <a:effectLst/>
        </p:spPr>
        <p:txBody>
          <a:bodyPr rtlCol="0" anchor="ctr"/>
          <a:lstStyle/>
          <a:p>
            <a:pPr algn="ctr"/>
          </a:p>
        </p:txBody>
      </p:sp>
      <p:sp>
        <p:nvSpPr>
          <p:cNvPr id="25" name="TextBox 24"/>
          <p:cNvSpPr txBox="1"/>
          <p:nvPr/>
        </p:nvSpPr>
        <p:spPr>
          <a:xfrm>
            <a:off x="9162288" y="3767328"/>
            <a:ext cx="1563624" cy="384048"/>
          </a:xfrm>
          <a:prstGeom prst="rect">
            <a:avLst/>
          </a:prstGeom>
          <a:noFill/>
        </p:spPr>
        <p:txBody>
          <a:bodyPr wrap="square" lIns="0" rIns="0" tIns="0" bIns="0" anchor="ctr">
            <a:spAutoFit/>
          </a:bodyPr>
          <a:lstStyle/>
          <a:p>
            <a:pPr algn="ctr">
              <a:lnSpc>
                <a:spcPct val="100000"/>
              </a:lnSpc>
            </a:pPr>
            <a:r>
              <a:rPr sz="950" b="1" i="0">
                <a:solidFill>
                  <a:srgbClr val="4A35FF"/>
                </a:solidFill>
                <a:latin typeface="Montserrat"/>
              </a:rPr>
              <a:t>NEW · Gurugram</a:t>
            </a:r>
          </a:p>
        </p:txBody>
      </p:sp>
      <p:sp>
        <p:nvSpPr>
          <p:cNvPr id="26" name="TextBox 25"/>
          <p:cNvSpPr txBox="1"/>
          <p:nvPr/>
        </p:nvSpPr>
        <p:spPr>
          <a:xfrm>
            <a:off x="6784848" y="4261104"/>
            <a:ext cx="4754880" cy="2743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Bengaluru's Trinity Circle billboard was India's first — covered by Deccan Herald and national press. Pune and Ahmedabad are next.</a:t>
            </a:r>
          </a:p>
        </p:txBody>
      </p:sp>
      <p:cxnSp>
        <p:nvCxnSpPr>
          <p:cNvPr id="27" name="Connector 26"/>
          <p:cNvCxnSpPr/>
          <p:nvPr/>
        </p:nvCxnSpPr>
        <p:spPr>
          <a:xfrm>
            <a:off x="932688" y="5358384"/>
            <a:ext cx="10326319" cy="0"/>
          </a:xfrm>
          <a:prstGeom prst="line">
            <a:avLst/>
          </a:prstGeom>
          <a:ln w="12700">
            <a:solidFill>
              <a:srgbClr val="E8E9EE"/>
            </a:solidFill>
          </a:ln>
          <a:effectLst/>
        </p:spPr>
      </p:cxnSp>
      <p:sp>
        <p:nvSpPr>
          <p:cNvPr id="28" name="Oval 27"/>
          <p:cNvSpPr/>
          <p:nvPr/>
        </p:nvSpPr>
        <p:spPr>
          <a:xfrm>
            <a:off x="1038586" y="5138928"/>
            <a:ext cx="438912" cy="438912"/>
          </a:xfrm>
          <a:prstGeom prst="ellipse">
            <a:avLst/>
          </a:prstGeom>
          <a:solidFill>
            <a:srgbClr val="F7F7FA"/>
          </a:solidFill>
          <a:ln>
            <a:noFill/>
          </a:ln>
          <a:effectLst/>
        </p:spPr>
        <p:txBody>
          <a:bodyPr rtlCol="0" anchor="ctr"/>
          <a:lstStyle/>
          <a:p>
            <a:pPr algn="ctr"/>
          </a:p>
        </p:txBody>
      </p:sp>
      <p:pic>
        <p:nvPicPr>
          <p:cNvPr id="29" name="Picture 28" descr="camera_4A35FF_256_2.0.png"/>
          <p:cNvPicPr>
            <a:picLocks noChangeAspect="1"/>
          </p:cNvPicPr>
          <p:nvPr/>
        </p:nvPicPr>
        <p:blipFill>
          <a:blip r:embed="rId4"/>
          <a:stretch>
            <a:fillRect/>
          </a:stretch>
        </p:blipFill>
        <p:spPr>
          <a:xfrm>
            <a:off x="1143924" y="5244266"/>
            <a:ext cx="228234" cy="228234"/>
          </a:xfrm>
          <a:prstGeom prst="rect">
            <a:avLst/>
          </a:prstGeom>
        </p:spPr>
      </p:pic>
      <p:sp>
        <p:nvSpPr>
          <p:cNvPr id="30" name="TextBox 29"/>
          <p:cNvSpPr txBox="1"/>
          <p:nvPr/>
        </p:nvSpPr>
        <p:spPr>
          <a:xfrm>
            <a:off x="566928"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ANPR camera</a:t>
            </a:r>
          </a:p>
        </p:txBody>
      </p:sp>
      <p:sp>
        <p:nvSpPr>
          <p:cNvPr id="31" name="Oval 30"/>
          <p:cNvSpPr/>
          <p:nvPr/>
        </p:nvSpPr>
        <p:spPr>
          <a:xfrm>
            <a:off x="2420815" y="5138928"/>
            <a:ext cx="438912" cy="438912"/>
          </a:xfrm>
          <a:prstGeom prst="ellipse">
            <a:avLst/>
          </a:prstGeom>
          <a:solidFill>
            <a:srgbClr val="F7F7FA"/>
          </a:solidFill>
          <a:ln>
            <a:noFill/>
          </a:ln>
          <a:effectLst/>
        </p:spPr>
        <p:txBody>
          <a:bodyPr rtlCol="0" anchor="ctr"/>
          <a:lstStyle/>
          <a:p>
            <a:pPr algn="ctr"/>
          </a:p>
        </p:txBody>
      </p:sp>
      <p:pic>
        <p:nvPicPr>
          <p:cNvPr id="32" name="Picture 31" descr="scan-line_4A35FF_256_2.0.png"/>
          <p:cNvPicPr>
            <a:picLocks noChangeAspect="1"/>
          </p:cNvPicPr>
          <p:nvPr/>
        </p:nvPicPr>
        <p:blipFill>
          <a:blip r:embed="rId5"/>
          <a:stretch>
            <a:fillRect/>
          </a:stretch>
        </p:blipFill>
        <p:spPr>
          <a:xfrm>
            <a:off x="2526153" y="5244266"/>
            <a:ext cx="228234" cy="228234"/>
          </a:xfrm>
          <a:prstGeom prst="rect">
            <a:avLst/>
          </a:prstGeom>
        </p:spPr>
      </p:pic>
      <p:sp>
        <p:nvSpPr>
          <p:cNvPr id="33" name="TextBox 32"/>
          <p:cNvSpPr txBox="1"/>
          <p:nvPr/>
        </p:nvSpPr>
        <p:spPr>
          <a:xfrm>
            <a:off x="194915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Plate read</a:t>
            </a:r>
          </a:p>
        </p:txBody>
      </p:sp>
      <p:sp>
        <p:nvSpPr>
          <p:cNvPr id="34" name="Oval 33"/>
          <p:cNvSpPr/>
          <p:nvPr/>
        </p:nvSpPr>
        <p:spPr>
          <a:xfrm>
            <a:off x="3803045" y="5138928"/>
            <a:ext cx="438912" cy="438912"/>
          </a:xfrm>
          <a:prstGeom prst="ellipse">
            <a:avLst/>
          </a:prstGeom>
          <a:solidFill>
            <a:srgbClr val="F7F7FA"/>
          </a:solidFill>
          <a:ln>
            <a:noFill/>
          </a:ln>
          <a:effectLst/>
        </p:spPr>
        <p:txBody>
          <a:bodyPr rtlCol="0" anchor="ctr"/>
          <a:lstStyle/>
          <a:p>
            <a:pPr algn="ctr"/>
          </a:p>
        </p:txBody>
      </p:sp>
      <p:pic>
        <p:nvPicPr>
          <p:cNvPr id="35" name="Picture 34" descr="database_4A35FF_256_2.0.png"/>
          <p:cNvPicPr>
            <a:picLocks noChangeAspect="1"/>
          </p:cNvPicPr>
          <p:nvPr/>
        </p:nvPicPr>
        <p:blipFill>
          <a:blip r:embed="rId6"/>
          <a:stretch>
            <a:fillRect/>
          </a:stretch>
        </p:blipFill>
        <p:spPr>
          <a:xfrm>
            <a:off x="3908383" y="5244266"/>
            <a:ext cx="228234" cy="228234"/>
          </a:xfrm>
          <a:prstGeom prst="rect">
            <a:avLst/>
          </a:prstGeom>
        </p:spPr>
      </p:pic>
      <p:sp>
        <p:nvSpPr>
          <p:cNvPr id="36" name="TextBox 35"/>
          <p:cNvSpPr txBox="1"/>
          <p:nvPr/>
        </p:nvSpPr>
        <p:spPr>
          <a:xfrm>
            <a:off x="333138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Records check</a:t>
            </a:r>
          </a:p>
        </p:txBody>
      </p:sp>
      <p:sp>
        <p:nvSpPr>
          <p:cNvPr id="37" name="Oval 36"/>
          <p:cNvSpPr/>
          <p:nvPr/>
        </p:nvSpPr>
        <p:spPr>
          <a:xfrm>
            <a:off x="5185275" y="5138928"/>
            <a:ext cx="438912" cy="438912"/>
          </a:xfrm>
          <a:prstGeom prst="ellipse">
            <a:avLst/>
          </a:prstGeom>
          <a:solidFill>
            <a:srgbClr val="F7F7FA"/>
          </a:solidFill>
          <a:ln>
            <a:noFill/>
          </a:ln>
          <a:effectLst/>
        </p:spPr>
        <p:txBody>
          <a:bodyPr rtlCol="0" anchor="ctr"/>
          <a:lstStyle/>
          <a:p>
            <a:pPr algn="ctr"/>
          </a:p>
        </p:txBody>
      </p:sp>
      <p:pic>
        <p:nvPicPr>
          <p:cNvPr id="38" name="Picture 37" descr="alert-triangle_4A35FF_256_2.0.png"/>
          <p:cNvPicPr>
            <a:picLocks noChangeAspect="1"/>
          </p:cNvPicPr>
          <p:nvPr/>
        </p:nvPicPr>
        <p:blipFill>
          <a:blip r:embed="rId7"/>
          <a:stretch>
            <a:fillRect/>
          </a:stretch>
        </p:blipFill>
        <p:spPr>
          <a:xfrm>
            <a:off x="5290613" y="5244266"/>
            <a:ext cx="228234" cy="228234"/>
          </a:xfrm>
          <a:prstGeom prst="rect">
            <a:avLst/>
          </a:prstGeom>
        </p:spPr>
      </p:pic>
      <p:sp>
        <p:nvSpPr>
          <p:cNvPr id="39" name="TextBox 38"/>
          <p:cNvSpPr txBox="1"/>
          <p:nvPr/>
        </p:nvSpPr>
        <p:spPr>
          <a:xfrm>
            <a:off x="471361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Risk flag</a:t>
            </a:r>
          </a:p>
        </p:txBody>
      </p:sp>
      <p:sp>
        <p:nvSpPr>
          <p:cNvPr id="40" name="Oval 39"/>
          <p:cNvSpPr/>
          <p:nvPr/>
        </p:nvSpPr>
        <p:spPr>
          <a:xfrm>
            <a:off x="6567505" y="5138928"/>
            <a:ext cx="438912" cy="438912"/>
          </a:xfrm>
          <a:prstGeom prst="ellipse">
            <a:avLst/>
          </a:prstGeom>
          <a:solidFill>
            <a:srgbClr val="F7F7FA"/>
          </a:solidFill>
          <a:ln>
            <a:noFill/>
          </a:ln>
          <a:effectLst/>
        </p:spPr>
        <p:txBody>
          <a:bodyPr rtlCol="0" anchor="ctr"/>
          <a:lstStyle/>
          <a:p>
            <a:pPr algn="ctr"/>
          </a:p>
        </p:txBody>
      </p:sp>
      <p:pic>
        <p:nvPicPr>
          <p:cNvPr id="41" name="Picture 40" descr="bell-ring_4A35FF_256_2.0.png"/>
          <p:cNvPicPr>
            <a:picLocks noChangeAspect="1"/>
          </p:cNvPicPr>
          <p:nvPr/>
        </p:nvPicPr>
        <p:blipFill>
          <a:blip r:embed="rId8"/>
          <a:stretch>
            <a:fillRect/>
          </a:stretch>
        </p:blipFill>
        <p:spPr>
          <a:xfrm>
            <a:off x="6672843" y="5244266"/>
            <a:ext cx="228234" cy="228234"/>
          </a:xfrm>
          <a:prstGeom prst="rect">
            <a:avLst/>
          </a:prstGeom>
        </p:spPr>
      </p:pic>
      <p:sp>
        <p:nvSpPr>
          <p:cNvPr id="42" name="TextBox 41"/>
          <p:cNvSpPr txBox="1"/>
          <p:nvPr/>
        </p:nvSpPr>
        <p:spPr>
          <a:xfrm>
            <a:off x="609584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Officer alert</a:t>
            </a:r>
          </a:p>
        </p:txBody>
      </p:sp>
      <p:sp>
        <p:nvSpPr>
          <p:cNvPr id="43" name="Oval 42"/>
          <p:cNvSpPr/>
          <p:nvPr/>
        </p:nvSpPr>
        <p:spPr>
          <a:xfrm>
            <a:off x="7949735" y="5138928"/>
            <a:ext cx="438912" cy="438912"/>
          </a:xfrm>
          <a:prstGeom prst="ellipse">
            <a:avLst/>
          </a:prstGeom>
          <a:solidFill>
            <a:srgbClr val="F7F7FA"/>
          </a:solidFill>
          <a:ln>
            <a:noFill/>
          </a:ln>
          <a:effectLst/>
        </p:spPr>
        <p:txBody>
          <a:bodyPr rtlCol="0" anchor="ctr"/>
          <a:lstStyle/>
          <a:p>
            <a:pPr algn="ctr"/>
          </a:p>
        </p:txBody>
      </p:sp>
      <p:pic>
        <p:nvPicPr>
          <p:cNvPr id="44" name="Picture 43" descr="monitor_4A35FF_256_2.0.png"/>
          <p:cNvPicPr>
            <a:picLocks noChangeAspect="1"/>
          </p:cNvPicPr>
          <p:nvPr/>
        </p:nvPicPr>
        <p:blipFill>
          <a:blip r:embed="rId9"/>
          <a:stretch>
            <a:fillRect/>
          </a:stretch>
        </p:blipFill>
        <p:spPr>
          <a:xfrm>
            <a:off x="8055073" y="5244266"/>
            <a:ext cx="228234" cy="228234"/>
          </a:xfrm>
          <a:prstGeom prst="rect">
            <a:avLst/>
          </a:prstGeom>
        </p:spPr>
      </p:pic>
      <p:sp>
        <p:nvSpPr>
          <p:cNvPr id="45" name="TextBox 44"/>
          <p:cNvSpPr txBox="1"/>
          <p:nvPr/>
        </p:nvSpPr>
        <p:spPr>
          <a:xfrm>
            <a:off x="747807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Billboard</a:t>
            </a:r>
          </a:p>
        </p:txBody>
      </p:sp>
      <p:sp>
        <p:nvSpPr>
          <p:cNvPr id="46" name="Oval 45"/>
          <p:cNvSpPr/>
          <p:nvPr/>
        </p:nvSpPr>
        <p:spPr>
          <a:xfrm>
            <a:off x="9331965" y="5138928"/>
            <a:ext cx="438912" cy="438912"/>
          </a:xfrm>
          <a:prstGeom prst="ellipse">
            <a:avLst/>
          </a:prstGeom>
          <a:solidFill>
            <a:srgbClr val="F7F7FA"/>
          </a:solidFill>
          <a:ln>
            <a:noFill/>
          </a:ln>
          <a:effectLst/>
        </p:spPr>
        <p:txBody>
          <a:bodyPr rtlCol="0" anchor="ctr"/>
          <a:lstStyle/>
          <a:p>
            <a:pPr algn="ctr"/>
          </a:p>
        </p:txBody>
      </p:sp>
      <p:pic>
        <p:nvPicPr>
          <p:cNvPr id="47" name="Picture 46" descr="hand_4A35FF_256_2.0.png"/>
          <p:cNvPicPr>
            <a:picLocks noChangeAspect="1"/>
          </p:cNvPicPr>
          <p:nvPr/>
        </p:nvPicPr>
        <p:blipFill>
          <a:blip r:embed="rId10"/>
          <a:stretch>
            <a:fillRect/>
          </a:stretch>
        </p:blipFill>
        <p:spPr>
          <a:xfrm>
            <a:off x="9437303" y="5244266"/>
            <a:ext cx="228234" cy="228234"/>
          </a:xfrm>
          <a:prstGeom prst="rect">
            <a:avLst/>
          </a:prstGeom>
        </p:spPr>
      </p:pic>
      <p:sp>
        <p:nvSpPr>
          <p:cNvPr id="48" name="TextBox 47"/>
          <p:cNvSpPr txBox="1"/>
          <p:nvPr/>
        </p:nvSpPr>
        <p:spPr>
          <a:xfrm>
            <a:off x="886030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Interception</a:t>
            </a:r>
          </a:p>
        </p:txBody>
      </p:sp>
      <p:sp>
        <p:nvSpPr>
          <p:cNvPr id="49" name="Oval 48"/>
          <p:cNvSpPr/>
          <p:nvPr/>
        </p:nvSpPr>
        <p:spPr>
          <a:xfrm>
            <a:off x="10714195" y="5138928"/>
            <a:ext cx="438912" cy="438912"/>
          </a:xfrm>
          <a:prstGeom prst="ellipse">
            <a:avLst/>
          </a:prstGeom>
          <a:solidFill>
            <a:srgbClr val="F7F7FA"/>
          </a:solidFill>
          <a:ln>
            <a:noFill/>
          </a:ln>
          <a:effectLst/>
        </p:spPr>
        <p:txBody>
          <a:bodyPr rtlCol="0" anchor="ctr"/>
          <a:lstStyle/>
          <a:p>
            <a:pPr algn="ctr"/>
          </a:p>
        </p:txBody>
      </p:sp>
      <p:pic>
        <p:nvPicPr>
          <p:cNvPr id="50" name="Picture 49" descr="shield-check_4A35FF_256_2.0.png"/>
          <p:cNvPicPr>
            <a:picLocks noChangeAspect="1"/>
          </p:cNvPicPr>
          <p:nvPr/>
        </p:nvPicPr>
        <p:blipFill>
          <a:blip r:embed="rId11"/>
          <a:stretch>
            <a:fillRect/>
          </a:stretch>
        </p:blipFill>
        <p:spPr>
          <a:xfrm>
            <a:off x="10819533" y="5244266"/>
            <a:ext cx="228234" cy="228234"/>
          </a:xfrm>
          <a:prstGeom prst="rect">
            <a:avLst/>
          </a:prstGeom>
        </p:spPr>
      </p:pic>
      <p:sp>
        <p:nvSpPr>
          <p:cNvPr id="51" name="TextBox 50"/>
          <p:cNvSpPr txBox="1"/>
          <p:nvPr/>
        </p:nvSpPr>
        <p:spPr>
          <a:xfrm>
            <a:off x="1024253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Enforcement</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Four live data platforms — </a:t>
            </a:r>
            <a:r>
              <a:rPr sz="2250" b="1" i="0">
                <a:solidFill>
                  <a:srgbClr val="4A35FF"/>
                </a:solidFill>
                <a:latin typeface="Montserrat"/>
              </a:rPr>
              <a:t>free for any authority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Each one turns a scattered public record into structured, citable evidence. Self-updating; no login, no fee.</a:t>
            </a:r>
          </a:p>
        </p:txBody>
      </p:sp>
      <p:pic>
        <p:nvPicPr>
          <p:cNvPr id="8" name="Picture 7" descr="card_defect.png_2.95x2.18_0.00.jpg"/>
          <p:cNvPicPr>
            <a:picLocks noChangeAspect="1"/>
          </p:cNvPicPr>
          <p:nvPr/>
        </p:nvPicPr>
        <p:blipFill>
          <a:blip r:embed="rId2"/>
          <a:stretch>
            <a:fillRect/>
          </a:stretch>
        </p:blipFill>
        <p:spPr>
          <a:xfrm>
            <a:off x="566928" y="1938528"/>
            <a:ext cx="2697480" cy="1993392"/>
          </a:xfrm>
          <a:prstGeom prst="rect">
            <a:avLst/>
          </a:prstGeom>
        </p:spPr>
      </p:pic>
      <p:sp>
        <p:nvSpPr>
          <p:cNvPr id="9" name="Rectangle 8"/>
          <p:cNvSpPr/>
          <p:nvPr/>
        </p:nvSpPr>
        <p:spPr>
          <a:xfrm>
            <a:off x="566928" y="1938528"/>
            <a:ext cx="2697480" cy="1993392"/>
          </a:xfrm>
          <a:prstGeom prst="rect">
            <a:avLst/>
          </a:prstGeom>
          <a:noFill/>
          <a:ln w="12700">
            <a:solidFill>
              <a:srgbClr val="E8E9EE"/>
            </a:solidFill>
          </a:ln>
          <a:effectLst/>
        </p:spPr>
        <p:txBody>
          <a:bodyPr rtlCol="0" anchor="ctr"/>
          <a:lstStyle/>
          <a:p>
            <a:pPr algn="ctr"/>
          </a:p>
        </p:txBody>
      </p:sp>
      <p:pic>
        <p:nvPicPr>
          <p:cNvPr id="10" name="Picture 9" descr="card_parliament.png_2.95x2.18_0.00.jpg"/>
          <p:cNvPicPr>
            <a:picLocks noChangeAspect="1"/>
          </p:cNvPicPr>
          <p:nvPr/>
        </p:nvPicPr>
        <p:blipFill>
          <a:blip r:embed="rId3"/>
          <a:stretch>
            <a:fillRect/>
          </a:stretch>
        </p:blipFill>
        <p:spPr>
          <a:xfrm>
            <a:off x="3392424" y="1938528"/>
            <a:ext cx="2697480" cy="1993392"/>
          </a:xfrm>
          <a:prstGeom prst="rect">
            <a:avLst/>
          </a:prstGeom>
        </p:spPr>
      </p:pic>
      <p:sp>
        <p:nvSpPr>
          <p:cNvPr id="11" name="Rectangle 10"/>
          <p:cNvSpPr/>
          <p:nvPr/>
        </p:nvSpPr>
        <p:spPr>
          <a:xfrm>
            <a:off x="3392424" y="1938528"/>
            <a:ext cx="2697480" cy="1993392"/>
          </a:xfrm>
          <a:prstGeom prst="rect">
            <a:avLst/>
          </a:prstGeom>
          <a:noFill/>
          <a:ln w="12700">
            <a:solidFill>
              <a:srgbClr val="E8E9EE"/>
            </a:solidFill>
          </a:ln>
          <a:effectLst/>
        </p:spPr>
        <p:txBody>
          <a:bodyPr rtlCol="0" anchor="ctr"/>
          <a:lstStyle/>
          <a:p>
            <a:pPr algn="ctr"/>
          </a:p>
        </p:txBody>
      </p:sp>
      <p:pic>
        <p:nvPicPr>
          <p:cNvPr id="12" name="Picture 11" descr="card_sctracker.png_2.95x2.18_0.00.jpg"/>
          <p:cNvPicPr>
            <a:picLocks noChangeAspect="1"/>
          </p:cNvPicPr>
          <p:nvPr/>
        </p:nvPicPr>
        <p:blipFill>
          <a:blip r:embed="rId4"/>
          <a:stretch>
            <a:fillRect/>
          </a:stretch>
        </p:blipFill>
        <p:spPr>
          <a:xfrm>
            <a:off x="566928" y="4151376"/>
            <a:ext cx="2697480" cy="1993392"/>
          </a:xfrm>
          <a:prstGeom prst="rect">
            <a:avLst/>
          </a:prstGeom>
        </p:spPr>
      </p:pic>
      <p:sp>
        <p:nvSpPr>
          <p:cNvPr id="13" name="Rectangle 12"/>
          <p:cNvSpPr/>
          <p:nvPr/>
        </p:nvSpPr>
        <p:spPr>
          <a:xfrm>
            <a:off x="566928" y="4151376"/>
            <a:ext cx="2697480" cy="1993392"/>
          </a:xfrm>
          <a:prstGeom prst="rect">
            <a:avLst/>
          </a:prstGeom>
          <a:noFill/>
          <a:ln w="12700">
            <a:solidFill>
              <a:srgbClr val="E8E9EE"/>
            </a:solidFill>
          </a:ln>
          <a:effectLst/>
        </p:spPr>
        <p:txBody>
          <a:bodyPr rtlCol="0" anchor="ctr"/>
          <a:lstStyle/>
          <a:p>
            <a:pPr algn="ctr"/>
          </a:p>
        </p:txBody>
      </p:sp>
      <p:pic>
        <p:nvPicPr>
          <p:cNvPr id="14" name="Picture 13" descr="card_crashdash.png_2.95x2.18_0.00.jpg"/>
          <p:cNvPicPr>
            <a:picLocks noChangeAspect="1"/>
          </p:cNvPicPr>
          <p:nvPr/>
        </p:nvPicPr>
        <p:blipFill>
          <a:blip r:embed="rId5"/>
          <a:stretch>
            <a:fillRect/>
          </a:stretch>
        </p:blipFill>
        <p:spPr>
          <a:xfrm>
            <a:off x="3392424" y="4151376"/>
            <a:ext cx="2697480" cy="1993392"/>
          </a:xfrm>
          <a:prstGeom prst="rect">
            <a:avLst/>
          </a:prstGeom>
        </p:spPr>
      </p:pic>
      <p:sp>
        <p:nvSpPr>
          <p:cNvPr id="15" name="Rectangle 14"/>
          <p:cNvSpPr/>
          <p:nvPr/>
        </p:nvSpPr>
        <p:spPr>
          <a:xfrm>
            <a:off x="3392424" y="4151376"/>
            <a:ext cx="2697480" cy="1993392"/>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566928" y="6144768"/>
            <a:ext cx="5577840" cy="274320"/>
          </a:xfrm>
          <a:prstGeom prst="rect">
            <a:avLst/>
          </a:prstGeom>
          <a:noFill/>
        </p:spPr>
        <p:txBody>
          <a:bodyPr wrap="square" lIns="0" rIns="0" tIns="0" bIns="0" anchor="t">
            <a:spAutoFit/>
          </a:bodyPr>
          <a:lstStyle/>
          <a:p>
            <a:pPr algn="l">
              <a:lnSpc>
                <a:spcPct val="128000"/>
              </a:lnSpc>
            </a:pPr>
            <a:r>
              <a:rPr sz="850" b="0" i="0">
                <a:solidFill>
                  <a:srgbClr val="6E7180"/>
                </a:solidFill>
                <a:latin typeface="Geist"/>
              </a:rPr>
              <a:t>Product cards from our internal data-stack brief, July 2026 — descriptions as shipped.</a:t>
            </a:r>
          </a:p>
        </p:txBody>
      </p:sp>
      <p:pic>
        <p:nvPicPr>
          <p:cNvPr id="17" name="Picture 16" descr="sctracker.png_5.80x2.75_0.00.jpg"/>
          <p:cNvPicPr>
            <a:picLocks noChangeAspect="1"/>
          </p:cNvPicPr>
          <p:nvPr/>
        </p:nvPicPr>
        <p:blipFill>
          <a:blip r:embed="rId6"/>
          <a:stretch>
            <a:fillRect/>
          </a:stretch>
        </p:blipFill>
        <p:spPr>
          <a:xfrm>
            <a:off x="6309360" y="1938528"/>
            <a:ext cx="5303520" cy="2514600"/>
          </a:xfrm>
          <a:prstGeom prst="rect">
            <a:avLst/>
          </a:prstGeom>
        </p:spPr>
      </p:pic>
      <p:sp>
        <p:nvSpPr>
          <p:cNvPr id="18" name="Rectangle 17"/>
          <p:cNvSpPr/>
          <p:nvPr/>
        </p:nvSpPr>
        <p:spPr>
          <a:xfrm>
            <a:off x="6309360" y="1938528"/>
            <a:ext cx="5303520" cy="2514600"/>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6309360" y="4498848"/>
            <a:ext cx="53035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Live view, 1 Aug 2026 — 20 systemic cases · 191 orders indexed · 30 precedent judgments. Refreshes every Tuesday.</a:t>
            </a:r>
          </a:p>
        </p:txBody>
      </p:sp>
      <p:pic>
        <p:nvPicPr>
          <p:cNvPr id="20" name="Picture 19" descr="suraksha_cards.png_5.80x1.02_0.32.jpg"/>
          <p:cNvPicPr>
            <a:picLocks noChangeAspect="1"/>
          </p:cNvPicPr>
          <p:nvPr/>
        </p:nvPicPr>
        <p:blipFill>
          <a:blip r:embed="rId7"/>
          <a:stretch>
            <a:fillRect/>
          </a:stretch>
        </p:blipFill>
        <p:spPr>
          <a:xfrm>
            <a:off x="6309360" y="4956048"/>
            <a:ext cx="5303520" cy="932688"/>
          </a:xfrm>
          <a:prstGeom prst="rect">
            <a:avLst/>
          </a:prstGeom>
        </p:spPr>
      </p:pic>
      <p:sp>
        <p:nvSpPr>
          <p:cNvPr id="21" name="Rectangle 20"/>
          <p:cNvSpPr/>
          <p:nvPr/>
        </p:nvSpPr>
        <p:spPr>
          <a:xfrm>
            <a:off x="6309360" y="4956048"/>
            <a:ext cx="5303520" cy="932688"/>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6309360" y="5943600"/>
            <a:ext cx="5303520" cy="274320"/>
          </a:xfrm>
          <a:prstGeom prst="rect">
            <a:avLst/>
          </a:prstGeom>
          <a:noFill/>
        </p:spPr>
        <p:txBody>
          <a:bodyPr wrap="square" lIns="0" rIns="0" tIns="0" bIns="0" anchor="t">
            <a:spAutoFit/>
          </a:bodyPr>
          <a:lstStyle/>
          <a:p>
            <a:pPr algn="l">
              <a:lnSpc>
                <a:spcPct val="115000"/>
              </a:lnSpc>
            </a:pPr>
            <a:r>
              <a:rPr sz="850" b="0" i="0">
                <a:solidFill>
                  <a:srgbClr val="6E7180"/>
                </a:solidFill>
                <a:latin typeface="Geist"/>
              </a:rPr>
              <a:t>Plus: Suraksha Mitra &amp; Sadak Suraksha Suchak — citizen hazard reporting in Hindi (50+ hazards in the first 20 days).</a:t>
            </a:r>
          </a:p>
        </p:txBody>
      </p:sp>
      <p:cxnSp>
        <p:nvCxnSpPr>
          <p:cNvPr id="23" name="Connector 22"/>
          <p:cNvCxnSpPr/>
          <p:nvPr/>
        </p:nvCxnSpPr>
        <p:spPr>
          <a:xfrm>
            <a:off x="566928" y="6455664"/>
            <a:ext cx="11057839" cy="0"/>
          </a:xfrm>
          <a:prstGeom prst="line">
            <a:avLst/>
          </a:prstGeom>
          <a:ln w="9525">
            <a:solidFill>
              <a:srgbClr val="E8E9EE"/>
            </a:solidFill>
          </a:ln>
          <a:effectLst/>
        </p:spPr>
      </p:cxnSp>
      <p:sp>
        <p:nvSpPr>
          <p:cNvPr id="24" name="TextBox 23"/>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5" name="TextBox 24"/>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VICTIM SUPPORT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 a family can actually use, </a:t>
            </a:r>
            <a:r>
              <a:rPr sz="2250" b="1" i="0">
                <a:solidFill>
                  <a:srgbClr val="4A35FF"/>
                </a:solidFill>
                <a:latin typeface="Montserrat"/>
              </a:rPr>
              <a:t>in their language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From the first hours after a crash to the final compensation order — on WhatsApp, on paper, and in person.</a:t>
            </a:r>
          </a:p>
        </p:txBody>
      </p:sp>
      <p:pic>
        <p:nvPicPr>
          <p:cNvPr id="8" name="Picture 7" descr="ui_aasha_chat.png"/>
          <p:cNvPicPr>
            <a:picLocks noChangeAspect="1"/>
          </p:cNvPicPr>
          <p:nvPr/>
        </p:nvPicPr>
        <p:blipFill>
          <a:blip r:embed="rId2"/>
          <a:stretch>
            <a:fillRect/>
          </a:stretch>
        </p:blipFill>
        <p:spPr>
          <a:xfrm>
            <a:off x="566928" y="1920240"/>
            <a:ext cx="3850544" cy="2834640"/>
          </a:xfrm>
          <a:prstGeom prst="rect">
            <a:avLst/>
          </a:prstGeom>
        </p:spPr>
      </p:pic>
      <p:sp>
        <p:nvSpPr>
          <p:cNvPr id="9" name="Rectangle 8"/>
          <p:cNvSpPr/>
          <p:nvPr/>
        </p:nvSpPr>
        <p:spPr>
          <a:xfrm>
            <a:off x="566928" y="1920240"/>
            <a:ext cx="3850544" cy="283464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800600"/>
            <a:ext cx="385054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Aasha, live on WhatsApp — 24/7, multilingual, step-by-step guidance on rights, schemes and documents.</a:t>
            </a:r>
          </a:p>
        </p:txBody>
      </p:sp>
      <p:sp>
        <p:nvSpPr>
          <p:cNvPr id="11" name="Oval 10"/>
          <p:cNvSpPr/>
          <p:nvPr/>
        </p:nvSpPr>
        <p:spPr>
          <a:xfrm>
            <a:off x="566928" y="5166360"/>
            <a:ext cx="365760" cy="365760"/>
          </a:xfrm>
          <a:prstGeom prst="ellipse">
            <a:avLst/>
          </a:prstGeom>
          <a:solidFill>
            <a:srgbClr val="EFEDFF"/>
          </a:solidFill>
          <a:ln>
            <a:noFill/>
          </a:ln>
          <a:effectLst/>
        </p:spPr>
        <p:txBody>
          <a:bodyPr rtlCol="0" anchor="ctr"/>
          <a:lstStyle/>
          <a:p>
            <a:pPr algn="ctr"/>
          </a:p>
        </p:txBody>
      </p:sp>
      <p:pic>
        <p:nvPicPr>
          <p:cNvPr id="12" name="Picture 11" descr="bot_4A35FF_256_2.0.png"/>
          <p:cNvPicPr>
            <a:picLocks noChangeAspect="1"/>
          </p:cNvPicPr>
          <p:nvPr/>
        </p:nvPicPr>
        <p:blipFill>
          <a:blip r:embed="rId3"/>
          <a:stretch>
            <a:fillRect/>
          </a:stretch>
        </p:blipFill>
        <p:spPr>
          <a:xfrm>
            <a:off x="654710" y="5254142"/>
            <a:ext cx="190195" cy="190195"/>
          </a:xfrm>
          <a:prstGeom prst="rect">
            <a:avLst/>
          </a:prstGeom>
        </p:spPr>
      </p:pic>
      <p:sp>
        <p:nvSpPr>
          <p:cNvPr id="13" name="TextBox 12"/>
          <p:cNvSpPr txBox="1"/>
          <p:nvPr/>
        </p:nvSpPr>
        <p:spPr>
          <a:xfrm>
            <a:off x="1042416" y="5184648"/>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Aasha chatbot — </a:t>
            </a:r>
            <a:r>
              <a:rPr sz="850" b="0" i="0">
                <a:solidFill>
                  <a:srgbClr val="6E7180"/>
                </a:solidFill>
                <a:latin typeface="Geist"/>
              </a:rPr>
              <a:t>India's first AI legal companion for crash victims — no app, no portal, just WhatsApp and voice.</a:t>
            </a:r>
          </a:p>
        </p:txBody>
      </p:sp>
      <p:sp>
        <p:nvSpPr>
          <p:cNvPr id="14" name="Oval 13"/>
          <p:cNvSpPr/>
          <p:nvPr/>
        </p:nvSpPr>
        <p:spPr>
          <a:xfrm>
            <a:off x="6190488" y="5166360"/>
            <a:ext cx="365760" cy="365760"/>
          </a:xfrm>
          <a:prstGeom prst="ellipse">
            <a:avLst/>
          </a:prstGeom>
          <a:solidFill>
            <a:srgbClr val="E7F4F4"/>
          </a:solidFill>
          <a:ln>
            <a:noFill/>
          </a:ln>
          <a:effectLst/>
        </p:spPr>
        <p:txBody>
          <a:bodyPr rtlCol="0" anchor="ctr"/>
          <a:lstStyle/>
          <a:p>
            <a:pPr algn="ctr"/>
          </a:p>
        </p:txBody>
      </p:sp>
      <p:pic>
        <p:nvPicPr>
          <p:cNvPr id="15" name="Picture 14" descr="calculator_0E8A8A_256_2.0.png"/>
          <p:cNvPicPr>
            <a:picLocks noChangeAspect="1"/>
          </p:cNvPicPr>
          <p:nvPr/>
        </p:nvPicPr>
        <p:blipFill>
          <a:blip r:embed="rId4"/>
          <a:stretch>
            <a:fillRect/>
          </a:stretch>
        </p:blipFill>
        <p:spPr>
          <a:xfrm>
            <a:off x="6278270" y="5254142"/>
            <a:ext cx="190195" cy="190195"/>
          </a:xfrm>
          <a:prstGeom prst="rect">
            <a:avLst/>
          </a:prstGeom>
        </p:spPr>
      </p:pic>
      <p:sp>
        <p:nvSpPr>
          <p:cNvPr id="16" name="TextBox 15"/>
          <p:cNvSpPr txBox="1"/>
          <p:nvPr/>
        </p:nvSpPr>
        <p:spPr>
          <a:xfrm>
            <a:off x="6665976" y="5184648"/>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Compensation Calculator — </a:t>
            </a:r>
            <a:r>
              <a:rPr sz="850" b="0" i="0">
                <a:solidFill>
                  <a:srgbClr val="6E7180"/>
                </a:solidFill>
                <a:latin typeface="Geist"/>
              </a:rPr>
              <a:t>Free instant estimates on Supreme Court principles (Sarla Verma, Pranay Sethi).</a:t>
            </a:r>
          </a:p>
        </p:txBody>
      </p:sp>
      <p:sp>
        <p:nvSpPr>
          <p:cNvPr id="17" name="Oval 16"/>
          <p:cNvSpPr/>
          <p:nvPr/>
        </p:nvSpPr>
        <p:spPr>
          <a:xfrm>
            <a:off x="566928" y="5733288"/>
            <a:ext cx="365760" cy="365760"/>
          </a:xfrm>
          <a:prstGeom prst="ellipse">
            <a:avLst/>
          </a:prstGeom>
          <a:solidFill>
            <a:srgbClr val="E9F7F0"/>
          </a:solidFill>
          <a:ln>
            <a:noFill/>
          </a:ln>
          <a:effectLst/>
        </p:spPr>
        <p:txBody>
          <a:bodyPr rtlCol="0" anchor="ctr"/>
          <a:lstStyle/>
          <a:p>
            <a:pPr algn="ctr"/>
          </a:p>
        </p:txBody>
      </p:sp>
      <p:pic>
        <p:nvPicPr>
          <p:cNvPr id="18" name="Picture 17" descr="life-buoy_0A9955_256_2.0.png"/>
          <p:cNvPicPr>
            <a:picLocks noChangeAspect="1"/>
          </p:cNvPicPr>
          <p:nvPr/>
        </p:nvPicPr>
        <p:blipFill>
          <a:blip r:embed="rId5"/>
          <a:stretch>
            <a:fillRect/>
          </a:stretch>
        </p:blipFill>
        <p:spPr>
          <a:xfrm>
            <a:off x="654710" y="5821070"/>
            <a:ext cx="190195" cy="190195"/>
          </a:xfrm>
          <a:prstGeom prst="rect">
            <a:avLst/>
          </a:prstGeom>
        </p:spPr>
      </p:pic>
      <p:sp>
        <p:nvSpPr>
          <p:cNvPr id="19" name="TextBox 18"/>
          <p:cNvSpPr txBox="1"/>
          <p:nvPr/>
        </p:nvSpPr>
        <p:spPr>
          <a:xfrm>
            <a:off x="1042416" y="5751576"/>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Hospital helpdesks — </a:t>
            </a:r>
            <a:r>
              <a:rPr sz="850" b="0" i="0">
                <a:solidFill>
                  <a:srgbClr val="6E7180"/>
                </a:solidFill>
                <a:latin typeface="Geist"/>
              </a:rPr>
              <a:t>Legal desks in trauma wards — 100+ victims supported in the first four days.</a:t>
            </a:r>
          </a:p>
        </p:txBody>
      </p:sp>
      <p:sp>
        <p:nvSpPr>
          <p:cNvPr id="20" name="Oval 19"/>
          <p:cNvSpPr/>
          <p:nvPr/>
        </p:nvSpPr>
        <p:spPr>
          <a:xfrm>
            <a:off x="6190488" y="5733288"/>
            <a:ext cx="365760" cy="365760"/>
          </a:xfrm>
          <a:prstGeom prst="ellipse">
            <a:avLst/>
          </a:prstGeom>
          <a:solidFill>
            <a:srgbClr val="FDF3E3"/>
          </a:solidFill>
          <a:ln>
            <a:noFill/>
          </a:ln>
          <a:effectLst/>
        </p:spPr>
        <p:txBody>
          <a:bodyPr rtlCol="0" anchor="ctr"/>
          <a:lstStyle/>
          <a:p>
            <a:pPr algn="ctr"/>
          </a:p>
        </p:txBody>
      </p:sp>
      <p:pic>
        <p:nvPicPr>
          <p:cNvPr id="21" name="Picture 20" descr="book-open_E58900_256_2.0.png"/>
          <p:cNvPicPr>
            <a:picLocks noChangeAspect="1"/>
          </p:cNvPicPr>
          <p:nvPr/>
        </p:nvPicPr>
        <p:blipFill>
          <a:blip r:embed="rId6"/>
          <a:stretch>
            <a:fillRect/>
          </a:stretch>
        </p:blipFill>
        <p:spPr>
          <a:xfrm>
            <a:off x="6278270" y="5821070"/>
            <a:ext cx="190195" cy="190195"/>
          </a:xfrm>
          <a:prstGeom prst="rect">
            <a:avLst/>
          </a:prstGeom>
        </p:spPr>
      </p:pic>
      <p:sp>
        <p:nvSpPr>
          <p:cNvPr id="22" name="TextBox 21"/>
          <p:cNvSpPr txBox="1"/>
          <p:nvPr/>
        </p:nvSpPr>
        <p:spPr>
          <a:xfrm>
            <a:off x="6665976" y="5751576"/>
            <a:ext cx="5029200" cy="457200"/>
          </a:xfrm>
          <a:prstGeom prst="rect">
            <a:avLst/>
          </a:prstGeom>
          <a:noFill/>
        </p:spPr>
        <p:txBody>
          <a:bodyPr wrap="square" lIns="0" rIns="0" tIns="0" bIns="0" anchor="t">
            <a:spAutoFit/>
          </a:bodyPr>
          <a:lstStyle/>
          <a:p>
            <a:pPr algn="l">
              <a:lnSpc>
                <a:spcPct val="110000"/>
              </a:lnSpc>
            </a:pPr>
            <a:r>
              <a:rPr sz="950" b="1" i="0">
                <a:solidFill>
                  <a:srgbClr val="16181D"/>
                </a:solidFill>
                <a:latin typeface="Geist"/>
              </a:rPr>
              <a:t>Plain-language education — </a:t>
            </a:r>
            <a:r>
              <a:rPr sz="850" b="0" i="0">
                <a:solidFill>
                  <a:srgbClr val="6E7180"/>
                </a:solidFill>
                <a:latin typeface="Geist"/>
              </a:rPr>
              <a:t>Comics and Hindi guides on all three compensation routes, NALSA 15100 and the Cashless Treatment Scheme 2025.</a:t>
            </a:r>
          </a:p>
        </p:txBody>
      </p:sp>
      <p:pic>
        <p:nvPicPr>
          <p:cNvPr id="23" name="Picture 22" descr="ui_mact_calc.png"/>
          <p:cNvPicPr>
            <a:picLocks noChangeAspect="1"/>
          </p:cNvPicPr>
          <p:nvPr/>
        </p:nvPicPr>
        <p:blipFill>
          <a:blip r:embed="rId7"/>
          <a:stretch>
            <a:fillRect/>
          </a:stretch>
        </p:blipFill>
        <p:spPr>
          <a:xfrm>
            <a:off x="4572000" y="1920240"/>
            <a:ext cx="2871645" cy="2834640"/>
          </a:xfrm>
          <a:prstGeom prst="rect">
            <a:avLst/>
          </a:prstGeom>
        </p:spPr>
      </p:pic>
      <p:sp>
        <p:nvSpPr>
          <p:cNvPr id="24" name="Rectangle 23"/>
          <p:cNvSpPr/>
          <p:nvPr/>
        </p:nvSpPr>
        <p:spPr>
          <a:xfrm>
            <a:off x="4572000" y="1920240"/>
            <a:ext cx="2871645" cy="2834640"/>
          </a:xfrm>
          <a:prstGeom prst="rect">
            <a:avLst/>
          </a:prstGeom>
          <a:noFill/>
          <a:ln w="12700">
            <a:solidFill>
              <a:srgbClr val="E8E9EE"/>
            </a:solidFill>
          </a:ln>
          <a:effectLst/>
        </p:spPr>
        <p:txBody>
          <a:bodyPr rtlCol="0" anchor="ctr"/>
          <a:lstStyle/>
          <a:p>
            <a:pPr algn="ctr"/>
          </a:p>
        </p:txBody>
      </p:sp>
      <p:sp>
        <p:nvSpPr>
          <p:cNvPr id="25" name="TextBox 24"/>
          <p:cNvSpPr txBox="1"/>
          <p:nvPr/>
        </p:nvSpPr>
        <p:spPr>
          <a:xfrm>
            <a:off x="4572000" y="4800600"/>
            <a:ext cx="2871645"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Calculator — a sample estimate</a:t>
            </a:r>
          </a:p>
          <a:p>
            <a:pPr algn="l">
              <a:lnSpc>
                <a:spcPct val="112000"/>
              </a:lnSpc>
            </a:pPr>
            <a:r>
              <a:rPr sz="850" b="0" i="0">
                <a:solidFill>
                  <a:srgbClr val="6E7180"/>
                </a:solidFill>
                <a:latin typeface="Geist"/>
              </a:rPr>
              <a:t>computed on SC principles.</a:t>
            </a:r>
          </a:p>
        </p:txBody>
      </p:sp>
      <p:pic>
        <p:nvPicPr>
          <p:cNvPr id="26" name="Picture 25" descr="comic_aasha_page.png"/>
          <p:cNvPicPr>
            <a:picLocks noChangeAspect="1"/>
          </p:cNvPicPr>
          <p:nvPr/>
        </p:nvPicPr>
        <p:blipFill>
          <a:blip r:embed="rId8"/>
          <a:stretch>
            <a:fillRect/>
          </a:stretch>
        </p:blipFill>
        <p:spPr>
          <a:xfrm>
            <a:off x="8183879" y="1920240"/>
            <a:ext cx="2142375" cy="2834640"/>
          </a:xfrm>
          <a:prstGeom prst="rect">
            <a:avLst/>
          </a:prstGeom>
        </p:spPr>
      </p:pic>
      <p:sp>
        <p:nvSpPr>
          <p:cNvPr id="27" name="Rectangle 26"/>
          <p:cNvSpPr/>
          <p:nvPr/>
        </p:nvSpPr>
        <p:spPr>
          <a:xfrm>
            <a:off x="8183879" y="1920240"/>
            <a:ext cx="2142375" cy="2834640"/>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183879" y="4800600"/>
            <a:ext cx="2142375"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'Meet Aasha' comic — legal education</a:t>
            </a:r>
          </a:p>
          <a:p>
            <a:pPr algn="l">
              <a:lnSpc>
                <a:spcPct val="112000"/>
              </a:lnSpc>
            </a:pPr>
            <a:r>
              <a:rPr sz="850" b="0" i="0">
                <a:solidFill>
                  <a:srgbClr val="6E7180"/>
                </a:solidFill>
                <a:latin typeface="Geist"/>
              </a:rPr>
              <a:t>families actually read.</a:t>
            </a:r>
          </a:p>
        </p:txBody>
      </p:sp>
      <p:pic>
        <p:nvPicPr>
          <p:cNvPr id="29" name="Picture 28" descr="opt_guide_p1_1500.jpg"/>
          <p:cNvPicPr>
            <a:picLocks noChangeAspect="1"/>
          </p:cNvPicPr>
          <p:nvPr/>
        </p:nvPicPr>
        <p:blipFill>
          <a:blip r:embed="rId9"/>
          <a:stretch>
            <a:fillRect/>
          </a:stretch>
        </p:blipFill>
        <p:spPr>
          <a:xfrm>
            <a:off x="10195560" y="1920240"/>
            <a:ext cx="1417320" cy="1941731"/>
          </a:xfrm>
          <a:prstGeom prst="rect">
            <a:avLst/>
          </a:prstGeom>
        </p:spPr>
      </p:pic>
      <p:sp>
        <p:nvSpPr>
          <p:cNvPr id="30" name="Rectangle 29"/>
          <p:cNvSpPr/>
          <p:nvPr/>
        </p:nvSpPr>
        <p:spPr>
          <a:xfrm>
            <a:off x="10195560" y="1920240"/>
            <a:ext cx="1417320" cy="1941731"/>
          </a:xfrm>
          <a:prstGeom prst="rect">
            <a:avLst/>
          </a:prstGeom>
          <a:noFill/>
          <a:ln w="12700">
            <a:solidFill>
              <a:srgbClr val="E8E9EE"/>
            </a:solidFill>
          </a:ln>
          <a:effectLst/>
        </p:spPr>
        <p:txBody>
          <a:bodyPr rtlCol="0" anchor="ctr"/>
          <a:lstStyle/>
          <a:p>
            <a:pPr algn="ctr"/>
          </a:p>
        </p:txBody>
      </p:sp>
      <p:sp>
        <p:nvSpPr>
          <p:cNvPr id="31" name="TextBox 30"/>
          <p:cNvSpPr txBox="1"/>
          <p:nvPr/>
        </p:nvSpPr>
        <p:spPr>
          <a:xfrm>
            <a:off x="10195560" y="3907691"/>
            <a:ext cx="201168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Hindi legal-rights</a:t>
            </a:r>
          </a:p>
          <a:p>
            <a:pPr algn="l">
              <a:lnSpc>
                <a:spcPct val="112000"/>
              </a:lnSpc>
            </a:pPr>
            <a:r>
              <a:rPr sz="850" b="0" i="0">
                <a:solidFill>
                  <a:srgbClr val="6E7180"/>
                </a:solidFill>
                <a:latin typeface="Geist"/>
              </a:rPr>
              <a:t>guide.</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4" name="TextBox 3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YOUTH &amp; POLICY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talent and senior experts, </a:t>
            </a:r>
            <a:r>
              <a:rPr sz="2250" b="1" i="0">
                <a:solidFill>
                  <a:srgbClr val="4A35FF"/>
                </a:solidFill>
                <a:latin typeface="Montserrat"/>
              </a:rPr>
              <a:t>working the same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steady pipeline of engineers and policy minds — so road safety work never runs out of hands.</a:t>
            </a:r>
          </a:p>
        </p:txBody>
      </p:sp>
      <p:pic>
        <p:nvPicPr>
          <p:cNvPr id="8" name="Picture 7" descr="ph_ideathon_winners.jpg_4.05x2.50_0.20.jpg"/>
          <p:cNvPicPr>
            <a:picLocks noChangeAspect="1"/>
          </p:cNvPicPr>
          <p:nvPr/>
        </p:nvPicPr>
        <p:blipFill>
          <a:blip r:embed="rId2"/>
          <a:stretch>
            <a:fillRect/>
          </a:stretch>
        </p:blipFill>
        <p:spPr>
          <a:xfrm>
            <a:off x="566928" y="1938528"/>
            <a:ext cx="3703320" cy="2286000"/>
          </a:xfrm>
          <a:prstGeom prst="rect">
            <a:avLst/>
          </a:prstGeom>
        </p:spPr>
      </p:pic>
      <p:sp>
        <p:nvSpPr>
          <p:cNvPr id="9" name="Rectangle 8"/>
          <p:cNvSpPr/>
          <p:nvPr/>
        </p:nvSpPr>
        <p:spPr>
          <a:xfrm>
            <a:off x="566928" y="1938528"/>
            <a:ext cx="3703320" cy="22860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270248"/>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Road Safety Policy Ideathon — grand finale, 28 Sep 2025, New Delhi.</a:t>
            </a:r>
          </a:p>
        </p:txBody>
      </p:sp>
      <p:sp>
        <p:nvSpPr>
          <p:cNvPr id="11" name="TextBox 10"/>
          <p:cNvSpPr txBox="1"/>
          <p:nvPr/>
        </p:nvSpPr>
        <p:spPr>
          <a:xfrm>
            <a:off x="56692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2,000+</a:t>
            </a:r>
          </a:p>
        </p:txBody>
      </p:sp>
      <p:sp>
        <p:nvSpPr>
          <p:cNvPr id="12" name="TextBox 11"/>
          <p:cNvSpPr txBox="1"/>
          <p:nvPr/>
        </p:nvSpPr>
        <p:spPr>
          <a:xfrm>
            <a:off x="56692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participants</a:t>
            </a:r>
          </a:p>
        </p:txBody>
      </p:sp>
      <p:sp>
        <p:nvSpPr>
          <p:cNvPr id="13" name="TextBox 12"/>
          <p:cNvSpPr txBox="1"/>
          <p:nvPr/>
        </p:nvSpPr>
        <p:spPr>
          <a:xfrm>
            <a:off x="152704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250+</a:t>
            </a:r>
          </a:p>
        </p:txBody>
      </p:sp>
      <p:sp>
        <p:nvSpPr>
          <p:cNvPr id="14" name="TextBox 13"/>
          <p:cNvSpPr txBox="1"/>
          <p:nvPr/>
        </p:nvSpPr>
        <p:spPr>
          <a:xfrm>
            <a:off x="152704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concept notes</a:t>
            </a:r>
          </a:p>
        </p:txBody>
      </p:sp>
      <p:sp>
        <p:nvSpPr>
          <p:cNvPr id="15" name="TextBox 14"/>
          <p:cNvSpPr txBox="1"/>
          <p:nvPr/>
        </p:nvSpPr>
        <p:spPr>
          <a:xfrm>
            <a:off x="248716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700+</a:t>
            </a:r>
          </a:p>
        </p:txBody>
      </p:sp>
      <p:sp>
        <p:nvSpPr>
          <p:cNvPr id="16" name="TextBox 15"/>
          <p:cNvSpPr txBox="1"/>
          <p:nvPr/>
        </p:nvSpPr>
        <p:spPr>
          <a:xfrm>
            <a:off x="248716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teams</a:t>
            </a:r>
          </a:p>
        </p:txBody>
      </p:sp>
      <p:sp>
        <p:nvSpPr>
          <p:cNvPr id="17" name="TextBox 16"/>
          <p:cNvSpPr txBox="1"/>
          <p:nvPr/>
        </p:nvSpPr>
        <p:spPr>
          <a:xfrm>
            <a:off x="344728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10</a:t>
            </a:r>
          </a:p>
        </p:txBody>
      </p:sp>
      <p:sp>
        <p:nvSpPr>
          <p:cNvPr id="18" name="TextBox 17"/>
          <p:cNvSpPr txBox="1"/>
          <p:nvPr/>
        </p:nvSpPr>
        <p:spPr>
          <a:xfrm>
            <a:off x="344728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finalist teams</a:t>
            </a:r>
          </a:p>
        </p:txBody>
      </p:sp>
      <p:pic>
        <p:nvPicPr>
          <p:cNvPr id="19" name="Picture 18" descr="ph_vision_wall.jpg_3.70x2.50_0.30.jpg"/>
          <p:cNvPicPr>
            <a:picLocks noChangeAspect="1"/>
          </p:cNvPicPr>
          <p:nvPr/>
        </p:nvPicPr>
        <p:blipFill>
          <a:blip r:embed="rId3"/>
          <a:stretch>
            <a:fillRect/>
          </a:stretch>
        </p:blipFill>
        <p:spPr>
          <a:xfrm>
            <a:off x="4434840" y="1938528"/>
            <a:ext cx="3383280" cy="2286000"/>
          </a:xfrm>
          <a:prstGeom prst="rect">
            <a:avLst/>
          </a:prstGeom>
        </p:spPr>
      </p:pic>
      <p:sp>
        <p:nvSpPr>
          <p:cNvPr id="20" name="Rectangle 19"/>
          <p:cNvSpPr/>
          <p:nvPr/>
        </p:nvSpPr>
        <p:spPr>
          <a:xfrm>
            <a:off x="4434840" y="1938528"/>
            <a:ext cx="3383280" cy="228600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434840" y="4270248"/>
            <a:ext cx="3383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Vision Wall 2040 — participants write the road-safety future they want.</a:t>
            </a:r>
          </a:p>
        </p:txBody>
      </p:sp>
      <p:sp>
        <p:nvSpPr>
          <p:cNvPr id="22" name="TextBox 21"/>
          <p:cNvSpPr txBox="1"/>
          <p:nvPr/>
        </p:nvSpPr>
        <p:spPr>
          <a:xfrm>
            <a:off x="4434840" y="4828032"/>
            <a:ext cx="3383280" cy="7315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and evaluators came from the Government of Rajasthan, NIUA, OMI, NASSCOM and CSEP. Winning tracks now feed our audit and research pipeline.</a:t>
            </a:r>
          </a:p>
        </p:txBody>
      </p:sp>
      <p:sp>
        <p:nvSpPr>
          <p:cNvPr id="23" name="Oval 22"/>
          <p:cNvSpPr/>
          <p:nvPr/>
        </p:nvSpPr>
        <p:spPr>
          <a:xfrm>
            <a:off x="8229600" y="1938528"/>
            <a:ext cx="384048" cy="384048"/>
          </a:xfrm>
          <a:prstGeom prst="ellipse">
            <a:avLst/>
          </a:prstGeom>
          <a:solidFill>
            <a:srgbClr val="EFEDFF"/>
          </a:solidFill>
          <a:ln>
            <a:noFill/>
          </a:ln>
          <a:effectLst/>
        </p:spPr>
        <p:txBody>
          <a:bodyPr rtlCol="0" anchor="ctr"/>
          <a:lstStyle/>
          <a:p>
            <a:pPr algn="ctr"/>
          </a:p>
        </p:txBody>
      </p:sp>
      <p:pic>
        <p:nvPicPr>
          <p:cNvPr id="24" name="Picture 23" descr="mic_4A35FF_256_2.0.png"/>
          <p:cNvPicPr>
            <a:picLocks noChangeAspect="1"/>
          </p:cNvPicPr>
          <p:nvPr/>
        </p:nvPicPr>
        <p:blipFill>
          <a:blip r:embed="rId4"/>
          <a:stretch>
            <a:fillRect/>
          </a:stretch>
        </p:blipFill>
        <p:spPr>
          <a:xfrm>
            <a:off x="8321771" y="2030699"/>
            <a:ext cx="199704" cy="199704"/>
          </a:xfrm>
          <a:prstGeom prst="rect">
            <a:avLst/>
          </a:prstGeom>
        </p:spPr>
      </p:pic>
      <p:sp>
        <p:nvSpPr>
          <p:cNvPr id="25" name="TextBox 24"/>
          <p:cNvSpPr txBox="1"/>
          <p:nvPr/>
        </p:nvSpPr>
        <p:spPr>
          <a:xfrm>
            <a:off x="8759952" y="1911096"/>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National Road Safety Dialogue Series</a:t>
            </a:r>
          </a:p>
        </p:txBody>
      </p:sp>
      <p:sp>
        <p:nvSpPr>
          <p:cNvPr id="26" name="TextBox 25"/>
          <p:cNvSpPr txBox="1"/>
          <p:nvPr/>
        </p:nvSpPr>
        <p:spPr>
          <a:xfrm>
            <a:off x="8759952" y="2267712"/>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200+ live attendees; speakers from MoRTH, CIRT, AIIMS Trauma Centre, CSIR-CRRI and ARAI.</a:t>
            </a:r>
          </a:p>
        </p:txBody>
      </p:sp>
      <p:sp>
        <p:nvSpPr>
          <p:cNvPr id="27" name="Oval 26"/>
          <p:cNvSpPr/>
          <p:nvPr/>
        </p:nvSpPr>
        <p:spPr>
          <a:xfrm>
            <a:off x="8229600" y="3108960"/>
            <a:ext cx="384048" cy="384048"/>
          </a:xfrm>
          <a:prstGeom prst="ellipse">
            <a:avLst/>
          </a:prstGeom>
          <a:solidFill>
            <a:srgbClr val="E7F4F4"/>
          </a:solidFill>
          <a:ln>
            <a:noFill/>
          </a:ln>
          <a:effectLst/>
        </p:spPr>
        <p:txBody>
          <a:bodyPr rtlCol="0" anchor="ctr"/>
          <a:lstStyle/>
          <a:p>
            <a:pPr algn="ctr"/>
          </a:p>
        </p:txBody>
      </p:sp>
      <p:pic>
        <p:nvPicPr>
          <p:cNvPr id="28" name="Picture 27" descr="message-square_0E8A8A_256_2.0.png"/>
          <p:cNvPicPr>
            <a:picLocks noChangeAspect="1"/>
          </p:cNvPicPr>
          <p:nvPr/>
        </p:nvPicPr>
        <p:blipFill>
          <a:blip r:embed="rId5"/>
          <a:stretch>
            <a:fillRect/>
          </a:stretch>
        </p:blipFill>
        <p:spPr>
          <a:xfrm>
            <a:off x="8321771" y="3201131"/>
            <a:ext cx="199704" cy="199704"/>
          </a:xfrm>
          <a:prstGeom prst="rect">
            <a:avLst/>
          </a:prstGeom>
        </p:spPr>
      </p:pic>
      <p:sp>
        <p:nvSpPr>
          <p:cNvPr id="29" name="TextBox 28"/>
          <p:cNvSpPr txBox="1"/>
          <p:nvPr/>
        </p:nvSpPr>
        <p:spPr>
          <a:xfrm>
            <a:off x="8759952" y="3081528"/>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Three sessions so far</a:t>
            </a:r>
          </a:p>
        </p:txBody>
      </p:sp>
      <p:sp>
        <p:nvSpPr>
          <p:cNvPr id="30" name="TextBox 29"/>
          <p:cNvSpPr txBox="1"/>
          <p:nvPr/>
        </p:nvSpPr>
        <p:spPr>
          <a:xfrm>
            <a:off x="8759952" y="3438144"/>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Bus safety · Delivery rider safety · Good Samaritan law &amp; the Cashless Treatment Scheme.</a:t>
            </a:r>
          </a:p>
        </p:txBody>
      </p:sp>
      <p:sp>
        <p:nvSpPr>
          <p:cNvPr id="31" name="Oval 30"/>
          <p:cNvSpPr/>
          <p:nvPr/>
        </p:nvSpPr>
        <p:spPr>
          <a:xfrm>
            <a:off x="8229600" y="4279392"/>
            <a:ext cx="384048" cy="384048"/>
          </a:xfrm>
          <a:prstGeom prst="ellipse">
            <a:avLst/>
          </a:prstGeom>
          <a:solidFill>
            <a:srgbClr val="FDEFEC"/>
          </a:solidFill>
          <a:ln>
            <a:noFill/>
          </a:ln>
          <a:effectLst/>
        </p:spPr>
        <p:txBody>
          <a:bodyPr rtlCol="0" anchor="ctr"/>
          <a:lstStyle/>
          <a:p>
            <a:pPr algn="ctr"/>
          </a:p>
        </p:txBody>
      </p:sp>
      <p:pic>
        <p:nvPicPr>
          <p:cNvPr id="32" name="Picture 31" descr="monitor-play_E11900_256_2.0.png"/>
          <p:cNvPicPr>
            <a:picLocks noChangeAspect="1"/>
          </p:cNvPicPr>
          <p:nvPr/>
        </p:nvPicPr>
        <p:blipFill>
          <a:blip r:embed="rId6"/>
          <a:stretch>
            <a:fillRect/>
          </a:stretch>
        </p:blipFill>
        <p:spPr>
          <a:xfrm>
            <a:off x="8321771" y="4371563"/>
            <a:ext cx="199704" cy="199704"/>
          </a:xfrm>
          <a:prstGeom prst="rect">
            <a:avLst/>
          </a:prstGeom>
        </p:spPr>
      </p:pic>
      <p:sp>
        <p:nvSpPr>
          <p:cNvPr id="33" name="TextBox 32"/>
          <p:cNvSpPr txBox="1"/>
          <p:nvPr/>
        </p:nvSpPr>
        <p:spPr>
          <a:xfrm>
            <a:off x="8759952" y="4251960"/>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Public YouTube channel</a:t>
            </a:r>
          </a:p>
        </p:txBody>
      </p:sp>
      <p:sp>
        <p:nvSpPr>
          <p:cNvPr id="34" name="TextBox 33"/>
          <p:cNvSpPr txBox="1"/>
          <p:nvPr/>
        </p:nvSpPr>
        <p:spPr>
          <a:xfrm>
            <a:off x="8759952" y="4608576"/>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Session recordings, victim-education videos and explainers — free to reuse in trainings.</a:t>
            </a:r>
          </a:p>
        </p:txBody>
      </p:sp>
      <p:sp>
        <p:nvSpPr>
          <p:cNvPr id="35" name="Rounded Rectangle 34"/>
          <p:cNvSpPr/>
          <p:nvPr/>
        </p:nvSpPr>
        <p:spPr>
          <a:xfrm>
            <a:off x="8229600" y="5486400"/>
            <a:ext cx="3383280" cy="658368"/>
          </a:xfrm>
          <a:prstGeom prst="roundRect">
            <a:avLst>
              <a:gd name="adj" fmla="val 14000"/>
            </a:avLst>
          </a:prstGeom>
          <a:solidFill>
            <a:srgbClr val="F7F7FA"/>
          </a:solidFill>
          <a:ln>
            <a:noFill/>
          </a:ln>
          <a:effectLst/>
        </p:spPr>
        <p:txBody>
          <a:bodyPr rtlCol="0" anchor="ctr"/>
          <a:lstStyle/>
          <a:p>
            <a:pPr algn="ctr"/>
          </a:p>
        </p:txBody>
      </p:sp>
      <p:sp>
        <p:nvSpPr>
          <p:cNvPr id="36" name="TextBox 35"/>
          <p:cNvSpPr txBox="1"/>
          <p:nvPr/>
        </p:nvSpPr>
        <p:spPr>
          <a:xfrm>
            <a:off x="8394192" y="5559552"/>
            <a:ext cx="3108960" cy="54864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Next: </a:t>
            </a:r>
            <a:r>
              <a:rPr sz="950" b="0" i="0">
                <a:solidFill>
                  <a:srgbClr val="6E7180"/>
                </a:solidFill>
                <a:latin typeface="Geist"/>
              </a:rPr>
              <a:t>'Be a Rakshak' university chapters at IITs, NITs and SPAs.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Road Safety Month 2026, run </a:t>
            </a:r>
            <a:r>
              <a:rPr sz="2250" b="1" i="0">
                <a:solidFill>
                  <a:srgbClr val="4A35FF"/>
                </a:solidFill>
                <a:latin typeface="Montserrat"/>
              </a:rPr>
              <a:t>with the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With district police, schools, hospitals and delivery platforms — in Hindi and local languages.</a:t>
            </a:r>
          </a:p>
        </p:txBody>
      </p:sp>
      <p:pic>
        <p:nvPicPr>
          <p:cNvPr id="8" name="Picture 7" descr="ph_police_rally.jpg_4.70x3.55_0.35.jpg"/>
          <p:cNvPicPr>
            <a:picLocks noChangeAspect="1"/>
          </p:cNvPicPr>
          <p:nvPr/>
        </p:nvPicPr>
        <p:blipFill>
          <a:blip r:embed="rId2"/>
          <a:stretch>
            <a:fillRect/>
          </a:stretch>
        </p:blipFill>
        <p:spPr>
          <a:xfrm>
            <a:off x="566928" y="1938528"/>
            <a:ext cx="4297680" cy="3246120"/>
          </a:xfrm>
          <a:prstGeom prst="rect">
            <a:avLst/>
          </a:prstGeom>
        </p:spPr>
      </p:pic>
      <p:sp>
        <p:nvSpPr>
          <p:cNvPr id="9" name="Rectangle 8"/>
          <p:cNvSpPr/>
          <p:nvPr/>
        </p:nvSpPr>
        <p:spPr>
          <a:xfrm>
            <a:off x="566928" y="1938528"/>
            <a:ext cx="4297680" cy="324612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30368"/>
            <a:ext cx="42976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Month rally — on the road with district traffic police, Jan 2026.</a:t>
            </a:r>
          </a:p>
        </p:txBody>
      </p:sp>
      <p:pic>
        <p:nvPicPr>
          <p:cNvPr id="11" name="Picture 10" descr="ph_stall.jpg_3.55x1.72_0.45.jpg"/>
          <p:cNvPicPr>
            <a:picLocks noChangeAspect="1"/>
          </p:cNvPicPr>
          <p:nvPr/>
        </p:nvPicPr>
        <p:blipFill>
          <a:blip r:embed="rId3"/>
          <a:stretch>
            <a:fillRect/>
          </a:stretch>
        </p:blipFill>
        <p:spPr>
          <a:xfrm>
            <a:off x="5074920" y="1938528"/>
            <a:ext cx="3246120" cy="1572768"/>
          </a:xfrm>
          <a:prstGeom prst="rect">
            <a:avLst/>
          </a:prstGeom>
        </p:spPr>
      </p:pic>
      <p:sp>
        <p:nvSpPr>
          <p:cNvPr id="12" name="Rectangle 11"/>
          <p:cNvSpPr/>
          <p:nvPr/>
        </p:nvSpPr>
        <p:spPr>
          <a:xfrm>
            <a:off x="5074920" y="1938528"/>
            <a:ext cx="3246120" cy="157276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507492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CFI stall at a government office</a:t>
            </a:r>
          </a:p>
        </p:txBody>
      </p:sp>
      <p:pic>
        <p:nvPicPr>
          <p:cNvPr id="14" name="Picture 13" descr="ph_police_station.jpg_3.55x1.72_0.35.jpg"/>
          <p:cNvPicPr>
            <a:picLocks noChangeAspect="1"/>
          </p:cNvPicPr>
          <p:nvPr/>
        </p:nvPicPr>
        <p:blipFill>
          <a:blip r:embed="rId4"/>
          <a:stretch>
            <a:fillRect/>
          </a:stretch>
        </p:blipFill>
        <p:spPr>
          <a:xfrm>
            <a:off x="8412480" y="1938528"/>
            <a:ext cx="3246120" cy="1572768"/>
          </a:xfrm>
          <a:prstGeom prst="rect">
            <a:avLst/>
          </a:prstGeom>
        </p:spPr>
      </p:pic>
      <p:sp>
        <p:nvSpPr>
          <p:cNvPr id="15" name="Rectangle 14"/>
          <p:cNvSpPr/>
          <p:nvPr/>
        </p:nvSpPr>
        <p:spPr>
          <a:xfrm>
            <a:off x="8412480" y="1938528"/>
            <a:ext cx="3246120" cy="1572768"/>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841248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Materials briefing with police staff</a:t>
            </a:r>
          </a:p>
        </p:txBody>
      </p:sp>
      <p:pic>
        <p:nvPicPr>
          <p:cNvPr id="17" name="Picture 16" descr="ph_school_kids.jpg_3.55x1.72_0.30.jpg"/>
          <p:cNvPicPr>
            <a:picLocks noChangeAspect="1"/>
          </p:cNvPicPr>
          <p:nvPr/>
        </p:nvPicPr>
        <p:blipFill>
          <a:blip r:embed="rId5"/>
          <a:stretch>
            <a:fillRect/>
          </a:stretch>
        </p:blipFill>
        <p:spPr>
          <a:xfrm>
            <a:off x="5074920" y="3904488"/>
            <a:ext cx="3246120" cy="1572768"/>
          </a:xfrm>
          <a:prstGeom prst="rect">
            <a:avLst/>
          </a:prstGeom>
        </p:spPr>
      </p:pic>
      <p:sp>
        <p:nvSpPr>
          <p:cNvPr id="18" name="Rectangle 17"/>
          <p:cNvSpPr/>
          <p:nvPr/>
        </p:nvSpPr>
        <p:spPr>
          <a:xfrm>
            <a:off x="5074920" y="3904488"/>
            <a:ext cx="3246120" cy="1572768"/>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07492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School programme with certificates</a:t>
            </a:r>
          </a:p>
        </p:txBody>
      </p:sp>
      <p:pic>
        <p:nvPicPr>
          <p:cNvPr id="20" name="Picture 19" descr="ph_gig_riders.jpg_3.55x1.72_0.40.jpg"/>
          <p:cNvPicPr>
            <a:picLocks noChangeAspect="1"/>
          </p:cNvPicPr>
          <p:nvPr/>
        </p:nvPicPr>
        <p:blipFill>
          <a:blip r:embed="rId6"/>
          <a:stretch>
            <a:fillRect/>
          </a:stretch>
        </p:blipFill>
        <p:spPr>
          <a:xfrm>
            <a:off x="8412480" y="3904488"/>
            <a:ext cx="3246120" cy="1572768"/>
          </a:xfrm>
          <a:prstGeom prst="rect">
            <a:avLst/>
          </a:prstGeom>
        </p:spPr>
      </p:pic>
      <p:sp>
        <p:nvSpPr>
          <p:cNvPr id="21" name="Rectangle 20"/>
          <p:cNvSpPr/>
          <p:nvPr/>
        </p:nvSpPr>
        <p:spPr>
          <a:xfrm>
            <a:off x="8412480" y="3904488"/>
            <a:ext cx="3246120" cy="1572768"/>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841248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 Swiggy &amp; Instamart</a:t>
            </a:r>
          </a:p>
        </p:txBody>
      </p:sp>
      <p:sp>
        <p:nvSpPr>
          <p:cNvPr id="23" name="Rounded Rectangle 22"/>
          <p:cNvSpPr/>
          <p:nvPr/>
        </p:nvSpPr>
        <p:spPr>
          <a:xfrm>
            <a:off x="566928" y="5623560"/>
            <a:ext cx="4297680" cy="566928"/>
          </a:xfrm>
          <a:prstGeom prst="roundRect">
            <a:avLst>
              <a:gd name="adj" fmla="val 16000"/>
            </a:avLst>
          </a:prstGeom>
          <a:solidFill>
            <a:srgbClr val="E9F7F0"/>
          </a:solidFill>
          <a:ln>
            <a:noFill/>
          </a:ln>
          <a:effectLst/>
        </p:spPr>
        <p:txBody>
          <a:bodyPr rtlCol="0" anchor="ctr"/>
          <a:lstStyle/>
          <a:p>
            <a:pPr algn="ctr"/>
          </a:p>
        </p:txBody>
      </p:sp>
      <p:sp>
        <p:nvSpPr>
          <p:cNvPr id="24" name="TextBox 23"/>
          <p:cNvSpPr txBox="1"/>
          <p:nvPr/>
        </p:nvSpPr>
        <p:spPr>
          <a:xfrm>
            <a:off x="749808" y="5705856"/>
            <a:ext cx="4023360" cy="457200"/>
          </a:xfrm>
          <a:prstGeom prst="rect">
            <a:avLst/>
          </a:prstGeom>
          <a:noFill/>
        </p:spPr>
        <p:txBody>
          <a:bodyPr wrap="square" lIns="0" rIns="0" tIns="0" bIns="0" anchor="t">
            <a:spAutoFit/>
          </a:bodyPr>
          <a:lstStyle/>
          <a:p>
            <a:pPr algn="l">
              <a:lnSpc>
                <a:spcPct val="120000"/>
              </a:lnSpc>
            </a:pPr>
            <a:r>
              <a:rPr sz="1050" b="1" i="0">
                <a:solidFill>
                  <a:srgbClr val="0A9955"/>
                </a:solidFill>
                <a:latin typeface="Geist"/>
              </a:rPr>
              <a:t>1M+ citizens reached </a:t>
            </a:r>
            <a:r>
              <a:rPr sz="1050" b="0" i="0">
                <a:solidFill>
                  <a:srgbClr val="0A9955"/>
                </a:solidFill>
                <a:latin typeface="Geist"/>
              </a:rPr>
              <a:t>across campaigns in year one.</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PUBLIC VOICE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MS Dhoni carries the message; </a:t>
            </a:r>
            <a:r>
              <a:rPr sz="2250" b="1" i="0">
                <a:solidFill>
                  <a:srgbClr val="4A35FF"/>
                </a:solidFill>
                <a:latin typeface="Montserrat"/>
              </a:rPr>
              <a:t>the press covers the work</a:t>
            </a:r>
          </a:p>
        </p:txBody>
      </p:sp>
      <p:pic>
        <p:nvPicPr>
          <p:cNvPr id="7" name="Picture 6" descr="ph_dhoni_helmet.jpg_2.85x3.60_0.10.jpg"/>
          <p:cNvPicPr>
            <a:picLocks noChangeAspect="1"/>
          </p:cNvPicPr>
          <p:nvPr/>
        </p:nvPicPr>
        <p:blipFill>
          <a:blip r:embed="rId2"/>
          <a:stretch>
            <a:fillRect/>
          </a:stretch>
        </p:blipFill>
        <p:spPr>
          <a:xfrm>
            <a:off x="566928" y="1783080"/>
            <a:ext cx="2606040" cy="3291840"/>
          </a:xfrm>
          <a:prstGeom prst="rect">
            <a:avLst/>
          </a:prstGeom>
        </p:spPr>
      </p:pic>
      <p:sp>
        <p:nvSpPr>
          <p:cNvPr id="8" name="Rectangle 7"/>
          <p:cNvSpPr/>
          <p:nvPr/>
        </p:nvSpPr>
        <p:spPr>
          <a:xfrm>
            <a:off x="566928" y="1783080"/>
            <a:ext cx="2606040" cy="329184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5120640"/>
            <a:ext cx="26060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MS Dhoni — Goodwill Ambassador, announced April 2026.</a:t>
            </a:r>
          </a:p>
        </p:txBody>
      </p:sp>
      <p:sp>
        <p:nvSpPr>
          <p:cNvPr id="10" name="Rounded Rectangle 9"/>
          <p:cNvSpPr/>
          <p:nvPr/>
        </p:nvSpPr>
        <p:spPr>
          <a:xfrm>
            <a:off x="3429000" y="1783080"/>
            <a:ext cx="3063240" cy="3291840"/>
          </a:xfrm>
          <a:prstGeom prst="roundRect">
            <a:avLst>
              <a:gd name="adj" fmla="val 8000"/>
            </a:avLst>
          </a:prstGeom>
          <a:solidFill>
            <a:srgbClr val="F7F7FA"/>
          </a:solidFill>
          <a:ln>
            <a:noFill/>
          </a:ln>
          <a:effectLst/>
        </p:spPr>
        <p:txBody>
          <a:bodyPr rtlCol="0" anchor="ctr"/>
          <a:lstStyle/>
          <a:p>
            <a:pPr algn="ctr"/>
          </a:p>
        </p:txBody>
      </p:sp>
      <p:sp>
        <p:nvSpPr>
          <p:cNvPr id="11" name="TextBox 10"/>
          <p:cNvSpPr txBox="1"/>
          <p:nvPr/>
        </p:nvSpPr>
        <p:spPr>
          <a:xfrm>
            <a:off x="3657600" y="2057400"/>
            <a:ext cx="2606040" cy="2011680"/>
          </a:xfrm>
          <a:prstGeom prst="rect">
            <a:avLst/>
          </a:prstGeom>
          <a:noFill/>
        </p:spPr>
        <p:txBody>
          <a:bodyPr wrap="square" lIns="0" rIns="0" tIns="0" bIns="0" anchor="t">
            <a:spAutoFit/>
          </a:bodyPr>
          <a:lstStyle/>
          <a:p>
            <a:pPr algn="l">
              <a:lnSpc>
                <a:spcPct val="135000"/>
              </a:lnSpc>
            </a:pPr>
            <a:r>
              <a:rPr sz="1300" b="1" i="1">
                <a:solidFill>
                  <a:srgbClr val="16181D"/>
                </a:solidFill>
                <a:latin typeface="Montserrat"/>
              </a:rPr>
              <a:t>"We already know what is going wrong. What we need now is more responsibility, more discipline, more respect for life."</a:t>
            </a:r>
          </a:p>
        </p:txBody>
      </p:sp>
      <p:sp>
        <p:nvSpPr>
          <p:cNvPr id="12" name="TextBox 11"/>
          <p:cNvSpPr txBox="1"/>
          <p:nvPr/>
        </p:nvSpPr>
        <p:spPr>
          <a:xfrm>
            <a:off x="3657600" y="4206240"/>
            <a:ext cx="2606040" cy="54864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MS Dhoni, at the National Road Safety</a:t>
            </a:r>
          </a:p>
          <a:p>
            <a:pPr algn="l">
              <a:lnSpc>
                <a:spcPct val="125000"/>
              </a:lnSpc>
            </a:pPr>
            <a:r>
              <a:rPr sz="900" b="0" i="0">
                <a:solidFill>
                  <a:srgbClr val="6E7180"/>
                </a:solidFill>
                <a:latin typeface="Geist"/>
              </a:rPr>
              <a:t>Implementation Forum, IIT Delhi</a:t>
            </a:r>
          </a:p>
        </p:txBody>
      </p:sp>
      <p:sp>
        <p:nvSpPr>
          <p:cNvPr id="13" name="TextBox 12"/>
          <p:cNvSpPr txBox="1"/>
          <p:nvPr/>
        </p:nvSpPr>
        <p:spPr>
          <a:xfrm>
            <a:off x="6766560" y="1783080"/>
            <a:ext cx="484632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IN THE NATIONAL PRESS</a:t>
            </a:r>
          </a:p>
        </p:txBody>
      </p:sp>
      <p:pic>
        <p:nvPicPr>
          <p:cNvPr id="14" name="Picture 13" descr="opt_press_ht_primer_1500.jpg"/>
          <p:cNvPicPr>
            <a:picLocks noChangeAspect="1"/>
          </p:cNvPicPr>
          <p:nvPr/>
        </p:nvPicPr>
        <p:blipFill>
          <a:blip r:embed="rId3"/>
          <a:stretch>
            <a:fillRect/>
          </a:stretch>
        </p:blipFill>
        <p:spPr>
          <a:xfrm>
            <a:off x="6766560" y="2084831"/>
            <a:ext cx="2313584" cy="1965960"/>
          </a:xfrm>
          <a:prstGeom prst="rect">
            <a:avLst/>
          </a:prstGeom>
        </p:spPr>
      </p:pic>
      <p:sp>
        <p:nvSpPr>
          <p:cNvPr id="15" name="Rectangle 14"/>
          <p:cNvSpPr/>
          <p:nvPr/>
        </p:nvSpPr>
        <p:spPr>
          <a:xfrm>
            <a:off x="6766560" y="2084831"/>
            <a:ext cx="2313584" cy="196596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6766560" y="4096511"/>
            <a:ext cx="231358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Hindustan Times — on our</a:t>
            </a:r>
          </a:p>
          <a:p>
            <a:pPr algn="l">
              <a:lnSpc>
                <a:spcPct val="112000"/>
              </a:lnSpc>
            </a:pPr>
            <a:r>
              <a:rPr sz="850" b="0" i="0">
                <a:solidFill>
                  <a:srgbClr val="6E7180"/>
                </a:solidFill>
                <a:latin typeface="Geist"/>
              </a:rPr>
              <a:t>Pre-Hospital Care Primer.</a:t>
            </a:r>
          </a:p>
        </p:txBody>
      </p:sp>
      <p:pic>
        <p:nvPicPr>
          <p:cNvPr id="17" name="Picture 16" descr="opt_press_print_ideathon_1500.jpg"/>
          <p:cNvPicPr>
            <a:picLocks noChangeAspect="1"/>
          </p:cNvPicPr>
          <p:nvPr/>
        </p:nvPicPr>
        <p:blipFill>
          <a:blip r:embed="rId4"/>
          <a:stretch>
            <a:fillRect/>
          </a:stretch>
        </p:blipFill>
        <p:spPr>
          <a:xfrm>
            <a:off x="9281160" y="2084831"/>
            <a:ext cx="2331720" cy="1600567"/>
          </a:xfrm>
          <a:prstGeom prst="rect">
            <a:avLst/>
          </a:prstGeom>
        </p:spPr>
      </p:pic>
      <p:sp>
        <p:nvSpPr>
          <p:cNvPr id="18" name="Rectangle 17"/>
          <p:cNvSpPr/>
          <p:nvPr/>
        </p:nvSpPr>
        <p:spPr>
          <a:xfrm>
            <a:off x="9281160" y="2084831"/>
            <a:ext cx="2331720" cy="1600567"/>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9281160" y="3731118"/>
            <a:ext cx="233172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ThePrint — on the NextMile</a:t>
            </a:r>
          </a:p>
          <a:p>
            <a:pPr algn="l">
              <a:lnSpc>
                <a:spcPct val="112000"/>
              </a:lnSpc>
            </a:pPr>
            <a:r>
              <a:rPr sz="850" b="0" i="0">
                <a:solidFill>
                  <a:srgbClr val="6E7180"/>
                </a:solidFill>
                <a:latin typeface="Geist"/>
              </a:rPr>
              <a:t>ideathon finale.</a:t>
            </a:r>
          </a:p>
        </p:txBody>
      </p:sp>
      <p:sp>
        <p:nvSpPr>
          <p:cNvPr id="20" name="Rounded Rectangle 19"/>
          <p:cNvSpPr/>
          <p:nvPr/>
        </p:nvSpPr>
        <p:spPr>
          <a:xfrm>
            <a:off x="6766560" y="4709160"/>
            <a:ext cx="1463040" cy="548640"/>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1" name="Picture 20" descr="lg_bloomberg.png"/>
          <p:cNvPicPr>
            <a:picLocks noChangeAspect="1"/>
          </p:cNvPicPr>
          <p:nvPr/>
        </p:nvPicPr>
        <p:blipFill>
          <a:blip r:embed="rId5"/>
          <a:stretch>
            <a:fillRect/>
          </a:stretch>
        </p:blipFill>
        <p:spPr>
          <a:xfrm>
            <a:off x="6876288" y="4867715"/>
            <a:ext cx="1243584" cy="231530"/>
          </a:xfrm>
          <a:prstGeom prst="rect">
            <a:avLst/>
          </a:prstGeom>
        </p:spPr>
      </p:pic>
      <p:sp>
        <p:nvSpPr>
          <p:cNvPr id="22" name="Rounded Rectangle 21"/>
          <p:cNvSpPr/>
          <p:nvPr/>
        </p:nvSpPr>
        <p:spPr>
          <a:xfrm>
            <a:off x="8339327"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3" name="TextBox 22"/>
          <p:cNvSpPr txBox="1"/>
          <p:nvPr/>
        </p:nvSpPr>
        <p:spPr>
          <a:xfrm>
            <a:off x="8357615"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Deccan Herald</a:t>
            </a:r>
          </a:p>
        </p:txBody>
      </p:sp>
      <p:sp>
        <p:nvSpPr>
          <p:cNvPr id="24" name="Rounded Rectangle 23"/>
          <p:cNvSpPr/>
          <p:nvPr/>
        </p:nvSpPr>
        <p:spPr>
          <a:xfrm>
            <a:off x="9473183"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5" name="TextBox 24"/>
          <p:cNvSpPr txBox="1"/>
          <p:nvPr/>
        </p:nvSpPr>
        <p:spPr>
          <a:xfrm>
            <a:off x="9491471"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Economic Times</a:t>
            </a:r>
          </a:p>
        </p:txBody>
      </p:sp>
      <p:sp>
        <p:nvSpPr>
          <p:cNvPr id="26" name="Rounded Rectangle 25"/>
          <p:cNvSpPr/>
          <p:nvPr/>
        </p:nvSpPr>
        <p:spPr>
          <a:xfrm>
            <a:off x="10607039"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7" name="TextBox 26"/>
          <p:cNvSpPr txBox="1"/>
          <p:nvPr/>
        </p:nvSpPr>
        <p:spPr>
          <a:xfrm>
            <a:off x="10625327"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Fortune India</a:t>
            </a:r>
          </a:p>
        </p:txBody>
      </p:sp>
      <p:sp>
        <p:nvSpPr>
          <p:cNvPr id="28" name="Rounded Rectangle 27"/>
          <p:cNvSpPr/>
          <p:nvPr/>
        </p:nvSpPr>
        <p:spPr>
          <a:xfrm>
            <a:off x="8339327"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9" name="TextBox 28"/>
          <p:cNvSpPr txBox="1"/>
          <p:nvPr/>
        </p:nvSpPr>
        <p:spPr>
          <a:xfrm>
            <a:off x="8357615"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IndiaSpend</a:t>
            </a:r>
          </a:p>
        </p:txBody>
      </p:sp>
      <p:sp>
        <p:nvSpPr>
          <p:cNvPr id="30" name="Rounded Rectangle 29"/>
          <p:cNvSpPr/>
          <p:nvPr/>
        </p:nvSpPr>
        <p:spPr>
          <a:xfrm>
            <a:off x="9473183"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1" name="TextBox 30"/>
          <p:cNvSpPr txBox="1"/>
          <p:nvPr/>
        </p:nvSpPr>
        <p:spPr>
          <a:xfrm>
            <a:off x="9491471"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Scroll.in</a:t>
            </a:r>
          </a:p>
        </p:txBody>
      </p:sp>
      <p:sp>
        <p:nvSpPr>
          <p:cNvPr id="32" name="Rounded Rectangle 31"/>
          <p:cNvSpPr/>
          <p:nvPr/>
        </p:nvSpPr>
        <p:spPr>
          <a:xfrm>
            <a:off x="10607039"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3" name="TextBox 32"/>
          <p:cNvSpPr txBox="1"/>
          <p:nvPr/>
        </p:nvSpPr>
        <p:spPr>
          <a:xfrm>
            <a:off x="10625327"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The Wire</a:t>
            </a:r>
          </a:p>
        </p:txBody>
      </p:sp>
      <p:sp>
        <p:nvSpPr>
          <p:cNvPr id="34" name="Rounded Rectangle 33"/>
          <p:cNvSpPr/>
          <p:nvPr/>
        </p:nvSpPr>
        <p:spPr>
          <a:xfrm>
            <a:off x="8339327"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5" name="TextBox 34"/>
          <p:cNvSpPr txBox="1"/>
          <p:nvPr/>
        </p:nvSpPr>
        <p:spPr>
          <a:xfrm>
            <a:off x="8357615"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Times of India</a:t>
            </a:r>
          </a:p>
        </p:txBody>
      </p:sp>
      <p:sp>
        <p:nvSpPr>
          <p:cNvPr id="36" name="Rounded Rectangle 35"/>
          <p:cNvSpPr/>
          <p:nvPr/>
        </p:nvSpPr>
        <p:spPr>
          <a:xfrm>
            <a:off x="9473183"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7" name="TextBox 36"/>
          <p:cNvSpPr txBox="1"/>
          <p:nvPr/>
        </p:nvSpPr>
        <p:spPr>
          <a:xfrm>
            <a:off x="9491471"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Business Standard</a:t>
            </a:r>
          </a:p>
        </p:txBody>
      </p:sp>
      <p:sp>
        <p:nvSpPr>
          <p:cNvPr id="38" name="TextBox 37"/>
          <p:cNvSpPr txBox="1"/>
          <p:nvPr/>
        </p:nvSpPr>
        <p:spPr>
          <a:xfrm>
            <a:off x="566928" y="5440680"/>
            <a:ext cx="6035040" cy="5029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Dhoni's voice powers 'Be a Rakshak', school-zone safety and compensation-awareness campaigns.</a:t>
            </a:r>
          </a:p>
        </p:txBody>
      </p:sp>
      <p:cxnSp>
        <p:nvCxnSpPr>
          <p:cNvPr id="39" name="Connector 38"/>
          <p:cNvCxnSpPr/>
          <p:nvPr/>
        </p:nvCxnSpPr>
        <p:spPr>
          <a:xfrm>
            <a:off x="566928" y="6455664"/>
            <a:ext cx="11057839" cy="0"/>
          </a:xfrm>
          <a:prstGeom prst="line">
            <a:avLst/>
          </a:prstGeom>
          <a:ln w="9525">
            <a:solidFill>
              <a:srgbClr val="E8E9EE"/>
            </a:solidFill>
          </a:ln>
          <a:effectLst/>
        </p:spPr>
      </p:cxnSp>
      <p:sp>
        <p:nvSpPr>
          <p:cNvPr id="40" name="TextBox 3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1" name="TextBox 4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 THE NETWORK</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institutions </a:t>
            </a:r>
            <a:r>
              <a:rPr sz="2250" b="1" i="0">
                <a:solidFill>
                  <a:srgbClr val="4A35FF"/>
                </a:solidFill>
                <a:latin typeface="Montserrat"/>
              </a:rPr>
              <a:t>around the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As they appear in our working decks — engagement ranges from formal MoUs and written approvals to jury, mentoring and research collaboration.</a:t>
            </a:r>
          </a:p>
        </p:txBody>
      </p:sp>
      <p:sp>
        <p:nvSpPr>
          <p:cNvPr id="8" name="TextBox 7"/>
          <p:cNvSpPr txBox="1"/>
          <p:nvPr/>
        </p:nvSpPr>
        <p:spPr>
          <a:xfrm>
            <a:off x="566928" y="178308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AUTHORITIES &amp; PUBLIC BODIES WE WORK WITH</a:t>
            </a:r>
          </a:p>
        </p:txBody>
      </p:sp>
      <p:sp>
        <p:nvSpPr>
          <p:cNvPr id="9" name="Rounded Rectangle 8"/>
          <p:cNvSpPr/>
          <p:nvPr/>
        </p:nvSpPr>
        <p:spPr>
          <a:xfrm>
            <a:off x="56692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0" name="Picture 9" descr="lg_nhai.png"/>
          <p:cNvPicPr>
            <a:picLocks noChangeAspect="1"/>
          </p:cNvPicPr>
          <p:nvPr/>
        </p:nvPicPr>
        <p:blipFill>
          <a:blip r:embed="rId2"/>
          <a:stretch>
            <a:fillRect/>
          </a:stretch>
        </p:blipFill>
        <p:spPr>
          <a:xfrm>
            <a:off x="841725" y="2167128"/>
            <a:ext cx="748854" cy="493776"/>
          </a:xfrm>
          <a:prstGeom prst="rect">
            <a:avLst/>
          </a:prstGeom>
        </p:spPr>
      </p:pic>
      <p:sp>
        <p:nvSpPr>
          <p:cNvPr id="11" name="Rounded Rectangle 10"/>
          <p:cNvSpPr/>
          <p:nvPr/>
        </p:nvSpPr>
        <p:spPr>
          <a:xfrm>
            <a:off x="195681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2" name="Picture 11" descr="lg_pwd.png"/>
          <p:cNvPicPr>
            <a:picLocks noChangeAspect="1"/>
          </p:cNvPicPr>
          <p:nvPr/>
        </p:nvPicPr>
        <p:blipFill>
          <a:blip r:embed="rId3"/>
          <a:stretch>
            <a:fillRect/>
          </a:stretch>
        </p:blipFill>
        <p:spPr>
          <a:xfrm>
            <a:off x="2234145" y="2167128"/>
            <a:ext cx="743789" cy="493776"/>
          </a:xfrm>
          <a:prstGeom prst="rect">
            <a:avLst/>
          </a:prstGeom>
        </p:spPr>
      </p:pic>
      <p:sp>
        <p:nvSpPr>
          <p:cNvPr id="13" name="Rounded Rectangle 12"/>
          <p:cNvSpPr/>
          <p:nvPr/>
        </p:nvSpPr>
        <p:spPr>
          <a:xfrm>
            <a:off x="334670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4" name="Picture 13" descr="lg_indore_nn.png"/>
          <p:cNvPicPr>
            <a:picLocks noChangeAspect="1"/>
          </p:cNvPicPr>
          <p:nvPr/>
        </p:nvPicPr>
        <p:blipFill>
          <a:blip r:embed="rId4"/>
          <a:stretch>
            <a:fillRect/>
          </a:stretch>
        </p:blipFill>
        <p:spPr>
          <a:xfrm>
            <a:off x="3784517" y="2167128"/>
            <a:ext cx="422822" cy="493776"/>
          </a:xfrm>
          <a:prstGeom prst="rect">
            <a:avLst/>
          </a:prstGeom>
        </p:spPr>
      </p:pic>
      <p:sp>
        <p:nvSpPr>
          <p:cNvPr id="15" name="Rounded Rectangle 14"/>
          <p:cNvSpPr/>
          <p:nvPr/>
        </p:nvSpPr>
        <p:spPr>
          <a:xfrm>
            <a:off x="4736592"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6" name="Picture 15" descr="lg_vijayawada_police.png"/>
          <p:cNvPicPr>
            <a:picLocks noChangeAspect="1"/>
          </p:cNvPicPr>
          <p:nvPr/>
        </p:nvPicPr>
        <p:blipFill>
          <a:blip r:embed="rId5"/>
          <a:stretch>
            <a:fillRect/>
          </a:stretch>
        </p:blipFill>
        <p:spPr>
          <a:xfrm>
            <a:off x="5138928" y="2167128"/>
            <a:ext cx="493776" cy="493776"/>
          </a:xfrm>
          <a:prstGeom prst="rect">
            <a:avLst/>
          </a:prstGeom>
        </p:spPr>
      </p:pic>
      <p:sp>
        <p:nvSpPr>
          <p:cNvPr id="17" name="Rounded Rectangle 16"/>
          <p:cNvSpPr/>
          <p:nvPr/>
        </p:nvSpPr>
        <p:spPr>
          <a:xfrm>
            <a:off x="6126480"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8" name="Picture 17" descr="lg_haryana_police.png"/>
          <p:cNvPicPr>
            <a:picLocks noChangeAspect="1"/>
          </p:cNvPicPr>
          <p:nvPr/>
        </p:nvPicPr>
        <p:blipFill>
          <a:blip r:embed="rId6"/>
          <a:stretch>
            <a:fillRect/>
          </a:stretch>
        </p:blipFill>
        <p:spPr>
          <a:xfrm>
            <a:off x="6528816" y="2167128"/>
            <a:ext cx="493776" cy="493776"/>
          </a:xfrm>
          <a:prstGeom prst="rect">
            <a:avLst/>
          </a:prstGeom>
        </p:spPr>
      </p:pic>
      <p:sp>
        <p:nvSpPr>
          <p:cNvPr id="19" name="Rounded Rectangle 18"/>
          <p:cNvSpPr/>
          <p:nvPr/>
        </p:nvSpPr>
        <p:spPr>
          <a:xfrm>
            <a:off x="751636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0" name="Picture 19" descr="lg_kolkata_police.png"/>
          <p:cNvPicPr>
            <a:picLocks noChangeAspect="1"/>
          </p:cNvPicPr>
          <p:nvPr/>
        </p:nvPicPr>
        <p:blipFill>
          <a:blip r:embed="rId7"/>
          <a:stretch>
            <a:fillRect/>
          </a:stretch>
        </p:blipFill>
        <p:spPr>
          <a:xfrm>
            <a:off x="7909726" y="2167128"/>
            <a:ext cx="511731" cy="493776"/>
          </a:xfrm>
          <a:prstGeom prst="rect">
            <a:avLst/>
          </a:prstGeom>
        </p:spPr>
      </p:pic>
      <p:sp>
        <p:nvSpPr>
          <p:cNvPr id="21" name="Rounded Rectangle 20"/>
          <p:cNvSpPr/>
          <p:nvPr/>
        </p:nvSpPr>
        <p:spPr>
          <a:xfrm>
            <a:off x="890625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2" name="Picture 21" descr="lg_kozhikode_tp.png"/>
          <p:cNvPicPr>
            <a:picLocks noChangeAspect="1"/>
          </p:cNvPicPr>
          <p:nvPr/>
        </p:nvPicPr>
        <p:blipFill>
          <a:blip r:embed="rId8"/>
          <a:stretch>
            <a:fillRect/>
          </a:stretch>
        </p:blipFill>
        <p:spPr>
          <a:xfrm>
            <a:off x="9307490" y="2167128"/>
            <a:ext cx="495980" cy="493776"/>
          </a:xfrm>
          <a:prstGeom prst="rect">
            <a:avLst/>
          </a:prstGeom>
        </p:spPr>
      </p:pic>
      <p:sp>
        <p:nvSpPr>
          <p:cNvPr id="23" name="Rounded Rectangle 22"/>
          <p:cNvSpPr/>
          <p:nvPr/>
        </p:nvSpPr>
        <p:spPr>
          <a:xfrm>
            <a:off x="1029614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4" name="Picture 23" descr="lg_dlsa.png"/>
          <p:cNvPicPr>
            <a:picLocks noChangeAspect="1"/>
          </p:cNvPicPr>
          <p:nvPr/>
        </p:nvPicPr>
        <p:blipFill>
          <a:blip r:embed="rId9"/>
          <a:stretch>
            <a:fillRect/>
          </a:stretch>
        </p:blipFill>
        <p:spPr>
          <a:xfrm>
            <a:off x="10735297" y="2167128"/>
            <a:ext cx="420142" cy="493776"/>
          </a:xfrm>
          <a:prstGeom prst="rect">
            <a:avLst/>
          </a:prstGeom>
        </p:spPr>
      </p:pic>
      <p:sp>
        <p:nvSpPr>
          <p:cNvPr id="25" name="TextBox 24"/>
          <p:cNvSpPr txBox="1"/>
          <p:nvPr/>
        </p:nvSpPr>
        <p:spPr>
          <a:xfrm>
            <a:off x="566928" y="306324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UNIVERSITIES &amp; INSTITUTES FIELDING AUDIT TEAMS</a:t>
            </a:r>
          </a:p>
        </p:txBody>
      </p:sp>
      <p:sp>
        <p:nvSpPr>
          <p:cNvPr id="26" name="Rounded Rectangle 25"/>
          <p:cNvSpPr/>
          <p:nvPr/>
        </p:nvSpPr>
        <p:spPr>
          <a:xfrm>
            <a:off x="56692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7" name="Picture 26" descr="lg_iitm.png"/>
          <p:cNvPicPr>
            <a:picLocks noChangeAspect="1"/>
          </p:cNvPicPr>
          <p:nvPr/>
        </p:nvPicPr>
        <p:blipFill>
          <a:blip r:embed="rId10"/>
          <a:stretch>
            <a:fillRect/>
          </a:stretch>
        </p:blipFill>
        <p:spPr>
          <a:xfrm>
            <a:off x="969264" y="3447288"/>
            <a:ext cx="493776" cy="493776"/>
          </a:xfrm>
          <a:prstGeom prst="rect">
            <a:avLst/>
          </a:prstGeom>
        </p:spPr>
      </p:pic>
      <p:sp>
        <p:nvSpPr>
          <p:cNvPr id="28" name="Rounded Rectangle 27"/>
          <p:cNvSpPr/>
          <p:nvPr/>
        </p:nvSpPr>
        <p:spPr>
          <a:xfrm>
            <a:off x="195681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9" name="Picture 28" descr="lg_iitd.png"/>
          <p:cNvPicPr>
            <a:picLocks noChangeAspect="1"/>
          </p:cNvPicPr>
          <p:nvPr/>
        </p:nvPicPr>
        <p:blipFill>
          <a:blip r:embed="rId11"/>
          <a:stretch>
            <a:fillRect/>
          </a:stretch>
        </p:blipFill>
        <p:spPr>
          <a:xfrm>
            <a:off x="2361751" y="3447288"/>
            <a:ext cx="488578" cy="493776"/>
          </a:xfrm>
          <a:prstGeom prst="rect">
            <a:avLst/>
          </a:prstGeom>
        </p:spPr>
      </p:pic>
      <p:sp>
        <p:nvSpPr>
          <p:cNvPr id="30" name="Rounded Rectangle 29"/>
          <p:cNvSpPr/>
          <p:nvPr/>
        </p:nvSpPr>
        <p:spPr>
          <a:xfrm>
            <a:off x="334670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1" name="Picture 30" descr="lg_nitc.png"/>
          <p:cNvPicPr>
            <a:picLocks noChangeAspect="1"/>
          </p:cNvPicPr>
          <p:nvPr/>
        </p:nvPicPr>
        <p:blipFill>
          <a:blip r:embed="rId12"/>
          <a:stretch>
            <a:fillRect/>
          </a:stretch>
        </p:blipFill>
        <p:spPr>
          <a:xfrm>
            <a:off x="3784951" y="3447288"/>
            <a:ext cx="421954" cy="493776"/>
          </a:xfrm>
          <a:prstGeom prst="rect">
            <a:avLst/>
          </a:prstGeom>
        </p:spPr>
      </p:pic>
      <p:sp>
        <p:nvSpPr>
          <p:cNvPr id="32" name="Rounded Rectangle 31"/>
          <p:cNvSpPr/>
          <p:nvPr/>
        </p:nvSpPr>
        <p:spPr>
          <a:xfrm>
            <a:off x="4736592"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3" name="Picture 32" descr="lg_u29.png"/>
          <p:cNvPicPr>
            <a:picLocks noChangeAspect="1"/>
          </p:cNvPicPr>
          <p:nvPr/>
        </p:nvPicPr>
        <p:blipFill>
          <a:blip r:embed="rId13"/>
          <a:stretch>
            <a:fillRect/>
          </a:stretch>
        </p:blipFill>
        <p:spPr>
          <a:xfrm>
            <a:off x="5136329" y="3447288"/>
            <a:ext cx="498973" cy="493776"/>
          </a:xfrm>
          <a:prstGeom prst="rect">
            <a:avLst/>
          </a:prstGeom>
        </p:spPr>
      </p:pic>
      <p:sp>
        <p:nvSpPr>
          <p:cNvPr id="34" name="Rounded Rectangle 33"/>
          <p:cNvSpPr/>
          <p:nvPr/>
        </p:nvSpPr>
        <p:spPr>
          <a:xfrm>
            <a:off x="6126480"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5" name="Picture 34" descr="lg_u30.png"/>
          <p:cNvPicPr>
            <a:picLocks noChangeAspect="1"/>
          </p:cNvPicPr>
          <p:nvPr/>
        </p:nvPicPr>
        <p:blipFill>
          <a:blip r:embed="rId14"/>
          <a:stretch>
            <a:fillRect/>
          </a:stretch>
        </p:blipFill>
        <p:spPr>
          <a:xfrm>
            <a:off x="6453450" y="3447288"/>
            <a:ext cx="644507" cy="493776"/>
          </a:xfrm>
          <a:prstGeom prst="rect">
            <a:avLst/>
          </a:prstGeom>
        </p:spPr>
      </p:pic>
      <p:sp>
        <p:nvSpPr>
          <p:cNvPr id="36" name="Rounded Rectangle 35"/>
          <p:cNvSpPr/>
          <p:nvPr/>
        </p:nvSpPr>
        <p:spPr>
          <a:xfrm>
            <a:off x="751636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7" name="Picture 36" descr="lg_u25.png"/>
          <p:cNvPicPr>
            <a:picLocks noChangeAspect="1"/>
          </p:cNvPicPr>
          <p:nvPr/>
        </p:nvPicPr>
        <p:blipFill>
          <a:blip r:embed="rId15"/>
          <a:stretch>
            <a:fillRect/>
          </a:stretch>
        </p:blipFill>
        <p:spPr>
          <a:xfrm>
            <a:off x="7918704" y="3447288"/>
            <a:ext cx="493776" cy="493776"/>
          </a:xfrm>
          <a:prstGeom prst="rect">
            <a:avLst/>
          </a:prstGeom>
        </p:spPr>
      </p:pic>
      <p:sp>
        <p:nvSpPr>
          <p:cNvPr id="38" name="Rounded Rectangle 37"/>
          <p:cNvSpPr/>
          <p:nvPr/>
        </p:nvSpPr>
        <p:spPr>
          <a:xfrm>
            <a:off x="890625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9" name="Picture 38" descr="lg_u22.png"/>
          <p:cNvPicPr>
            <a:picLocks noChangeAspect="1"/>
          </p:cNvPicPr>
          <p:nvPr/>
        </p:nvPicPr>
        <p:blipFill>
          <a:blip r:embed="rId16"/>
          <a:stretch>
            <a:fillRect/>
          </a:stretch>
        </p:blipFill>
        <p:spPr>
          <a:xfrm>
            <a:off x="9308592" y="3447288"/>
            <a:ext cx="493776" cy="493776"/>
          </a:xfrm>
          <a:prstGeom prst="rect">
            <a:avLst/>
          </a:prstGeom>
        </p:spPr>
      </p:pic>
      <p:sp>
        <p:nvSpPr>
          <p:cNvPr id="40" name="Rounded Rectangle 39"/>
          <p:cNvSpPr/>
          <p:nvPr/>
        </p:nvSpPr>
        <p:spPr>
          <a:xfrm>
            <a:off x="1029614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1" name="Picture 40" descr="lg_u105.png"/>
          <p:cNvPicPr>
            <a:picLocks noChangeAspect="1"/>
          </p:cNvPicPr>
          <p:nvPr/>
        </p:nvPicPr>
        <p:blipFill>
          <a:blip r:embed="rId17"/>
          <a:stretch>
            <a:fillRect/>
          </a:stretch>
        </p:blipFill>
        <p:spPr>
          <a:xfrm>
            <a:off x="10698480" y="3447288"/>
            <a:ext cx="493776" cy="493776"/>
          </a:xfrm>
          <a:prstGeom prst="rect">
            <a:avLst/>
          </a:prstGeom>
        </p:spPr>
      </p:pic>
      <p:sp>
        <p:nvSpPr>
          <p:cNvPr id="42" name="TextBox 41"/>
          <p:cNvSpPr txBox="1"/>
          <p:nvPr/>
        </p:nvSpPr>
        <p:spPr>
          <a:xfrm>
            <a:off x="566928" y="434340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EXPERT &amp; ECOSYSTEM PARTNERS</a:t>
            </a:r>
          </a:p>
        </p:txBody>
      </p:sp>
      <p:sp>
        <p:nvSpPr>
          <p:cNvPr id="43" name="Rounded Rectangle 42"/>
          <p:cNvSpPr/>
          <p:nvPr/>
        </p:nvSpPr>
        <p:spPr>
          <a:xfrm>
            <a:off x="56692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4" name="Picture 43" descr="lg_tripc.png"/>
          <p:cNvPicPr>
            <a:picLocks noChangeAspect="1"/>
          </p:cNvPicPr>
          <p:nvPr/>
        </p:nvPicPr>
        <p:blipFill>
          <a:blip r:embed="rId18"/>
          <a:stretch>
            <a:fillRect/>
          </a:stretch>
        </p:blipFill>
        <p:spPr>
          <a:xfrm>
            <a:off x="676656" y="4823014"/>
            <a:ext cx="1078992" cy="302644"/>
          </a:xfrm>
          <a:prstGeom prst="rect">
            <a:avLst/>
          </a:prstGeom>
        </p:spPr>
      </p:pic>
      <p:sp>
        <p:nvSpPr>
          <p:cNvPr id="45" name="Rounded Rectangle 44"/>
          <p:cNvSpPr/>
          <p:nvPr/>
        </p:nvSpPr>
        <p:spPr>
          <a:xfrm>
            <a:off x="195681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6" name="Picture 45" descr="lg_niua.png"/>
          <p:cNvPicPr>
            <a:picLocks noChangeAspect="1"/>
          </p:cNvPicPr>
          <p:nvPr/>
        </p:nvPicPr>
        <p:blipFill>
          <a:blip r:embed="rId19"/>
          <a:stretch>
            <a:fillRect/>
          </a:stretch>
        </p:blipFill>
        <p:spPr>
          <a:xfrm>
            <a:off x="2066544" y="4762204"/>
            <a:ext cx="1078992" cy="424263"/>
          </a:xfrm>
          <a:prstGeom prst="rect">
            <a:avLst/>
          </a:prstGeom>
        </p:spPr>
      </p:pic>
      <p:sp>
        <p:nvSpPr>
          <p:cNvPr id="47" name="Rounded Rectangle 46"/>
          <p:cNvSpPr/>
          <p:nvPr/>
        </p:nvSpPr>
        <p:spPr>
          <a:xfrm>
            <a:off x="334670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8" name="Picture 47" descr="lg_omi.png"/>
          <p:cNvPicPr>
            <a:picLocks noChangeAspect="1"/>
          </p:cNvPicPr>
          <p:nvPr/>
        </p:nvPicPr>
        <p:blipFill>
          <a:blip r:embed="rId20"/>
          <a:stretch>
            <a:fillRect/>
          </a:stretch>
        </p:blipFill>
        <p:spPr>
          <a:xfrm>
            <a:off x="3632379" y="4727448"/>
            <a:ext cx="727098" cy="493776"/>
          </a:xfrm>
          <a:prstGeom prst="rect">
            <a:avLst/>
          </a:prstGeom>
        </p:spPr>
      </p:pic>
      <p:sp>
        <p:nvSpPr>
          <p:cNvPr id="49" name="Rounded Rectangle 48"/>
          <p:cNvSpPr/>
          <p:nvPr/>
        </p:nvSpPr>
        <p:spPr>
          <a:xfrm>
            <a:off x="4736592"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0" name="Picture 49" descr="lg_wri.png"/>
          <p:cNvPicPr>
            <a:picLocks noChangeAspect="1"/>
          </p:cNvPicPr>
          <p:nvPr/>
        </p:nvPicPr>
        <p:blipFill>
          <a:blip r:embed="rId21"/>
          <a:stretch>
            <a:fillRect/>
          </a:stretch>
        </p:blipFill>
        <p:spPr>
          <a:xfrm>
            <a:off x="4846320" y="4781659"/>
            <a:ext cx="1078992" cy="385354"/>
          </a:xfrm>
          <a:prstGeom prst="rect">
            <a:avLst/>
          </a:prstGeom>
        </p:spPr>
      </p:pic>
      <p:sp>
        <p:nvSpPr>
          <p:cNvPr id="51" name="Rounded Rectangle 50"/>
          <p:cNvSpPr/>
          <p:nvPr/>
        </p:nvSpPr>
        <p:spPr>
          <a:xfrm>
            <a:off x="6126480"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2" name="Picture 51" descr="lg_cii.png"/>
          <p:cNvPicPr>
            <a:picLocks noChangeAspect="1"/>
          </p:cNvPicPr>
          <p:nvPr/>
        </p:nvPicPr>
        <p:blipFill>
          <a:blip r:embed="rId22"/>
          <a:stretch>
            <a:fillRect/>
          </a:stretch>
        </p:blipFill>
        <p:spPr>
          <a:xfrm>
            <a:off x="6236208" y="4809382"/>
            <a:ext cx="1078992" cy="329907"/>
          </a:xfrm>
          <a:prstGeom prst="rect">
            <a:avLst/>
          </a:prstGeom>
        </p:spPr>
      </p:pic>
      <p:sp>
        <p:nvSpPr>
          <p:cNvPr id="53" name="Rounded Rectangle 52"/>
          <p:cNvSpPr/>
          <p:nvPr/>
        </p:nvSpPr>
        <p:spPr>
          <a:xfrm>
            <a:off x="751636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4" name="Picture 53" descr="lg_gic.png"/>
          <p:cNvPicPr>
            <a:picLocks noChangeAspect="1"/>
          </p:cNvPicPr>
          <p:nvPr/>
        </p:nvPicPr>
        <p:blipFill>
          <a:blip r:embed="rId23"/>
          <a:stretch>
            <a:fillRect/>
          </a:stretch>
        </p:blipFill>
        <p:spPr>
          <a:xfrm>
            <a:off x="7705051" y="4727448"/>
            <a:ext cx="921082" cy="493776"/>
          </a:xfrm>
          <a:prstGeom prst="rect">
            <a:avLst/>
          </a:prstGeom>
        </p:spPr>
      </p:pic>
      <p:sp>
        <p:nvSpPr>
          <p:cNvPr id="55" name="Rounded Rectangle 54"/>
          <p:cNvSpPr/>
          <p:nvPr/>
        </p:nvSpPr>
        <p:spPr>
          <a:xfrm>
            <a:off x="890625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6" name="Picture 55" descr="lg_iffco.png"/>
          <p:cNvPicPr>
            <a:picLocks noChangeAspect="1"/>
          </p:cNvPicPr>
          <p:nvPr/>
        </p:nvPicPr>
        <p:blipFill>
          <a:blip r:embed="rId24"/>
          <a:stretch>
            <a:fillRect/>
          </a:stretch>
        </p:blipFill>
        <p:spPr>
          <a:xfrm>
            <a:off x="9116286" y="4727448"/>
            <a:ext cx="878388" cy="493776"/>
          </a:xfrm>
          <a:prstGeom prst="rect">
            <a:avLst/>
          </a:prstGeom>
        </p:spPr>
      </p:pic>
      <p:sp>
        <p:nvSpPr>
          <p:cNvPr id="57" name="Rounded Rectangle 56"/>
          <p:cNvSpPr/>
          <p:nvPr/>
        </p:nvSpPr>
        <p:spPr>
          <a:xfrm>
            <a:off x="1029614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8" name="Picture 57" descr="lg_nia.png"/>
          <p:cNvPicPr>
            <a:picLocks noChangeAspect="1"/>
          </p:cNvPicPr>
          <p:nvPr/>
        </p:nvPicPr>
        <p:blipFill>
          <a:blip r:embed="rId25"/>
          <a:stretch>
            <a:fillRect/>
          </a:stretch>
        </p:blipFill>
        <p:spPr>
          <a:xfrm>
            <a:off x="10405872" y="4769184"/>
            <a:ext cx="1078992" cy="410304"/>
          </a:xfrm>
          <a:prstGeom prst="rect">
            <a:avLst/>
          </a:prstGeom>
        </p:spPr>
      </p:pic>
      <p:sp>
        <p:nvSpPr>
          <p:cNvPr id="59" name="Rounded Rectangle 58"/>
          <p:cNvSpPr/>
          <p:nvPr/>
        </p:nvSpPr>
        <p:spPr>
          <a:xfrm>
            <a:off x="566928" y="5623560"/>
            <a:ext cx="11057839" cy="548640"/>
          </a:xfrm>
          <a:prstGeom prst="roundRect">
            <a:avLst>
              <a:gd name="adj" fmla="val 14000"/>
            </a:avLst>
          </a:prstGeom>
          <a:solidFill>
            <a:srgbClr val="F7F7FA"/>
          </a:solidFill>
          <a:ln>
            <a:noFill/>
          </a:ln>
          <a:effectLst/>
        </p:spPr>
        <p:txBody>
          <a:bodyPr rtlCol="0" anchor="ctr"/>
          <a:lstStyle/>
          <a:p>
            <a:pPr algn="ctr"/>
          </a:p>
        </p:txBody>
      </p:sp>
      <p:sp>
        <p:nvSpPr>
          <p:cNvPr id="60" name="TextBox 59"/>
          <p:cNvSpPr txBox="1"/>
          <p:nvPr/>
        </p:nvSpPr>
        <p:spPr>
          <a:xfrm>
            <a:off x="768096" y="5715000"/>
            <a:ext cx="10646359" cy="384048"/>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Plus: </a:t>
            </a:r>
            <a:r>
              <a:rPr sz="950" b="0" i="0">
                <a:solidFill>
                  <a:srgbClr val="6E7180"/>
                </a:solidFill>
                <a:latin typeface="Geist"/>
              </a:rPr>
              <a:t>Jaipur Traffic Police &amp; Gurugram Police (MoUs) · CPWD &amp; district administrations · Bloomberg, Johns Hopkins, Centre for Green Mobility and PwC experts on juries and reviews.</a:t>
            </a:r>
          </a:p>
        </p:txBody>
      </p:sp>
      <p:cxnSp>
        <p:nvCxnSpPr>
          <p:cNvPr id="61" name="Connector 60"/>
          <p:cNvCxnSpPr/>
          <p:nvPr/>
        </p:nvCxnSpPr>
        <p:spPr>
          <a:xfrm>
            <a:off x="566928" y="6455664"/>
            <a:ext cx="11057839" cy="0"/>
          </a:xfrm>
          <a:prstGeom prst="line">
            <a:avLst/>
          </a:prstGeom>
          <a:ln w="9525">
            <a:solidFill>
              <a:srgbClr val="E8E9EE"/>
            </a:solidFill>
          </a:ln>
          <a:effectLst/>
        </p:spPr>
      </p:cxnSp>
      <p:sp>
        <p:nvSpPr>
          <p:cNvPr id="62" name="TextBox 6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63" name="TextBox 6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full-time team </a:t>
            </a:r>
            <a:r>
              <a:rPr sz="2250" b="1" i="0">
                <a:solidFill>
                  <a:srgbClr val="4A35FF"/>
                </a:solidFill>
                <a:latin typeface="Montserrat"/>
              </a:rPr>
              <a:t>built for this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Engineering, law, policy, product and field operations — under trustees who have led Indian road safety for a decade.</a:t>
            </a:r>
          </a:p>
        </p:txBody>
      </p:sp>
      <p:sp>
        <p:nvSpPr>
          <p:cNvPr id="8" name="Rounded Rectangle 7"/>
          <p:cNvSpPr/>
          <p:nvPr/>
        </p:nvSpPr>
        <p:spPr>
          <a:xfrm>
            <a:off x="566928" y="1920240"/>
            <a:ext cx="3630168" cy="896112"/>
          </a:xfrm>
          <a:prstGeom prst="roundRect">
            <a:avLst>
              <a:gd name="adj" fmla="val 10000"/>
            </a:avLst>
          </a:prstGeom>
          <a:solidFill>
            <a:srgbClr val="F7F7FA"/>
          </a:solidFill>
          <a:ln>
            <a:noFill/>
          </a:ln>
          <a:effectLst/>
        </p:spPr>
        <p:txBody>
          <a:bodyPr rtlCol="0" anchor="ctr"/>
          <a:lstStyle/>
          <a:p>
            <a:pPr algn="ctr"/>
          </a:p>
        </p:txBody>
      </p:sp>
      <p:sp>
        <p:nvSpPr>
          <p:cNvPr id="9" name="Oval 8"/>
          <p:cNvSpPr/>
          <p:nvPr/>
        </p:nvSpPr>
        <p:spPr>
          <a:xfrm>
            <a:off x="685800" y="2039112"/>
            <a:ext cx="658368" cy="658368"/>
          </a:xfrm>
          <a:prstGeom prst="ellipse">
            <a:avLst/>
          </a:prstGeom>
          <a:solidFill>
            <a:srgbClr val="EFEDFF"/>
          </a:solidFill>
          <a:ln>
            <a:noFill/>
          </a:ln>
          <a:effectLst/>
        </p:spPr>
        <p:txBody>
          <a:bodyPr rtlCol="0" anchor="ctr"/>
          <a:lstStyle/>
          <a:p>
            <a:pPr algn="ctr"/>
          </a:p>
        </p:txBody>
      </p:sp>
      <p:sp>
        <p:nvSpPr>
          <p:cNvPr id="10" name="TextBox 9"/>
          <p:cNvSpPr txBox="1"/>
          <p:nvPr/>
        </p:nvSpPr>
        <p:spPr>
          <a:xfrm>
            <a:off x="685800" y="2020824"/>
            <a:ext cx="658368" cy="658368"/>
          </a:xfrm>
          <a:prstGeom prst="rect">
            <a:avLst/>
          </a:prstGeom>
          <a:noFill/>
        </p:spPr>
        <p:txBody>
          <a:bodyPr wrap="square" lIns="0" rIns="0" tIns="0" bIns="0" anchor="ctr">
            <a:spAutoFit/>
          </a:bodyPr>
          <a:lstStyle/>
          <a:p>
            <a:pPr algn="ctr">
              <a:lnSpc>
                <a:spcPct val="128000"/>
              </a:lnSpc>
            </a:pPr>
            <a:r>
              <a:rPr sz="1300" b="1" i="0">
                <a:solidFill>
                  <a:srgbClr val="4A35FF"/>
                </a:solidFill>
                <a:latin typeface="Montserrat"/>
              </a:rPr>
              <a:t>AS</a:t>
            </a:r>
          </a:p>
        </p:txBody>
      </p:sp>
      <p:sp>
        <p:nvSpPr>
          <p:cNvPr id="11" name="TextBox 10"/>
          <p:cNvSpPr txBox="1"/>
          <p:nvPr/>
        </p:nvSpPr>
        <p:spPr>
          <a:xfrm>
            <a:off x="1463040"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Amar Srivastava</a:t>
            </a:r>
          </a:p>
        </p:txBody>
      </p:sp>
      <p:sp>
        <p:nvSpPr>
          <p:cNvPr id="12" name="TextBox 11"/>
          <p:cNvSpPr txBox="1"/>
          <p:nvPr/>
        </p:nvSpPr>
        <p:spPr>
          <a:xfrm>
            <a:off x="1463040"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President · Founder, Indian Road Safety Campaign · Member, National Road Safety Council</a:t>
            </a:r>
          </a:p>
        </p:txBody>
      </p:sp>
      <p:sp>
        <p:nvSpPr>
          <p:cNvPr id="13" name="Rounded Rectangle 12"/>
          <p:cNvSpPr/>
          <p:nvPr/>
        </p:nvSpPr>
        <p:spPr>
          <a:xfrm>
            <a:off x="4279391" y="1920240"/>
            <a:ext cx="3630168" cy="896112"/>
          </a:xfrm>
          <a:prstGeom prst="roundRect">
            <a:avLst>
              <a:gd name="adj" fmla="val 10000"/>
            </a:avLst>
          </a:prstGeom>
          <a:solidFill>
            <a:srgbClr val="F7F7FA"/>
          </a:solidFill>
          <a:ln>
            <a:noFill/>
          </a:ln>
          <a:effectLst/>
        </p:spPr>
        <p:txBody>
          <a:bodyPr rtlCol="0" anchor="ctr"/>
          <a:lstStyle/>
          <a:p>
            <a:pPr algn="ctr"/>
          </a:p>
        </p:txBody>
      </p:sp>
      <p:sp>
        <p:nvSpPr>
          <p:cNvPr id="14" name="Oval 13"/>
          <p:cNvSpPr/>
          <p:nvPr/>
        </p:nvSpPr>
        <p:spPr>
          <a:xfrm>
            <a:off x="4398263" y="2039112"/>
            <a:ext cx="658368" cy="658368"/>
          </a:xfrm>
          <a:prstGeom prst="ellipse">
            <a:avLst/>
          </a:prstGeom>
          <a:solidFill>
            <a:srgbClr val="EFEDFF"/>
          </a:solidFill>
          <a:ln>
            <a:noFill/>
          </a:ln>
          <a:effectLst/>
        </p:spPr>
        <p:txBody>
          <a:bodyPr rtlCol="0" anchor="ctr"/>
          <a:lstStyle/>
          <a:p>
            <a:pPr algn="ctr"/>
          </a:p>
        </p:txBody>
      </p:sp>
      <p:sp>
        <p:nvSpPr>
          <p:cNvPr id="15" name="TextBox 14"/>
          <p:cNvSpPr txBox="1"/>
          <p:nvPr/>
        </p:nvSpPr>
        <p:spPr>
          <a:xfrm>
            <a:off x="4398263" y="2020824"/>
            <a:ext cx="658368" cy="658368"/>
          </a:xfrm>
          <a:prstGeom prst="rect">
            <a:avLst/>
          </a:prstGeom>
          <a:noFill/>
        </p:spPr>
        <p:txBody>
          <a:bodyPr wrap="square" lIns="0" rIns="0" tIns="0" bIns="0" anchor="ctr">
            <a:spAutoFit/>
          </a:bodyPr>
          <a:lstStyle/>
          <a:p>
            <a:pPr algn="ctr">
              <a:lnSpc>
                <a:spcPct val="128000"/>
              </a:lnSpc>
            </a:pPr>
            <a:r>
              <a:rPr sz="1300" b="1" i="0">
                <a:solidFill>
                  <a:srgbClr val="4A35FF"/>
                </a:solidFill>
                <a:latin typeface="Montserrat"/>
              </a:rPr>
              <a:t>DG</a:t>
            </a:r>
          </a:p>
        </p:txBody>
      </p:sp>
      <p:sp>
        <p:nvSpPr>
          <p:cNvPr id="16" name="TextBox 15"/>
          <p:cNvSpPr txBox="1"/>
          <p:nvPr/>
        </p:nvSpPr>
        <p:spPr>
          <a:xfrm>
            <a:off x="5175503"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Deepanshu Gupta</a:t>
            </a:r>
          </a:p>
        </p:txBody>
      </p:sp>
      <p:sp>
        <p:nvSpPr>
          <p:cNvPr id="17" name="TextBox 16"/>
          <p:cNvSpPr txBox="1"/>
          <p:nvPr/>
        </p:nvSpPr>
        <p:spPr>
          <a:xfrm>
            <a:off x="5175503"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Managing Trustee · Founder, IRSC · Global Youth Coalition for Road Safety</a:t>
            </a:r>
          </a:p>
        </p:txBody>
      </p:sp>
      <p:sp>
        <p:nvSpPr>
          <p:cNvPr id="18" name="Rounded Rectangle 17"/>
          <p:cNvSpPr/>
          <p:nvPr/>
        </p:nvSpPr>
        <p:spPr>
          <a:xfrm>
            <a:off x="7991854" y="1920240"/>
            <a:ext cx="3630168" cy="896112"/>
          </a:xfrm>
          <a:prstGeom prst="roundRect">
            <a:avLst>
              <a:gd name="adj" fmla="val 10000"/>
            </a:avLst>
          </a:prstGeom>
          <a:solidFill>
            <a:srgbClr val="F7F7FA"/>
          </a:solidFill>
          <a:ln>
            <a:noFill/>
          </a:ln>
          <a:effectLst/>
        </p:spPr>
        <p:txBody>
          <a:bodyPr rtlCol="0" anchor="ctr"/>
          <a:lstStyle/>
          <a:p>
            <a:pPr algn="ctr"/>
          </a:p>
        </p:txBody>
      </p:sp>
      <p:sp>
        <p:nvSpPr>
          <p:cNvPr id="19" name="Oval 18"/>
          <p:cNvSpPr/>
          <p:nvPr/>
        </p:nvSpPr>
        <p:spPr>
          <a:xfrm>
            <a:off x="8110726" y="2039112"/>
            <a:ext cx="658368" cy="658368"/>
          </a:xfrm>
          <a:prstGeom prst="ellipse">
            <a:avLst/>
          </a:prstGeom>
          <a:solidFill>
            <a:srgbClr val="EFEDFF"/>
          </a:solidFill>
          <a:ln>
            <a:noFill/>
          </a:ln>
          <a:effectLst/>
        </p:spPr>
        <p:txBody>
          <a:bodyPr rtlCol="0" anchor="ctr"/>
          <a:lstStyle/>
          <a:p>
            <a:pPr algn="ctr"/>
          </a:p>
        </p:txBody>
      </p:sp>
      <p:sp>
        <p:nvSpPr>
          <p:cNvPr id="20" name="TextBox 19"/>
          <p:cNvSpPr txBox="1"/>
          <p:nvPr/>
        </p:nvSpPr>
        <p:spPr>
          <a:xfrm>
            <a:off x="8110726" y="2020824"/>
            <a:ext cx="658368" cy="658368"/>
          </a:xfrm>
          <a:prstGeom prst="rect">
            <a:avLst/>
          </a:prstGeom>
          <a:noFill/>
        </p:spPr>
        <p:txBody>
          <a:bodyPr wrap="square" lIns="0" rIns="0" tIns="0" bIns="0" anchor="ctr">
            <a:spAutoFit/>
          </a:bodyPr>
          <a:lstStyle/>
          <a:p>
            <a:pPr algn="ctr">
              <a:lnSpc>
                <a:spcPct val="128000"/>
              </a:lnSpc>
            </a:pPr>
            <a:r>
              <a:rPr sz="1300" b="1" i="0">
                <a:solidFill>
                  <a:srgbClr val="4A35FF"/>
                </a:solidFill>
                <a:latin typeface="Montserrat"/>
              </a:rPr>
              <a:t>GJ</a:t>
            </a:r>
          </a:p>
        </p:txBody>
      </p:sp>
      <p:sp>
        <p:nvSpPr>
          <p:cNvPr id="21" name="TextBox 20"/>
          <p:cNvSpPr txBox="1"/>
          <p:nvPr/>
        </p:nvSpPr>
        <p:spPr>
          <a:xfrm>
            <a:off x="8887966" y="201168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Gajendra Jangid</a:t>
            </a:r>
          </a:p>
        </p:txBody>
      </p:sp>
      <p:sp>
        <p:nvSpPr>
          <p:cNvPr id="22" name="TextBox 21"/>
          <p:cNvSpPr txBox="1"/>
          <p:nvPr/>
        </p:nvSpPr>
        <p:spPr>
          <a:xfrm>
            <a:off x="8887966" y="228600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General Secretary · Co-founder, Cars24</a:t>
            </a:r>
          </a:p>
        </p:txBody>
      </p:sp>
      <p:sp>
        <p:nvSpPr>
          <p:cNvPr id="23" name="TextBox 22"/>
          <p:cNvSpPr txBox="1"/>
          <p:nvPr/>
        </p:nvSpPr>
        <p:spPr>
          <a:xfrm>
            <a:off x="566928" y="3063240"/>
            <a:ext cx="10972800" cy="237744"/>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THE FULL-TIME TEAM</a:t>
            </a:r>
          </a:p>
        </p:txBody>
      </p:sp>
      <p:sp>
        <p:nvSpPr>
          <p:cNvPr id="24" name="Rounded Rectangle 23"/>
          <p:cNvSpPr/>
          <p:nvPr/>
        </p:nvSpPr>
        <p:spPr>
          <a:xfrm>
            <a:off x="566928" y="3364992"/>
            <a:ext cx="2679192" cy="859536"/>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25" name="Oval 24"/>
          <p:cNvSpPr/>
          <p:nvPr/>
        </p:nvSpPr>
        <p:spPr>
          <a:xfrm>
            <a:off x="676656" y="3520440"/>
            <a:ext cx="548640" cy="548640"/>
          </a:xfrm>
          <a:prstGeom prst="ellipse">
            <a:avLst/>
          </a:prstGeom>
          <a:solidFill>
            <a:srgbClr val="EFEDFF"/>
          </a:solidFill>
          <a:ln>
            <a:noFill/>
          </a:ln>
          <a:effectLst/>
        </p:spPr>
        <p:txBody>
          <a:bodyPr rtlCol="0" anchor="ctr"/>
          <a:lstStyle/>
          <a:p>
            <a:pPr algn="ctr"/>
          </a:p>
        </p:txBody>
      </p:sp>
      <p:sp>
        <p:nvSpPr>
          <p:cNvPr id="26" name="TextBox 25"/>
          <p:cNvSpPr txBox="1"/>
          <p:nvPr/>
        </p:nvSpPr>
        <p:spPr>
          <a:xfrm>
            <a:off x="676656" y="3502152"/>
            <a:ext cx="548640"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AH</a:t>
            </a:r>
          </a:p>
        </p:txBody>
      </p:sp>
      <p:sp>
        <p:nvSpPr>
          <p:cNvPr id="27" name="TextBox 26"/>
          <p:cNvSpPr txBox="1"/>
          <p:nvPr/>
        </p:nvSpPr>
        <p:spPr>
          <a:xfrm>
            <a:off x="1344168" y="3474720"/>
            <a:ext cx="1828800" cy="274320"/>
          </a:xfrm>
          <a:prstGeom prst="rect">
            <a:avLst/>
          </a:prstGeom>
          <a:noFill/>
        </p:spPr>
        <p:txBody>
          <a:bodyPr wrap="square" lIns="0" rIns="0" tIns="0" bIns="0" anchor="t">
            <a:spAutoFit/>
          </a:bodyPr>
          <a:lstStyle/>
          <a:p>
            <a:pPr algn="l">
              <a:lnSpc>
                <a:spcPct val="128000"/>
              </a:lnSpc>
            </a:pPr>
            <a:r>
              <a:rPr sz="950" b="1" i="0">
                <a:solidFill>
                  <a:srgbClr val="16181D"/>
                </a:solidFill>
                <a:latin typeface="Montserrat"/>
              </a:rPr>
              <a:t>Akhtar Hussain</a:t>
            </a:r>
          </a:p>
        </p:txBody>
      </p:sp>
      <p:sp>
        <p:nvSpPr>
          <p:cNvPr id="28" name="TextBox 27"/>
          <p:cNvSpPr txBox="1"/>
          <p:nvPr/>
        </p:nvSpPr>
        <p:spPr>
          <a:xfrm>
            <a:off x="1344168" y="3712464"/>
            <a:ext cx="1828800" cy="237744"/>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Mission Lead</a:t>
            </a:r>
          </a:p>
        </p:txBody>
      </p:sp>
      <p:sp>
        <p:nvSpPr>
          <p:cNvPr id="29" name="Rounded Rectangle 28"/>
          <p:cNvSpPr/>
          <p:nvPr/>
        </p:nvSpPr>
        <p:spPr>
          <a:xfrm>
            <a:off x="1344168" y="3913632"/>
            <a:ext cx="1463040" cy="237744"/>
          </a:xfrm>
          <a:prstGeom prst="roundRect">
            <a:avLst>
              <a:gd name="adj" fmla="val 50000"/>
            </a:avLst>
          </a:prstGeom>
          <a:solidFill>
            <a:srgbClr val="EFEDFF"/>
          </a:solidFill>
          <a:ln>
            <a:noFill/>
          </a:ln>
          <a:effectLst/>
        </p:spPr>
        <p:txBody>
          <a:bodyPr rtlCol="0" anchor="ctr"/>
          <a:lstStyle/>
          <a:p>
            <a:pPr algn="ctr"/>
          </a:p>
        </p:txBody>
      </p:sp>
      <p:sp>
        <p:nvSpPr>
          <p:cNvPr id="30" name="TextBox 29"/>
          <p:cNvSpPr txBox="1"/>
          <p:nvPr/>
        </p:nvSpPr>
        <p:spPr>
          <a:xfrm>
            <a:off x="1362456" y="3913632"/>
            <a:ext cx="1426464" cy="237744"/>
          </a:xfrm>
          <a:prstGeom prst="rect">
            <a:avLst/>
          </a:prstGeom>
          <a:noFill/>
        </p:spPr>
        <p:txBody>
          <a:bodyPr wrap="square" lIns="0" rIns="0" tIns="0" bIns="0" anchor="ctr">
            <a:spAutoFit/>
          </a:bodyPr>
          <a:lstStyle/>
          <a:p>
            <a:pPr algn="ctr">
              <a:lnSpc>
                <a:spcPct val="100000"/>
              </a:lnSpc>
            </a:pPr>
            <a:r>
              <a:rPr sz="650" b="1" i="0">
                <a:solidFill>
                  <a:srgbClr val="4A35FF"/>
                </a:solidFill>
                <a:latin typeface="Montserrat"/>
              </a:rPr>
              <a:t>IIT Delhi</a:t>
            </a:r>
          </a:p>
        </p:txBody>
      </p:sp>
      <p:sp>
        <p:nvSpPr>
          <p:cNvPr id="31" name="Rounded Rectangle 30"/>
          <p:cNvSpPr/>
          <p:nvPr/>
        </p:nvSpPr>
        <p:spPr>
          <a:xfrm>
            <a:off x="3337560" y="3364992"/>
            <a:ext cx="2679192" cy="859536"/>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2" name="Oval 31"/>
          <p:cNvSpPr/>
          <p:nvPr/>
        </p:nvSpPr>
        <p:spPr>
          <a:xfrm>
            <a:off x="3447288" y="3520440"/>
            <a:ext cx="548640" cy="548640"/>
          </a:xfrm>
          <a:prstGeom prst="ellipse">
            <a:avLst/>
          </a:prstGeom>
          <a:solidFill>
            <a:srgbClr val="EFEDFF"/>
          </a:solidFill>
          <a:ln>
            <a:noFill/>
          </a:ln>
          <a:effectLst/>
        </p:spPr>
        <p:txBody>
          <a:bodyPr rtlCol="0" anchor="ctr"/>
          <a:lstStyle/>
          <a:p>
            <a:pPr algn="ctr"/>
          </a:p>
        </p:txBody>
      </p:sp>
      <p:sp>
        <p:nvSpPr>
          <p:cNvPr id="33" name="TextBox 32"/>
          <p:cNvSpPr txBox="1"/>
          <p:nvPr/>
        </p:nvSpPr>
        <p:spPr>
          <a:xfrm>
            <a:off x="3447288" y="3502152"/>
            <a:ext cx="548640"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SK</a:t>
            </a:r>
          </a:p>
        </p:txBody>
      </p:sp>
      <p:sp>
        <p:nvSpPr>
          <p:cNvPr id="34" name="TextBox 33"/>
          <p:cNvSpPr txBox="1"/>
          <p:nvPr/>
        </p:nvSpPr>
        <p:spPr>
          <a:xfrm>
            <a:off x="4114800" y="3474720"/>
            <a:ext cx="1828800" cy="274320"/>
          </a:xfrm>
          <a:prstGeom prst="rect">
            <a:avLst/>
          </a:prstGeom>
          <a:noFill/>
        </p:spPr>
        <p:txBody>
          <a:bodyPr wrap="square" lIns="0" rIns="0" tIns="0" bIns="0" anchor="t">
            <a:spAutoFit/>
          </a:bodyPr>
          <a:lstStyle/>
          <a:p>
            <a:pPr algn="l">
              <a:lnSpc>
                <a:spcPct val="128000"/>
              </a:lnSpc>
            </a:pPr>
            <a:r>
              <a:rPr sz="950" b="1" i="0">
                <a:solidFill>
                  <a:srgbClr val="16181D"/>
                </a:solidFill>
                <a:latin typeface="Montserrat"/>
              </a:rPr>
              <a:t>Shubham Kumar</a:t>
            </a:r>
          </a:p>
        </p:txBody>
      </p:sp>
      <p:sp>
        <p:nvSpPr>
          <p:cNvPr id="35" name="TextBox 34"/>
          <p:cNvSpPr txBox="1"/>
          <p:nvPr/>
        </p:nvSpPr>
        <p:spPr>
          <a:xfrm>
            <a:off x="4114800" y="3712464"/>
            <a:ext cx="1828800" cy="237744"/>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Policy &amp; Advocacy</a:t>
            </a:r>
          </a:p>
        </p:txBody>
      </p:sp>
      <p:sp>
        <p:nvSpPr>
          <p:cNvPr id="36" name="Rounded Rectangle 35"/>
          <p:cNvSpPr/>
          <p:nvPr/>
        </p:nvSpPr>
        <p:spPr>
          <a:xfrm>
            <a:off x="4114800" y="3913632"/>
            <a:ext cx="1463040" cy="237744"/>
          </a:xfrm>
          <a:prstGeom prst="roundRect">
            <a:avLst>
              <a:gd name="adj" fmla="val 50000"/>
            </a:avLst>
          </a:prstGeom>
          <a:solidFill>
            <a:srgbClr val="EFEDFF"/>
          </a:solidFill>
          <a:ln>
            <a:noFill/>
          </a:ln>
          <a:effectLst/>
        </p:spPr>
        <p:txBody>
          <a:bodyPr rtlCol="0" anchor="ctr"/>
          <a:lstStyle/>
          <a:p>
            <a:pPr algn="ctr"/>
          </a:p>
        </p:txBody>
      </p:sp>
      <p:sp>
        <p:nvSpPr>
          <p:cNvPr id="37" name="TextBox 36"/>
          <p:cNvSpPr txBox="1"/>
          <p:nvPr/>
        </p:nvSpPr>
        <p:spPr>
          <a:xfrm>
            <a:off x="4133088" y="3913632"/>
            <a:ext cx="1426464" cy="237744"/>
          </a:xfrm>
          <a:prstGeom prst="rect">
            <a:avLst/>
          </a:prstGeom>
          <a:noFill/>
        </p:spPr>
        <p:txBody>
          <a:bodyPr wrap="square" lIns="0" rIns="0" tIns="0" bIns="0" anchor="ctr">
            <a:spAutoFit/>
          </a:bodyPr>
          <a:lstStyle/>
          <a:p>
            <a:pPr algn="ctr">
              <a:lnSpc>
                <a:spcPct val="100000"/>
              </a:lnSpc>
            </a:pPr>
            <a:r>
              <a:rPr sz="650" b="1" i="0">
                <a:solidFill>
                  <a:srgbClr val="4A35FF"/>
                </a:solidFill>
                <a:latin typeface="Montserrat"/>
              </a:rPr>
              <a:t>NALSAR Hyderabad</a:t>
            </a:r>
          </a:p>
        </p:txBody>
      </p:sp>
      <p:sp>
        <p:nvSpPr>
          <p:cNvPr id="38" name="Rounded Rectangle 37"/>
          <p:cNvSpPr/>
          <p:nvPr/>
        </p:nvSpPr>
        <p:spPr>
          <a:xfrm>
            <a:off x="6108192" y="3364992"/>
            <a:ext cx="2679192" cy="859536"/>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9" name="Oval 38"/>
          <p:cNvSpPr/>
          <p:nvPr/>
        </p:nvSpPr>
        <p:spPr>
          <a:xfrm>
            <a:off x="6217920" y="3520440"/>
            <a:ext cx="548640" cy="548640"/>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6217920" y="3502152"/>
            <a:ext cx="548640"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MY</a:t>
            </a:r>
          </a:p>
        </p:txBody>
      </p:sp>
      <p:sp>
        <p:nvSpPr>
          <p:cNvPr id="41" name="TextBox 40"/>
          <p:cNvSpPr txBox="1"/>
          <p:nvPr/>
        </p:nvSpPr>
        <p:spPr>
          <a:xfrm>
            <a:off x="6885432" y="3474720"/>
            <a:ext cx="1828800" cy="274320"/>
          </a:xfrm>
          <a:prstGeom prst="rect">
            <a:avLst/>
          </a:prstGeom>
          <a:noFill/>
        </p:spPr>
        <p:txBody>
          <a:bodyPr wrap="square" lIns="0" rIns="0" tIns="0" bIns="0" anchor="t">
            <a:spAutoFit/>
          </a:bodyPr>
          <a:lstStyle/>
          <a:p>
            <a:pPr algn="l">
              <a:lnSpc>
                <a:spcPct val="128000"/>
              </a:lnSpc>
            </a:pPr>
            <a:r>
              <a:rPr sz="950" b="1" i="0">
                <a:solidFill>
                  <a:srgbClr val="16181D"/>
                </a:solidFill>
                <a:latin typeface="Montserrat"/>
              </a:rPr>
              <a:t>Muskan Yadav</a:t>
            </a:r>
          </a:p>
        </p:txBody>
      </p:sp>
      <p:sp>
        <p:nvSpPr>
          <p:cNvPr id="42" name="TextBox 41"/>
          <p:cNvSpPr txBox="1"/>
          <p:nvPr/>
        </p:nvSpPr>
        <p:spPr>
          <a:xfrm>
            <a:off x="6885432" y="3712464"/>
            <a:ext cx="1828800" cy="237744"/>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Programmes</a:t>
            </a:r>
          </a:p>
        </p:txBody>
      </p:sp>
      <p:sp>
        <p:nvSpPr>
          <p:cNvPr id="43" name="Rounded Rectangle 42"/>
          <p:cNvSpPr/>
          <p:nvPr/>
        </p:nvSpPr>
        <p:spPr>
          <a:xfrm>
            <a:off x="6885432" y="3913632"/>
            <a:ext cx="1463040" cy="237744"/>
          </a:xfrm>
          <a:prstGeom prst="roundRect">
            <a:avLst>
              <a:gd name="adj" fmla="val 50000"/>
            </a:avLst>
          </a:prstGeom>
          <a:solidFill>
            <a:srgbClr val="EFEDFF"/>
          </a:solidFill>
          <a:ln>
            <a:noFill/>
          </a:ln>
          <a:effectLst/>
        </p:spPr>
        <p:txBody>
          <a:bodyPr rtlCol="0" anchor="ctr"/>
          <a:lstStyle/>
          <a:p>
            <a:pPr algn="ctr"/>
          </a:p>
        </p:txBody>
      </p:sp>
      <p:sp>
        <p:nvSpPr>
          <p:cNvPr id="44" name="TextBox 43"/>
          <p:cNvSpPr txBox="1"/>
          <p:nvPr/>
        </p:nvSpPr>
        <p:spPr>
          <a:xfrm>
            <a:off x="6903720" y="3913632"/>
            <a:ext cx="1426464" cy="237744"/>
          </a:xfrm>
          <a:prstGeom prst="rect">
            <a:avLst/>
          </a:prstGeom>
          <a:noFill/>
        </p:spPr>
        <p:txBody>
          <a:bodyPr wrap="square" lIns="0" rIns="0" tIns="0" bIns="0" anchor="ctr">
            <a:spAutoFit/>
          </a:bodyPr>
          <a:lstStyle/>
          <a:p>
            <a:pPr algn="ctr">
              <a:lnSpc>
                <a:spcPct val="100000"/>
              </a:lnSpc>
            </a:pPr>
            <a:r>
              <a:rPr sz="650" b="1" i="0">
                <a:solidFill>
                  <a:srgbClr val="4A35FF"/>
                </a:solidFill>
                <a:latin typeface="Montserrat"/>
              </a:rPr>
              <a:t>TISS</a:t>
            </a:r>
          </a:p>
        </p:txBody>
      </p:sp>
      <p:sp>
        <p:nvSpPr>
          <p:cNvPr id="45" name="Rounded Rectangle 44"/>
          <p:cNvSpPr/>
          <p:nvPr/>
        </p:nvSpPr>
        <p:spPr>
          <a:xfrm>
            <a:off x="8878824" y="3364992"/>
            <a:ext cx="2679192" cy="859536"/>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46" name="Oval 45"/>
          <p:cNvSpPr/>
          <p:nvPr/>
        </p:nvSpPr>
        <p:spPr>
          <a:xfrm>
            <a:off x="8988552" y="3520440"/>
            <a:ext cx="548640" cy="548640"/>
          </a:xfrm>
          <a:prstGeom prst="ellipse">
            <a:avLst/>
          </a:prstGeom>
          <a:solidFill>
            <a:srgbClr val="EFEDFF"/>
          </a:solidFill>
          <a:ln>
            <a:noFill/>
          </a:ln>
          <a:effectLst/>
        </p:spPr>
        <p:txBody>
          <a:bodyPr rtlCol="0" anchor="ctr"/>
          <a:lstStyle/>
          <a:p>
            <a:pPr algn="ctr"/>
          </a:p>
        </p:txBody>
      </p:sp>
      <p:sp>
        <p:nvSpPr>
          <p:cNvPr id="47" name="TextBox 46"/>
          <p:cNvSpPr txBox="1"/>
          <p:nvPr/>
        </p:nvSpPr>
        <p:spPr>
          <a:xfrm>
            <a:off x="8988552" y="3502152"/>
            <a:ext cx="548640"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AS</a:t>
            </a:r>
          </a:p>
        </p:txBody>
      </p:sp>
      <p:sp>
        <p:nvSpPr>
          <p:cNvPr id="48" name="TextBox 47"/>
          <p:cNvSpPr txBox="1"/>
          <p:nvPr/>
        </p:nvSpPr>
        <p:spPr>
          <a:xfrm>
            <a:off x="9656064" y="3474720"/>
            <a:ext cx="1828800" cy="274320"/>
          </a:xfrm>
          <a:prstGeom prst="rect">
            <a:avLst/>
          </a:prstGeom>
          <a:noFill/>
        </p:spPr>
        <p:txBody>
          <a:bodyPr wrap="square" lIns="0" rIns="0" tIns="0" bIns="0" anchor="t">
            <a:spAutoFit/>
          </a:bodyPr>
          <a:lstStyle/>
          <a:p>
            <a:pPr algn="l">
              <a:lnSpc>
                <a:spcPct val="128000"/>
              </a:lnSpc>
            </a:pPr>
            <a:r>
              <a:rPr sz="950" b="1" i="0">
                <a:solidFill>
                  <a:srgbClr val="16181D"/>
                </a:solidFill>
                <a:latin typeface="Montserrat"/>
              </a:rPr>
              <a:t>Aastha Shreeharsh</a:t>
            </a:r>
          </a:p>
        </p:txBody>
      </p:sp>
      <p:sp>
        <p:nvSpPr>
          <p:cNvPr id="49" name="TextBox 48"/>
          <p:cNvSpPr txBox="1"/>
          <p:nvPr/>
        </p:nvSpPr>
        <p:spPr>
          <a:xfrm>
            <a:off x="9656064" y="3712464"/>
            <a:ext cx="1828800" cy="237744"/>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Strategy &amp; Ops</a:t>
            </a:r>
          </a:p>
        </p:txBody>
      </p:sp>
      <p:sp>
        <p:nvSpPr>
          <p:cNvPr id="50" name="Rounded Rectangle 49"/>
          <p:cNvSpPr/>
          <p:nvPr/>
        </p:nvSpPr>
        <p:spPr>
          <a:xfrm>
            <a:off x="9656064" y="3913632"/>
            <a:ext cx="1463040" cy="237744"/>
          </a:xfrm>
          <a:prstGeom prst="roundRect">
            <a:avLst>
              <a:gd name="adj" fmla="val 50000"/>
            </a:avLst>
          </a:prstGeom>
          <a:solidFill>
            <a:srgbClr val="EFEDFF"/>
          </a:solidFill>
          <a:ln>
            <a:noFill/>
          </a:ln>
          <a:effectLst/>
        </p:spPr>
        <p:txBody>
          <a:bodyPr rtlCol="0" anchor="ctr"/>
          <a:lstStyle/>
          <a:p>
            <a:pPr algn="ctr"/>
          </a:p>
        </p:txBody>
      </p:sp>
      <p:sp>
        <p:nvSpPr>
          <p:cNvPr id="51" name="TextBox 50"/>
          <p:cNvSpPr txBox="1"/>
          <p:nvPr/>
        </p:nvSpPr>
        <p:spPr>
          <a:xfrm>
            <a:off x="9674352" y="3913632"/>
            <a:ext cx="1426464" cy="237744"/>
          </a:xfrm>
          <a:prstGeom prst="rect">
            <a:avLst/>
          </a:prstGeom>
          <a:noFill/>
        </p:spPr>
        <p:txBody>
          <a:bodyPr wrap="square" lIns="0" rIns="0" tIns="0" bIns="0" anchor="ctr">
            <a:spAutoFit/>
          </a:bodyPr>
          <a:lstStyle/>
          <a:p>
            <a:pPr algn="ctr">
              <a:lnSpc>
                <a:spcPct val="100000"/>
              </a:lnSpc>
            </a:pPr>
            <a:r>
              <a:rPr sz="650" b="1" i="0">
                <a:solidFill>
                  <a:srgbClr val="4A35FF"/>
                </a:solidFill>
                <a:latin typeface="Montserrat"/>
              </a:rPr>
              <a:t>HKUST</a:t>
            </a:r>
          </a:p>
        </p:txBody>
      </p:sp>
      <p:sp>
        <p:nvSpPr>
          <p:cNvPr id="52" name="Rounded Rectangle 51"/>
          <p:cNvSpPr/>
          <p:nvPr/>
        </p:nvSpPr>
        <p:spPr>
          <a:xfrm>
            <a:off x="566928" y="4334256"/>
            <a:ext cx="2679192" cy="859536"/>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53" name="Oval 52"/>
          <p:cNvSpPr/>
          <p:nvPr/>
        </p:nvSpPr>
        <p:spPr>
          <a:xfrm>
            <a:off x="676656" y="4489704"/>
            <a:ext cx="548640" cy="548640"/>
          </a:xfrm>
          <a:prstGeom prst="ellipse">
            <a:avLst/>
          </a:prstGeom>
          <a:solidFill>
            <a:srgbClr val="EFEDFF"/>
          </a:solidFill>
          <a:ln>
            <a:noFill/>
          </a:ln>
          <a:effectLst/>
        </p:spPr>
        <p:txBody>
          <a:bodyPr rtlCol="0" anchor="ctr"/>
          <a:lstStyle/>
          <a:p>
            <a:pPr algn="ctr"/>
          </a:p>
        </p:txBody>
      </p:sp>
      <p:sp>
        <p:nvSpPr>
          <p:cNvPr id="54" name="TextBox 53"/>
          <p:cNvSpPr txBox="1"/>
          <p:nvPr/>
        </p:nvSpPr>
        <p:spPr>
          <a:xfrm>
            <a:off x="676656" y="4471416"/>
            <a:ext cx="548640"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RS</a:t>
            </a:r>
          </a:p>
        </p:txBody>
      </p:sp>
      <p:sp>
        <p:nvSpPr>
          <p:cNvPr id="55" name="TextBox 54"/>
          <p:cNvSpPr txBox="1"/>
          <p:nvPr/>
        </p:nvSpPr>
        <p:spPr>
          <a:xfrm>
            <a:off x="1344168" y="4443984"/>
            <a:ext cx="1828800" cy="274320"/>
          </a:xfrm>
          <a:prstGeom prst="rect">
            <a:avLst/>
          </a:prstGeom>
          <a:noFill/>
        </p:spPr>
        <p:txBody>
          <a:bodyPr wrap="square" lIns="0" rIns="0" tIns="0" bIns="0" anchor="t">
            <a:spAutoFit/>
          </a:bodyPr>
          <a:lstStyle/>
          <a:p>
            <a:pPr algn="l">
              <a:lnSpc>
                <a:spcPct val="128000"/>
              </a:lnSpc>
            </a:pPr>
            <a:r>
              <a:rPr sz="950" b="1" i="0">
                <a:solidFill>
                  <a:srgbClr val="16181D"/>
                </a:solidFill>
                <a:latin typeface="Montserrat"/>
              </a:rPr>
              <a:t>Rohan Sharma</a:t>
            </a:r>
          </a:p>
        </p:txBody>
      </p:sp>
      <p:sp>
        <p:nvSpPr>
          <p:cNvPr id="56" name="TextBox 55"/>
          <p:cNvSpPr txBox="1"/>
          <p:nvPr/>
        </p:nvSpPr>
        <p:spPr>
          <a:xfrm>
            <a:off x="1344168" y="4681728"/>
            <a:ext cx="1828800" cy="237744"/>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Cause Marketing</a:t>
            </a:r>
          </a:p>
        </p:txBody>
      </p:sp>
      <p:sp>
        <p:nvSpPr>
          <p:cNvPr id="57" name="Rounded Rectangle 56"/>
          <p:cNvSpPr/>
          <p:nvPr/>
        </p:nvSpPr>
        <p:spPr>
          <a:xfrm>
            <a:off x="3337560" y="4334256"/>
            <a:ext cx="2679192" cy="859536"/>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58" name="Oval 57"/>
          <p:cNvSpPr/>
          <p:nvPr/>
        </p:nvSpPr>
        <p:spPr>
          <a:xfrm>
            <a:off x="3447288" y="4489704"/>
            <a:ext cx="548640" cy="548640"/>
          </a:xfrm>
          <a:prstGeom prst="ellipse">
            <a:avLst/>
          </a:prstGeom>
          <a:solidFill>
            <a:srgbClr val="EFEDFF"/>
          </a:solidFill>
          <a:ln>
            <a:noFill/>
          </a:ln>
          <a:effectLst/>
        </p:spPr>
        <p:txBody>
          <a:bodyPr rtlCol="0" anchor="ctr"/>
          <a:lstStyle/>
          <a:p>
            <a:pPr algn="ctr"/>
          </a:p>
        </p:txBody>
      </p:sp>
      <p:sp>
        <p:nvSpPr>
          <p:cNvPr id="59" name="TextBox 58"/>
          <p:cNvSpPr txBox="1"/>
          <p:nvPr/>
        </p:nvSpPr>
        <p:spPr>
          <a:xfrm>
            <a:off x="3447288" y="4471416"/>
            <a:ext cx="548640"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IR</a:t>
            </a:r>
          </a:p>
        </p:txBody>
      </p:sp>
      <p:sp>
        <p:nvSpPr>
          <p:cNvPr id="60" name="TextBox 59"/>
          <p:cNvSpPr txBox="1"/>
          <p:nvPr/>
        </p:nvSpPr>
        <p:spPr>
          <a:xfrm>
            <a:off x="4114800" y="4443984"/>
            <a:ext cx="1828800" cy="274320"/>
          </a:xfrm>
          <a:prstGeom prst="rect">
            <a:avLst/>
          </a:prstGeom>
          <a:noFill/>
        </p:spPr>
        <p:txBody>
          <a:bodyPr wrap="square" lIns="0" rIns="0" tIns="0" bIns="0" anchor="t">
            <a:spAutoFit/>
          </a:bodyPr>
          <a:lstStyle/>
          <a:p>
            <a:pPr algn="l">
              <a:lnSpc>
                <a:spcPct val="128000"/>
              </a:lnSpc>
            </a:pPr>
            <a:r>
              <a:rPr sz="950" b="1" i="0">
                <a:solidFill>
                  <a:srgbClr val="16181D"/>
                </a:solidFill>
                <a:latin typeface="Montserrat"/>
              </a:rPr>
              <a:t>Ishita Rathore</a:t>
            </a:r>
          </a:p>
        </p:txBody>
      </p:sp>
      <p:sp>
        <p:nvSpPr>
          <p:cNvPr id="61" name="TextBox 60"/>
          <p:cNvSpPr txBox="1"/>
          <p:nvPr/>
        </p:nvSpPr>
        <p:spPr>
          <a:xfrm>
            <a:off x="4114800" y="4681728"/>
            <a:ext cx="1828800" cy="237744"/>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People &amp; Culture</a:t>
            </a:r>
          </a:p>
        </p:txBody>
      </p:sp>
      <p:sp>
        <p:nvSpPr>
          <p:cNvPr id="62" name="Rounded Rectangle 61"/>
          <p:cNvSpPr/>
          <p:nvPr/>
        </p:nvSpPr>
        <p:spPr>
          <a:xfrm>
            <a:off x="6108192" y="4334256"/>
            <a:ext cx="2679192" cy="859536"/>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63" name="Oval 62"/>
          <p:cNvSpPr/>
          <p:nvPr/>
        </p:nvSpPr>
        <p:spPr>
          <a:xfrm>
            <a:off x="6217920" y="4489704"/>
            <a:ext cx="548640" cy="548640"/>
          </a:xfrm>
          <a:prstGeom prst="ellipse">
            <a:avLst/>
          </a:prstGeom>
          <a:solidFill>
            <a:srgbClr val="EFEDFF"/>
          </a:solidFill>
          <a:ln>
            <a:noFill/>
          </a:ln>
          <a:effectLst/>
        </p:spPr>
        <p:txBody>
          <a:bodyPr rtlCol="0" anchor="ctr"/>
          <a:lstStyle/>
          <a:p>
            <a:pPr algn="ctr"/>
          </a:p>
        </p:txBody>
      </p:sp>
      <p:sp>
        <p:nvSpPr>
          <p:cNvPr id="64" name="TextBox 63"/>
          <p:cNvSpPr txBox="1"/>
          <p:nvPr/>
        </p:nvSpPr>
        <p:spPr>
          <a:xfrm>
            <a:off x="6217920" y="4471416"/>
            <a:ext cx="548640"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YY</a:t>
            </a:r>
          </a:p>
        </p:txBody>
      </p:sp>
      <p:sp>
        <p:nvSpPr>
          <p:cNvPr id="65" name="TextBox 64"/>
          <p:cNvSpPr txBox="1"/>
          <p:nvPr/>
        </p:nvSpPr>
        <p:spPr>
          <a:xfrm>
            <a:off x="6885432" y="4443984"/>
            <a:ext cx="1828800" cy="274320"/>
          </a:xfrm>
          <a:prstGeom prst="rect">
            <a:avLst/>
          </a:prstGeom>
          <a:noFill/>
        </p:spPr>
        <p:txBody>
          <a:bodyPr wrap="square" lIns="0" rIns="0" tIns="0" bIns="0" anchor="t">
            <a:spAutoFit/>
          </a:bodyPr>
          <a:lstStyle/>
          <a:p>
            <a:pPr algn="l">
              <a:lnSpc>
                <a:spcPct val="128000"/>
              </a:lnSpc>
            </a:pPr>
            <a:r>
              <a:rPr sz="950" b="1" i="0">
                <a:solidFill>
                  <a:srgbClr val="16181D"/>
                </a:solidFill>
                <a:latin typeface="Montserrat"/>
              </a:rPr>
              <a:t>Yuvraj Yadav</a:t>
            </a:r>
          </a:p>
        </p:txBody>
      </p:sp>
      <p:sp>
        <p:nvSpPr>
          <p:cNvPr id="66" name="TextBox 65"/>
          <p:cNvSpPr txBox="1"/>
          <p:nvPr/>
        </p:nvSpPr>
        <p:spPr>
          <a:xfrm>
            <a:off x="6885432" y="4681728"/>
            <a:ext cx="1828800" cy="237744"/>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Product Design</a:t>
            </a:r>
          </a:p>
        </p:txBody>
      </p:sp>
      <p:sp>
        <p:nvSpPr>
          <p:cNvPr id="67" name="Rounded Rectangle 66"/>
          <p:cNvSpPr/>
          <p:nvPr/>
        </p:nvSpPr>
        <p:spPr>
          <a:xfrm>
            <a:off x="8878824" y="4334256"/>
            <a:ext cx="2679192" cy="859536"/>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68" name="Oval 67"/>
          <p:cNvSpPr/>
          <p:nvPr/>
        </p:nvSpPr>
        <p:spPr>
          <a:xfrm>
            <a:off x="8988552" y="4489704"/>
            <a:ext cx="548640" cy="548640"/>
          </a:xfrm>
          <a:prstGeom prst="ellipse">
            <a:avLst/>
          </a:prstGeom>
          <a:solidFill>
            <a:srgbClr val="EFEDFF"/>
          </a:solidFill>
          <a:ln>
            <a:noFill/>
          </a:ln>
          <a:effectLst/>
        </p:spPr>
        <p:txBody>
          <a:bodyPr rtlCol="0" anchor="ctr"/>
          <a:lstStyle/>
          <a:p>
            <a:pPr algn="ctr"/>
          </a:p>
        </p:txBody>
      </p:sp>
      <p:sp>
        <p:nvSpPr>
          <p:cNvPr id="69" name="TextBox 68"/>
          <p:cNvSpPr txBox="1"/>
          <p:nvPr/>
        </p:nvSpPr>
        <p:spPr>
          <a:xfrm>
            <a:off x="8988552" y="4471416"/>
            <a:ext cx="548640" cy="548640"/>
          </a:xfrm>
          <a:prstGeom prst="rect">
            <a:avLst/>
          </a:prstGeom>
          <a:noFill/>
        </p:spPr>
        <p:txBody>
          <a:bodyPr wrap="square" lIns="0" rIns="0" tIns="0" bIns="0" anchor="ctr">
            <a:spAutoFit/>
          </a:bodyPr>
          <a:lstStyle/>
          <a:p>
            <a:pPr algn="ctr">
              <a:lnSpc>
                <a:spcPct val="128000"/>
              </a:lnSpc>
            </a:pPr>
            <a:r>
              <a:rPr sz="1100" b="1" i="0">
                <a:solidFill>
                  <a:srgbClr val="4A35FF"/>
                </a:solidFill>
                <a:latin typeface="Montserrat"/>
              </a:rPr>
              <a:t>SK</a:t>
            </a:r>
          </a:p>
        </p:txBody>
      </p:sp>
      <p:sp>
        <p:nvSpPr>
          <p:cNvPr id="70" name="TextBox 69"/>
          <p:cNvSpPr txBox="1"/>
          <p:nvPr/>
        </p:nvSpPr>
        <p:spPr>
          <a:xfrm>
            <a:off x="9656064" y="4443984"/>
            <a:ext cx="1828800" cy="274320"/>
          </a:xfrm>
          <a:prstGeom prst="rect">
            <a:avLst/>
          </a:prstGeom>
          <a:noFill/>
        </p:spPr>
        <p:txBody>
          <a:bodyPr wrap="square" lIns="0" rIns="0" tIns="0" bIns="0" anchor="t">
            <a:spAutoFit/>
          </a:bodyPr>
          <a:lstStyle/>
          <a:p>
            <a:pPr algn="l">
              <a:lnSpc>
                <a:spcPct val="128000"/>
              </a:lnSpc>
            </a:pPr>
            <a:r>
              <a:rPr sz="950" b="1" i="0">
                <a:solidFill>
                  <a:srgbClr val="16181D"/>
                </a:solidFill>
                <a:latin typeface="Montserrat"/>
              </a:rPr>
              <a:t>Shipra Kushwaha</a:t>
            </a:r>
          </a:p>
        </p:txBody>
      </p:sp>
      <p:sp>
        <p:nvSpPr>
          <p:cNvPr id="71" name="TextBox 70"/>
          <p:cNvSpPr txBox="1"/>
          <p:nvPr/>
        </p:nvSpPr>
        <p:spPr>
          <a:xfrm>
            <a:off x="9656064" y="4681728"/>
            <a:ext cx="1828800" cy="237744"/>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Graphic Design</a:t>
            </a:r>
          </a:p>
        </p:txBody>
      </p:sp>
      <p:sp>
        <p:nvSpPr>
          <p:cNvPr id="72" name="Rounded Rectangle 71"/>
          <p:cNvSpPr/>
          <p:nvPr/>
        </p:nvSpPr>
        <p:spPr>
          <a:xfrm>
            <a:off x="566928" y="5532120"/>
            <a:ext cx="11057839" cy="640080"/>
          </a:xfrm>
          <a:prstGeom prst="roundRect">
            <a:avLst>
              <a:gd name="adj" fmla="val 14000"/>
            </a:avLst>
          </a:prstGeom>
          <a:solidFill>
            <a:srgbClr val="F7F7FA"/>
          </a:solidFill>
          <a:ln>
            <a:noFill/>
          </a:ln>
          <a:effectLst/>
        </p:spPr>
        <p:txBody>
          <a:bodyPr rtlCol="0" anchor="ctr"/>
          <a:lstStyle/>
          <a:p>
            <a:pPr algn="ctr"/>
          </a:p>
        </p:txBody>
      </p:sp>
      <p:sp>
        <p:nvSpPr>
          <p:cNvPr id="73" name="TextBox 72"/>
          <p:cNvSpPr txBox="1"/>
          <p:nvPr/>
        </p:nvSpPr>
        <p:spPr>
          <a:xfrm>
            <a:off x="768096" y="5605272"/>
            <a:ext cx="10646359" cy="50292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In-house capabilities: </a:t>
            </a:r>
            <a:r>
              <a:rPr sz="950" b="0" i="0">
                <a:solidFill>
                  <a:srgbClr val="6E7180"/>
                </a:solidFill>
                <a:latin typeface="Geist"/>
              </a:rPr>
              <a:t>road-engineering audits · legal &amp; policy research · AI product development · district operations · behaviour-change communication.   </a:t>
            </a:r>
            <a:r>
              <a:rPr sz="950" b="1" i="0">
                <a:solidFill>
                  <a:srgbClr val="4A35FF"/>
                </a:solidFill>
                <a:latin typeface="Geist"/>
              </a:rPr>
              <a:t>Plus 75+ engineering interns and 31 student audit teams.</a:t>
            </a:r>
          </a:p>
        </p:txBody>
      </p:sp>
      <p:cxnSp>
        <p:nvCxnSpPr>
          <p:cNvPr id="74" name="Connector 73"/>
          <p:cNvCxnSpPr/>
          <p:nvPr/>
        </p:nvCxnSpPr>
        <p:spPr>
          <a:xfrm>
            <a:off x="566928" y="6455664"/>
            <a:ext cx="11057839" cy="0"/>
          </a:xfrm>
          <a:prstGeom prst="line">
            <a:avLst/>
          </a:prstGeom>
          <a:ln w="9525">
            <a:solidFill>
              <a:srgbClr val="E8E9EE"/>
            </a:solidFill>
          </a:ln>
          <a:effectLst/>
        </p:spPr>
      </p:cxnSp>
      <p:sp>
        <p:nvSpPr>
          <p:cNvPr id="75" name="TextBox 7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76" name="TextBox 7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15 / 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 — THE EXPERT BENCH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Advised by the people who </a:t>
            </a:r>
            <a:r>
              <a:rPr sz="2250" b="1" i="0">
                <a:solidFill>
                  <a:srgbClr val="4A35FF"/>
                </a:solidFill>
                <a:latin typeface="Montserrat"/>
              </a:rPr>
              <a:t>built India's road safety practice</a:t>
            </a:r>
          </a:p>
        </p:txBody>
      </p:sp>
      <p:sp>
        <p:nvSpPr>
          <p:cNvPr id="7" name="Rounded Rectangle 6"/>
          <p:cNvSpPr/>
          <p:nvPr/>
        </p:nvSpPr>
        <p:spPr>
          <a:xfrm>
            <a:off x="566928" y="1554480"/>
            <a:ext cx="5486400" cy="932688"/>
          </a:xfrm>
          <a:prstGeom prst="roundRect">
            <a:avLst>
              <a:gd name="adj" fmla="val 12000"/>
            </a:avLst>
          </a:prstGeom>
          <a:solidFill>
            <a:srgbClr val="F7F7FA"/>
          </a:solidFill>
          <a:ln>
            <a:noFill/>
          </a:ln>
          <a:effectLst/>
        </p:spPr>
        <p:txBody>
          <a:bodyPr rtlCol="0" anchor="ctr"/>
          <a:lstStyle/>
          <a:p>
            <a:pPr algn="ctr"/>
          </a:p>
        </p:txBody>
      </p:sp>
      <p:pic>
        <p:nvPicPr>
          <p:cNvPr id="8" name="Picture 7" descr="gtiwari.png_0.74x0.74_0.10.jpg"/>
          <p:cNvPicPr>
            <a:picLocks noChangeAspect="1"/>
          </p:cNvPicPr>
          <p:nvPr/>
        </p:nvPicPr>
        <p:blipFill>
          <a:blip r:embed="rId2"/>
          <a:stretch>
            <a:fillRect/>
          </a:stretch>
        </p:blipFill>
        <p:spPr>
          <a:xfrm>
            <a:off x="694944" y="1682496"/>
            <a:ext cx="676656" cy="676656"/>
          </a:xfrm>
          <a:prstGeom prst="rect">
            <a:avLst/>
          </a:prstGeom>
        </p:spPr>
      </p:pic>
      <p:sp>
        <p:nvSpPr>
          <p:cNvPr id="9" name="TextBox 8"/>
          <p:cNvSpPr txBox="1"/>
          <p:nvPr/>
        </p:nvSpPr>
        <p:spPr>
          <a:xfrm>
            <a:off x="1499616" y="1673352"/>
            <a:ext cx="448056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Prof. Geetam Tiwari — Board of Advisors</a:t>
            </a:r>
          </a:p>
        </p:txBody>
      </p:sp>
      <p:sp>
        <p:nvSpPr>
          <p:cNvPr id="10" name="TextBox 9"/>
          <p:cNvSpPr txBox="1"/>
          <p:nvPr/>
        </p:nvSpPr>
        <p:spPr>
          <a:xfrm>
            <a:off x="1499616" y="1965960"/>
            <a:ext cx="448056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Professor Emerita &amp; Chair, TRIP Centre, IIT Delhi · Member, IRC H-7 Committee on Road Safety Audit</a:t>
            </a:r>
          </a:p>
        </p:txBody>
      </p:sp>
      <p:sp>
        <p:nvSpPr>
          <p:cNvPr id="11" name="Rounded Rectangle 10"/>
          <p:cNvSpPr/>
          <p:nvPr/>
        </p:nvSpPr>
        <p:spPr>
          <a:xfrm>
            <a:off x="6263640" y="1554480"/>
            <a:ext cx="5349240" cy="932688"/>
          </a:xfrm>
          <a:prstGeom prst="roundRect">
            <a:avLst>
              <a:gd name="adj" fmla="val 12000"/>
            </a:avLst>
          </a:prstGeom>
          <a:solidFill>
            <a:srgbClr val="F7F7FA"/>
          </a:solidFill>
          <a:ln>
            <a:noFill/>
          </a:ln>
          <a:effectLst/>
        </p:spPr>
        <p:txBody>
          <a:bodyPr rtlCol="0" anchor="ctr"/>
          <a:lstStyle/>
          <a:p>
            <a:pPr algn="ctr"/>
          </a:p>
        </p:txBody>
      </p:sp>
      <p:sp>
        <p:nvSpPr>
          <p:cNvPr id="12" name="Oval 11"/>
          <p:cNvSpPr/>
          <p:nvPr/>
        </p:nvSpPr>
        <p:spPr>
          <a:xfrm>
            <a:off x="6391656" y="1682496"/>
            <a:ext cx="676656" cy="676656"/>
          </a:xfrm>
          <a:prstGeom prst="ellipse">
            <a:avLst/>
          </a:prstGeom>
          <a:solidFill>
            <a:srgbClr val="EFEDFF"/>
          </a:solidFill>
          <a:ln>
            <a:noFill/>
          </a:ln>
          <a:effectLst/>
        </p:spPr>
        <p:txBody>
          <a:bodyPr rtlCol="0" anchor="ctr"/>
          <a:lstStyle/>
          <a:p>
            <a:pPr algn="ctr"/>
          </a:p>
        </p:txBody>
      </p:sp>
      <p:sp>
        <p:nvSpPr>
          <p:cNvPr id="13" name="TextBox 12"/>
          <p:cNvSpPr txBox="1"/>
          <p:nvPr/>
        </p:nvSpPr>
        <p:spPr>
          <a:xfrm>
            <a:off x="6391656" y="1664208"/>
            <a:ext cx="676656" cy="676656"/>
          </a:xfrm>
          <a:prstGeom prst="rect">
            <a:avLst/>
          </a:prstGeom>
          <a:noFill/>
        </p:spPr>
        <p:txBody>
          <a:bodyPr wrap="square" lIns="0" rIns="0" tIns="0" bIns="0" anchor="ctr">
            <a:spAutoFit/>
          </a:bodyPr>
          <a:lstStyle/>
          <a:p>
            <a:pPr algn="ctr">
              <a:lnSpc>
                <a:spcPct val="128000"/>
              </a:lnSpc>
            </a:pPr>
            <a:r>
              <a:rPr sz="1400" b="1" i="0">
                <a:solidFill>
                  <a:srgbClr val="4A35FF"/>
                </a:solidFill>
                <a:latin typeface="Montserrat"/>
              </a:rPr>
              <a:t>PT</a:t>
            </a:r>
          </a:p>
        </p:txBody>
      </p:sp>
      <p:sp>
        <p:nvSpPr>
          <p:cNvPr id="14" name="TextBox 13"/>
          <p:cNvSpPr txBox="1"/>
          <p:nvPr/>
        </p:nvSpPr>
        <p:spPr>
          <a:xfrm>
            <a:off x="7196328" y="1673352"/>
            <a:ext cx="429768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Piyush Tewari — Board of Advisors</a:t>
            </a:r>
          </a:p>
        </p:txBody>
      </p:sp>
      <p:sp>
        <p:nvSpPr>
          <p:cNvPr id="15" name="TextBox 14"/>
          <p:cNvSpPr txBox="1"/>
          <p:nvPr/>
        </p:nvSpPr>
        <p:spPr>
          <a:xfrm>
            <a:off x="7196328" y="1965960"/>
            <a:ext cx="429768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Founder &amp; CEO, SaveLIFE Foundation · Architect of the Good Samaritan Law · Zero-Fatality Corridors</a:t>
            </a:r>
          </a:p>
        </p:txBody>
      </p:sp>
      <p:sp>
        <p:nvSpPr>
          <p:cNvPr id="16" name="TextBox 15"/>
          <p:cNvSpPr txBox="1"/>
          <p:nvPr/>
        </p:nvSpPr>
        <p:spPr>
          <a:xfrm>
            <a:off x="566928" y="2697480"/>
            <a:ext cx="1005840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JURY, MENTORS &amp; REVIEWERS AROUND OUR WORK</a:t>
            </a:r>
          </a:p>
        </p:txBody>
      </p:sp>
      <p:pic>
        <p:nvPicPr>
          <p:cNvPr id="17" name="Picture 16" descr="midha.png_0.70x0.70_0.10.jpg"/>
          <p:cNvPicPr>
            <a:picLocks noChangeAspect="1"/>
          </p:cNvPicPr>
          <p:nvPr/>
        </p:nvPicPr>
        <p:blipFill>
          <a:blip r:embed="rId3"/>
          <a:stretch>
            <a:fillRect/>
          </a:stretch>
        </p:blipFill>
        <p:spPr>
          <a:xfrm>
            <a:off x="1152144" y="2999232"/>
            <a:ext cx="640080" cy="640080"/>
          </a:xfrm>
          <a:prstGeom prst="rect">
            <a:avLst/>
          </a:prstGeom>
        </p:spPr>
      </p:pic>
      <p:sp>
        <p:nvSpPr>
          <p:cNvPr id="18" name="TextBox 17"/>
          <p:cNvSpPr txBox="1"/>
          <p:nvPr/>
        </p:nvSpPr>
        <p:spPr>
          <a:xfrm>
            <a:off x="566928"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Justice J.R. Midha</a:t>
            </a:r>
          </a:p>
        </p:txBody>
      </p:sp>
      <p:sp>
        <p:nvSpPr>
          <p:cNvPr id="19" name="TextBox 18"/>
          <p:cNvSpPr txBox="1"/>
          <p:nvPr/>
        </p:nvSpPr>
        <p:spPr>
          <a:xfrm>
            <a:off x="566928"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Delhi High Court (Retd.)</a:t>
            </a:r>
          </a:p>
        </p:txBody>
      </p:sp>
      <p:pic>
        <p:nvPicPr>
          <p:cNvPr id="20" name="Picture 19" descr="damle.png_0.70x0.70_0.10.jpg"/>
          <p:cNvPicPr>
            <a:picLocks noChangeAspect="1"/>
          </p:cNvPicPr>
          <p:nvPr/>
        </p:nvPicPr>
        <p:blipFill>
          <a:blip r:embed="rId4"/>
          <a:stretch>
            <a:fillRect/>
          </a:stretch>
        </p:blipFill>
        <p:spPr>
          <a:xfrm>
            <a:off x="3017520" y="2999232"/>
            <a:ext cx="640080" cy="640080"/>
          </a:xfrm>
          <a:prstGeom prst="rect">
            <a:avLst/>
          </a:prstGeom>
        </p:spPr>
      </p:pic>
      <p:sp>
        <p:nvSpPr>
          <p:cNvPr id="21" name="TextBox 20"/>
          <p:cNvSpPr txBox="1"/>
          <p:nvPr/>
        </p:nvSpPr>
        <p:spPr>
          <a:xfrm>
            <a:off x="2432304"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Abhay Damle</a:t>
            </a:r>
          </a:p>
        </p:txBody>
      </p:sp>
      <p:sp>
        <p:nvSpPr>
          <p:cNvPr id="22" name="TextBox 21"/>
          <p:cNvSpPr txBox="1"/>
          <p:nvPr/>
        </p:nvSpPr>
        <p:spPr>
          <a:xfrm>
            <a:off x="2432304"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Ex-JS, MoRTH</a:t>
            </a:r>
          </a:p>
        </p:txBody>
      </p:sp>
      <p:pic>
        <p:nvPicPr>
          <p:cNvPr id="23" name="Picture 22" descr="dange.png_0.70x0.70_0.10.jpg"/>
          <p:cNvPicPr>
            <a:picLocks noChangeAspect="1"/>
          </p:cNvPicPr>
          <p:nvPr/>
        </p:nvPicPr>
        <p:blipFill>
          <a:blip r:embed="rId5"/>
          <a:stretch>
            <a:fillRect/>
          </a:stretch>
        </p:blipFill>
        <p:spPr>
          <a:xfrm>
            <a:off x="4882896" y="2999232"/>
            <a:ext cx="640080" cy="640080"/>
          </a:xfrm>
          <a:prstGeom prst="rect">
            <a:avLst/>
          </a:prstGeom>
        </p:spPr>
      </p:pic>
      <p:sp>
        <p:nvSpPr>
          <p:cNvPr id="24" name="TextBox 23"/>
          <p:cNvSpPr txBox="1"/>
          <p:nvPr/>
        </p:nvSpPr>
        <p:spPr>
          <a:xfrm>
            <a:off x="4297680"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Vaibhav Dange</a:t>
            </a:r>
          </a:p>
        </p:txBody>
      </p:sp>
      <p:sp>
        <p:nvSpPr>
          <p:cNvPr id="25" name="TextBox 24"/>
          <p:cNvSpPr txBox="1"/>
          <p:nvPr/>
        </p:nvSpPr>
        <p:spPr>
          <a:xfrm>
            <a:off x="4297680"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Ex-Advisor, MoRTH</a:t>
            </a:r>
          </a:p>
        </p:txBody>
      </p:sp>
      <p:pic>
        <p:nvPicPr>
          <p:cNvPr id="26" name="Picture 25" descr="tandon.png_0.70x0.70_0.10.jpg"/>
          <p:cNvPicPr>
            <a:picLocks noChangeAspect="1"/>
          </p:cNvPicPr>
          <p:nvPr/>
        </p:nvPicPr>
        <p:blipFill>
          <a:blip r:embed="rId6"/>
          <a:stretch>
            <a:fillRect/>
          </a:stretch>
        </p:blipFill>
        <p:spPr>
          <a:xfrm>
            <a:off x="6748272" y="2999232"/>
            <a:ext cx="640080" cy="640080"/>
          </a:xfrm>
          <a:prstGeom prst="rect">
            <a:avLst/>
          </a:prstGeom>
        </p:spPr>
      </p:pic>
      <p:sp>
        <p:nvSpPr>
          <p:cNvPr id="27" name="TextBox 26"/>
          <p:cNvSpPr txBox="1"/>
          <p:nvPr/>
        </p:nvSpPr>
        <p:spPr>
          <a:xfrm>
            <a:off x="6163056"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Dr. Maya Tandon</a:t>
            </a:r>
          </a:p>
        </p:txBody>
      </p:sp>
      <p:sp>
        <p:nvSpPr>
          <p:cNvPr id="28" name="TextBox 27"/>
          <p:cNvSpPr txBox="1"/>
          <p:nvPr/>
        </p:nvSpPr>
        <p:spPr>
          <a:xfrm>
            <a:off x="6163056"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Sahayta Trust</a:t>
            </a:r>
          </a:p>
        </p:txBody>
      </p:sp>
      <p:pic>
        <p:nvPicPr>
          <p:cNvPr id="29" name="Picture 28" descr="ratnam.png_0.70x0.70_0.10.jpg"/>
          <p:cNvPicPr>
            <a:picLocks noChangeAspect="1"/>
          </p:cNvPicPr>
          <p:nvPr/>
        </p:nvPicPr>
        <p:blipFill>
          <a:blip r:embed="rId7"/>
          <a:stretch>
            <a:fillRect/>
          </a:stretch>
        </p:blipFill>
        <p:spPr>
          <a:xfrm>
            <a:off x="8613648" y="2999232"/>
            <a:ext cx="640080" cy="640080"/>
          </a:xfrm>
          <a:prstGeom prst="rect">
            <a:avLst/>
          </a:prstGeom>
        </p:spPr>
      </p:pic>
      <p:sp>
        <p:nvSpPr>
          <p:cNvPr id="30" name="TextBox 29"/>
          <p:cNvSpPr txBox="1"/>
          <p:nvPr/>
        </p:nvSpPr>
        <p:spPr>
          <a:xfrm>
            <a:off x="8028432"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 Venkat Ratnam</a:t>
            </a:r>
          </a:p>
        </p:txBody>
      </p:sp>
      <p:sp>
        <p:nvSpPr>
          <p:cNvPr id="31" name="TextBox 30"/>
          <p:cNvSpPr txBox="1"/>
          <p:nvPr/>
        </p:nvSpPr>
        <p:spPr>
          <a:xfrm>
            <a:off x="8028432"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Government of Punjab</a:t>
            </a:r>
          </a:p>
        </p:txBody>
      </p:sp>
      <p:pic>
        <p:nvPicPr>
          <p:cNvPr id="32" name="Picture 31" descr="asrivastava.png_0.70x0.70_0.10.jpg"/>
          <p:cNvPicPr>
            <a:picLocks noChangeAspect="1"/>
          </p:cNvPicPr>
          <p:nvPr/>
        </p:nvPicPr>
        <p:blipFill>
          <a:blip r:embed="rId8"/>
          <a:stretch>
            <a:fillRect/>
          </a:stretch>
        </p:blipFill>
        <p:spPr>
          <a:xfrm>
            <a:off x="10479024" y="2999232"/>
            <a:ext cx="640080" cy="640080"/>
          </a:xfrm>
          <a:prstGeom prst="rect">
            <a:avLst/>
          </a:prstGeom>
        </p:spPr>
      </p:pic>
      <p:sp>
        <p:nvSpPr>
          <p:cNvPr id="33" name="TextBox 32"/>
          <p:cNvSpPr txBox="1"/>
          <p:nvPr/>
        </p:nvSpPr>
        <p:spPr>
          <a:xfrm>
            <a:off x="9893808" y="3675888"/>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Akhilesh Srivastava</a:t>
            </a:r>
          </a:p>
        </p:txBody>
      </p:sp>
      <p:sp>
        <p:nvSpPr>
          <p:cNvPr id="34" name="TextBox 33"/>
          <p:cNvSpPr txBox="1"/>
          <p:nvPr/>
        </p:nvSpPr>
        <p:spPr>
          <a:xfrm>
            <a:off x="9893808" y="3867912"/>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ITS India · IRF</a:t>
            </a:r>
          </a:p>
        </p:txBody>
      </p:sp>
      <p:pic>
        <p:nvPicPr>
          <p:cNvPr id="35" name="Picture 34" descr="gsingh.png_0.70x0.70_0.10.jpg"/>
          <p:cNvPicPr>
            <a:picLocks noChangeAspect="1"/>
          </p:cNvPicPr>
          <p:nvPr/>
        </p:nvPicPr>
        <p:blipFill>
          <a:blip r:embed="rId9"/>
          <a:stretch>
            <a:fillRect/>
          </a:stretch>
        </p:blipFill>
        <p:spPr>
          <a:xfrm>
            <a:off x="1152144" y="4206240"/>
            <a:ext cx="640080" cy="640080"/>
          </a:xfrm>
          <a:prstGeom prst="rect">
            <a:avLst/>
          </a:prstGeom>
        </p:spPr>
      </p:pic>
      <p:sp>
        <p:nvSpPr>
          <p:cNvPr id="36" name="TextBox 35"/>
          <p:cNvSpPr txBox="1"/>
          <p:nvPr/>
        </p:nvSpPr>
        <p:spPr>
          <a:xfrm>
            <a:off x="566928"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Gautam Singh</a:t>
            </a:r>
          </a:p>
        </p:txBody>
      </p:sp>
      <p:sp>
        <p:nvSpPr>
          <p:cNvPr id="37" name="TextBox 36"/>
          <p:cNvSpPr txBox="1"/>
          <p:nvPr/>
        </p:nvSpPr>
        <p:spPr>
          <a:xfrm>
            <a:off x="566928"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SaveLIFE Foundation</a:t>
            </a:r>
          </a:p>
        </p:txBody>
      </p:sp>
      <p:pic>
        <p:nvPicPr>
          <p:cNvPr id="38" name="Picture 37" descr="raman.png_0.70x0.70_0.10.jpg"/>
          <p:cNvPicPr>
            <a:picLocks noChangeAspect="1"/>
          </p:cNvPicPr>
          <p:nvPr/>
        </p:nvPicPr>
        <p:blipFill>
          <a:blip r:embed="rId10"/>
          <a:stretch>
            <a:fillRect/>
          </a:stretch>
        </p:blipFill>
        <p:spPr>
          <a:xfrm>
            <a:off x="3017520" y="4206240"/>
            <a:ext cx="640080" cy="640080"/>
          </a:xfrm>
          <a:prstGeom prst="rect">
            <a:avLst/>
          </a:prstGeom>
        </p:spPr>
      </p:pic>
      <p:sp>
        <p:nvSpPr>
          <p:cNvPr id="39" name="TextBox 38"/>
          <p:cNvSpPr txBox="1"/>
          <p:nvPr/>
        </p:nvSpPr>
        <p:spPr>
          <a:xfrm>
            <a:off x="2432304"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Aishwarya Raman</a:t>
            </a:r>
          </a:p>
        </p:txBody>
      </p:sp>
      <p:sp>
        <p:nvSpPr>
          <p:cNvPr id="40" name="TextBox 39"/>
          <p:cNvSpPr txBox="1"/>
          <p:nvPr/>
        </p:nvSpPr>
        <p:spPr>
          <a:xfrm>
            <a:off x="2432304"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OMI Foundation</a:t>
            </a:r>
          </a:p>
        </p:txBody>
      </p:sp>
      <p:pic>
        <p:nvPicPr>
          <p:cNvPr id="41" name="Picture 40" descr="nkumar.png_0.70x0.70_0.10.jpg"/>
          <p:cNvPicPr>
            <a:picLocks noChangeAspect="1"/>
          </p:cNvPicPr>
          <p:nvPr/>
        </p:nvPicPr>
        <p:blipFill>
          <a:blip r:embed="rId11"/>
          <a:stretch>
            <a:fillRect/>
          </a:stretch>
        </p:blipFill>
        <p:spPr>
          <a:xfrm>
            <a:off x="4882896" y="4206240"/>
            <a:ext cx="640080" cy="640080"/>
          </a:xfrm>
          <a:prstGeom prst="rect">
            <a:avLst/>
          </a:prstGeom>
        </p:spPr>
      </p:pic>
      <p:sp>
        <p:nvSpPr>
          <p:cNvPr id="42" name="TextBox 41"/>
          <p:cNvSpPr txBox="1"/>
          <p:nvPr/>
        </p:nvSpPr>
        <p:spPr>
          <a:xfrm>
            <a:off x="4297680"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Neeraj Kumar</a:t>
            </a:r>
          </a:p>
        </p:txBody>
      </p:sp>
      <p:sp>
        <p:nvSpPr>
          <p:cNvPr id="43" name="TextBox 42"/>
          <p:cNvSpPr txBox="1"/>
          <p:nvPr/>
        </p:nvSpPr>
        <p:spPr>
          <a:xfrm>
            <a:off x="4297680"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Tata AIG</a:t>
            </a:r>
          </a:p>
        </p:txBody>
      </p:sp>
      <p:pic>
        <p:nvPicPr>
          <p:cNvPr id="44" name="Picture 43" descr="pandey.png_0.70x0.70_0.10.jpg"/>
          <p:cNvPicPr>
            <a:picLocks noChangeAspect="1"/>
          </p:cNvPicPr>
          <p:nvPr/>
        </p:nvPicPr>
        <p:blipFill>
          <a:blip r:embed="rId12"/>
          <a:stretch>
            <a:fillRect/>
          </a:stretch>
        </p:blipFill>
        <p:spPr>
          <a:xfrm>
            <a:off x="6748272" y="4206240"/>
            <a:ext cx="640080" cy="640080"/>
          </a:xfrm>
          <a:prstGeom prst="rect">
            <a:avLst/>
          </a:prstGeom>
        </p:spPr>
      </p:pic>
      <p:sp>
        <p:nvSpPr>
          <p:cNvPr id="45" name="TextBox 44"/>
          <p:cNvSpPr txBox="1"/>
          <p:nvPr/>
        </p:nvSpPr>
        <p:spPr>
          <a:xfrm>
            <a:off x="6163056"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R.S. Pandey</a:t>
            </a:r>
          </a:p>
        </p:txBody>
      </p:sp>
      <p:sp>
        <p:nvSpPr>
          <p:cNvPr id="46" name="TextBox 45"/>
          <p:cNvSpPr txBox="1"/>
          <p:nvPr/>
        </p:nvSpPr>
        <p:spPr>
          <a:xfrm>
            <a:off x="6163056"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FICCI Road Safety</a:t>
            </a:r>
          </a:p>
        </p:txBody>
      </p:sp>
      <p:pic>
        <p:nvPicPr>
          <p:cNvPr id="47" name="Picture 46" descr="dash.png_0.70x0.70_0.10.jpg"/>
          <p:cNvPicPr>
            <a:picLocks noChangeAspect="1"/>
          </p:cNvPicPr>
          <p:nvPr/>
        </p:nvPicPr>
        <p:blipFill>
          <a:blip r:embed="rId13"/>
          <a:stretch>
            <a:fillRect/>
          </a:stretch>
        </p:blipFill>
        <p:spPr>
          <a:xfrm>
            <a:off x="8613648" y="4206240"/>
            <a:ext cx="640080" cy="640080"/>
          </a:xfrm>
          <a:prstGeom prst="rect">
            <a:avLst/>
          </a:prstGeom>
        </p:spPr>
      </p:pic>
      <p:sp>
        <p:nvSpPr>
          <p:cNvPr id="48" name="TextBox 47"/>
          <p:cNvSpPr txBox="1"/>
          <p:nvPr/>
        </p:nvSpPr>
        <p:spPr>
          <a:xfrm>
            <a:off x="8028432" y="4882896"/>
            <a:ext cx="1773936"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Dipak K. Dash</a:t>
            </a:r>
          </a:p>
        </p:txBody>
      </p:sp>
      <p:sp>
        <p:nvSpPr>
          <p:cNvPr id="49" name="TextBox 48"/>
          <p:cNvSpPr txBox="1"/>
          <p:nvPr/>
        </p:nvSpPr>
        <p:spPr>
          <a:xfrm>
            <a:off x="8028432" y="5074920"/>
            <a:ext cx="1773936"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Times of India</a:t>
            </a:r>
          </a:p>
        </p:txBody>
      </p:sp>
      <p:sp>
        <p:nvSpPr>
          <p:cNvPr id="50" name="Rounded Rectangle 49"/>
          <p:cNvSpPr/>
          <p:nvPr/>
        </p:nvSpPr>
        <p:spPr>
          <a:xfrm>
            <a:off x="566928" y="5559552"/>
            <a:ext cx="11057839" cy="621792"/>
          </a:xfrm>
          <a:prstGeom prst="roundRect">
            <a:avLst>
              <a:gd name="adj" fmla="val 14000"/>
            </a:avLst>
          </a:prstGeom>
          <a:solidFill>
            <a:srgbClr val="F7F7FA"/>
          </a:solidFill>
          <a:ln>
            <a:noFill/>
          </a:ln>
          <a:effectLst/>
        </p:spPr>
        <p:txBody>
          <a:bodyPr rtlCol="0" anchor="ctr"/>
          <a:lstStyle/>
          <a:p>
            <a:pPr algn="ctr"/>
          </a:p>
        </p:txBody>
      </p:sp>
      <p:sp>
        <p:nvSpPr>
          <p:cNvPr id="51" name="TextBox 50"/>
          <p:cNvSpPr txBox="1"/>
          <p:nvPr/>
        </p:nvSpPr>
        <p:spPr>
          <a:xfrm>
            <a:off x="768096" y="5623560"/>
            <a:ext cx="10646359" cy="502920"/>
          </a:xfrm>
          <a:prstGeom prst="rect">
            <a:avLst/>
          </a:prstGeom>
          <a:noFill/>
        </p:spPr>
        <p:txBody>
          <a:bodyPr wrap="square" lIns="0" rIns="0" tIns="0" bIns="0" anchor="t">
            <a:spAutoFit/>
          </a:bodyPr>
          <a:lstStyle/>
          <a:p>
            <a:pPr algn="l">
              <a:lnSpc>
                <a:spcPct val="125000"/>
              </a:lnSpc>
            </a:pPr>
            <a:r>
              <a:rPr sz="900" b="1" i="0">
                <a:solidFill>
                  <a:srgbClr val="16181D"/>
                </a:solidFill>
                <a:latin typeface="Geist"/>
              </a:rPr>
              <a:t>Engaged through the National Road Safety Dialogue Series: </a:t>
            </a:r>
            <a:r>
              <a:rPr sz="900" b="0" i="0">
                <a:solidFill>
                  <a:srgbClr val="6E7180"/>
                </a:solidFill>
                <a:latin typeface="Geist"/>
              </a:rPr>
              <a:t>Balraj Bhanot (ex-Chair, CMVR-TSC) · I.V. Rao (TERI; ex-Maruti Suzuki) · D.P. Saste (CIRT / ex-MoRTH) · Dr. Sushma Sagar (AIIMS Trauma) · Dr. S. Velmurugan (CSIR-CRRI) — and jurors from OMI, NIUA, WRI, CII and Tata AIG.</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16 / 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 THE PROBLEM, MEASURED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Compensation pendency, </a:t>
            </a:r>
            <a:r>
              <a:rPr sz="2250" b="1" i="0">
                <a:solidFill>
                  <a:srgbClr val="4A35FF"/>
                </a:solidFill>
                <a:latin typeface="Montserrat"/>
              </a:rPr>
              <a:t>in numbers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Families and courts both lose to process friction. This is a pipeline problem — and pipelines can be fixed with standards and visibility.</a:t>
            </a:r>
          </a:p>
        </p:txBody>
      </p:sp>
      <p:sp>
        <p:nvSpPr>
          <p:cNvPr id="8" name="Rounded Rectangle 7"/>
          <p:cNvSpPr/>
          <p:nvPr/>
        </p:nvSpPr>
        <p:spPr>
          <a:xfrm>
            <a:off x="566928" y="2148840"/>
            <a:ext cx="3611880" cy="1243584"/>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31520" y="2258568"/>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₹80,000+ Cr</a:t>
            </a:r>
          </a:p>
        </p:txBody>
      </p:sp>
      <p:sp>
        <p:nvSpPr>
          <p:cNvPr id="10" name="TextBox 9"/>
          <p:cNvSpPr txBox="1"/>
          <p:nvPr/>
        </p:nvSpPr>
        <p:spPr>
          <a:xfrm>
            <a:off x="731520" y="27340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held up across 10.46 lakh pending MACT cases nationally</a:t>
            </a:r>
          </a:p>
        </p:txBody>
      </p:sp>
      <p:sp>
        <p:nvSpPr>
          <p:cNvPr id="11" name="Rounded Rectangle 10"/>
          <p:cNvSpPr/>
          <p:nvPr/>
        </p:nvSpPr>
        <p:spPr>
          <a:xfrm>
            <a:off x="4288536" y="2148840"/>
            <a:ext cx="3611880" cy="1243584"/>
          </a:xfrm>
          <a:prstGeom prst="roundRect">
            <a:avLst>
              <a:gd name="adj" fmla="val 8000"/>
            </a:avLst>
          </a:prstGeom>
          <a:solidFill>
            <a:srgbClr val="F7F7FA"/>
          </a:solidFill>
          <a:ln>
            <a:noFill/>
          </a:ln>
          <a:effectLst/>
        </p:spPr>
        <p:txBody>
          <a:bodyPr rtlCol="0" anchor="ctr"/>
          <a:lstStyle/>
          <a:p>
            <a:pPr algn="ctr"/>
          </a:p>
        </p:txBody>
      </p:sp>
      <p:sp>
        <p:nvSpPr>
          <p:cNvPr id="12" name="TextBox 11"/>
          <p:cNvSpPr txBox="1"/>
          <p:nvPr/>
        </p:nvSpPr>
        <p:spPr>
          <a:xfrm>
            <a:off x="4453128" y="2258568"/>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11 lakh</a:t>
            </a:r>
          </a:p>
        </p:txBody>
      </p:sp>
      <p:sp>
        <p:nvSpPr>
          <p:cNvPr id="13" name="TextBox 12"/>
          <p:cNvSpPr txBox="1"/>
          <p:nvPr/>
        </p:nvSpPr>
        <p:spPr>
          <a:xfrm>
            <a:off x="4453128" y="27340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claims pending in MACT courts (FY 2023)</a:t>
            </a:r>
          </a:p>
        </p:txBody>
      </p:sp>
      <p:sp>
        <p:nvSpPr>
          <p:cNvPr id="14" name="Rounded Rectangle 13"/>
          <p:cNvSpPr/>
          <p:nvPr/>
        </p:nvSpPr>
        <p:spPr>
          <a:xfrm>
            <a:off x="8010144" y="2148840"/>
            <a:ext cx="3611880" cy="1243584"/>
          </a:xfrm>
          <a:prstGeom prst="roundRect">
            <a:avLst>
              <a:gd name="adj" fmla="val 8000"/>
            </a:avLst>
          </a:prstGeom>
          <a:solidFill>
            <a:srgbClr val="F7F7FA"/>
          </a:solidFill>
          <a:ln>
            <a:noFill/>
          </a:ln>
          <a:effectLst/>
        </p:spPr>
        <p:txBody>
          <a:bodyPr rtlCol="0" anchor="ctr"/>
          <a:lstStyle/>
          <a:p>
            <a:pPr algn="ctr"/>
          </a:p>
        </p:txBody>
      </p:sp>
      <p:sp>
        <p:nvSpPr>
          <p:cNvPr id="15" name="TextBox 14"/>
          <p:cNvSpPr txBox="1"/>
          <p:nvPr/>
        </p:nvSpPr>
        <p:spPr>
          <a:xfrm>
            <a:off x="8174736" y="2258568"/>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3.6 years</a:t>
            </a:r>
          </a:p>
        </p:txBody>
      </p:sp>
      <p:sp>
        <p:nvSpPr>
          <p:cNvPr id="16" name="TextBox 15"/>
          <p:cNvSpPr txBox="1"/>
          <p:nvPr/>
        </p:nvSpPr>
        <p:spPr>
          <a:xfrm>
            <a:off x="8174736" y="27340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average time to settlement — for those who persist</a:t>
            </a:r>
          </a:p>
        </p:txBody>
      </p:sp>
      <p:sp>
        <p:nvSpPr>
          <p:cNvPr id="17" name="Rounded Rectangle 16"/>
          <p:cNvSpPr/>
          <p:nvPr/>
        </p:nvSpPr>
        <p:spPr>
          <a:xfrm>
            <a:off x="566928" y="3520440"/>
            <a:ext cx="3611880" cy="1243584"/>
          </a:xfrm>
          <a:prstGeom prst="roundRect">
            <a:avLst>
              <a:gd name="adj" fmla="val 8000"/>
            </a:avLst>
          </a:prstGeom>
          <a:solidFill>
            <a:srgbClr val="F7F7FA"/>
          </a:solidFill>
          <a:ln>
            <a:noFill/>
          </a:ln>
          <a:effectLst/>
        </p:spPr>
        <p:txBody>
          <a:bodyPr rtlCol="0" anchor="ctr"/>
          <a:lstStyle/>
          <a:p>
            <a:pPr algn="ctr"/>
          </a:p>
        </p:txBody>
      </p:sp>
      <p:sp>
        <p:nvSpPr>
          <p:cNvPr id="18" name="TextBox 17"/>
          <p:cNvSpPr txBox="1"/>
          <p:nvPr/>
        </p:nvSpPr>
        <p:spPr>
          <a:xfrm>
            <a:off x="731520" y="3630168"/>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20–40</a:t>
            </a:r>
          </a:p>
        </p:txBody>
      </p:sp>
      <p:sp>
        <p:nvSpPr>
          <p:cNvPr id="19" name="TextBox 18"/>
          <p:cNvSpPr txBox="1"/>
          <p:nvPr/>
        </p:nvSpPr>
        <p:spPr>
          <a:xfrm>
            <a:off x="731520" y="41056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office visits to keep a single claim alive</a:t>
            </a:r>
          </a:p>
        </p:txBody>
      </p:sp>
      <p:sp>
        <p:nvSpPr>
          <p:cNvPr id="20" name="Rounded Rectangle 19"/>
          <p:cNvSpPr/>
          <p:nvPr/>
        </p:nvSpPr>
        <p:spPr>
          <a:xfrm>
            <a:off x="4288536" y="3520440"/>
            <a:ext cx="3611880" cy="1243584"/>
          </a:xfrm>
          <a:prstGeom prst="roundRect">
            <a:avLst>
              <a:gd name="adj" fmla="val 8000"/>
            </a:avLst>
          </a:prstGeom>
          <a:solidFill>
            <a:srgbClr val="F7F7FA"/>
          </a:solidFill>
          <a:ln>
            <a:noFill/>
          </a:ln>
          <a:effectLst/>
        </p:spPr>
        <p:txBody>
          <a:bodyPr rtlCol="0" anchor="ctr"/>
          <a:lstStyle/>
          <a:p>
            <a:pPr algn="ctr"/>
          </a:p>
        </p:txBody>
      </p:sp>
      <p:sp>
        <p:nvSpPr>
          <p:cNvPr id="21" name="TextBox 20"/>
          <p:cNvSpPr txBox="1"/>
          <p:nvPr/>
        </p:nvSpPr>
        <p:spPr>
          <a:xfrm>
            <a:off x="4453128" y="3630168"/>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&lt;5%</a:t>
            </a:r>
          </a:p>
        </p:txBody>
      </p:sp>
      <p:sp>
        <p:nvSpPr>
          <p:cNvPr id="22" name="TextBox 21"/>
          <p:cNvSpPr txBox="1"/>
          <p:nvPr/>
        </p:nvSpPr>
        <p:spPr>
          <a:xfrm>
            <a:off x="4453128" y="41056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of hit-and-run victims actually receive compensation</a:t>
            </a:r>
          </a:p>
        </p:txBody>
      </p:sp>
      <p:sp>
        <p:nvSpPr>
          <p:cNvPr id="23" name="Rounded Rectangle 22"/>
          <p:cNvSpPr/>
          <p:nvPr/>
        </p:nvSpPr>
        <p:spPr>
          <a:xfrm>
            <a:off x="8010144" y="3520440"/>
            <a:ext cx="3611880" cy="1243584"/>
          </a:xfrm>
          <a:prstGeom prst="roundRect">
            <a:avLst>
              <a:gd name="adj" fmla="val 8000"/>
            </a:avLst>
          </a:prstGeom>
          <a:solidFill>
            <a:srgbClr val="F7F7FA"/>
          </a:solidFill>
          <a:ln>
            <a:noFill/>
          </a:ln>
          <a:effectLst/>
        </p:spPr>
        <p:txBody>
          <a:bodyPr rtlCol="0" anchor="ctr"/>
          <a:lstStyle/>
          <a:p>
            <a:pPr algn="ctr"/>
          </a:p>
        </p:txBody>
      </p:sp>
      <p:sp>
        <p:nvSpPr>
          <p:cNvPr id="24" name="TextBox 23"/>
          <p:cNvSpPr txBox="1"/>
          <p:nvPr/>
        </p:nvSpPr>
        <p:spPr>
          <a:xfrm>
            <a:off x="8174736" y="3630168"/>
            <a:ext cx="3282696" cy="457200"/>
          </a:xfrm>
          <a:prstGeom prst="rect">
            <a:avLst/>
          </a:prstGeom>
          <a:noFill/>
        </p:spPr>
        <p:txBody>
          <a:bodyPr wrap="square" lIns="0" rIns="0" tIns="0" bIns="0" anchor="t">
            <a:spAutoFit/>
          </a:bodyPr>
          <a:lstStyle/>
          <a:p>
            <a:pPr algn="l">
              <a:lnSpc>
                <a:spcPct val="128000"/>
              </a:lnSpc>
            </a:pPr>
            <a:r>
              <a:rPr sz="2000" b="1" i="0">
                <a:solidFill>
                  <a:srgbClr val="E58900"/>
                </a:solidFill>
                <a:latin typeface="Montserrat"/>
              </a:rPr>
              <a:t>~₹986 Cr</a:t>
            </a:r>
          </a:p>
        </p:txBody>
      </p:sp>
      <p:sp>
        <p:nvSpPr>
          <p:cNvPr id="25" name="TextBox 24"/>
          <p:cNvSpPr txBox="1"/>
          <p:nvPr/>
        </p:nvSpPr>
        <p:spPr>
          <a:xfrm>
            <a:off x="8174736" y="4105656"/>
            <a:ext cx="3282696" cy="59436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awarded but unclaimed in MACT accounts, in just 5 cities</a:t>
            </a:r>
          </a:p>
        </p:txBody>
      </p:sp>
      <p:pic>
        <p:nvPicPr>
          <p:cNvPr id="26" name="Picture 25" descr="cov_deposited.png"/>
          <p:cNvPicPr>
            <a:picLocks noChangeAspect="1"/>
          </p:cNvPicPr>
          <p:nvPr/>
        </p:nvPicPr>
        <p:blipFill>
          <a:blip r:embed="rId2"/>
          <a:stretch>
            <a:fillRect/>
          </a:stretch>
        </p:blipFill>
        <p:spPr>
          <a:xfrm>
            <a:off x="9464040" y="5029200"/>
            <a:ext cx="871082" cy="1143000"/>
          </a:xfrm>
          <a:prstGeom prst="rect">
            <a:avLst/>
          </a:prstGeom>
        </p:spPr>
      </p:pic>
      <p:sp>
        <p:nvSpPr>
          <p:cNvPr id="27" name="Rectangle 26"/>
          <p:cNvSpPr/>
          <p:nvPr/>
        </p:nvSpPr>
        <p:spPr>
          <a:xfrm>
            <a:off x="9464040" y="5029200"/>
            <a:ext cx="871082" cy="1143000"/>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566928" y="5120640"/>
            <a:ext cx="9052560" cy="822960"/>
          </a:xfrm>
          <a:prstGeom prst="rect">
            <a:avLst/>
          </a:prstGeom>
          <a:noFill/>
        </p:spPr>
        <p:txBody>
          <a:bodyPr wrap="square" lIns="0" rIns="0" tIns="0" bIns="0" anchor="t">
            <a:spAutoFit/>
          </a:bodyPr>
          <a:lstStyle/>
          <a:p>
            <a:pPr algn="l">
              <a:lnSpc>
                <a:spcPct val="135000"/>
              </a:lnSpc>
            </a:pPr>
            <a:r>
              <a:rPr sz="1050" b="1" i="0">
                <a:solidFill>
                  <a:srgbClr val="16181D"/>
                </a:solidFill>
                <a:latin typeface="Geist"/>
              </a:rPr>
              <a:t>'Deposited But Not Delivered' </a:t>
            </a:r>
            <a:r>
              <a:rPr sz="1050" b="0" i="0">
                <a:solidFill>
                  <a:srgbClr val="6E7180"/>
                </a:solidFill>
                <a:latin typeface="Geist"/>
              </a:rPr>
              <a:t>— our research brief on court-awarded money that never reaches families — maps exactly where the pipeline leaks: awareness, documents, traceability, and the hand-offs between offices.</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17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 OUR RESEARCH FOUNDATION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'Justice Unserved' — </a:t>
            </a:r>
            <a:r>
              <a:rPr sz="2250" b="1" i="0">
                <a:solidFill>
                  <a:srgbClr val="4A35FF"/>
                </a:solidFill>
                <a:latin typeface="Montserrat"/>
              </a:rPr>
              <a:t>the evidence base</a:t>
            </a:r>
            <a:r>
              <a:rPr sz="2250" b="1" i="0">
                <a:solidFill>
                  <a:srgbClr val="16181D"/>
                </a:solidFill>
                <a:latin typeface="Montserrat"/>
              </a:rPr>
              <a:t> we built first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Published January 2026 · launched at IIT Delhi · findings presented to MoRTH · covered by national press.</a:t>
            </a:r>
          </a:p>
        </p:txBody>
      </p:sp>
      <p:pic>
        <p:nvPicPr>
          <p:cNvPr id="8" name="Picture 7" descr="opt_comp_image1_1500.jpg"/>
          <p:cNvPicPr>
            <a:picLocks noChangeAspect="1"/>
          </p:cNvPicPr>
          <p:nvPr/>
        </p:nvPicPr>
        <p:blipFill>
          <a:blip r:embed="rId2"/>
          <a:stretch>
            <a:fillRect/>
          </a:stretch>
        </p:blipFill>
        <p:spPr>
          <a:xfrm>
            <a:off x="566928" y="1965960"/>
            <a:ext cx="2514600" cy="3244842"/>
          </a:xfrm>
          <a:prstGeom prst="rect">
            <a:avLst/>
          </a:prstGeom>
        </p:spPr>
      </p:pic>
      <p:sp>
        <p:nvSpPr>
          <p:cNvPr id="9" name="Rectangle 8"/>
          <p:cNvSpPr/>
          <p:nvPr/>
        </p:nvSpPr>
        <p:spPr>
          <a:xfrm>
            <a:off x="566928" y="1965960"/>
            <a:ext cx="2514600" cy="3244842"/>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56522"/>
            <a:ext cx="25146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The report — file reviews, RTIs and</a:t>
            </a:r>
          </a:p>
          <a:p>
            <a:pPr algn="l">
              <a:lnSpc>
                <a:spcPct val="110000"/>
              </a:lnSpc>
            </a:pPr>
            <a:r>
              <a:rPr sz="850" b="0" i="0">
                <a:solidFill>
                  <a:srgbClr val="6E7180"/>
                </a:solidFill>
                <a:latin typeface="Geist"/>
              </a:rPr>
              <a:t>consultations across the pipeline.</a:t>
            </a:r>
          </a:p>
        </p:txBody>
      </p:sp>
      <p:sp>
        <p:nvSpPr>
          <p:cNvPr id="11" name="Oval 10"/>
          <p:cNvSpPr/>
          <p:nvPr/>
        </p:nvSpPr>
        <p:spPr>
          <a:xfrm>
            <a:off x="3611880" y="1965960"/>
            <a:ext cx="365760" cy="365760"/>
          </a:xfrm>
          <a:prstGeom prst="ellipse">
            <a:avLst/>
          </a:prstGeom>
          <a:solidFill>
            <a:srgbClr val="FDF3E3"/>
          </a:solidFill>
          <a:ln>
            <a:noFill/>
          </a:ln>
          <a:effectLst/>
        </p:spPr>
        <p:txBody>
          <a:bodyPr rtlCol="0" anchor="ctr"/>
          <a:lstStyle/>
          <a:p>
            <a:pPr algn="ctr"/>
          </a:p>
        </p:txBody>
      </p:sp>
      <p:pic>
        <p:nvPicPr>
          <p:cNvPr id="12" name="Picture 11" descr="megaphone_E58900_256_2.0.png"/>
          <p:cNvPicPr>
            <a:picLocks noChangeAspect="1"/>
          </p:cNvPicPr>
          <p:nvPr/>
        </p:nvPicPr>
        <p:blipFill>
          <a:blip r:embed="rId3"/>
          <a:stretch>
            <a:fillRect/>
          </a:stretch>
        </p:blipFill>
        <p:spPr>
          <a:xfrm>
            <a:off x="3699662" y="2053742"/>
            <a:ext cx="190195" cy="190195"/>
          </a:xfrm>
          <a:prstGeom prst="rect">
            <a:avLst/>
          </a:prstGeom>
        </p:spPr>
      </p:pic>
      <p:sp>
        <p:nvSpPr>
          <p:cNvPr id="13" name="TextBox 12"/>
          <p:cNvSpPr txBox="1"/>
          <p:nvPr/>
        </p:nvSpPr>
        <p:spPr>
          <a:xfrm>
            <a:off x="4114800" y="1947672"/>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Awareness</a:t>
            </a:r>
          </a:p>
        </p:txBody>
      </p:sp>
      <p:sp>
        <p:nvSpPr>
          <p:cNvPr id="14" name="TextBox 13"/>
          <p:cNvSpPr txBox="1"/>
          <p:nvPr/>
        </p:nvSpPr>
        <p:spPr>
          <a:xfrm>
            <a:off x="5696711" y="1947672"/>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70% of low-income families are unaware compensation exists.</a:t>
            </a:r>
          </a:p>
        </p:txBody>
      </p:sp>
      <p:sp>
        <p:nvSpPr>
          <p:cNvPr id="15" name="Oval 14"/>
          <p:cNvSpPr/>
          <p:nvPr/>
        </p:nvSpPr>
        <p:spPr>
          <a:xfrm>
            <a:off x="3611880" y="2624328"/>
            <a:ext cx="365760" cy="365760"/>
          </a:xfrm>
          <a:prstGeom prst="ellipse">
            <a:avLst/>
          </a:prstGeom>
          <a:solidFill>
            <a:srgbClr val="FDF3E3"/>
          </a:solidFill>
          <a:ln>
            <a:noFill/>
          </a:ln>
          <a:effectLst/>
        </p:spPr>
        <p:txBody>
          <a:bodyPr rtlCol="0" anchor="ctr"/>
          <a:lstStyle/>
          <a:p>
            <a:pPr algn="ctr"/>
          </a:p>
        </p:txBody>
      </p:sp>
      <p:pic>
        <p:nvPicPr>
          <p:cNvPr id="16" name="Picture 15" descr="clock_E58900_256_2.0.png"/>
          <p:cNvPicPr>
            <a:picLocks noChangeAspect="1"/>
          </p:cNvPicPr>
          <p:nvPr/>
        </p:nvPicPr>
        <p:blipFill>
          <a:blip r:embed="rId4"/>
          <a:stretch>
            <a:fillRect/>
          </a:stretch>
        </p:blipFill>
        <p:spPr>
          <a:xfrm>
            <a:off x="3699662" y="2712110"/>
            <a:ext cx="190195" cy="190195"/>
          </a:xfrm>
          <a:prstGeom prst="rect">
            <a:avLst/>
          </a:prstGeom>
        </p:spPr>
      </p:pic>
      <p:sp>
        <p:nvSpPr>
          <p:cNvPr id="17" name="TextBox 16"/>
          <p:cNvSpPr txBox="1"/>
          <p:nvPr/>
        </p:nvSpPr>
        <p:spPr>
          <a:xfrm>
            <a:off x="4114800" y="2606040"/>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Timeliness</a:t>
            </a:r>
          </a:p>
        </p:txBody>
      </p:sp>
      <p:sp>
        <p:nvSpPr>
          <p:cNvPr id="18" name="TextBox 17"/>
          <p:cNvSpPr txBox="1"/>
          <p:nvPr/>
        </p:nvSpPr>
        <p:spPr>
          <a:xfrm>
            <a:off x="5696711" y="2606040"/>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3.6-year average claim; MACT cases often run 8–10 years.</a:t>
            </a:r>
          </a:p>
        </p:txBody>
      </p:sp>
      <p:sp>
        <p:nvSpPr>
          <p:cNvPr id="19" name="Oval 18"/>
          <p:cNvSpPr/>
          <p:nvPr/>
        </p:nvSpPr>
        <p:spPr>
          <a:xfrm>
            <a:off x="3611880" y="3282696"/>
            <a:ext cx="365760" cy="365760"/>
          </a:xfrm>
          <a:prstGeom prst="ellipse">
            <a:avLst/>
          </a:prstGeom>
          <a:solidFill>
            <a:srgbClr val="FDF3E3"/>
          </a:solidFill>
          <a:ln>
            <a:noFill/>
          </a:ln>
          <a:effectLst/>
        </p:spPr>
        <p:txBody>
          <a:bodyPr rtlCol="0" anchor="ctr"/>
          <a:lstStyle/>
          <a:p>
            <a:pPr algn="ctr"/>
          </a:p>
        </p:txBody>
      </p:sp>
      <p:pic>
        <p:nvPicPr>
          <p:cNvPr id="20" name="Picture 19" descr="file-x_E58900_256_2.0.png"/>
          <p:cNvPicPr>
            <a:picLocks noChangeAspect="1"/>
          </p:cNvPicPr>
          <p:nvPr/>
        </p:nvPicPr>
        <p:blipFill>
          <a:blip r:embed="rId5"/>
          <a:stretch>
            <a:fillRect/>
          </a:stretch>
        </p:blipFill>
        <p:spPr>
          <a:xfrm>
            <a:off x="3699662" y="3370478"/>
            <a:ext cx="190195" cy="190195"/>
          </a:xfrm>
          <a:prstGeom prst="rect">
            <a:avLst/>
          </a:prstGeom>
        </p:spPr>
      </p:pic>
      <p:sp>
        <p:nvSpPr>
          <p:cNvPr id="21" name="TextBox 20"/>
          <p:cNvSpPr txBox="1"/>
          <p:nvPr/>
        </p:nvSpPr>
        <p:spPr>
          <a:xfrm>
            <a:off x="4114800" y="3264408"/>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Documentation</a:t>
            </a:r>
          </a:p>
        </p:txBody>
      </p:sp>
      <p:sp>
        <p:nvSpPr>
          <p:cNvPr id="22" name="TextBox 21"/>
          <p:cNvSpPr txBox="1"/>
          <p:nvPr/>
        </p:nvSpPr>
        <p:spPr>
          <a:xfrm>
            <a:off x="5696711" y="3264408"/>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90% of pending hit-and-run claims stall on documents alone.</a:t>
            </a:r>
          </a:p>
        </p:txBody>
      </p:sp>
      <p:sp>
        <p:nvSpPr>
          <p:cNvPr id="23" name="Oval 22"/>
          <p:cNvSpPr/>
          <p:nvPr/>
        </p:nvSpPr>
        <p:spPr>
          <a:xfrm>
            <a:off x="3611880" y="3941064"/>
            <a:ext cx="365760" cy="365760"/>
          </a:xfrm>
          <a:prstGeom prst="ellipse">
            <a:avLst/>
          </a:prstGeom>
          <a:solidFill>
            <a:srgbClr val="FDF3E3"/>
          </a:solidFill>
          <a:ln>
            <a:noFill/>
          </a:ln>
          <a:effectLst/>
        </p:spPr>
        <p:txBody>
          <a:bodyPr rtlCol="0" anchor="ctr"/>
          <a:lstStyle/>
          <a:p>
            <a:pPr algn="ctr"/>
          </a:p>
        </p:txBody>
      </p:sp>
      <p:pic>
        <p:nvPicPr>
          <p:cNvPr id="24" name="Picture 23" descr="scale_E58900_256_2.0.png"/>
          <p:cNvPicPr>
            <a:picLocks noChangeAspect="1"/>
          </p:cNvPicPr>
          <p:nvPr/>
        </p:nvPicPr>
        <p:blipFill>
          <a:blip r:embed="rId6"/>
          <a:stretch>
            <a:fillRect/>
          </a:stretch>
        </p:blipFill>
        <p:spPr>
          <a:xfrm>
            <a:off x="3699662" y="4028846"/>
            <a:ext cx="190195" cy="190195"/>
          </a:xfrm>
          <a:prstGeom prst="rect">
            <a:avLst/>
          </a:prstGeom>
        </p:spPr>
      </p:pic>
      <p:sp>
        <p:nvSpPr>
          <p:cNvPr id="25" name="TextBox 24"/>
          <p:cNvSpPr txBox="1"/>
          <p:nvPr/>
        </p:nvSpPr>
        <p:spPr>
          <a:xfrm>
            <a:off x="4114800" y="3922776"/>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Adequacy</a:t>
            </a:r>
          </a:p>
        </p:txBody>
      </p:sp>
      <p:sp>
        <p:nvSpPr>
          <p:cNvPr id="26" name="TextBox 25"/>
          <p:cNvSpPr txBox="1"/>
          <p:nvPr/>
        </p:nvSpPr>
        <p:spPr>
          <a:xfrm>
            <a:off x="5696711" y="3922776"/>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Informal workers are often valued at minimum wage in courts.</a:t>
            </a:r>
          </a:p>
        </p:txBody>
      </p:sp>
      <p:sp>
        <p:nvSpPr>
          <p:cNvPr id="27" name="Oval 26"/>
          <p:cNvSpPr/>
          <p:nvPr/>
        </p:nvSpPr>
        <p:spPr>
          <a:xfrm>
            <a:off x="3611880" y="4599432"/>
            <a:ext cx="365760" cy="365760"/>
          </a:xfrm>
          <a:prstGeom prst="ellipse">
            <a:avLst/>
          </a:prstGeom>
          <a:solidFill>
            <a:srgbClr val="FDF3E3"/>
          </a:solidFill>
          <a:ln>
            <a:noFill/>
          </a:ln>
          <a:effectLst/>
        </p:spPr>
        <p:txBody>
          <a:bodyPr rtlCol="0" anchor="ctr"/>
          <a:lstStyle/>
          <a:p>
            <a:pPr algn="ctr"/>
          </a:p>
        </p:txBody>
      </p:sp>
      <p:pic>
        <p:nvPicPr>
          <p:cNvPr id="28" name="Picture 27" descr="users_E58900_256_2.0.png"/>
          <p:cNvPicPr>
            <a:picLocks noChangeAspect="1"/>
          </p:cNvPicPr>
          <p:nvPr/>
        </p:nvPicPr>
        <p:blipFill>
          <a:blip r:embed="rId7"/>
          <a:stretch>
            <a:fillRect/>
          </a:stretch>
        </p:blipFill>
        <p:spPr>
          <a:xfrm>
            <a:off x="3699662" y="4687214"/>
            <a:ext cx="190195" cy="190195"/>
          </a:xfrm>
          <a:prstGeom prst="rect">
            <a:avLst/>
          </a:prstGeom>
        </p:spPr>
      </p:pic>
      <p:sp>
        <p:nvSpPr>
          <p:cNvPr id="29" name="TextBox 28"/>
          <p:cNvSpPr txBox="1"/>
          <p:nvPr/>
        </p:nvSpPr>
        <p:spPr>
          <a:xfrm>
            <a:off x="4114800" y="4581144"/>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Equity</a:t>
            </a:r>
          </a:p>
        </p:txBody>
      </p:sp>
      <p:sp>
        <p:nvSpPr>
          <p:cNvPr id="30" name="TextBox 29"/>
          <p:cNvSpPr txBox="1"/>
          <p:nvPr/>
        </p:nvSpPr>
        <p:spPr>
          <a:xfrm>
            <a:off x="5696711" y="4581144"/>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14% of low-income households compensated vs 24% of high-income.</a:t>
            </a:r>
          </a:p>
        </p:txBody>
      </p:sp>
      <p:sp>
        <p:nvSpPr>
          <p:cNvPr id="31" name="Rounded Rectangle 30"/>
          <p:cNvSpPr/>
          <p:nvPr/>
        </p:nvSpPr>
        <p:spPr>
          <a:xfrm>
            <a:off x="8275320" y="1965960"/>
            <a:ext cx="3337560" cy="3108960"/>
          </a:xfrm>
          <a:prstGeom prst="roundRect">
            <a:avLst>
              <a:gd name="adj" fmla="val 8000"/>
            </a:avLst>
          </a:prstGeom>
          <a:solidFill>
            <a:srgbClr val="F7F7FA"/>
          </a:solidFill>
          <a:ln>
            <a:noFill/>
          </a:ln>
          <a:effectLst/>
        </p:spPr>
        <p:txBody>
          <a:bodyPr rtlCol="0" anchor="ctr"/>
          <a:lstStyle/>
          <a:p>
            <a:pPr algn="ctr"/>
          </a:p>
        </p:txBody>
      </p:sp>
      <p:sp>
        <p:nvSpPr>
          <p:cNvPr id="32" name="TextBox 31"/>
          <p:cNvSpPr txBox="1"/>
          <p:nvPr/>
        </p:nvSpPr>
        <p:spPr>
          <a:xfrm>
            <a:off x="8503920" y="2240280"/>
            <a:ext cx="2880360" cy="822960"/>
          </a:xfrm>
          <a:prstGeom prst="rect">
            <a:avLst/>
          </a:prstGeom>
          <a:noFill/>
        </p:spPr>
        <p:txBody>
          <a:bodyPr wrap="square" lIns="0" rIns="0" tIns="0" bIns="0" anchor="t">
            <a:spAutoFit/>
          </a:bodyPr>
          <a:lstStyle/>
          <a:p>
            <a:pPr algn="l">
              <a:lnSpc>
                <a:spcPct val="128000"/>
              </a:lnSpc>
            </a:pPr>
            <a:r>
              <a:rPr sz="4400" b="1" i="0">
                <a:solidFill>
                  <a:srgbClr val="4A35FF"/>
                </a:solidFill>
                <a:latin typeface="Montserrat"/>
              </a:rPr>
              <a:t>&lt;5%</a:t>
            </a:r>
          </a:p>
        </p:txBody>
      </p:sp>
      <p:sp>
        <p:nvSpPr>
          <p:cNvPr id="33" name="TextBox 32"/>
          <p:cNvSpPr txBox="1"/>
          <p:nvPr/>
        </p:nvSpPr>
        <p:spPr>
          <a:xfrm>
            <a:off x="8503920" y="3108960"/>
            <a:ext cx="2880360" cy="777240"/>
          </a:xfrm>
          <a:prstGeom prst="rect">
            <a:avLst/>
          </a:prstGeom>
          <a:noFill/>
        </p:spPr>
        <p:txBody>
          <a:bodyPr wrap="square" lIns="0" rIns="0" tIns="0" bIns="0" anchor="t">
            <a:spAutoFit/>
          </a:bodyPr>
          <a:lstStyle/>
          <a:p>
            <a:pPr algn="l">
              <a:lnSpc>
                <a:spcPct val="130000"/>
              </a:lnSpc>
            </a:pPr>
            <a:r>
              <a:rPr sz="1100" b="0" i="0">
                <a:solidFill>
                  <a:srgbClr val="16181D"/>
                </a:solidFill>
                <a:latin typeface="Geist"/>
              </a:rPr>
              <a:t>of hit-and-run victims actually receive compensation under the scheme built for them.</a:t>
            </a:r>
          </a:p>
        </p:txBody>
      </p:sp>
      <p:sp>
        <p:nvSpPr>
          <p:cNvPr id="34" name="TextBox 33"/>
          <p:cNvSpPr txBox="1"/>
          <p:nvPr/>
        </p:nvSpPr>
        <p:spPr>
          <a:xfrm>
            <a:off x="8503920" y="3977639"/>
            <a:ext cx="2880360" cy="914400"/>
          </a:xfrm>
          <a:prstGeom prst="rect">
            <a:avLst/>
          </a:prstGeom>
          <a:noFill/>
        </p:spPr>
        <p:txBody>
          <a:bodyPr wrap="square" lIns="0" rIns="0" tIns="0" bIns="0" anchor="t">
            <a:spAutoFit/>
          </a:bodyPr>
          <a:lstStyle/>
          <a:p>
            <a:pPr algn="l">
              <a:lnSpc>
                <a:spcPct val="130000"/>
              </a:lnSpc>
            </a:pPr>
            <a:r>
              <a:rPr sz="950" b="0" i="0">
                <a:solidFill>
                  <a:srgbClr val="6E7180"/>
                </a:solidFill>
                <a:latin typeface="Geist"/>
              </a:rPr>
              <a:t>FY22-23: 205 claims filed against ~25,000 eligible crashes. Focused outreach lifted conversion to ~12% by FY23-24 — proof the pipeline responds.</a:t>
            </a:r>
          </a:p>
        </p:txBody>
      </p:sp>
      <p:sp>
        <p:nvSpPr>
          <p:cNvPr id="35" name="TextBox 34"/>
          <p:cNvSpPr txBox="1"/>
          <p:nvPr/>
        </p:nvSpPr>
        <p:spPr>
          <a:xfrm>
            <a:off x="566928" y="5577840"/>
            <a:ext cx="10972800" cy="457200"/>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Press: </a:t>
            </a:r>
            <a:r>
              <a:rPr sz="950" b="0" i="0">
                <a:solidFill>
                  <a:srgbClr val="6E7180"/>
                </a:solidFill>
                <a:latin typeface="Geist"/>
              </a:rPr>
              <a:t>Deccan Herald · Economic Times · Fortune India · IndiaSpend · Scroll.in · The Wire — and cited in Parliament-facing briefings.</a:t>
            </a:r>
          </a:p>
        </p:txBody>
      </p:sp>
      <p:cxnSp>
        <p:nvCxnSpPr>
          <p:cNvPr id="36" name="Connector 35"/>
          <p:cNvCxnSpPr/>
          <p:nvPr/>
        </p:nvCxnSpPr>
        <p:spPr>
          <a:xfrm>
            <a:off x="566928" y="6455664"/>
            <a:ext cx="11057839" cy="0"/>
          </a:xfrm>
          <a:prstGeom prst="line">
            <a:avLst/>
          </a:prstGeom>
          <a:ln w="9525">
            <a:solidFill>
              <a:srgbClr val="E8E9EE"/>
            </a:solidFill>
          </a:ln>
          <a:effectLst/>
        </p:spPr>
      </p:cxnSp>
      <p:sp>
        <p:nvSpPr>
          <p:cNvPr id="37" name="TextBox 36"/>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8" name="TextBox 37"/>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 FROM RESEARCH TO DISTRICTS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Working </a:t>
            </a:r>
            <a:r>
              <a:rPr sz="2250" b="1" i="0">
                <a:solidFill>
                  <a:srgbClr val="4A35FF"/>
                </a:solidFill>
                <a:latin typeface="Montserrat"/>
              </a:rPr>
              <a:t>inside the district machinery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Not commentary from outside — formal seats, formal tasking, files on the table.</a:t>
            </a:r>
          </a:p>
        </p:txBody>
      </p:sp>
      <p:sp>
        <p:nvSpPr>
          <p:cNvPr id="8" name="Oval 7"/>
          <p:cNvSpPr/>
          <p:nvPr/>
        </p:nvSpPr>
        <p:spPr>
          <a:xfrm>
            <a:off x="566928" y="2057400"/>
            <a:ext cx="365760" cy="365760"/>
          </a:xfrm>
          <a:prstGeom prst="ellipse">
            <a:avLst/>
          </a:prstGeom>
          <a:solidFill>
            <a:srgbClr val="EFEDFF"/>
          </a:solidFill>
          <a:ln>
            <a:noFill/>
          </a:ln>
          <a:effectLst/>
        </p:spPr>
        <p:txBody>
          <a:bodyPr rtlCol="0" anchor="ctr"/>
          <a:lstStyle/>
          <a:p>
            <a:pPr algn="ctr"/>
          </a:p>
        </p:txBody>
      </p:sp>
      <p:pic>
        <p:nvPicPr>
          <p:cNvPr id="9" name="Picture 8" descr="landmark_4A35FF_256_2.0.png"/>
          <p:cNvPicPr>
            <a:picLocks noChangeAspect="1"/>
          </p:cNvPicPr>
          <p:nvPr/>
        </p:nvPicPr>
        <p:blipFill>
          <a:blip r:embed="rId2"/>
          <a:stretch>
            <a:fillRect/>
          </a:stretch>
        </p:blipFill>
        <p:spPr>
          <a:xfrm>
            <a:off x="654710" y="2145182"/>
            <a:ext cx="190195" cy="190195"/>
          </a:xfrm>
          <a:prstGeom prst="rect">
            <a:avLst/>
          </a:prstGeom>
        </p:spPr>
      </p:pic>
      <p:sp>
        <p:nvSpPr>
          <p:cNvPr id="10" name="TextBox 9"/>
          <p:cNvSpPr txBox="1"/>
          <p:nvPr/>
        </p:nvSpPr>
        <p:spPr>
          <a:xfrm>
            <a:off x="1097280" y="20391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Four DRSCs joined</a:t>
            </a:r>
          </a:p>
        </p:txBody>
      </p:sp>
      <p:sp>
        <p:nvSpPr>
          <p:cNvPr id="11" name="TextBox 10"/>
          <p:cNvSpPr txBox="1"/>
          <p:nvPr/>
        </p:nvSpPr>
        <p:spPr>
          <a:xfrm>
            <a:off x="3566160" y="20391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Gurugram, South-West Delhi, North-West Delhi and Jaipur — with MoUs with Jaipur Traffic Police and Gurugram Police.</a:t>
            </a:r>
          </a:p>
        </p:txBody>
      </p:sp>
      <p:sp>
        <p:nvSpPr>
          <p:cNvPr id="12" name="Oval 11"/>
          <p:cNvSpPr/>
          <p:nvPr/>
        </p:nvSpPr>
        <p:spPr>
          <a:xfrm>
            <a:off x="566928" y="2971800"/>
            <a:ext cx="365760" cy="365760"/>
          </a:xfrm>
          <a:prstGeom prst="ellipse">
            <a:avLst/>
          </a:prstGeom>
          <a:solidFill>
            <a:srgbClr val="E7F4F4"/>
          </a:solidFill>
          <a:ln>
            <a:noFill/>
          </a:ln>
          <a:effectLst/>
        </p:spPr>
        <p:txBody>
          <a:bodyPr rtlCol="0" anchor="ctr"/>
          <a:lstStyle/>
          <a:p>
            <a:pPr algn="ctr"/>
          </a:p>
        </p:txBody>
      </p:sp>
      <p:pic>
        <p:nvPicPr>
          <p:cNvPr id="13" name="Picture 12" descr="folder-open_0E8A8A_256_2.0.png"/>
          <p:cNvPicPr>
            <a:picLocks noChangeAspect="1"/>
          </p:cNvPicPr>
          <p:nvPr/>
        </p:nvPicPr>
        <p:blipFill>
          <a:blip r:embed="rId3"/>
          <a:stretch>
            <a:fillRect/>
          </a:stretch>
        </p:blipFill>
        <p:spPr>
          <a:xfrm>
            <a:off x="654710" y="3059582"/>
            <a:ext cx="190195" cy="190195"/>
          </a:xfrm>
          <a:prstGeom prst="rect">
            <a:avLst/>
          </a:prstGeom>
        </p:spPr>
      </p:pic>
      <p:sp>
        <p:nvSpPr>
          <p:cNvPr id="14" name="TextBox 13"/>
          <p:cNvSpPr txBox="1"/>
          <p:nvPr/>
        </p:nvSpPr>
        <p:spPr>
          <a:xfrm>
            <a:off x="1097280" y="29535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File-level pipeline support</a:t>
            </a:r>
          </a:p>
        </p:txBody>
      </p:sp>
      <p:sp>
        <p:nvSpPr>
          <p:cNvPr id="15" name="TextBox 14"/>
          <p:cNvSpPr txBox="1"/>
          <p:nvPr/>
        </p:nvSpPr>
        <p:spPr>
          <a:xfrm>
            <a:off x="3566160" y="29535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With district administrations we work the hit-and-run pipeline file by file — mapping where eligible families drop out, and helping offices close those gaps.</a:t>
            </a:r>
          </a:p>
        </p:txBody>
      </p:sp>
      <p:sp>
        <p:nvSpPr>
          <p:cNvPr id="16" name="Oval 15"/>
          <p:cNvSpPr/>
          <p:nvPr/>
        </p:nvSpPr>
        <p:spPr>
          <a:xfrm>
            <a:off x="566928" y="3886200"/>
            <a:ext cx="365760" cy="365760"/>
          </a:xfrm>
          <a:prstGeom prst="ellipse">
            <a:avLst/>
          </a:prstGeom>
          <a:solidFill>
            <a:srgbClr val="E9F7F0"/>
          </a:solidFill>
          <a:ln>
            <a:noFill/>
          </a:ln>
          <a:effectLst/>
        </p:spPr>
        <p:txBody>
          <a:bodyPr rtlCol="0" anchor="ctr"/>
          <a:lstStyle/>
          <a:p>
            <a:pPr algn="ctr"/>
          </a:p>
        </p:txBody>
      </p:sp>
      <p:pic>
        <p:nvPicPr>
          <p:cNvPr id="17" name="Picture 16" descr="clipboard-check_0A9955_256_2.0.png"/>
          <p:cNvPicPr>
            <a:picLocks noChangeAspect="1"/>
          </p:cNvPicPr>
          <p:nvPr/>
        </p:nvPicPr>
        <p:blipFill>
          <a:blip r:embed="rId4"/>
          <a:stretch>
            <a:fillRect/>
          </a:stretch>
        </p:blipFill>
        <p:spPr>
          <a:xfrm>
            <a:off x="654710" y="3973982"/>
            <a:ext cx="190195" cy="190195"/>
          </a:xfrm>
          <a:prstGeom prst="rect">
            <a:avLst/>
          </a:prstGeom>
        </p:spPr>
      </p:pic>
      <p:sp>
        <p:nvSpPr>
          <p:cNvPr id="18" name="TextBox 17"/>
          <p:cNvSpPr txBox="1"/>
          <p:nvPr/>
        </p:nvSpPr>
        <p:spPr>
          <a:xfrm>
            <a:off x="1097280" y="38679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Formally tasked</a:t>
            </a:r>
          </a:p>
        </p:txBody>
      </p:sp>
      <p:sp>
        <p:nvSpPr>
          <p:cNvPr id="19" name="TextBox 18"/>
          <p:cNvSpPr txBox="1"/>
          <p:nvPr/>
        </p:nvSpPr>
        <p:spPr>
          <a:xfrm>
            <a:off x="3566160" y="38679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South-West Delhi DRSC's signed minutes task Crashfree India with digitisation and analytics support for scheme files.</a:t>
            </a:r>
          </a:p>
        </p:txBody>
      </p:sp>
      <p:sp>
        <p:nvSpPr>
          <p:cNvPr id="20" name="Oval 19"/>
          <p:cNvSpPr/>
          <p:nvPr/>
        </p:nvSpPr>
        <p:spPr>
          <a:xfrm>
            <a:off x="566928" y="4800600"/>
            <a:ext cx="365760" cy="365760"/>
          </a:xfrm>
          <a:prstGeom prst="ellipse">
            <a:avLst/>
          </a:prstGeom>
          <a:solidFill>
            <a:srgbClr val="FDF3E3"/>
          </a:solidFill>
          <a:ln>
            <a:noFill/>
          </a:ln>
          <a:effectLst/>
        </p:spPr>
        <p:txBody>
          <a:bodyPr rtlCol="0" anchor="ctr"/>
          <a:lstStyle/>
          <a:p>
            <a:pPr algn="ctr"/>
          </a:p>
        </p:txBody>
      </p:sp>
      <p:pic>
        <p:nvPicPr>
          <p:cNvPr id="21" name="Picture 20" descr="user-check_E58900_256_2.0.png"/>
          <p:cNvPicPr>
            <a:picLocks noChangeAspect="1"/>
          </p:cNvPicPr>
          <p:nvPr/>
        </p:nvPicPr>
        <p:blipFill>
          <a:blip r:embed="rId5"/>
          <a:stretch>
            <a:fillRect/>
          </a:stretch>
        </p:blipFill>
        <p:spPr>
          <a:xfrm>
            <a:off x="654710" y="4888382"/>
            <a:ext cx="190195" cy="190195"/>
          </a:xfrm>
          <a:prstGeom prst="rect">
            <a:avLst/>
          </a:prstGeom>
        </p:spPr>
      </p:pic>
      <p:sp>
        <p:nvSpPr>
          <p:cNvPr id="22" name="TextBox 21"/>
          <p:cNvSpPr txBox="1"/>
          <p:nvPr/>
        </p:nvSpPr>
        <p:spPr>
          <a:xfrm>
            <a:off x="1097280" y="47823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Embedded presence</a:t>
            </a:r>
          </a:p>
        </p:txBody>
      </p:sp>
      <p:sp>
        <p:nvSpPr>
          <p:cNvPr id="23" name="TextBox 22"/>
          <p:cNvSpPr txBox="1"/>
          <p:nvPr/>
        </p:nvSpPr>
        <p:spPr>
          <a:xfrm>
            <a:off x="3566160" y="47823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 research fellow sits with Gurugram district offices — implementation support, not external commentary.</a:t>
            </a:r>
          </a:p>
        </p:txBody>
      </p:sp>
      <p:pic>
        <p:nvPicPr>
          <p:cNvPr id="24" name="Picture 23" descr="ph_helpdesk_camp.jpg_4.20x2.20_0.35.jpg"/>
          <p:cNvPicPr>
            <a:picLocks noChangeAspect="1"/>
          </p:cNvPicPr>
          <p:nvPr/>
        </p:nvPicPr>
        <p:blipFill>
          <a:blip r:embed="rId6"/>
          <a:stretch>
            <a:fillRect/>
          </a:stretch>
        </p:blipFill>
        <p:spPr>
          <a:xfrm>
            <a:off x="7772400" y="2011680"/>
            <a:ext cx="3840480" cy="2011680"/>
          </a:xfrm>
          <a:prstGeom prst="rect">
            <a:avLst/>
          </a:prstGeom>
        </p:spPr>
      </p:pic>
      <p:sp>
        <p:nvSpPr>
          <p:cNvPr id="25" name="Rectangle 24"/>
          <p:cNvSpPr/>
          <p:nvPr/>
        </p:nvSpPr>
        <p:spPr>
          <a:xfrm>
            <a:off x="7772400" y="2011680"/>
            <a:ext cx="3840480" cy="2011680"/>
          </a:xfrm>
          <a:prstGeom prst="rect">
            <a:avLst/>
          </a:prstGeom>
          <a:noFill/>
          <a:ln w="12700">
            <a:solidFill>
              <a:srgbClr val="E8E9EE"/>
            </a:solidFill>
          </a:ln>
          <a:effectLst/>
        </p:spPr>
        <p:txBody>
          <a:bodyPr rtlCol="0" anchor="ctr"/>
          <a:lstStyle/>
          <a:p>
            <a:pPr algn="ctr"/>
          </a:p>
        </p:txBody>
      </p:sp>
      <p:sp>
        <p:nvSpPr>
          <p:cNvPr id="26" name="TextBox 25"/>
          <p:cNvSpPr txBox="1"/>
          <p:nvPr/>
        </p:nvSpPr>
        <p:spPr>
          <a:xfrm>
            <a:off x="7772400" y="406908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Legal-rights helpdesk with district administration, Jan 2026.</a:t>
            </a:r>
          </a:p>
        </p:txBody>
      </p:sp>
      <p:pic>
        <p:nvPicPr>
          <p:cNvPr id="27" name="Picture 26" descr="ph_law_students.jpg_4.20x1.60_0.30.jpg"/>
          <p:cNvPicPr>
            <a:picLocks noChangeAspect="1"/>
          </p:cNvPicPr>
          <p:nvPr/>
        </p:nvPicPr>
        <p:blipFill>
          <a:blip r:embed="rId7"/>
          <a:stretch>
            <a:fillRect/>
          </a:stretch>
        </p:blipFill>
        <p:spPr>
          <a:xfrm>
            <a:off x="7772400" y="4526280"/>
            <a:ext cx="3840480" cy="1463040"/>
          </a:xfrm>
          <a:prstGeom prst="rect">
            <a:avLst/>
          </a:prstGeom>
        </p:spPr>
      </p:pic>
      <p:sp>
        <p:nvSpPr>
          <p:cNvPr id="28" name="Rectangle 27"/>
          <p:cNvSpPr/>
          <p:nvPr/>
        </p:nvSpPr>
        <p:spPr>
          <a:xfrm>
            <a:off x="7772400" y="4526280"/>
            <a:ext cx="3840480" cy="1463040"/>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7772400" y="603504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Law-student volunteers after a hospital helpdesk drive.</a:t>
            </a:r>
          </a:p>
        </p:txBody>
      </p:sp>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19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 STATE ENGAGEMENT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With Rajasthan: from ground mapping to </a:t>
            </a:r>
            <a:r>
              <a:rPr sz="2250" b="1" i="0">
                <a:solidFill>
                  <a:srgbClr val="4A35FF"/>
                </a:solidFill>
                <a:latin typeface="Montserrat"/>
              </a:rPr>
              <a:t>a working template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Supporting the State Road Safety Lead Agency and Transport Department on the Hit-and-Run Compensation Scheme.</a:t>
            </a:r>
          </a:p>
        </p:txBody>
      </p:sp>
      <p:sp>
        <p:nvSpPr>
          <p:cNvPr id="8" name="Rounded Rectangle 7"/>
          <p:cNvSpPr/>
          <p:nvPr/>
        </p:nvSpPr>
        <p:spPr>
          <a:xfrm>
            <a:off x="566928" y="2057400"/>
            <a:ext cx="3291840" cy="1737360"/>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49808" y="2240280"/>
            <a:ext cx="2926080" cy="640080"/>
          </a:xfrm>
          <a:prstGeom prst="rect">
            <a:avLst/>
          </a:prstGeom>
          <a:noFill/>
        </p:spPr>
        <p:txBody>
          <a:bodyPr wrap="square" lIns="0" rIns="0" tIns="0" bIns="0" anchor="t">
            <a:spAutoFit/>
          </a:bodyPr>
          <a:lstStyle/>
          <a:p>
            <a:pPr algn="l">
              <a:lnSpc>
                <a:spcPct val="128000"/>
              </a:lnSpc>
            </a:pPr>
            <a:r>
              <a:rPr sz="3600" b="1" i="0">
                <a:solidFill>
                  <a:srgbClr val="4A35FF"/>
                </a:solidFill>
                <a:latin typeface="Montserrat"/>
              </a:rPr>
              <a:t>~180</a:t>
            </a:r>
          </a:p>
        </p:txBody>
      </p:sp>
      <p:sp>
        <p:nvSpPr>
          <p:cNvPr id="10" name="TextBox 9"/>
          <p:cNvSpPr txBox="1"/>
          <p:nvPr/>
        </p:nvSpPr>
        <p:spPr>
          <a:xfrm>
            <a:off x="749808" y="2926080"/>
            <a:ext cx="2926080" cy="73152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of ~</a:t>
            </a:r>
            <a:r>
              <a:rPr sz="1000" b="1" i="0">
                <a:solidFill>
                  <a:srgbClr val="16181D"/>
                </a:solidFill>
                <a:latin typeface="Geist"/>
              </a:rPr>
              <a:t>395</a:t>
            </a:r>
            <a:r>
              <a:rPr sz="1000" b="0" i="0">
                <a:solidFill>
                  <a:srgbClr val="6E7180"/>
                </a:solidFill>
                <a:latin typeface="Geist"/>
              </a:rPr>
              <a:t> monthly hit-and-run claims in Rajasthan come from Jaipur alone (~46%)</a:t>
            </a:r>
          </a:p>
        </p:txBody>
      </p:sp>
      <p:sp>
        <p:nvSpPr>
          <p:cNvPr id="11" name="TextBox 10"/>
          <p:cNvSpPr txBox="1"/>
          <p:nvPr/>
        </p:nvSpPr>
        <p:spPr>
          <a:xfrm>
            <a:off x="566928" y="4023360"/>
            <a:ext cx="3291840" cy="914400"/>
          </a:xfrm>
          <a:prstGeom prst="rect">
            <a:avLst/>
          </a:prstGeom>
          <a:noFill/>
        </p:spPr>
        <p:txBody>
          <a:bodyPr wrap="square" lIns="0" rIns="0" tIns="0" bIns="0" anchor="t">
            <a:spAutoFit/>
          </a:bodyPr>
          <a:lstStyle/>
          <a:p>
            <a:pPr algn="l">
              <a:lnSpc>
                <a:spcPct val="130000"/>
              </a:lnSpc>
            </a:pPr>
            <a:r>
              <a:rPr sz="950" b="0" i="0">
                <a:solidFill>
                  <a:srgbClr val="6E7180"/>
                </a:solidFill>
                <a:latin typeface="Geist"/>
              </a:rPr>
              <a:t>Not because crashes happen only there — because Jaipur runs active outreach and a single coordination cell. The template is replicable.</a:t>
            </a:r>
          </a:p>
        </p:txBody>
      </p:sp>
      <p:sp>
        <p:nvSpPr>
          <p:cNvPr id="12" name="Oval 11"/>
          <p:cNvSpPr/>
          <p:nvPr/>
        </p:nvSpPr>
        <p:spPr>
          <a:xfrm>
            <a:off x="4114800" y="2057400"/>
            <a:ext cx="384048" cy="384048"/>
          </a:xfrm>
          <a:prstGeom prst="ellipse">
            <a:avLst/>
          </a:prstGeom>
          <a:solidFill>
            <a:srgbClr val="FDF3E3"/>
          </a:solidFill>
          <a:ln>
            <a:noFill/>
          </a:ln>
          <a:effectLst/>
        </p:spPr>
        <p:txBody>
          <a:bodyPr rtlCol="0" anchor="ctr"/>
          <a:lstStyle/>
          <a:p>
            <a:pPr algn="ctr"/>
          </a:p>
        </p:txBody>
      </p:sp>
      <p:pic>
        <p:nvPicPr>
          <p:cNvPr id="13" name="Picture 12" descr="file-warning_E58900_256_2.0.png"/>
          <p:cNvPicPr>
            <a:picLocks noChangeAspect="1"/>
          </p:cNvPicPr>
          <p:nvPr/>
        </p:nvPicPr>
        <p:blipFill>
          <a:blip r:embed="rId2"/>
          <a:stretch>
            <a:fillRect/>
          </a:stretch>
        </p:blipFill>
        <p:spPr>
          <a:xfrm>
            <a:off x="4206971" y="2149571"/>
            <a:ext cx="199704" cy="199704"/>
          </a:xfrm>
          <a:prstGeom prst="rect">
            <a:avLst/>
          </a:prstGeom>
        </p:spPr>
      </p:pic>
      <p:sp>
        <p:nvSpPr>
          <p:cNvPr id="14" name="TextBox 13"/>
          <p:cNvSpPr txBox="1"/>
          <p:nvPr/>
        </p:nvSpPr>
        <p:spPr>
          <a:xfrm>
            <a:off x="4645152" y="2029968"/>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What holds claims back</a:t>
            </a:r>
          </a:p>
        </p:txBody>
      </p:sp>
      <p:sp>
        <p:nvSpPr>
          <p:cNvPr id="15" name="TextBox 14"/>
          <p:cNvSpPr txBox="1"/>
          <p:nvPr/>
        </p:nvSpPr>
        <p:spPr>
          <a:xfrm>
            <a:off x="6995160" y="2029968"/>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11–13 documents demanded vs the 7 court-agreed standard · ~50% of files lack a usable family phone number · manual hand-offs between six offices.</a:t>
            </a:r>
          </a:p>
        </p:txBody>
      </p:sp>
      <p:sp>
        <p:nvSpPr>
          <p:cNvPr id="16" name="Oval 15"/>
          <p:cNvSpPr/>
          <p:nvPr/>
        </p:nvSpPr>
        <p:spPr>
          <a:xfrm>
            <a:off x="4114800" y="3026664"/>
            <a:ext cx="384048" cy="384048"/>
          </a:xfrm>
          <a:prstGeom prst="ellipse">
            <a:avLst/>
          </a:prstGeom>
          <a:solidFill>
            <a:srgbClr val="FDEFEC"/>
          </a:solidFill>
          <a:ln>
            <a:noFill/>
          </a:ln>
          <a:effectLst/>
        </p:spPr>
        <p:txBody>
          <a:bodyPr rtlCol="0" anchor="ctr"/>
          <a:lstStyle/>
          <a:p>
            <a:pPr algn="ctr"/>
          </a:p>
        </p:txBody>
      </p:sp>
      <p:pic>
        <p:nvPicPr>
          <p:cNvPr id="17" name="Picture 16" descr="alert-octagon_E11900_256_2.0.png"/>
          <p:cNvPicPr>
            <a:picLocks noChangeAspect="1"/>
          </p:cNvPicPr>
          <p:nvPr/>
        </p:nvPicPr>
        <p:blipFill>
          <a:blip r:embed="rId3"/>
          <a:stretch>
            <a:fillRect/>
          </a:stretch>
        </p:blipFill>
        <p:spPr>
          <a:xfrm>
            <a:off x="4206971" y="3118835"/>
            <a:ext cx="199704" cy="199704"/>
          </a:xfrm>
          <a:prstGeom prst="rect">
            <a:avLst/>
          </a:prstGeom>
        </p:spPr>
      </p:pic>
      <p:sp>
        <p:nvSpPr>
          <p:cNvPr id="18" name="TextBox 17"/>
          <p:cNvSpPr txBox="1"/>
          <p:nvPr/>
        </p:nvSpPr>
        <p:spPr>
          <a:xfrm>
            <a:off x="4645152" y="2999232"/>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The cautionary example</a:t>
            </a:r>
          </a:p>
        </p:txBody>
      </p:sp>
      <p:sp>
        <p:nvSpPr>
          <p:cNvPr id="19" name="TextBox 18"/>
          <p:cNvSpPr txBox="1"/>
          <p:nvPr/>
        </p:nvSpPr>
        <p:spPr>
          <a:xfrm>
            <a:off x="6995160" y="2999232"/>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A state portal that changed how offices work saw monthly requests fall 350 → 25. Our design rule: no stakeholder changes their medium.</a:t>
            </a:r>
          </a:p>
        </p:txBody>
      </p:sp>
      <p:sp>
        <p:nvSpPr>
          <p:cNvPr id="20" name="Oval 19"/>
          <p:cNvSpPr/>
          <p:nvPr/>
        </p:nvSpPr>
        <p:spPr>
          <a:xfrm>
            <a:off x="4114800" y="3995928"/>
            <a:ext cx="384048" cy="384048"/>
          </a:xfrm>
          <a:prstGeom prst="ellipse">
            <a:avLst/>
          </a:prstGeom>
          <a:solidFill>
            <a:srgbClr val="EFEDFF"/>
          </a:solidFill>
          <a:ln>
            <a:noFill/>
          </a:ln>
          <a:effectLst/>
        </p:spPr>
        <p:txBody>
          <a:bodyPr rtlCol="0" anchor="ctr"/>
          <a:lstStyle/>
          <a:p>
            <a:pPr algn="ctr"/>
          </a:p>
        </p:txBody>
      </p:sp>
      <p:pic>
        <p:nvPicPr>
          <p:cNvPr id="21" name="Picture 20" descr="list-checks_4A35FF_256_2.0.png"/>
          <p:cNvPicPr>
            <a:picLocks noChangeAspect="1"/>
          </p:cNvPicPr>
          <p:nvPr/>
        </p:nvPicPr>
        <p:blipFill>
          <a:blip r:embed="rId4"/>
          <a:stretch>
            <a:fillRect/>
          </a:stretch>
        </p:blipFill>
        <p:spPr>
          <a:xfrm>
            <a:off x="4206971" y="4088099"/>
            <a:ext cx="199704" cy="199704"/>
          </a:xfrm>
          <a:prstGeom prst="rect">
            <a:avLst/>
          </a:prstGeom>
        </p:spPr>
      </p:pic>
      <p:sp>
        <p:nvSpPr>
          <p:cNvPr id="22" name="TextBox 21"/>
          <p:cNvSpPr txBox="1"/>
          <p:nvPr/>
        </p:nvSpPr>
        <p:spPr>
          <a:xfrm>
            <a:off x="4645152" y="3968496"/>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Five GIC queries drafted</a:t>
            </a:r>
          </a:p>
        </p:txBody>
      </p:sp>
      <p:sp>
        <p:nvSpPr>
          <p:cNvPr id="23" name="TextBox 22"/>
          <p:cNvSpPr txBox="1"/>
          <p:nvPr/>
        </p:nvSpPr>
        <p:spPr>
          <a:xfrm>
            <a:off x="6995160" y="3968496"/>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Clarification questions ready for the insurer consortium — a joint ask from the Department lands harder.</a:t>
            </a:r>
          </a:p>
        </p:txBody>
      </p:sp>
      <p:sp>
        <p:nvSpPr>
          <p:cNvPr id="24" name="Oval 23"/>
          <p:cNvSpPr/>
          <p:nvPr/>
        </p:nvSpPr>
        <p:spPr>
          <a:xfrm>
            <a:off x="4114800" y="4965192"/>
            <a:ext cx="384048" cy="384048"/>
          </a:xfrm>
          <a:prstGeom prst="ellipse">
            <a:avLst/>
          </a:prstGeom>
          <a:solidFill>
            <a:srgbClr val="E9F7F0"/>
          </a:solidFill>
          <a:ln>
            <a:noFill/>
          </a:ln>
          <a:effectLst/>
        </p:spPr>
        <p:txBody>
          <a:bodyPr rtlCol="0" anchor="ctr"/>
          <a:lstStyle/>
          <a:p>
            <a:pPr algn="ctr"/>
          </a:p>
        </p:txBody>
      </p:sp>
      <p:pic>
        <p:nvPicPr>
          <p:cNvPr id="25" name="Picture 24" descr="rocket_0A9955_256_2.0.png"/>
          <p:cNvPicPr>
            <a:picLocks noChangeAspect="1"/>
          </p:cNvPicPr>
          <p:nvPr/>
        </p:nvPicPr>
        <p:blipFill>
          <a:blip r:embed="rId5"/>
          <a:stretch>
            <a:fillRect/>
          </a:stretch>
        </p:blipFill>
        <p:spPr>
          <a:xfrm>
            <a:off x="4206971" y="5057363"/>
            <a:ext cx="199704" cy="199704"/>
          </a:xfrm>
          <a:prstGeom prst="rect">
            <a:avLst/>
          </a:prstGeom>
        </p:spPr>
      </p:pic>
      <p:sp>
        <p:nvSpPr>
          <p:cNvPr id="26" name="TextBox 25"/>
          <p:cNvSpPr txBox="1"/>
          <p:nvPr/>
        </p:nvSpPr>
        <p:spPr>
          <a:xfrm>
            <a:off x="4645152" y="4937760"/>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Six asks → 60 days</a:t>
            </a:r>
          </a:p>
        </p:txBody>
      </p:sp>
      <p:sp>
        <p:nvSpPr>
          <p:cNvPr id="27" name="TextBox 26"/>
          <p:cNvSpPr txBox="1"/>
          <p:nvPr/>
        </p:nvSpPr>
        <p:spPr>
          <a:xfrm>
            <a:off x="6995160" y="4937760"/>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Decisions identified with the Department that put Phase 1 (family traceability) in motion within 60 days.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20 / 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 THE PORTAL CONCEPT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Designed so </a:t>
            </a:r>
            <a:r>
              <a:rPr sz="2250" b="1" i="0">
                <a:solidFill>
                  <a:srgbClr val="4A35FF"/>
                </a:solidFill>
                <a:latin typeface="Montserrat"/>
              </a:rPr>
              <a:t>no stakeholder changes how they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Families stay on WhatsApp; officers keep their queues and sign-offs; the system connects them behind the scenes.</a:t>
            </a:r>
          </a:p>
        </p:txBody>
      </p:sp>
      <p:pic>
        <p:nvPicPr>
          <p:cNvPr id="8" name="Picture 7" descr="wa_phone1.png"/>
          <p:cNvPicPr>
            <a:picLocks noChangeAspect="1"/>
          </p:cNvPicPr>
          <p:nvPr/>
        </p:nvPicPr>
        <p:blipFill>
          <a:blip r:embed="rId2"/>
          <a:stretch>
            <a:fillRect/>
          </a:stretch>
        </p:blipFill>
        <p:spPr>
          <a:xfrm>
            <a:off x="566928" y="2011680"/>
            <a:ext cx="1325880" cy="1964267"/>
          </a:xfrm>
          <a:prstGeom prst="rect">
            <a:avLst/>
          </a:prstGeom>
        </p:spPr>
      </p:pic>
      <p:pic>
        <p:nvPicPr>
          <p:cNvPr id="9" name="Picture 8" descr="wa_phone2.png"/>
          <p:cNvPicPr>
            <a:picLocks noChangeAspect="1"/>
          </p:cNvPicPr>
          <p:nvPr/>
        </p:nvPicPr>
        <p:blipFill>
          <a:blip r:embed="rId3"/>
          <a:stretch>
            <a:fillRect/>
          </a:stretch>
        </p:blipFill>
        <p:spPr>
          <a:xfrm>
            <a:off x="1984248" y="2011680"/>
            <a:ext cx="1325880" cy="1964267"/>
          </a:xfrm>
          <a:prstGeom prst="rect">
            <a:avLst/>
          </a:prstGeom>
        </p:spPr>
      </p:pic>
      <p:pic>
        <p:nvPicPr>
          <p:cNvPr id="10" name="Picture 9" descr="wa_phone3.png"/>
          <p:cNvPicPr>
            <a:picLocks noChangeAspect="1"/>
          </p:cNvPicPr>
          <p:nvPr/>
        </p:nvPicPr>
        <p:blipFill>
          <a:blip r:embed="rId4"/>
          <a:stretch>
            <a:fillRect/>
          </a:stretch>
        </p:blipFill>
        <p:spPr>
          <a:xfrm>
            <a:off x="3401568" y="2011680"/>
            <a:ext cx="1325880" cy="1964267"/>
          </a:xfrm>
          <a:prstGeom prst="rect">
            <a:avLst/>
          </a:prstGeom>
        </p:spPr>
      </p:pic>
      <p:sp>
        <p:nvSpPr>
          <p:cNvPr id="11" name="TextBox 10"/>
          <p:cNvSpPr txBox="1"/>
          <p:nvPr/>
        </p:nvSpPr>
        <p:spPr>
          <a:xfrm>
            <a:off x="566928" y="4069080"/>
            <a:ext cx="4206240" cy="45720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The family flow — day-one intake, document capture, live status. All inside WhatsApp, in Hindi.</a:t>
            </a:r>
          </a:p>
        </p:txBody>
      </p:sp>
      <p:pic>
        <p:nvPicPr>
          <p:cNvPr id="12" name="Picture 11" descr="opt_queue_ui_1500.jpg"/>
          <p:cNvPicPr>
            <a:picLocks noChangeAspect="1"/>
          </p:cNvPicPr>
          <p:nvPr/>
        </p:nvPicPr>
        <p:blipFill>
          <a:blip r:embed="rId5"/>
          <a:stretch>
            <a:fillRect/>
          </a:stretch>
        </p:blipFill>
        <p:spPr>
          <a:xfrm>
            <a:off x="5074920" y="2011680"/>
            <a:ext cx="6537960" cy="2405969"/>
          </a:xfrm>
          <a:prstGeom prst="rect">
            <a:avLst/>
          </a:prstGeom>
        </p:spPr>
      </p:pic>
      <p:sp>
        <p:nvSpPr>
          <p:cNvPr id="13" name="Rectangle 12"/>
          <p:cNvSpPr/>
          <p:nvPr/>
        </p:nvSpPr>
        <p:spPr>
          <a:xfrm>
            <a:off x="5074920" y="2011680"/>
            <a:ext cx="6537960" cy="2405969"/>
          </a:xfrm>
          <a:prstGeom prst="rect">
            <a:avLst/>
          </a:prstGeom>
          <a:noFill/>
          <a:ln w="12700">
            <a:solidFill>
              <a:srgbClr val="E8E9EE"/>
            </a:solidFill>
          </a:ln>
          <a:effectLst/>
        </p:spPr>
        <p:txBody>
          <a:bodyPr rtlCol="0" anchor="ctr"/>
          <a:lstStyle/>
          <a:p>
            <a:pPr algn="ctr"/>
          </a:p>
        </p:txBody>
      </p:sp>
      <p:sp>
        <p:nvSpPr>
          <p:cNvPr id="14" name="TextBox 13"/>
          <p:cNvSpPr txBox="1"/>
          <p:nvPr/>
        </p:nvSpPr>
        <p:spPr>
          <a:xfrm>
            <a:off x="5074920" y="4463369"/>
            <a:ext cx="653796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Officer view — same cases, filtered to what each desk owns; AI pre-checks flag issues, the decision stays human.</a:t>
            </a:r>
          </a:p>
        </p:txBody>
      </p:sp>
      <p:sp>
        <p:nvSpPr>
          <p:cNvPr id="15" name="Rounded Rectangle 14"/>
          <p:cNvSpPr/>
          <p:nvPr/>
        </p:nvSpPr>
        <p:spPr>
          <a:xfrm>
            <a:off x="566928"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16" name="TextBox 15"/>
          <p:cNvSpPr txBox="1"/>
          <p:nvPr/>
        </p:nvSpPr>
        <p:spPr>
          <a:xfrm>
            <a:off x="585216"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Family keeps WhatsApp</a:t>
            </a:r>
          </a:p>
        </p:txBody>
      </p:sp>
      <p:sp>
        <p:nvSpPr>
          <p:cNvPr id="17" name="Rounded Rectangle 16"/>
          <p:cNvSpPr/>
          <p:nvPr/>
        </p:nvSpPr>
        <p:spPr>
          <a:xfrm>
            <a:off x="2816352"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18" name="TextBox 17"/>
          <p:cNvSpPr txBox="1"/>
          <p:nvPr/>
        </p:nvSpPr>
        <p:spPr>
          <a:xfrm>
            <a:off x="2834640"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Officer keeps every decision</a:t>
            </a:r>
          </a:p>
        </p:txBody>
      </p:sp>
      <p:sp>
        <p:nvSpPr>
          <p:cNvPr id="19" name="Rounded Rectangle 18"/>
          <p:cNvSpPr/>
          <p:nvPr/>
        </p:nvSpPr>
        <p:spPr>
          <a:xfrm>
            <a:off x="5065776"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0" name="TextBox 19"/>
          <p:cNvSpPr txBox="1"/>
          <p:nvPr/>
        </p:nvSpPr>
        <p:spPr>
          <a:xfrm>
            <a:off x="5084064"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Traceability before automation</a:t>
            </a:r>
          </a:p>
        </p:txBody>
      </p:sp>
      <p:sp>
        <p:nvSpPr>
          <p:cNvPr id="21" name="Rounded Rectangle 20"/>
          <p:cNvSpPr/>
          <p:nvPr/>
        </p:nvSpPr>
        <p:spPr>
          <a:xfrm>
            <a:off x="7315200"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333488"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Single-pass clarification</a:t>
            </a:r>
          </a:p>
        </p:txBody>
      </p:sp>
      <p:sp>
        <p:nvSpPr>
          <p:cNvPr id="23" name="Rounded Rectangle 22"/>
          <p:cNvSpPr/>
          <p:nvPr/>
        </p:nvSpPr>
        <p:spPr>
          <a:xfrm>
            <a:off x="9564624"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82912"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Dashboards for administrators</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21 / 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 THE FIRST HOUR</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Pre-Hospital Care Primer — </a:t>
            </a:r>
            <a:r>
              <a:rPr sz="2250" b="1" i="0">
                <a:solidFill>
                  <a:srgbClr val="4A35FF"/>
                </a:solidFill>
                <a:latin typeface="Montserrat"/>
              </a:rPr>
              <a:t>our EMS evidence line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Published September 2025. Contributors include Dr. Sushma Sagar (AIIMS JPN Apex Trauma Centre) and Dr. Richa Ahuja (IIT Kharagpur).</a:t>
            </a:r>
          </a:p>
        </p:txBody>
      </p:sp>
      <p:pic>
        <p:nvPicPr>
          <p:cNvPr id="8" name="Picture 7" descr="primer_cover-01.jpg"/>
          <p:cNvPicPr>
            <a:picLocks noChangeAspect="1"/>
          </p:cNvPicPr>
          <p:nvPr/>
        </p:nvPicPr>
        <p:blipFill>
          <a:blip r:embed="rId2"/>
          <a:stretch>
            <a:fillRect/>
          </a:stretch>
        </p:blipFill>
        <p:spPr>
          <a:xfrm>
            <a:off x="566928" y="1965960"/>
            <a:ext cx="2263530" cy="3200400"/>
          </a:xfrm>
          <a:prstGeom prst="rect">
            <a:avLst/>
          </a:prstGeom>
        </p:spPr>
      </p:pic>
      <p:sp>
        <p:nvSpPr>
          <p:cNvPr id="9" name="Rectangle 8"/>
          <p:cNvSpPr/>
          <p:nvPr/>
        </p:nvSpPr>
        <p:spPr>
          <a:xfrm>
            <a:off x="566928" y="1965960"/>
            <a:ext cx="2263530" cy="32004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12080"/>
            <a:ext cx="226353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Primer — ERSS-112, global</a:t>
            </a:r>
          </a:p>
          <a:p>
            <a:pPr algn="l">
              <a:lnSpc>
                <a:spcPct val="112000"/>
              </a:lnSpc>
            </a:pPr>
            <a:r>
              <a:rPr sz="850" b="0" i="0">
                <a:solidFill>
                  <a:srgbClr val="6E7180"/>
                </a:solidFill>
                <a:latin typeface="Geist"/>
              </a:rPr>
              <a:t>comparisons, state innovations.</a:t>
            </a:r>
          </a:p>
        </p:txBody>
      </p:sp>
      <p:pic>
        <p:nvPicPr>
          <p:cNvPr id="11" name="Picture 10" descr="primer_chain-07.jpg"/>
          <p:cNvPicPr>
            <a:picLocks noChangeAspect="1"/>
          </p:cNvPicPr>
          <p:nvPr/>
        </p:nvPicPr>
        <p:blipFill>
          <a:blip r:embed="rId3"/>
          <a:stretch>
            <a:fillRect/>
          </a:stretch>
        </p:blipFill>
        <p:spPr>
          <a:xfrm>
            <a:off x="3108960" y="1965960"/>
            <a:ext cx="2263530" cy="3200400"/>
          </a:xfrm>
          <a:prstGeom prst="rect">
            <a:avLst/>
          </a:prstGeom>
        </p:spPr>
      </p:pic>
      <p:sp>
        <p:nvSpPr>
          <p:cNvPr id="12" name="Rectangle 11"/>
          <p:cNvSpPr/>
          <p:nvPr/>
        </p:nvSpPr>
        <p:spPr>
          <a:xfrm>
            <a:off x="3108960" y="1965960"/>
            <a:ext cx="2263530" cy="320040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3108960" y="5212080"/>
            <a:ext cx="226353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Chain of Survival — six links,</a:t>
            </a:r>
          </a:p>
          <a:p>
            <a:pPr algn="l">
              <a:lnSpc>
                <a:spcPct val="112000"/>
              </a:lnSpc>
            </a:pPr>
            <a:r>
              <a:rPr sz="850" b="0" i="0">
                <a:solidFill>
                  <a:srgbClr val="6E7180"/>
                </a:solidFill>
                <a:latin typeface="Geist"/>
              </a:rPr>
              <a:t>benchmarked for India.</a:t>
            </a:r>
          </a:p>
        </p:txBody>
      </p:sp>
      <p:sp>
        <p:nvSpPr>
          <p:cNvPr id="14" name="Oval 13"/>
          <p:cNvSpPr/>
          <p:nvPr/>
        </p:nvSpPr>
        <p:spPr>
          <a:xfrm>
            <a:off x="6035040" y="1965960"/>
            <a:ext cx="384048" cy="384048"/>
          </a:xfrm>
          <a:prstGeom prst="ellipse">
            <a:avLst/>
          </a:prstGeom>
          <a:solidFill>
            <a:srgbClr val="E7F4F4"/>
          </a:solidFill>
          <a:ln>
            <a:noFill/>
          </a:ln>
          <a:effectLst/>
        </p:spPr>
        <p:txBody>
          <a:bodyPr rtlCol="0" anchor="ctr"/>
          <a:lstStyle/>
          <a:p>
            <a:pPr algn="ctr"/>
          </a:p>
        </p:txBody>
      </p:sp>
      <p:pic>
        <p:nvPicPr>
          <p:cNvPr id="15" name="Picture 14" descr="timer_0E8A8A_256_2.0.png"/>
          <p:cNvPicPr>
            <a:picLocks noChangeAspect="1"/>
          </p:cNvPicPr>
          <p:nvPr/>
        </p:nvPicPr>
        <p:blipFill>
          <a:blip r:embed="rId4"/>
          <a:stretch>
            <a:fillRect/>
          </a:stretch>
        </p:blipFill>
        <p:spPr>
          <a:xfrm>
            <a:off x="6127211" y="2058131"/>
            <a:ext cx="199704" cy="199704"/>
          </a:xfrm>
          <a:prstGeom prst="rect">
            <a:avLst/>
          </a:prstGeom>
        </p:spPr>
      </p:pic>
      <p:sp>
        <p:nvSpPr>
          <p:cNvPr id="16" name="TextBox 15"/>
          <p:cNvSpPr txBox="1"/>
          <p:nvPr/>
        </p:nvSpPr>
        <p:spPr>
          <a:xfrm>
            <a:off x="6565392" y="1938528"/>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The response gap, measured</a:t>
            </a:r>
          </a:p>
        </p:txBody>
      </p:sp>
      <p:sp>
        <p:nvSpPr>
          <p:cNvPr id="17" name="TextBox 16"/>
          <p:cNvSpPr txBox="1"/>
          <p:nvPr/>
        </p:nvSpPr>
        <p:spPr>
          <a:xfrm>
            <a:off x="8549640" y="1938528"/>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ERSS-112 is live across all 36 states &amp; UTs — yet ambulance arrival averages 25–35 minutes, and the full care episode runs 55–75 minutes against a 60-minute golden hour.</a:t>
            </a:r>
          </a:p>
        </p:txBody>
      </p:sp>
      <p:sp>
        <p:nvSpPr>
          <p:cNvPr id="18" name="Oval 17"/>
          <p:cNvSpPr/>
          <p:nvPr/>
        </p:nvSpPr>
        <p:spPr>
          <a:xfrm>
            <a:off x="6035040" y="2999231"/>
            <a:ext cx="384048" cy="384048"/>
          </a:xfrm>
          <a:prstGeom prst="ellipse">
            <a:avLst/>
          </a:prstGeom>
          <a:solidFill>
            <a:srgbClr val="EFEDFF"/>
          </a:solidFill>
          <a:ln>
            <a:noFill/>
          </a:ln>
          <a:effectLst/>
        </p:spPr>
        <p:txBody>
          <a:bodyPr rtlCol="0" anchor="ctr"/>
          <a:lstStyle/>
          <a:p>
            <a:pPr algn="ctr"/>
          </a:p>
        </p:txBody>
      </p:sp>
      <p:pic>
        <p:nvPicPr>
          <p:cNvPr id="19" name="Picture 18" descr="map_4A35FF_256_2.0.png"/>
          <p:cNvPicPr>
            <a:picLocks noChangeAspect="1"/>
          </p:cNvPicPr>
          <p:nvPr/>
        </p:nvPicPr>
        <p:blipFill>
          <a:blip r:embed="rId5"/>
          <a:stretch>
            <a:fillRect/>
          </a:stretch>
        </p:blipFill>
        <p:spPr>
          <a:xfrm>
            <a:off x="6127211" y="3091402"/>
            <a:ext cx="199704" cy="199704"/>
          </a:xfrm>
          <a:prstGeom prst="rect">
            <a:avLst/>
          </a:prstGeom>
        </p:spPr>
      </p:pic>
      <p:sp>
        <p:nvSpPr>
          <p:cNvPr id="20" name="TextBox 19"/>
          <p:cNvSpPr txBox="1"/>
          <p:nvPr/>
        </p:nvSpPr>
        <p:spPr>
          <a:xfrm>
            <a:off x="6565392" y="2971799"/>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State innovations documented</a:t>
            </a:r>
          </a:p>
        </p:txBody>
      </p:sp>
      <p:sp>
        <p:nvSpPr>
          <p:cNvPr id="21" name="TextBox 20"/>
          <p:cNvSpPr txBox="1"/>
          <p:nvPr/>
        </p:nvSpPr>
        <p:spPr>
          <a:xfrm>
            <a:off x="8549640" y="2971799"/>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Maharashtra's MEMS — 937 ambulances under centralised dispatch; Tamil Nadu's TAEI trauma corridors — pre-arrival alerts and protocols.</a:t>
            </a:r>
          </a:p>
        </p:txBody>
      </p:sp>
      <p:sp>
        <p:nvSpPr>
          <p:cNvPr id="22" name="Oval 21"/>
          <p:cNvSpPr/>
          <p:nvPr/>
        </p:nvSpPr>
        <p:spPr>
          <a:xfrm>
            <a:off x="6035040" y="4032502"/>
            <a:ext cx="384048" cy="384048"/>
          </a:xfrm>
          <a:prstGeom prst="ellipse">
            <a:avLst/>
          </a:prstGeom>
          <a:solidFill>
            <a:srgbClr val="E9F7F0"/>
          </a:solidFill>
          <a:ln>
            <a:noFill/>
          </a:ln>
          <a:effectLst/>
        </p:spPr>
        <p:txBody>
          <a:bodyPr rtlCol="0" anchor="ctr"/>
          <a:lstStyle/>
          <a:p>
            <a:pPr algn="ctr"/>
          </a:p>
        </p:txBody>
      </p:sp>
      <p:pic>
        <p:nvPicPr>
          <p:cNvPr id="23" name="Picture 22" descr="heart-handshake_0A9955_256_2.0.png"/>
          <p:cNvPicPr>
            <a:picLocks noChangeAspect="1"/>
          </p:cNvPicPr>
          <p:nvPr/>
        </p:nvPicPr>
        <p:blipFill>
          <a:blip r:embed="rId6"/>
          <a:stretch>
            <a:fillRect/>
          </a:stretch>
        </p:blipFill>
        <p:spPr>
          <a:xfrm>
            <a:off x="6127211" y="4124673"/>
            <a:ext cx="199704" cy="199704"/>
          </a:xfrm>
          <a:prstGeom prst="rect">
            <a:avLst/>
          </a:prstGeom>
        </p:spPr>
      </p:pic>
      <p:sp>
        <p:nvSpPr>
          <p:cNvPr id="24" name="TextBox 23"/>
          <p:cNvSpPr txBox="1"/>
          <p:nvPr/>
        </p:nvSpPr>
        <p:spPr>
          <a:xfrm>
            <a:off x="6565392" y="4005070"/>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The demand side too</a:t>
            </a:r>
          </a:p>
        </p:txBody>
      </p:sp>
      <p:sp>
        <p:nvSpPr>
          <p:cNvPr id="25" name="TextBox 24"/>
          <p:cNvSpPr txBox="1"/>
          <p:nvPr/>
        </p:nvSpPr>
        <p:spPr>
          <a:xfrm>
            <a:off x="8549640" y="4005070"/>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Good Samaritan protections and the ₹1.5 lakh / 7-day Cashless Treatment Scheme 2025, explained in our public guides and helpdesks.</a:t>
            </a:r>
          </a:p>
        </p:txBody>
      </p:sp>
      <p:sp>
        <p:nvSpPr>
          <p:cNvPr id="26" name="Oval 25"/>
          <p:cNvSpPr/>
          <p:nvPr/>
        </p:nvSpPr>
        <p:spPr>
          <a:xfrm>
            <a:off x="6035040" y="5065773"/>
            <a:ext cx="384048" cy="384048"/>
          </a:xfrm>
          <a:prstGeom prst="ellipse">
            <a:avLst/>
          </a:prstGeom>
          <a:solidFill>
            <a:srgbClr val="FDF3E3"/>
          </a:solidFill>
          <a:ln>
            <a:noFill/>
          </a:ln>
          <a:effectLst/>
        </p:spPr>
        <p:txBody>
          <a:bodyPr rtlCol="0" anchor="ctr"/>
          <a:lstStyle/>
          <a:p>
            <a:pPr algn="ctr"/>
          </a:p>
        </p:txBody>
      </p:sp>
      <p:pic>
        <p:nvPicPr>
          <p:cNvPr id="27" name="Picture 26" descr="stethoscope_E58900_256_2.0.png"/>
          <p:cNvPicPr>
            <a:picLocks noChangeAspect="1"/>
          </p:cNvPicPr>
          <p:nvPr/>
        </p:nvPicPr>
        <p:blipFill>
          <a:blip r:embed="rId7"/>
          <a:stretch>
            <a:fillRect/>
          </a:stretch>
        </p:blipFill>
        <p:spPr>
          <a:xfrm>
            <a:off x="6127211" y="5157944"/>
            <a:ext cx="199704" cy="199704"/>
          </a:xfrm>
          <a:prstGeom prst="rect">
            <a:avLst/>
          </a:prstGeom>
        </p:spPr>
      </p:pic>
      <p:sp>
        <p:nvSpPr>
          <p:cNvPr id="28" name="TextBox 27"/>
          <p:cNvSpPr txBox="1"/>
          <p:nvPr/>
        </p:nvSpPr>
        <p:spPr>
          <a:xfrm>
            <a:off x="6565392" y="5038341"/>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Ready for WG-5</a:t>
            </a:r>
          </a:p>
        </p:txBody>
      </p:sp>
      <p:sp>
        <p:nvSpPr>
          <p:cNvPr id="29" name="TextBox 28"/>
          <p:cNvSpPr txBox="1"/>
          <p:nvPr/>
        </p:nvSpPr>
        <p:spPr>
          <a:xfrm>
            <a:off x="8549640" y="5038341"/>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A referenced baseline for the Group's EMS and trauma-care standards discussions — states already compared, gaps already mapped.</a:t>
            </a:r>
          </a:p>
        </p:txBody>
      </p:sp>
      <p:sp>
        <p:nvSpPr>
          <p:cNvPr id="30" name="TextBox 29"/>
          <p:cNvSpPr txBox="1"/>
          <p:nvPr/>
        </p:nvSpPr>
        <p:spPr>
          <a:xfrm>
            <a:off x="566928" y="5532120"/>
            <a:ext cx="5486400" cy="548640"/>
          </a:xfrm>
          <a:prstGeom prst="rect">
            <a:avLst/>
          </a:prstGeom>
          <a:noFill/>
        </p:spPr>
        <p:txBody>
          <a:bodyPr wrap="square" lIns="0" rIns="0" tIns="0" bIns="0" anchor="t">
            <a:spAutoFit/>
          </a:bodyPr>
          <a:lstStyle/>
          <a:p>
            <a:pPr algn="l">
              <a:lnSpc>
                <a:spcPct val="130000"/>
              </a:lnSpc>
            </a:pPr>
            <a:r>
              <a:rPr sz="1000" b="1" i="0">
                <a:solidFill>
                  <a:srgbClr val="16181D"/>
                </a:solidFill>
                <a:latin typeface="Geist"/>
              </a:rPr>
              <a:t>Covered by Hindustan Times: </a:t>
            </a:r>
            <a:r>
              <a:rPr sz="1000" b="0" i="1">
                <a:solidFill>
                  <a:srgbClr val="6E7180"/>
                </a:solidFill>
                <a:latin typeface="Geist"/>
              </a:rPr>
              <a:t>'India's Road Safety Primer Flags Gaps in Pre-Hospital Emergency Care.'</a:t>
            </a:r>
          </a:p>
        </p:txBody>
      </p:sp>
      <p:cxnSp>
        <p:nvCxnSpPr>
          <p:cNvPr id="31" name="Connector 30"/>
          <p:cNvCxnSpPr/>
          <p:nvPr/>
        </p:nvCxnSpPr>
        <p:spPr>
          <a:xfrm>
            <a:off x="566928" y="6455664"/>
            <a:ext cx="11057839" cy="0"/>
          </a:xfrm>
          <a:prstGeom prst="line">
            <a:avLst/>
          </a:prstGeom>
          <a:ln w="9525">
            <a:solidFill>
              <a:srgbClr val="E8E9EE"/>
            </a:solidFill>
          </a:ln>
          <a:effectLst/>
        </p:spPr>
      </p:cxnSp>
      <p:sp>
        <p:nvSpPr>
          <p:cNvPr id="32" name="TextBox 3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3" name="TextBox 3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22 /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 IN THE WARDS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Helpdesks where families actually are: </a:t>
            </a:r>
            <a:r>
              <a:rPr sz="2250" b="1" i="0">
                <a:solidFill>
                  <a:srgbClr val="4A35FF"/>
                </a:solidFill>
                <a:latin typeface="Montserrat"/>
              </a:rPr>
              <a:t>trauma wards</a:t>
            </a:r>
          </a:p>
        </p:txBody>
      </p:sp>
      <p:pic>
        <p:nvPicPr>
          <p:cNvPr id="7" name="Picture 6" descr="ph_helpdesk_desk.jpg_4.30x2.60_0.40.jpg"/>
          <p:cNvPicPr>
            <a:picLocks noChangeAspect="1"/>
          </p:cNvPicPr>
          <p:nvPr/>
        </p:nvPicPr>
        <p:blipFill>
          <a:blip r:embed="rId2"/>
          <a:stretch>
            <a:fillRect/>
          </a:stretch>
        </p:blipFill>
        <p:spPr>
          <a:xfrm>
            <a:off x="566928" y="1874519"/>
            <a:ext cx="3931920" cy="2377440"/>
          </a:xfrm>
          <a:prstGeom prst="rect">
            <a:avLst/>
          </a:prstGeom>
        </p:spPr>
      </p:pic>
      <p:sp>
        <p:nvSpPr>
          <p:cNvPr id="8" name="Rectangle 7"/>
          <p:cNvSpPr/>
          <p:nvPr/>
        </p:nvSpPr>
        <p:spPr>
          <a:xfrm>
            <a:off x="566928" y="1874519"/>
            <a:ext cx="3931920" cy="237744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4297679"/>
            <a:ext cx="39319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Hospital legal helpdesk — 100+ victims supported in the first four days of operation.</a:t>
            </a:r>
          </a:p>
        </p:txBody>
      </p:sp>
      <p:pic>
        <p:nvPicPr>
          <p:cNvPr id="10" name="Picture 9" descr="ph_stall.jpg_4.30x1.45_0.45.jpg"/>
          <p:cNvPicPr>
            <a:picLocks noChangeAspect="1"/>
          </p:cNvPicPr>
          <p:nvPr/>
        </p:nvPicPr>
        <p:blipFill>
          <a:blip r:embed="rId3"/>
          <a:stretch>
            <a:fillRect/>
          </a:stretch>
        </p:blipFill>
        <p:spPr>
          <a:xfrm>
            <a:off x="566928" y="4709160"/>
            <a:ext cx="3931920" cy="1325880"/>
          </a:xfrm>
          <a:prstGeom prst="rect">
            <a:avLst/>
          </a:prstGeom>
        </p:spPr>
      </p:pic>
      <p:sp>
        <p:nvSpPr>
          <p:cNvPr id="11" name="Rectangle 10"/>
          <p:cNvSpPr/>
          <p:nvPr/>
        </p:nvSpPr>
        <p:spPr>
          <a:xfrm>
            <a:off x="566928" y="4709160"/>
            <a:ext cx="3931920" cy="1325880"/>
          </a:xfrm>
          <a:prstGeom prst="rect">
            <a:avLst/>
          </a:prstGeom>
          <a:noFill/>
          <a:ln w="12700">
            <a:solidFill>
              <a:srgbClr val="E8E9EE"/>
            </a:solidFill>
          </a:ln>
          <a:effectLst/>
        </p:spPr>
        <p:txBody>
          <a:bodyPr rtlCol="0" anchor="ctr"/>
          <a:lstStyle/>
          <a:p>
            <a:pPr algn="ctr"/>
          </a:p>
        </p:txBody>
      </p:sp>
      <p:sp>
        <p:nvSpPr>
          <p:cNvPr id="12" name="Oval 11"/>
          <p:cNvSpPr/>
          <p:nvPr/>
        </p:nvSpPr>
        <p:spPr>
          <a:xfrm>
            <a:off x="4892040" y="1874519"/>
            <a:ext cx="384048" cy="384048"/>
          </a:xfrm>
          <a:prstGeom prst="ellipse">
            <a:avLst/>
          </a:prstGeom>
          <a:solidFill>
            <a:srgbClr val="E9F7F0"/>
          </a:solidFill>
          <a:ln>
            <a:noFill/>
          </a:ln>
          <a:effectLst/>
        </p:spPr>
        <p:txBody>
          <a:bodyPr rtlCol="0" anchor="ctr"/>
          <a:lstStyle/>
          <a:p>
            <a:pPr algn="ctr"/>
          </a:p>
        </p:txBody>
      </p:sp>
      <p:pic>
        <p:nvPicPr>
          <p:cNvPr id="13" name="Picture 12" descr="life-buoy_0A9955_256_2.0.png"/>
          <p:cNvPicPr>
            <a:picLocks noChangeAspect="1"/>
          </p:cNvPicPr>
          <p:nvPr/>
        </p:nvPicPr>
        <p:blipFill>
          <a:blip r:embed="rId4"/>
          <a:stretch>
            <a:fillRect/>
          </a:stretch>
        </p:blipFill>
        <p:spPr>
          <a:xfrm>
            <a:off x="4984211" y="1966690"/>
            <a:ext cx="199704" cy="199704"/>
          </a:xfrm>
          <a:prstGeom prst="rect">
            <a:avLst/>
          </a:prstGeom>
        </p:spPr>
      </p:pic>
      <p:sp>
        <p:nvSpPr>
          <p:cNvPr id="14" name="TextBox 13"/>
          <p:cNvSpPr txBox="1"/>
          <p:nvPr/>
        </p:nvSpPr>
        <p:spPr>
          <a:xfrm>
            <a:off x="5422392" y="1847087"/>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What the desk does</a:t>
            </a:r>
          </a:p>
        </p:txBody>
      </p:sp>
      <p:sp>
        <p:nvSpPr>
          <p:cNvPr id="15" name="TextBox 14"/>
          <p:cNvSpPr txBox="1"/>
          <p:nvPr/>
        </p:nvSpPr>
        <p:spPr>
          <a:xfrm>
            <a:off x="7498080" y="1847087"/>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FIR follow-up, document checklists, DLSA referrals and compensation guidance — at the bedside, in Hindi.</a:t>
            </a:r>
          </a:p>
        </p:txBody>
      </p:sp>
      <p:sp>
        <p:nvSpPr>
          <p:cNvPr id="16" name="Oval 15"/>
          <p:cNvSpPr/>
          <p:nvPr/>
        </p:nvSpPr>
        <p:spPr>
          <a:xfrm>
            <a:off x="4892040" y="2907790"/>
            <a:ext cx="384048" cy="384048"/>
          </a:xfrm>
          <a:prstGeom prst="ellipse">
            <a:avLst/>
          </a:prstGeom>
          <a:solidFill>
            <a:srgbClr val="EFEDFF"/>
          </a:solidFill>
          <a:ln>
            <a:noFill/>
          </a:ln>
          <a:effectLst/>
        </p:spPr>
        <p:txBody>
          <a:bodyPr rtlCol="0" anchor="ctr"/>
          <a:lstStyle/>
          <a:p>
            <a:pPr algn="ctr"/>
          </a:p>
        </p:txBody>
      </p:sp>
      <p:pic>
        <p:nvPicPr>
          <p:cNvPr id="17" name="Picture 16" descr="users_4A35FF_256_2.0.png"/>
          <p:cNvPicPr>
            <a:picLocks noChangeAspect="1"/>
          </p:cNvPicPr>
          <p:nvPr/>
        </p:nvPicPr>
        <p:blipFill>
          <a:blip r:embed="rId5"/>
          <a:stretch>
            <a:fillRect/>
          </a:stretch>
        </p:blipFill>
        <p:spPr>
          <a:xfrm>
            <a:off x="4984211" y="2999961"/>
            <a:ext cx="199704" cy="199704"/>
          </a:xfrm>
          <a:prstGeom prst="rect">
            <a:avLst/>
          </a:prstGeom>
        </p:spPr>
      </p:pic>
      <p:sp>
        <p:nvSpPr>
          <p:cNvPr id="18" name="TextBox 17"/>
          <p:cNvSpPr txBox="1"/>
          <p:nvPr/>
        </p:nvSpPr>
        <p:spPr>
          <a:xfrm>
            <a:off x="5422392" y="2880358"/>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Who runs it</a:t>
            </a:r>
          </a:p>
        </p:txBody>
      </p:sp>
      <p:sp>
        <p:nvSpPr>
          <p:cNvPr id="19" name="TextBox 18"/>
          <p:cNvSpPr txBox="1"/>
          <p:nvPr/>
        </p:nvSpPr>
        <p:spPr>
          <a:xfrm>
            <a:off x="7498080" y="2880358"/>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Trained law-student volunteers under practising advocates — with Neev Foundation and DLSA coordination.</a:t>
            </a:r>
          </a:p>
        </p:txBody>
      </p:sp>
      <p:sp>
        <p:nvSpPr>
          <p:cNvPr id="20" name="Oval 19"/>
          <p:cNvSpPr/>
          <p:nvPr/>
        </p:nvSpPr>
        <p:spPr>
          <a:xfrm>
            <a:off x="4892040" y="3941061"/>
            <a:ext cx="384048" cy="384048"/>
          </a:xfrm>
          <a:prstGeom prst="ellipse">
            <a:avLst/>
          </a:prstGeom>
          <a:solidFill>
            <a:srgbClr val="E7F4F4"/>
          </a:solidFill>
          <a:ln>
            <a:noFill/>
          </a:ln>
          <a:effectLst/>
        </p:spPr>
        <p:txBody>
          <a:bodyPr rtlCol="0" anchor="ctr"/>
          <a:lstStyle/>
          <a:p>
            <a:pPr algn="ctr"/>
          </a:p>
        </p:txBody>
      </p:sp>
      <p:pic>
        <p:nvPicPr>
          <p:cNvPr id="21" name="Picture 20" descr="map-pin_0E8A8A_256_2.0.png"/>
          <p:cNvPicPr>
            <a:picLocks noChangeAspect="1"/>
          </p:cNvPicPr>
          <p:nvPr/>
        </p:nvPicPr>
        <p:blipFill>
          <a:blip r:embed="rId6"/>
          <a:stretch>
            <a:fillRect/>
          </a:stretch>
        </p:blipFill>
        <p:spPr>
          <a:xfrm>
            <a:off x="4984211" y="4033232"/>
            <a:ext cx="199704" cy="199704"/>
          </a:xfrm>
          <a:prstGeom prst="rect">
            <a:avLst/>
          </a:prstGeom>
        </p:spPr>
      </p:pic>
      <p:sp>
        <p:nvSpPr>
          <p:cNvPr id="22" name="TextBox 21"/>
          <p:cNvSpPr txBox="1"/>
          <p:nvPr/>
        </p:nvSpPr>
        <p:spPr>
          <a:xfrm>
            <a:off x="5422392" y="3913629"/>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Where it grows</a:t>
            </a:r>
          </a:p>
        </p:txBody>
      </p:sp>
      <p:sp>
        <p:nvSpPr>
          <p:cNvPr id="23" name="TextBox 22"/>
          <p:cNvSpPr txBox="1"/>
          <p:nvPr/>
        </p:nvSpPr>
        <p:spPr>
          <a:xfrm>
            <a:off x="7498080" y="3913629"/>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Gurugram and Delhi trauma wards first; the district toolkit makes it replicable wherever a DRSC wants one.</a:t>
            </a:r>
          </a:p>
        </p:txBody>
      </p:sp>
      <p:sp>
        <p:nvSpPr>
          <p:cNvPr id="24" name="Oval 23"/>
          <p:cNvSpPr/>
          <p:nvPr/>
        </p:nvSpPr>
        <p:spPr>
          <a:xfrm>
            <a:off x="4892040" y="4974332"/>
            <a:ext cx="384048" cy="384048"/>
          </a:xfrm>
          <a:prstGeom prst="ellipse">
            <a:avLst/>
          </a:prstGeom>
          <a:solidFill>
            <a:srgbClr val="FDF3E3"/>
          </a:solidFill>
          <a:ln>
            <a:noFill/>
          </a:ln>
          <a:effectLst/>
        </p:spPr>
        <p:txBody>
          <a:bodyPr rtlCol="0" anchor="ctr"/>
          <a:lstStyle/>
          <a:p>
            <a:pPr algn="ctr"/>
          </a:p>
        </p:txBody>
      </p:sp>
      <p:pic>
        <p:nvPicPr>
          <p:cNvPr id="25" name="Picture 24" descr="book-open_E58900_256_2.0.png"/>
          <p:cNvPicPr>
            <a:picLocks noChangeAspect="1"/>
          </p:cNvPicPr>
          <p:nvPr/>
        </p:nvPicPr>
        <p:blipFill>
          <a:blip r:embed="rId7"/>
          <a:stretch>
            <a:fillRect/>
          </a:stretch>
        </p:blipFill>
        <p:spPr>
          <a:xfrm>
            <a:off x="4984211" y="5066503"/>
            <a:ext cx="199704" cy="199704"/>
          </a:xfrm>
          <a:prstGeom prst="rect">
            <a:avLst/>
          </a:prstGeom>
        </p:spPr>
      </p:pic>
      <p:sp>
        <p:nvSpPr>
          <p:cNvPr id="26" name="TextBox 25"/>
          <p:cNvSpPr txBox="1"/>
          <p:nvPr/>
        </p:nvSpPr>
        <p:spPr>
          <a:xfrm>
            <a:off x="5422392" y="4946900"/>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Backed by materials</a:t>
            </a:r>
          </a:p>
        </p:txBody>
      </p:sp>
      <p:sp>
        <p:nvSpPr>
          <p:cNvPr id="27" name="TextBox 26"/>
          <p:cNvSpPr txBox="1"/>
          <p:nvPr/>
        </p:nvSpPr>
        <p:spPr>
          <a:xfrm>
            <a:off x="7498080" y="4946900"/>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The Hindi legal-rights guide and 'Meet Aasha' comics live at every desk — and Aasha continues the help at home, 24/7.</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 THE PIPELINE, MEASURED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Numbers a standard </a:t>
            </a:r>
            <a:r>
              <a:rPr sz="2250" b="1" i="0">
                <a:solidFill>
                  <a:srgbClr val="4A35FF"/>
                </a:solidFill>
                <a:latin typeface="Montserrat"/>
              </a:rPr>
              <a:t>can act on</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Each one is a lever for a WG-5 standard, toolkit entry or communication norm — none requires new legislation.</a:t>
            </a:r>
          </a:p>
        </p:txBody>
      </p:sp>
      <p:sp>
        <p:nvSpPr>
          <p:cNvPr id="8" name="Rounded Rectangle 7"/>
          <p:cNvSpPr/>
          <p:nvPr/>
        </p:nvSpPr>
        <p:spPr>
          <a:xfrm>
            <a:off x="566928" y="2148840"/>
            <a:ext cx="3611880" cy="1280160"/>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31520" y="225856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921 of 1,026</a:t>
            </a:r>
          </a:p>
        </p:txBody>
      </p:sp>
      <p:sp>
        <p:nvSpPr>
          <p:cNvPr id="10" name="TextBox 9"/>
          <p:cNvSpPr txBox="1"/>
          <p:nvPr/>
        </p:nvSpPr>
        <p:spPr>
          <a:xfrm>
            <a:off x="731520" y="271576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claims pending nationally were stalled at documentation alone (RTI, July 2024)</a:t>
            </a:r>
          </a:p>
        </p:txBody>
      </p:sp>
      <p:sp>
        <p:nvSpPr>
          <p:cNvPr id="11" name="Rounded Rectangle 10"/>
          <p:cNvSpPr/>
          <p:nvPr/>
        </p:nvSpPr>
        <p:spPr>
          <a:xfrm>
            <a:off x="4288536" y="2148840"/>
            <a:ext cx="3611880" cy="1280160"/>
          </a:xfrm>
          <a:prstGeom prst="roundRect">
            <a:avLst>
              <a:gd name="adj" fmla="val 8000"/>
            </a:avLst>
          </a:prstGeom>
          <a:solidFill>
            <a:srgbClr val="F7F7FA"/>
          </a:solidFill>
          <a:ln>
            <a:noFill/>
          </a:ln>
          <a:effectLst/>
        </p:spPr>
        <p:txBody>
          <a:bodyPr rtlCol="0" anchor="ctr"/>
          <a:lstStyle/>
          <a:p>
            <a:pPr algn="ctr"/>
          </a:p>
        </p:txBody>
      </p:sp>
      <p:sp>
        <p:nvSpPr>
          <p:cNvPr id="12" name="TextBox 11"/>
          <p:cNvSpPr txBox="1"/>
          <p:nvPr/>
        </p:nvSpPr>
        <p:spPr>
          <a:xfrm>
            <a:off x="4453128" y="225856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~60 days</a:t>
            </a:r>
          </a:p>
        </p:txBody>
      </p:sp>
      <p:sp>
        <p:nvSpPr>
          <p:cNvPr id="13" name="TextBox 12"/>
          <p:cNvSpPr txBox="1"/>
          <p:nvPr/>
        </p:nvSpPr>
        <p:spPr>
          <a:xfrm>
            <a:off x="4453128" y="271576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typical intake latency where claims surface only via bi-monthly meetings</a:t>
            </a:r>
          </a:p>
        </p:txBody>
      </p:sp>
      <p:sp>
        <p:nvSpPr>
          <p:cNvPr id="14" name="Rounded Rectangle 13"/>
          <p:cNvSpPr/>
          <p:nvPr/>
        </p:nvSpPr>
        <p:spPr>
          <a:xfrm>
            <a:off x="8010144" y="2148840"/>
            <a:ext cx="3611880" cy="1280160"/>
          </a:xfrm>
          <a:prstGeom prst="roundRect">
            <a:avLst>
              <a:gd name="adj" fmla="val 8000"/>
            </a:avLst>
          </a:prstGeom>
          <a:solidFill>
            <a:srgbClr val="F7F7FA"/>
          </a:solidFill>
          <a:ln>
            <a:noFill/>
          </a:ln>
          <a:effectLst/>
        </p:spPr>
        <p:txBody>
          <a:bodyPr rtlCol="0" anchor="ctr"/>
          <a:lstStyle/>
          <a:p>
            <a:pPr algn="ctr"/>
          </a:p>
        </p:txBody>
      </p:sp>
      <p:sp>
        <p:nvSpPr>
          <p:cNvPr id="15" name="TextBox 14"/>
          <p:cNvSpPr txBox="1"/>
          <p:nvPr/>
        </p:nvSpPr>
        <p:spPr>
          <a:xfrm>
            <a:off x="8174736" y="225856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~50%</a:t>
            </a:r>
          </a:p>
        </p:txBody>
      </p:sp>
      <p:sp>
        <p:nvSpPr>
          <p:cNvPr id="16" name="TextBox 15"/>
          <p:cNvSpPr txBox="1"/>
          <p:nvPr/>
        </p:nvSpPr>
        <p:spPr>
          <a:xfrm>
            <a:off x="8174736" y="271576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of case files lack a usable family phone number — traceability is the first lever</a:t>
            </a:r>
          </a:p>
        </p:txBody>
      </p:sp>
      <p:sp>
        <p:nvSpPr>
          <p:cNvPr id="17" name="Rounded Rectangle 16"/>
          <p:cNvSpPr/>
          <p:nvPr/>
        </p:nvSpPr>
        <p:spPr>
          <a:xfrm>
            <a:off x="566928" y="3566160"/>
            <a:ext cx="3611880" cy="1280160"/>
          </a:xfrm>
          <a:prstGeom prst="roundRect">
            <a:avLst>
              <a:gd name="adj" fmla="val 8000"/>
            </a:avLst>
          </a:prstGeom>
          <a:solidFill>
            <a:srgbClr val="F7F7FA"/>
          </a:solidFill>
          <a:ln>
            <a:noFill/>
          </a:ln>
          <a:effectLst/>
        </p:spPr>
        <p:txBody>
          <a:bodyPr rtlCol="0" anchor="ctr"/>
          <a:lstStyle/>
          <a:p>
            <a:pPr algn="ctr"/>
          </a:p>
        </p:txBody>
      </p:sp>
      <p:sp>
        <p:nvSpPr>
          <p:cNvPr id="18" name="TextBox 17"/>
          <p:cNvSpPr txBox="1"/>
          <p:nvPr/>
        </p:nvSpPr>
        <p:spPr>
          <a:xfrm>
            <a:off x="731520" y="367588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7 vs 11–13</a:t>
            </a:r>
          </a:p>
        </p:txBody>
      </p:sp>
      <p:sp>
        <p:nvSpPr>
          <p:cNvPr id="19" name="TextBox 18"/>
          <p:cNvSpPr txBox="1"/>
          <p:nvPr/>
        </p:nvSpPr>
        <p:spPr>
          <a:xfrm>
            <a:off x="731520" y="413308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court-agreed documents vs what claimants are asked for in practice</a:t>
            </a:r>
          </a:p>
        </p:txBody>
      </p:sp>
      <p:sp>
        <p:nvSpPr>
          <p:cNvPr id="20" name="Rounded Rectangle 19"/>
          <p:cNvSpPr/>
          <p:nvPr/>
        </p:nvSpPr>
        <p:spPr>
          <a:xfrm>
            <a:off x="4288536" y="3566160"/>
            <a:ext cx="3611880" cy="1280160"/>
          </a:xfrm>
          <a:prstGeom prst="roundRect">
            <a:avLst>
              <a:gd name="adj" fmla="val 8000"/>
            </a:avLst>
          </a:prstGeom>
          <a:solidFill>
            <a:srgbClr val="F7F7FA"/>
          </a:solidFill>
          <a:ln>
            <a:noFill/>
          </a:ln>
          <a:effectLst/>
        </p:spPr>
        <p:txBody>
          <a:bodyPr rtlCol="0" anchor="ctr"/>
          <a:lstStyle/>
          <a:p>
            <a:pPr algn="ctr"/>
          </a:p>
        </p:txBody>
      </p:sp>
      <p:sp>
        <p:nvSpPr>
          <p:cNvPr id="21" name="TextBox 20"/>
          <p:cNvSpPr txBox="1"/>
          <p:nvPr/>
        </p:nvSpPr>
        <p:spPr>
          <a:xfrm>
            <a:off x="4453128" y="367588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FY23-24: 12%</a:t>
            </a:r>
          </a:p>
        </p:txBody>
      </p:sp>
      <p:sp>
        <p:nvSpPr>
          <p:cNvPr id="22" name="TextBox 21"/>
          <p:cNvSpPr txBox="1"/>
          <p:nvPr/>
        </p:nvSpPr>
        <p:spPr>
          <a:xfrm>
            <a:off x="4453128" y="413308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of eligible crashes converted to filed claims — improving, from a 2% base</a:t>
            </a:r>
          </a:p>
        </p:txBody>
      </p:sp>
      <p:sp>
        <p:nvSpPr>
          <p:cNvPr id="23" name="Rounded Rectangle 22"/>
          <p:cNvSpPr/>
          <p:nvPr/>
        </p:nvSpPr>
        <p:spPr>
          <a:xfrm>
            <a:off x="8010144" y="3566160"/>
            <a:ext cx="3611880" cy="1280160"/>
          </a:xfrm>
          <a:prstGeom prst="roundRect">
            <a:avLst>
              <a:gd name="adj" fmla="val 8000"/>
            </a:avLst>
          </a:prstGeom>
          <a:solidFill>
            <a:srgbClr val="F7F7FA"/>
          </a:solidFill>
          <a:ln>
            <a:noFill/>
          </a:ln>
          <a:effectLst/>
        </p:spPr>
        <p:txBody>
          <a:bodyPr rtlCol="0" anchor="ctr"/>
          <a:lstStyle/>
          <a:p>
            <a:pPr algn="ctr"/>
          </a:p>
        </p:txBody>
      </p:sp>
      <p:sp>
        <p:nvSpPr>
          <p:cNvPr id="24" name="TextBox 23"/>
          <p:cNvSpPr txBox="1"/>
          <p:nvPr/>
        </p:nvSpPr>
        <p:spPr>
          <a:xfrm>
            <a:off x="8174736" y="3675888"/>
            <a:ext cx="3282696" cy="45720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5 + 22</a:t>
            </a:r>
          </a:p>
        </p:txBody>
      </p:sp>
      <p:sp>
        <p:nvSpPr>
          <p:cNvPr id="25" name="TextBox 24"/>
          <p:cNvSpPr txBox="1"/>
          <p:nvPr/>
        </p:nvSpPr>
        <p:spPr>
          <a:xfrm>
            <a:off x="8174736" y="4133088"/>
            <a:ext cx="3282696" cy="64008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GIC clarification queries drafted · RTIs building the public record</a:t>
            </a:r>
          </a:p>
        </p:txBody>
      </p:sp>
      <p:sp>
        <p:nvSpPr>
          <p:cNvPr id="26" name="TextBox 25"/>
          <p:cNvSpPr txBox="1"/>
          <p:nvPr/>
        </p:nvSpPr>
        <p:spPr>
          <a:xfrm>
            <a:off x="566928" y="5257800"/>
            <a:ext cx="11057839" cy="731520"/>
          </a:xfrm>
          <a:prstGeom prst="rect">
            <a:avLst/>
          </a:prstGeom>
          <a:noFill/>
        </p:spPr>
        <p:txBody>
          <a:bodyPr wrap="square" lIns="0" rIns="0" tIns="0" bIns="0" anchor="t">
            <a:spAutoFit/>
          </a:bodyPr>
          <a:lstStyle/>
          <a:p>
            <a:pPr algn="l">
              <a:lnSpc>
                <a:spcPct val="135000"/>
              </a:lnSpc>
            </a:pPr>
            <a:r>
              <a:rPr sz="1050" b="1" i="0">
                <a:solidFill>
                  <a:srgbClr val="16181D"/>
                </a:solidFill>
                <a:latin typeface="Geist"/>
              </a:rPr>
              <a:t>The claim's other side: </a:t>
            </a:r>
            <a:r>
              <a:rPr sz="1050" b="0" i="0">
                <a:solidFill>
                  <a:srgbClr val="6E7180"/>
                </a:solidFill>
                <a:latin typeface="Geist"/>
              </a:rPr>
              <a:t>consultations with GIC and insurers on settlement practice · guidance from Justice J.R. Midha (Retd.), architect of the FaSTDAR process · working partners across MACT courts, DLSAs and legal-services clinics — Mishika Singh (Neev Foundation), Yash Agarwal (Public Policy India), Sanchit Seth (Advocate, Delhi MACT).</a:t>
            </a:r>
          </a:p>
        </p:txBody>
      </p:sp>
      <p:cxnSp>
        <p:nvCxnSpPr>
          <p:cNvPr id="27" name="Connector 26"/>
          <p:cNvCxnSpPr/>
          <p:nvPr/>
        </p:nvCxnSpPr>
        <p:spPr>
          <a:xfrm>
            <a:off x="566928" y="6455664"/>
            <a:ext cx="11057839" cy="0"/>
          </a:xfrm>
          <a:prstGeom prst="line">
            <a:avLst/>
          </a:prstGeom>
          <a:ln w="9525">
            <a:solidFill>
              <a:srgbClr val="E8E9EE"/>
            </a:solidFill>
          </a:ln>
          <a:effectLst/>
        </p:spPr>
      </p:cxnSp>
      <p:sp>
        <p:nvSpPr>
          <p:cNvPr id="28" name="TextBox 2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9" name="TextBox 2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24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OUR CONTRIBUTION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HOW WE CAN CONTRIBUTE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Four concrete offers to </a:t>
            </a:r>
            <a:r>
              <a:rPr sz="2250" b="1" i="0">
                <a:solidFill>
                  <a:srgbClr val="4A35FF"/>
                </a:solidFill>
                <a:latin typeface="Montserrat"/>
              </a:rPr>
              <a:t>Working Group 5</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All four are ready today, need no funding from the Board, and can begin within weeks.</a:t>
            </a:r>
          </a:p>
        </p:txBody>
      </p:sp>
      <p:sp>
        <p:nvSpPr>
          <p:cNvPr id="8" name="Rounded Rectangle 7"/>
          <p:cNvSpPr/>
          <p:nvPr/>
        </p:nvSpPr>
        <p:spPr>
          <a:xfrm>
            <a:off x="566928" y="2057400"/>
            <a:ext cx="11055096" cy="841248"/>
          </a:xfrm>
          <a:prstGeom prst="roundRect">
            <a:avLst>
              <a:gd name="adj" fmla="val 10000"/>
            </a:avLst>
          </a:prstGeom>
          <a:solidFill>
            <a:srgbClr val="F7F7FA"/>
          </a:solidFill>
          <a:ln>
            <a:noFill/>
          </a:ln>
          <a:effectLst/>
        </p:spPr>
        <p:txBody>
          <a:bodyPr rtlCol="0" anchor="ctr"/>
          <a:lstStyle/>
          <a:p>
            <a:pPr algn="ctr"/>
          </a:p>
        </p:txBody>
      </p:sp>
      <p:sp>
        <p:nvSpPr>
          <p:cNvPr id="9" name="Oval 8"/>
          <p:cNvSpPr/>
          <p:nvPr/>
        </p:nvSpPr>
        <p:spPr>
          <a:xfrm>
            <a:off x="749808" y="2258568"/>
            <a:ext cx="438912" cy="438912"/>
          </a:xfrm>
          <a:prstGeom prst="ellipse">
            <a:avLst/>
          </a:prstGeom>
          <a:solidFill>
            <a:srgbClr val="EFEDFF"/>
          </a:solidFill>
          <a:ln>
            <a:noFill/>
          </a:ln>
          <a:effectLst/>
        </p:spPr>
        <p:txBody>
          <a:bodyPr rtlCol="0" anchor="ctr"/>
          <a:lstStyle/>
          <a:p>
            <a:pPr algn="ctr"/>
          </a:p>
        </p:txBody>
      </p:sp>
      <p:sp>
        <p:nvSpPr>
          <p:cNvPr id="10" name="TextBox 9"/>
          <p:cNvSpPr txBox="1"/>
          <p:nvPr/>
        </p:nvSpPr>
        <p:spPr>
          <a:xfrm>
            <a:off x="749808" y="224759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11" name="TextBox 10"/>
          <p:cNvSpPr txBox="1"/>
          <p:nvPr/>
        </p:nvSpPr>
        <p:spPr>
          <a:xfrm>
            <a:off x="1408176" y="2176272"/>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victim-side evidence base</a:t>
            </a:r>
          </a:p>
        </p:txBody>
      </p:sp>
      <p:sp>
        <p:nvSpPr>
          <p:cNvPr id="12" name="TextBox 11"/>
          <p:cNvSpPr txBox="1"/>
          <p:nvPr/>
        </p:nvSpPr>
        <p:spPr>
          <a:xfrm>
            <a:off x="5138928" y="2176272"/>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'Justice Unserved', 'Deposited But Not Delivered', 120+ victim and family interactions, and file-level pipeline data showing precisely where eligible families drop out.</a:t>
            </a:r>
          </a:p>
        </p:txBody>
      </p:sp>
      <p:sp>
        <p:nvSpPr>
          <p:cNvPr id="13" name="Rounded Rectangle 12"/>
          <p:cNvSpPr/>
          <p:nvPr/>
        </p:nvSpPr>
        <p:spPr>
          <a:xfrm>
            <a:off x="566928" y="3026664"/>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749808" y="3227832"/>
            <a:ext cx="438912" cy="438912"/>
          </a:xfrm>
          <a:prstGeom prst="ellipse">
            <a:avLst/>
          </a:prstGeom>
          <a:solidFill>
            <a:srgbClr val="EFEDFF"/>
          </a:solidFill>
          <a:ln>
            <a:noFill/>
          </a:ln>
          <a:effectLst/>
        </p:spPr>
        <p:txBody>
          <a:bodyPr rtlCol="0" anchor="ctr"/>
          <a:lstStyle/>
          <a:p>
            <a:pPr algn="ctr"/>
          </a:p>
        </p:txBody>
      </p:sp>
      <p:sp>
        <p:nvSpPr>
          <p:cNvPr id="15" name="TextBox 14"/>
          <p:cNvSpPr txBox="1"/>
          <p:nvPr/>
        </p:nvSpPr>
        <p:spPr>
          <a:xfrm>
            <a:off x="749808" y="321686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6" name="TextBox 15"/>
          <p:cNvSpPr txBox="1"/>
          <p:nvPr/>
        </p:nvSpPr>
        <p:spPr>
          <a:xfrm>
            <a:off x="1408176" y="3145536"/>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district toolkit, drawn from practice</a:t>
            </a:r>
          </a:p>
        </p:txBody>
      </p:sp>
      <p:sp>
        <p:nvSpPr>
          <p:cNvPr id="17" name="TextBox 16"/>
          <p:cNvSpPr txBox="1"/>
          <p:nvPr/>
        </p:nvSpPr>
        <p:spPr>
          <a:xfrm>
            <a:off x="5138928" y="3145536"/>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Working DRSC integration experience — agendas, file digitisation, fellow placement — ready to be codified into the Group's district toolkit.</a:t>
            </a:r>
          </a:p>
        </p:txBody>
      </p:sp>
      <p:sp>
        <p:nvSpPr>
          <p:cNvPr id="18" name="Rounded Rectangle 17"/>
          <p:cNvSpPr/>
          <p:nvPr/>
        </p:nvSpPr>
        <p:spPr>
          <a:xfrm>
            <a:off x="566928" y="3995928"/>
            <a:ext cx="11055096" cy="841248"/>
          </a:xfrm>
          <a:prstGeom prst="roundRect">
            <a:avLst>
              <a:gd name="adj" fmla="val 10000"/>
            </a:avLst>
          </a:prstGeom>
          <a:solidFill>
            <a:srgbClr val="F7F7FA"/>
          </a:solidFill>
          <a:ln>
            <a:noFill/>
          </a:ln>
          <a:effectLst/>
        </p:spPr>
        <p:txBody>
          <a:bodyPr rtlCol="0" anchor="ctr"/>
          <a:lstStyle/>
          <a:p>
            <a:pPr algn="ctr"/>
          </a:p>
        </p:txBody>
      </p:sp>
      <p:sp>
        <p:nvSpPr>
          <p:cNvPr id="19" name="Oval 18"/>
          <p:cNvSpPr/>
          <p:nvPr/>
        </p:nvSpPr>
        <p:spPr>
          <a:xfrm>
            <a:off x="749808" y="4197096"/>
            <a:ext cx="438912" cy="438912"/>
          </a:xfrm>
          <a:prstGeom prst="ellipse">
            <a:avLst/>
          </a:prstGeom>
          <a:solidFill>
            <a:srgbClr val="EFEDFF"/>
          </a:solidFill>
          <a:ln>
            <a:noFill/>
          </a:ln>
          <a:effectLst/>
        </p:spPr>
        <p:txBody>
          <a:bodyPr rtlCol="0" anchor="ctr"/>
          <a:lstStyle/>
          <a:p>
            <a:pPr algn="ctr"/>
          </a:p>
        </p:txBody>
      </p:sp>
      <p:sp>
        <p:nvSpPr>
          <p:cNvPr id="20" name="TextBox 19"/>
          <p:cNvSpPr txBox="1"/>
          <p:nvPr/>
        </p:nvSpPr>
        <p:spPr>
          <a:xfrm>
            <a:off x="749808" y="418612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1" name="TextBox 20"/>
          <p:cNvSpPr txBox="1"/>
          <p:nvPr/>
        </p:nvSpPr>
        <p:spPr>
          <a:xfrm>
            <a:off x="1408176" y="4114800"/>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reusable state portal blueprint</a:t>
            </a:r>
          </a:p>
        </p:txBody>
      </p:sp>
      <p:sp>
        <p:nvSpPr>
          <p:cNvPr id="22" name="TextBox 21"/>
          <p:cNvSpPr txBox="1"/>
          <p:nvPr/>
        </p:nvSpPr>
        <p:spPr>
          <a:xfrm>
            <a:off x="5138928" y="4114800"/>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The Rajasthan case-management design — guided filing, stage-wise visibility, single-pass clarification — offered as a template any state can adapt.</a:t>
            </a:r>
          </a:p>
        </p:txBody>
      </p:sp>
      <p:sp>
        <p:nvSpPr>
          <p:cNvPr id="23" name="Rounded Rectangle 22"/>
          <p:cNvSpPr/>
          <p:nvPr/>
        </p:nvSpPr>
        <p:spPr>
          <a:xfrm>
            <a:off x="566928" y="4965192"/>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24" name="Oval 23"/>
          <p:cNvSpPr/>
          <p:nvPr/>
        </p:nvSpPr>
        <p:spPr>
          <a:xfrm>
            <a:off x="749808" y="5166360"/>
            <a:ext cx="438912" cy="438912"/>
          </a:xfrm>
          <a:prstGeom prst="ellipse">
            <a:avLst/>
          </a:prstGeom>
          <a:solidFill>
            <a:srgbClr val="EFEDFF"/>
          </a:solidFill>
          <a:ln>
            <a:noFill/>
          </a:ln>
          <a:effectLst/>
        </p:spPr>
        <p:txBody>
          <a:bodyPr rtlCol="0" anchor="ctr"/>
          <a:lstStyle/>
          <a:p>
            <a:pPr algn="ctr"/>
          </a:p>
        </p:txBody>
      </p:sp>
      <p:sp>
        <p:nvSpPr>
          <p:cNvPr id="25" name="TextBox 24"/>
          <p:cNvSpPr txBox="1"/>
          <p:nvPr/>
        </p:nvSpPr>
        <p:spPr>
          <a:xfrm>
            <a:off x="749808" y="515538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26" name="TextBox 25"/>
          <p:cNvSpPr txBox="1"/>
          <p:nvPr/>
        </p:nvSpPr>
        <p:spPr>
          <a:xfrm>
            <a:off x="1408176" y="5084064"/>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Standards input from the claimant's side</a:t>
            </a:r>
          </a:p>
        </p:txBody>
      </p:sp>
      <p:sp>
        <p:nvSpPr>
          <p:cNvPr id="27" name="TextBox 26"/>
          <p:cNvSpPr txBox="1"/>
          <p:nvPr/>
        </p:nvSpPr>
        <p:spPr>
          <a:xfrm>
            <a:off x="5138928" y="5084064"/>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Document standards (the court-agreed 7), communication norms and timeline benchmarks, grounded in what families actually experience.</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1874519"/>
            <a:ext cx="10515600" cy="1280160"/>
          </a:xfrm>
          <a:prstGeom prst="rect">
            <a:avLst/>
          </a:prstGeom>
          <a:noFill/>
        </p:spPr>
        <p:txBody>
          <a:bodyPr wrap="square" lIns="0" rIns="0" tIns="0" bIns="0" anchor="t">
            <a:spAutoFit/>
          </a:bodyPr>
          <a:lstStyle/>
          <a:p>
            <a:pPr algn="l">
              <a:lnSpc>
                <a:spcPct val="120000"/>
              </a:lnSpc>
            </a:pPr>
            <a:r>
              <a:rPr sz="3000" b="1" i="0">
                <a:solidFill>
                  <a:srgbClr val="FFFFFF"/>
                </a:solidFill>
                <a:latin typeface="Montserrat"/>
              </a:rPr>
              <a:t>We would be honoured to contribute</a:t>
            </a:r>
          </a:p>
          <a:p>
            <a:pPr algn="l">
              <a:lnSpc>
                <a:spcPct val="120000"/>
              </a:lnSpc>
            </a:pPr>
            <a:r>
              <a:rPr sz="3000" b="1" i="0">
                <a:solidFill>
                  <a:srgbClr val="FFFFFF"/>
                </a:solidFill>
                <a:latin typeface="Montserrat"/>
              </a:rPr>
              <a:t>to Working Group 5.</a:t>
            </a:r>
          </a:p>
        </p:txBody>
      </p:sp>
      <p:sp>
        <p:nvSpPr>
          <p:cNvPr id="5" name="TextBox 4"/>
          <p:cNvSpPr txBox="1"/>
          <p:nvPr/>
        </p:nvSpPr>
        <p:spPr>
          <a:xfrm>
            <a:off x="566928" y="3383280"/>
            <a:ext cx="9601200" cy="548640"/>
          </a:xfrm>
          <a:prstGeom prst="rect">
            <a:avLst/>
          </a:prstGeom>
          <a:noFill/>
        </p:spPr>
        <p:txBody>
          <a:bodyPr wrap="square" lIns="0" rIns="0" tIns="0" bIns="0" anchor="t">
            <a:spAutoFit/>
          </a:bodyPr>
          <a:lstStyle/>
          <a:p>
            <a:pPr algn="l">
              <a:lnSpc>
                <a:spcPct val="140000"/>
              </a:lnSpc>
            </a:pPr>
            <a:r>
              <a:rPr sz="1200" b="0" i="0">
                <a:solidFill>
                  <a:srgbClr val="C8C0FF"/>
                </a:solidFill>
                <a:latin typeface="Geist"/>
              </a:rPr>
              <a:t>Our evidence, our district relationships, our technology and our expert bench are available to the Board — in whichever form is most useful.</a:t>
            </a:r>
          </a:p>
        </p:txBody>
      </p:sp>
      <p:cxnSp>
        <p:nvCxnSpPr>
          <p:cNvPr id="6" name="Connector 5"/>
          <p:cNvCxnSpPr/>
          <p:nvPr/>
        </p:nvCxnSpPr>
        <p:spPr>
          <a:xfrm>
            <a:off x="566928" y="4160520"/>
            <a:ext cx="4754880" cy="0"/>
          </a:xfrm>
          <a:prstGeom prst="line">
            <a:avLst/>
          </a:prstGeom>
          <a:ln w="12700">
            <a:solidFill>
              <a:srgbClr val="6A55FF"/>
            </a:solidFill>
          </a:ln>
          <a:effectLst/>
        </p:spPr>
      </p:cxnSp>
      <p:sp>
        <p:nvSpPr>
          <p:cNvPr id="7" name="TextBox 6"/>
          <p:cNvSpPr txBox="1"/>
          <p:nvPr/>
        </p:nvSpPr>
        <p:spPr>
          <a:xfrm>
            <a:off x="566928" y="4343400"/>
            <a:ext cx="7863840" cy="777240"/>
          </a:xfrm>
          <a:prstGeom prst="rect">
            <a:avLst/>
          </a:prstGeom>
          <a:noFill/>
        </p:spPr>
        <p:txBody>
          <a:bodyPr wrap="square" lIns="0" rIns="0" tIns="0" bIns="0" anchor="t">
            <a:spAutoFit/>
          </a:bodyPr>
          <a:lstStyle/>
          <a:p>
            <a:pPr algn="l">
              <a:lnSpc>
                <a:spcPct val="135000"/>
              </a:lnSpc>
            </a:pPr>
            <a:r>
              <a:rPr sz="1350" b="1" i="1">
                <a:solidFill>
                  <a:srgbClr val="FFFFFF"/>
                </a:solidFill>
                <a:latin typeface="Montserrat"/>
              </a:rPr>
              <a:t>"We already know what is going wrong. What we need now is more responsibility, more discipline, more respect for life."</a:t>
            </a:r>
          </a:p>
        </p:txBody>
      </p:sp>
      <p:sp>
        <p:nvSpPr>
          <p:cNvPr id="8" name="TextBox 7"/>
          <p:cNvSpPr txBox="1"/>
          <p:nvPr/>
        </p:nvSpPr>
        <p:spPr>
          <a:xfrm>
            <a:off x="566928" y="5138928"/>
            <a:ext cx="7315200" cy="274320"/>
          </a:xfrm>
          <a:prstGeom prst="rect">
            <a:avLst/>
          </a:prstGeom>
          <a:noFill/>
        </p:spPr>
        <p:txBody>
          <a:bodyPr wrap="square" lIns="0" rIns="0" tIns="0" bIns="0" anchor="t">
            <a:spAutoFit/>
          </a:bodyPr>
          <a:lstStyle/>
          <a:p>
            <a:pPr algn="l">
              <a:lnSpc>
                <a:spcPct val="128000"/>
              </a:lnSpc>
            </a:pPr>
            <a:r>
              <a:rPr sz="1000" b="0" i="0">
                <a:solidFill>
                  <a:srgbClr val="C8C0FF"/>
                </a:solidFill>
                <a:latin typeface="Geist"/>
              </a:rPr>
              <a:t>MS Dhoni · Goodwill Ambassador, Crashfree India</a:t>
            </a:r>
          </a:p>
        </p:txBody>
      </p:sp>
      <p:pic>
        <p:nvPicPr>
          <p:cNvPr id="9" name="Picture 8" descr="globe_C8C0FF_256_2.0.png"/>
          <p:cNvPicPr>
            <a:picLocks noChangeAspect="1"/>
          </p:cNvPicPr>
          <p:nvPr/>
        </p:nvPicPr>
        <p:blipFill>
          <a:blip r:embed="rId3"/>
          <a:stretch>
            <a:fillRect/>
          </a:stretch>
        </p:blipFill>
        <p:spPr>
          <a:xfrm>
            <a:off x="566928" y="5577840"/>
            <a:ext cx="256032" cy="256032"/>
          </a:xfrm>
          <a:prstGeom prst="rect">
            <a:avLst/>
          </a:prstGeom>
        </p:spPr>
      </p:pic>
      <p:sp>
        <p:nvSpPr>
          <p:cNvPr id="10" name="TextBox 9"/>
          <p:cNvSpPr txBox="1"/>
          <p:nvPr/>
        </p:nvSpPr>
        <p:spPr>
          <a:xfrm>
            <a:off x="978408" y="5559552"/>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crashfreeindia.org</a:t>
            </a:r>
          </a:p>
        </p:txBody>
      </p:sp>
      <p:pic>
        <p:nvPicPr>
          <p:cNvPr id="11" name="Picture 10" descr="mail_C8C0FF_256_2.0.png"/>
          <p:cNvPicPr>
            <a:picLocks noChangeAspect="1"/>
          </p:cNvPicPr>
          <p:nvPr/>
        </p:nvPicPr>
        <p:blipFill>
          <a:blip r:embed="rId4"/>
          <a:stretch>
            <a:fillRect/>
          </a:stretch>
        </p:blipFill>
        <p:spPr>
          <a:xfrm>
            <a:off x="566928" y="5998464"/>
            <a:ext cx="256032" cy="256032"/>
          </a:xfrm>
          <a:prstGeom prst="rect">
            <a:avLst/>
          </a:prstGeom>
        </p:spPr>
      </p:pic>
      <p:sp>
        <p:nvSpPr>
          <p:cNvPr id="12" name="TextBox 11"/>
          <p:cNvSpPr txBox="1"/>
          <p:nvPr/>
        </p:nvSpPr>
        <p:spPr>
          <a:xfrm>
            <a:off x="978408" y="5980176"/>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akhtar@crashfreeindia.org  ·  helpdesk@crashfreeindia.org</a:t>
            </a:r>
          </a:p>
        </p:txBody>
      </p:sp>
      <p:sp>
        <p:nvSpPr>
          <p:cNvPr id="13" name="TextBox 12"/>
          <p:cNvSpPr txBox="1"/>
          <p:nvPr/>
        </p:nvSpPr>
        <p:spPr>
          <a:xfrm>
            <a:off x="566928" y="6446520"/>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a:t>
            </a:r>
          </a:p>
        </p:txBody>
      </p:sp>
      <p:pic>
        <p:nvPicPr>
          <p:cNvPr id="14" name="Picture 13" descr="ph_dhoni_white.jpg_3.10x4.20_0.10.jpg"/>
          <p:cNvPicPr>
            <a:picLocks noChangeAspect="1"/>
          </p:cNvPicPr>
          <p:nvPr/>
        </p:nvPicPr>
        <p:blipFill>
          <a:blip r:embed="rId5"/>
          <a:stretch>
            <a:fillRect/>
          </a:stretch>
        </p:blipFill>
        <p:spPr>
          <a:xfrm>
            <a:off x="8778240" y="1874519"/>
            <a:ext cx="2834640" cy="3840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