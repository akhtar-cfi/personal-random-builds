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jpg"/><Relationship Id="rId7" Type="http://schemas.openxmlformats.org/officeDocument/2006/relationships/image" Target="../media/image2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9.jp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39.jpg"/><Relationship Id="rId4" Type="http://schemas.openxmlformats.org/officeDocument/2006/relationships/image" Target="../media/image40.png"/><Relationship Id="rId5" Type="http://schemas.openxmlformats.org/officeDocument/2006/relationships/image" Target="../media/image4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51.jp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6.jpg"/><Relationship Id="rId4" Type="http://schemas.openxmlformats.org/officeDocument/2006/relationships/image" Target="../media/image57.jpg"/><Relationship Id="rId5" Type="http://schemas.openxmlformats.org/officeDocument/2006/relationships/image" Target="../media/image58.jpg"/><Relationship Id="rId6" Type="http://schemas.openxmlformats.org/officeDocument/2006/relationships/image" Target="../media/image5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image" Target="../media/image61.jpg"/><Relationship Id="rId4" Type="http://schemas.openxmlformats.org/officeDocument/2006/relationships/image" Target="../media/image62.jpg"/><Relationship Id="rId5" Type="http://schemas.openxmlformats.org/officeDocument/2006/relationships/image" Target="../media/image6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 Id="rId10" Type="http://schemas.openxmlformats.org/officeDocument/2006/relationships/image" Target="../media/image72.png"/><Relationship Id="rId11" Type="http://schemas.openxmlformats.org/officeDocument/2006/relationships/image" Target="../media/image73.png"/><Relationship Id="rId12" Type="http://schemas.openxmlformats.org/officeDocument/2006/relationships/image" Target="../media/image74.png"/><Relationship Id="rId13" Type="http://schemas.openxmlformats.org/officeDocument/2006/relationships/image" Target="../media/image75.png"/><Relationship Id="rId14" Type="http://schemas.openxmlformats.org/officeDocument/2006/relationships/image" Target="../media/image76.png"/><Relationship Id="rId15" Type="http://schemas.openxmlformats.org/officeDocument/2006/relationships/image" Target="../media/image77.png"/><Relationship Id="rId16" Type="http://schemas.openxmlformats.org/officeDocument/2006/relationships/image" Target="../media/image78.png"/><Relationship Id="rId17" Type="http://schemas.openxmlformats.org/officeDocument/2006/relationships/image" Target="../media/image79.png"/><Relationship Id="rId18" Type="http://schemas.openxmlformats.org/officeDocument/2006/relationships/image" Target="../media/image80.png"/><Relationship Id="rId19" Type="http://schemas.openxmlformats.org/officeDocument/2006/relationships/image" Target="../media/image81.png"/><Relationship Id="rId20" Type="http://schemas.openxmlformats.org/officeDocument/2006/relationships/image" Target="../media/image82.png"/><Relationship Id="rId21" Type="http://schemas.openxmlformats.org/officeDocument/2006/relationships/image" Target="../media/image83.png"/><Relationship Id="rId22" Type="http://schemas.openxmlformats.org/officeDocument/2006/relationships/image" Target="../media/image84.png"/><Relationship Id="rId23" Type="http://schemas.openxmlformats.org/officeDocument/2006/relationships/image" Target="../media/image85.png"/><Relationship Id="rId24" Type="http://schemas.openxmlformats.org/officeDocument/2006/relationships/image" Target="../media/image86.png"/><Relationship Id="rId25" Type="http://schemas.openxmlformats.org/officeDocument/2006/relationships/image" Target="../media/image8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image" Target="../media/image93.png"/><Relationship Id="rId8" Type="http://schemas.openxmlformats.org/officeDocument/2006/relationships/image" Target="../media/image94.png"/><Relationship Id="rId9" Type="http://schemas.openxmlformats.org/officeDocument/2006/relationships/image" Target="../media/image95.png"/><Relationship Id="rId10" Type="http://schemas.openxmlformats.org/officeDocument/2006/relationships/image" Target="../media/image96.png"/><Relationship Id="rId11" Type="http://schemas.openxmlformats.org/officeDocument/2006/relationships/image" Target="../media/image97.png"/><Relationship Id="rId12" Type="http://schemas.openxmlformats.org/officeDocument/2006/relationships/image" Target="../media/image98.png"/><Relationship Id="rId13" Type="http://schemas.openxmlformats.org/officeDocument/2006/relationships/image" Target="../media/image9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00.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101.png"/><Relationship Id="rId7" Type="http://schemas.openxmlformats.org/officeDocument/2006/relationships/image" Target="../media/image102.png"/><Relationship Id="rId8" Type="http://schemas.openxmlformats.org/officeDocument/2006/relationships/image" Target="../media/image21.png"/><Relationship Id="rId9" Type="http://schemas.openxmlformats.org/officeDocument/2006/relationships/image" Target="../media/image103.png"/><Relationship Id="rId10" Type="http://schemas.openxmlformats.org/officeDocument/2006/relationships/image" Target="../media/image104.png"/><Relationship Id="rId11" Type="http://schemas.openxmlformats.org/officeDocument/2006/relationships/image" Target="../media/image105.png"/><Relationship Id="rId12" Type="http://schemas.openxmlformats.org/officeDocument/2006/relationships/image" Target="../media/image106.png"/><Relationship Id="rId13" Type="http://schemas.openxmlformats.org/officeDocument/2006/relationships/image" Target="../media/image10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jpg"/><Relationship Id="rId3" Type="http://schemas.openxmlformats.org/officeDocument/2006/relationships/image" Target="../media/image109.png"/><Relationship Id="rId4" Type="http://schemas.openxmlformats.org/officeDocument/2006/relationships/image" Target="../media/image110.jpg"/><Relationship Id="rId5" Type="http://schemas.openxmlformats.org/officeDocument/2006/relationships/image" Target="../media/image111.png"/><Relationship Id="rId6" Type="http://schemas.openxmlformats.org/officeDocument/2006/relationships/image" Target="../media/image112.jpg"/><Relationship Id="rId7" Type="http://schemas.openxmlformats.org/officeDocument/2006/relationships/image" Target="../media/image1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jpg"/><Relationship Id="rId3" Type="http://schemas.openxmlformats.org/officeDocument/2006/relationships/image" Target="../media/image116.jpg"/><Relationship Id="rId4" Type="http://schemas.openxmlformats.org/officeDocument/2006/relationships/image" Target="../media/image117.jpg"/><Relationship Id="rId5" Type="http://schemas.openxmlformats.org/officeDocument/2006/relationships/image" Target="../media/image118.jpg"/><Relationship Id="rId6" Type="http://schemas.openxmlformats.org/officeDocument/2006/relationships/image" Target="../media/image119.jpg"/><Relationship Id="rId7" Type="http://schemas.openxmlformats.org/officeDocument/2006/relationships/image" Target="../media/image120.jpg"/><Relationship Id="rId8" Type="http://schemas.openxmlformats.org/officeDocument/2006/relationships/image" Target="../media/image65.png"/><Relationship Id="rId9" Type="http://schemas.openxmlformats.org/officeDocument/2006/relationships/image" Target="../media/image64.png"/><Relationship Id="rId10" Type="http://schemas.openxmlformats.org/officeDocument/2006/relationships/image" Target="../media/image66.png"/><Relationship Id="rId11" Type="http://schemas.openxmlformats.org/officeDocument/2006/relationships/image" Target="../media/image7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jpg"/><Relationship Id="rId3" Type="http://schemas.openxmlformats.org/officeDocument/2006/relationships/image" Target="../media/image122.jpg"/><Relationship Id="rId4" Type="http://schemas.openxmlformats.org/officeDocument/2006/relationships/image" Target="../media/image123.jpg"/><Relationship Id="rId5" Type="http://schemas.openxmlformats.org/officeDocument/2006/relationships/image" Target="../media/image12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jpg"/><Relationship Id="rId3" Type="http://schemas.openxmlformats.org/officeDocument/2006/relationships/image" Target="../media/image126.png"/><Relationship Id="rId4" Type="http://schemas.openxmlformats.org/officeDocument/2006/relationships/image" Target="../media/image127.png"/><Relationship Id="rId5" Type="http://schemas.openxmlformats.org/officeDocument/2006/relationships/image" Target="../media/image1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png"/><Relationship Id="rId3" Type="http://schemas.openxmlformats.org/officeDocument/2006/relationships/image" Target="../media/image130.png"/><Relationship Id="rId4" Type="http://schemas.openxmlformats.org/officeDocument/2006/relationships/image" Target="../media/image131.png"/><Relationship Id="rId5" Type="http://schemas.openxmlformats.org/officeDocument/2006/relationships/image" Target="../media/image132.png"/><Relationship Id="rId6" Type="http://schemas.openxmlformats.org/officeDocument/2006/relationships/image" Target="../media/image133.jpg"/><Relationship Id="rId7" Type="http://schemas.openxmlformats.org/officeDocument/2006/relationships/image" Target="../media/image13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 Id="rId7" Type="http://schemas.openxmlformats.org/officeDocument/2006/relationships/image" Target="../media/image14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572768"/>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EXPRESSION OF INTEREST  ·  NATIONAL ROAD SAFETY BOARD</a:t>
            </a:r>
          </a:p>
        </p:txBody>
      </p:sp>
      <p:sp>
        <p:nvSpPr>
          <p:cNvPr id="6" name="TextBox 5"/>
          <p:cNvSpPr txBox="1"/>
          <p:nvPr/>
        </p:nvSpPr>
        <p:spPr>
          <a:xfrm>
            <a:off x="566928" y="1956816"/>
            <a:ext cx="7589520" cy="777240"/>
          </a:xfrm>
          <a:prstGeom prst="rect">
            <a:avLst/>
          </a:prstGeom>
          <a:noFill/>
        </p:spPr>
        <p:txBody>
          <a:bodyPr wrap="square" lIns="0" rIns="0" tIns="0" bIns="0" anchor="t">
            <a:spAutoFit/>
          </a:bodyPr>
          <a:lstStyle/>
          <a:p>
            <a:pPr algn="l">
              <a:lnSpc>
                <a:spcPct val="100000"/>
              </a:lnSpc>
            </a:pPr>
            <a:r>
              <a:rPr sz="4600" b="1" i="0">
                <a:solidFill>
                  <a:srgbClr val="16181D"/>
                </a:solidFill>
                <a:latin typeface="Montserrat"/>
              </a:rPr>
              <a:t>Crashfree India</a:t>
            </a:r>
          </a:p>
        </p:txBody>
      </p:sp>
      <p:sp>
        <p:nvSpPr>
          <p:cNvPr id="7" name="TextBox 6"/>
          <p:cNvSpPr txBox="1"/>
          <p:nvPr/>
        </p:nvSpPr>
        <p:spPr>
          <a:xfrm>
            <a:off x="566928" y="2834640"/>
            <a:ext cx="7589520" cy="777240"/>
          </a:xfrm>
          <a:prstGeom prst="rect">
            <a:avLst/>
          </a:prstGeom>
          <a:noFill/>
        </p:spPr>
        <p:txBody>
          <a:bodyPr wrap="square" lIns="0" rIns="0" tIns="0" bIns="0" anchor="t">
            <a:spAutoFit/>
          </a:bodyPr>
          <a:lstStyle/>
          <a:p>
            <a:pPr algn="l">
              <a:lnSpc>
                <a:spcPct val="125000"/>
              </a:lnSpc>
            </a:pPr>
            <a:r>
              <a:rPr sz="1650" b="1" i="0">
                <a:solidFill>
                  <a:srgbClr val="4A35FF"/>
                </a:solidFill>
                <a:latin typeface="Montserrat"/>
              </a:rPr>
              <a:t>Application to Working Group 2:</a:t>
            </a:r>
          </a:p>
          <a:p>
            <a:pPr algn="l">
              <a:lnSpc>
                <a:spcPct val="125000"/>
              </a:lnSpc>
            </a:pPr>
            <a:r>
              <a:rPr sz="1650" b="1" i="0">
                <a:solidFill>
                  <a:srgbClr val="4A35FF"/>
                </a:solidFill>
                <a:latin typeface="Montserrat"/>
              </a:rPr>
              <a:t>Safe Roads, Speeds &amp; Vulnerable Road Users</a:t>
            </a:r>
          </a:p>
        </p:txBody>
      </p:sp>
      <p:sp>
        <p:nvSpPr>
          <p:cNvPr id="8" name="Rounded Rectangle 7"/>
          <p:cNvSpPr/>
          <p:nvPr/>
        </p:nvSpPr>
        <p:spPr>
          <a:xfrm>
            <a:off x="566928" y="4251960"/>
            <a:ext cx="2395728" cy="841248"/>
          </a:xfrm>
          <a:prstGeom prst="roundRect">
            <a:avLst>
              <a:gd name="adj" fmla="val 14000"/>
            </a:avLst>
          </a:prstGeom>
          <a:solidFill>
            <a:srgbClr val="F7F7FA"/>
          </a:solidFill>
          <a:ln>
            <a:noFill/>
          </a:ln>
          <a:effectLst/>
        </p:spPr>
        <p:txBody>
          <a:bodyPr rtlCol="0" anchor="ctr"/>
          <a:lstStyle/>
          <a:p>
            <a:pPr algn="ctr"/>
          </a:p>
        </p:txBody>
      </p:sp>
      <p:sp>
        <p:nvSpPr>
          <p:cNvPr id="9" name="TextBox 8"/>
          <p:cNvSpPr txBox="1"/>
          <p:nvPr/>
        </p:nvSpPr>
        <p:spPr>
          <a:xfrm>
            <a:off x="713232" y="4343400"/>
            <a:ext cx="2121408" cy="384048"/>
          </a:xfrm>
          <a:prstGeom prst="rect">
            <a:avLst/>
          </a:prstGeom>
          <a:noFill/>
        </p:spPr>
        <p:txBody>
          <a:bodyPr wrap="square" lIns="0" rIns="0" tIns="0" bIns="0" anchor="t">
            <a:spAutoFit/>
          </a:bodyPr>
          <a:lstStyle/>
          <a:p>
            <a:pPr algn="l">
              <a:lnSpc>
                <a:spcPct val="100000"/>
              </a:lnSpc>
            </a:pPr>
            <a:r>
              <a:rPr sz="1500" b="1" i="0">
                <a:solidFill>
                  <a:srgbClr val="4A35FF"/>
                </a:solidFill>
                <a:latin typeface="Montserrat"/>
              </a:rPr>
              <a:t>31</a:t>
            </a:r>
          </a:p>
        </p:txBody>
      </p:sp>
      <p:sp>
        <p:nvSpPr>
          <p:cNvPr id="10" name="TextBox 9"/>
          <p:cNvSpPr txBox="1"/>
          <p:nvPr/>
        </p:nvSpPr>
        <p:spPr>
          <a:xfrm>
            <a:off x="713232" y="4681728"/>
            <a:ext cx="2121408" cy="384048"/>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sites audited across 18 cities</a:t>
            </a:r>
          </a:p>
        </p:txBody>
      </p:sp>
      <p:sp>
        <p:nvSpPr>
          <p:cNvPr id="11" name="Rounded Rectangle 10"/>
          <p:cNvSpPr/>
          <p:nvPr/>
        </p:nvSpPr>
        <p:spPr>
          <a:xfrm>
            <a:off x="3090672" y="4251960"/>
            <a:ext cx="2395728" cy="841248"/>
          </a:xfrm>
          <a:prstGeom prst="roundRect">
            <a:avLst>
              <a:gd name="adj" fmla="val 14000"/>
            </a:avLst>
          </a:prstGeom>
          <a:solidFill>
            <a:srgbClr val="F7F7FA"/>
          </a:solidFill>
          <a:ln>
            <a:noFill/>
          </a:ln>
          <a:effectLst/>
        </p:spPr>
        <p:txBody>
          <a:bodyPr rtlCol="0" anchor="ctr"/>
          <a:lstStyle/>
          <a:p>
            <a:pPr algn="ctr"/>
          </a:p>
        </p:txBody>
      </p:sp>
      <p:sp>
        <p:nvSpPr>
          <p:cNvPr id="12" name="TextBox 11"/>
          <p:cNvSpPr txBox="1"/>
          <p:nvPr/>
        </p:nvSpPr>
        <p:spPr>
          <a:xfrm>
            <a:off x="3236976" y="4343400"/>
            <a:ext cx="2121408" cy="384048"/>
          </a:xfrm>
          <a:prstGeom prst="rect">
            <a:avLst/>
          </a:prstGeom>
          <a:noFill/>
        </p:spPr>
        <p:txBody>
          <a:bodyPr wrap="square" lIns="0" rIns="0" tIns="0" bIns="0" anchor="t">
            <a:spAutoFit/>
          </a:bodyPr>
          <a:lstStyle/>
          <a:p>
            <a:pPr algn="l">
              <a:lnSpc>
                <a:spcPct val="100000"/>
              </a:lnSpc>
            </a:pPr>
            <a:r>
              <a:rPr sz="1500" b="1" i="0">
                <a:solidFill>
                  <a:srgbClr val="4A35FF"/>
                </a:solidFill>
                <a:latin typeface="Montserrat"/>
              </a:rPr>
              <a:t>7</a:t>
            </a:r>
          </a:p>
        </p:txBody>
      </p:sp>
      <p:sp>
        <p:nvSpPr>
          <p:cNvPr id="13" name="TextBox 12"/>
          <p:cNvSpPr txBox="1"/>
          <p:nvPr/>
        </p:nvSpPr>
        <p:spPr>
          <a:xfrm>
            <a:off x="3236976" y="4681728"/>
            <a:ext cx="2121408" cy="384048"/>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fixes fully implemented</a:t>
            </a:r>
          </a:p>
        </p:txBody>
      </p:sp>
      <p:sp>
        <p:nvSpPr>
          <p:cNvPr id="14" name="Rounded Rectangle 13"/>
          <p:cNvSpPr/>
          <p:nvPr/>
        </p:nvSpPr>
        <p:spPr>
          <a:xfrm>
            <a:off x="5614416" y="4251960"/>
            <a:ext cx="2395728" cy="841248"/>
          </a:xfrm>
          <a:prstGeom prst="roundRect">
            <a:avLst>
              <a:gd name="adj" fmla="val 14000"/>
            </a:avLst>
          </a:prstGeom>
          <a:solidFill>
            <a:srgbClr val="F7F7FA"/>
          </a:solidFill>
          <a:ln>
            <a:noFill/>
          </a:ln>
          <a:effectLst/>
        </p:spPr>
        <p:txBody>
          <a:bodyPr rtlCol="0" anchor="ctr"/>
          <a:lstStyle/>
          <a:p>
            <a:pPr algn="ctr"/>
          </a:p>
        </p:txBody>
      </p:sp>
      <p:sp>
        <p:nvSpPr>
          <p:cNvPr id="15" name="TextBox 14"/>
          <p:cNvSpPr txBox="1"/>
          <p:nvPr/>
        </p:nvSpPr>
        <p:spPr>
          <a:xfrm>
            <a:off x="5760720" y="4343400"/>
            <a:ext cx="2121408" cy="384048"/>
          </a:xfrm>
          <a:prstGeom prst="rect">
            <a:avLst/>
          </a:prstGeom>
          <a:noFill/>
        </p:spPr>
        <p:txBody>
          <a:bodyPr wrap="square" lIns="0" rIns="0" tIns="0" bIns="0" anchor="t">
            <a:spAutoFit/>
          </a:bodyPr>
          <a:lstStyle/>
          <a:p>
            <a:pPr algn="l">
              <a:lnSpc>
                <a:spcPct val="100000"/>
              </a:lnSpc>
            </a:pPr>
            <a:r>
              <a:rPr sz="1500" b="1" i="0">
                <a:solidFill>
                  <a:srgbClr val="4A35FF"/>
                </a:solidFill>
                <a:latin typeface="Montserrat"/>
              </a:rPr>
              <a:t>25+</a:t>
            </a:r>
          </a:p>
        </p:txBody>
      </p:sp>
      <p:sp>
        <p:nvSpPr>
          <p:cNvPr id="16" name="TextBox 15"/>
          <p:cNvSpPr txBox="1"/>
          <p:nvPr/>
        </p:nvSpPr>
        <p:spPr>
          <a:xfrm>
            <a:off x="5760720" y="4681728"/>
            <a:ext cx="2121408" cy="384048"/>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written authority approvals</a:t>
            </a:r>
          </a:p>
        </p:txBody>
      </p:sp>
      <p:sp>
        <p:nvSpPr>
          <p:cNvPr id="17" name="TextBox 16"/>
          <p:cNvSpPr txBox="1"/>
          <p:nvPr/>
        </p:nvSpPr>
        <p:spPr>
          <a:xfrm>
            <a:off x="566928" y="6309360"/>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Submitted to the Chairperson and Members, Working Group 2, National Road Safety Board</a:t>
            </a:r>
          </a:p>
        </p:txBody>
      </p:sp>
      <p:sp>
        <p:nvSpPr>
          <p:cNvPr id="18" name="TextBox 17"/>
          <p:cNvSpPr txBox="1"/>
          <p:nvPr/>
        </p:nvSpPr>
        <p:spPr>
          <a:xfrm>
            <a:off x="9247327" y="630936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19" name="Picture 18" descr="ph_dhoni_white.jpg_3.60x4.90_0.12.jpg"/>
          <p:cNvPicPr>
            <a:picLocks noChangeAspect="1"/>
          </p:cNvPicPr>
          <p:nvPr/>
        </p:nvPicPr>
        <p:blipFill>
          <a:blip r:embed="rId3"/>
          <a:stretch>
            <a:fillRect/>
          </a:stretch>
        </p:blipFill>
        <p:spPr>
          <a:xfrm>
            <a:off x="8321040" y="1051560"/>
            <a:ext cx="3291840" cy="4480560"/>
          </a:xfrm>
          <a:prstGeom prst="rect">
            <a:avLst/>
          </a:prstGeom>
        </p:spPr>
      </p:pic>
      <p:sp>
        <p:nvSpPr>
          <p:cNvPr id="20" name="Rectangle 19"/>
          <p:cNvSpPr/>
          <p:nvPr/>
        </p:nvSpPr>
        <p:spPr>
          <a:xfrm>
            <a:off x="8321040" y="1051560"/>
            <a:ext cx="3291840" cy="4480560"/>
          </a:xfrm>
          <a:prstGeom prst="rect">
            <a:avLst/>
          </a:prstGeom>
          <a:noFill/>
          <a:ln w="12700">
            <a:solidFill>
              <a:srgbClr val="E8E9EE"/>
            </a:solidFill>
          </a:ln>
          <a:effectLst/>
        </p:spPr>
        <p:txBody>
          <a:bodyPr rtlCol="0" anchor="ctr"/>
          <a:lstStyle/>
          <a:p>
            <a:pPr algn="ctr"/>
          </a:p>
        </p:txBody>
      </p:sp>
      <p:sp>
        <p:nvSpPr>
          <p:cNvPr id="21" name="Rectangle 20"/>
          <p:cNvSpPr/>
          <p:nvPr/>
        </p:nvSpPr>
        <p:spPr>
          <a:xfrm>
            <a:off x="8321040" y="5020056"/>
            <a:ext cx="3291840" cy="512064"/>
          </a:xfrm>
          <a:prstGeom prst="rect">
            <a:avLst/>
          </a:prstGeom>
          <a:solidFill>
            <a:srgbClr val="4A35FF"/>
          </a:solidFill>
          <a:ln>
            <a:noFill/>
          </a:ln>
          <a:effectLst/>
        </p:spPr>
        <p:txBody>
          <a:bodyPr rtlCol="0" anchor="ctr"/>
          <a:lstStyle/>
          <a:p>
            <a:pPr algn="ctr"/>
          </a:p>
        </p:txBody>
      </p:sp>
      <p:sp>
        <p:nvSpPr>
          <p:cNvPr id="22" name="TextBox 21"/>
          <p:cNvSpPr txBox="1"/>
          <p:nvPr/>
        </p:nvSpPr>
        <p:spPr>
          <a:xfrm>
            <a:off x="8321040" y="5056632"/>
            <a:ext cx="3291840" cy="457200"/>
          </a:xfrm>
          <a:prstGeom prst="rect">
            <a:avLst/>
          </a:prstGeom>
          <a:noFill/>
        </p:spPr>
        <p:txBody>
          <a:bodyPr wrap="square" lIns="0" rIns="0" tIns="0" bIns="0" anchor="t">
            <a:spAutoFit/>
          </a:bodyPr>
          <a:lstStyle/>
          <a:p>
            <a:pPr algn="ctr">
              <a:lnSpc>
                <a:spcPct val="115000"/>
              </a:lnSpc>
            </a:pPr>
            <a:r>
              <a:rPr sz="850" b="1" i="0" spc="100">
                <a:solidFill>
                  <a:srgbClr val="FFFFFF"/>
                </a:solidFill>
                <a:latin typeface="Montserrat"/>
              </a:rPr>
              <a:t>MS DHONI · GOODWILL AMBASSADOR,</a:t>
            </a:r>
          </a:p>
          <a:p>
            <a:pPr algn="ctr">
              <a:lnSpc>
                <a:spcPct val="115000"/>
              </a:lnSpc>
            </a:pPr>
            <a:r>
              <a:rPr sz="850" b="1" i="0" spc="100">
                <a:solidFill>
                  <a:srgbClr val="FFFFFF"/>
                </a:solidFill>
                <a:latin typeface="Montserrat"/>
              </a:rPr>
              <a:t>CRASHFREE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letter to the </a:t>
            </a:r>
            <a:r>
              <a:rPr sz="2250" b="1" i="0">
                <a:solidFill>
                  <a:srgbClr val="4A35FF"/>
                </a:solidFill>
                <a:latin typeface="Montserrat"/>
              </a:rPr>
              <a:t>Working Group</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40280"/>
            <a:ext cx="8412480" cy="3291840"/>
          </a:xfrm>
          <a:prstGeom prst="rect">
            <a:avLst/>
          </a:prstGeom>
          <a:noFill/>
        </p:spPr>
        <p:txBody>
          <a:bodyPr wrap="square" lIns="0" rIns="0" tIns="0" bIns="0" anchor="t">
            <a:spAutoFit/>
          </a:bodyPr>
          <a:lstStyle/>
          <a:p>
            <a:pPr algn="l">
              <a:lnSpc>
                <a:spcPct val="130000"/>
              </a:lnSpc>
              <a:spcAft>
                <a:spcPts val="700"/>
              </a:spcAft>
            </a:pPr>
            <a:r>
              <a:rPr sz="1060" b="0" i="0">
                <a:solidFill>
                  <a:srgbClr val="16181D"/>
                </a:solidFill>
                <a:latin typeface="Geist"/>
              </a:rPr>
              <a:t>Respected Chairperson and Members of Working Group 2,</a:t>
            </a:r>
          </a:p>
          <a:p>
            <a:pPr algn="l">
              <a:lnSpc>
                <a:spcPct val="130000"/>
              </a:lnSpc>
              <a:spcAft>
                <a:spcPts val="700"/>
              </a:spcAft>
            </a:pPr>
            <a:r>
              <a:rPr sz="1060" b="0" i="0">
                <a:solidFill>
                  <a:srgbClr val="16181D"/>
                </a:solidFill>
                <a:latin typeface="Geist"/>
              </a:rPr>
              <a:t>Crashfree India is a young road safety nonprofit, registered as the Vision Zero Trust, co-founded with the Indian Road Safety Council, and backed by a three-year, US$3 million commitment from Cars24. We work alongside public authorities: our student teams audit dangerous locations under senior experts, our technology helps police and administrators see their own pipelines, and our support tools stand with families after a crash. MS Dhoni carries this message to the country as our Goodwill Ambassador.</a:t>
            </a:r>
          </a:p>
          <a:p>
            <a:pPr algn="l">
              <a:lnSpc>
                <a:spcPct val="130000"/>
              </a:lnSpc>
              <a:spcAft>
                <a:spcPts val="700"/>
              </a:spcAft>
            </a:pPr>
            <a:r>
              <a:rPr sz="1060" b="0" i="0">
                <a:solidFill>
                  <a:srgbClr val="16181D"/>
                </a:solidFill>
                <a:latin typeface="Geist"/>
              </a:rPr>
              <a:t>In our first year we audited 31 high-risk locations across 18 cities, secured 25+ written approvals from road-owning authorities, and saw 7 sites fully implemented with 6 more partially built, each tracked on a public dashboard. SATARK, our AI enforcement platform, has screened over 3,00,000 vehicles for police in Jaipur and Bengaluru and has now reached Gurugram. Four open-data platforms, the Aasha victim chatbot and hospital helpdesks complete the picture.</a:t>
            </a:r>
          </a:p>
          <a:p>
            <a:pPr algn="l">
              <a:lnSpc>
                <a:spcPct val="130000"/>
              </a:lnSpc>
              <a:spcAft>
                <a:spcPts val="700"/>
              </a:spcAft>
            </a:pPr>
            <a:r>
              <a:rPr sz="1060" b="0" i="0">
                <a:solidFill>
                  <a:srgbClr val="16181D"/>
                </a:solidFill>
                <a:latin typeface="Geist"/>
              </a:rPr>
              <a:t>The pages that follow introduce the organisation briefly, then set out the work most relevant to this Working Group in the detail its mandate deserves. Everything shown is running today, is public, and is offered to the Board without cost. We would be honoured to contribute.</a:t>
            </a:r>
          </a:p>
        </p:txBody>
      </p:sp>
      <p:sp>
        <p:nvSpPr>
          <p:cNvPr id="11" name="TextBox 10"/>
          <p:cNvSpPr txBox="1"/>
          <p:nvPr/>
        </p:nvSpPr>
        <p:spPr>
          <a:xfrm>
            <a:off x="1892808" y="5596128"/>
            <a:ext cx="8412480" cy="274320"/>
          </a:xfrm>
          <a:prstGeom prst="rect">
            <a:avLst/>
          </a:prstGeom>
          <a:noFill/>
        </p:spPr>
        <p:txBody>
          <a:bodyPr wrap="square" lIns="0" rIns="0" tIns="0" bIns="0" anchor="t">
            <a:spAutoFit/>
          </a:bodyPr>
          <a:lstStyle/>
          <a:p>
            <a:pPr algn="l">
              <a:lnSpc>
                <a:spcPct val="128000"/>
              </a:lnSpc>
            </a:pPr>
            <a:r>
              <a:rPr sz="1060" b="0" i="0">
                <a:solidFill>
                  <a:srgbClr val="16181D"/>
                </a:solidFill>
                <a:latin typeface="Geist"/>
              </a:rPr>
              <a:t>Respectfully,</a:t>
            </a:r>
          </a:p>
        </p:txBody>
      </p:sp>
      <p:sp>
        <p:nvSpPr>
          <p:cNvPr id="12" name="TextBox 11"/>
          <p:cNvSpPr txBox="1"/>
          <p:nvPr/>
        </p:nvSpPr>
        <p:spPr>
          <a:xfrm>
            <a:off x="1892808" y="5870448"/>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89904"/>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DECK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three minutes</a:t>
            </a:r>
            <a:r>
              <a:rPr sz="2250" b="1" i="0">
                <a:solidFill>
                  <a:srgbClr val="16181D"/>
                </a:solidFill>
                <a:latin typeface="Montserrat"/>
              </a:rPr>
              <a:t> to skim</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About us, and how we work</a:t>
            </a:r>
          </a:p>
        </p:txBody>
      </p:sp>
      <p:sp>
        <p:nvSpPr>
          <p:cNvPr id="12" name="TextBox 11"/>
          <p:cNvSpPr txBox="1"/>
          <p:nvPr/>
        </p:nvSpPr>
        <p:spPr>
          <a:xfrm>
            <a:off x="2103120" y="1993392"/>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our approach to the road crash crisis, and why this Working Group.</a:t>
            </a:r>
          </a:p>
        </p:txBody>
      </p:sp>
      <p:sp>
        <p:nvSpPr>
          <p:cNvPr id="13" name="TextBox 12"/>
          <p:cNvSpPr txBox="1"/>
          <p:nvPr/>
        </p:nvSpPr>
        <p:spPr>
          <a:xfrm>
            <a:off x="10024567" y="1792224"/>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04 – 06</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yers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What we have built</a:t>
            </a:r>
          </a:p>
        </p:txBody>
      </p:sp>
      <p:sp>
        <p:nvSpPr>
          <p:cNvPr id="20" name="TextBox 19"/>
          <p:cNvSpPr txBox="1"/>
          <p:nvPr/>
        </p:nvSpPr>
        <p:spPr>
          <a:xfrm>
            <a:off x="2103120" y="2926080"/>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Every public-facing programme, audits, enforcement tech, victim support, open data, youth, campaigns.</a:t>
            </a:r>
          </a:p>
        </p:txBody>
      </p:sp>
      <p:sp>
        <p:nvSpPr>
          <p:cNvPr id="21" name="TextBox 20"/>
          <p:cNvSpPr txBox="1"/>
          <p:nvPr/>
        </p:nvSpPr>
        <p:spPr>
          <a:xfrm>
            <a:off x="10024567" y="2724912"/>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07 – 14</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users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Our people</a:t>
            </a:r>
          </a:p>
        </p:txBody>
      </p:sp>
      <p:sp>
        <p:nvSpPr>
          <p:cNvPr id="28" name="TextBox 27"/>
          <p:cNvSpPr txBox="1"/>
          <p:nvPr/>
        </p:nvSpPr>
        <p:spPr>
          <a:xfrm>
            <a:off x="2103120" y="3858768"/>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team, its capabilities, and the expert bench around the work.</a:t>
            </a:r>
          </a:p>
        </p:txBody>
      </p:sp>
      <p:sp>
        <p:nvSpPr>
          <p:cNvPr id="29" name="TextBox 28"/>
          <p:cNvSpPr txBox="1"/>
          <p:nvPr/>
        </p:nvSpPr>
        <p:spPr>
          <a:xfrm>
            <a:off x="10024567" y="3657600"/>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15 – 16</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target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Project Rakshak in depth</a:t>
            </a:r>
          </a:p>
        </p:txBody>
      </p:sp>
      <p:sp>
        <p:nvSpPr>
          <p:cNvPr id="36" name="TextBox 35"/>
          <p:cNvSpPr txBox="1"/>
          <p:nvPr/>
        </p:nvSpPr>
        <p:spPr>
          <a:xfrm>
            <a:off x="2103120" y="4791456"/>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deep dive matched to this Working Group's mandate, evidence, method, results.</a:t>
            </a:r>
          </a:p>
        </p:txBody>
      </p:sp>
      <p:sp>
        <p:nvSpPr>
          <p:cNvPr id="37" name="TextBox 36"/>
          <p:cNvSpPr txBox="1"/>
          <p:nvPr/>
        </p:nvSpPr>
        <p:spPr>
          <a:xfrm>
            <a:off x="10024567" y="4590288"/>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17 – 25</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How we can contribute</a:t>
            </a:r>
          </a:p>
        </p:txBody>
      </p:sp>
      <p:sp>
        <p:nvSpPr>
          <p:cNvPr id="44" name="TextBox 43"/>
          <p:cNvSpPr txBox="1"/>
          <p:nvPr/>
        </p:nvSpPr>
        <p:spPr>
          <a:xfrm>
            <a:off x="2103120" y="5724144"/>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Four concrete, no-cost offers to the Working Group.</a:t>
            </a:r>
          </a:p>
        </p:txBody>
      </p:sp>
      <p:sp>
        <p:nvSpPr>
          <p:cNvPr id="45" name="TextBox 44"/>
          <p:cNvSpPr txBox="1"/>
          <p:nvPr/>
        </p:nvSpPr>
        <p:spPr>
          <a:xfrm>
            <a:off x="10024567" y="5522976"/>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26 –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not opinion.</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Backed by a US$3 million, three-year commitment from Cars24 </a:t>
            </a:r>
            <a:r>
              <a:rPr sz="1150" b="0" i="0">
                <a:solidFill>
                  <a:srgbClr val="4A35FF"/>
                </a:solidFill>
                <a:latin typeface="Geist"/>
              </a:rPr>
              <a:t>. Programmes, not overheads, receive 71% of the budget.</a:t>
            </a:r>
          </a:p>
        </p:txBody>
      </p:sp>
      <p:pic>
        <p:nvPicPr>
          <p:cNvPr id="26" name="Picture 25" descr="cfi_map_dots.png"/>
          <p:cNvPicPr>
            <a:picLocks noChangeAspect="1"/>
          </p:cNvPicPr>
          <p:nvPr/>
        </p:nvPicPr>
        <p:blipFill>
          <a:blip r:embed="rId6"/>
          <a:stretch>
            <a:fillRect/>
          </a:stretch>
        </p:blipFill>
        <p:spPr>
          <a:xfrm>
            <a:off x="7863840" y="1965960"/>
            <a:ext cx="3703320" cy="4400277"/>
          </a:xfrm>
          <a:prstGeom prst="rect">
            <a:avLst/>
          </a:prstGeom>
        </p:spPr>
      </p:pic>
      <p:sp>
        <p:nvSpPr>
          <p:cNvPr id="27" name="Rectangle 26"/>
          <p:cNvSpPr/>
          <p:nvPr/>
        </p:nvSpPr>
        <p:spPr>
          <a:xfrm>
            <a:off x="7863840" y="1965960"/>
            <a:ext cx="3703320" cy="440027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7863840" y="6411957"/>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OUR APPROACH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Our approach: work </a:t>
            </a:r>
            <a:r>
              <a:rPr sz="2250" b="1" i="0">
                <a:solidFill>
                  <a:srgbClr val="4A35FF"/>
                </a:solidFill>
                <a:latin typeface="Montserrat"/>
              </a:rPr>
              <a:t>with the system</a:t>
            </a:r>
            <a:r>
              <a:rPr sz="2250" b="1" i="0">
                <a:solidFill>
                  <a:srgbClr val="16181D"/>
                </a:solidFill>
                <a:latin typeface="Montserrat"/>
              </a:rPr>
              <a:t>, and prove it with data</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steps, applied to every problem we take up, from a dangerous junction to a stalled compensation claim.</a:t>
            </a:r>
          </a:p>
        </p:txBody>
      </p:sp>
      <p:sp>
        <p:nvSpPr>
          <p:cNvPr id="8" name="Rounded Rectangle 7"/>
          <p:cNvSpPr/>
          <p:nvPr/>
        </p:nvSpPr>
        <p:spPr>
          <a:xfrm>
            <a:off x="56692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258568"/>
            <a:ext cx="475488" cy="475488"/>
          </a:xfrm>
          <a:prstGeom prst="ellipse">
            <a:avLst/>
          </a:prstGeom>
          <a:solidFill>
            <a:srgbClr val="E9F7F0"/>
          </a:solidFill>
          <a:ln>
            <a:noFill/>
          </a:ln>
          <a:effectLst/>
        </p:spPr>
        <p:txBody>
          <a:bodyPr rtlCol="0" anchor="ctr"/>
          <a:lstStyle/>
          <a:p>
            <a:pPr algn="ctr"/>
          </a:p>
        </p:txBody>
      </p:sp>
      <p:pic>
        <p:nvPicPr>
          <p:cNvPr id="10" name="Picture 9" descr="search-check_0A9955_256_2.0.png"/>
          <p:cNvPicPr>
            <a:picLocks noChangeAspect="1"/>
          </p:cNvPicPr>
          <p:nvPr/>
        </p:nvPicPr>
        <p:blipFill>
          <a:blip r:embed="rId2"/>
          <a:stretch>
            <a:fillRect/>
          </a:stretch>
        </p:blipFill>
        <p:spPr>
          <a:xfrm>
            <a:off x="863925" y="2372685"/>
            <a:ext cx="247253" cy="247253"/>
          </a:xfrm>
          <a:prstGeom prst="rect">
            <a:avLst/>
          </a:prstGeom>
        </p:spPr>
      </p:pic>
      <p:sp>
        <p:nvSpPr>
          <p:cNvPr id="11" name="TextBox 10"/>
          <p:cNvSpPr txBox="1"/>
          <p:nvPr/>
        </p:nvSpPr>
        <p:spPr>
          <a:xfrm>
            <a:off x="74980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1 · Evidence</a:t>
            </a:r>
          </a:p>
        </p:txBody>
      </p:sp>
      <p:sp>
        <p:nvSpPr>
          <p:cNvPr id="12" name="TextBox 11"/>
          <p:cNvSpPr txBox="1"/>
          <p:nvPr/>
        </p:nvSpPr>
        <p:spPr>
          <a:xfrm>
            <a:off x="74980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Field audits, file reviews and research to official standards.</a:t>
            </a:r>
          </a:p>
        </p:txBody>
      </p:sp>
      <p:cxnSp>
        <p:nvCxnSpPr>
          <p:cNvPr id="13" name="Connector 12"/>
          <p:cNvCxnSpPr/>
          <p:nvPr/>
        </p:nvCxnSpPr>
        <p:spPr>
          <a:xfrm>
            <a:off x="749808" y="4270248"/>
            <a:ext cx="2304288" cy="0"/>
          </a:xfrm>
          <a:prstGeom prst="line">
            <a:avLst/>
          </a:prstGeom>
          <a:ln w="9525">
            <a:solidFill>
              <a:srgbClr val="E8E9EE"/>
            </a:solidFill>
          </a:ln>
          <a:effectLst/>
        </p:spPr>
      </p:cxnSp>
      <p:sp>
        <p:nvSpPr>
          <p:cNvPr id="14" name="TextBox 13"/>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31 sites audited · 50+ stakeholder consultations</a:t>
            </a:r>
          </a:p>
        </p:txBody>
      </p:sp>
      <p:sp>
        <p:nvSpPr>
          <p:cNvPr id="15" name="TextBox 14"/>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0A9955"/>
                </a:solidFill>
                <a:latin typeface="Montserrat"/>
              </a:rPr>
              <a:t>31 sites audited · 50+ stakeholder consultations</a:t>
            </a:r>
          </a:p>
        </p:txBody>
      </p:sp>
      <p:sp>
        <p:nvSpPr>
          <p:cNvPr id="16" name="TextBox 15"/>
          <p:cNvSpPr txBox="1"/>
          <p:nvPr/>
        </p:nvSpPr>
        <p:spPr>
          <a:xfrm>
            <a:off x="320954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17" name="Rounded Rectangle 16"/>
          <p:cNvSpPr/>
          <p:nvPr/>
        </p:nvSpPr>
        <p:spPr>
          <a:xfrm>
            <a:off x="335584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8" name="Oval 17"/>
          <p:cNvSpPr/>
          <p:nvPr/>
        </p:nvSpPr>
        <p:spPr>
          <a:xfrm>
            <a:off x="3538728" y="2258568"/>
            <a:ext cx="475488" cy="475488"/>
          </a:xfrm>
          <a:prstGeom prst="ellipse">
            <a:avLst/>
          </a:prstGeom>
          <a:solidFill>
            <a:srgbClr val="EFEDFF"/>
          </a:solidFill>
          <a:ln>
            <a:noFill/>
          </a:ln>
          <a:effectLst/>
        </p:spPr>
        <p:txBody>
          <a:bodyPr rtlCol="0" anchor="ctr"/>
          <a:lstStyle/>
          <a:p>
            <a:pPr algn="ctr"/>
          </a:p>
        </p:txBody>
      </p:sp>
      <p:pic>
        <p:nvPicPr>
          <p:cNvPr id="19" name="Picture 18" descr="landmark_4A35FF_256_2.0.png"/>
          <p:cNvPicPr>
            <a:picLocks noChangeAspect="1"/>
          </p:cNvPicPr>
          <p:nvPr/>
        </p:nvPicPr>
        <p:blipFill>
          <a:blip r:embed="rId3"/>
          <a:stretch>
            <a:fillRect/>
          </a:stretch>
        </p:blipFill>
        <p:spPr>
          <a:xfrm>
            <a:off x="3652845" y="2372685"/>
            <a:ext cx="247253" cy="247253"/>
          </a:xfrm>
          <a:prstGeom prst="rect">
            <a:avLst/>
          </a:prstGeom>
        </p:spPr>
      </p:pic>
      <p:sp>
        <p:nvSpPr>
          <p:cNvPr id="20" name="TextBox 19"/>
          <p:cNvSpPr txBox="1"/>
          <p:nvPr/>
        </p:nvSpPr>
        <p:spPr>
          <a:xfrm>
            <a:off x="353872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2 · Institutional partnership</a:t>
            </a:r>
          </a:p>
        </p:txBody>
      </p:sp>
      <p:sp>
        <p:nvSpPr>
          <p:cNvPr id="21" name="TextBox 20"/>
          <p:cNvSpPr txBox="1"/>
          <p:nvPr/>
        </p:nvSpPr>
        <p:spPr>
          <a:xfrm>
            <a:off x="353872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Work through the authority that owns the problem, never around it.</a:t>
            </a:r>
          </a:p>
        </p:txBody>
      </p:sp>
      <p:cxnSp>
        <p:nvCxnSpPr>
          <p:cNvPr id="22" name="Connector 21"/>
          <p:cNvCxnSpPr/>
          <p:nvPr/>
        </p:nvCxnSpPr>
        <p:spPr>
          <a:xfrm>
            <a:off x="3538728" y="4270248"/>
            <a:ext cx="2304288" cy="0"/>
          </a:xfrm>
          <a:prstGeom prst="line">
            <a:avLst/>
          </a:prstGeom>
          <a:ln w="9525">
            <a:solidFill>
              <a:srgbClr val="E8E9EE"/>
            </a:solidFill>
          </a:ln>
          <a:effectLst/>
        </p:spPr>
      </p:cxnSp>
      <p:sp>
        <p:nvSpPr>
          <p:cNvPr id="23" name="TextBox 22"/>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25+ written approvals · 4 DRSCs · MoUs with police</a:t>
            </a:r>
          </a:p>
        </p:txBody>
      </p:sp>
      <p:sp>
        <p:nvSpPr>
          <p:cNvPr id="24" name="TextBox 23"/>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4A35FF"/>
                </a:solidFill>
                <a:latin typeface="Montserrat"/>
              </a:rPr>
              <a:t>25+ written approvals · 4 DRSCs · MoUs with police</a:t>
            </a:r>
          </a:p>
        </p:txBody>
      </p:sp>
      <p:sp>
        <p:nvSpPr>
          <p:cNvPr id="25" name="TextBox 24"/>
          <p:cNvSpPr txBox="1"/>
          <p:nvPr/>
        </p:nvSpPr>
        <p:spPr>
          <a:xfrm>
            <a:off x="599846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26" name="Rounded Rectangle 25"/>
          <p:cNvSpPr/>
          <p:nvPr/>
        </p:nvSpPr>
        <p:spPr>
          <a:xfrm>
            <a:off x="614476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7" name="Oval 26"/>
          <p:cNvSpPr/>
          <p:nvPr/>
        </p:nvSpPr>
        <p:spPr>
          <a:xfrm>
            <a:off x="6327648" y="2258568"/>
            <a:ext cx="475488" cy="475488"/>
          </a:xfrm>
          <a:prstGeom prst="ellipse">
            <a:avLst/>
          </a:prstGeom>
          <a:solidFill>
            <a:srgbClr val="E7F4F4"/>
          </a:solidFill>
          <a:ln>
            <a:noFill/>
          </a:ln>
          <a:effectLst/>
        </p:spPr>
        <p:txBody>
          <a:bodyPr rtlCol="0" anchor="ctr"/>
          <a:lstStyle/>
          <a:p>
            <a:pPr algn="ctr"/>
          </a:p>
        </p:txBody>
      </p:sp>
      <p:pic>
        <p:nvPicPr>
          <p:cNvPr id="28" name="Picture 27" descr="cpu_0E8A8A_256_2.0.png"/>
          <p:cNvPicPr>
            <a:picLocks noChangeAspect="1"/>
          </p:cNvPicPr>
          <p:nvPr/>
        </p:nvPicPr>
        <p:blipFill>
          <a:blip r:embed="rId4"/>
          <a:stretch>
            <a:fillRect/>
          </a:stretch>
        </p:blipFill>
        <p:spPr>
          <a:xfrm>
            <a:off x="6441765" y="2372685"/>
            <a:ext cx="247253" cy="247253"/>
          </a:xfrm>
          <a:prstGeom prst="rect">
            <a:avLst/>
          </a:prstGeom>
        </p:spPr>
      </p:pic>
      <p:sp>
        <p:nvSpPr>
          <p:cNvPr id="29" name="TextBox 28"/>
          <p:cNvSpPr txBox="1"/>
          <p:nvPr/>
        </p:nvSpPr>
        <p:spPr>
          <a:xfrm>
            <a:off x="632764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3 · Technology</a:t>
            </a:r>
          </a:p>
        </p:txBody>
      </p:sp>
      <p:sp>
        <p:nvSpPr>
          <p:cNvPr id="30" name="TextBox 29"/>
          <p:cNvSpPr txBox="1"/>
          <p:nvPr/>
        </p:nvSpPr>
        <p:spPr>
          <a:xfrm>
            <a:off x="632764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Dashboards, AI and WhatsApp tools that fit how officials already work.</a:t>
            </a:r>
          </a:p>
        </p:txBody>
      </p:sp>
      <p:cxnSp>
        <p:nvCxnSpPr>
          <p:cNvPr id="31" name="Connector 30"/>
          <p:cNvCxnSpPr/>
          <p:nvPr/>
        </p:nvCxnSpPr>
        <p:spPr>
          <a:xfrm>
            <a:off x="6327648" y="4270248"/>
            <a:ext cx="2304288" cy="0"/>
          </a:xfrm>
          <a:prstGeom prst="line">
            <a:avLst/>
          </a:prstGeom>
          <a:ln w="9525">
            <a:solidFill>
              <a:srgbClr val="E8E9EE"/>
            </a:solidFill>
          </a:ln>
          <a:effectLst/>
        </p:spPr>
      </p:cxnSp>
      <p:sp>
        <p:nvSpPr>
          <p:cNvPr id="32" name="TextBox 31"/>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6 live public products</a:t>
            </a:r>
          </a:p>
        </p:txBody>
      </p:sp>
      <p:sp>
        <p:nvSpPr>
          <p:cNvPr id="33" name="TextBox 32"/>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0E8A8A"/>
                </a:solidFill>
                <a:latin typeface="Montserrat"/>
              </a:rPr>
              <a:t>6 live public products</a:t>
            </a:r>
          </a:p>
        </p:txBody>
      </p:sp>
      <p:sp>
        <p:nvSpPr>
          <p:cNvPr id="34" name="TextBox 33"/>
          <p:cNvSpPr txBox="1"/>
          <p:nvPr/>
        </p:nvSpPr>
        <p:spPr>
          <a:xfrm>
            <a:off x="878738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35" name="Rounded Rectangle 34"/>
          <p:cNvSpPr/>
          <p:nvPr/>
        </p:nvSpPr>
        <p:spPr>
          <a:xfrm>
            <a:off x="893368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6" name="Oval 35"/>
          <p:cNvSpPr/>
          <p:nvPr/>
        </p:nvSpPr>
        <p:spPr>
          <a:xfrm>
            <a:off x="9116568" y="2258568"/>
            <a:ext cx="475488" cy="475488"/>
          </a:xfrm>
          <a:prstGeom prst="ellipse">
            <a:avLst/>
          </a:prstGeom>
          <a:solidFill>
            <a:srgbClr val="FDF3E3"/>
          </a:solidFill>
          <a:ln>
            <a:noFill/>
          </a:ln>
          <a:effectLst/>
        </p:spPr>
        <p:txBody>
          <a:bodyPr rtlCol="0" anchor="ctr"/>
          <a:lstStyle/>
          <a:p>
            <a:pPr algn="ctr"/>
          </a:p>
        </p:txBody>
      </p:sp>
      <p:pic>
        <p:nvPicPr>
          <p:cNvPr id="37" name="Picture 36" descr="route_E58900_256_2.0.png"/>
          <p:cNvPicPr>
            <a:picLocks noChangeAspect="1"/>
          </p:cNvPicPr>
          <p:nvPr/>
        </p:nvPicPr>
        <p:blipFill>
          <a:blip r:embed="rId5"/>
          <a:stretch>
            <a:fillRect/>
          </a:stretch>
        </p:blipFill>
        <p:spPr>
          <a:xfrm>
            <a:off x="9230685" y="2372685"/>
            <a:ext cx="247253" cy="247253"/>
          </a:xfrm>
          <a:prstGeom prst="rect">
            <a:avLst/>
          </a:prstGeom>
        </p:spPr>
      </p:pic>
      <p:sp>
        <p:nvSpPr>
          <p:cNvPr id="38" name="TextBox 37"/>
          <p:cNvSpPr txBox="1"/>
          <p:nvPr/>
        </p:nvSpPr>
        <p:spPr>
          <a:xfrm>
            <a:off x="911656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4 · Follow-through</a:t>
            </a:r>
          </a:p>
        </p:txBody>
      </p:sp>
      <p:sp>
        <p:nvSpPr>
          <p:cNvPr id="39" name="TextBox 38"/>
          <p:cNvSpPr txBox="1"/>
          <p:nvPr/>
        </p:nvSpPr>
        <p:spPr>
          <a:xfrm>
            <a:off x="911656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Every recommendation tracked publicly to completion.</a:t>
            </a:r>
          </a:p>
        </p:txBody>
      </p:sp>
      <p:cxnSp>
        <p:nvCxnSpPr>
          <p:cNvPr id="40" name="Connector 39"/>
          <p:cNvCxnSpPr/>
          <p:nvPr/>
        </p:nvCxnSpPr>
        <p:spPr>
          <a:xfrm>
            <a:off x="9116568" y="4270248"/>
            <a:ext cx="2304288" cy="0"/>
          </a:xfrm>
          <a:prstGeom prst="line">
            <a:avLst/>
          </a:prstGeom>
          <a:ln w="9525">
            <a:solidFill>
              <a:srgbClr val="E8E9EE"/>
            </a:solidFill>
          </a:ln>
          <a:effectLst/>
        </p:spPr>
      </p:cxnSp>
      <p:sp>
        <p:nvSpPr>
          <p:cNvPr id="41" name="TextBox 40"/>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7 sites fully implemented · 6 more partially</a:t>
            </a:r>
          </a:p>
        </p:txBody>
      </p:sp>
      <p:sp>
        <p:nvSpPr>
          <p:cNvPr id="42" name="TextBox 41"/>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E58900"/>
                </a:solidFill>
                <a:latin typeface="Montserrat"/>
              </a:rPr>
              <a:t>7 sites fully implemented · 6 more partially</a:t>
            </a:r>
          </a:p>
        </p:txBody>
      </p:sp>
      <p:sp>
        <p:nvSpPr>
          <p:cNvPr id="43" name="Rounded Rectangle 42"/>
          <p:cNvSpPr/>
          <p:nvPr/>
        </p:nvSpPr>
        <p:spPr>
          <a:xfrm>
            <a:off x="566928" y="5257800"/>
            <a:ext cx="11057839" cy="640080"/>
          </a:xfrm>
          <a:prstGeom prst="roundRect">
            <a:avLst>
              <a:gd name="adj" fmla="val 14000"/>
            </a:avLst>
          </a:prstGeom>
          <a:solidFill>
            <a:srgbClr val="F7F7FA"/>
          </a:solidFill>
          <a:ln>
            <a:noFill/>
          </a:ln>
          <a:effectLst/>
        </p:spPr>
        <p:txBody>
          <a:bodyPr rtlCol="0" anchor="ctr"/>
          <a:lstStyle/>
          <a:p>
            <a:pPr algn="ctr"/>
          </a:p>
        </p:txBody>
      </p:sp>
      <p:sp>
        <p:nvSpPr>
          <p:cNvPr id="44" name="TextBox 43"/>
          <p:cNvSpPr txBox="1"/>
          <p:nvPr/>
        </p:nvSpPr>
        <p:spPr>
          <a:xfrm>
            <a:off x="795528" y="5358384"/>
            <a:ext cx="10600639" cy="457200"/>
          </a:xfrm>
          <a:prstGeom prst="rect">
            <a:avLst/>
          </a:prstGeom>
          <a:noFill/>
        </p:spPr>
        <p:txBody>
          <a:bodyPr wrap="square" lIns="0" rIns="0" tIns="0" bIns="0" anchor="t">
            <a:spAutoFit/>
          </a:bodyPr>
          <a:lstStyle/>
          <a:p>
            <a:pPr algn="l">
              <a:lnSpc>
                <a:spcPct val="130000"/>
              </a:lnSpc>
            </a:pPr>
            <a:r>
              <a:rPr sz="1100" b="1" i="0">
                <a:solidFill>
                  <a:srgbClr val="16181D"/>
                </a:solidFill>
                <a:latin typeface="Geist"/>
              </a:rPr>
              <a:t>We do not replace the system and we do not campaign against it. </a:t>
            </a:r>
            <a:r>
              <a:rPr sz="1100" b="0" i="0">
                <a:solidFill>
                  <a:srgbClr val="6E7180"/>
                </a:solidFill>
                <a:latin typeface="Geist"/>
              </a:rPr>
              <a:t>We add hands, evidence and tools to work the system has already committed to.</a:t>
            </a:r>
          </a:p>
        </p:txBody>
      </p:sp>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WHY WORKING GROUP 2</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Why Working Group 2, </a:t>
            </a:r>
            <a:r>
              <a:rPr sz="2250" b="1" i="0">
                <a:solidFill>
                  <a:srgbClr val="4A35FF"/>
                </a:solidFill>
                <a:latin typeface="Montserrat"/>
              </a:rPr>
              <a:t>and what we bring to it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Group's mandate matches the deepest part of our portfolio. Three focus areas where we are ready on day one.</a:t>
            </a:r>
          </a:p>
        </p:txBody>
      </p:sp>
      <p:sp>
        <p:nvSpPr>
          <p:cNvPr id="8" name="Oval 7"/>
          <p:cNvSpPr/>
          <p:nvPr/>
        </p:nvSpPr>
        <p:spPr>
          <a:xfrm>
            <a:off x="566928" y="2011680"/>
            <a:ext cx="365760" cy="365760"/>
          </a:xfrm>
          <a:prstGeom prst="ellipse">
            <a:avLst/>
          </a:prstGeom>
          <a:solidFill>
            <a:srgbClr val="EFEDFF"/>
          </a:solidFill>
          <a:ln>
            <a:noFill/>
          </a:ln>
          <a:effectLst/>
        </p:spPr>
        <p:txBody>
          <a:bodyPr rtlCol="0" anchor="ctr"/>
          <a:lstStyle/>
          <a:p>
            <a:pPr algn="ctr"/>
          </a:p>
        </p:txBody>
      </p:sp>
      <p:pic>
        <p:nvPicPr>
          <p:cNvPr id="9" name="Picture 8" descr="construction_4A35FF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Black-spot rectification at scale</a:t>
            </a:r>
          </a:p>
        </p:txBody>
      </p:sp>
      <p:sp>
        <p:nvSpPr>
          <p:cNvPr id="11" name="TextBox 10"/>
          <p:cNvSpPr txBox="1"/>
          <p:nvPr/>
        </p:nvSpPr>
        <p:spPr>
          <a:xfrm>
            <a:off x="3566160" y="1993392"/>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Our audit-to-implementation pipeline is running in 18 cities, the Group's rectification agenda is our core work.</a:t>
            </a:r>
          </a:p>
        </p:txBody>
      </p:sp>
      <p:sp>
        <p:nvSpPr>
          <p:cNvPr id="12" name="Oval 11"/>
          <p:cNvSpPr/>
          <p:nvPr/>
        </p:nvSpPr>
        <p:spPr>
          <a:xfrm>
            <a:off x="566928" y="2907792"/>
            <a:ext cx="365760" cy="365760"/>
          </a:xfrm>
          <a:prstGeom prst="ellipse">
            <a:avLst/>
          </a:prstGeom>
          <a:solidFill>
            <a:srgbClr val="E9F7F0"/>
          </a:solidFill>
          <a:ln>
            <a:noFill/>
          </a:ln>
          <a:effectLst/>
        </p:spPr>
        <p:txBody>
          <a:bodyPr rtlCol="0" anchor="ctr"/>
          <a:lstStyle/>
          <a:p>
            <a:pPr algn="ctr"/>
          </a:p>
        </p:txBody>
      </p:sp>
      <p:pic>
        <p:nvPicPr>
          <p:cNvPr id="13" name="Picture 12" descr="gauge_0A9955_256_2.0.png"/>
          <p:cNvPicPr>
            <a:picLocks noChangeAspect="1"/>
          </p:cNvPicPr>
          <p:nvPr/>
        </p:nvPicPr>
        <p:blipFill>
          <a:blip r:embed="rId3"/>
          <a:stretch>
            <a:fillRect/>
          </a:stretch>
        </p:blipFill>
        <p:spPr>
          <a:xfrm>
            <a:off x="654710" y="2995574"/>
            <a:ext cx="190195" cy="190195"/>
          </a:xfrm>
          <a:prstGeom prst="rect">
            <a:avLst/>
          </a:prstGeom>
        </p:spPr>
      </p:pic>
      <p:sp>
        <p:nvSpPr>
          <p:cNvPr id="14" name="TextBox 13"/>
          <p:cNvSpPr txBox="1"/>
          <p:nvPr/>
        </p:nvSpPr>
        <p:spPr>
          <a:xfrm>
            <a:off x="1097280" y="288950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Standards for audits &amp; speed management</a:t>
            </a:r>
          </a:p>
        </p:txBody>
      </p:sp>
      <p:sp>
        <p:nvSpPr>
          <p:cNvPr id="15" name="TextBox 14"/>
          <p:cNvSpPr txBox="1"/>
          <p:nvPr/>
        </p:nvSpPr>
        <p:spPr>
          <a:xfrm>
            <a:off x="3566160" y="2889504"/>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IRC-anchored audit instruments, masterclass-trained teams, and a direct line into IRC H-7 via our advisor.</a:t>
            </a:r>
          </a:p>
        </p:txBody>
      </p:sp>
      <p:sp>
        <p:nvSpPr>
          <p:cNvPr id="16" name="Oval 15"/>
          <p:cNvSpPr/>
          <p:nvPr/>
        </p:nvSpPr>
        <p:spPr>
          <a:xfrm>
            <a:off x="566928" y="3803904"/>
            <a:ext cx="365760" cy="365760"/>
          </a:xfrm>
          <a:prstGeom prst="ellipse">
            <a:avLst/>
          </a:prstGeom>
          <a:solidFill>
            <a:srgbClr val="FDF3E3"/>
          </a:solidFill>
          <a:ln>
            <a:noFill/>
          </a:ln>
          <a:effectLst/>
        </p:spPr>
        <p:txBody>
          <a:bodyPr rtlCol="0" anchor="ctr"/>
          <a:lstStyle/>
          <a:p>
            <a:pPr algn="ctr"/>
          </a:p>
        </p:txBody>
      </p:sp>
      <p:pic>
        <p:nvPicPr>
          <p:cNvPr id="17" name="Picture 16" descr="footprints_E58900_256_2.0.png"/>
          <p:cNvPicPr>
            <a:picLocks noChangeAspect="1"/>
          </p:cNvPicPr>
          <p:nvPr/>
        </p:nvPicPr>
        <p:blipFill>
          <a:blip r:embed="rId4"/>
          <a:stretch>
            <a:fillRect/>
          </a:stretch>
        </p:blipFill>
        <p:spPr>
          <a:xfrm>
            <a:off x="654710" y="3891686"/>
            <a:ext cx="190195" cy="190195"/>
          </a:xfrm>
          <a:prstGeom prst="rect">
            <a:avLst/>
          </a:prstGeom>
        </p:spPr>
      </p:pic>
      <p:sp>
        <p:nvSpPr>
          <p:cNvPr id="18" name="TextBox 17"/>
          <p:cNvSpPr txBox="1"/>
          <p:nvPr/>
        </p:nvSpPr>
        <p:spPr>
          <a:xfrm>
            <a:off x="1097280" y="37856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Protecting vulnerable road users</a:t>
            </a:r>
          </a:p>
        </p:txBody>
      </p:sp>
      <p:sp>
        <p:nvSpPr>
          <p:cNvPr id="19" name="TextBox 18"/>
          <p:cNvSpPr txBox="1"/>
          <p:nvPr/>
        </p:nvSpPr>
        <p:spPr>
          <a:xfrm>
            <a:off x="3566160" y="3785616"/>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Pedestrian-first audits, the 300-rider gig-safety study, school-zone screening, evidence ready for VRU standards.</a:t>
            </a:r>
          </a:p>
        </p:txBody>
      </p:sp>
      <p:sp>
        <p:nvSpPr>
          <p:cNvPr id="20" name="TextBox 19"/>
          <p:cNvSpPr txBox="1"/>
          <p:nvPr/>
        </p:nvSpPr>
        <p:spPr>
          <a:xfrm>
            <a:off x="7452360" y="1920240"/>
            <a:ext cx="402336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EXISTING CAPABILITIES WE PUT ON THE TABLE</a:t>
            </a:r>
          </a:p>
        </p:txBody>
      </p:sp>
      <p:sp>
        <p:nvSpPr>
          <p:cNvPr id="21" name="Rounded Rectangle 20"/>
          <p:cNvSpPr/>
          <p:nvPr/>
        </p:nvSpPr>
        <p:spPr>
          <a:xfrm>
            <a:off x="7452360"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470648"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31 trained audit teams</a:t>
            </a:r>
          </a:p>
        </p:txBody>
      </p:sp>
      <p:sp>
        <p:nvSpPr>
          <p:cNvPr id="23" name="Rounded Rectangle 22"/>
          <p:cNvSpPr/>
          <p:nvPr/>
        </p:nvSpPr>
        <p:spPr>
          <a:xfrm>
            <a:off x="9573768"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92056"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Public tracking portal</a:t>
            </a:r>
          </a:p>
        </p:txBody>
      </p:sp>
      <p:sp>
        <p:nvSpPr>
          <p:cNvPr id="25" name="Rounded Rectangle 24"/>
          <p:cNvSpPr/>
          <p:nvPr/>
        </p:nvSpPr>
        <p:spPr>
          <a:xfrm>
            <a:off x="7452360"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6" name="TextBox 25"/>
          <p:cNvSpPr txBox="1"/>
          <p:nvPr/>
        </p:nvSpPr>
        <p:spPr>
          <a:xfrm>
            <a:off x="7470648"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District pilots: GGM · SWD · Jaipur</a:t>
            </a:r>
          </a:p>
        </p:txBody>
      </p:sp>
      <p:sp>
        <p:nvSpPr>
          <p:cNvPr id="27" name="Rounded Rectangle 26"/>
          <p:cNvSpPr/>
          <p:nvPr/>
        </p:nvSpPr>
        <p:spPr>
          <a:xfrm>
            <a:off x="9573768"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8" name="TextBox 27"/>
          <p:cNvSpPr txBox="1"/>
          <p:nvPr/>
        </p:nvSpPr>
        <p:spPr>
          <a:xfrm>
            <a:off x="9592056"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IRC H-7 advisory line</a:t>
            </a:r>
          </a:p>
        </p:txBody>
      </p:sp>
      <p:sp>
        <p:nvSpPr>
          <p:cNvPr id="29" name="Rounded Rectangle 28"/>
          <p:cNvSpPr/>
          <p:nvPr/>
        </p:nvSpPr>
        <p:spPr>
          <a:xfrm>
            <a:off x="7452360"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0" name="TextBox 29"/>
          <p:cNvSpPr txBox="1"/>
          <p:nvPr/>
        </p:nvSpPr>
        <p:spPr>
          <a:xfrm>
            <a:off x="7470648"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7 sites fully built</a:t>
            </a:r>
          </a:p>
        </p:txBody>
      </p:sp>
      <p:sp>
        <p:nvSpPr>
          <p:cNvPr id="31" name="Rounded Rectangle 30"/>
          <p:cNvSpPr/>
          <p:nvPr/>
        </p:nvSpPr>
        <p:spPr>
          <a:xfrm>
            <a:off x="9573768"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2" name="TextBox 31"/>
          <p:cNvSpPr txBox="1"/>
          <p:nvPr/>
        </p:nvSpPr>
        <p:spPr>
          <a:xfrm>
            <a:off x="9592056"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Expert bench on call</a:t>
            </a:r>
          </a:p>
        </p:txBody>
      </p:sp>
      <p:sp>
        <p:nvSpPr>
          <p:cNvPr id="33" name="TextBox 32"/>
          <p:cNvSpPr txBox="1"/>
          <p:nvPr/>
        </p:nvSpPr>
        <p:spPr>
          <a:xfrm>
            <a:off x="566928" y="4709160"/>
            <a:ext cx="1097280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SUBJECT-MATTER EXPERTS ALREADY ENGAGED ON THIS AGENDA</a:t>
            </a:r>
          </a:p>
        </p:txBody>
      </p:sp>
      <p:sp>
        <p:nvSpPr>
          <p:cNvPr id="34" name="Rounded Rectangle 33"/>
          <p:cNvSpPr/>
          <p:nvPr/>
        </p:nvSpPr>
        <p:spPr>
          <a:xfrm>
            <a:off x="566928" y="4983480"/>
            <a:ext cx="2702737" cy="1097280"/>
          </a:xfrm>
          <a:prstGeom prst="roundRect">
            <a:avLst>
              <a:gd name="adj" fmla="val 10000"/>
            </a:avLst>
          </a:prstGeom>
          <a:solidFill>
            <a:srgbClr val="F7F7FA"/>
          </a:solidFill>
          <a:ln>
            <a:noFill/>
          </a:ln>
          <a:effectLst/>
        </p:spPr>
        <p:txBody>
          <a:bodyPr rtlCol="0" anchor="ctr"/>
          <a:lstStyle/>
          <a:p>
            <a:pPr algn="ctr"/>
          </a:p>
        </p:txBody>
      </p:sp>
      <p:pic>
        <p:nvPicPr>
          <p:cNvPr id="35" name="Picture 34" descr="x_gtiwari.png"/>
          <p:cNvPicPr>
            <a:picLocks noChangeAspect="1"/>
          </p:cNvPicPr>
          <p:nvPr/>
        </p:nvPicPr>
        <p:blipFill>
          <a:blip r:embed="rId5"/>
          <a:stretch>
            <a:fillRect/>
          </a:stretch>
        </p:blipFill>
        <p:spPr>
          <a:xfrm>
            <a:off x="676656" y="5138928"/>
            <a:ext cx="777240" cy="777240"/>
          </a:xfrm>
          <a:prstGeom prst="rect">
            <a:avLst/>
          </a:prstGeom>
        </p:spPr>
      </p:pic>
      <p:sp>
        <p:nvSpPr>
          <p:cNvPr id="36" name="TextBox 35"/>
          <p:cNvSpPr txBox="1"/>
          <p:nvPr/>
        </p:nvSpPr>
        <p:spPr>
          <a:xfrm>
            <a:off x="1536192" y="5084064"/>
            <a:ext cx="1651177"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Prof. Geetam Tiwari</a:t>
            </a:r>
          </a:p>
        </p:txBody>
      </p:sp>
      <p:sp>
        <p:nvSpPr>
          <p:cNvPr id="37" name="TextBox 36"/>
          <p:cNvSpPr txBox="1"/>
          <p:nvPr/>
        </p:nvSpPr>
        <p:spPr>
          <a:xfrm>
            <a:off x="1536192" y="5440680"/>
            <a:ext cx="1651177"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TRIP Centre, IIT Delhi · IRC H-7</a:t>
            </a:r>
          </a:p>
        </p:txBody>
      </p:sp>
      <p:sp>
        <p:nvSpPr>
          <p:cNvPr id="38" name="Rounded Rectangle 37"/>
          <p:cNvSpPr/>
          <p:nvPr/>
        </p:nvSpPr>
        <p:spPr>
          <a:xfrm>
            <a:off x="3351961" y="4983480"/>
            <a:ext cx="2702737" cy="1097280"/>
          </a:xfrm>
          <a:prstGeom prst="roundRect">
            <a:avLst>
              <a:gd name="adj" fmla="val 10000"/>
            </a:avLst>
          </a:prstGeom>
          <a:solidFill>
            <a:srgbClr val="F7F7FA"/>
          </a:solidFill>
          <a:ln>
            <a:noFill/>
          </a:ln>
          <a:effectLst/>
        </p:spPr>
        <p:txBody>
          <a:bodyPr rtlCol="0" anchor="ctr"/>
          <a:lstStyle/>
          <a:p>
            <a:pPr algn="ctr"/>
          </a:p>
        </p:txBody>
      </p:sp>
      <p:pic>
        <p:nvPicPr>
          <p:cNvPr id="39" name="Picture 38" descr="x_damle.png"/>
          <p:cNvPicPr>
            <a:picLocks noChangeAspect="1"/>
          </p:cNvPicPr>
          <p:nvPr/>
        </p:nvPicPr>
        <p:blipFill>
          <a:blip r:embed="rId6"/>
          <a:stretch>
            <a:fillRect/>
          </a:stretch>
        </p:blipFill>
        <p:spPr>
          <a:xfrm>
            <a:off x="3461689" y="5138928"/>
            <a:ext cx="777240" cy="777240"/>
          </a:xfrm>
          <a:prstGeom prst="rect">
            <a:avLst/>
          </a:prstGeom>
        </p:spPr>
      </p:pic>
      <p:sp>
        <p:nvSpPr>
          <p:cNvPr id="40" name="TextBox 39"/>
          <p:cNvSpPr txBox="1"/>
          <p:nvPr/>
        </p:nvSpPr>
        <p:spPr>
          <a:xfrm>
            <a:off x="4321225" y="5084064"/>
            <a:ext cx="1651177"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Abhay Damle</a:t>
            </a:r>
          </a:p>
        </p:txBody>
      </p:sp>
      <p:sp>
        <p:nvSpPr>
          <p:cNvPr id="41" name="TextBox 40"/>
          <p:cNvSpPr txBox="1"/>
          <p:nvPr/>
        </p:nvSpPr>
        <p:spPr>
          <a:xfrm>
            <a:off x="4321225" y="5440680"/>
            <a:ext cx="1651177"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Ex-Joint Secretary, MoRTH</a:t>
            </a:r>
          </a:p>
        </p:txBody>
      </p:sp>
      <p:sp>
        <p:nvSpPr>
          <p:cNvPr id="42" name="Rounded Rectangle 41"/>
          <p:cNvSpPr/>
          <p:nvPr/>
        </p:nvSpPr>
        <p:spPr>
          <a:xfrm>
            <a:off x="6136995" y="4983480"/>
            <a:ext cx="2702737" cy="1097280"/>
          </a:xfrm>
          <a:prstGeom prst="roundRect">
            <a:avLst>
              <a:gd name="adj" fmla="val 10000"/>
            </a:avLst>
          </a:prstGeom>
          <a:solidFill>
            <a:srgbClr val="F7F7FA"/>
          </a:solidFill>
          <a:ln>
            <a:noFill/>
          </a:ln>
          <a:effectLst/>
        </p:spPr>
        <p:txBody>
          <a:bodyPr rtlCol="0" anchor="ctr"/>
          <a:lstStyle/>
          <a:p>
            <a:pPr algn="ctr"/>
          </a:p>
        </p:txBody>
      </p:sp>
      <p:pic>
        <p:nvPicPr>
          <p:cNvPr id="43" name="Picture 42" descr="x_dange.png"/>
          <p:cNvPicPr>
            <a:picLocks noChangeAspect="1"/>
          </p:cNvPicPr>
          <p:nvPr/>
        </p:nvPicPr>
        <p:blipFill>
          <a:blip r:embed="rId7"/>
          <a:stretch>
            <a:fillRect/>
          </a:stretch>
        </p:blipFill>
        <p:spPr>
          <a:xfrm>
            <a:off x="6246723" y="5138928"/>
            <a:ext cx="777240" cy="777240"/>
          </a:xfrm>
          <a:prstGeom prst="rect">
            <a:avLst/>
          </a:prstGeom>
        </p:spPr>
      </p:pic>
      <p:sp>
        <p:nvSpPr>
          <p:cNvPr id="44" name="TextBox 43"/>
          <p:cNvSpPr txBox="1"/>
          <p:nvPr/>
        </p:nvSpPr>
        <p:spPr>
          <a:xfrm>
            <a:off x="7106259" y="5084064"/>
            <a:ext cx="1651177"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Vaibhav Dange</a:t>
            </a:r>
          </a:p>
        </p:txBody>
      </p:sp>
      <p:sp>
        <p:nvSpPr>
          <p:cNvPr id="45" name="TextBox 44"/>
          <p:cNvSpPr txBox="1"/>
          <p:nvPr/>
        </p:nvSpPr>
        <p:spPr>
          <a:xfrm>
            <a:off x="7106259" y="5440680"/>
            <a:ext cx="1651177"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Ex-Advisor, MoRTH</a:t>
            </a:r>
          </a:p>
        </p:txBody>
      </p:sp>
      <p:sp>
        <p:nvSpPr>
          <p:cNvPr id="46" name="Rounded Rectangle 45"/>
          <p:cNvSpPr/>
          <p:nvPr/>
        </p:nvSpPr>
        <p:spPr>
          <a:xfrm>
            <a:off x="8922029" y="4983480"/>
            <a:ext cx="2702737" cy="1097280"/>
          </a:xfrm>
          <a:prstGeom prst="roundRect">
            <a:avLst>
              <a:gd name="adj" fmla="val 10000"/>
            </a:avLst>
          </a:prstGeom>
          <a:solidFill>
            <a:srgbClr val="F7F7FA"/>
          </a:solidFill>
          <a:ln>
            <a:noFill/>
          </a:ln>
          <a:effectLst/>
        </p:spPr>
        <p:txBody>
          <a:bodyPr rtlCol="0" anchor="ctr"/>
          <a:lstStyle/>
          <a:p>
            <a:pPr algn="ctr"/>
          </a:p>
        </p:txBody>
      </p:sp>
      <p:pic>
        <p:nvPicPr>
          <p:cNvPr id="47" name="Picture 46" descr="x_asrivastava.png"/>
          <p:cNvPicPr>
            <a:picLocks noChangeAspect="1"/>
          </p:cNvPicPr>
          <p:nvPr/>
        </p:nvPicPr>
        <p:blipFill>
          <a:blip r:embed="rId8"/>
          <a:stretch>
            <a:fillRect/>
          </a:stretch>
        </p:blipFill>
        <p:spPr>
          <a:xfrm>
            <a:off x="9031757" y="5138928"/>
            <a:ext cx="777240" cy="777240"/>
          </a:xfrm>
          <a:prstGeom prst="rect">
            <a:avLst/>
          </a:prstGeom>
        </p:spPr>
      </p:pic>
      <p:sp>
        <p:nvSpPr>
          <p:cNvPr id="48" name="TextBox 47"/>
          <p:cNvSpPr txBox="1"/>
          <p:nvPr/>
        </p:nvSpPr>
        <p:spPr>
          <a:xfrm>
            <a:off x="9891293" y="5084064"/>
            <a:ext cx="1651177"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Akhilesh Srivastava</a:t>
            </a:r>
          </a:p>
        </p:txBody>
      </p:sp>
      <p:sp>
        <p:nvSpPr>
          <p:cNvPr id="49" name="TextBox 48"/>
          <p:cNvSpPr txBox="1"/>
          <p:nvPr/>
        </p:nvSpPr>
        <p:spPr>
          <a:xfrm>
            <a:off x="9891293" y="5440680"/>
            <a:ext cx="1651177"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ITS India · IRF</a:t>
            </a:r>
          </a:p>
        </p:txBody>
      </p:sp>
      <p:cxnSp>
        <p:nvCxnSpPr>
          <p:cNvPr id="50" name="Connector 49"/>
          <p:cNvCxnSpPr/>
          <p:nvPr/>
        </p:nvCxnSpPr>
        <p:spPr>
          <a:xfrm>
            <a:off x="566928" y="6455664"/>
            <a:ext cx="11057839" cy="0"/>
          </a:xfrm>
          <a:prstGeom prst="line">
            <a:avLst/>
          </a:prstGeom>
          <a:ln w="9525">
            <a:solidFill>
              <a:srgbClr val="E8E9EE"/>
            </a:solidFill>
          </a:ln>
          <a:effectLst/>
        </p:spPr>
      </p:cxnSp>
      <p:sp>
        <p:nvSpPr>
          <p:cNvPr id="51" name="TextBox 5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2" name="TextBox 5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7 fixes fully built</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42.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_0.25.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_0.3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in real time.</a:t>
            </a:r>
          </a:p>
        </p:txBody>
      </p:sp>
      <p:pic>
        <p:nvPicPr>
          <p:cNvPr id="8" name="Picture 7" descr="satark_billboard.jpg_4.35x2.65_0.42.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live plate, pending challans and dues on a public billboard.</a:t>
            </a:r>
          </a:p>
        </p:txBody>
      </p:sp>
      <p:pic>
        <p:nvPicPr>
          <p:cNvPr id="11" name="Picture 10" descr="satark_officer_app.jpg"/>
          <p:cNvPicPr>
            <a:picLocks noChangeAspect="1"/>
          </p:cNvPicPr>
          <p:nvPr/>
        </p:nvPicPr>
        <p:blipFill>
          <a:blip r:embed="rId3"/>
          <a:stretch>
            <a:fillRect/>
          </a:stretch>
        </p:blipFill>
        <p:spPr>
          <a:xfrm>
            <a:off x="4709160" y="1965960"/>
            <a:ext cx="1828800" cy="2150283"/>
          </a:xfrm>
          <a:prstGeom prst="rect">
            <a:avLst/>
          </a:prstGeom>
        </p:spPr>
      </p:pic>
      <p:sp>
        <p:nvSpPr>
          <p:cNvPr id="12" name="Rectangle 11"/>
          <p:cNvSpPr/>
          <p:nvPr/>
        </p:nvSpPr>
        <p:spPr>
          <a:xfrm>
            <a:off x="4709160" y="1965960"/>
            <a:ext cx="1828800" cy="2150283"/>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161963"/>
            <a:ext cx="182880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Officer view, challans,</a:t>
            </a:r>
          </a:p>
          <a:p>
            <a:pPr algn="l">
              <a:lnSpc>
                <a:spcPct val="112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public data platforms,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Screenshots taken from the live platforms this week. Each one turns a scattered public record into structured, citable evidence.</a:t>
            </a:r>
          </a:p>
        </p:txBody>
      </p:sp>
      <p:pic>
        <p:nvPicPr>
          <p:cNvPr id="8" name="Picture 7" descr="parliament_live.png_6.00x3.40_0.00.jpg"/>
          <p:cNvPicPr>
            <a:picLocks noChangeAspect="1"/>
          </p:cNvPicPr>
          <p:nvPr/>
        </p:nvPicPr>
        <p:blipFill>
          <a:blip r:embed="rId2"/>
          <a:stretch>
            <a:fillRect/>
          </a:stretch>
        </p:blipFill>
        <p:spPr>
          <a:xfrm>
            <a:off x="566928" y="1938528"/>
            <a:ext cx="5486400" cy="3108960"/>
          </a:xfrm>
          <a:prstGeom prst="rect">
            <a:avLst/>
          </a:prstGeom>
        </p:spPr>
      </p:pic>
      <p:sp>
        <p:nvSpPr>
          <p:cNvPr id="9" name="Rectangle 8"/>
          <p:cNvSpPr/>
          <p:nvPr/>
        </p:nvSpPr>
        <p:spPr>
          <a:xfrm>
            <a:off x="566928" y="1938528"/>
            <a:ext cx="5486400" cy="31089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093208"/>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in Parliament: all 1,444 questions since 2014 across four ministries; 275 of 540 sitting Lok Sabha MPs have never asked one; 92% answered only in writing.</a:t>
            </a:r>
          </a:p>
        </p:txBody>
      </p:sp>
      <p:pic>
        <p:nvPicPr>
          <p:cNvPr id="11" name="Picture 10" descr="sctracker.png_6.00x3.40_0.00.jpg"/>
          <p:cNvPicPr>
            <a:picLocks noChangeAspect="1"/>
          </p:cNvPicPr>
          <p:nvPr/>
        </p:nvPicPr>
        <p:blipFill>
          <a:blip r:embed="rId3"/>
          <a:stretch>
            <a:fillRect/>
          </a:stretch>
        </p:blipFill>
        <p:spPr>
          <a:xfrm>
            <a:off x="6144768" y="1938528"/>
            <a:ext cx="5486400" cy="3108960"/>
          </a:xfrm>
          <a:prstGeom prst="rect">
            <a:avLst/>
          </a:prstGeom>
        </p:spPr>
      </p:pic>
      <p:sp>
        <p:nvSpPr>
          <p:cNvPr id="12" name="Rectangle 11"/>
          <p:cNvSpPr/>
          <p:nvPr/>
        </p:nvSpPr>
        <p:spPr>
          <a:xfrm>
            <a:off x="6144768" y="1938528"/>
            <a:ext cx="5486400" cy="310896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6144768" y="5093208"/>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Supreme Court Litigation Tracker: 20 systemic cases, 191 orders indexed, 30 precedent judgments. Refreshes every Tuesday.</a:t>
            </a:r>
          </a:p>
        </p:txBody>
      </p:sp>
      <p:sp>
        <p:nvSpPr>
          <p:cNvPr id="14" name="Oval 13"/>
          <p:cNvSpPr/>
          <p:nvPr/>
        </p:nvSpPr>
        <p:spPr>
          <a:xfrm>
            <a:off x="566928" y="5532120"/>
            <a:ext cx="365760" cy="365760"/>
          </a:xfrm>
          <a:prstGeom prst="ellipse">
            <a:avLst/>
          </a:prstGeom>
          <a:solidFill>
            <a:srgbClr val="E7F4F4"/>
          </a:solidFill>
          <a:ln>
            <a:noFill/>
          </a:ln>
          <a:effectLst/>
        </p:spPr>
        <p:txBody>
          <a:bodyPr rtlCol="0" anchor="ctr"/>
          <a:lstStyle/>
          <a:p>
            <a:pPr algn="ctr"/>
          </a:p>
        </p:txBody>
      </p:sp>
      <p:pic>
        <p:nvPicPr>
          <p:cNvPr id="15" name="Picture 14" descr="database_0E8A8A_256_2.0.png"/>
          <p:cNvPicPr>
            <a:picLocks noChangeAspect="1"/>
          </p:cNvPicPr>
          <p:nvPr/>
        </p:nvPicPr>
        <p:blipFill>
          <a:blip r:embed="rId4"/>
          <a:stretch>
            <a:fillRect/>
          </a:stretch>
        </p:blipFill>
        <p:spPr>
          <a:xfrm>
            <a:off x="654710" y="5619902"/>
            <a:ext cx="190195" cy="190195"/>
          </a:xfrm>
          <a:prstGeom prst="rect">
            <a:avLst/>
          </a:prstGeom>
        </p:spPr>
      </p:pic>
      <p:sp>
        <p:nvSpPr>
          <p:cNvPr id="16" name="TextBox 15"/>
          <p:cNvSpPr txBox="1"/>
          <p:nvPr/>
        </p:nvSpPr>
        <p:spPr>
          <a:xfrm>
            <a:off x="1042416" y="5504688"/>
            <a:ext cx="5029200" cy="32004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Road-Infrastructure Defect Repository</a:t>
            </a:r>
          </a:p>
        </p:txBody>
      </p:sp>
      <p:sp>
        <p:nvSpPr>
          <p:cNvPr id="17" name="TextBox 16"/>
          <p:cNvSpPr txBox="1"/>
          <p:nvPr/>
        </p:nvSpPr>
        <p:spPr>
          <a:xfrm>
            <a:off x="1042416" y="5769864"/>
            <a:ext cx="4937760" cy="548640"/>
          </a:xfrm>
          <a:prstGeom prst="rect">
            <a:avLst/>
          </a:prstGeom>
          <a:noFill/>
        </p:spPr>
        <p:txBody>
          <a:bodyPr wrap="square" lIns="0" rIns="0" tIns="0" bIns="0" anchor="t">
            <a:spAutoFit/>
          </a:bodyPr>
          <a:lstStyle/>
          <a:p>
            <a:pPr algn="l">
              <a:lnSpc>
                <a:spcPct val="118000"/>
              </a:lnSpc>
            </a:pPr>
            <a:r>
              <a:rPr sz="850" b="0" i="0">
                <a:solidFill>
                  <a:srgbClr val="6E7180"/>
                </a:solidFill>
                <a:latin typeface="Geist"/>
              </a:rPr>
              <a:t>An AI pipeline reads local-language news from 146 districts every morning and turns defect reports into structured, mapped evidence.</a:t>
            </a:r>
          </a:p>
        </p:txBody>
      </p:sp>
      <p:sp>
        <p:nvSpPr>
          <p:cNvPr id="18" name="Oval 17"/>
          <p:cNvSpPr/>
          <p:nvPr/>
        </p:nvSpPr>
        <p:spPr>
          <a:xfrm>
            <a:off x="6144768" y="5532120"/>
            <a:ext cx="365760" cy="365760"/>
          </a:xfrm>
          <a:prstGeom prst="ellipse">
            <a:avLst/>
          </a:prstGeom>
          <a:solidFill>
            <a:srgbClr val="FDF3E3"/>
          </a:solidFill>
          <a:ln>
            <a:noFill/>
          </a:ln>
          <a:effectLst/>
        </p:spPr>
        <p:txBody>
          <a:bodyPr rtlCol="0" anchor="ctr"/>
          <a:lstStyle/>
          <a:p>
            <a:pPr algn="ctr"/>
          </a:p>
        </p:txBody>
      </p:sp>
      <p:pic>
        <p:nvPicPr>
          <p:cNvPr id="19" name="Picture 18" descr="bar-chart-3_E58900_256_2.0.png"/>
          <p:cNvPicPr>
            <a:picLocks noChangeAspect="1"/>
          </p:cNvPicPr>
          <p:nvPr/>
        </p:nvPicPr>
        <p:blipFill>
          <a:blip r:embed="rId5"/>
          <a:stretch>
            <a:fillRect/>
          </a:stretch>
        </p:blipFill>
        <p:spPr>
          <a:xfrm>
            <a:off x="6232550" y="5619902"/>
            <a:ext cx="190195" cy="190195"/>
          </a:xfrm>
          <a:prstGeom prst="rect">
            <a:avLst/>
          </a:prstGeom>
        </p:spPr>
      </p:pic>
      <p:sp>
        <p:nvSpPr>
          <p:cNvPr id="20" name="TextBox 19"/>
          <p:cNvSpPr txBox="1"/>
          <p:nvPr/>
        </p:nvSpPr>
        <p:spPr>
          <a:xfrm>
            <a:off x="6620256" y="5504688"/>
            <a:ext cx="5029200" cy="32004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Crash Data Dashboard</a:t>
            </a:r>
          </a:p>
        </p:txBody>
      </p:sp>
      <p:sp>
        <p:nvSpPr>
          <p:cNvPr id="21" name="TextBox 20"/>
          <p:cNvSpPr txBox="1"/>
          <p:nvPr/>
        </p:nvSpPr>
        <p:spPr>
          <a:xfrm>
            <a:off x="6620256" y="5769864"/>
            <a:ext cx="4937760" cy="548640"/>
          </a:xfrm>
          <a:prstGeom prst="rect">
            <a:avLst/>
          </a:prstGeom>
          <a:noFill/>
        </p:spPr>
        <p:txBody>
          <a:bodyPr wrap="square" lIns="0" rIns="0" tIns="0" bIns="0" anchor="t">
            <a:spAutoFit/>
          </a:bodyPr>
          <a:lstStyle/>
          <a:p>
            <a:pPr algn="l">
              <a:lnSpc>
                <a:spcPct val="118000"/>
              </a:lnSpc>
            </a:pPr>
            <a:r>
              <a:rPr sz="850" b="0" i="0">
                <a:solidFill>
                  <a:srgbClr val="6E7180"/>
                </a:solidFill>
                <a:latin typeface="Geist"/>
              </a:rPr>
              <a:t>MoRTH's annual 'Road Accidents in India' books as a usable product: report cards for 36 states and 50 cities, open licence (CC-BY).</a:t>
            </a:r>
          </a:p>
        </p:txBody>
      </p:sp>
      <p:cxnSp>
        <p:nvCxnSpPr>
          <p:cNvPr id="22" name="Connector 21"/>
          <p:cNvCxnSpPr/>
          <p:nvPr/>
        </p:nvCxnSpPr>
        <p:spPr>
          <a:xfrm>
            <a:off x="566928" y="6455664"/>
            <a:ext cx="11057839" cy="0"/>
          </a:xfrm>
          <a:prstGeom prst="line">
            <a:avLst/>
          </a:prstGeom>
          <a:ln w="9525">
            <a:solidFill>
              <a:srgbClr val="E8E9EE"/>
            </a:solidFill>
          </a:ln>
          <a:effectLst/>
        </p:spPr>
      </p:cxnSp>
      <p:sp>
        <p:nvSpPr>
          <p:cNvPr id="23" name="TextBox 2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4" name="TextBox 2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on WhatsApp, on paper, and in person.</a:t>
            </a:r>
          </a:p>
        </p:txBody>
      </p:sp>
      <p:pic>
        <p:nvPicPr>
          <p:cNvPr id="8" name="Picture 7" descr="ui_aasha_chat.png"/>
          <p:cNvPicPr>
            <a:picLocks noChangeAspect="1"/>
          </p:cNvPicPr>
          <p:nvPr/>
        </p:nvPicPr>
        <p:blipFill>
          <a:blip r:embed="rId2"/>
          <a:stretch>
            <a:fillRect/>
          </a:stretch>
        </p:blipFill>
        <p:spPr>
          <a:xfrm>
            <a:off x="566928" y="1920240"/>
            <a:ext cx="3850544" cy="2834640"/>
          </a:xfrm>
          <a:prstGeom prst="rect">
            <a:avLst/>
          </a:prstGeom>
        </p:spPr>
      </p:pic>
      <p:sp>
        <p:nvSpPr>
          <p:cNvPr id="9" name="Rectangle 8"/>
          <p:cNvSpPr/>
          <p:nvPr/>
        </p:nvSpPr>
        <p:spPr>
          <a:xfrm>
            <a:off x="566928" y="1920240"/>
            <a:ext cx="3850544" cy="283464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800600"/>
            <a:ext cx="385054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Aasha, live on WhatsApp, 24/7, multilingual, step-by-step guidance on rights, schemes and documents.</a:t>
            </a:r>
          </a:p>
        </p:txBody>
      </p:sp>
      <p:sp>
        <p:nvSpPr>
          <p:cNvPr id="11" name="Oval 10"/>
          <p:cNvSpPr/>
          <p:nvPr/>
        </p:nvSpPr>
        <p:spPr>
          <a:xfrm>
            <a:off x="566928" y="5166360"/>
            <a:ext cx="365760" cy="365760"/>
          </a:xfrm>
          <a:prstGeom prst="ellipse">
            <a:avLst/>
          </a:prstGeom>
          <a:solidFill>
            <a:srgbClr val="EFEDFF"/>
          </a:solidFill>
          <a:ln>
            <a:noFill/>
          </a:ln>
          <a:effectLst/>
        </p:spPr>
        <p:txBody>
          <a:bodyPr rtlCol="0" anchor="ctr"/>
          <a:lstStyle/>
          <a:p>
            <a:pPr algn="ctr"/>
          </a:p>
        </p:txBody>
      </p:sp>
      <p:pic>
        <p:nvPicPr>
          <p:cNvPr id="12" name="Picture 11" descr="bot_4A35FF_256_2.0.png"/>
          <p:cNvPicPr>
            <a:picLocks noChangeAspect="1"/>
          </p:cNvPicPr>
          <p:nvPr/>
        </p:nvPicPr>
        <p:blipFill>
          <a:blip r:embed="rId3"/>
          <a:stretch>
            <a:fillRect/>
          </a:stretch>
        </p:blipFill>
        <p:spPr>
          <a:xfrm>
            <a:off x="654710" y="5254142"/>
            <a:ext cx="190195" cy="190195"/>
          </a:xfrm>
          <a:prstGeom prst="rect">
            <a:avLst/>
          </a:prstGeom>
        </p:spPr>
      </p:pic>
      <p:sp>
        <p:nvSpPr>
          <p:cNvPr id="13" name="TextBox 12"/>
          <p:cNvSpPr txBox="1"/>
          <p:nvPr/>
        </p:nvSpPr>
        <p:spPr>
          <a:xfrm>
            <a:off x="1042416" y="5184648"/>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Aasha chatbot, </a:t>
            </a:r>
            <a:r>
              <a:rPr sz="850" b="0" i="0">
                <a:solidFill>
                  <a:srgbClr val="6E7180"/>
                </a:solidFill>
                <a:latin typeface="Geist"/>
              </a:rPr>
              <a:t>India's first AI legal companion for crash victims, no app, no portal, just WhatsApp and voice.</a:t>
            </a:r>
          </a:p>
        </p:txBody>
      </p:sp>
      <p:sp>
        <p:nvSpPr>
          <p:cNvPr id="14" name="Oval 13"/>
          <p:cNvSpPr/>
          <p:nvPr/>
        </p:nvSpPr>
        <p:spPr>
          <a:xfrm>
            <a:off x="6190488" y="5166360"/>
            <a:ext cx="365760" cy="365760"/>
          </a:xfrm>
          <a:prstGeom prst="ellipse">
            <a:avLst/>
          </a:prstGeom>
          <a:solidFill>
            <a:srgbClr val="E7F4F4"/>
          </a:solidFill>
          <a:ln>
            <a:noFill/>
          </a:ln>
          <a:effectLst/>
        </p:spPr>
        <p:txBody>
          <a:bodyPr rtlCol="0" anchor="ctr"/>
          <a:lstStyle/>
          <a:p>
            <a:pPr algn="ctr"/>
          </a:p>
        </p:txBody>
      </p:sp>
      <p:pic>
        <p:nvPicPr>
          <p:cNvPr id="15" name="Picture 14" descr="calculator_0E8A8A_256_2.0.png"/>
          <p:cNvPicPr>
            <a:picLocks noChangeAspect="1"/>
          </p:cNvPicPr>
          <p:nvPr/>
        </p:nvPicPr>
        <p:blipFill>
          <a:blip r:embed="rId4"/>
          <a:stretch>
            <a:fillRect/>
          </a:stretch>
        </p:blipFill>
        <p:spPr>
          <a:xfrm>
            <a:off x="6278270" y="5254142"/>
            <a:ext cx="190195" cy="190195"/>
          </a:xfrm>
          <a:prstGeom prst="rect">
            <a:avLst/>
          </a:prstGeom>
        </p:spPr>
      </p:pic>
      <p:sp>
        <p:nvSpPr>
          <p:cNvPr id="16" name="TextBox 15"/>
          <p:cNvSpPr txBox="1"/>
          <p:nvPr/>
        </p:nvSpPr>
        <p:spPr>
          <a:xfrm>
            <a:off x="6665976" y="5184648"/>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Compensation Calculator, </a:t>
            </a:r>
            <a:r>
              <a:rPr sz="850" b="0" i="0">
                <a:solidFill>
                  <a:srgbClr val="6E7180"/>
                </a:solidFill>
                <a:latin typeface="Geist"/>
              </a:rPr>
              <a:t>Free instant estimates on Supreme Court principles (Sarla Verma, Pranay Sethi).</a:t>
            </a:r>
          </a:p>
        </p:txBody>
      </p:sp>
      <p:sp>
        <p:nvSpPr>
          <p:cNvPr id="17" name="Oval 16"/>
          <p:cNvSpPr/>
          <p:nvPr/>
        </p:nvSpPr>
        <p:spPr>
          <a:xfrm>
            <a:off x="566928" y="5733288"/>
            <a:ext cx="365760" cy="365760"/>
          </a:xfrm>
          <a:prstGeom prst="ellipse">
            <a:avLst/>
          </a:prstGeom>
          <a:solidFill>
            <a:srgbClr val="E9F7F0"/>
          </a:solidFill>
          <a:ln>
            <a:noFill/>
          </a:ln>
          <a:effectLst/>
        </p:spPr>
        <p:txBody>
          <a:bodyPr rtlCol="0" anchor="ctr"/>
          <a:lstStyle/>
          <a:p>
            <a:pPr algn="ctr"/>
          </a:p>
        </p:txBody>
      </p:sp>
      <p:pic>
        <p:nvPicPr>
          <p:cNvPr id="18" name="Picture 17" descr="life-buoy_0A9955_256_2.0.png"/>
          <p:cNvPicPr>
            <a:picLocks noChangeAspect="1"/>
          </p:cNvPicPr>
          <p:nvPr/>
        </p:nvPicPr>
        <p:blipFill>
          <a:blip r:embed="rId5"/>
          <a:stretch>
            <a:fillRect/>
          </a:stretch>
        </p:blipFill>
        <p:spPr>
          <a:xfrm>
            <a:off x="654710" y="5821070"/>
            <a:ext cx="190195" cy="190195"/>
          </a:xfrm>
          <a:prstGeom prst="rect">
            <a:avLst/>
          </a:prstGeom>
        </p:spPr>
      </p:pic>
      <p:sp>
        <p:nvSpPr>
          <p:cNvPr id="19" name="TextBox 18"/>
          <p:cNvSpPr txBox="1"/>
          <p:nvPr/>
        </p:nvSpPr>
        <p:spPr>
          <a:xfrm>
            <a:off x="1042416" y="5751576"/>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Hospital helpdesks, </a:t>
            </a:r>
            <a:r>
              <a:rPr sz="850" b="0" i="0">
                <a:solidFill>
                  <a:srgbClr val="6E7180"/>
                </a:solidFill>
                <a:latin typeface="Geist"/>
              </a:rPr>
              <a:t>Legal desks in trauma wards, 100+ victims supported in the first four days.</a:t>
            </a:r>
          </a:p>
        </p:txBody>
      </p:sp>
      <p:sp>
        <p:nvSpPr>
          <p:cNvPr id="20" name="Oval 19"/>
          <p:cNvSpPr/>
          <p:nvPr/>
        </p:nvSpPr>
        <p:spPr>
          <a:xfrm>
            <a:off x="6190488" y="5733288"/>
            <a:ext cx="365760" cy="365760"/>
          </a:xfrm>
          <a:prstGeom prst="ellipse">
            <a:avLst/>
          </a:prstGeom>
          <a:solidFill>
            <a:srgbClr val="FDF3E3"/>
          </a:solidFill>
          <a:ln>
            <a:noFill/>
          </a:ln>
          <a:effectLst/>
        </p:spPr>
        <p:txBody>
          <a:bodyPr rtlCol="0" anchor="ctr"/>
          <a:lstStyle/>
          <a:p>
            <a:pPr algn="ctr"/>
          </a:p>
        </p:txBody>
      </p:sp>
      <p:pic>
        <p:nvPicPr>
          <p:cNvPr id="21" name="Picture 20" descr="book-open_E58900_256_2.0.png"/>
          <p:cNvPicPr>
            <a:picLocks noChangeAspect="1"/>
          </p:cNvPicPr>
          <p:nvPr/>
        </p:nvPicPr>
        <p:blipFill>
          <a:blip r:embed="rId6"/>
          <a:stretch>
            <a:fillRect/>
          </a:stretch>
        </p:blipFill>
        <p:spPr>
          <a:xfrm>
            <a:off x="6278270" y="5821070"/>
            <a:ext cx="190195" cy="190195"/>
          </a:xfrm>
          <a:prstGeom prst="rect">
            <a:avLst/>
          </a:prstGeom>
        </p:spPr>
      </p:pic>
      <p:sp>
        <p:nvSpPr>
          <p:cNvPr id="22" name="TextBox 21"/>
          <p:cNvSpPr txBox="1"/>
          <p:nvPr/>
        </p:nvSpPr>
        <p:spPr>
          <a:xfrm>
            <a:off x="6665976" y="5751576"/>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Plain-language education, </a:t>
            </a:r>
            <a:r>
              <a:rPr sz="850" b="0" i="0">
                <a:solidFill>
                  <a:srgbClr val="6E7180"/>
                </a:solidFill>
                <a:latin typeface="Geist"/>
              </a:rPr>
              <a:t>Comics and Hindi guides on all three compensation routes, NALSA 15100 and the Cashless Treatment Scheme 2025.</a:t>
            </a:r>
          </a:p>
        </p:txBody>
      </p:sp>
      <p:pic>
        <p:nvPicPr>
          <p:cNvPr id="23" name="Picture 22" descr="ui_mact_calc.png"/>
          <p:cNvPicPr>
            <a:picLocks noChangeAspect="1"/>
          </p:cNvPicPr>
          <p:nvPr/>
        </p:nvPicPr>
        <p:blipFill>
          <a:blip r:embed="rId7"/>
          <a:stretch>
            <a:fillRect/>
          </a:stretch>
        </p:blipFill>
        <p:spPr>
          <a:xfrm>
            <a:off x="4572000" y="1920240"/>
            <a:ext cx="2871645" cy="2834640"/>
          </a:xfrm>
          <a:prstGeom prst="rect">
            <a:avLst/>
          </a:prstGeom>
        </p:spPr>
      </p:pic>
      <p:sp>
        <p:nvSpPr>
          <p:cNvPr id="24" name="Rectangle 23"/>
          <p:cNvSpPr/>
          <p:nvPr/>
        </p:nvSpPr>
        <p:spPr>
          <a:xfrm>
            <a:off x="4572000" y="1920240"/>
            <a:ext cx="2871645" cy="2834640"/>
          </a:xfrm>
          <a:prstGeom prst="rect">
            <a:avLst/>
          </a:prstGeom>
          <a:noFill/>
          <a:ln w="12700">
            <a:solidFill>
              <a:srgbClr val="E8E9EE"/>
            </a:solidFill>
          </a:ln>
          <a:effectLst/>
        </p:spPr>
        <p:txBody>
          <a:bodyPr rtlCol="0" anchor="ctr"/>
          <a:lstStyle/>
          <a:p>
            <a:pPr algn="ctr"/>
          </a:p>
        </p:txBody>
      </p:sp>
      <p:sp>
        <p:nvSpPr>
          <p:cNvPr id="25" name="TextBox 24"/>
          <p:cNvSpPr txBox="1"/>
          <p:nvPr/>
        </p:nvSpPr>
        <p:spPr>
          <a:xfrm>
            <a:off x="4572000" y="4800600"/>
            <a:ext cx="2871645"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Calculator, a sample estimate</a:t>
            </a:r>
          </a:p>
          <a:p>
            <a:pPr algn="l">
              <a:lnSpc>
                <a:spcPct val="112000"/>
              </a:lnSpc>
            </a:pPr>
            <a:r>
              <a:rPr sz="850" b="0" i="0">
                <a:solidFill>
                  <a:srgbClr val="6E7180"/>
                </a:solidFill>
                <a:latin typeface="Geist"/>
              </a:rPr>
              <a:t>computed on SC principles.</a:t>
            </a:r>
          </a:p>
        </p:txBody>
      </p:sp>
      <p:pic>
        <p:nvPicPr>
          <p:cNvPr id="26" name="Picture 25" descr="comic_aasha_page.png"/>
          <p:cNvPicPr>
            <a:picLocks noChangeAspect="1"/>
          </p:cNvPicPr>
          <p:nvPr/>
        </p:nvPicPr>
        <p:blipFill>
          <a:blip r:embed="rId8"/>
          <a:stretch>
            <a:fillRect/>
          </a:stretch>
        </p:blipFill>
        <p:spPr>
          <a:xfrm>
            <a:off x="8183879" y="1920240"/>
            <a:ext cx="2142375" cy="2834640"/>
          </a:xfrm>
          <a:prstGeom prst="rect">
            <a:avLst/>
          </a:prstGeom>
        </p:spPr>
      </p:pic>
      <p:sp>
        <p:nvSpPr>
          <p:cNvPr id="27" name="Rectangle 26"/>
          <p:cNvSpPr/>
          <p:nvPr/>
        </p:nvSpPr>
        <p:spPr>
          <a:xfrm>
            <a:off x="8183879" y="1920240"/>
            <a:ext cx="2142375" cy="2834640"/>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183879" y="4800600"/>
            <a:ext cx="2142375"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'Meet Aasha' comic, legal education</a:t>
            </a:r>
          </a:p>
          <a:p>
            <a:pPr algn="l">
              <a:lnSpc>
                <a:spcPct val="112000"/>
              </a:lnSpc>
            </a:pPr>
            <a:r>
              <a:rPr sz="850" b="0" i="0">
                <a:solidFill>
                  <a:srgbClr val="6E7180"/>
                </a:solidFill>
                <a:latin typeface="Geist"/>
              </a:rPr>
              <a:t>families actually read.</a:t>
            </a:r>
          </a:p>
        </p:txBody>
      </p:sp>
      <p:pic>
        <p:nvPicPr>
          <p:cNvPr id="29" name="Picture 28" descr="opt_guide_p1_1500.jpg"/>
          <p:cNvPicPr>
            <a:picLocks noChangeAspect="1"/>
          </p:cNvPicPr>
          <p:nvPr/>
        </p:nvPicPr>
        <p:blipFill>
          <a:blip r:embed="rId9"/>
          <a:stretch>
            <a:fillRect/>
          </a:stretch>
        </p:blipFill>
        <p:spPr>
          <a:xfrm>
            <a:off x="10195560" y="1920240"/>
            <a:ext cx="1417320" cy="1941731"/>
          </a:xfrm>
          <a:prstGeom prst="rect">
            <a:avLst/>
          </a:prstGeom>
        </p:spPr>
      </p:pic>
      <p:sp>
        <p:nvSpPr>
          <p:cNvPr id="30" name="Rectangle 29"/>
          <p:cNvSpPr/>
          <p:nvPr/>
        </p:nvSpPr>
        <p:spPr>
          <a:xfrm>
            <a:off x="10195560" y="1920240"/>
            <a:ext cx="1417320" cy="1941731"/>
          </a:xfrm>
          <a:prstGeom prst="rect">
            <a:avLst/>
          </a:prstGeom>
          <a:noFill/>
          <a:ln w="12700">
            <a:solidFill>
              <a:srgbClr val="E8E9EE"/>
            </a:solidFill>
          </a:ln>
          <a:effectLst/>
        </p:spPr>
        <p:txBody>
          <a:bodyPr rtlCol="0" anchor="ctr"/>
          <a:lstStyle/>
          <a:p>
            <a:pPr algn="ctr"/>
          </a:p>
        </p:txBody>
      </p:sp>
      <p:sp>
        <p:nvSpPr>
          <p:cNvPr id="31" name="TextBox 30"/>
          <p:cNvSpPr txBox="1"/>
          <p:nvPr/>
        </p:nvSpPr>
        <p:spPr>
          <a:xfrm>
            <a:off x="10195560" y="3907691"/>
            <a:ext cx="201168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Hindi legal-rights</a:t>
            </a:r>
          </a:p>
          <a:p>
            <a:pPr algn="l">
              <a:lnSpc>
                <a:spcPct val="112000"/>
              </a:lnSpc>
            </a:pPr>
            <a:r>
              <a:rPr sz="850" b="0" i="0">
                <a:solidFill>
                  <a:srgbClr val="6E7180"/>
                </a:solidFill>
                <a:latin typeface="Geist"/>
              </a:rPr>
              <a:t>guide.</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so road safety work never runs out of hands.</a:t>
            </a:r>
          </a:p>
        </p:txBody>
      </p:sp>
      <p:pic>
        <p:nvPicPr>
          <p:cNvPr id="8" name="Picture 7" descr="ph_ideathon_winners.jpg_4.05x2.50_0.2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forum_stage2.jpg_3.70x2.50_0.3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Implementation Forum, IIT Delhi: 60+ experts from MoRTH, WHO, UNICEF, iRAP and CSIR-CRRI reviewed the work.</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jury from the Government of Rajasthan, NIUA, OMI, NASSCOM and CSEP judged the student teams;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Advocacy on video</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Our YouTube channel documents hazards and fixes on camera: ground-audit walkthroughs, Dialogue Series recordings and victim-education explainers. A public record any authority can cite.</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Road Safety Month 2026, run </a:t>
            </a:r>
            <a:r>
              <a:rPr sz="2250" b="1" i="0">
                <a:solidFill>
                  <a:srgbClr val="4A35FF"/>
                </a:solidFill>
                <a:latin typeface="Montserrat"/>
              </a:rPr>
              <a:t>with the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With district police, schools, hospitals and delivery platforms, in Hindi and local languages.</a:t>
            </a:r>
          </a:p>
        </p:txBody>
      </p:sp>
      <p:pic>
        <p:nvPicPr>
          <p:cNvPr id="8" name="Picture 7" descr="ph_police_rally.jpg_4.70x3.55_0.35.jpg"/>
          <p:cNvPicPr>
            <a:picLocks noChangeAspect="1"/>
          </p:cNvPicPr>
          <p:nvPr/>
        </p:nvPicPr>
        <p:blipFill>
          <a:blip r:embed="rId2"/>
          <a:stretch>
            <a:fillRect/>
          </a:stretch>
        </p:blipFill>
        <p:spPr>
          <a:xfrm>
            <a:off x="566928" y="1938528"/>
            <a:ext cx="4297680" cy="3246120"/>
          </a:xfrm>
          <a:prstGeom prst="rect">
            <a:avLst/>
          </a:prstGeom>
        </p:spPr>
      </p:pic>
      <p:sp>
        <p:nvSpPr>
          <p:cNvPr id="9" name="Rectangle 8"/>
          <p:cNvSpPr/>
          <p:nvPr/>
        </p:nvSpPr>
        <p:spPr>
          <a:xfrm>
            <a:off x="566928" y="1938528"/>
            <a:ext cx="4297680" cy="324612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30368"/>
            <a:ext cx="42976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Month rally, on the road with district traffic police, Jan 2026.</a:t>
            </a:r>
          </a:p>
        </p:txBody>
      </p:sp>
      <p:pic>
        <p:nvPicPr>
          <p:cNvPr id="11" name="Picture 10" descr="ph_stall.jpg_3.55x1.72_0.45.jpg"/>
          <p:cNvPicPr>
            <a:picLocks noChangeAspect="1"/>
          </p:cNvPicPr>
          <p:nvPr/>
        </p:nvPicPr>
        <p:blipFill>
          <a:blip r:embed="rId3"/>
          <a:stretch>
            <a:fillRect/>
          </a:stretch>
        </p:blipFill>
        <p:spPr>
          <a:xfrm>
            <a:off x="5074920" y="1938528"/>
            <a:ext cx="3246120" cy="1572768"/>
          </a:xfrm>
          <a:prstGeom prst="rect">
            <a:avLst/>
          </a:prstGeom>
        </p:spPr>
      </p:pic>
      <p:sp>
        <p:nvSpPr>
          <p:cNvPr id="12" name="Rectangle 11"/>
          <p:cNvSpPr/>
          <p:nvPr/>
        </p:nvSpPr>
        <p:spPr>
          <a:xfrm>
            <a:off x="5074920" y="1938528"/>
            <a:ext cx="3246120" cy="157276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07492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CFI stall at a government office</a:t>
            </a:r>
          </a:p>
        </p:txBody>
      </p:sp>
      <p:pic>
        <p:nvPicPr>
          <p:cNvPr id="14" name="Picture 13" descr="ph_police_station.jpg_3.55x1.72_0.35.jpg"/>
          <p:cNvPicPr>
            <a:picLocks noChangeAspect="1"/>
          </p:cNvPicPr>
          <p:nvPr/>
        </p:nvPicPr>
        <p:blipFill>
          <a:blip r:embed="rId4"/>
          <a:stretch>
            <a:fillRect/>
          </a:stretch>
        </p:blipFill>
        <p:spPr>
          <a:xfrm>
            <a:off x="8412480" y="1938528"/>
            <a:ext cx="3246120" cy="1572768"/>
          </a:xfrm>
          <a:prstGeom prst="rect">
            <a:avLst/>
          </a:prstGeom>
        </p:spPr>
      </p:pic>
      <p:sp>
        <p:nvSpPr>
          <p:cNvPr id="15" name="Rectangle 14"/>
          <p:cNvSpPr/>
          <p:nvPr/>
        </p:nvSpPr>
        <p:spPr>
          <a:xfrm>
            <a:off x="8412480" y="1938528"/>
            <a:ext cx="3246120" cy="1572768"/>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841248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Materials briefing with police staff</a:t>
            </a:r>
          </a:p>
        </p:txBody>
      </p:sp>
      <p:pic>
        <p:nvPicPr>
          <p:cNvPr id="17" name="Picture 16" descr="ph_school_kids.jpg_3.55x1.72_0.30.jpg"/>
          <p:cNvPicPr>
            <a:picLocks noChangeAspect="1"/>
          </p:cNvPicPr>
          <p:nvPr/>
        </p:nvPicPr>
        <p:blipFill>
          <a:blip r:embed="rId5"/>
          <a:stretch>
            <a:fillRect/>
          </a:stretch>
        </p:blipFill>
        <p:spPr>
          <a:xfrm>
            <a:off x="5074920" y="3904488"/>
            <a:ext cx="3246120" cy="1572768"/>
          </a:xfrm>
          <a:prstGeom prst="rect">
            <a:avLst/>
          </a:prstGeom>
        </p:spPr>
      </p:pic>
      <p:sp>
        <p:nvSpPr>
          <p:cNvPr id="18" name="Rectangle 17"/>
          <p:cNvSpPr/>
          <p:nvPr/>
        </p:nvSpPr>
        <p:spPr>
          <a:xfrm>
            <a:off x="5074920" y="3904488"/>
            <a:ext cx="3246120" cy="1572768"/>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07492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School programme with certificates</a:t>
            </a:r>
          </a:p>
        </p:txBody>
      </p:sp>
      <p:pic>
        <p:nvPicPr>
          <p:cNvPr id="20" name="Picture 19" descr="ph_gig_riders.jpg_3.55x1.72_0.40.jpg"/>
          <p:cNvPicPr>
            <a:picLocks noChangeAspect="1"/>
          </p:cNvPicPr>
          <p:nvPr/>
        </p:nvPicPr>
        <p:blipFill>
          <a:blip r:embed="rId6"/>
          <a:stretch>
            <a:fillRect/>
          </a:stretch>
        </p:blipFill>
        <p:spPr>
          <a:xfrm>
            <a:off x="8412480" y="3904488"/>
            <a:ext cx="3246120" cy="1572768"/>
          </a:xfrm>
          <a:prstGeom prst="rect">
            <a:avLst/>
          </a:prstGeom>
        </p:spPr>
      </p:pic>
      <p:sp>
        <p:nvSpPr>
          <p:cNvPr id="21" name="Rectangle 20"/>
          <p:cNvSpPr/>
          <p:nvPr/>
        </p:nvSpPr>
        <p:spPr>
          <a:xfrm>
            <a:off x="8412480" y="3904488"/>
            <a:ext cx="3246120" cy="157276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41248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Swiggy &amp; Instamart</a:t>
            </a:r>
          </a:p>
        </p:txBody>
      </p:sp>
      <p:sp>
        <p:nvSpPr>
          <p:cNvPr id="23" name="Rounded Rectangle 22"/>
          <p:cNvSpPr/>
          <p:nvPr/>
        </p:nvSpPr>
        <p:spPr>
          <a:xfrm>
            <a:off x="566928" y="5623560"/>
            <a:ext cx="4297680" cy="566928"/>
          </a:xfrm>
          <a:prstGeom prst="roundRect">
            <a:avLst>
              <a:gd name="adj" fmla="val 16000"/>
            </a:avLst>
          </a:prstGeom>
          <a:solidFill>
            <a:srgbClr val="E9F7F0"/>
          </a:solidFill>
          <a:ln>
            <a:noFill/>
          </a:ln>
          <a:effectLst/>
        </p:spPr>
        <p:txBody>
          <a:bodyPr rtlCol="0" anchor="ctr"/>
          <a:lstStyle/>
          <a:p>
            <a:pPr algn="ctr"/>
          </a:p>
        </p:txBody>
      </p:sp>
      <p:sp>
        <p:nvSpPr>
          <p:cNvPr id="24" name="TextBox 23"/>
          <p:cNvSpPr txBox="1"/>
          <p:nvPr/>
        </p:nvSpPr>
        <p:spPr>
          <a:xfrm>
            <a:off x="749808" y="5705856"/>
            <a:ext cx="4023360" cy="457200"/>
          </a:xfrm>
          <a:prstGeom prst="rect">
            <a:avLst/>
          </a:prstGeom>
          <a:noFill/>
        </p:spPr>
        <p:txBody>
          <a:bodyPr wrap="square" lIns="0" rIns="0" tIns="0" bIns="0" anchor="t">
            <a:spAutoFit/>
          </a:bodyPr>
          <a:lstStyle/>
          <a:p>
            <a:pPr algn="l">
              <a:lnSpc>
                <a:spcPct val="120000"/>
              </a:lnSpc>
            </a:pPr>
            <a:r>
              <a:rPr sz="1050" b="1" i="0">
                <a:solidFill>
                  <a:srgbClr val="0A9955"/>
                </a:solidFill>
                <a:latin typeface="Geist"/>
              </a:rPr>
              <a:t>1M+ citizens reached </a:t>
            </a:r>
            <a:r>
              <a:rPr sz="1050" b="0" i="0">
                <a:solidFill>
                  <a:srgbClr val="0A9955"/>
                </a:solidFill>
                <a:latin typeface="Geist"/>
              </a:rPr>
              <a:t>across campaigns in year one.</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PUBLIC VOICE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MS Dhoni gives road safety </a:t>
            </a:r>
            <a:r>
              <a:rPr sz="2250" b="1" i="0">
                <a:solidFill>
                  <a:srgbClr val="4A35FF"/>
                </a:solidFill>
                <a:latin typeface="Montserrat"/>
              </a:rPr>
              <a:t>a national voice</a:t>
            </a:r>
          </a:p>
        </p:txBody>
      </p:sp>
      <p:pic>
        <p:nvPicPr>
          <p:cNvPr id="7" name="Picture 6" descr="ph_dhoni_helmet.jpg_2.85x3.60_0.10.jpg"/>
          <p:cNvPicPr>
            <a:picLocks noChangeAspect="1"/>
          </p:cNvPicPr>
          <p:nvPr/>
        </p:nvPicPr>
        <p:blipFill>
          <a:blip r:embed="rId2"/>
          <a:stretch>
            <a:fillRect/>
          </a:stretch>
        </p:blipFill>
        <p:spPr>
          <a:xfrm>
            <a:off x="566928" y="1783080"/>
            <a:ext cx="2606040" cy="3291840"/>
          </a:xfrm>
          <a:prstGeom prst="rect">
            <a:avLst/>
          </a:prstGeom>
        </p:spPr>
      </p:pic>
      <p:sp>
        <p:nvSpPr>
          <p:cNvPr id="8" name="Rectangle 7"/>
          <p:cNvSpPr/>
          <p:nvPr/>
        </p:nvSpPr>
        <p:spPr>
          <a:xfrm>
            <a:off x="566928" y="1783080"/>
            <a:ext cx="2606040" cy="32918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5120640"/>
            <a:ext cx="26060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MS Dhoni, Goodwill Ambassador, announced April 2026.</a:t>
            </a:r>
          </a:p>
        </p:txBody>
      </p:sp>
      <p:sp>
        <p:nvSpPr>
          <p:cNvPr id="10" name="Rounded Rectangle 9"/>
          <p:cNvSpPr/>
          <p:nvPr/>
        </p:nvSpPr>
        <p:spPr>
          <a:xfrm>
            <a:off x="3429000" y="1783080"/>
            <a:ext cx="3063240" cy="3291840"/>
          </a:xfrm>
          <a:prstGeom prst="roundRect">
            <a:avLst>
              <a:gd name="adj" fmla="val 8000"/>
            </a:avLst>
          </a:prstGeom>
          <a:solidFill>
            <a:srgbClr val="F7F7FA"/>
          </a:solidFill>
          <a:ln>
            <a:noFill/>
          </a:ln>
          <a:effectLst/>
        </p:spPr>
        <p:txBody>
          <a:bodyPr rtlCol="0" anchor="ctr"/>
          <a:lstStyle/>
          <a:p>
            <a:pPr algn="ctr"/>
          </a:p>
        </p:txBody>
      </p:sp>
      <p:sp>
        <p:nvSpPr>
          <p:cNvPr id="11" name="TextBox 10"/>
          <p:cNvSpPr txBox="1"/>
          <p:nvPr/>
        </p:nvSpPr>
        <p:spPr>
          <a:xfrm>
            <a:off x="3657600" y="2057400"/>
            <a:ext cx="2606040" cy="2011680"/>
          </a:xfrm>
          <a:prstGeom prst="rect">
            <a:avLst/>
          </a:prstGeom>
          <a:noFill/>
        </p:spPr>
        <p:txBody>
          <a:bodyPr wrap="square" lIns="0" rIns="0" tIns="0" bIns="0" anchor="t">
            <a:spAutoFit/>
          </a:bodyPr>
          <a:lstStyle/>
          <a:p>
            <a:pPr algn="l">
              <a:lnSpc>
                <a:spcPct val="135000"/>
              </a:lnSpc>
            </a:pPr>
            <a:r>
              <a:rPr sz="1300" b="1" i="1">
                <a:solidFill>
                  <a:srgbClr val="16181D"/>
                </a:solidFill>
                <a:latin typeface="Montserrat"/>
              </a:rPr>
              <a:t>"We already know what is going wrong. What we need now is more responsibility, more discipline, more respect for life."</a:t>
            </a:r>
          </a:p>
        </p:txBody>
      </p:sp>
      <p:sp>
        <p:nvSpPr>
          <p:cNvPr id="12" name="TextBox 11"/>
          <p:cNvSpPr txBox="1"/>
          <p:nvPr/>
        </p:nvSpPr>
        <p:spPr>
          <a:xfrm>
            <a:off x="3657600" y="4206240"/>
            <a:ext cx="2606040" cy="54864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MS Dhoni, at the National Road Safety</a:t>
            </a:r>
          </a:p>
          <a:p>
            <a:pPr algn="l">
              <a:lnSpc>
                <a:spcPct val="125000"/>
              </a:lnSpc>
            </a:pPr>
            <a:r>
              <a:rPr sz="900" b="0" i="0">
                <a:solidFill>
                  <a:srgbClr val="6E7180"/>
                </a:solidFill>
                <a:latin typeface="Geist"/>
              </a:rPr>
              <a:t>Implementation Forum, IIT Delhi</a:t>
            </a:r>
          </a:p>
        </p:txBody>
      </p:sp>
      <p:sp>
        <p:nvSpPr>
          <p:cNvPr id="13" name="TextBox 12"/>
          <p:cNvSpPr txBox="1"/>
          <p:nvPr/>
        </p:nvSpPr>
        <p:spPr>
          <a:xfrm>
            <a:off x="6766560" y="1783080"/>
            <a:ext cx="4846320" cy="237744"/>
          </a:xfrm>
          <a:prstGeom prst="rect">
            <a:avLst/>
          </a:prstGeom>
          <a:noFill/>
        </p:spPr>
        <p:txBody>
          <a:bodyPr wrap="square" lIns="0" rIns="0" tIns="0" bIns="0" anchor="t">
            <a:spAutoFit/>
          </a:bodyPr>
          <a:lstStyle/>
          <a:p>
            <a:pPr algn="l">
              <a:lnSpc>
                <a:spcPct val="128000"/>
              </a:lnSpc>
            </a:pPr>
            <a:r>
              <a:rPr sz="800" b="1" i="0" spc="160">
                <a:solidFill>
                  <a:srgbClr val="6E7180"/>
                </a:solidFill>
                <a:latin typeface="Montserrat"/>
              </a:rPr>
              <a:t>AS SEEN IN THE PRESS</a:t>
            </a:r>
          </a:p>
        </p:txBody>
      </p:sp>
      <p:pic>
        <p:nvPicPr>
          <p:cNvPr id="14" name="Picture 13" descr="opt_press_ht_primer_1500.jpg"/>
          <p:cNvPicPr>
            <a:picLocks noChangeAspect="1"/>
          </p:cNvPicPr>
          <p:nvPr/>
        </p:nvPicPr>
        <p:blipFill>
          <a:blip r:embed="rId3"/>
          <a:stretch>
            <a:fillRect/>
          </a:stretch>
        </p:blipFill>
        <p:spPr>
          <a:xfrm>
            <a:off x="6766560" y="2084831"/>
            <a:ext cx="2313584" cy="1965960"/>
          </a:xfrm>
          <a:prstGeom prst="rect">
            <a:avLst/>
          </a:prstGeom>
        </p:spPr>
      </p:pic>
      <p:sp>
        <p:nvSpPr>
          <p:cNvPr id="15" name="Rectangle 14"/>
          <p:cNvSpPr/>
          <p:nvPr/>
        </p:nvSpPr>
        <p:spPr>
          <a:xfrm>
            <a:off x="6766560" y="2084831"/>
            <a:ext cx="2313584" cy="196596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6766560" y="4096511"/>
            <a:ext cx="231358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Hindustan Times, on our</a:t>
            </a:r>
          </a:p>
          <a:p>
            <a:pPr algn="l">
              <a:lnSpc>
                <a:spcPct val="112000"/>
              </a:lnSpc>
            </a:pPr>
            <a:r>
              <a:rPr sz="850" b="0" i="0">
                <a:solidFill>
                  <a:srgbClr val="6E7180"/>
                </a:solidFill>
                <a:latin typeface="Geist"/>
              </a:rPr>
              <a:t>Pre-Hospital Care Primer.</a:t>
            </a:r>
          </a:p>
        </p:txBody>
      </p:sp>
      <p:pic>
        <p:nvPicPr>
          <p:cNvPr id="17" name="Picture 16" descr="opt_press_print_ideathon_1500.jpg"/>
          <p:cNvPicPr>
            <a:picLocks noChangeAspect="1"/>
          </p:cNvPicPr>
          <p:nvPr/>
        </p:nvPicPr>
        <p:blipFill>
          <a:blip r:embed="rId4"/>
          <a:stretch>
            <a:fillRect/>
          </a:stretch>
        </p:blipFill>
        <p:spPr>
          <a:xfrm>
            <a:off x="9281160" y="2084831"/>
            <a:ext cx="2331720" cy="1600567"/>
          </a:xfrm>
          <a:prstGeom prst="rect">
            <a:avLst/>
          </a:prstGeom>
        </p:spPr>
      </p:pic>
      <p:sp>
        <p:nvSpPr>
          <p:cNvPr id="18" name="Rectangle 17"/>
          <p:cNvSpPr/>
          <p:nvPr/>
        </p:nvSpPr>
        <p:spPr>
          <a:xfrm>
            <a:off x="9281160" y="2084831"/>
            <a:ext cx="2331720" cy="1600567"/>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9281160" y="3731118"/>
            <a:ext cx="23317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ThePrint, on the NextMile</a:t>
            </a:r>
          </a:p>
          <a:p>
            <a:pPr algn="l">
              <a:lnSpc>
                <a:spcPct val="112000"/>
              </a:lnSpc>
            </a:pPr>
            <a:r>
              <a:rPr sz="850" b="0" i="0">
                <a:solidFill>
                  <a:srgbClr val="6E7180"/>
                </a:solidFill>
                <a:latin typeface="Geist"/>
              </a:rPr>
              <a:t>ideathon finale.</a:t>
            </a:r>
          </a:p>
        </p:txBody>
      </p:sp>
      <p:sp>
        <p:nvSpPr>
          <p:cNvPr id="20" name="Rounded Rectangle 19"/>
          <p:cNvSpPr/>
          <p:nvPr/>
        </p:nvSpPr>
        <p:spPr>
          <a:xfrm>
            <a:off x="6766560" y="4709160"/>
            <a:ext cx="1463040" cy="548640"/>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1" name="Picture 20" descr="lg_bloomberg.png"/>
          <p:cNvPicPr>
            <a:picLocks noChangeAspect="1"/>
          </p:cNvPicPr>
          <p:nvPr/>
        </p:nvPicPr>
        <p:blipFill>
          <a:blip r:embed="rId5"/>
          <a:stretch>
            <a:fillRect/>
          </a:stretch>
        </p:blipFill>
        <p:spPr>
          <a:xfrm>
            <a:off x="6876288" y="4867715"/>
            <a:ext cx="1243584" cy="231530"/>
          </a:xfrm>
          <a:prstGeom prst="rect">
            <a:avLst/>
          </a:prstGeom>
        </p:spPr>
      </p:pic>
      <p:sp>
        <p:nvSpPr>
          <p:cNvPr id="22" name="Rounded Rectangle 21"/>
          <p:cNvSpPr/>
          <p:nvPr/>
        </p:nvSpPr>
        <p:spPr>
          <a:xfrm>
            <a:off x="8339327"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3" name="TextBox 22"/>
          <p:cNvSpPr txBox="1"/>
          <p:nvPr/>
        </p:nvSpPr>
        <p:spPr>
          <a:xfrm>
            <a:off x="8357615"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Deccan Herald</a:t>
            </a:r>
          </a:p>
        </p:txBody>
      </p:sp>
      <p:sp>
        <p:nvSpPr>
          <p:cNvPr id="24" name="Rounded Rectangle 23"/>
          <p:cNvSpPr/>
          <p:nvPr/>
        </p:nvSpPr>
        <p:spPr>
          <a:xfrm>
            <a:off x="9473183"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5" name="TextBox 24"/>
          <p:cNvSpPr txBox="1"/>
          <p:nvPr/>
        </p:nvSpPr>
        <p:spPr>
          <a:xfrm>
            <a:off x="9491471"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Economic Times</a:t>
            </a:r>
          </a:p>
        </p:txBody>
      </p:sp>
      <p:sp>
        <p:nvSpPr>
          <p:cNvPr id="26" name="Rounded Rectangle 25"/>
          <p:cNvSpPr/>
          <p:nvPr/>
        </p:nvSpPr>
        <p:spPr>
          <a:xfrm>
            <a:off x="10607039"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7" name="TextBox 26"/>
          <p:cNvSpPr txBox="1"/>
          <p:nvPr/>
        </p:nvSpPr>
        <p:spPr>
          <a:xfrm>
            <a:off x="10625327"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Fortune India</a:t>
            </a:r>
          </a:p>
        </p:txBody>
      </p:sp>
      <p:sp>
        <p:nvSpPr>
          <p:cNvPr id="28" name="Rounded Rectangle 27"/>
          <p:cNvSpPr/>
          <p:nvPr/>
        </p:nvSpPr>
        <p:spPr>
          <a:xfrm>
            <a:off x="8339327"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9" name="TextBox 28"/>
          <p:cNvSpPr txBox="1"/>
          <p:nvPr/>
        </p:nvSpPr>
        <p:spPr>
          <a:xfrm>
            <a:off x="8357615"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IndiaSpend</a:t>
            </a:r>
          </a:p>
        </p:txBody>
      </p:sp>
      <p:sp>
        <p:nvSpPr>
          <p:cNvPr id="30" name="Rounded Rectangle 29"/>
          <p:cNvSpPr/>
          <p:nvPr/>
        </p:nvSpPr>
        <p:spPr>
          <a:xfrm>
            <a:off x="9473183"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1" name="TextBox 30"/>
          <p:cNvSpPr txBox="1"/>
          <p:nvPr/>
        </p:nvSpPr>
        <p:spPr>
          <a:xfrm>
            <a:off x="9491471"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Scroll.in</a:t>
            </a:r>
          </a:p>
        </p:txBody>
      </p:sp>
      <p:sp>
        <p:nvSpPr>
          <p:cNvPr id="32" name="Rounded Rectangle 31"/>
          <p:cNvSpPr/>
          <p:nvPr/>
        </p:nvSpPr>
        <p:spPr>
          <a:xfrm>
            <a:off x="10607039"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3" name="TextBox 32"/>
          <p:cNvSpPr txBox="1"/>
          <p:nvPr/>
        </p:nvSpPr>
        <p:spPr>
          <a:xfrm>
            <a:off x="10625327"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The Wire</a:t>
            </a:r>
          </a:p>
        </p:txBody>
      </p:sp>
      <p:sp>
        <p:nvSpPr>
          <p:cNvPr id="34" name="Rounded Rectangle 33"/>
          <p:cNvSpPr/>
          <p:nvPr/>
        </p:nvSpPr>
        <p:spPr>
          <a:xfrm>
            <a:off x="8339327"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5" name="TextBox 34"/>
          <p:cNvSpPr txBox="1"/>
          <p:nvPr/>
        </p:nvSpPr>
        <p:spPr>
          <a:xfrm>
            <a:off x="8357615"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Times of India</a:t>
            </a:r>
          </a:p>
        </p:txBody>
      </p:sp>
      <p:sp>
        <p:nvSpPr>
          <p:cNvPr id="36" name="Rounded Rectangle 35"/>
          <p:cNvSpPr/>
          <p:nvPr/>
        </p:nvSpPr>
        <p:spPr>
          <a:xfrm>
            <a:off x="9473183"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7" name="TextBox 36"/>
          <p:cNvSpPr txBox="1"/>
          <p:nvPr/>
        </p:nvSpPr>
        <p:spPr>
          <a:xfrm>
            <a:off x="9491471"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Business Standard</a:t>
            </a:r>
          </a:p>
        </p:txBody>
      </p:sp>
      <p:sp>
        <p:nvSpPr>
          <p:cNvPr id="38" name="TextBox 37"/>
          <p:cNvSpPr txBox="1"/>
          <p:nvPr/>
        </p:nvSpPr>
        <p:spPr>
          <a:xfrm>
            <a:off x="566928" y="5440680"/>
            <a:ext cx="6035040" cy="5029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Dhoni's voice powers 'Be a Rakshak', school-zone safety and compensation-awareness campaigns.</a:t>
            </a:r>
          </a:p>
        </p:txBody>
      </p:sp>
      <p:cxnSp>
        <p:nvCxnSpPr>
          <p:cNvPr id="39" name="Connector 38"/>
          <p:cNvCxnSpPr/>
          <p:nvPr/>
        </p:nvCxnSpPr>
        <p:spPr>
          <a:xfrm>
            <a:off x="566928" y="6455664"/>
            <a:ext cx="11057839" cy="0"/>
          </a:xfrm>
          <a:prstGeom prst="line">
            <a:avLst/>
          </a:prstGeom>
          <a:ln w="9525">
            <a:solidFill>
              <a:srgbClr val="E8E9EE"/>
            </a:solidFill>
          </a:ln>
          <a:effectLst/>
        </p:spPr>
      </p:cxnSp>
      <p:sp>
        <p:nvSpPr>
          <p:cNvPr id="40" name="TextBox 3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1" name="TextBox 4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THE NETWORK</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institutions </a:t>
            </a:r>
            <a:r>
              <a:rPr sz="2250" b="1" i="0">
                <a:solidFill>
                  <a:srgbClr val="4A35FF"/>
                </a:solidFill>
                <a:latin typeface="Montserrat"/>
              </a:rPr>
              <a:t>around the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As they appear in our working decks, engagement ranges from formal MoUs and written approvals to jury, mentoring and research collaboration.</a:t>
            </a:r>
          </a:p>
        </p:txBody>
      </p:sp>
      <p:sp>
        <p:nvSpPr>
          <p:cNvPr id="8" name="TextBox 7"/>
          <p:cNvSpPr txBox="1"/>
          <p:nvPr/>
        </p:nvSpPr>
        <p:spPr>
          <a:xfrm>
            <a:off x="566928" y="178308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AUTHORITIES &amp; PUBLIC BODIES WE WORK WITH</a:t>
            </a:r>
          </a:p>
        </p:txBody>
      </p:sp>
      <p:sp>
        <p:nvSpPr>
          <p:cNvPr id="9" name="Rounded Rectangle 8"/>
          <p:cNvSpPr/>
          <p:nvPr/>
        </p:nvSpPr>
        <p:spPr>
          <a:xfrm>
            <a:off x="56692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0" name="Picture 9" descr="lg_nhai.png"/>
          <p:cNvPicPr>
            <a:picLocks noChangeAspect="1"/>
          </p:cNvPicPr>
          <p:nvPr/>
        </p:nvPicPr>
        <p:blipFill>
          <a:blip r:embed="rId2"/>
          <a:stretch>
            <a:fillRect/>
          </a:stretch>
        </p:blipFill>
        <p:spPr>
          <a:xfrm>
            <a:off x="841725" y="2167128"/>
            <a:ext cx="748854" cy="493776"/>
          </a:xfrm>
          <a:prstGeom prst="rect">
            <a:avLst/>
          </a:prstGeom>
        </p:spPr>
      </p:pic>
      <p:sp>
        <p:nvSpPr>
          <p:cNvPr id="11" name="Rounded Rectangle 10"/>
          <p:cNvSpPr/>
          <p:nvPr/>
        </p:nvSpPr>
        <p:spPr>
          <a:xfrm>
            <a:off x="195681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2" name="Picture 11" descr="lg_pwd.png"/>
          <p:cNvPicPr>
            <a:picLocks noChangeAspect="1"/>
          </p:cNvPicPr>
          <p:nvPr/>
        </p:nvPicPr>
        <p:blipFill>
          <a:blip r:embed="rId3"/>
          <a:stretch>
            <a:fillRect/>
          </a:stretch>
        </p:blipFill>
        <p:spPr>
          <a:xfrm>
            <a:off x="2234145" y="2167128"/>
            <a:ext cx="743789" cy="493776"/>
          </a:xfrm>
          <a:prstGeom prst="rect">
            <a:avLst/>
          </a:prstGeom>
        </p:spPr>
      </p:pic>
      <p:sp>
        <p:nvSpPr>
          <p:cNvPr id="13" name="Rounded Rectangle 12"/>
          <p:cNvSpPr/>
          <p:nvPr/>
        </p:nvSpPr>
        <p:spPr>
          <a:xfrm>
            <a:off x="334670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4" name="Picture 13" descr="lg_indore_nn.png"/>
          <p:cNvPicPr>
            <a:picLocks noChangeAspect="1"/>
          </p:cNvPicPr>
          <p:nvPr/>
        </p:nvPicPr>
        <p:blipFill>
          <a:blip r:embed="rId4"/>
          <a:stretch>
            <a:fillRect/>
          </a:stretch>
        </p:blipFill>
        <p:spPr>
          <a:xfrm>
            <a:off x="3784517" y="2167128"/>
            <a:ext cx="422822" cy="493776"/>
          </a:xfrm>
          <a:prstGeom prst="rect">
            <a:avLst/>
          </a:prstGeom>
        </p:spPr>
      </p:pic>
      <p:sp>
        <p:nvSpPr>
          <p:cNvPr id="15" name="Rounded Rectangle 14"/>
          <p:cNvSpPr/>
          <p:nvPr/>
        </p:nvSpPr>
        <p:spPr>
          <a:xfrm>
            <a:off x="4736592"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6" name="Picture 15" descr="lg_vijayawada_police.png"/>
          <p:cNvPicPr>
            <a:picLocks noChangeAspect="1"/>
          </p:cNvPicPr>
          <p:nvPr/>
        </p:nvPicPr>
        <p:blipFill>
          <a:blip r:embed="rId5"/>
          <a:stretch>
            <a:fillRect/>
          </a:stretch>
        </p:blipFill>
        <p:spPr>
          <a:xfrm>
            <a:off x="5138928" y="2167128"/>
            <a:ext cx="493776" cy="493776"/>
          </a:xfrm>
          <a:prstGeom prst="rect">
            <a:avLst/>
          </a:prstGeom>
        </p:spPr>
      </p:pic>
      <p:sp>
        <p:nvSpPr>
          <p:cNvPr id="17" name="Rounded Rectangle 16"/>
          <p:cNvSpPr/>
          <p:nvPr/>
        </p:nvSpPr>
        <p:spPr>
          <a:xfrm>
            <a:off x="6126480"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8" name="Picture 17" descr="lg_haryana_police.png"/>
          <p:cNvPicPr>
            <a:picLocks noChangeAspect="1"/>
          </p:cNvPicPr>
          <p:nvPr/>
        </p:nvPicPr>
        <p:blipFill>
          <a:blip r:embed="rId6"/>
          <a:stretch>
            <a:fillRect/>
          </a:stretch>
        </p:blipFill>
        <p:spPr>
          <a:xfrm>
            <a:off x="6528816" y="2167128"/>
            <a:ext cx="493776" cy="493776"/>
          </a:xfrm>
          <a:prstGeom prst="rect">
            <a:avLst/>
          </a:prstGeom>
        </p:spPr>
      </p:pic>
      <p:sp>
        <p:nvSpPr>
          <p:cNvPr id="19" name="Rounded Rectangle 18"/>
          <p:cNvSpPr/>
          <p:nvPr/>
        </p:nvSpPr>
        <p:spPr>
          <a:xfrm>
            <a:off x="751636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0" name="Picture 19" descr="lg_kolkata_police.png"/>
          <p:cNvPicPr>
            <a:picLocks noChangeAspect="1"/>
          </p:cNvPicPr>
          <p:nvPr/>
        </p:nvPicPr>
        <p:blipFill>
          <a:blip r:embed="rId7"/>
          <a:stretch>
            <a:fillRect/>
          </a:stretch>
        </p:blipFill>
        <p:spPr>
          <a:xfrm>
            <a:off x="7909726" y="2167128"/>
            <a:ext cx="511731" cy="493776"/>
          </a:xfrm>
          <a:prstGeom prst="rect">
            <a:avLst/>
          </a:prstGeom>
        </p:spPr>
      </p:pic>
      <p:sp>
        <p:nvSpPr>
          <p:cNvPr id="21" name="Rounded Rectangle 20"/>
          <p:cNvSpPr/>
          <p:nvPr/>
        </p:nvSpPr>
        <p:spPr>
          <a:xfrm>
            <a:off x="890625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2" name="Picture 21" descr="lg_kozhikode_tp.png"/>
          <p:cNvPicPr>
            <a:picLocks noChangeAspect="1"/>
          </p:cNvPicPr>
          <p:nvPr/>
        </p:nvPicPr>
        <p:blipFill>
          <a:blip r:embed="rId8"/>
          <a:stretch>
            <a:fillRect/>
          </a:stretch>
        </p:blipFill>
        <p:spPr>
          <a:xfrm>
            <a:off x="9307490" y="2167128"/>
            <a:ext cx="495980" cy="493776"/>
          </a:xfrm>
          <a:prstGeom prst="rect">
            <a:avLst/>
          </a:prstGeom>
        </p:spPr>
      </p:pic>
      <p:sp>
        <p:nvSpPr>
          <p:cNvPr id="23" name="Rounded Rectangle 22"/>
          <p:cNvSpPr/>
          <p:nvPr/>
        </p:nvSpPr>
        <p:spPr>
          <a:xfrm>
            <a:off x="1029614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4" name="Picture 23" descr="lg_dlsa.png"/>
          <p:cNvPicPr>
            <a:picLocks noChangeAspect="1"/>
          </p:cNvPicPr>
          <p:nvPr/>
        </p:nvPicPr>
        <p:blipFill>
          <a:blip r:embed="rId9"/>
          <a:stretch>
            <a:fillRect/>
          </a:stretch>
        </p:blipFill>
        <p:spPr>
          <a:xfrm>
            <a:off x="10735297" y="2167128"/>
            <a:ext cx="420142" cy="493776"/>
          </a:xfrm>
          <a:prstGeom prst="rect">
            <a:avLst/>
          </a:prstGeom>
        </p:spPr>
      </p:pic>
      <p:sp>
        <p:nvSpPr>
          <p:cNvPr id="25" name="TextBox 24"/>
          <p:cNvSpPr txBox="1"/>
          <p:nvPr/>
        </p:nvSpPr>
        <p:spPr>
          <a:xfrm>
            <a:off x="566928" y="306324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UNIVERSITIES &amp; INSTITUTES FIELDING AUDIT TEAMS</a:t>
            </a:r>
          </a:p>
        </p:txBody>
      </p:sp>
      <p:sp>
        <p:nvSpPr>
          <p:cNvPr id="26" name="Rounded Rectangle 25"/>
          <p:cNvSpPr/>
          <p:nvPr/>
        </p:nvSpPr>
        <p:spPr>
          <a:xfrm>
            <a:off x="56692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7" name="Picture 26" descr="lg_iitm.png"/>
          <p:cNvPicPr>
            <a:picLocks noChangeAspect="1"/>
          </p:cNvPicPr>
          <p:nvPr/>
        </p:nvPicPr>
        <p:blipFill>
          <a:blip r:embed="rId10"/>
          <a:stretch>
            <a:fillRect/>
          </a:stretch>
        </p:blipFill>
        <p:spPr>
          <a:xfrm>
            <a:off x="969264" y="3447288"/>
            <a:ext cx="493776" cy="493776"/>
          </a:xfrm>
          <a:prstGeom prst="rect">
            <a:avLst/>
          </a:prstGeom>
        </p:spPr>
      </p:pic>
      <p:sp>
        <p:nvSpPr>
          <p:cNvPr id="28" name="Rounded Rectangle 27"/>
          <p:cNvSpPr/>
          <p:nvPr/>
        </p:nvSpPr>
        <p:spPr>
          <a:xfrm>
            <a:off x="195681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9" name="Picture 28" descr="lg_iitd.png"/>
          <p:cNvPicPr>
            <a:picLocks noChangeAspect="1"/>
          </p:cNvPicPr>
          <p:nvPr/>
        </p:nvPicPr>
        <p:blipFill>
          <a:blip r:embed="rId11"/>
          <a:stretch>
            <a:fillRect/>
          </a:stretch>
        </p:blipFill>
        <p:spPr>
          <a:xfrm>
            <a:off x="2361751" y="3447288"/>
            <a:ext cx="488578" cy="493776"/>
          </a:xfrm>
          <a:prstGeom prst="rect">
            <a:avLst/>
          </a:prstGeom>
        </p:spPr>
      </p:pic>
      <p:sp>
        <p:nvSpPr>
          <p:cNvPr id="30" name="Rounded Rectangle 29"/>
          <p:cNvSpPr/>
          <p:nvPr/>
        </p:nvSpPr>
        <p:spPr>
          <a:xfrm>
            <a:off x="334670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1" name="Picture 30" descr="lg_nitc.png"/>
          <p:cNvPicPr>
            <a:picLocks noChangeAspect="1"/>
          </p:cNvPicPr>
          <p:nvPr/>
        </p:nvPicPr>
        <p:blipFill>
          <a:blip r:embed="rId12"/>
          <a:stretch>
            <a:fillRect/>
          </a:stretch>
        </p:blipFill>
        <p:spPr>
          <a:xfrm>
            <a:off x="3784951" y="3447288"/>
            <a:ext cx="421954" cy="493776"/>
          </a:xfrm>
          <a:prstGeom prst="rect">
            <a:avLst/>
          </a:prstGeom>
        </p:spPr>
      </p:pic>
      <p:sp>
        <p:nvSpPr>
          <p:cNvPr id="32" name="Rounded Rectangle 31"/>
          <p:cNvSpPr/>
          <p:nvPr/>
        </p:nvSpPr>
        <p:spPr>
          <a:xfrm>
            <a:off x="4736592"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3" name="Picture 32" descr="lg_u29.png"/>
          <p:cNvPicPr>
            <a:picLocks noChangeAspect="1"/>
          </p:cNvPicPr>
          <p:nvPr/>
        </p:nvPicPr>
        <p:blipFill>
          <a:blip r:embed="rId13"/>
          <a:stretch>
            <a:fillRect/>
          </a:stretch>
        </p:blipFill>
        <p:spPr>
          <a:xfrm>
            <a:off x="5136329" y="3447288"/>
            <a:ext cx="498973" cy="493776"/>
          </a:xfrm>
          <a:prstGeom prst="rect">
            <a:avLst/>
          </a:prstGeom>
        </p:spPr>
      </p:pic>
      <p:sp>
        <p:nvSpPr>
          <p:cNvPr id="34" name="Rounded Rectangle 33"/>
          <p:cNvSpPr/>
          <p:nvPr/>
        </p:nvSpPr>
        <p:spPr>
          <a:xfrm>
            <a:off x="6126480"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5" name="Picture 34" descr="lg_u30.png"/>
          <p:cNvPicPr>
            <a:picLocks noChangeAspect="1"/>
          </p:cNvPicPr>
          <p:nvPr/>
        </p:nvPicPr>
        <p:blipFill>
          <a:blip r:embed="rId14"/>
          <a:stretch>
            <a:fillRect/>
          </a:stretch>
        </p:blipFill>
        <p:spPr>
          <a:xfrm>
            <a:off x="6453450" y="3447288"/>
            <a:ext cx="644507" cy="493776"/>
          </a:xfrm>
          <a:prstGeom prst="rect">
            <a:avLst/>
          </a:prstGeom>
        </p:spPr>
      </p:pic>
      <p:sp>
        <p:nvSpPr>
          <p:cNvPr id="36" name="Rounded Rectangle 35"/>
          <p:cNvSpPr/>
          <p:nvPr/>
        </p:nvSpPr>
        <p:spPr>
          <a:xfrm>
            <a:off x="751636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7" name="Picture 36" descr="lg_u25.png"/>
          <p:cNvPicPr>
            <a:picLocks noChangeAspect="1"/>
          </p:cNvPicPr>
          <p:nvPr/>
        </p:nvPicPr>
        <p:blipFill>
          <a:blip r:embed="rId15"/>
          <a:stretch>
            <a:fillRect/>
          </a:stretch>
        </p:blipFill>
        <p:spPr>
          <a:xfrm>
            <a:off x="7918704" y="3447288"/>
            <a:ext cx="493776" cy="493776"/>
          </a:xfrm>
          <a:prstGeom prst="rect">
            <a:avLst/>
          </a:prstGeom>
        </p:spPr>
      </p:pic>
      <p:sp>
        <p:nvSpPr>
          <p:cNvPr id="38" name="Rounded Rectangle 37"/>
          <p:cNvSpPr/>
          <p:nvPr/>
        </p:nvSpPr>
        <p:spPr>
          <a:xfrm>
            <a:off x="890625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9" name="Picture 38" descr="lg_u22.png"/>
          <p:cNvPicPr>
            <a:picLocks noChangeAspect="1"/>
          </p:cNvPicPr>
          <p:nvPr/>
        </p:nvPicPr>
        <p:blipFill>
          <a:blip r:embed="rId16"/>
          <a:stretch>
            <a:fillRect/>
          </a:stretch>
        </p:blipFill>
        <p:spPr>
          <a:xfrm>
            <a:off x="9308592" y="3447288"/>
            <a:ext cx="493776" cy="493776"/>
          </a:xfrm>
          <a:prstGeom prst="rect">
            <a:avLst/>
          </a:prstGeom>
        </p:spPr>
      </p:pic>
      <p:sp>
        <p:nvSpPr>
          <p:cNvPr id="40" name="Rounded Rectangle 39"/>
          <p:cNvSpPr/>
          <p:nvPr/>
        </p:nvSpPr>
        <p:spPr>
          <a:xfrm>
            <a:off x="1029614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1" name="Picture 40" descr="lg_u105.png"/>
          <p:cNvPicPr>
            <a:picLocks noChangeAspect="1"/>
          </p:cNvPicPr>
          <p:nvPr/>
        </p:nvPicPr>
        <p:blipFill>
          <a:blip r:embed="rId17"/>
          <a:stretch>
            <a:fillRect/>
          </a:stretch>
        </p:blipFill>
        <p:spPr>
          <a:xfrm>
            <a:off x="10698480" y="3447288"/>
            <a:ext cx="493776" cy="493776"/>
          </a:xfrm>
          <a:prstGeom prst="rect">
            <a:avLst/>
          </a:prstGeom>
        </p:spPr>
      </p:pic>
      <p:sp>
        <p:nvSpPr>
          <p:cNvPr id="42" name="TextBox 41"/>
          <p:cNvSpPr txBox="1"/>
          <p:nvPr/>
        </p:nvSpPr>
        <p:spPr>
          <a:xfrm>
            <a:off x="566928" y="434340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EXPERT &amp; ECOSYSTEM PARTNERS</a:t>
            </a:r>
          </a:p>
        </p:txBody>
      </p:sp>
      <p:sp>
        <p:nvSpPr>
          <p:cNvPr id="43" name="Rounded Rectangle 42"/>
          <p:cNvSpPr/>
          <p:nvPr/>
        </p:nvSpPr>
        <p:spPr>
          <a:xfrm>
            <a:off x="56692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tripc.png"/>
          <p:cNvPicPr>
            <a:picLocks noChangeAspect="1"/>
          </p:cNvPicPr>
          <p:nvPr/>
        </p:nvPicPr>
        <p:blipFill>
          <a:blip r:embed="rId18"/>
          <a:stretch>
            <a:fillRect/>
          </a:stretch>
        </p:blipFill>
        <p:spPr>
          <a:xfrm>
            <a:off x="676656" y="4823014"/>
            <a:ext cx="1078992" cy="302644"/>
          </a:xfrm>
          <a:prstGeom prst="rect">
            <a:avLst/>
          </a:prstGeom>
        </p:spPr>
      </p:pic>
      <p:sp>
        <p:nvSpPr>
          <p:cNvPr id="45" name="Rounded Rectangle 44"/>
          <p:cNvSpPr/>
          <p:nvPr/>
        </p:nvSpPr>
        <p:spPr>
          <a:xfrm>
            <a:off x="195681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6" name="Picture 45" descr="lg_niua.png"/>
          <p:cNvPicPr>
            <a:picLocks noChangeAspect="1"/>
          </p:cNvPicPr>
          <p:nvPr/>
        </p:nvPicPr>
        <p:blipFill>
          <a:blip r:embed="rId19"/>
          <a:stretch>
            <a:fillRect/>
          </a:stretch>
        </p:blipFill>
        <p:spPr>
          <a:xfrm>
            <a:off x="2066544" y="4762204"/>
            <a:ext cx="1078992" cy="424263"/>
          </a:xfrm>
          <a:prstGeom prst="rect">
            <a:avLst/>
          </a:prstGeom>
        </p:spPr>
      </p:pic>
      <p:sp>
        <p:nvSpPr>
          <p:cNvPr id="47" name="Rounded Rectangle 46"/>
          <p:cNvSpPr/>
          <p:nvPr/>
        </p:nvSpPr>
        <p:spPr>
          <a:xfrm>
            <a:off x="334670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8" name="Picture 47" descr="lg_omi.png"/>
          <p:cNvPicPr>
            <a:picLocks noChangeAspect="1"/>
          </p:cNvPicPr>
          <p:nvPr/>
        </p:nvPicPr>
        <p:blipFill>
          <a:blip r:embed="rId20"/>
          <a:stretch>
            <a:fillRect/>
          </a:stretch>
        </p:blipFill>
        <p:spPr>
          <a:xfrm>
            <a:off x="3632379" y="4727448"/>
            <a:ext cx="727098" cy="493776"/>
          </a:xfrm>
          <a:prstGeom prst="rect">
            <a:avLst/>
          </a:prstGeom>
        </p:spPr>
      </p:pic>
      <p:sp>
        <p:nvSpPr>
          <p:cNvPr id="49" name="Rounded Rectangle 48"/>
          <p:cNvSpPr/>
          <p:nvPr/>
        </p:nvSpPr>
        <p:spPr>
          <a:xfrm>
            <a:off x="4736592"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0" name="Picture 49" descr="lg_wri.png"/>
          <p:cNvPicPr>
            <a:picLocks noChangeAspect="1"/>
          </p:cNvPicPr>
          <p:nvPr/>
        </p:nvPicPr>
        <p:blipFill>
          <a:blip r:embed="rId21"/>
          <a:stretch>
            <a:fillRect/>
          </a:stretch>
        </p:blipFill>
        <p:spPr>
          <a:xfrm>
            <a:off x="4846320" y="4781659"/>
            <a:ext cx="1078992" cy="385354"/>
          </a:xfrm>
          <a:prstGeom prst="rect">
            <a:avLst/>
          </a:prstGeom>
        </p:spPr>
      </p:pic>
      <p:sp>
        <p:nvSpPr>
          <p:cNvPr id="51" name="Rounded Rectangle 50"/>
          <p:cNvSpPr/>
          <p:nvPr/>
        </p:nvSpPr>
        <p:spPr>
          <a:xfrm>
            <a:off x="6126480"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2" name="Picture 51" descr="lg_cii.png"/>
          <p:cNvPicPr>
            <a:picLocks noChangeAspect="1"/>
          </p:cNvPicPr>
          <p:nvPr/>
        </p:nvPicPr>
        <p:blipFill>
          <a:blip r:embed="rId22"/>
          <a:stretch>
            <a:fillRect/>
          </a:stretch>
        </p:blipFill>
        <p:spPr>
          <a:xfrm>
            <a:off x="6236208" y="4809382"/>
            <a:ext cx="1078992" cy="329907"/>
          </a:xfrm>
          <a:prstGeom prst="rect">
            <a:avLst/>
          </a:prstGeom>
        </p:spPr>
      </p:pic>
      <p:sp>
        <p:nvSpPr>
          <p:cNvPr id="53" name="Rounded Rectangle 52"/>
          <p:cNvSpPr/>
          <p:nvPr/>
        </p:nvSpPr>
        <p:spPr>
          <a:xfrm>
            <a:off x="751636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4" name="Picture 53" descr="lg_gic.png"/>
          <p:cNvPicPr>
            <a:picLocks noChangeAspect="1"/>
          </p:cNvPicPr>
          <p:nvPr/>
        </p:nvPicPr>
        <p:blipFill>
          <a:blip r:embed="rId23"/>
          <a:stretch>
            <a:fillRect/>
          </a:stretch>
        </p:blipFill>
        <p:spPr>
          <a:xfrm>
            <a:off x="7705051" y="4727448"/>
            <a:ext cx="921082" cy="493776"/>
          </a:xfrm>
          <a:prstGeom prst="rect">
            <a:avLst/>
          </a:prstGeom>
        </p:spPr>
      </p:pic>
      <p:sp>
        <p:nvSpPr>
          <p:cNvPr id="55" name="Rounded Rectangle 54"/>
          <p:cNvSpPr/>
          <p:nvPr/>
        </p:nvSpPr>
        <p:spPr>
          <a:xfrm>
            <a:off x="890625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6" name="Picture 55" descr="lg_iffco.png"/>
          <p:cNvPicPr>
            <a:picLocks noChangeAspect="1"/>
          </p:cNvPicPr>
          <p:nvPr/>
        </p:nvPicPr>
        <p:blipFill>
          <a:blip r:embed="rId24"/>
          <a:stretch>
            <a:fillRect/>
          </a:stretch>
        </p:blipFill>
        <p:spPr>
          <a:xfrm>
            <a:off x="9116286" y="4727448"/>
            <a:ext cx="878388" cy="493776"/>
          </a:xfrm>
          <a:prstGeom prst="rect">
            <a:avLst/>
          </a:prstGeom>
        </p:spPr>
      </p:pic>
      <p:sp>
        <p:nvSpPr>
          <p:cNvPr id="57" name="Rounded Rectangle 56"/>
          <p:cNvSpPr/>
          <p:nvPr/>
        </p:nvSpPr>
        <p:spPr>
          <a:xfrm>
            <a:off x="1029614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8" name="Picture 57" descr="lg_nia.png"/>
          <p:cNvPicPr>
            <a:picLocks noChangeAspect="1"/>
          </p:cNvPicPr>
          <p:nvPr/>
        </p:nvPicPr>
        <p:blipFill>
          <a:blip r:embed="rId25"/>
          <a:stretch>
            <a:fillRect/>
          </a:stretch>
        </p:blipFill>
        <p:spPr>
          <a:xfrm>
            <a:off x="10405872" y="4769184"/>
            <a:ext cx="1078992" cy="410304"/>
          </a:xfrm>
          <a:prstGeom prst="rect">
            <a:avLst/>
          </a:prstGeom>
        </p:spPr>
      </p:pic>
      <p:sp>
        <p:nvSpPr>
          <p:cNvPr id="59" name="Rounded Rectangle 58"/>
          <p:cNvSpPr/>
          <p:nvPr/>
        </p:nvSpPr>
        <p:spPr>
          <a:xfrm>
            <a:off x="566928" y="5623560"/>
            <a:ext cx="11057839" cy="548640"/>
          </a:xfrm>
          <a:prstGeom prst="roundRect">
            <a:avLst>
              <a:gd name="adj" fmla="val 14000"/>
            </a:avLst>
          </a:prstGeom>
          <a:solidFill>
            <a:srgbClr val="F7F7FA"/>
          </a:solidFill>
          <a:ln>
            <a:noFill/>
          </a:ln>
          <a:effectLst/>
        </p:spPr>
        <p:txBody>
          <a:bodyPr rtlCol="0" anchor="ctr"/>
          <a:lstStyle/>
          <a:p>
            <a:pPr algn="ctr"/>
          </a:p>
        </p:txBody>
      </p:sp>
      <p:sp>
        <p:nvSpPr>
          <p:cNvPr id="60" name="TextBox 59"/>
          <p:cNvSpPr txBox="1"/>
          <p:nvPr/>
        </p:nvSpPr>
        <p:spPr>
          <a:xfrm>
            <a:off x="768096" y="5715000"/>
            <a:ext cx="10646359" cy="384048"/>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Plus: </a:t>
            </a:r>
            <a:r>
              <a:rPr sz="950" b="0" i="0">
                <a:solidFill>
                  <a:srgbClr val="6E7180"/>
                </a:solidFill>
                <a:latin typeface="Geist"/>
              </a:rPr>
              <a:t>Jaipur Traffic Police &amp; Gurugram Police (MoUs) · CPWD &amp; district administrations · Bloomberg, Johns Hopkins, Centre for Green Mobility and PwC experts on juries and reviews.</a:t>
            </a:r>
          </a:p>
        </p:txBody>
      </p:sp>
      <p:cxnSp>
        <p:nvCxnSpPr>
          <p:cNvPr id="61" name="Connector 60"/>
          <p:cNvCxnSpPr/>
          <p:nvPr/>
        </p:nvCxnSpPr>
        <p:spPr>
          <a:xfrm>
            <a:off x="566928" y="6455664"/>
            <a:ext cx="11057839" cy="0"/>
          </a:xfrm>
          <a:prstGeom prst="line">
            <a:avLst/>
          </a:prstGeom>
          <a:ln w="9525">
            <a:solidFill>
              <a:srgbClr val="E8E9EE"/>
            </a:solidFill>
          </a:ln>
          <a:effectLst/>
        </p:spPr>
      </p:cxnSp>
      <p:sp>
        <p:nvSpPr>
          <p:cNvPr id="62" name="TextBox 6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63" name="TextBox 6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full-time team </a:t>
            </a:r>
            <a:r>
              <a:rPr sz="2250" b="1" i="0">
                <a:solidFill>
                  <a:srgbClr val="4A35FF"/>
                </a:solidFill>
                <a:latin typeface="Montserrat"/>
              </a:rPr>
              <a:t>built for this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Engineering, law, policy, product and field operations, under trustees who have led Indian road safety for a decade.</a:t>
            </a:r>
          </a:p>
        </p:txBody>
      </p:sp>
      <p:sp>
        <p:nvSpPr>
          <p:cNvPr id="8" name="Rounded Rectangle 7"/>
          <p:cNvSpPr/>
          <p:nvPr/>
        </p:nvSpPr>
        <p:spPr>
          <a:xfrm>
            <a:off x="566928" y="1920240"/>
            <a:ext cx="3630168" cy="896112"/>
          </a:xfrm>
          <a:prstGeom prst="roundRect">
            <a:avLst>
              <a:gd name="adj" fmla="val 10000"/>
            </a:avLst>
          </a:prstGeom>
          <a:solidFill>
            <a:srgbClr val="F7F7FA"/>
          </a:solidFill>
          <a:ln>
            <a:noFill/>
          </a:ln>
          <a:effectLst/>
        </p:spPr>
        <p:txBody>
          <a:bodyPr rtlCol="0" anchor="ctr"/>
          <a:lstStyle/>
          <a:p>
            <a:pPr algn="ctr"/>
          </a:p>
        </p:txBody>
      </p:sp>
      <p:pic>
        <p:nvPicPr>
          <p:cNvPr id="9" name="Picture 8" descr="t_amar.png"/>
          <p:cNvPicPr>
            <a:picLocks noChangeAspect="1"/>
          </p:cNvPicPr>
          <p:nvPr/>
        </p:nvPicPr>
        <p:blipFill>
          <a:blip r:embed="rId2"/>
          <a:stretch>
            <a:fillRect/>
          </a:stretch>
        </p:blipFill>
        <p:spPr>
          <a:xfrm>
            <a:off x="685800" y="2039112"/>
            <a:ext cx="658368" cy="658368"/>
          </a:xfrm>
          <a:prstGeom prst="rect">
            <a:avLst/>
          </a:prstGeom>
        </p:spPr>
      </p:pic>
      <p:sp>
        <p:nvSpPr>
          <p:cNvPr id="10" name="TextBox 9"/>
          <p:cNvSpPr txBox="1"/>
          <p:nvPr/>
        </p:nvSpPr>
        <p:spPr>
          <a:xfrm>
            <a:off x="1463040"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Amar Srivastava</a:t>
            </a:r>
          </a:p>
        </p:txBody>
      </p:sp>
      <p:sp>
        <p:nvSpPr>
          <p:cNvPr id="11" name="TextBox 10"/>
          <p:cNvSpPr txBox="1"/>
          <p:nvPr/>
        </p:nvSpPr>
        <p:spPr>
          <a:xfrm>
            <a:off x="1463040"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President · Founder, Indian Road Safety Campaign · Member, National Road Safety Council</a:t>
            </a:r>
          </a:p>
        </p:txBody>
      </p:sp>
      <p:sp>
        <p:nvSpPr>
          <p:cNvPr id="12" name="Rounded Rectangle 11"/>
          <p:cNvSpPr/>
          <p:nvPr/>
        </p:nvSpPr>
        <p:spPr>
          <a:xfrm>
            <a:off x="4279391" y="1920240"/>
            <a:ext cx="3630168" cy="896112"/>
          </a:xfrm>
          <a:prstGeom prst="roundRect">
            <a:avLst>
              <a:gd name="adj" fmla="val 10000"/>
            </a:avLst>
          </a:prstGeom>
          <a:solidFill>
            <a:srgbClr val="F7F7FA"/>
          </a:solidFill>
          <a:ln>
            <a:noFill/>
          </a:ln>
          <a:effectLst/>
        </p:spPr>
        <p:txBody>
          <a:bodyPr rtlCol="0" anchor="ctr"/>
          <a:lstStyle/>
          <a:p>
            <a:pPr algn="ctr"/>
          </a:p>
        </p:txBody>
      </p:sp>
      <p:pic>
        <p:nvPicPr>
          <p:cNvPr id="13" name="Picture 12" descr="t_deepanshu.png"/>
          <p:cNvPicPr>
            <a:picLocks noChangeAspect="1"/>
          </p:cNvPicPr>
          <p:nvPr/>
        </p:nvPicPr>
        <p:blipFill>
          <a:blip r:embed="rId3"/>
          <a:stretch>
            <a:fillRect/>
          </a:stretch>
        </p:blipFill>
        <p:spPr>
          <a:xfrm>
            <a:off x="4398263" y="2039112"/>
            <a:ext cx="658368" cy="658368"/>
          </a:xfrm>
          <a:prstGeom prst="rect">
            <a:avLst/>
          </a:prstGeom>
        </p:spPr>
      </p:pic>
      <p:sp>
        <p:nvSpPr>
          <p:cNvPr id="14" name="TextBox 13"/>
          <p:cNvSpPr txBox="1"/>
          <p:nvPr/>
        </p:nvSpPr>
        <p:spPr>
          <a:xfrm>
            <a:off x="5175503"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Deepanshu Gupta</a:t>
            </a:r>
          </a:p>
        </p:txBody>
      </p:sp>
      <p:sp>
        <p:nvSpPr>
          <p:cNvPr id="15" name="TextBox 14"/>
          <p:cNvSpPr txBox="1"/>
          <p:nvPr/>
        </p:nvSpPr>
        <p:spPr>
          <a:xfrm>
            <a:off x="5175503"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Managing Trustee · Founder, IRSC · Global Youth Coalition for Road Safety</a:t>
            </a:r>
          </a:p>
        </p:txBody>
      </p:sp>
      <p:sp>
        <p:nvSpPr>
          <p:cNvPr id="16" name="Rounded Rectangle 15"/>
          <p:cNvSpPr/>
          <p:nvPr/>
        </p:nvSpPr>
        <p:spPr>
          <a:xfrm>
            <a:off x="7991854" y="1920240"/>
            <a:ext cx="3630168" cy="896112"/>
          </a:xfrm>
          <a:prstGeom prst="roundRect">
            <a:avLst>
              <a:gd name="adj" fmla="val 10000"/>
            </a:avLst>
          </a:prstGeom>
          <a:solidFill>
            <a:srgbClr val="F7F7FA"/>
          </a:solidFill>
          <a:ln>
            <a:noFill/>
          </a:ln>
          <a:effectLst/>
        </p:spPr>
        <p:txBody>
          <a:bodyPr rtlCol="0" anchor="ctr"/>
          <a:lstStyle/>
          <a:p>
            <a:pPr algn="ctr"/>
          </a:p>
        </p:txBody>
      </p:sp>
      <p:pic>
        <p:nvPicPr>
          <p:cNvPr id="17" name="Picture 16" descr="t_gajendra.png"/>
          <p:cNvPicPr>
            <a:picLocks noChangeAspect="1"/>
          </p:cNvPicPr>
          <p:nvPr/>
        </p:nvPicPr>
        <p:blipFill>
          <a:blip r:embed="rId4"/>
          <a:stretch>
            <a:fillRect/>
          </a:stretch>
        </p:blipFill>
        <p:spPr>
          <a:xfrm>
            <a:off x="8110726" y="2039112"/>
            <a:ext cx="658368" cy="658368"/>
          </a:xfrm>
          <a:prstGeom prst="rect">
            <a:avLst/>
          </a:prstGeom>
        </p:spPr>
      </p:pic>
      <p:sp>
        <p:nvSpPr>
          <p:cNvPr id="18" name="TextBox 17"/>
          <p:cNvSpPr txBox="1"/>
          <p:nvPr/>
        </p:nvSpPr>
        <p:spPr>
          <a:xfrm>
            <a:off x="8887966"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Gajendra Jangid</a:t>
            </a:r>
          </a:p>
        </p:txBody>
      </p:sp>
      <p:sp>
        <p:nvSpPr>
          <p:cNvPr id="19" name="TextBox 18"/>
          <p:cNvSpPr txBox="1"/>
          <p:nvPr/>
        </p:nvSpPr>
        <p:spPr>
          <a:xfrm>
            <a:off x="8887966"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General Secretary · Co-founder, Cars24</a:t>
            </a:r>
          </a:p>
        </p:txBody>
      </p:sp>
      <p:sp>
        <p:nvSpPr>
          <p:cNvPr id="20" name="TextBox 19"/>
          <p:cNvSpPr txBox="1"/>
          <p:nvPr/>
        </p:nvSpPr>
        <p:spPr>
          <a:xfrm>
            <a:off x="566928" y="3035808"/>
            <a:ext cx="1097280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THE FULL-TIME TEAM</a:t>
            </a:r>
          </a:p>
        </p:txBody>
      </p:sp>
      <p:pic>
        <p:nvPicPr>
          <p:cNvPr id="21" name="Picture 20" descr="t_akhtar.png"/>
          <p:cNvPicPr>
            <a:picLocks noChangeAspect="1"/>
          </p:cNvPicPr>
          <p:nvPr/>
        </p:nvPicPr>
        <p:blipFill>
          <a:blip r:embed="rId5"/>
          <a:stretch>
            <a:fillRect/>
          </a:stretch>
        </p:blipFill>
        <p:spPr>
          <a:xfrm>
            <a:off x="566928" y="3374136"/>
            <a:ext cx="566928" cy="566928"/>
          </a:xfrm>
          <a:prstGeom prst="rect">
            <a:avLst/>
          </a:prstGeom>
        </p:spPr>
      </p:pic>
      <p:sp>
        <p:nvSpPr>
          <p:cNvPr id="22" name="TextBox 21"/>
          <p:cNvSpPr txBox="1"/>
          <p:nvPr/>
        </p:nvSpPr>
        <p:spPr>
          <a:xfrm>
            <a:off x="1252728" y="3328416"/>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Akhtar Hussain  </a:t>
            </a:r>
            <a:r>
              <a:rPr sz="800" b="1" i="0">
                <a:solidFill>
                  <a:srgbClr val="4A35FF"/>
                </a:solidFill>
                <a:latin typeface="Geist"/>
              </a:rPr>
              <a:t>Mission Lead</a:t>
            </a:r>
          </a:p>
        </p:txBody>
      </p:sp>
      <p:sp>
        <p:nvSpPr>
          <p:cNvPr id="23" name="TextBox 22"/>
          <p:cNvSpPr txBox="1"/>
          <p:nvPr/>
        </p:nvSpPr>
        <p:spPr>
          <a:xfrm>
            <a:off x="1252728" y="3547872"/>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IIT Delhi · ex-Cars24 · leads strategy, partnerships and MoRTH/NRSB engagement</a:t>
            </a:r>
          </a:p>
        </p:txBody>
      </p:sp>
      <p:pic>
        <p:nvPicPr>
          <p:cNvPr id="24" name="Picture 23" descr="t_shubham.png"/>
          <p:cNvPicPr>
            <a:picLocks noChangeAspect="1"/>
          </p:cNvPicPr>
          <p:nvPr/>
        </p:nvPicPr>
        <p:blipFill>
          <a:blip r:embed="rId6"/>
          <a:stretch>
            <a:fillRect/>
          </a:stretch>
        </p:blipFill>
        <p:spPr>
          <a:xfrm>
            <a:off x="4279391" y="3374136"/>
            <a:ext cx="566928" cy="566928"/>
          </a:xfrm>
          <a:prstGeom prst="rect">
            <a:avLst/>
          </a:prstGeom>
        </p:spPr>
      </p:pic>
      <p:sp>
        <p:nvSpPr>
          <p:cNvPr id="25" name="TextBox 24"/>
          <p:cNvSpPr txBox="1"/>
          <p:nvPr/>
        </p:nvSpPr>
        <p:spPr>
          <a:xfrm>
            <a:off x="4965191" y="3328416"/>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Shubham Kumar  </a:t>
            </a:r>
            <a:r>
              <a:rPr sz="800" b="1" i="0">
                <a:solidFill>
                  <a:srgbClr val="4A35FF"/>
                </a:solidFill>
                <a:latin typeface="Geist"/>
              </a:rPr>
              <a:t>Policy &amp; Advocacy</a:t>
            </a:r>
          </a:p>
        </p:txBody>
      </p:sp>
      <p:sp>
        <p:nvSpPr>
          <p:cNvPr id="26" name="TextBox 25"/>
          <p:cNvSpPr txBox="1"/>
          <p:nvPr/>
        </p:nvSpPr>
        <p:spPr>
          <a:xfrm>
            <a:off x="4965191" y="3547872"/>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NALSAR Hyderabad · legal research, RTIs, Justice Unserved co-author</a:t>
            </a:r>
          </a:p>
        </p:txBody>
      </p:sp>
      <p:pic>
        <p:nvPicPr>
          <p:cNvPr id="27" name="Picture 26" descr="t_muskan.png"/>
          <p:cNvPicPr>
            <a:picLocks noChangeAspect="1"/>
          </p:cNvPicPr>
          <p:nvPr/>
        </p:nvPicPr>
        <p:blipFill>
          <a:blip r:embed="rId7"/>
          <a:stretch>
            <a:fillRect/>
          </a:stretch>
        </p:blipFill>
        <p:spPr>
          <a:xfrm>
            <a:off x="7991854" y="3374136"/>
            <a:ext cx="566928" cy="566928"/>
          </a:xfrm>
          <a:prstGeom prst="rect">
            <a:avLst/>
          </a:prstGeom>
        </p:spPr>
      </p:pic>
      <p:sp>
        <p:nvSpPr>
          <p:cNvPr id="28" name="TextBox 27"/>
          <p:cNvSpPr txBox="1"/>
          <p:nvPr/>
        </p:nvSpPr>
        <p:spPr>
          <a:xfrm>
            <a:off x="8677654" y="3328416"/>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Muskan Yadav  </a:t>
            </a:r>
            <a:r>
              <a:rPr sz="800" b="1" i="0">
                <a:solidFill>
                  <a:srgbClr val="4A35FF"/>
                </a:solidFill>
                <a:latin typeface="Geist"/>
              </a:rPr>
              <a:t>Programmes</a:t>
            </a:r>
          </a:p>
        </p:txBody>
      </p:sp>
      <p:sp>
        <p:nvSpPr>
          <p:cNvPr id="29" name="TextBox 28"/>
          <p:cNvSpPr txBox="1"/>
          <p:nvPr/>
        </p:nvSpPr>
        <p:spPr>
          <a:xfrm>
            <a:off x="8677654" y="3547872"/>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TISS · runs district programmes, DRSC work and helpdesk operations</a:t>
            </a:r>
          </a:p>
        </p:txBody>
      </p:sp>
      <p:pic>
        <p:nvPicPr>
          <p:cNvPr id="30" name="Picture 29" descr="t_aastha.png"/>
          <p:cNvPicPr>
            <a:picLocks noChangeAspect="1"/>
          </p:cNvPicPr>
          <p:nvPr/>
        </p:nvPicPr>
        <p:blipFill>
          <a:blip r:embed="rId8"/>
          <a:stretch>
            <a:fillRect/>
          </a:stretch>
        </p:blipFill>
        <p:spPr>
          <a:xfrm>
            <a:off x="566928" y="4123944"/>
            <a:ext cx="566928" cy="566928"/>
          </a:xfrm>
          <a:prstGeom prst="rect">
            <a:avLst/>
          </a:prstGeom>
        </p:spPr>
      </p:pic>
      <p:sp>
        <p:nvSpPr>
          <p:cNvPr id="31" name="TextBox 30"/>
          <p:cNvSpPr txBox="1"/>
          <p:nvPr/>
        </p:nvSpPr>
        <p:spPr>
          <a:xfrm>
            <a:off x="1252728" y="4078224"/>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Aastha Shreeharsh  </a:t>
            </a:r>
            <a:r>
              <a:rPr sz="800" b="1" i="0">
                <a:solidFill>
                  <a:srgbClr val="4A35FF"/>
                </a:solidFill>
                <a:latin typeface="Geist"/>
              </a:rPr>
              <a:t>Development Communications</a:t>
            </a:r>
          </a:p>
        </p:txBody>
      </p:sp>
      <p:sp>
        <p:nvSpPr>
          <p:cNvPr id="32" name="TextBox 31"/>
          <p:cNvSpPr txBox="1"/>
          <p:nvPr/>
        </p:nvSpPr>
        <p:spPr>
          <a:xfrm>
            <a:off x="1252728" y="4297680"/>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HKUST · donor &amp; institutional communications, impact reporting</a:t>
            </a:r>
          </a:p>
        </p:txBody>
      </p:sp>
      <p:pic>
        <p:nvPicPr>
          <p:cNvPr id="33" name="Picture 32" descr="t_rohan.png"/>
          <p:cNvPicPr>
            <a:picLocks noChangeAspect="1"/>
          </p:cNvPicPr>
          <p:nvPr/>
        </p:nvPicPr>
        <p:blipFill>
          <a:blip r:embed="rId9"/>
          <a:stretch>
            <a:fillRect/>
          </a:stretch>
        </p:blipFill>
        <p:spPr>
          <a:xfrm>
            <a:off x="4279391" y="4123944"/>
            <a:ext cx="566928" cy="566928"/>
          </a:xfrm>
          <a:prstGeom prst="rect">
            <a:avLst/>
          </a:prstGeom>
        </p:spPr>
      </p:pic>
      <p:sp>
        <p:nvSpPr>
          <p:cNvPr id="34" name="TextBox 33"/>
          <p:cNvSpPr txBox="1"/>
          <p:nvPr/>
        </p:nvSpPr>
        <p:spPr>
          <a:xfrm>
            <a:off x="4965191" y="4078224"/>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Rohan Sharma  </a:t>
            </a:r>
            <a:r>
              <a:rPr sz="800" b="1" i="0">
                <a:solidFill>
                  <a:srgbClr val="4A35FF"/>
                </a:solidFill>
                <a:latin typeface="Geist"/>
              </a:rPr>
              <a:t>Cause Marketing</a:t>
            </a:r>
          </a:p>
        </p:txBody>
      </p:sp>
      <p:sp>
        <p:nvSpPr>
          <p:cNvPr id="35" name="TextBox 34"/>
          <p:cNvSpPr txBox="1"/>
          <p:nvPr/>
        </p:nvSpPr>
        <p:spPr>
          <a:xfrm>
            <a:off x="4965191" y="4297680"/>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Campaigns with police &amp; schools · Road Safety Month, NextMile outreach</a:t>
            </a:r>
          </a:p>
        </p:txBody>
      </p:sp>
      <p:pic>
        <p:nvPicPr>
          <p:cNvPr id="36" name="Picture 35" descr="t_ishita.png"/>
          <p:cNvPicPr>
            <a:picLocks noChangeAspect="1"/>
          </p:cNvPicPr>
          <p:nvPr/>
        </p:nvPicPr>
        <p:blipFill>
          <a:blip r:embed="rId10"/>
          <a:stretch>
            <a:fillRect/>
          </a:stretch>
        </p:blipFill>
        <p:spPr>
          <a:xfrm>
            <a:off x="7991854" y="4123944"/>
            <a:ext cx="566928" cy="566928"/>
          </a:xfrm>
          <a:prstGeom prst="rect">
            <a:avLst/>
          </a:prstGeom>
        </p:spPr>
      </p:pic>
      <p:sp>
        <p:nvSpPr>
          <p:cNvPr id="37" name="TextBox 36"/>
          <p:cNvSpPr txBox="1"/>
          <p:nvPr/>
        </p:nvSpPr>
        <p:spPr>
          <a:xfrm>
            <a:off x="8677654" y="4078224"/>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Ishita Rathore  </a:t>
            </a:r>
            <a:r>
              <a:rPr sz="800" b="1" i="0">
                <a:solidFill>
                  <a:srgbClr val="4A35FF"/>
                </a:solidFill>
                <a:latin typeface="Geist"/>
              </a:rPr>
              <a:t>People &amp; Culture</a:t>
            </a:r>
          </a:p>
        </p:txBody>
      </p:sp>
      <p:sp>
        <p:nvSpPr>
          <p:cNvPr id="38" name="TextBox 37"/>
          <p:cNvSpPr txBox="1"/>
          <p:nvPr/>
        </p:nvSpPr>
        <p:spPr>
          <a:xfrm>
            <a:off x="8677654" y="4297680"/>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Talent, volunteers and the 75+ intern engineering corps</a:t>
            </a:r>
          </a:p>
        </p:txBody>
      </p:sp>
      <p:pic>
        <p:nvPicPr>
          <p:cNvPr id="39" name="Picture 38" descr="t_yuvraj.png"/>
          <p:cNvPicPr>
            <a:picLocks noChangeAspect="1"/>
          </p:cNvPicPr>
          <p:nvPr/>
        </p:nvPicPr>
        <p:blipFill>
          <a:blip r:embed="rId11"/>
          <a:stretch>
            <a:fillRect/>
          </a:stretch>
        </p:blipFill>
        <p:spPr>
          <a:xfrm>
            <a:off x="566928" y="4873752"/>
            <a:ext cx="566928" cy="566928"/>
          </a:xfrm>
          <a:prstGeom prst="rect">
            <a:avLst/>
          </a:prstGeom>
        </p:spPr>
      </p:pic>
      <p:sp>
        <p:nvSpPr>
          <p:cNvPr id="40" name="TextBox 39"/>
          <p:cNvSpPr txBox="1"/>
          <p:nvPr/>
        </p:nvSpPr>
        <p:spPr>
          <a:xfrm>
            <a:off x="1252728" y="4828032"/>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Yuvraj Yadav  </a:t>
            </a:r>
            <a:r>
              <a:rPr sz="800" b="1" i="0">
                <a:solidFill>
                  <a:srgbClr val="4A35FF"/>
                </a:solidFill>
                <a:latin typeface="Geist"/>
              </a:rPr>
              <a:t>Operations</a:t>
            </a:r>
          </a:p>
        </p:txBody>
      </p:sp>
      <p:sp>
        <p:nvSpPr>
          <p:cNvPr id="41" name="TextBox 40"/>
          <p:cNvSpPr txBox="1"/>
          <p:nvPr/>
        </p:nvSpPr>
        <p:spPr>
          <a:xfrm>
            <a:off x="1252728" y="5047488"/>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Field logistics across 18 cities · audit-cohort and event operations</a:t>
            </a:r>
          </a:p>
        </p:txBody>
      </p:sp>
      <p:pic>
        <p:nvPicPr>
          <p:cNvPr id="42" name="Picture 41" descr="t_lovish.png"/>
          <p:cNvPicPr>
            <a:picLocks noChangeAspect="1"/>
          </p:cNvPicPr>
          <p:nvPr/>
        </p:nvPicPr>
        <p:blipFill>
          <a:blip r:embed="rId12"/>
          <a:stretch>
            <a:fillRect/>
          </a:stretch>
        </p:blipFill>
        <p:spPr>
          <a:xfrm>
            <a:off x="4279391" y="4873752"/>
            <a:ext cx="566928" cy="566928"/>
          </a:xfrm>
          <a:prstGeom prst="rect">
            <a:avLst/>
          </a:prstGeom>
        </p:spPr>
      </p:pic>
      <p:sp>
        <p:nvSpPr>
          <p:cNvPr id="43" name="TextBox 42"/>
          <p:cNvSpPr txBox="1"/>
          <p:nvPr/>
        </p:nvSpPr>
        <p:spPr>
          <a:xfrm>
            <a:off x="4965191" y="4828032"/>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Lovish  </a:t>
            </a:r>
            <a:r>
              <a:rPr sz="800" b="1" i="0">
                <a:solidFill>
                  <a:srgbClr val="4A35FF"/>
                </a:solidFill>
                <a:latin typeface="Geist"/>
              </a:rPr>
              <a:t>Creative (Video)</a:t>
            </a:r>
          </a:p>
        </p:txBody>
      </p:sp>
      <p:sp>
        <p:nvSpPr>
          <p:cNvPr id="44" name="TextBox 43"/>
          <p:cNvSpPr txBox="1"/>
          <p:nvPr/>
        </p:nvSpPr>
        <p:spPr>
          <a:xfrm>
            <a:off x="4965191" y="5047488"/>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Video explainers, ground-audit films and the YouTube channel</a:t>
            </a:r>
          </a:p>
        </p:txBody>
      </p:sp>
      <p:pic>
        <p:nvPicPr>
          <p:cNvPr id="45" name="Picture 44" descr="t_shipra.png"/>
          <p:cNvPicPr>
            <a:picLocks noChangeAspect="1"/>
          </p:cNvPicPr>
          <p:nvPr/>
        </p:nvPicPr>
        <p:blipFill>
          <a:blip r:embed="rId13"/>
          <a:stretch>
            <a:fillRect/>
          </a:stretch>
        </p:blipFill>
        <p:spPr>
          <a:xfrm>
            <a:off x="7991854" y="4873752"/>
            <a:ext cx="566928" cy="566928"/>
          </a:xfrm>
          <a:prstGeom prst="rect">
            <a:avLst/>
          </a:prstGeom>
        </p:spPr>
      </p:pic>
      <p:sp>
        <p:nvSpPr>
          <p:cNvPr id="46" name="TextBox 45"/>
          <p:cNvSpPr txBox="1"/>
          <p:nvPr/>
        </p:nvSpPr>
        <p:spPr>
          <a:xfrm>
            <a:off x="8677654" y="4828032"/>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Shipra Kushwaha  </a:t>
            </a:r>
            <a:r>
              <a:rPr sz="800" b="1" i="0">
                <a:solidFill>
                  <a:srgbClr val="4A35FF"/>
                </a:solidFill>
                <a:latin typeface="Geist"/>
              </a:rPr>
              <a:t>Creative (Graphic)</a:t>
            </a:r>
          </a:p>
        </p:txBody>
      </p:sp>
      <p:sp>
        <p:nvSpPr>
          <p:cNvPr id="47" name="TextBox 46"/>
          <p:cNvSpPr txBox="1"/>
          <p:nvPr/>
        </p:nvSpPr>
        <p:spPr>
          <a:xfrm>
            <a:off x="8677654" y="5047488"/>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Guides, comics and bilingual campaign material families actually read</a:t>
            </a:r>
          </a:p>
        </p:txBody>
      </p:sp>
      <p:sp>
        <p:nvSpPr>
          <p:cNvPr id="48" name="Rounded Rectangle 47"/>
          <p:cNvSpPr/>
          <p:nvPr/>
        </p:nvSpPr>
        <p:spPr>
          <a:xfrm>
            <a:off x="566928" y="5532120"/>
            <a:ext cx="11057839" cy="640080"/>
          </a:xfrm>
          <a:prstGeom prst="roundRect">
            <a:avLst>
              <a:gd name="adj" fmla="val 14000"/>
            </a:avLst>
          </a:prstGeom>
          <a:solidFill>
            <a:srgbClr val="F7F7FA"/>
          </a:solidFill>
          <a:ln>
            <a:noFill/>
          </a:ln>
          <a:effectLst/>
        </p:spPr>
        <p:txBody>
          <a:bodyPr rtlCol="0" anchor="ctr"/>
          <a:lstStyle/>
          <a:p>
            <a:pPr algn="ctr"/>
          </a:p>
        </p:txBody>
      </p:sp>
      <p:sp>
        <p:nvSpPr>
          <p:cNvPr id="49" name="TextBox 48"/>
          <p:cNvSpPr txBox="1"/>
          <p:nvPr/>
        </p:nvSpPr>
        <p:spPr>
          <a:xfrm>
            <a:off x="768096" y="5605272"/>
            <a:ext cx="10646359" cy="50292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In-house capabilities: </a:t>
            </a:r>
            <a:r>
              <a:rPr sz="950" b="0" i="0">
                <a:solidFill>
                  <a:srgbClr val="6E7180"/>
                </a:solidFill>
                <a:latin typeface="Geist"/>
              </a:rPr>
              <a:t>road-engineering audits · legal &amp; policy research · AI product development · district operations · behaviour-change communication.   </a:t>
            </a:r>
            <a:r>
              <a:rPr sz="950" b="1" i="0">
                <a:solidFill>
                  <a:srgbClr val="4A35FF"/>
                </a:solidFill>
                <a:latin typeface="Geist"/>
              </a:rPr>
              <a:t>Plus 75+ engineering interns and 31 student audit teams.</a:t>
            </a:r>
          </a:p>
        </p:txBody>
      </p:sp>
      <p:cxnSp>
        <p:nvCxnSpPr>
          <p:cNvPr id="50" name="Connector 49"/>
          <p:cNvCxnSpPr/>
          <p:nvPr/>
        </p:nvCxnSpPr>
        <p:spPr>
          <a:xfrm>
            <a:off x="566928" y="6455664"/>
            <a:ext cx="11057839" cy="0"/>
          </a:xfrm>
          <a:prstGeom prst="line">
            <a:avLst/>
          </a:prstGeom>
          <a:ln w="9525">
            <a:solidFill>
              <a:srgbClr val="E8E9EE"/>
            </a:solidFill>
          </a:ln>
          <a:effectLst/>
        </p:spPr>
      </p:cxnSp>
      <p:sp>
        <p:nvSpPr>
          <p:cNvPr id="51" name="TextBox 5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2" name="TextBox 5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 THE EXPERT BENCH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Advised by the people who </a:t>
            </a:r>
            <a:r>
              <a:rPr sz="2250" b="1" i="0">
                <a:solidFill>
                  <a:srgbClr val="4A35FF"/>
                </a:solidFill>
                <a:latin typeface="Montserrat"/>
              </a:rPr>
              <a:t>built India's road safety practice</a:t>
            </a:r>
          </a:p>
        </p:txBody>
      </p:sp>
      <p:sp>
        <p:nvSpPr>
          <p:cNvPr id="7" name="Rounded Rectangle 6"/>
          <p:cNvSpPr/>
          <p:nvPr/>
        </p:nvSpPr>
        <p:spPr>
          <a:xfrm>
            <a:off x="566928" y="1554480"/>
            <a:ext cx="5486400" cy="932688"/>
          </a:xfrm>
          <a:prstGeom prst="roundRect">
            <a:avLst>
              <a:gd name="adj" fmla="val 12000"/>
            </a:avLst>
          </a:prstGeom>
          <a:solidFill>
            <a:srgbClr val="F7F7FA"/>
          </a:solidFill>
          <a:ln>
            <a:noFill/>
          </a:ln>
          <a:effectLst/>
        </p:spPr>
        <p:txBody>
          <a:bodyPr rtlCol="0" anchor="ctr"/>
          <a:lstStyle/>
          <a:p>
            <a:pPr algn="ctr"/>
          </a:p>
        </p:txBody>
      </p:sp>
      <p:pic>
        <p:nvPicPr>
          <p:cNvPr id="8" name="Picture 7" descr="x_gtiwari.png"/>
          <p:cNvPicPr>
            <a:picLocks noChangeAspect="1"/>
          </p:cNvPicPr>
          <p:nvPr/>
        </p:nvPicPr>
        <p:blipFill>
          <a:blip r:embed="rId2"/>
          <a:stretch>
            <a:fillRect/>
          </a:stretch>
        </p:blipFill>
        <p:spPr>
          <a:xfrm>
            <a:off x="694944" y="1682496"/>
            <a:ext cx="676656" cy="676656"/>
          </a:xfrm>
          <a:prstGeom prst="rect">
            <a:avLst/>
          </a:prstGeom>
        </p:spPr>
      </p:pic>
      <p:sp>
        <p:nvSpPr>
          <p:cNvPr id="9" name="TextBox 8"/>
          <p:cNvSpPr txBox="1"/>
          <p:nvPr/>
        </p:nvSpPr>
        <p:spPr>
          <a:xfrm>
            <a:off x="1499616" y="1673352"/>
            <a:ext cx="448056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Prof. Geetam Tiwari, Board of Advisors</a:t>
            </a:r>
          </a:p>
        </p:txBody>
      </p:sp>
      <p:sp>
        <p:nvSpPr>
          <p:cNvPr id="10" name="TextBox 9"/>
          <p:cNvSpPr txBox="1"/>
          <p:nvPr/>
        </p:nvSpPr>
        <p:spPr>
          <a:xfrm>
            <a:off x="1499616" y="1965960"/>
            <a:ext cx="448056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Professor Emerita &amp; Chair, TRIP Centre, IIT Delhi · Member, IRC H-7 Committee on Road Safety Audit</a:t>
            </a:r>
          </a:p>
        </p:txBody>
      </p:sp>
      <p:sp>
        <p:nvSpPr>
          <p:cNvPr id="11" name="Rounded Rectangle 10"/>
          <p:cNvSpPr/>
          <p:nvPr/>
        </p:nvSpPr>
        <p:spPr>
          <a:xfrm>
            <a:off x="6263640" y="1554480"/>
            <a:ext cx="5349240" cy="932688"/>
          </a:xfrm>
          <a:prstGeom prst="roundRect">
            <a:avLst>
              <a:gd name="adj" fmla="val 12000"/>
            </a:avLst>
          </a:prstGeom>
          <a:solidFill>
            <a:srgbClr val="F7F7FA"/>
          </a:solidFill>
          <a:ln>
            <a:noFill/>
          </a:ln>
          <a:effectLst/>
        </p:spPr>
        <p:txBody>
          <a:bodyPr rtlCol="0" anchor="ctr"/>
          <a:lstStyle/>
          <a:p>
            <a:pPr algn="ctr"/>
          </a:p>
        </p:txBody>
      </p:sp>
      <p:sp>
        <p:nvSpPr>
          <p:cNvPr id="12" name="Oval 11"/>
          <p:cNvSpPr/>
          <p:nvPr/>
        </p:nvSpPr>
        <p:spPr>
          <a:xfrm>
            <a:off x="6391656" y="1682496"/>
            <a:ext cx="676656" cy="676656"/>
          </a:xfrm>
          <a:prstGeom prst="ellipse">
            <a:avLst/>
          </a:prstGeom>
          <a:solidFill>
            <a:srgbClr val="EFEDFF"/>
          </a:solidFill>
          <a:ln>
            <a:noFill/>
          </a:ln>
          <a:effectLst/>
        </p:spPr>
        <p:txBody>
          <a:bodyPr rtlCol="0" anchor="ctr"/>
          <a:lstStyle/>
          <a:p>
            <a:pPr algn="ctr"/>
          </a:p>
        </p:txBody>
      </p:sp>
      <p:sp>
        <p:nvSpPr>
          <p:cNvPr id="13" name="TextBox 12"/>
          <p:cNvSpPr txBox="1"/>
          <p:nvPr/>
        </p:nvSpPr>
        <p:spPr>
          <a:xfrm>
            <a:off x="6391656" y="1664208"/>
            <a:ext cx="676656" cy="676656"/>
          </a:xfrm>
          <a:prstGeom prst="rect">
            <a:avLst/>
          </a:prstGeom>
          <a:noFill/>
        </p:spPr>
        <p:txBody>
          <a:bodyPr wrap="square" lIns="0" rIns="0" tIns="0" bIns="0" anchor="ctr">
            <a:spAutoFit/>
          </a:bodyPr>
          <a:lstStyle/>
          <a:p>
            <a:pPr algn="ctr">
              <a:lnSpc>
                <a:spcPct val="128000"/>
              </a:lnSpc>
            </a:pPr>
            <a:r>
              <a:rPr sz="1400" b="1" i="0">
                <a:solidFill>
                  <a:srgbClr val="4A35FF"/>
                </a:solidFill>
                <a:latin typeface="Montserrat"/>
              </a:rPr>
              <a:t>PT</a:t>
            </a:r>
          </a:p>
        </p:txBody>
      </p:sp>
      <p:sp>
        <p:nvSpPr>
          <p:cNvPr id="14" name="TextBox 13"/>
          <p:cNvSpPr txBox="1"/>
          <p:nvPr/>
        </p:nvSpPr>
        <p:spPr>
          <a:xfrm>
            <a:off x="7196328" y="1673352"/>
            <a:ext cx="429768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Piyush Tewari, Board of Advisors</a:t>
            </a:r>
          </a:p>
        </p:txBody>
      </p:sp>
      <p:sp>
        <p:nvSpPr>
          <p:cNvPr id="15" name="TextBox 14"/>
          <p:cNvSpPr txBox="1"/>
          <p:nvPr/>
        </p:nvSpPr>
        <p:spPr>
          <a:xfrm>
            <a:off x="7196328" y="1965960"/>
            <a:ext cx="429768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Founder &amp; CEO, SaveLIFE Foundation · Architect of the Good Samaritan Law · Zero-Fatality Corridors</a:t>
            </a:r>
          </a:p>
        </p:txBody>
      </p:sp>
      <p:sp>
        <p:nvSpPr>
          <p:cNvPr id="16" name="TextBox 15"/>
          <p:cNvSpPr txBox="1"/>
          <p:nvPr/>
        </p:nvSpPr>
        <p:spPr>
          <a:xfrm>
            <a:off x="566928" y="2697480"/>
            <a:ext cx="1005840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JURY, MENTORS &amp; REVIEWERS AROUND OUR WORK</a:t>
            </a:r>
          </a:p>
        </p:txBody>
      </p:sp>
      <p:pic>
        <p:nvPicPr>
          <p:cNvPr id="17" name="Picture 16" descr="x_midha.png"/>
          <p:cNvPicPr>
            <a:picLocks noChangeAspect="1"/>
          </p:cNvPicPr>
          <p:nvPr/>
        </p:nvPicPr>
        <p:blipFill>
          <a:blip r:embed="rId3"/>
          <a:stretch>
            <a:fillRect/>
          </a:stretch>
        </p:blipFill>
        <p:spPr>
          <a:xfrm>
            <a:off x="1152144" y="2999232"/>
            <a:ext cx="640080" cy="640080"/>
          </a:xfrm>
          <a:prstGeom prst="rect">
            <a:avLst/>
          </a:prstGeom>
        </p:spPr>
      </p:pic>
      <p:sp>
        <p:nvSpPr>
          <p:cNvPr id="18" name="TextBox 17"/>
          <p:cNvSpPr txBox="1"/>
          <p:nvPr/>
        </p:nvSpPr>
        <p:spPr>
          <a:xfrm>
            <a:off x="566928"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Justice J.R. Midha</a:t>
            </a:r>
          </a:p>
        </p:txBody>
      </p:sp>
      <p:sp>
        <p:nvSpPr>
          <p:cNvPr id="19" name="TextBox 18"/>
          <p:cNvSpPr txBox="1"/>
          <p:nvPr/>
        </p:nvSpPr>
        <p:spPr>
          <a:xfrm>
            <a:off x="566928"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Delhi High Court (Retd.)</a:t>
            </a:r>
          </a:p>
        </p:txBody>
      </p:sp>
      <p:pic>
        <p:nvPicPr>
          <p:cNvPr id="20" name="Picture 19" descr="x_damle.png"/>
          <p:cNvPicPr>
            <a:picLocks noChangeAspect="1"/>
          </p:cNvPicPr>
          <p:nvPr/>
        </p:nvPicPr>
        <p:blipFill>
          <a:blip r:embed="rId4"/>
          <a:stretch>
            <a:fillRect/>
          </a:stretch>
        </p:blipFill>
        <p:spPr>
          <a:xfrm>
            <a:off x="3017520" y="2999232"/>
            <a:ext cx="640080" cy="640080"/>
          </a:xfrm>
          <a:prstGeom prst="rect">
            <a:avLst/>
          </a:prstGeom>
        </p:spPr>
      </p:pic>
      <p:sp>
        <p:nvSpPr>
          <p:cNvPr id="21" name="TextBox 20"/>
          <p:cNvSpPr txBox="1"/>
          <p:nvPr/>
        </p:nvSpPr>
        <p:spPr>
          <a:xfrm>
            <a:off x="2432304"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Abhay Damle</a:t>
            </a:r>
          </a:p>
        </p:txBody>
      </p:sp>
      <p:sp>
        <p:nvSpPr>
          <p:cNvPr id="22" name="TextBox 21"/>
          <p:cNvSpPr txBox="1"/>
          <p:nvPr/>
        </p:nvSpPr>
        <p:spPr>
          <a:xfrm>
            <a:off x="2432304"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Ex-JS, MoRTH</a:t>
            </a:r>
          </a:p>
        </p:txBody>
      </p:sp>
      <p:pic>
        <p:nvPicPr>
          <p:cNvPr id="23" name="Picture 22" descr="x_dange.png"/>
          <p:cNvPicPr>
            <a:picLocks noChangeAspect="1"/>
          </p:cNvPicPr>
          <p:nvPr/>
        </p:nvPicPr>
        <p:blipFill>
          <a:blip r:embed="rId5"/>
          <a:stretch>
            <a:fillRect/>
          </a:stretch>
        </p:blipFill>
        <p:spPr>
          <a:xfrm>
            <a:off x="4882896" y="2999232"/>
            <a:ext cx="640080" cy="640080"/>
          </a:xfrm>
          <a:prstGeom prst="rect">
            <a:avLst/>
          </a:prstGeom>
        </p:spPr>
      </p:pic>
      <p:sp>
        <p:nvSpPr>
          <p:cNvPr id="24" name="TextBox 23"/>
          <p:cNvSpPr txBox="1"/>
          <p:nvPr/>
        </p:nvSpPr>
        <p:spPr>
          <a:xfrm>
            <a:off x="4297680"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Vaibhav Dange</a:t>
            </a:r>
          </a:p>
        </p:txBody>
      </p:sp>
      <p:sp>
        <p:nvSpPr>
          <p:cNvPr id="25" name="TextBox 24"/>
          <p:cNvSpPr txBox="1"/>
          <p:nvPr/>
        </p:nvSpPr>
        <p:spPr>
          <a:xfrm>
            <a:off x="4297680"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Ex-Advisor, MoRTH</a:t>
            </a:r>
          </a:p>
        </p:txBody>
      </p:sp>
      <p:pic>
        <p:nvPicPr>
          <p:cNvPr id="26" name="Picture 25" descr="x_tandon.png"/>
          <p:cNvPicPr>
            <a:picLocks noChangeAspect="1"/>
          </p:cNvPicPr>
          <p:nvPr/>
        </p:nvPicPr>
        <p:blipFill>
          <a:blip r:embed="rId6"/>
          <a:stretch>
            <a:fillRect/>
          </a:stretch>
        </p:blipFill>
        <p:spPr>
          <a:xfrm>
            <a:off x="6748272" y="2999232"/>
            <a:ext cx="640080" cy="640080"/>
          </a:xfrm>
          <a:prstGeom prst="rect">
            <a:avLst/>
          </a:prstGeom>
        </p:spPr>
      </p:pic>
      <p:sp>
        <p:nvSpPr>
          <p:cNvPr id="27" name="TextBox 26"/>
          <p:cNvSpPr txBox="1"/>
          <p:nvPr/>
        </p:nvSpPr>
        <p:spPr>
          <a:xfrm>
            <a:off x="6163056"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Dr. Maya Tandon</a:t>
            </a:r>
          </a:p>
        </p:txBody>
      </p:sp>
      <p:sp>
        <p:nvSpPr>
          <p:cNvPr id="28" name="TextBox 27"/>
          <p:cNvSpPr txBox="1"/>
          <p:nvPr/>
        </p:nvSpPr>
        <p:spPr>
          <a:xfrm>
            <a:off x="6163056"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Sahayta Trust</a:t>
            </a:r>
          </a:p>
        </p:txBody>
      </p:sp>
      <p:pic>
        <p:nvPicPr>
          <p:cNvPr id="29" name="Picture 28" descr="x_ratnam.png"/>
          <p:cNvPicPr>
            <a:picLocks noChangeAspect="1"/>
          </p:cNvPicPr>
          <p:nvPr/>
        </p:nvPicPr>
        <p:blipFill>
          <a:blip r:embed="rId7"/>
          <a:stretch>
            <a:fillRect/>
          </a:stretch>
        </p:blipFill>
        <p:spPr>
          <a:xfrm>
            <a:off x="8613648" y="2999232"/>
            <a:ext cx="640080" cy="640080"/>
          </a:xfrm>
          <a:prstGeom prst="rect">
            <a:avLst/>
          </a:prstGeom>
        </p:spPr>
      </p:pic>
      <p:sp>
        <p:nvSpPr>
          <p:cNvPr id="30" name="TextBox 29"/>
          <p:cNvSpPr txBox="1"/>
          <p:nvPr/>
        </p:nvSpPr>
        <p:spPr>
          <a:xfrm>
            <a:off x="8028432"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 Venkat Ratnam</a:t>
            </a:r>
          </a:p>
        </p:txBody>
      </p:sp>
      <p:sp>
        <p:nvSpPr>
          <p:cNvPr id="31" name="TextBox 30"/>
          <p:cNvSpPr txBox="1"/>
          <p:nvPr/>
        </p:nvSpPr>
        <p:spPr>
          <a:xfrm>
            <a:off x="8028432"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Government of Punjab</a:t>
            </a:r>
          </a:p>
        </p:txBody>
      </p:sp>
      <p:pic>
        <p:nvPicPr>
          <p:cNvPr id="32" name="Picture 31" descr="x_asrivastava.png"/>
          <p:cNvPicPr>
            <a:picLocks noChangeAspect="1"/>
          </p:cNvPicPr>
          <p:nvPr/>
        </p:nvPicPr>
        <p:blipFill>
          <a:blip r:embed="rId8"/>
          <a:stretch>
            <a:fillRect/>
          </a:stretch>
        </p:blipFill>
        <p:spPr>
          <a:xfrm>
            <a:off x="10479024" y="2999232"/>
            <a:ext cx="640080" cy="640080"/>
          </a:xfrm>
          <a:prstGeom prst="rect">
            <a:avLst/>
          </a:prstGeom>
        </p:spPr>
      </p:pic>
      <p:sp>
        <p:nvSpPr>
          <p:cNvPr id="33" name="TextBox 32"/>
          <p:cNvSpPr txBox="1"/>
          <p:nvPr/>
        </p:nvSpPr>
        <p:spPr>
          <a:xfrm>
            <a:off x="9893808"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Akhilesh Srivastava</a:t>
            </a:r>
          </a:p>
        </p:txBody>
      </p:sp>
      <p:sp>
        <p:nvSpPr>
          <p:cNvPr id="34" name="TextBox 33"/>
          <p:cNvSpPr txBox="1"/>
          <p:nvPr/>
        </p:nvSpPr>
        <p:spPr>
          <a:xfrm>
            <a:off x="9893808"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ITS India · IRF</a:t>
            </a:r>
          </a:p>
        </p:txBody>
      </p:sp>
      <p:pic>
        <p:nvPicPr>
          <p:cNvPr id="35" name="Picture 34" descr="x_gsingh.png"/>
          <p:cNvPicPr>
            <a:picLocks noChangeAspect="1"/>
          </p:cNvPicPr>
          <p:nvPr/>
        </p:nvPicPr>
        <p:blipFill>
          <a:blip r:embed="rId9"/>
          <a:stretch>
            <a:fillRect/>
          </a:stretch>
        </p:blipFill>
        <p:spPr>
          <a:xfrm>
            <a:off x="1152144" y="4206240"/>
            <a:ext cx="640080" cy="640080"/>
          </a:xfrm>
          <a:prstGeom prst="rect">
            <a:avLst/>
          </a:prstGeom>
        </p:spPr>
      </p:pic>
      <p:sp>
        <p:nvSpPr>
          <p:cNvPr id="36" name="TextBox 35"/>
          <p:cNvSpPr txBox="1"/>
          <p:nvPr/>
        </p:nvSpPr>
        <p:spPr>
          <a:xfrm>
            <a:off x="566928"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Gautam Singh</a:t>
            </a:r>
          </a:p>
        </p:txBody>
      </p:sp>
      <p:sp>
        <p:nvSpPr>
          <p:cNvPr id="37" name="TextBox 36"/>
          <p:cNvSpPr txBox="1"/>
          <p:nvPr/>
        </p:nvSpPr>
        <p:spPr>
          <a:xfrm>
            <a:off x="566928"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SaveLIFE Foundation</a:t>
            </a:r>
          </a:p>
        </p:txBody>
      </p:sp>
      <p:pic>
        <p:nvPicPr>
          <p:cNvPr id="38" name="Picture 37" descr="x_raman.png"/>
          <p:cNvPicPr>
            <a:picLocks noChangeAspect="1"/>
          </p:cNvPicPr>
          <p:nvPr/>
        </p:nvPicPr>
        <p:blipFill>
          <a:blip r:embed="rId10"/>
          <a:stretch>
            <a:fillRect/>
          </a:stretch>
        </p:blipFill>
        <p:spPr>
          <a:xfrm>
            <a:off x="3017520" y="4206240"/>
            <a:ext cx="640080" cy="640080"/>
          </a:xfrm>
          <a:prstGeom prst="rect">
            <a:avLst/>
          </a:prstGeom>
        </p:spPr>
      </p:pic>
      <p:sp>
        <p:nvSpPr>
          <p:cNvPr id="39" name="TextBox 38"/>
          <p:cNvSpPr txBox="1"/>
          <p:nvPr/>
        </p:nvSpPr>
        <p:spPr>
          <a:xfrm>
            <a:off x="2432304"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Aishwarya Raman</a:t>
            </a:r>
          </a:p>
        </p:txBody>
      </p:sp>
      <p:sp>
        <p:nvSpPr>
          <p:cNvPr id="40" name="TextBox 39"/>
          <p:cNvSpPr txBox="1"/>
          <p:nvPr/>
        </p:nvSpPr>
        <p:spPr>
          <a:xfrm>
            <a:off x="2432304"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OMI Foundation</a:t>
            </a:r>
          </a:p>
        </p:txBody>
      </p:sp>
      <p:pic>
        <p:nvPicPr>
          <p:cNvPr id="41" name="Picture 40" descr="x_nkumar.png"/>
          <p:cNvPicPr>
            <a:picLocks noChangeAspect="1"/>
          </p:cNvPicPr>
          <p:nvPr/>
        </p:nvPicPr>
        <p:blipFill>
          <a:blip r:embed="rId11"/>
          <a:stretch>
            <a:fillRect/>
          </a:stretch>
        </p:blipFill>
        <p:spPr>
          <a:xfrm>
            <a:off x="4882896" y="4206240"/>
            <a:ext cx="640080" cy="640080"/>
          </a:xfrm>
          <a:prstGeom prst="rect">
            <a:avLst/>
          </a:prstGeom>
        </p:spPr>
      </p:pic>
      <p:sp>
        <p:nvSpPr>
          <p:cNvPr id="42" name="TextBox 41"/>
          <p:cNvSpPr txBox="1"/>
          <p:nvPr/>
        </p:nvSpPr>
        <p:spPr>
          <a:xfrm>
            <a:off x="4297680"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Neeraj Kumar</a:t>
            </a:r>
          </a:p>
        </p:txBody>
      </p:sp>
      <p:sp>
        <p:nvSpPr>
          <p:cNvPr id="43" name="TextBox 42"/>
          <p:cNvSpPr txBox="1"/>
          <p:nvPr/>
        </p:nvSpPr>
        <p:spPr>
          <a:xfrm>
            <a:off x="4297680"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Tata AIG</a:t>
            </a:r>
          </a:p>
        </p:txBody>
      </p:sp>
      <p:pic>
        <p:nvPicPr>
          <p:cNvPr id="44" name="Picture 43" descr="x_pandey.png"/>
          <p:cNvPicPr>
            <a:picLocks noChangeAspect="1"/>
          </p:cNvPicPr>
          <p:nvPr/>
        </p:nvPicPr>
        <p:blipFill>
          <a:blip r:embed="rId12"/>
          <a:stretch>
            <a:fillRect/>
          </a:stretch>
        </p:blipFill>
        <p:spPr>
          <a:xfrm>
            <a:off x="6748272" y="4206240"/>
            <a:ext cx="640080" cy="640080"/>
          </a:xfrm>
          <a:prstGeom prst="rect">
            <a:avLst/>
          </a:prstGeom>
        </p:spPr>
      </p:pic>
      <p:sp>
        <p:nvSpPr>
          <p:cNvPr id="45" name="TextBox 44"/>
          <p:cNvSpPr txBox="1"/>
          <p:nvPr/>
        </p:nvSpPr>
        <p:spPr>
          <a:xfrm>
            <a:off x="6163056"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R.S. Pandey</a:t>
            </a:r>
          </a:p>
        </p:txBody>
      </p:sp>
      <p:sp>
        <p:nvSpPr>
          <p:cNvPr id="46" name="TextBox 45"/>
          <p:cNvSpPr txBox="1"/>
          <p:nvPr/>
        </p:nvSpPr>
        <p:spPr>
          <a:xfrm>
            <a:off x="6163056"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FICCI Road Safety</a:t>
            </a:r>
          </a:p>
        </p:txBody>
      </p:sp>
      <p:pic>
        <p:nvPicPr>
          <p:cNvPr id="47" name="Picture 46" descr="x_dash.png"/>
          <p:cNvPicPr>
            <a:picLocks noChangeAspect="1"/>
          </p:cNvPicPr>
          <p:nvPr/>
        </p:nvPicPr>
        <p:blipFill>
          <a:blip r:embed="rId13"/>
          <a:stretch>
            <a:fillRect/>
          </a:stretch>
        </p:blipFill>
        <p:spPr>
          <a:xfrm>
            <a:off x="8613648" y="4206240"/>
            <a:ext cx="640080" cy="640080"/>
          </a:xfrm>
          <a:prstGeom prst="rect">
            <a:avLst/>
          </a:prstGeom>
        </p:spPr>
      </p:pic>
      <p:sp>
        <p:nvSpPr>
          <p:cNvPr id="48" name="TextBox 47"/>
          <p:cNvSpPr txBox="1"/>
          <p:nvPr/>
        </p:nvSpPr>
        <p:spPr>
          <a:xfrm>
            <a:off x="8028432"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Dipak K. Dash</a:t>
            </a:r>
          </a:p>
        </p:txBody>
      </p:sp>
      <p:sp>
        <p:nvSpPr>
          <p:cNvPr id="49" name="TextBox 48"/>
          <p:cNvSpPr txBox="1"/>
          <p:nvPr/>
        </p:nvSpPr>
        <p:spPr>
          <a:xfrm>
            <a:off x="8028432"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Times of India</a:t>
            </a:r>
          </a:p>
        </p:txBody>
      </p:sp>
      <p:sp>
        <p:nvSpPr>
          <p:cNvPr id="50" name="Rounded Rectangle 49"/>
          <p:cNvSpPr/>
          <p:nvPr/>
        </p:nvSpPr>
        <p:spPr>
          <a:xfrm>
            <a:off x="566928" y="5559552"/>
            <a:ext cx="11057839" cy="621792"/>
          </a:xfrm>
          <a:prstGeom prst="roundRect">
            <a:avLst>
              <a:gd name="adj" fmla="val 14000"/>
            </a:avLst>
          </a:prstGeom>
          <a:solidFill>
            <a:srgbClr val="F7F7FA"/>
          </a:solidFill>
          <a:ln>
            <a:noFill/>
          </a:ln>
          <a:effectLst/>
        </p:spPr>
        <p:txBody>
          <a:bodyPr rtlCol="0" anchor="ctr"/>
          <a:lstStyle/>
          <a:p>
            <a:pPr algn="ctr"/>
          </a:p>
        </p:txBody>
      </p:sp>
      <p:sp>
        <p:nvSpPr>
          <p:cNvPr id="51" name="TextBox 50"/>
          <p:cNvSpPr txBox="1"/>
          <p:nvPr/>
        </p:nvSpPr>
        <p:spPr>
          <a:xfrm>
            <a:off x="768096" y="5623560"/>
            <a:ext cx="10646359" cy="502920"/>
          </a:xfrm>
          <a:prstGeom prst="rect">
            <a:avLst/>
          </a:prstGeom>
          <a:noFill/>
        </p:spPr>
        <p:txBody>
          <a:bodyPr wrap="square" lIns="0" rIns="0" tIns="0" bIns="0" anchor="t">
            <a:spAutoFit/>
          </a:bodyPr>
          <a:lstStyle/>
          <a:p>
            <a:pPr algn="l">
              <a:lnSpc>
                <a:spcPct val="125000"/>
              </a:lnSpc>
            </a:pPr>
            <a:r>
              <a:rPr sz="900" b="1" i="0">
                <a:solidFill>
                  <a:srgbClr val="16181D"/>
                </a:solidFill>
                <a:latin typeface="Geist"/>
              </a:rPr>
              <a:t>Engaged through the National Road Safety Dialogue Series: </a:t>
            </a:r>
            <a:r>
              <a:rPr sz="900" b="0" i="0">
                <a:solidFill>
                  <a:srgbClr val="6E7180"/>
                </a:solidFill>
                <a:latin typeface="Geist"/>
              </a:rPr>
              <a:t>Balraj Bhanot (ex-Chair, CMVR-TSC) · I.V. Rao (TERI; ex-Maruti Suzuki) · D.P. Saste (CIRT / ex-MoRTH) · Dr. Sushma Sagar (AIIMS Trauma) · Dr. S. Velmurugan (CSIR-CRRI), and jurors from OMI, NIUA, WRI, CII and Tata AIG.</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16 /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WHAT IT IS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Project Rakshak, </a:t>
            </a:r>
            <a:r>
              <a:rPr sz="2250" b="1" i="0">
                <a:solidFill>
                  <a:srgbClr val="4A35FF"/>
                </a:solidFill>
                <a:latin typeface="Montserrat"/>
              </a:rPr>
              <a:t>in one sentence</a:t>
            </a:r>
          </a:p>
        </p:txBody>
      </p:sp>
      <p:sp>
        <p:nvSpPr>
          <p:cNvPr id="7" name="TextBox 6"/>
          <p:cNvSpPr txBox="1"/>
          <p:nvPr/>
        </p:nvSpPr>
        <p:spPr>
          <a:xfrm>
            <a:off x="566928" y="1572768"/>
            <a:ext cx="10972800" cy="777240"/>
          </a:xfrm>
          <a:prstGeom prst="rect">
            <a:avLst/>
          </a:prstGeom>
          <a:noFill/>
        </p:spPr>
        <p:txBody>
          <a:bodyPr wrap="square" lIns="0" rIns="0" tIns="0" bIns="0" anchor="t">
            <a:spAutoFit/>
          </a:bodyPr>
          <a:lstStyle/>
          <a:p>
            <a:pPr algn="l">
              <a:lnSpc>
                <a:spcPct val="135000"/>
              </a:lnSpc>
            </a:pPr>
            <a:r>
              <a:rPr sz="1550" b="0" i="0">
                <a:solidFill>
                  <a:srgbClr val="16181D"/>
                </a:solidFill>
                <a:latin typeface="Montserrat"/>
              </a:rPr>
              <a:t>Trained student teams, guided by senior road-safety experts, audit dangerous road locations, and Crashfree India walks each recommended fix through the road-owning authority until it is built.</a:t>
            </a:r>
          </a:p>
        </p:txBody>
      </p:sp>
      <p:sp>
        <p:nvSpPr>
          <p:cNvPr id="8" name="Rounded Rectangle 7"/>
          <p:cNvSpPr/>
          <p:nvPr/>
        </p:nvSpPr>
        <p:spPr>
          <a:xfrm>
            <a:off x="566928"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guntur_junction.jpg_3.95x1.55_0.40.jpg"/>
          <p:cNvPicPr>
            <a:picLocks noChangeAspect="1"/>
          </p:cNvPicPr>
          <p:nvPr/>
        </p:nvPicPr>
        <p:blipFill>
          <a:blip r:embed="rId2"/>
          <a:stretch>
            <a:fillRect/>
          </a:stretch>
        </p:blipFill>
        <p:spPr>
          <a:xfrm>
            <a:off x="566928" y="2514600"/>
            <a:ext cx="3611880" cy="1417320"/>
          </a:xfrm>
          <a:prstGeom prst="rect">
            <a:avLst/>
          </a:prstGeom>
        </p:spPr>
      </p:pic>
      <p:sp>
        <p:nvSpPr>
          <p:cNvPr id="10" name="Rectangle 9"/>
          <p:cNvSpPr/>
          <p:nvPr/>
        </p:nvSpPr>
        <p:spPr>
          <a:xfrm>
            <a:off x="566928" y="2514600"/>
            <a:ext cx="3611880" cy="1417320"/>
          </a:xfrm>
          <a:prstGeom prst="rect">
            <a:avLst/>
          </a:prstGeom>
          <a:noFill/>
          <a:ln w="12700">
            <a:solidFill>
              <a:srgbClr val="E8E9EE"/>
            </a:solidFill>
          </a:ln>
          <a:effectLst/>
        </p:spPr>
        <p:txBody>
          <a:bodyPr rtlCol="0" anchor="ctr"/>
          <a:lstStyle/>
          <a:p>
            <a:pPr algn="ctr"/>
          </a:p>
        </p:txBody>
      </p:sp>
      <p:sp>
        <p:nvSpPr>
          <p:cNvPr id="11" name="Oval 10"/>
          <p:cNvSpPr/>
          <p:nvPr/>
        </p:nvSpPr>
        <p:spPr>
          <a:xfrm>
            <a:off x="704088" y="4069080"/>
            <a:ext cx="384048" cy="384048"/>
          </a:xfrm>
          <a:prstGeom prst="ellipse">
            <a:avLst/>
          </a:prstGeom>
          <a:solidFill>
            <a:srgbClr val="EFEDFF"/>
          </a:solidFill>
          <a:ln>
            <a:noFill/>
          </a:ln>
          <a:effectLst/>
        </p:spPr>
        <p:txBody>
          <a:bodyPr rtlCol="0" anchor="ctr"/>
          <a:lstStyle/>
          <a:p>
            <a:pPr algn="ctr"/>
          </a:p>
        </p:txBody>
      </p:sp>
      <p:pic>
        <p:nvPicPr>
          <p:cNvPr id="12" name="Picture 11" descr="clipboard-list_4A35FF_256_2.0.png"/>
          <p:cNvPicPr>
            <a:picLocks noChangeAspect="1"/>
          </p:cNvPicPr>
          <p:nvPr/>
        </p:nvPicPr>
        <p:blipFill>
          <a:blip r:embed="rId3"/>
          <a:stretch>
            <a:fillRect/>
          </a:stretch>
        </p:blipFill>
        <p:spPr>
          <a:xfrm>
            <a:off x="796259" y="4161251"/>
            <a:ext cx="199704" cy="199704"/>
          </a:xfrm>
          <a:prstGeom prst="rect">
            <a:avLst/>
          </a:prstGeom>
        </p:spPr>
      </p:pic>
      <p:sp>
        <p:nvSpPr>
          <p:cNvPr id="13" name="TextBox 12"/>
          <p:cNvSpPr txBox="1"/>
          <p:nvPr/>
        </p:nvSpPr>
        <p:spPr>
          <a:xfrm>
            <a:off x="1207008"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Students audit</a:t>
            </a:r>
          </a:p>
        </p:txBody>
      </p:sp>
      <p:sp>
        <p:nvSpPr>
          <p:cNvPr id="14" name="TextBox 13"/>
          <p:cNvSpPr txBox="1"/>
          <p:nvPr/>
        </p:nvSpPr>
        <p:spPr>
          <a:xfrm>
            <a:off x="704088"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Teams from IITs, NITs and SPAs collect data on-site: traffic, conflicts, 900+ stakeholder surveys.</a:t>
            </a:r>
          </a:p>
        </p:txBody>
      </p:sp>
      <p:sp>
        <p:nvSpPr>
          <p:cNvPr id="15" name="Rounded Rectangle 14"/>
          <p:cNvSpPr/>
          <p:nvPr/>
        </p:nvSpPr>
        <p:spPr>
          <a:xfrm>
            <a:off x="4288536"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6" name="Picture 15" descr="ph_jury_room.jpg_3.95x1.55_0.35.jpg"/>
          <p:cNvPicPr>
            <a:picLocks noChangeAspect="1"/>
          </p:cNvPicPr>
          <p:nvPr/>
        </p:nvPicPr>
        <p:blipFill>
          <a:blip r:embed="rId4"/>
          <a:stretch>
            <a:fillRect/>
          </a:stretch>
        </p:blipFill>
        <p:spPr>
          <a:xfrm>
            <a:off x="4288536" y="2514600"/>
            <a:ext cx="3611880" cy="1417320"/>
          </a:xfrm>
          <a:prstGeom prst="rect">
            <a:avLst/>
          </a:prstGeom>
        </p:spPr>
      </p:pic>
      <p:sp>
        <p:nvSpPr>
          <p:cNvPr id="17" name="Rectangle 16"/>
          <p:cNvSpPr/>
          <p:nvPr/>
        </p:nvSpPr>
        <p:spPr>
          <a:xfrm>
            <a:off x="4288536" y="2514600"/>
            <a:ext cx="3611880" cy="1417320"/>
          </a:xfrm>
          <a:prstGeom prst="rect">
            <a:avLst/>
          </a:prstGeom>
          <a:noFill/>
          <a:ln w="12700">
            <a:solidFill>
              <a:srgbClr val="E8E9EE"/>
            </a:solidFill>
          </a:ln>
          <a:effectLst/>
        </p:spPr>
        <p:txBody>
          <a:bodyPr rtlCol="0" anchor="ctr"/>
          <a:lstStyle/>
          <a:p>
            <a:pPr algn="ctr"/>
          </a:p>
        </p:txBody>
      </p:sp>
      <p:sp>
        <p:nvSpPr>
          <p:cNvPr id="18" name="Oval 17"/>
          <p:cNvSpPr/>
          <p:nvPr/>
        </p:nvSpPr>
        <p:spPr>
          <a:xfrm>
            <a:off x="4425696" y="4069080"/>
            <a:ext cx="384048" cy="384048"/>
          </a:xfrm>
          <a:prstGeom prst="ellipse">
            <a:avLst/>
          </a:prstGeom>
          <a:solidFill>
            <a:srgbClr val="EFEDFF"/>
          </a:solidFill>
          <a:ln>
            <a:noFill/>
          </a:ln>
          <a:effectLst/>
        </p:spPr>
        <p:txBody>
          <a:bodyPr rtlCol="0" anchor="ctr"/>
          <a:lstStyle/>
          <a:p>
            <a:pPr algn="ctr"/>
          </a:p>
        </p:txBody>
      </p:sp>
      <p:pic>
        <p:nvPicPr>
          <p:cNvPr id="19" name="Picture 18" descr="badge-check_4A35FF_256_2.0.png"/>
          <p:cNvPicPr>
            <a:picLocks noChangeAspect="1"/>
          </p:cNvPicPr>
          <p:nvPr/>
        </p:nvPicPr>
        <p:blipFill>
          <a:blip r:embed="rId5"/>
          <a:stretch>
            <a:fillRect/>
          </a:stretch>
        </p:blipFill>
        <p:spPr>
          <a:xfrm>
            <a:off x="4517867" y="4161251"/>
            <a:ext cx="199704" cy="199704"/>
          </a:xfrm>
          <a:prstGeom prst="rect">
            <a:avLst/>
          </a:prstGeom>
        </p:spPr>
      </p:pic>
      <p:sp>
        <p:nvSpPr>
          <p:cNvPr id="20" name="TextBox 19"/>
          <p:cNvSpPr txBox="1"/>
          <p:nvPr/>
        </p:nvSpPr>
        <p:spPr>
          <a:xfrm>
            <a:off x="4928616"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Experts verify</a:t>
            </a:r>
          </a:p>
        </p:txBody>
      </p:sp>
      <p:sp>
        <p:nvSpPr>
          <p:cNvPr id="21" name="TextBox 20"/>
          <p:cNvSpPr txBox="1"/>
          <p:nvPr/>
        </p:nvSpPr>
        <p:spPr>
          <a:xfrm>
            <a:off x="4425696"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anchor every audit to IRC codes and MoRTH checklists before anything is proposed.</a:t>
            </a:r>
          </a:p>
        </p:txBody>
      </p:sp>
      <p:sp>
        <p:nvSpPr>
          <p:cNvPr id="22" name="Rounded Rectangle 21"/>
          <p:cNvSpPr/>
          <p:nvPr/>
        </p:nvSpPr>
        <p:spPr>
          <a:xfrm>
            <a:off x="8010144"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3" name="Picture 22" descr="implementation_work.jpg_3.95x1.55_0.30.jpg"/>
          <p:cNvPicPr>
            <a:picLocks noChangeAspect="1"/>
          </p:cNvPicPr>
          <p:nvPr/>
        </p:nvPicPr>
        <p:blipFill>
          <a:blip r:embed="rId6"/>
          <a:stretch>
            <a:fillRect/>
          </a:stretch>
        </p:blipFill>
        <p:spPr>
          <a:xfrm>
            <a:off x="8010144" y="2514600"/>
            <a:ext cx="3611880" cy="1417320"/>
          </a:xfrm>
          <a:prstGeom prst="rect">
            <a:avLst/>
          </a:prstGeom>
        </p:spPr>
      </p:pic>
      <p:sp>
        <p:nvSpPr>
          <p:cNvPr id="24" name="Rectangle 23"/>
          <p:cNvSpPr/>
          <p:nvPr/>
        </p:nvSpPr>
        <p:spPr>
          <a:xfrm>
            <a:off x="8010144" y="2514600"/>
            <a:ext cx="3611880" cy="1417320"/>
          </a:xfrm>
          <a:prstGeom prst="rect">
            <a:avLst/>
          </a:prstGeom>
          <a:noFill/>
          <a:ln w="12700">
            <a:solidFill>
              <a:srgbClr val="E8E9EE"/>
            </a:solidFill>
          </a:ln>
          <a:effectLst/>
        </p:spPr>
        <p:txBody>
          <a:bodyPr rtlCol="0" anchor="ctr"/>
          <a:lstStyle/>
          <a:p>
            <a:pPr algn="ctr"/>
          </a:p>
        </p:txBody>
      </p:sp>
      <p:sp>
        <p:nvSpPr>
          <p:cNvPr id="25" name="Oval 24"/>
          <p:cNvSpPr/>
          <p:nvPr/>
        </p:nvSpPr>
        <p:spPr>
          <a:xfrm>
            <a:off x="8147304" y="4069080"/>
            <a:ext cx="384048" cy="384048"/>
          </a:xfrm>
          <a:prstGeom prst="ellipse">
            <a:avLst/>
          </a:prstGeom>
          <a:solidFill>
            <a:srgbClr val="EFEDFF"/>
          </a:solidFill>
          <a:ln>
            <a:noFill/>
          </a:ln>
          <a:effectLst/>
        </p:spPr>
        <p:txBody>
          <a:bodyPr rtlCol="0" anchor="ctr"/>
          <a:lstStyle/>
          <a:p>
            <a:pPr algn="ctr"/>
          </a:p>
        </p:txBody>
      </p:sp>
      <p:pic>
        <p:nvPicPr>
          <p:cNvPr id="26" name="Picture 25" descr="hard-hat_4A35FF_256_2.0.png"/>
          <p:cNvPicPr>
            <a:picLocks noChangeAspect="1"/>
          </p:cNvPicPr>
          <p:nvPr/>
        </p:nvPicPr>
        <p:blipFill>
          <a:blip r:embed="rId7"/>
          <a:stretch>
            <a:fillRect/>
          </a:stretch>
        </p:blipFill>
        <p:spPr>
          <a:xfrm>
            <a:off x="8239475" y="4161251"/>
            <a:ext cx="199704" cy="199704"/>
          </a:xfrm>
          <a:prstGeom prst="rect">
            <a:avLst/>
          </a:prstGeom>
        </p:spPr>
      </p:pic>
      <p:sp>
        <p:nvSpPr>
          <p:cNvPr id="27" name="TextBox 26"/>
          <p:cNvSpPr txBox="1"/>
          <p:nvPr/>
        </p:nvSpPr>
        <p:spPr>
          <a:xfrm>
            <a:off x="8650224"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Authorities build</a:t>
            </a:r>
          </a:p>
        </p:txBody>
      </p:sp>
      <p:sp>
        <p:nvSpPr>
          <p:cNvPr id="28" name="TextBox 27"/>
          <p:cNvSpPr txBox="1"/>
          <p:nvPr/>
        </p:nvSpPr>
        <p:spPr>
          <a:xfrm>
            <a:off x="8147304"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fix goes to the PWD, corporation or NHAI in its own format, and we track it to completion.</a:t>
            </a:r>
          </a:p>
        </p:txBody>
      </p:sp>
      <p:sp>
        <p:nvSpPr>
          <p:cNvPr id="29" name="TextBox 28"/>
          <p:cNvSpPr txBox="1"/>
          <p:nvPr/>
        </p:nvSpPr>
        <p:spPr>
          <a:xfrm>
            <a:off x="566928" y="5760720"/>
            <a:ext cx="11057839" cy="320040"/>
          </a:xfrm>
          <a:prstGeom prst="rect">
            <a:avLst/>
          </a:prstGeom>
          <a:noFill/>
        </p:spPr>
        <p:txBody>
          <a:bodyPr wrap="square" lIns="0" rIns="0" tIns="0" bIns="0" anchor="t">
            <a:spAutoFit/>
          </a:bodyPr>
          <a:lstStyle/>
          <a:p>
            <a:pPr algn="l">
              <a:lnSpc>
                <a:spcPct val="120000"/>
              </a:lnSpc>
            </a:pPr>
            <a:r>
              <a:rPr sz="1000" b="1" i="0">
                <a:solidFill>
                  <a:srgbClr val="16181D"/>
                </a:solidFill>
                <a:latin typeface="Geist"/>
              </a:rPr>
              <a:t>Four phases each cohort: </a:t>
            </a:r>
            <a:r>
              <a:rPr sz="1000" b="0" i="0">
                <a:solidFill>
                  <a:srgbClr val="6E7180"/>
                </a:solidFill>
                <a:latin typeface="Geist"/>
              </a:rPr>
              <a:t>Research &amp; problem identification  →  Stakeholder engagement &amp; audits  →  Analysis &amp; costed solutions  →  Reporting &amp; authority engagement</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17 /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WHY IT MATTERS TO WG-2</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Identification has outpaced rectification, </a:t>
            </a:r>
            <a:r>
              <a:rPr sz="2250" b="1" i="0">
                <a:solidFill>
                  <a:srgbClr val="4A35FF"/>
                </a:solidFill>
                <a:latin typeface="Montserrat"/>
              </a:rPr>
              <a:t>capacity is the constraint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knowledge exists; the pipeline that turns identified risk into completed engineering needs more trained hands.</a:t>
            </a:r>
          </a:p>
        </p:txBody>
      </p:sp>
      <p:sp>
        <p:nvSpPr>
          <p:cNvPr id="8" name="Rounded Rectangle 7"/>
          <p:cNvSpPr/>
          <p:nvPr/>
        </p:nvSpPr>
        <p:spPr>
          <a:xfrm>
            <a:off x="56692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9" name="TextBox 8"/>
          <p:cNvSpPr txBox="1"/>
          <p:nvPr/>
        </p:nvSpPr>
        <p:spPr>
          <a:xfrm>
            <a:off x="694944" y="2194560"/>
            <a:ext cx="2852928" cy="502920"/>
          </a:xfrm>
          <a:prstGeom prst="rect">
            <a:avLst/>
          </a:prstGeom>
          <a:noFill/>
        </p:spPr>
        <p:txBody>
          <a:bodyPr wrap="square" lIns="0" rIns="0" tIns="0" bIns="0" anchor="t">
            <a:spAutoFit/>
          </a:bodyPr>
          <a:lstStyle/>
          <a:p>
            <a:pPr algn="l">
              <a:lnSpc>
                <a:spcPct val="100000"/>
              </a:lnSpc>
            </a:pPr>
            <a:r>
              <a:rPr sz="3000" b="1" i="0">
                <a:solidFill>
                  <a:srgbClr val="4A35FF"/>
                </a:solidFill>
                <a:latin typeface="Montserrat"/>
              </a:rPr>
              <a:t>13,795</a:t>
            </a:r>
          </a:p>
        </p:txBody>
      </p:sp>
      <p:sp>
        <p:nvSpPr>
          <p:cNvPr id="10" name="TextBox 9"/>
          <p:cNvSpPr txBox="1"/>
          <p:nvPr/>
        </p:nvSpPr>
        <p:spPr>
          <a:xfrm>
            <a:off x="69494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black spots identified nationally (MoRTH)</a:t>
            </a:r>
          </a:p>
        </p:txBody>
      </p:sp>
      <p:sp>
        <p:nvSpPr>
          <p:cNvPr id="11" name="Rounded Rectangle 10"/>
          <p:cNvSpPr/>
          <p:nvPr/>
        </p:nvSpPr>
        <p:spPr>
          <a:xfrm>
            <a:off x="381304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12" name="TextBox 11"/>
          <p:cNvSpPr txBox="1"/>
          <p:nvPr/>
        </p:nvSpPr>
        <p:spPr>
          <a:xfrm>
            <a:off x="3941064" y="2194560"/>
            <a:ext cx="2852928" cy="502920"/>
          </a:xfrm>
          <a:prstGeom prst="rect">
            <a:avLst/>
          </a:prstGeom>
          <a:noFill/>
        </p:spPr>
        <p:txBody>
          <a:bodyPr wrap="square" lIns="0" rIns="0" tIns="0" bIns="0" anchor="t">
            <a:spAutoFit/>
          </a:bodyPr>
          <a:lstStyle/>
          <a:p>
            <a:pPr algn="l">
              <a:lnSpc>
                <a:spcPct val="100000"/>
              </a:lnSpc>
            </a:pPr>
            <a:r>
              <a:rPr sz="3000" b="1" i="0">
                <a:solidFill>
                  <a:srgbClr val="4A35FF"/>
                </a:solidFill>
                <a:latin typeface="Montserrat"/>
              </a:rPr>
              <a:t>5,036</a:t>
            </a:r>
          </a:p>
        </p:txBody>
      </p:sp>
      <p:sp>
        <p:nvSpPr>
          <p:cNvPr id="13" name="TextBox 12"/>
          <p:cNvSpPr txBox="1"/>
          <p:nvPr/>
        </p:nvSpPr>
        <p:spPr>
          <a:xfrm>
            <a:off x="394106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permanently rectified so far (Parliamentary Standing Committee, 2024)</a:t>
            </a:r>
          </a:p>
        </p:txBody>
      </p:sp>
      <p:sp>
        <p:nvSpPr>
          <p:cNvPr id="14" name="Rounded Rectangle 13"/>
          <p:cNvSpPr/>
          <p:nvPr/>
        </p:nvSpPr>
        <p:spPr>
          <a:xfrm>
            <a:off x="705916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15" name="TextBox 14"/>
          <p:cNvSpPr txBox="1"/>
          <p:nvPr/>
        </p:nvSpPr>
        <p:spPr>
          <a:xfrm>
            <a:off x="7187184" y="2194560"/>
            <a:ext cx="2852928" cy="502920"/>
          </a:xfrm>
          <a:prstGeom prst="rect">
            <a:avLst/>
          </a:prstGeom>
          <a:noFill/>
        </p:spPr>
        <p:txBody>
          <a:bodyPr wrap="square" lIns="0" rIns="0" tIns="0" bIns="0" anchor="t">
            <a:spAutoFit/>
          </a:bodyPr>
          <a:lstStyle/>
          <a:p>
            <a:pPr algn="l">
              <a:lnSpc>
                <a:spcPct val="100000"/>
              </a:lnSpc>
            </a:pPr>
            <a:r>
              <a:rPr sz="3000" b="1" i="0">
                <a:solidFill>
                  <a:srgbClr val="E58900"/>
                </a:solidFill>
                <a:latin typeface="Montserrat"/>
              </a:rPr>
              <a:t>44</a:t>
            </a:r>
          </a:p>
        </p:txBody>
      </p:sp>
      <p:sp>
        <p:nvSpPr>
          <p:cNvPr id="16" name="TextBox 15"/>
          <p:cNvSpPr txBox="1"/>
          <p:nvPr/>
        </p:nvSpPr>
        <p:spPr>
          <a:xfrm>
            <a:off x="718718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certified Road Safety Auditors on the national registry (July 2026)</a:t>
            </a:r>
          </a:p>
        </p:txBody>
      </p:sp>
      <p:sp>
        <p:nvSpPr>
          <p:cNvPr id="17" name="TextBox 16"/>
          <p:cNvSpPr txBox="1"/>
          <p:nvPr/>
        </p:nvSpPr>
        <p:spPr>
          <a:xfrm>
            <a:off x="566928" y="3611880"/>
            <a:ext cx="6675120" cy="1188720"/>
          </a:xfrm>
          <a:prstGeom prst="rect">
            <a:avLst/>
          </a:prstGeom>
          <a:noFill/>
        </p:spPr>
        <p:txBody>
          <a:bodyPr wrap="square" lIns="0" rIns="0" tIns="0" bIns="0" anchor="t">
            <a:spAutoFit/>
          </a:bodyPr>
          <a:lstStyle/>
          <a:p>
            <a:pPr algn="l">
              <a:lnSpc>
                <a:spcPct val="140000"/>
              </a:lnSpc>
            </a:pPr>
            <a:r>
              <a:rPr sz="1100" b="0" i="0">
                <a:solidFill>
                  <a:srgbClr val="16181D"/>
                </a:solidFill>
                <a:latin typeface="Geist"/>
              </a:rPr>
              <a:t>Low-cost engineering measures, raised crossings, traffic calming, lighting, safer intersections, reduce crashes by 20–80% where applied (iRAP &amp; PIARC evidence). What limits progress is steady, supervised auditing capacity and follow-up, working under the road-owning authority.</a:t>
            </a:r>
          </a:p>
        </p:txBody>
      </p:sp>
      <p:sp>
        <p:nvSpPr>
          <p:cNvPr id="18" name="Rounded Rectangle 17"/>
          <p:cNvSpPr/>
          <p:nvPr/>
        </p:nvSpPr>
        <p:spPr>
          <a:xfrm>
            <a:off x="566928" y="5029200"/>
            <a:ext cx="6675120" cy="868680"/>
          </a:xfrm>
          <a:prstGeom prst="roundRect">
            <a:avLst>
              <a:gd name="adj" fmla="val 12000"/>
            </a:avLst>
          </a:prstGeom>
          <a:solidFill>
            <a:srgbClr val="EFEDFF"/>
          </a:solidFill>
          <a:ln>
            <a:noFill/>
          </a:ln>
          <a:effectLst/>
        </p:spPr>
        <p:txBody>
          <a:bodyPr rtlCol="0" anchor="ctr"/>
          <a:lstStyle/>
          <a:p>
            <a:pPr algn="ctr"/>
          </a:p>
        </p:txBody>
      </p:sp>
      <p:sp>
        <p:nvSpPr>
          <p:cNvPr id="19" name="TextBox 18"/>
          <p:cNvSpPr txBox="1"/>
          <p:nvPr/>
        </p:nvSpPr>
        <p:spPr>
          <a:xfrm>
            <a:off x="768096" y="5138928"/>
            <a:ext cx="6309360" cy="685800"/>
          </a:xfrm>
          <a:prstGeom prst="rect">
            <a:avLst/>
          </a:prstGeom>
          <a:noFill/>
        </p:spPr>
        <p:txBody>
          <a:bodyPr wrap="square" lIns="0" rIns="0" tIns="0" bIns="0" anchor="t">
            <a:spAutoFit/>
          </a:bodyPr>
          <a:lstStyle/>
          <a:p>
            <a:pPr algn="l">
              <a:lnSpc>
                <a:spcPct val="130000"/>
              </a:lnSpc>
            </a:pPr>
            <a:r>
              <a:rPr sz="1050" b="1" i="0">
                <a:solidFill>
                  <a:srgbClr val="4A35FF"/>
                </a:solidFill>
                <a:latin typeface="Geist"/>
              </a:rPr>
              <a:t>Project Rakshak was designed for precisely this constraint: </a:t>
            </a:r>
            <a:r>
              <a:rPr sz="1050" b="0" i="0">
                <a:solidFill>
                  <a:srgbClr val="4A35FF"/>
                </a:solidFill>
                <a:latin typeface="Geist"/>
              </a:rPr>
              <a:t>trained auditing capacity that supports road-owning agencies, and tracks every fix to completion.</a:t>
            </a:r>
          </a:p>
        </p:txBody>
      </p:sp>
      <p:pic>
        <p:nvPicPr>
          <p:cNvPr id="20" name="Picture 19" descr="iv_guntur_drainage.png_4.35x2.50_0.40.jpg"/>
          <p:cNvPicPr>
            <a:picLocks noChangeAspect="1"/>
          </p:cNvPicPr>
          <p:nvPr/>
        </p:nvPicPr>
        <p:blipFill>
          <a:blip r:embed="rId2"/>
          <a:stretch>
            <a:fillRect/>
          </a:stretch>
        </p:blipFill>
        <p:spPr>
          <a:xfrm>
            <a:off x="7635240" y="3611880"/>
            <a:ext cx="3977639" cy="2286000"/>
          </a:xfrm>
          <a:prstGeom prst="rect">
            <a:avLst/>
          </a:prstGeom>
        </p:spPr>
      </p:pic>
      <p:sp>
        <p:nvSpPr>
          <p:cNvPr id="21" name="Rectangle 20"/>
          <p:cNvSpPr/>
          <p:nvPr/>
        </p:nvSpPr>
        <p:spPr>
          <a:xfrm>
            <a:off x="7635240" y="3611880"/>
            <a:ext cx="3977639" cy="2286000"/>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7635240" y="594360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Guntur, Andhra Pradesh, drainage correction underway after audit.</a:t>
            </a:r>
          </a:p>
        </p:txBody>
      </p:sp>
      <p:cxnSp>
        <p:nvCxnSpPr>
          <p:cNvPr id="23" name="Connector 22"/>
          <p:cNvCxnSpPr/>
          <p:nvPr/>
        </p:nvCxnSpPr>
        <p:spPr>
          <a:xfrm>
            <a:off x="566928" y="6455664"/>
            <a:ext cx="11057839" cy="0"/>
          </a:xfrm>
          <a:prstGeom prst="line">
            <a:avLst/>
          </a:prstGeom>
          <a:ln w="9525">
            <a:solidFill>
              <a:srgbClr val="E8E9EE"/>
            </a:solidFill>
          </a:ln>
          <a:effectLst/>
        </p:spPr>
      </p:cxnSp>
      <p:sp>
        <p:nvSpPr>
          <p:cNvPr id="24" name="TextBox 2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5" name="TextBox 2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18 /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YEAR ONE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Cohort 1: a </a:t>
            </a:r>
            <a:r>
              <a:rPr sz="2250" b="1" i="0">
                <a:solidFill>
                  <a:srgbClr val="4A35FF"/>
                </a:solidFill>
                <a:latin typeface="Montserrat"/>
              </a:rPr>
              <a:t>national footprint</a:t>
            </a:r>
            <a:r>
              <a:rPr sz="2250" b="1" i="0">
                <a:solidFill>
                  <a:srgbClr val="16181D"/>
                </a:solidFill>
                <a:latin typeface="Montserrat"/>
              </a:rPr>
              <a:t>, now delivering</a:t>
            </a:r>
          </a:p>
        </p:txBody>
      </p:sp>
      <p:sp>
        <p:nvSpPr>
          <p:cNvPr id="7" name="Rounded Rectangle 6"/>
          <p:cNvSpPr/>
          <p:nvPr/>
        </p:nvSpPr>
        <p:spPr>
          <a:xfrm>
            <a:off x="56692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8" name="TextBox 7"/>
          <p:cNvSpPr txBox="1"/>
          <p:nvPr/>
        </p:nvSpPr>
        <p:spPr>
          <a:xfrm>
            <a:off x="69494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120+</a:t>
            </a:r>
          </a:p>
        </p:txBody>
      </p:sp>
      <p:sp>
        <p:nvSpPr>
          <p:cNvPr id="9" name="TextBox 8"/>
          <p:cNvSpPr txBox="1"/>
          <p:nvPr/>
        </p:nvSpPr>
        <p:spPr>
          <a:xfrm>
            <a:off x="69494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locations screened</a:t>
            </a:r>
          </a:p>
        </p:txBody>
      </p:sp>
      <p:sp>
        <p:nvSpPr>
          <p:cNvPr id="10" name="TextBox 9"/>
          <p:cNvSpPr txBox="1"/>
          <p:nvPr/>
        </p:nvSpPr>
        <p:spPr>
          <a:xfrm>
            <a:off x="233172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1" name="Rounded Rectangle 10"/>
          <p:cNvSpPr/>
          <p:nvPr/>
        </p:nvSpPr>
        <p:spPr>
          <a:xfrm>
            <a:off x="248716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12" name="TextBox 11"/>
          <p:cNvSpPr txBox="1"/>
          <p:nvPr/>
        </p:nvSpPr>
        <p:spPr>
          <a:xfrm>
            <a:off x="261518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31</a:t>
            </a:r>
          </a:p>
        </p:txBody>
      </p:sp>
      <p:sp>
        <p:nvSpPr>
          <p:cNvPr id="13" name="TextBox 12"/>
          <p:cNvSpPr txBox="1"/>
          <p:nvPr/>
        </p:nvSpPr>
        <p:spPr>
          <a:xfrm>
            <a:off x="261518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sites audited, 11 official black spots</a:t>
            </a:r>
          </a:p>
        </p:txBody>
      </p:sp>
      <p:sp>
        <p:nvSpPr>
          <p:cNvPr id="14" name="TextBox 13"/>
          <p:cNvSpPr txBox="1"/>
          <p:nvPr/>
        </p:nvSpPr>
        <p:spPr>
          <a:xfrm>
            <a:off x="425196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5" name="Rounded Rectangle 14"/>
          <p:cNvSpPr/>
          <p:nvPr/>
        </p:nvSpPr>
        <p:spPr>
          <a:xfrm>
            <a:off x="440740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16" name="TextBox 15"/>
          <p:cNvSpPr txBox="1"/>
          <p:nvPr/>
        </p:nvSpPr>
        <p:spPr>
          <a:xfrm>
            <a:off x="453542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25+</a:t>
            </a:r>
          </a:p>
        </p:txBody>
      </p:sp>
      <p:sp>
        <p:nvSpPr>
          <p:cNvPr id="17" name="TextBox 16"/>
          <p:cNvSpPr txBox="1"/>
          <p:nvPr/>
        </p:nvSpPr>
        <p:spPr>
          <a:xfrm>
            <a:off x="453542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written authority approvals</a:t>
            </a:r>
          </a:p>
        </p:txBody>
      </p:sp>
      <p:sp>
        <p:nvSpPr>
          <p:cNvPr id="18" name="TextBox 17"/>
          <p:cNvSpPr txBox="1"/>
          <p:nvPr/>
        </p:nvSpPr>
        <p:spPr>
          <a:xfrm>
            <a:off x="617220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9" name="Rounded Rectangle 18"/>
          <p:cNvSpPr/>
          <p:nvPr/>
        </p:nvSpPr>
        <p:spPr>
          <a:xfrm>
            <a:off x="6327648" y="1965960"/>
            <a:ext cx="1783080" cy="1143000"/>
          </a:xfrm>
          <a:prstGeom prst="roundRect">
            <a:avLst>
              <a:gd name="adj" fmla="val 12000"/>
            </a:avLst>
          </a:prstGeom>
          <a:solidFill>
            <a:srgbClr val="4A35FF"/>
          </a:solidFill>
          <a:ln>
            <a:noFill/>
          </a:ln>
          <a:effectLst/>
        </p:spPr>
        <p:txBody>
          <a:bodyPr rtlCol="0" anchor="ctr"/>
          <a:lstStyle/>
          <a:p>
            <a:pPr algn="ctr"/>
          </a:p>
        </p:txBody>
      </p:sp>
      <p:sp>
        <p:nvSpPr>
          <p:cNvPr id="20" name="TextBox 19"/>
          <p:cNvSpPr txBox="1"/>
          <p:nvPr/>
        </p:nvSpPr>
        <p:spPr>
          <a:xfrm>
            <a:off x="6455664" y="2075688"/>
            <a:ext cx="1554480" cy="502920"/>
          </a:xfrm>
          <a:prstGeom prst="rect">
            <a:avLst/>
          </a:prstGeom>
          <a:noFill/>
        </p:spPr>
        <p:txBody>
          <a:bodyPr wrap="square" lIns="0" rIns="0" tIns="0" bIns="0" anchor="t">
            <a:spAutoFit/>
          </a:bodyPr>
          <a:lstStyle/>
          <a:p>
            <a:pPr algn="l">
              <a:lnSpc>
                <a:spcPct val="100000"/>
              </a:lnSpc>
            </a:pPr>
            <a:r>
              <a:rPr sz="2400" b="1" i="0">
                <a:solidFill>
                  <a:srgbClr val="FFFFFF"/>
                </a:solidFill>
                <a:latin typeface="Montserrat"/>
              </a:rPr>
              <a:t>7 + 6</a:t>
            </a:r>
          </a:p>
        </p:txBody>
      </p:sp>
      <p:sp>
        <p:nvSpPr>
          <p:cNvPr id="21" name="TextBox 20"/>
          <p:cNvSpPr txBox="1"/>
          <p:nvPr/>
        </p:nvSpPr>
        <p:spPr>
          <a:xfrm>
            <a:off x="6455664" y="2532888"/>
            <a:ext cx="1554480" cy="502920"/>
          </a:xfrm>
          <a:prstGeom prst="rect">
            <a:avLst/>
          </a:prstGeom>
          <a:noFill/>
        </p:spPr>
        <p:txBody>
          <a:bodyPr wrap="square" lIns="0" rIns="0" tIns="0" bIns="0" anchor="t">
            <a:spAutoFit/>
          </a:bodyPr>
          <a:lstStyle/>
          <a:p>
            <a:pPr algn="l">
              <a:lnSpc>
                <a:spcPct val="110000"/>
              </a:lnSpc>
            </a:pPr>
            <a:r>
              <a:rPr sz="850" b="0" i="0">
                <a:solidFill>
                  <a:srgbClr val="FFFFFF"/>
                </a:solidFill>
                <a:latin typeface="Geist"/>
              </a:rPr>
              <a:t>fully implemented + partially built</a:t>
            </a:r>
          </a:p>
        </p:txBody>
      </p:sp>
      <p:sp>
        <p:nvSpPr>
          <p:cNvPr id="22" name="TextBox 21"/>
          <p:cNvSpPr txBox="1"/>
          <p:nvPr/>
        </p:nvSpPr>
        <p:spPr>
          <a:xfrm>
            <a:off x="566928" y="3310128"/>
            <a:ext cx="7498079" cy="2743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31 student teams · 20 institutions including nine IITs · 900+ stakeholder surveys · guided by 8 mentors and independent evaluators</a:t>
            </a:r>
          </a:p>
        </p:txBody>
      </p:sp>
      <p:sp>
        <p:nvSpPr>
          <p:cNvPr id="23" name="TextBox 22"/>
          <p:cNvSpPr txBox="1"/>
          <p:nvPr/>
        </p:nvSpPr>
        <p:spPr>
          <a:xfrm>
            <a:off x="566928" y="3749039"/>
            <a:ext cx="7498079" cy="685800"/>
          </a:xfrm>
          <a:prstGeom prst="rect">
            <a:avLst/>
          </a:prstGeom>
          <a:noFill/>
        </p:spPr>
        <p:txBody>
          <a:bodyPr wrap="square" lIns="0" rIns="0" tIns="0" bIns="0" anchor="t">
            <a:spAutoFit/>
          </a:bodyPr>
          <a:lstStyle/>
          <a:p>
            <a:pPr algn="l">
              <a:lnSpc>
                <a:spcPct val="135000"/>
              </a:lnSpc>
            </a:pPr>
            <a:r>
              <a:rPr sz="1000" b="0" i="0">
                <a:solidFill>
                  <a:srgbClr val="6E7180"/>
                </a:solidFill>
                <a:latin typeface="Geist"/>
              </a:rPr>
              <a:t>North: Ropar, Dehradun, Roorkee, Delhi, Lucknow, Varanasi · East: Guwahati, Durgapur · West &amp; Central: Indore, Mumbai, Surat · South: Vijayawada, Guntur, Kozhikode, Chennai, among 18 cities.</a:t>
            </a:r>
          </a:p>
        </p:txBody>
      </p:sp>
      <p:sp>
        <p:nvSpPr>
          <p:cNvPr id="24" name="Rounded Rectangle 23"/>
          <p:cNvSpPr/>
          <p:nvPr/>
        </p:nvSpPr>
        <p:spPr>
          <a:xfrm>
            <a:off x="566928" y="4709160"/>
            <a:ext cx="7498079" cy="1188720"/>
          </a:xfrm>
          <a:prstGeom prst="roundRect">
            <a:avLst>
              <a:gd name="adj" fmla="val 10000"/>
            </a:avLst>
          </a:prstGeom>
          <a:solidFill>
            <a:srgbClr val="FDF3E3"/>
          </a:solidFill>
          <a:ln>
            <a:noFill/>
          </a:ln>
          <a:effectLst/>
        </p:spPr>
        <p:txBody>
          <a:bodyPr rtlCol="0" anchor="ctr"/>
          <a:lstStyle/>
          <a:p>
            <a:pPr algn="ctr"/>
          </a:p>
        </p:txBody>
      </p:sp>
      <p:sp>
        <p:nvSpPr>
          <p:cNvPr id="25" name="TextBox 24"/>
          <p:cNvSpPr txBox="1"/>
          <p:nvPr/>
        </p:nvSpPr>
        <p:spPr>
          <a:xfrm>
            <a:off x="768096" y="4846320"/>
            <a:ext cx="7132320" cy="914400"/>
          </a:xfrm>
          <a:prstGeom prst="rect">
            <a:avLst/>
          </a:prstGeom>
          <a:noFill/>
        </p:spPr>
        <p:txBody>
          <a:bodyPr wrap="square" lIns="0" rIns="0" tIns="0" bIns="0" anchor="t">
            <a:spAutoFit/>
          </a:bodyPr>
          <a:lstStyle/>
          <a:p>
            <a:pPr algn="l">
              <a:lnSpc>
                <a:spcPct val="130000"/>
              </a:lnSpc>
            </a:pPr>
            <a:r>
              <a:rPr sz="1050" b="1" i="0">
                <a:solidFill>
                  <a:srgbClr val="E58900"/>
                </a:solidFill>
                <a:latin typeface="Geist"/>
              </a:rPr>
              <a:t>Estimated 20–50% crash reduction at treated sites once complete </a:t>
            </a:r>
            <a:r>
              <a:rPr sz="1050" b="0" i="0">
                <a:solidFill>
                  <a:srgbClr val="E58900"/>
                </a:solidFill>
                <a:latin typeface="Geist"/>
              </a:rPr>
              <a:t>, based on WHO / iRAP evidence for these counter-measures; we will verify with before-and-after data as implementations finish.</a:t>
            </a:r>
          </a:p>
        </p:txBody>
      </p:sp>
      <p:pic>
        <p:nvPicPr>
          <p:cNvPr id="26" name="Picture 25" descr="cfi_map_dots.png"/>
          <p:cNvPicPr>
            <a:picLocks noChangeAspect="1"/>
          </p:cNvPicPr>
          <p:nvPr/>
        </p:nvPicPr>
        <p:blipFill>
          <a:blip r:embed="rId2"/>
          <a:stretch>
            <a:fillRect/>
          </a:stretch>
        </p:blipFill>
        <p:spPr>
          <a:xfrm>
            <a:off x="8321040" y="1920240"/>
            <a:ext cx="3291840" cy="3911357"/>
          </a:xfrm>
          <a:prstGeom prst="rect">
            <a:avLst/>
          </a:prstGeom>
        </p:spPr>
      </p:pic>
      <p:sp>
        <p:nvSpPr>
          <p:cNvPr id="27" name="Rectangle 26"/>
          <p:cNvSpPr/>
          <p:nvPr/>
        </p:nvSpPr>
        <p:spPr>
          <a:xfrm>
            <a:off x="8321040" y="192024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321040" y="587731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Cohort-1 sites across India.</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19 /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THE PAPER TRAIL</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Approvals </a:t>
            </a:r>
            <a:r>
              <a:rPr sz="2250" b="1" i="0">
                <a:solidFill>
                  <a:srgbClr val="4A35FF"/>
                </a:solidFill>
                <a:latin typeface="Montserrat"/>
              </a:rPr>
              <a:t>in writing</a:t>
            </a:r>
            <a:r>
              <a:rPr sz="2250" b="1" i="0">
                <a:solidFill>
                  <a:srgbClr val="16181D"/>
                </a:solidFill>
                <a:latin typeface="Montserrat"/>
              </a:rPr>
              <a:t>, from the authorities that own the roads</a:t>
            </a:r>
          </a:p>
        </p:txBody>
      </p:sp>
      <p:pic>
        <p:nvPicPr>
          <p:cNvPr id="7" name="Picture 6" descr="Crashzero.png_1.92x2.50_0.00.jpg"/>
          <p:cNvPicPr>
            <a:picLocks noChangeAspect="1"/>
          </p:cNvPicPr>
          <p:nvPr/>
        </p:nvPicPr>
        <p:blipFill>
          <a:blip r:embed="rId2"/>
          <a:stretch>
            <a:fillRect/>
          </a:stretch>
        </p:blipFill>
        <p:spPr>
          <a:xfrm>
            <a:off x="566928" y="1828800"/>
            <a:ext cx="1755648" cy="2286000"/>
          </a:xfrm>
          <a:prstGeom prst="rect">
            <a:avLst/>
          </a:prstGeom>
        </p:spPr>
      </p:pic>
      <p:sp>
        <p:nvSpPr>
          <p:cNvPr id="8" name="Rectangle 7"/>
          <p:cNvSpPr/>
          <p:nvPr/>
        </p:nvSpPr>
        <p:spPr>
          <a:xfrm>
            <a:off x="566928" y="1828800"/>
            <a:ext cx="1755648" cy="2286000"/>
          </a:xfrm>
          <a:prstGeom prst="rect">
            <a:avLst/>
          </a:prstGeom>
          <a:noFill/>
          <a:ln w="12700">
            <a:solidFill>
              <a:srgbClr val="E8E9EE"/>
            </a:solidFill>
          </a:ln>
          <a:effectLst/>
        </p:spPr>
        <p:txBody>
          <a:bodyPr rtlCol="0" anchor="ctr"/>
          <a:lstStyle/>
          <a:p>
            <a:pPr algn="ctr"/>
          </a:p>
        </p:txBody>
      </p:sp>
      <p:pic>
        <p:nvPicPr>
          <p:cNvPr id="9" name="Picture 8" descr="Pathrakshak.png_1.92x2.50_0.00.jpg"/>
          <p:cNvPicPr>
            <a:picLocks noChangeAspect="1"/>
          </p:cNvPicPr>
          <p:nvPr/>
        </p:nvPicPr>
        <p:blipFill>
          <a:blip r:embed="rId3"/>
          <a:stretch>
            <a:fillRect/>
          </a:stretch>
        </p:blipFill>
        <p:spPr>
          <a:xfrm>
            <a:off x="2423160" y="1828800"/>
            <a:ext cx="1755648" cy="2286000"/>
          </a:xfrm>
          <a:prstGeom prst="rect">
            <a:avLst/>
          </a:prstGeom>
        </p:spPr>
      </p:pic>
      <p:sp>
        <p:nvSpPr>
          <p:cNvPr id="10" name="Rectangle 9"/>
          <p:cNvSpPr/>
          <p:nvPr/>
        </p:nvSpPr>
        <p:spPr>
          <a:xfrm>
            <a:off x="2423160" y="1828800"/>
            <a:ext cx="1755648" cy="2286000"/>
          </a:xfrm>
          <a:prstGeom prst="rect">
            <a:avLst/>
          </a:prstGeom>
          <a:noFill/>
          <a:ln w="12700">
            <a:solidFill>
              <a:srgbClr val="E8E9EE"/>
            </a:solidFill>
          </a:ln>
          <a:effectLst/>
        </p:spPr>
        <p:txBody>
          <a:bodyPr rtlCol="0" anchor="ctr"/>
          <a:lstStyle/>
          <a:p>
            <a:pPr algn="ctr"/>
          </a:p>
        </p:txBody>
      </p:sp>
      <p:pic>
        <p:nvPicPr>
          <p:cNvPr id="11" name="Picture 10" descr="Safegrid.png_1.92x2.50_0.00.jpg"/>
          <p:cNvPicPr>
            <a:picLocks noChangeAspect="1"/>
          </p:cNvPicPr>
          <p:nvPr/>
        </p:nvPicPr>
        <p:blipFill>
          <a:blip r:embed="rId4"/>
          <a:stretch>
            <a:fillRect/>
          </a:stretch>
        </p:blipFill>
        <p:spPr>
          <a:xfrm>
            <a:off x="4279392" y="1828800"/>
            <a:ext cx="1755648" cy="2286000"/>
          </a:xfrm>
          <a:prstGeom prst="rect">
            <a:avLst/>
          </a:prstGeom>
        </p:spPr>
      </p:pic>
      <p:sp>
        <p:nvSpPr>
          <p:cNvPr id="12" name="Rectangle 11"/>
          <p:cNvSpPr/>
          <p:nvPr/>
        </p:nvSpPr>
        <p:spPr>
          <a:xfrm>
            <a:off x="4279392" y="1828800"/>
            <a:ext cx="1755648" cy="2286000"/>
          </a:xfrm>
          <a:prstGeom prst="rect">
            <a:avLst/>
          </a:prstGeom>
          <a:noFill/>
          <a:ln w="12700">
            <a:solidFill>
              <a:srgbClr val="E8E9EE"/>
            </a:solidFill>
          </a:ln>
          <a:effectLst/>
        </p:spPr>
        <p:txBody>
          <a:bodyPr rtlCol="0" anchor="ctr"/>
          <a:lstStyle/>
          <a:p>
            <a:pPr algn="ctr"/>
          </a:p>
        </p:txBody>
      </p:sp>
      <p:pic>
        <p:nvPicPr>
          <p:cNvPr id="13" name="Picture 12" descr="Sentinels.png_1.92x2.50_0.00.jpg"/>
          <p:cNvPicPr>
            <a:picLocks noChangeAspect="1"/>
          </p:cNvPicPr>
          <p:nvPr/>
        </p:nvPicPr>
        <p:blipFill>
          <a:blip r:embed="rId5"/>
          <a:stretch>
            <a:fillRect/>
          </a:stretch>
        </p:blipFill>
        <p:spPr>
          <a:xfrm>
            <a:off x="6135624" y="1828800"/>
            <a:ext cx="1755648" cy="2286000"/>
          </a:xfrm>
          <a:prstGeom prst="rect">
            <a:avLst/>
          </a:prstGeom>
        </p:spPr>
      </p:pic>
      <p:sp>
        <p:nvSpPr>
          <p:cNvPr id="14" name="Rectangle 13"/>
          <p:cNvSpPr/>
          <p:nvPr/>
        </p:nvSpPr>
        <p:spPr>
          <a:xfrm>
            <a:off x="6135624" y="1828800"/>
            <a:ext cx="1755648" cy="2286000"/>
          </a:xfrm>
          <a:prstGeom prst="rect">
            <a:avLst/>
          </a:prstGeom>
          <a:noFill/>
          <a:ln w="12700">
            <a:solidFill>
              <a:srgbClr val="E8E9EE"/>
            </a:solidFill>
          </a:ln>
          <a:effectLst/>
        </p:spPr>
        <p:txBody>
          <a:bodyPr rtlCol="0" anchor="ctr"/>
          <a:lstStyle/>
          <a:p>
            <a:pPr algn="ctr"/>
          </a:p>
        </p:txBody>
      </p:sp>
      <p:pic>
        <p:nvPicPr>
          <p:cNvPr id="15" name="Picture 14" descr="Vision_Zero_Squad.png_1.92x2.50_0.00.jpg"/>
          <p:cNvPicPr>
            <a:picLocks noChangeAspect="1"/>
          </p:cNvPicPr>
          <p:nvPr/>
        </p:nvPicPr>
        <p:blipFill>
          <a:blip r:embed="rId6"/>
          <a:stretch>
            <a:fillRect/>
          </a:stretch>
        </p:blipFill>
        <p:spPr>
          <a:xfrm>
            <a:off x="7991856" y="1828800"/>
            <a:ext cx="1755648" cy="2286000"/>
          </a:xfrm>
          <a:prstGeom prst="rect">
            <a:avLst/>
          </a:prstGeom>
        </p:spPr>
      </p:pic>
      <p:sp>
        <p:nvSpPr>
          <p:cNvPr id="16" name="Rectangle 15"/>
          <p:cNvSpPr/>
          <p:nvPr/>
        </p:nvSpPr>
        <p:spPr>
          <a:xfrm>
            <a:off x="7991856" y="1828800"/>
            <a:ext cx="1755648" cy="2286000"/>
          </a:xfrm>
          <a:prstGeom prst="rect">
            <a:avLst/>
          </a:prstGeom>
          <a:noFill/>
          <a:ln w="12700">
            <a:solidFill>
              <a:srgbClr val="E8E9EE"/>
            </a:solidFill>
          </a:ln>
          <a:effectLst/>
        </p:spPr>
        <p:txBody>
          <a:bodyPr rtlCol="0" anchor="ctr"/>
          <a:lstStyle/>
          <a:p>
            <a:pPr algn="ctr"/>
          </a:p>
        </p:txBody>
      </p:sp>
      <p:pic>
        <p:nvPicPr>
          <p:cNvPr id="17" name="Picture 16" descr="Visioneers.png_1.92x2.50_0.00.jpg"/>
          <p:cNvPicPr>
            <a:picLocks noChangeAspect="1"/>
          </p:cNvPicPr>
          <p:nvPr/>
        </p:nvPicPr>
        <p:blipFill>
          <a:blip r:embed="rId7"/>
          <a:stretch>
            <a:fillRect/>
          </a:stretch>
        </p:blipFill>
        <p:spPr>
          <a:xfrm>
            <a:off x="9848088" y="1828800"/>
            <a:ext cx="1755648" cy="2286000"/>
          </a:xfrm>
          <a:prstGeom prst="rect">
            <a:avLst/>
          </a:prstGeom>
        </p:spPr>
      </p:pic>
      <p:sp>
        <p:nvSpPr>
          <p:cNvPr id="18" name="Rectangle 17"/>
          <p:cNvSpPr/>
          <p:nvPr/>
        </p:nvSpPr>
        <p:spPr>
          <a:xfrm>
            <a:off x="9848088" y="1828800"/>
            <a:ext cx="1755648" cy="2286000"/>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66928" y="4297680"/>
            <a:ext cx="11057839"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A sample of the 25+ approval and acknowledgement letters issued by public works and district authorities.</a:t>
            </a:r>
          </a:p>
        </p:txBody>
      </p:sp>
      <p:sp>
        <p:nvSpPr>
          <p:cNvPr id="20" name="TextBox 19"/>
          <p:cNvSpPr txBox="1"/>
          <p:nvPr/>
        </p:nvSpPr>
        <p:spPr>
          <a:xfrm>
            <a:off x="566928" y="4681728"/>
            <a:ext cx="301752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APPROVING AUTHORITIES INCLUDE</a:t>
            </a:r>
          </a:p>
        </p:txBody>
      </p:sp>
      <p:sp>
        <p:nvSpPr>
          <p:cNvPr id="21" name="Rounded Rectangle 20"/>
          <p:cNvSpPr/>
          <p:nvPr/>
        </p:nvSpPr>
        <p:spPr>
          <a:xfrm>
            <a:off x="566928"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2" name="TextBox 21"/>
          <p:cNvSpPr txBox="1"/>
          <p:nvPr/>
        </p:nvSpPr>
        <p:spPr>
          <a:xfrm>
            <a:off x="585216"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Kerala</a:t>
            </a:r>
          </a:p>
        </p:txBody>
      </p:sp>
      <p:sp>
        <p:nvSpPr>
          <p:cNvPr id="23" name="Rounded Rectangle 22"/>
          <p:cNvSpPr/>
          <p:nvPr/>
        </p:nvSpPr>
        <p:spPr>
          <a:xfrm>
            <a:off x="2779776"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4" name="TextBox 23"/>
          <p:cNvSpPr txBox="1"/>
          <p:nvPr/>
        </p:nvSpPr>
        <p:spPr>
          <a:xfrm>
            <a:off x="2798064"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Uttar Pradesh</a:t>
            </a:r>
          </a:p>
        </p:txBody>
      </p:sp>
      <p:sp>
        <p:nvSpPr>
          <p:cNvPr id="25" name="Rounded Rectangle 24"/>
          <p:cNvSpPr/>
          <p:nvPr/>
        </p:nvSpPr>
        <p:spPr>
          <a:xfrm>
            <a:off x="4992624"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6" name="TextBox 25"/>
          <p:cNvSpPr txBox="1"/>
          <p:nvPr/>
        </p:nvSpPr>
        <p:spPr>
          <a:xfrm>
            <a:off x="5010912"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Punjab</a:t>
            </a:r>
          </a:p>
        </p:txBody>
      </p:sp>
      <p:sp>
        <p:nvSpPr>
          <p:cNvPr id="27" name="Rounded Rectangle 26"/>
          <p:cNvSpPr/>
          <p:nvPr/>
        </p:nvSpPr>
        <p:spPr>
          <a:xfrm>
            <a:off x="7205472"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8" name="TextBox 27"/>
          <p:cNvSpPr txBox="1"/>
          <p:nvPr/>
        </p:nvSpPr>
        <p:spPr>
          <a:xfrm>
            <a:off x="7223760"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CPWD + Addl. Collector, Indore</a:t>
            </a:r>
          </a:p>
        </p:txBody>
      </p:sp>
      <p:sp>
        <p:nvSpPr>
          <p:cNvPr id="29" name="Rounded Rectangle 28"/>
          <p:cNvSpPr/>
          <p:nvPr/>
        </p:nvSpPr>
        <p:spPr>
          <a:xfrm>
            <a:off x="566928"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0" name="TextBox 29"/>
          <p:cNvSpPr txBox="1"/>
          <p:nvPr/>
        </p:nvSpPr>
        <p:spPr>
          <a:xfrm>
            <a:off x="585216"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ADDA Durgapur</a:t>
            </a:r>
          </a:p>
        </p:txBody>
      </p:sp>
      <p:sp>
        <p:nvSpPr>
          <p:cNvPr id="31" name="Rounded Rectangle 30"/>
          <p:cNvSpPr/>
          <p:nvPr/>
        </p:nvSpPr>
        <p:spPr>
          <a:xfrm>
            <a:off x="2779776"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2" name="TextBox 31"/>
          <p:cNvSpPr txBox="1"/>
          <p:nvPr/>
        </p:nvSpPr>
        <p:spPr>
          <a:xfrm>
            <a:off x="2798064"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R&amp;B Andhra Pradesh</a:t>
            </a:r>
          </a:p>
        </p:txBody>
      </p:sp>
      <p:sp>
        <p:nvSpPr>
          <p:cNvPr id="33" name="Rounded Rectangle 32"/>
          <p:cNvSpPr/>
          <p:nvPr/>
        </p:nvSpPr>
        <p:spPr>
          <a:xfrm>
            <a:off x="4992624"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4" name="TextBox 33"/>
          <p:cNvSpPr txBox="1"/>
          <p:nvPr/>
        </p:nvSpPr>
        <p:spPr>
          <a:xfrm>
            <a:off x="5010912"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GCC Chennai</a:t>
            </a:r>
          </a:p>
        </p:txBody>
      </p:sp>
      <p:sp>
        <p:nvSpPr>
          <p:cNvPr id="35" name="Rounded Rectangle 34"/>
          <p:cNvSpPr/>
          <p:nvPr/>
        </p:nvSpPr>
        <p:spPr>
          <a:xfrm>
            <a:off x="7205472"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6" name="TextBox 35"/>
          <p:cNvSpPr txBox="1"/>
          <p:nvPr/>
        </p:nvSpPr>
        <p:spPr>
          <a:xfrm>
            <a:off x="7223760"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BMC Mumbai</a:t>
            </a:r>
          </a:p>
        </p:txBody>
      </p:sp>
      <p:sp>
        <p:nvSpPr>
          <p:cNvPr id="37" name="Rounded Rectangle 36"/>
          <p:cNvSpPr/>
          <p:nvPr/>
        </p:nvSpPr>
        <p:spPr>
          <a:xfrm>
            <a:off x="9555480" y="4892040"/>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8" name="Picture 37" descr="lg_pwd.png"/>
          <p:cNvPicPr>
            <a:picLocks noChangeAspect="1"/>
          </p:cNvPicPr>
          <p:nvPr/>
        </p:nvPicPr>
        <p:blipFill>
          <a:blip r:embed="rId8"/>
          <a:stretch>
            <a:fillRect/>
          </a:stretch>
        </p:blipFill>
        <p:spPr>
          <a:xfrm>
            <a:off x="9796696" y="5001768"/>
            <a:ext cx="523407" cy="347472"/>
          </a:xfrm>
          <a:prstGeom prst="rect">
            <a:avLst/>
          </a:prstGeom>
        </p:spPr>
      </p:pic>
      <p:sp>
        <p:nvSpPr>
          <p:cNvPr id="39" name="Rounded Rectangle 38"/>
          <p:cNvSpPr/>
          <p:nvPr/>
        </p:nvSpPr>
        <p:spPr>
          <a:xfrm>
            <a:off x="10625328" y="4892040"/>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0" name="Picture 39" descr="lg_nhai.png"/>
          <p:cNvPicPr>
            <a:picLocks noChangeAspect="1"/>
          </p:cNvPicPr>
          <p:nvPr/>
        </p:nvPicPr>
        <p:blipFill>
          <a:blip r:embed="rId9"/>
          <a:stretch>
            <a:fillRect/>
          </a:stretch>
        </p:blipFill>
        <p:spPr>
          <a:xfrm>
            <a:off x="10864762" y="5001768"/>
            <a:ext cx="526971" cy="347472"/>
          </a:xfrm>
          <a:prstGeom prst="rect">
            <a:avLst/>
          </a:prstGeom>
        </p:spPr>
      </p:pic>
      <p:sp>
        <p:nvSpPr>
          <p:cNvPr id="41" name="Rounded Rectangle 40"/>
          <p:cNvSpPr/>
          <p:nvPr/>
        </p:nvSpPr>
        <p:spPr>
          <a:xfrm>
            <a:off x="9555480" y="5504688"/>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2" name="Picture 41" descr="lg_indore_nn.png"/>
          <p:cNvPicPr>
            <a:picLocks noChangeAspect="1"/>
          </p:cNvPicPr>
          <p:nvPr/>
        </p:nvPicPr>
        <p:blipFill>
          <a:blip r:embed="rId10"/>
          <a:stretch>
            <a:fillRect/>
          </a:stretch>
        </p:blipFill>
        <p:spPr>
          <a:xfrm>
            <a:off x="9909629" y="5614416"/>
            <a:ext cx="297542" cy="347472"/>
          </a:xfrm>
          <a:prstGeom prst="rect">
            <a:avLst/>
          </a:prstGeom>
        </p:spPr>
      </p:pic>
      <p:sp>
        <p:nvSpPr>
          <p:cNvPr id="43" name="Rounded Rectangle 42"/>
          <p:cNvSpPr/>
          <p:nvPr/>
        </p:nvSpPr>
        <p:spPr>
          <a:xfrm>
            <a:off x="10625328" y="5504688"/>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dlsa.png"/>
          <p:cNvPicPr>
            <a:picLocks noChangeAspect="1"/>
          </p:cNvPicPr>
          <p:nvPr/>
        </p:nvPicPr>
        <p:blipFill>
          <a:blip r:embed="rId11"/>
          <a:stretch>
            <a:fillRect/>
          </a:stretch>
        </p:blipFill>
        <p:spPr>
          <a:xfrm>
            <a:off x="10980420" y="5614416"/>
            <a:ext cx="295656" cy="347472"/>
          </a:xfrm>
          <a:prstGeom prst="rect">
            <a:avLst/>
          </a:prstGeom>
        </p:spPr>
      </p:pic>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20 /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From approval to construction, </a:t>
            </a:r>
            <a:r>
              <a:rPr sz="2250" b="1" i="0">
                <a:solidFill>
                  <a:srgbClr val="4A35FF"/>
                </a:solidFill>
                <a:latin typeface="Montserrat"/>
              </a:rPr>
              <a:t>and to completion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Live status from our public implementation tracker, August 2026.</a:t>
            </a:r>
          </a:p>
        </p:txBody>
      </p:sp>
      <p:pic>
        <p:nvPicPr>
          <p:cNvPr id="8" name="Picture 7" descr="iv_durgapur_parking.png_2.60x1.75_0.35.jpg"/>
          <p:cNvPicPr>
            <a:picLocks noChangeAspect="1"/>
          </p:cNvPicPr>
          <p:nvPr/>
        </p:nvPicPr>
        <p:blipFill>
          <a:blip r:embed="rId2"/>
          <a:stretch>
            <a:fillRect/>
          </a:stretch>
        </p:blipFill>
        <p:spPr>
          <a:xfrm>
            <a:off x="566928" y="2011680"/>
            <a:ext cx="2377440" cy="1600200"/>
          </a:xfrm>
          <a:prstGeom prst="rect">
            <a:avLst/>
          </a:prstGeom>
        </p:spPr>
      </p:pic>
      <p:sp>
        <p:nvSpPr>
          <p:cNvPr id="9" name="Rectangle 8"/>
          <p:cNvSpPr/>
          <p:nvPr/>
        </p:nvSpPr>
        <p:spPr>
          <a:xfrm>
            <a:off x="566928" y="2011680"/>
            <a:ext cx="2377440" cy="16002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365760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Parking rationalisation, Durgapur</a:t>
            </a:r>
          </a:p>
        </p:txBody>
      </p:sp>
      <p:pic>
        <p:nvPicPr>
          <p:cNvPr id="11" name="Picture 10" descr="iv_guntur_markings.png_2.60x1.75_0.40.jpg"/>
          <p:cNvPicPr>
            <a:picLocks noChangeAspect="1"/>
          </p:cNvPicPr>
          <p:nvPr/>
        </p:nvPicPr>
        <p:blipFill>
          <a:blip r:embed="rId3"/>
          <a:stretch>
            <a:fillRect/>
          </a:stretch>
        </p:blipFill>
        <p:spPr>
          <a:xfrm>
            <a:off x="3054096" y="2011680"/>
            <a:ext cx="2377440" cy="1600200"/>
          </a:xfrm>
          <a:prstGeom prst="rect">
            <a:avLst/>
          </a:prstGeom>
        </p:spPr>
      </p:pic>
      <p:sp>
        <p:nvSpPr>
          <p:cNvPr id="12" name="Rectangle 11"/>
          <p:cNvSpPr/>
          <p:nvPr/>
        </p:nvSpPr>
        <p:spPr>
          <a:xfrm>
            <a:off x="3054096" y="2011680"/>
            <a:ext cx="2377440" cy="160020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3054096" y="365760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Fresh markings, Guntur</a:t>
            </a:r>
          </a:p>
        </p:txBody>
      </p:sp>
      <p:pic>
        <p:nvPicPr>
          <p:cNvPr id="14" name="Picture 13" descr="iv_indore_footpath.png_2.60x1.75_0.40.jpg"/>
          <p:cNvPicPr>
            <a:picLocks noChangeAspect="1"/>
          </p:cNvPicPr>
          <p:nvPr/>
        </p:nvPicPr>
        <p:blipFill>
          <a:blip r:embed="rId4"/>
          <a:stretch>
            <a:fillRect/>
          </a:stretch>
        </p:blipFill>
        <p:spPr>
          <a:xfrm>
            <a:off x="566928" y="4023360"/>
            <a:ext cx="2377440" cy="1600200"/>
          </a:xfrm>
          <a:prstGeom prst="rect">
            <a:avLst/>
          </a:prstGeom>
        </p:spPr>
      </p:pic>
      <p:sp>
        <p:nvSpPr>
          <p:cNvPr id="15" name="Rectangle 14"/>
          <p:cNvSpPr/>
          <p:nvPr/>
        </p:nvSpPr>
        <p:spPr>
          <a:xfrm>
            <a:off x="566928" y="4023360"/>
            <a:ext cx="2377440" cy="160020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566928" y="566928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Footpath construction, Indore</a:t>
            </a:r>
          </a:p>
        </p:txBody>
      </p:sp>
      <p:pic>
        <p:nvPicPr>
          <p:cNvPr id="17" name="Picture 16" descr="iv_mumbai_signage.png_2.60x1.75_0.35.jpg"/>
          <p:cNvPicPr>
            <a:picLocks noChangeAspect="1"/>
          </p:cNvPicPr>
          <p:nvPr/>
        </p:nvPicPr>
        <p:blipFill>
          <a:blip r:embed="rId5"/>
          <a:stretch>
            <a:fillRect/>
          </a:stretch>
        </p:blipFill>
        <p:spPr>
          <a:xfrm>
            <a:off x="3054096" y="4023360"/>
            <a:ext cx="2377440" cy="1600200"/>
          </a:xfrm>
          <a:prstGeom prst="rect">
            <a:avLst/>
          </a:prstGeom>
        </p:spPr>
      </p:pic>
      <p:sp>
        <p:nvSpPr>
          <p:cNvPr id="18" name="Rectangle 17"/>
          <p:cNvSpPr/>
          <p:nvPr/>
        </p:nvSpPr>
        <p:spPr>
          <a:xfrm>
            <a:off x="3054096" y="4023360"/>
            <a:ext cx="2377440" cy="1600200"/>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3054096" y="566928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Signage, Mumbai</a:t>
            </a:r>
          </a:p>
        </p:txBody>
      </p:sp>
      <p:sp>
        <p:nvSpPr>
          <p:cNvPr id="20" name="Rounded Rectangle 19"/>
          <p:cNvSpPr/>
          <p:nvPr/>
        </p:nvSpPr>
        <p:spPr>
          <a:xfrm>
            <a:off x="5669280" y="2011680"/>
            <a:ext cx="5943600" cy="1572768"/>
          </a:xfrm>
          <a:prstGeom prst="roundRect">
            <a:avLst>
              <a:gd name="adj" fmla="val 8000"/>
            </a:avLst>
          </a:prstGeom>
          <a:solidFill>
            <a:srgbClr val="E9F7F0"/>
          </a:solidFill>
          <a:ln>
            <a:noFill/>
          </a:ln>
          <a:effectLst/>
        </p:spPr>
        <p:txBody>
          <a:bodyPr rtlCol="0" anchor="ctr"/>
          <a:lstStyle/>
          <a:p>
            <a:pPr algn="ctr"/>
          </a:p>
        </p:txBody>
      </p:sp>
      <p:sp>
        <p:nvSpPr>
          <p:cNvPr id="21" name="TextBox 20"/>
          <p:cNvSpPr txBox="1"/>
          <p:nvPr/>
        </p:nvSpPr>
        <p:spPr>
          <a:xfrm>
            <a:off x="5870448" y="2139696"/>
            <a:ext cx="5577840" cy="274320"/>
          </a:xfrm>
          <a:prstGeom prst="rect">
            <a:avLst/>
          </a:prstGeom>
          <a:noFill/>
        </p:spPr>
        <p:txBody>
          <a:bodyPr wrap="square" lIns="0" rIns="0" tIns="0" bIns="0" anchor="t">
            <a:spAutoFit/>
          </a:bodyPr>
          <a:lstStyle/>
          <a:p>
            <a:pPr algn="l">
              <a:lnSpc>
                <a:spcPct val="128000"/>
              </a:lnSpc>
            </a:pPr>
            <a:r>
              <a:rPr sz="1300" b="1" i="0">
                <a:solidFill>
                  <a:srgbClr val="0A9955"/>
                </a:solidFill>
                <a:latin typeface="Geist"/>
              </a:rPr>
              <a:t>7 sites fully implemented</a:t>
            </a:r>
          </a:p>
        </p:txBody>
      </p:sp>
      <p:sp>
        <p:nvSpPr>
          <p:cNvPr id="22" name="TextBox 21"/>
          <p:cNvSpPr txBox="1"/>
          <p:nvPr/>
        </p:nvSpPr>
        <p:spPr>
          <a:xfrm>
            <a:off x="5870448" y="2487168"/>
            <a:ext cx="5577840" cy="1005840"/>
          </a:xfrm>
          <a:prstGeom prst="rect">
            <a:avLst/>
          </a:prstGeom>
          <a:noFill/>
        </p:spPr>
        <p:txBody>
          <a:bodyPr wrap="square" lIns="0" rIns="0" tIns="0" bIns="0" anchor="t">
            <a:spAutoFit/>
          </a:bodyPr>
          <a:lstStyle/>
          <a:p>
            <a:pPr algn="l">
              <a:lnSpc>
                <a:spcPct val="135000"/>
              </a:lnSpc>
            </a:pPr>
            <a:r>
              <a:rPr sz="950" b="0" i="0">
                <a:solidFill>
                  <a:srgbClr val="16181D"/>
                </a:solidFill>
                <a:latin typeface="Geist"/>
              </a:rPr>
              <a:t>Outer Ring Road (Delhi) · IIT Madras Taramani Gate (Chennai) · Dafi Toll Plaza (Varanasi) · Akurli Road Underpass (Mumbai) · C-49 Commercial Area (Durgapur) · Chuttugunta Circle (Guntur) · Rau Gol Square (Indore)</a:t>
            </a:r>
          </a:p>
        </p:txBody>
      </p:sp>
      <p:sp>
        <p:nvSpPr>
          <p:cNvPr id="23" name="Rounded Rectangle 22"/>
          <p:cNvSpPr/>
          <p:nvPr/>
        </p:nvSpPr>
        <p:spPr>
          <a:xfrm>
            <a:off x="5669280" y="3730752"/>
            <a:ext cx="5943600" cy="868680"/>
          </a:xfrm>
          <a:prstGeom prst="roundRect">
            <a:avLst>
              <a:gd name="adj" fmla="val 8000"/>
            </a:avLst>
          </a:prstGeom>
          <a:solidFill>
            <a:srgbClr val="F7F7FA"/>
          </a:solidFill>
          <a:ln>
            <a:noFill/>
          </a:ln>
          <a:effectLst/>
        </p:spPr>
        <p:txBody>
          <a:bodyPr rtlCol="0" anchor="ctr"/>
          <a:lstStyle/>
          <a:p>
            <a:pPr algn="ctr"/>
          </a:p>
        </p:txBody>
      </p:sp>
      <p:sp>
        <p:nvSpPr>
          <p:cNvPr id="24" name="TextBox 23"/>
          <p:cNvSpPr txBox="1"/>
          <p:nvPr/>
        </p:nvSpPr>
        <p:spPr>
          <a:xfrm>
            <a:off x="5870448" y="3840480"/>
            <a:ext cx="5577840" cy="640080"/>
          </a:xfrm>
          <a:prstGeom prst="rect">
            <a:avLst/>
          </a:prstGeom>
          <a:noFill/>
        </p:spPr>
        <p:txBody>
          <a:bodyPr wrap="square" lIns="0" rIns="0" tIns="0" bIns="0" anchor="t">
            <a:spAutoFit/>
          </a:bodyPr>
          <a:lstStyle/>
          <a:p>
            <a:pPr algn="l">
              <a:lnSpc>
                <a:spcPct val="130000"/>
              </a:lnSpc>
            </a:pPr>
            <a:r>
              <a:rPr sz="950" b="1" i="0">
                <a:solidFill>
                  <a:srgbClr val="4A35FF"/>
                </a:solidFill>
                <a:latin typeface="Geist"/>
              </a:rPr>
              <a:t>6 more partially implemented </a:t>
            </a:r>
            <a:r>
              <a:rPr sz="950" b="0" i="0">
                <a:solidFill>
                  <a:srgbClr val="6E7180"/>
                </a:solidFill>
                <a:latin typeface="Geist"/>
              </a:rPr>
              <a:t>: Kunnamangalam &amp; Chevayur (Kozhikode), TIDEL Park (Chennai), Shivpur (Varanasi), Tejaji Nagar (Indore), Civil Lines (Roorkee); action initiated at further sites.</a:t>
            </a:r>
          </a:p>
        </p:txBody>
      </p:sp>
      <p:sp>
        <p:nvSpPr>
          <p:cNvPr id="25" name="Rounded Rectangle 24"/>
          <p:cNvSpPr/>
          <p:nvPr/>
        </p:nvSpPr>
        <p:spPr>
          <a:xfrm>
            <a:off x="5669280" y="4736592"/>
            <a:ext cx="5943600" cy="118872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6" name="TextBox 25"/>
          <p:cNvSpPr txBox="1"/>
          <p:nvPr/>
        </p:nvSpPr>
        <p:spPr>
          <a:xfrm>
            <a:off x="5870448" y="4846320"/>
            <a:ext cx="5577840" cy="274320"/>
          </a:xfrm>
          <a:prstGeom prst="rect">
            <a:avLst/>
          </a:prstGeom>
          <a:noFill/>
        </p:spPr>
        <p:txBody>
          <a:bodyPr wrap="square" lIns="0" rIns="0" tIns="0" bIns="0" anchor="t">
            <a:spAutoFit/>
          </a:bodyPr>
          <a:lstStyle/>
          <a:p>
            <a:pPr algn="l">
              <a:lnSpc>
                <a:spcPct val="128000"/>
              </a:lnSpc>
            </a:pPr>
            <a:r>
              <a:rPr sz="850" b="1" i="0" spc="120">
                <a:solidFill>
                  <a:srgbClr val="4A35FF"/>
                </a:solidFill>
                <a:latin typeface="Montserrat"/>
              </a:rPr>
              <a:t>MARQUEE CASE, OUTER RING ROAD, SOUTH DELHI</a:t>
            </a:r>
          </a:p>
        </p:txBody>
      </p:sp>
      <p:sp>
        <p:nvSpPr>
          <p:cNvPr id="27" name="TextBox 26"/>
          <p:cNvSpPr txBox="1"/>
          <p:nvPr/>
        </p:nvSpPr>
        <p:spPr>
          <a:xfrm>
            <a:off x="5870448" y="5138928"/>
            <a:ext cx="5577840" cy="731520"/>
          </a:xfrm>
          <a:prstGeom prst="rect">
            <a:avLst/>
          </a:prstGeom>
          <a:noFill/>
        </p:spPr>
        <p:txBody>
          <a:bodyPr wrap="square" lIns="0" rIns="0" tIns="0" bIns="0" anchor="t">
            <a:spAutoFit/>
          </a:bodyPr>
          <a:lstStyle/>
          <a:p>
            <a:pPr algn="l">
              <a:lnSpc>
                <a:spcPct val="130000"/>
              </a:lnSpc>
            </a:pPr>
            <a:r>
              <a:rPr sz="950" b="0" i="0">
                <a:solidFill>
                  <a:srgbClr val="16181D"/>
                </a:solidFill>
                <a:latin typeface="Geist"/>
              </a:rPr>
              <a:t>On our audit, PWD built a continuous 1.8 m accessible pedestrian corridor, upgraded drainage at ponding sites, installed bollards against footpath encroachment, and deployed camera-backed speed-feedback boards.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21 /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TRANSPARENCY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public dashboard tracks </a:t>
            </a:r>
            <a:r>
              <a:rPr sz="2250" b="1" i="0">
                <a:solidFill>
                  <a:srgbClr val="4A35FF"/>
                </a:solidFill>
                <a:latin typeface="Montserrat"/>
              </a:rPr>
              <a:t>every site to completion</a:t>
            </a:r>
          </a:p>
        </p:txBody>
      </p:sp>
      <p:pic>
        <p:nvPicPr>
          <p:cNvPr id="7" name="Picture 6" descr="opt_rakshak_dashboard_full_1500.jpg"/>
          <p:cNvPicPr>
            <a:picLocks noChangeAspect="1"/>
          </p:cNvPicPr>
          <p:nvPr/>
        </p:nvPicPr>
        <p:blipFill>
          <a:blip r:embed="rId2"/>
          <a:stretch>
            <a:fillRect/>
          </a:stretch>
        </p:blipFill>
        <p:spPr>
          <a:xfrm>
            <a:off x="566928" y="1810512"/>
            <a:ext cx="6949440" cy="3085551"/>
          </a:xfrm>
          <a:prstGeom prst="rect">
            <a:avLst/>
          </a:prstGeom>
        </p:spPr>
      </p:pic>
      <p:sp>
        <p:nvSpPr>
          <p:cNvPr id="8" name="Rectangle 7"/>
          <p:cNvSpPr/>
          <p:nvPr/>
        </p:nvSpPr>
        <p:spPr>
          <a:xfrm>
            <a:off x="566928" y="1810512"/>
            <a:ext cx="6949440" cy="3085551"/>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4941783"/>
            <a:ext cx="6949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Live public dashboard, every site, its authority, risk level and implementation stage.</a:t>
            </a:r>
          </a:p>
        </p:txBody>
      </p:sp>
      <p:sp>
        <p:nvSpPr>
          <p:cNvPr id="10" name="Oval 9"/>
          <p:cNvSpPr/>
          <p:nvPr/>
        </p:nvSpPr>
        <p:spPr>
          <a:xfrm>
            <a:off x="7818120" y="1874519"/>
            <a:ext cx="384048" cy="384048"/>
          </a:xfrm>
          <a:prstGeom prst="ellipse">
            <a:avLst/>
          </a:prstGeom>
          <a:solidFill>
            <a:srgbClr val="EFEDFF"/>
          </a:solidFill>
          <a:ln>
            <a:noFill/>
          </a:ln>
          <a:effectLst/>
        </p:spPr>
        <p:txBody>
          <a:bodyPr rtlCol="0" anchor="ctr"/>
          <a:lstStyle/>
          <a:p>
            <a:pPr algn="ctr"/>
          </a:p>
        </p:txBody>
      </p:sp>
      <p:pic>
        <p:nvPicPr>
          <p:cNvPr id="11" name="Picture 10" descr="route_4A35FF_256_2.0.png"/>
          <p:cNvPicPr>
            <a:picLocks noChangeAspect="1"/>
          </p:cNvPicPr>
          <p:nvPr/>
        </p:nvPicPr>
        <p:blipFill>
          <a:blip r:embed="rId3"/>
          <a:stretch>
            <a:fillRect/>
          </a:stretch>
        </p:blipFill>
        <p:spPr>
          <a:xfrm>
            <a:off x="7910291" y="1966690"/>
            <a:ext cx="199704" cy="199704"/>
          </a:xfrm>
          <a:prstGeom prst="rect">
            <a:avLst/>
          </a:prstGeom>
        </p:spPr>
      </p:pic>
      <p:sp>
        <p:nvSpPr>
          <p:cNvPr id="12" name="TextBox 11"/>
          <p:cNvSpPr txBox="1"/>
          <p:nvPr/>
        </p:nvSpPr>
        <p:spPr>
          <a:xfrm>
            <a:off x="8348472" y="18470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Every site tracked</a:t>
            </a:r>
          </a:p>
        </p:txBody>
      </p:sp>
      <p:sp>
        <p:nvSpPr>
          <p:cNvPr id="13" name="TextBox 12"/>
          <p:cNvSpPr txBox="1"/>
          <p:nvPr/>
        </p:nvSpPr>
        <p:spPr>
          <a:xfrm>
            <a:off x="8348472" y="21488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From submission through approval to completed construction, regardless of who audited it.</a:t>
            </a:r>
          </a:p>
        </p:txBody>
      </p:sp>
      <p:sp>
        <p:nvSpPr>
          <p:cNvPr id="14" name="Oval 13"/>
          <p:cNvSpPr/>
          <p:nvPr/>
        </p:nvSpPr>
        <p:spPr>
          <a:xfrm>
            <a:off x="7818120" y="3246119"/>
            <a:ext cx="384048" cy="384048"/>
          </a:xfrm>
          <a:prstGeom prst="ellipse">
            <a:avLst/>
          </a:prstGeom>
          <a:solidFill>
            <a:srgbClr val="E7F4F4"/>
          </a:solidFill>
          <a:ln>
            <a:noFill/>
          </a:ln>
          <a:effectLst/>
        </p:spPr>
        <p:txBody>
          <a:bodyPr rtlCol="0" anchor="ctr"/>
          <a:lstStyle/>
          <a:p>
            <a:pPr algn="ctr"/>
          </a:p>
        </p:txBody>
      </p:sp>
      <p:pic>
        <p:nvPicPr>
          <p:cNvPr id="15" name="Picture 14" descr="git-compare_0E8A8A_256_2.0.png"/>
          <p:cNvPicPr>
            <a:picLocks noChangeAspect="1"/>
          </p:cNvPicPr>
          <p:nvPr/>
        </p:nvPicPr>
        <p:blipFill>
          <a:blip r:embed="rId4"/>
          <a:stretch>
            <a:fillRect/>
          </a:stretch>
        </p:blipFill>
        <p:spPr>
          <a:xfrm>
            <a:off x="7910291" y="3338290"/>
            <a:ext cx="199704" cy="199704"/>
          </a:xfrm>
          <a:prstGeom prst="rect">
            <a:avLst/>
          </a:prstGeom>
        </p:spPr>
      </p:pic>
      <p:sp>
        <p:nvSpPr>
          <p:cNvPr id="16" name="TextBox 15"/>
          <p:cNvSpPr txBox="1"/>
          <p:nvPr/>
        </p:nvSpPr>
        <p:spPr>
          <a:xfrm>
            <a:off x="8348472" y="32186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The PRAGATI parallel</a:t>
            </a:r>
          </a:p>
        </p:txBody>
      </p:sp>
      <p:sp>
        <p:nvSpPr>
          <p:cNvPr id="17" name="TextBox 16"/>
          <p:cNvSpPr txBox="1"/>
          <p:nvPr/>
        </p:nvSpPr>
        <p:spPr>
          <a:xfrm>
            <a:off x="8348472" y="35204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PM's PRAGATI platform showed what visible follow-up does for stuck projects. Same principle here, for road safety fixes.</a:t>
            </a:r>
          </a:p>
        </p:txBody>
      </p:sp>
      <p:sp>
        <p:nvSpPr>
          <p:cNvPr id="18" name="Oval 17"/>
          <p:cNvSpPr/>
          <p:nvPr/>
        </p:nvSpPr>
        <p:spPr>
          <a:xfrm>
            <a:off x="7818120" y="4617719"/>
            <a:ext cx="384048" cy="384048"/>
          </a:xfrm>
          <a:prstGeom prst="ellipse">
            <a:avLst/>
          </a:prstGeom>
          <a:solidFill>
            <a:srgbClr val="E9F7F0"/>
          </a:solidFill>
          <a:ln>
            <a:noFill/>
          </a:ln>
          <a:effectLst/>
        </p:spPr>
        <p:txBody>
          <a:bodyPr rtlCol="0" anchor="ctr"/>
          <a:lstStyle/>
          <a:p>
            <a:pPr algn="ctr"/>
          </a:p>
        </p:txBody>
      </p:sp>
      <p:pic>
        <p:nvPicPr>
          <p:cNvPr id="19" name="Picture 18" descr="eye_0A9955_256_2.0.png"/>
          <p:cNvPicPr>
            <a:picLocks noChangeAspect="1"/>
          </p:cNvPicPr>
          <p:nvPr/>
        </p:nvPicPr>
        <p:blipFill>
          <a:blip r:embed="rId5"/>
          <a:stretch>
            <a:fillRect/>
          </a:stretch>
        </p:blipFill>
        <p:spPr>
          <a:xfrm>
            <a:off x="7910291" y="4709890"/>
            <a:ext cx="199704" cy="199704"/>
          </a:xfrm>
          <a:prstGeom prst="rect">
            <a:avLst/>
          </a:prstGeom>
        </p:spPr>
      </p:pic>
      <p:sp>
        <p:nvSpPr>
          <p:cNvPr id="20" name="TextBox 19"/>
          <p:cNvSpPr txBox="1"/>
          <p:nvPr/>
        </p:nvSpPr>
        <p:spPr>
          <a:xfrm>
            <a:off x="8348472" y="45902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What the Board gains</a:t>
            </a:r>
          </a:p>
        </p:txBody>
      </p:sp>
      <p:sp>
        <p:nvSpPr>
          <p:cNvPr id="21" name="TextBox 20"/>
          <p:cNvSpPr txBox="1"/>
          <p:nvPr/>
        </p:nvSpPr>
        <p:spPr>
          <a:xfrm>
            <a:off x="8348472" y="48920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An honest, live read on how quickly road-owning agencies can act, evidence for capacity planning, not just compliance.</a:t>
            </a:r>
          </a:p>
        </p:txBody>
      </p:sp>
      <p:cxnSp>
        <p:nvCxnSpPr>
          <p:cNvPr id="22" name="Connector 21"/>
          <p:cNvCxnSpPr/>
          <p:nvPr/>
        </p:nvCxnSpPr>
        <p:spPr>
          <a:xfrm>
            <a:off x="566928" y="6455664"/>
            <a:ext cx="11057839" cy="0"/>
          </a:xfrm>
          <a:prstGeom prst="line">
            <a:avLst/>
          </a:prstGeom>
          <a:ln w="9525">
            <a:solidFill>
              <a:srgbClr val="E8E9EE"/>
            </a:solidFill>
          </a:ln>
          <a:effectLst/>
        </p:spPr>
      </p:cxnSp>
      <p:sp>
        <p:nvSpPr>
          <p:cNvPr id="23" name="TextBox 2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4" name="TextBox 2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22 /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METHOD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Anchored to the codes </a:t>
            </a:r>
            <a:r>
              <a:rPr sz="2250" b="1" i="0">
                <a:solidFill>
                  <a:srgbClr val="4A35FF"/>
                </a:solidFill>
                <a:latin typeface="Montserrat"/>
              </a:rPr>
              <a:t>your engineers already use</a:t>
            </a:r>
          </a:p>
        </p:txBody>
      </p:sp>
      <p:sp>
        <p:nvSpPr>
          <p:cNvPr id="7" name="Oval 6"/>
          <p:cNvSpPr/>
          <p:nvPr/>
        </p:nvSpPr>
        <p:spPr>
          <a:xfrm>
            <a:off x="566928" y="1920240"/>
            <a:ext cx="365760" cy="365760"/>
          </a:xfrm>
          <a:prstGeom prst="ellipse">
            <a:avLst/>
          </a:prstGeom>
          <a:solidFill>
            <a:srgbClr val="EFEDFF"/>
          </a:solidFill>
          <a:ln>
            <a:noFill/>
          </a:ln>
          <a:effectLst/>
        </p:spPr>
        <p:txBody>
          <a:bodyPr rtlCol="0" anchor="ctr"/>
          <a:lstStyle/>
          <a:p>
            <a:pPr algn="ctr"/>
          </a:p>
        </p:txBody>
      </p:sp>
      <p:pic>
        <p:nvPicPr>
          <p:cNvPr id="8" name="Picture 7" descr="book-check_4A35FF_256_2.0.png"/>
          <p:cNvPicPr>
            <a:picLocks noChangeAspect="1"/>
          </p:cNvPicPr>
          <p:nvPr/>
        </p:nvPicPr>
        <p:blipFill>
          <a:blip r:embed="rId2"/>
          <a:stretch>
            <a:fillRect/>
          </a:stretch>
        </p:blipFill>
        <p:spPr>
          <a:xfrm>
            <a:off x="654710" y="2008022"/>
            <a:ext cx="190195" cy="190195"/>
          </a:xfrm>
          <a:prstGeom prst="rect">
            <a:avLst/>
          </a:prstGeom>
        </p:spPr>
      </p:pic>
      <p:sp>
        <p:nvSpPr>
          <p:cNvPr id="9" name="TextBox 8"/>
          <p:cNvSpPr txBox="1"/>
          <p:nvPr/>
        </p:nvSpPr>
        <p:spPr>
          <a:xfrm>
            <a:off x="1097280" y="19019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IRC codes &amp; MoRTH checklists</a:t>
            </a:r>
          </a:p>
        </p:txBody>
      </p:sp>
      <p:sp>
        <p:nvSpPr>
          <p:cNvPr id="10" name="TextBox 9"/>
          <p:cNvSpPr txBox="1"/>
          <p:nvPr/>
        </p:nvSpPr>
        <p:spPr>
          <a:xfrm>
            <a:off x="3566160" y="190195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Every audit instrument is built on them, nothing bespoke, nothing incompatible.</a:t>
            </a:r>
          </a:p>
        </p:txBody>
      </p:sp>
      <p:sp>
        <p:nvSpPr>
          <p:cNvPr id="11" name="Oval 10"/>
          <p:cNvSpPr/>
          <p:nvPr/>
        </p:nvSpPr>
        <p:spPr>
          <a:xfrm>
            <a:off x="566928" y="2788920"/>
            <a:ext cx="365760" cy="365760"/>
          </a:xfrm>
          <a:prstGeom prst="ellipse">
            <a:avLst/>
          </a:prstGeom>
          <a:solidFill>
            <a:srgbClr val="E9F7F0"/>
          </a:solidFill>
          <a:ln>
            <a:noFill/>
          </a:ln>
          <a:effectLst/>
        </p:spPr>
        <p:txBody>
          <a:bodyPr rtlCol="0" anchor="ctr"/>
          <a:lstStyle/>
          <a:p>
            <a:pPr algn="ctr"/>
          </a:p>
        </p:txBody>
      </p:sp>
      <p:pic>
        <p:nvPicPr>
          <p:cNvPr id="12" name="Picture 11" descr="link_0A9955_256_2.0.png"/>
          <p:cNvPicPr>
            <a:picLocks noChangeAspect="1"/>
          </p:cNvPicPr>
          <p:nvPr/>
        </p:nvPicPr>
        <p:blipFill>
          <a:blip r:embed="rId3"/>
          <a:stretch>
            <a:fillRect/>
          </a:stretch>
        </p:blipFill>
        <p:spPr>
          <a:xfrm>
            <a:off x="654710" y="2876702"/>
            <a:ext cx="190195" cy="190195"/>
          </a:xfrm>
          <a:prstGeom prst="rect">
            <a:avLst/>
          </a:prstGeom>
        </p:spPr>
      </p:pic>
      <p:sp>
        <p:nvSpPr>
          <p:cNvPr id="13" name="TextBox 12"/>
          <p:cNvSpPr txBox="1"/>
          <p:nvPr/>
        </p:nvSpPr>
        <p:spPr>
          <a:xfrm>
            <a:off x="1097280" y="277063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A line into IRC H-7</a:t>
            </a:r>
          </a:p>
        </p:txBody>
      </p:sp>
      <p:sp>
        <p:nvSpPr>
          <p:cNvPr id="14" name="TextBox 13"/>
          <p:cNvSpPr txBox="1"/>
          <p:nvPr/>
        </p:nvSpPr>
        <p:spPr>
          <a:xfrm>
            <a:off x="3566160" y="277063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Prof. Geetam Tiwari, member of the IRC H-7 Committee on Road Safety Audit, chairs our advisory work.</a:t>
            </a:r>
          </a:p>
        </p:txBody>
      </p:sp>
      <p:sp>
        <p:nvSpPr>
          <p:cNvPr id="15" name="Oval 14"/>
          <p:cNvSpPr/>
          <p:nvPr/>
        </p:nvSpPr>
        <p:spPr>
          <a:xfrm>
            <a:off x="566928" y="3657600"/>
            <a:ext cx="365760" cy="365760"/>
          </a:xfrm>
          <a:prstGeom prst="ellipse">
            <a:avLst/>
          </a:prstGeom>
          <a:solidFill>
            <a:srgbClr val="FDF3E3"/>
          </a:solidFill>
          <a:ln>
            <a:noFill/>
          </a:ln>
          <a:effectLst/>
        </p:spPr>
        <p:txBody>
          <a:bodyPr rtlCol="0" anchor="ctr"/>
          <a:lstStyle/>
          <a:p>
            <a:pPr algn="ctr"/>
          </a:p>
        </p:txBody>
      </p:sp>
      <p:pic>
        <p:nvPicPr>
          <p:cNvPr id="16" name="Picture 15" descr="graduation-cap_E58900_256_2.0.png"/>
          <p:cNvPicPr>
            <a:picLocks noChangeAspect="1"/>
          </p:cNvPicPr>
          <p:nvPr/>
        </p:nvPicPr>
        <p:blipFill>
          <a:blip r:embed="rId4"/>
          <a:stretch>
            <a:fillRect/>
          </a:stretch>
        </p:blipFill>
        <p:spPr>
          <a:xfrm>
            <a:off x="654710" y="3745382"/>
            <a:ext cx="190195" cy="190195"/>
          </a:xfrm>
          <a:prstGeom prst="rect">
            <a:avLst/>
          </a:prstGeom>
        </p:spPr>
      </p:pic>
      <p:sp>
        <p:nvSpPr>
          <p:cNvPr id="17" name="TextBox 16"/>
          <p:cNvSpPr txBox="1"/>
          <p:nvPr/>
        </p:nvSpPr>
        <p:spPr>
          <a:xfrm>
            <a:off x="1097280" y="36393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Masterclasses before fieldwork</a:t>
            </a:r>
          </a:p>
        </p:txBody>
      </p:sp>
      <p:sp>
        <p:nvSpPr>
          <p:cNvPr id="18" name="TextBox 17"/>
          <p:cNvSpPr txBox="1"/>
          <p:nvPr/>
        </p:nvSpPr>
        <p:spPr>
          <a:xfrm>
            <a:off x="3566160" y="36393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Prof. Tiwari on the Safe System approach; Dr. S. Velmurugan (CSIR-CRRI) on IRC-131 and SP-55.</a:t>
            </a:r>
          </a:p>
        </p:txBody>
      </p:sp>
      <p:sp>
        <p:nvSpPr>
          <p:cNvPr id="19" name="Oval 18"/>
          <p:cNvSpPr/>
          <p:nvPr/>
        </p:nvSpPr>
        <p:spPr>
          <a:xfrm>
            <a:off x="566928" y="4526280"/>
            <a:ext cx="365760" cy="365760"/>
          </a:xfrm>
          <a:prstGeom prst="ellipse">
            <a:avLst/>
          </a:prstGeom>
          <a:solidFill>
            <a:srgbClr val="E7F4F4"/>
          </a:solidFill>
          <a:ln>
            <a:noFill/>
          </a:ln>
          <a:effectLst/>
        </p:spPr>
        <p:txBody>
          <a:bodyPr rtlCol="0" anchor="ctr"/>
          <a:lstStyle/>
          <a:p>
            <a:pPr algn="ctr"/>
          </a:p>
        </p:txBody>
      </p:sp>
      <p:pic>
        <p:nvPicPr>
          <p:cNvPr id="20" name="Picture 19" descr="file-output_0E8A8A_256_2.0.png"/>
          <p:cNvPicPr>
            <a:picLocks noChangeAspect="1"/>
          </p:cNvPicPr>
          <p:nvPr/>
        </p:nvPicPr>
        <p:blipFill>
          <a:blip r:embed="rId5"/>
          <a:stretch>
            <a:fillRect/>
          </a:stretch>
        </p:blipFill>
        <p:spPr>
          <a:xfrm>
            <a:off x="654710" y="4614062"/>
            <a:ext cx="190195" cy="190195"/>
          </a:xfrm>
          <a:prstGeom prst="rect">
            <a:avLst/>
          </a:prstGeom>
        </p:spPr>
      </p:pic>
      <p:sp>
        <p:nvSpPr>
          <p:cNvPr id="21" name="TextBox 20"/>
          <p:cNvSpPr txBox="1"/>
          <p:nvPr/>
        </p:nvSpPr>
        <p:spPr>
          <a:xfrm>
            <a:off x="1097280" y="45079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Handover in the authority's format</a:t>
            </a:r>
          </a:p>
        </p:txBody>
      </p:sp>
      <p:sp>
        <p:nvSpPr>
          <p:cNvPr id="22" name="TextBox 21"/>
          <p:cNvSpPr txBox="1"/>
          <p:nvPr/>
        </p:nvSpPr>
        <p:spPr>
          <a:xfrm>
            <a:off x="3566160" y="45079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Findings arrive as the PWD or corporation needs them, ready to action, tracked publicly after.</a:t>
            </a:r>
          </a:p>
        </p:txBody>
      </p:sp>
      <p:pic>
        <p:nvPicPr>
          <p:cNvPr id="23" name="Picture 22" descr="ph_auth_roundtable.jpeg_4.20x2.50_0.30.jpg"/>
          <p:cNvPicPr>
            <a:picLocks noChangeAspect="1"/>
          </p:cNvPicPr>
          <p:nvPr/>
        </p:nvPicPr>
        <p:blipFill>
          <a:blip r:embed="rId6"/>
          <a:stretch>
            <a:fillRect/>
          </a:stretch>
        </p:blipFill>
        <p:spPr>
          <a:xfrm>
            <a:off x="7772400" y="1920240"/>
            <a:ext cx="3840480" cy="2286000"/>
          </a:xfrm>
          <a:prstGeom prst="rect">
            <a:avLst/>
          </a:prstGeom>
        </p:spPr>
      </p:pic>
      <p:sp>
        <p:nvSpPr>
          <p:cNvPr id="24" name="Rectangle 23"/>
          <p:cNvSpPr/>
          <p:nvPr/>
        </p:nvSpPr>
        <p:spPr>
          <a:xfrm>
            <a:off x="7772400" y="1920240"/>
            <a:ext cx="3840480" cy="2286000"/>
          </a:xfrm>
          <a:prstGeom prst="rect">
            <a:avLst/>
          </a:prstGeom>
          <a:noFill/>
          <a:ln w="12700">
            <a:solidFill>
              <a:srgbClr val="E8E9EE"/>
            </a:solidFill>
          </a:ln>
          <a:effectLst/>
        </p:spPr>
        <p:txBody>
          <a:bodyPr rtlCol="0" anchor="ctr"/>
          <a:lstStyle/>
          <a:p>
            <a:pPr algn="ctr"/>
          </a:p>
        </p:txBody>
      </p:sp>
      <p:sp>
        <p:nvSpPr>
          <p:cNvPr id="25" name="TextBox 24"/>
          <p:cNvSpPr txBox="1"/>
          <p:nvPr/>
        </p:nvSpPr>
        <p:spPr>
          <a:xfrm>
            <a:off x="7772400" y="425196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Authority engagement is continuous, audit teams present to the engineers who own the road.</a:t>
            </a:r>
          </a:p>
        </p:txBody>
      </p:sp>
      <p:pic>
        <p:nvPicPr>
          <p:cNvPr id="26" name="Picture 25" descr="ph_auth_handover.jpeg_4.20x1.55_0.25.jpg"/>
          <p:cNvPicPr>
            <a:picLocks noChangeAspect="1"/>
          </p:cNvPicPr>
          <p:nvPr/>
        </p:nvPicPr>
        <p:blipFill>
          <a:blip r:embed="rId7"/>
          <a:stretch>
            <a:fillRect/>
          </a:stretch>
        </p:blipFill>
        <p:spPr>
          <a:xfrm>
            <a:off x="7772400" y="4663440"/>
            <a:ext cx="3840480" cy="1417320"/>
          </a:xfrm>
          <a:prstGeom prst="rect">
            <a:avLst/>
          </a:prstGeom>
        </p:spPr>
      </p:pic>
      <p:sp>
        <p:nvSpPr>
          <p:cNvPr id="27" name="Rectangle 26"/>
          <p:cNvSpPr/>
          <p:nvPr/>
        </p:nvSpPr>
        <p:spPr>
          <a:xfrm>
            <a:off x="7772400" y="4663440"/>
            <a:ext cx="3840480" cy="1417320"/>
          </a:xfrm>
          <a:prstGeom prst="rect">
            <a:avLst/>
          </a:prstGeom>
          <a:noFill/>
          <a:ln w="12700">
            <a:solidFill>
              <a:srgbClr val="E8E9EE"/>
            </a:solidFill>
          </a:ln>
          <a:effectLst/>
        </p:spPr>
        <p:txBody>
          <a:bodyPr rtlCol="0" anchor="ctr"/>
          <a:lstStyle/>
          <a:p>
            <a:pPr algn="ct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23 /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THE LONG VIEW</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Built to be </a:t>
            </a:r>
            <a:r>
              <a:rPr sz="2250" b="1" i="0">
                <a:solidFill>
                  <a:srgbClr val="4A35FF"/>
                </a:solidFill>
                <a:latin typeface="Montserrat"/>
              </a:rPr>
              <a:t>institutionalised</a:t>
            </a:r>
            <a:r>
              <a:rPr sz="2250" b="1" i="0">
                <a:solidFill>
                  <a:srgbClr val="16181D"/>
                </a:solidFill>
                <a:latin typeface="Montserrat"/>
              </a:rPr>
              <a:t>: not built to depend on us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Three audit tracks matched to road types, and a role for CFI that narrows over time.</a:t>
            </a:r>
          </a:p>
        </p:txBody>
      </p:sp>
      <p:sp>
        <p:nvSpPr>
          <p:cNvPr id="8" name="Rounded Rectangle 7"/>
          <p:cNvSpPr/>
          <p:nvPr/>
        </p:nvSpPr>
        <p:spPr>
          <a:xfrm>
            <a:off x="566928"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9" name="Rectangle 8"/>
          <p:cNvSpPr/>
          <p:nvPr/>
        </p:nvSpPr>
        <p:spPr>
          <a:xfrm>
            <a:off x="566928" y="2103120"/>
            <a:ext cx="3611880" cy="384048"/>
          </a:xfrm>
          <a:prstGeom prst="rect">
            <a:avLst/>
          </a:prstGeom>
          <a:solidFill>
            <a:srgbClr val="EFEDFF"/>
          </a:solidFill>
          <a:ln>
            <a:noFill/>
          </a:ln>
          <a:effectLst/>
        </p:spPr>
        <p:txBody>
          <a:bodyPr rtlCol="0" anchor="ctr"/>
          <a:lstStyle/>
          <a:p>
            <a:pPr algn="ctr"/>
          </a:p>
        </p:txBody>
      </p:sp>
      <p:sp>
        <p:nvSpPr>
          <p:cNvPr id="10" name="TextBox 9"/>
          <p:cNvSpPr txBox="1"/>
          <p:nvPr/>
        </p:nvSpPr>
        <p:spPr>
          <a:xfrm>
            <a:off x="713232" y="2167128"/>
            <a:ext cx="3337560" cy="274320"/>
          </a:xfrm>
          <a:prstGeom prst="rect">
            <a:avLst/>
          </a:prstGeom>
          <a:noFill/>
        </p:spPr>
        <p:txBody>
          <a:bodyPr wrap="square" lIns="0" rIns="0" tIns="0" bIns="0" anchor="t">
            <a:spAutoFit/>
          </a:bodyPr>
          <a:lstStyle/>
          <a:p>
            <a:pPr algn="l">
              <a:lnSpc>
                <a:spcPct val="128000"/>
              </a:lnSpc>
            </a:pPr>
            <a:r>
              <a:rPr sz="1100" b="1" i="0">
                <a:solidFill>
                  <a:srgbClr val="4A35FF"/>
                </a:solidFill>
                <a:latin typeface="Montserrat"/>
              </a:rPr>
              <a:t>Track A, Institutional</a:t>
            </a:r>
          </a:p>
        </p:txBody>
      </p:sp>
      <p:sp>
        <p:nvSpPr>
          <p:cNvPr id="11" name="TextBox 10"/>
          <p:cNvSpPr txBox="1"/>
          <p:nvPr/>
        </p:nvSpPr>
        <p:spPr>
          <a:xfrm>
            <a:off x="713232"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IIT / NIT / SPA teams under expert mentors</a:t>
            </a:r>
          </a:p>
        </p:txBody>
      </p:sp>
      <p:sp>
        <p:nvSpPr>
          <p:cNvPr id="12" name="TextBox 11"/>
          <p:cNvSpPr txBox="1"/>
          <p:nvPr/>
        </p:nvSpPr>
        <p:spPr>
          <a:xfrm>
            <a:off x="713232"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Urban arterials, in-town state highways, district roads</a:t>
            </a:r>
          </a:p>
        </p:txBody>
      </p:sp>
      <p:sp>
        <p:nvSpPr>
          <p:cNvPr id="13" name="Rounded Rectangle 12"/>
          <p:cNvSpPr/>
          <p:nvPr/>
        </p:nvSpPr>
        <p:spPr>
          <a:xfrm>
            <a:off x="4288536"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14" name="Rectangle 13"/>
          <p:cNvSpPr/>
          <p:nvPr/>
        </p:nvSpPr>
        <p:spPr>
          <a:xfrm>
            <a:off x="4288536" y="2103120"/>
            <a:ext cx="3611880" cy="384048"/>
          </a:xfrm>
          <a:prstGeom prst="rect">
            <a:avLst/>
          </a:prstGeom>
          <a:solidFill>
            <a:srgbClr val="E7F4F4"/>
          </a:solidFill>
          <a:ln>
            <a:noFill/>
          </a:ln>
          <a:effectLst/>
        </p:spPr>
        <p:txBody>
          <a:bodyPr rtlCol="0" anchor="ctr"/>
          <a:lstStyle/>
          <a:p>
            <a:pPr algn="ctr"/>
          </a:p>
        </p:txBody>
      </p:sp>
      <p:sp>
        <p:nvSpPr>
          <p:cNvPr id="15" name="TextBox 14"/>
          <p:cNvSpPr txBox="1"/>
          <p:nvPr/>
        </p:nvSpPr>
        <p:spPr>
          <a:xfrm>
            <a:off x="4434840" y="2167128"/>
            <a:ext cx="3337560" cy="274320"/>
          </a:xfrm>
          <a:prstGeom prst="rect">
            <a:avLst/>
          </a:prstGeom>
          <a:noFill/>
        </p:spPr>
        <p:txBody>
          <a:bodyPr wrap="square" lIns="0" rIns="0" tIns="0" bIns="0" anchor="t">
            <a:spAutoFit/>
          </a:bodyPr>
          <a:lstStyle/>
          <a:p>
            <a:pPr algn="l">
              <a:lnSpc>
                <a:spcPct val="128000"/>
              </a:lnSpc>
            </a:pPr>
            <a:r>
              <a:rPr sz="1100" b="1" i="0">
                <a:solidFill>
                  <a:srgbClr val="0E8A8A"/>
                </a:solidFill>
                <a:latin typeface="Montserrat"/>
              </a:rPr>
              <a:t>Track B, NGO partners</a:t>
            </a:r>
          </a:p>
        </p:txBody>
      </p:sp>
      <p:sp>
        <p:nvSpPr>
          <p:cNvPr id="16" name="TextBox 15"/>
          <p:cNvSpPr txBox="1"/>
          <p:nvPr/>
        </p:nvSpPr>
        <p:spPr>
          <a:xfrm>
            <a:off x="4434840"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Field teams; desk-reviewed and re-verified by CFI</a:t>
            </a:r>
          </a:p>
        </p:txBody>
      </p:sp>
      <p:sp>
        <p:nvSpPr>
          <p:cNvPr id="17" name="TextBox 16"/>
          <p:cNvSpPr txBox="1"/>
          <p:nvPr/>
        </p:nvSpPr>
        <p:spPr>
          <a:xfrm>
            <a:off x="4434840"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District &amp; peri-urban corridors</a:t>
            </a:r>
          </a:p>
        </p:txBody>
      </p:sp>
      <p:sp>
        <p:nvSpPr>
          <p:cNvPr id="18" name="Rounded Rectangle 17"/>
          <p:cNvSpPr/>
          <p:nvPr/>
        </p:nvSpPr>
        <p:spPr>
          <a:xfrm>
            <a:off x="8010144"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19" name="Rectangle 18"/>
          <p:cNvSpPr/>
          <p:nvPr/>
        </p:nvSpPr>
        <p:spPr>
          <a:xfrm>
            <a:off x="8010144" y="2103120"/>
            <a:ext cx="3611880" cy="384048"/>
          </a:xfrm>
          <a:prstGeom prst="rect">
            <a:avLst/>
          </a:prstGeom>
          <a:solidFill>
            <a:srgbClr val="FDF3E3"/>
          </a:solidFill>
          <a:ln>
            <a:noFill/>
          </a:ln>
          <a:effectLst/>
        </p:spPr>
        <p:txBody>
          <a:bodyPr rtlCol="0" anchor="ctr"/>
          <a:lstStyle/>
          <a:p>
            <a:pPr algn="ctr"/>
          </a:p>
        </p:txBody>
      </p:sp>
      <p:sp>
        <p:nvSpPr>
          <p:cNvPr id="20" name="TextBox 19"/>
          <p:cNvSpPr txBox="1"/>
          <p:nvPr/>
        </p:nvSpPr>
        <p:spPr>
          <a:xfrm>
            <a:off x="8156448" y="2167128"/>
            <a:ext cx="3337560" cy="274320"/>
          </a:xfrm>
          <a:prstGeom prst="rect">
            <a:avLst/>
          </a:prstGeom>
          <a:noFill/>
        </p:spPr>
        <p:txBody>
          <a:bodyPr wrap="square" lIns="0" rIns="0" tIns="0" bIns="0" anchor="t">
            <a:spAutoFit/>
          </a:bodyPr>
          <a:lstStyle/>
          <a:p>
            <a:pPr algn="l">
              <a:lnSpc>
                <a:spcPct val="128000"/>
              </a:lnSpc>
            </a:pPr>
            <a:r>
              <a:rPr sz="1100" b="1" i="0">
                <a:solidFill>
                  <a:srgbClr val="E58900"/>
                </a:solidFill>
                <a:latin typeface="Montserrat"/>
              </a:rPr>
              <a:t>Track C, Certified RSAs</a:t>
            </a:r>
          </a:p>
        </p:txBody>
      </p:sp>
      <p:sp>
        <p:nvSpPr>
          <p:cNvPr id="21" name="TextBox 20"/>
          <p:cNvSpPr txBox="1"/>
          <p:nvPr/>
        </p:nvSpPr>
        <p:spPr>
          <a:xfrm>
            <a:off x="8156448"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CSIR-CRRI-certified auditors, full IRC SP-88</a:t>
            </a:r>
          </a:p>
        </p:txBody>
      </p:sp>
      <p:sp>
        <p:nvSpPr>
          <p:cNvPr id="22" name="TextBox 21"/>
          <p:cNvSpPr txBox="1"/>
          <p:nvPr/>
        </p:nvSpPr>
        <p:spPr>
          <a:xfrm>
            <a:off x="8156448"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National highways, complex junctions</a:t>
            </a:r>
          </a:p>
        </p:txBody>
      </p:sp>
      <p:sp>
        <p:nvSpPr>
          <p:cNvPr id="23" name="Rounded Rectangle 22"/>
          <p:cNvSpPr/>
          <p:nvPr/>
        </p:nvSpPr>
        <p:spPr>
          <a:xfrm>
            <a:off x="566928" y="4069080"/>
            <a:ext cx="1234440" cy="457200"/>
          </a:xfrm>
          <a:prstGeom prst="roundRect">
            <a:avLst>
              <a:gd name="adj" fmla="val 50000"/>
            </a:avLst>
          </a:prstGeom>
          <a:solidFill>
            <a:srgbClr val="F7F7FA"/>
          </a:solidFill>
          <a:ln>
            <a:noFill/>
          </a:ln>
          <a:effectLst/>
        </p:spPr>
        <p:txBody>
          <a:bodyPr rtlCol="0" anchor="ctr"/>
          <a:lstStyle/>
          <a:p>
            <a:pPr algn="ctr"/>
          </a:p>
        </p:txBody>
      </p:sp>
      <p:sp>
        <p:nvSpPr>
          <p:cNvPr id="24" name="TextBox 23"/>
          <p:cNvSpPr txBox="1"/>
          <p:nvPr/>
        </p:nvSpPr>
        <p:spPr>
          <a:xfrm>
            <a:off x="585216" y="4069080"/>
            <a:ext cx="1197864" cy="457200"/>
          </a:xfrm>
          <a:prstGeom prst="rect">
            <a:avLst/>
          </a:prstGeom>
          <a:noFill/>
        </p:spPr>
        <p:txBody>
          <a:bodyPr wrap="square" lIns="0" rIns="0" tIns="0" bIns="0" anchor="ctr">
            <a:spAutoFit/>
          </a:bodyPr>
          <a:lstStyle/>
          <a:p>
            <a:pPr algn="ctr">
              <a:lnSpc>
                <a:spcPct val="100000"/>
              </a:lnSpc>
            </a:pPr>
            <a:r>
              <a:rPr sz="1000" b="1" i="0">
                <a:solidFill>
                  <a:srgbClr val="4A35FF"/>
                </a:solidFill>
                <a:latin typeface="Montserrat"/>
              </a:rPr>
              <a:t>Today</a:t>
            </a:r>
          </a:p>
        </p:txBody>
      </p:sp>
      <p:sp>
        <p:nvSpPr>
          <p:cNvPr id="25" name="TextBox 24"/>
          <p:cNvSpPr txBox="1"/>
          <p:nvPr/>
        </p:nvSpPr>
        <p:spPr>
          <a:xfrm>
            <a:off x="1984248" y="4114800"/>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CFI runs cohorts, quality-controls audits and stewards the public portal.</a:t>
            </a:r>
          </a:p>
        </p:txBody>
      </p:sp>
      <p:sp>
        <p:nvSpPr>
          <p:cNvPr id="26" name="Rounded Rectangle 25"/>
          <p:cNvSpPr/>
          <p:nvPr/>
        </p:nvSpPr>
        <p:spPr>
          <a:xfrm>
            <a:off x="566928" y="4727448"/>
            <a:ext cx="1234440" cy="457200"/>
          </a:xfrm>
          <a:prstGeom prst="roundRect">
            <a:avLst>
              <a:gd name="adj" fmla="val 50000"/>
            </a:avLst>
          </a:prstGeom>
          <a:solidFill>
            <a:srgbClr val="F7F7FA"/>
          </a:solidFill>
          <a:ln>
            <a:noFill/>
          </a:ln>
          <a:effectLst/>
        </p:spPr>
        <p:txBody>
          <a:bodyPr rtlCol="0" anchor="ctr"/>
          <a:lstStyle/>
          <a:p>
            <a:pPr algn="ctr"/>
          </a:p>
        </p:txBody>
      </p:sp>
      <p:sp>
        <p:nvSpPr>
          <p:cNvPr id="27" name="TextBox 26"/>
          <p:cNvSpPr txBox="1"/>
          <p:nvPr/>
        </p:nvSpPr>
        <p:spPr>
          <a:xfrm>
            <a:off x="585216" y="4727448"/>
            <a:ext cx="1197864" cy="457200"/>
          </a:xfrm>
          <a:prstGeom prst="rect">
            <a:avLst/>
          </a:prstGeom>
          <a:noFill/>
        </p:spPr>
        <p:txBody>
          <a:bodyPr wrap="square" lIns="0" rIns="0" tIns="0" bIns="0" anchor="ctr">
            <a:spAutoFit/>
          </a:bodyPr>
          <a:lstStyle/>
          <a:p>
            <a:pPr algn="ctr">
              <a:lnSpc>
                <a:spcPct val="100000"/>
              </a:lnSpc>
            </a:pPr>
            <a:r>
              <a:rPr sz="1000" b="1" i="0">
                <a:solidFill>
                  <a:srgbClr val="0E8A8A"/>
                </a:solidFill>
                <a:latin typeface="Montserrat"/>
              </a:rPr>
              <a:t>Next</a:t>
            </a:r>
          </a:p>
        </p:txBody>
      </p:sp>
      <p:sp>
        <p:nvSpPr>
          <p:cNvPr id="28" name="TextBox 27"/>
          <p:cNvSpPr txBox="1"/>
          <p:nvPr/>
        </p:nvSpPr>
        <p:spPr>
          <a:xfrm>
            <a:off x="1984248" y="4773168"/>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Rakshak Audit Manual v1.0 codifies the method; universities field their own teams; NGOs run Track B directly.</a:t>
            </a:r>
          </a:p>
        </p:txBody>
      </p:sp>
      <p:sp>
        <p:nvSpPr>
          <p:cNvPr id="29" name="Rounded Rectangle 28"/>
          <p:cNvSpPr/>
          <p:nvPr/>
        </p:nvSpPr>
        <p:spPr>
          <a:xfrm>
            <a:off x="566928" y="5385816"/>
            <a:ext cx="1234440" cy="457200"/>
          </a:xfrm>
          <a:prstGeom prst="roundRect">
            <a:avLst>
              <a:gd name="adj" fmla="val 50000"/>
            </a:avLst>
          </a:prstGeom>
          <a:solidFill>
            <a:srgbClr val="F7F7FA"/>
          </a:solidFill>
          <a:ln>
            <a:noFill/>
          </a:ln>
          <a:effectLst/>
        </p:spPr>
        <p:txBody>
          <a:bodyPr rtlCol="0" anchor="ctr"/>
          <a:lstStyle/>
          <a:p>
            <a:pPr algn="ctr"/>
          </a:p>
        </p:txBody>
      </p:sp>
      <p:sp>
        <p:nvSpPr>
          <p:cNvPr id="30" name="TextBox 29"/>
          <p:cNvSpPr txBox="1"/>
          <p:nvPr/>
        </p:nvSpPr>
        <p:spPr>
          <a:xfrm>
            <a:off x="585216" y="5385816"/>
            <a:ext cx="1197864" cy="457200"/>
          </a:xfrm>
          <a:prstGeom prst="rect">
            <a:avLst/>
          </a:prstGeom>
          <a:noFill/>
        </p:spPr>
        <p:txBody>
          <a:bodyPr wrap="square" lIns="0" rIns="0" tIns="0" bIns="0" anchor="ctr">
            <a:spAutoFit/>
          </a:bodyPr>
          <a:lstStyle/>
          <a:p>
            <a:pPr algn="ctr">
              <a:lnSpc>
                <a:spcPct val="100000"/>
              </a:lnSpc>
            </a:pPr>
            <a:r>
              <a:rPr sz="1000" b="1" i="0">
                <a:solidFill>
                  <a:srgbClr val="0A9955"/>
                </a:solidFill>
                <a:latin typeface="Montserrat"/>
              </a:rPr>
              <a:t>Mature</a:t>
            </a:r>
          </a:p>
        </p:txBody>
      </p:sp>
      <p:sp>
        <p:nvSpPr>
          <p:cNvPr id="31" name="TextBox 30"/>
          <p:cNvSpPr txBox="1"/>
          <p:nvPr/>
        </p:nvSpPr>
        <p:spPr>
          <a:xfrm>
            <a:off x="1984248" y="5431536"/>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States engage certified RSAs for Track C without CFI as intermediary; the portal remains the shared public record.</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24 /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VULNERABLE ROAD USERS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growing evidence base on </a:t>
            </a:r>
            <a:r>
              <a:rPr sz="2250" b="1" i="0">
                <a:solidFill>
                  <a:srgbClr val="4A35FF"/>
                </a:solidFill>
                <a:latin typeface="Montserrat"/>
              </a:rPr>
              <a:t>those most at risk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Roughly 70% of India's road crash fatalities are vulnerable road users, pedestrians, motorcyclists, bicyclists.</a:t>
            </a:r>
          </a:p>
        </p:txBody>
      </p:sp>
      <p:sp>
        <p:nvSpPr>
          <p:cNvPr id="8" name="Oval 7"/>
          <p:cNvSpPr/>
          <p:nvPr/>
        </p:nvSpPr>
        <p:spPr>
          <a:xfrm>
            <a:off x="566928" y="2240280"/>
            <a:ext cx="365760" cy="365760"/>
          </a:xfrm>
          <a:prstGeom prst="ellipse">
            <a:avLst/>
          </a:prstGeom>
          <a:solidFill>
            <a:srgbClr val="FDF3E3"/>
          </a:solidFill>
          <a:ln>
            <a:noFill/>
          </a:ln>
          <a:effectLst/>
        </p:spPr>
        <p:txBody>
          <a:bodyPr rtlCol="0" anchor="ctr"/>
          <a:lstStyle/>
          <a:p>
            <a:pPr algn="ctr"/>
          </a:p>
        </p:txBody>
      </p:sp>
      <p:pic>
        <p:nvPicPr>
          <p:cNvPr id="9" name="Picture 8" descr="bike_E58900_256_2.0.png"/>
          <p:cNvPicPr>
            <a:picLocks noChangeAspect="1"/>
          </p:cNvPicPr>
          <p:nvPr/>
        </p:nvPicPr>
        <p:blipFill>
          <a:blip r:embed="rId2"/>
          <a:stretch>
            <a:fillRect/>
          </a:stretch>
        </p:blipFill>
        <p:spPr>
          <a:xfrm>
            <a:off x="654710" y="2328062"/>
            <a:ext cx="190195" cy="190195"/>
          </a:xfrm>
          <a:prstGeom prst="rect">
            <a:avLst/>
          </a:prstGeom>
        </p:spPr>
      </p:pic>
      <p:sp>
        <p:nvSpPr>
          <p:cNvPr id="10" name="TextBox 9"/>
          <p:cNvSpPr txBox="1"/>
          <p:nvPr/>
        </p:nvSpPr>
        <p:spPr>
          <a:xfrm>
            <a:off x="1097280" y="22219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Gig &amp; delivery riders</a:t>
            </a:r>
          </a:p>
        </p:txBody>
      </p:sp>
      <p:sp>
        <p:nvSpPr>
          <p:cNvPr id="11" name="TextBox 10"/>
          <p:cNvSpPr txBox="1"/>
          <p:nvPr/>
        </p:nvSpPr>
        <p:spPr>
          <a:xfrm>
            <a:off x="3566160" y="22219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'When Risks Become Routine' (Feb 2026): incentive pressure, helmet compliance and training gaps, 300+ rider study, Delhi NCR.</a:t>
            </a:r>
          </a:p>
        </p:txBody>
      </p:sp>
      <p:sp>
        <p:nvSpPr>
          <p:cNvPr id="12" name="Oval 11"/>
          <p:cNvSpPr/>
          <p:nvPr/>
        </p:nvSpPr>
        <p:spPr>
          <a:xfrm>
            <a:off x="566928" y="3154680"/>
            <a:ext cx="365760" cy="365760"/>
          </a:xfrm>
          <a:prstGeom prst="ellipse">
            <a:avLst/>
          </a:prstGeom>
          <a:solidFill>
            <a:srgbClr val="EFEDFF"/>
          </a:solidFill>
          <a:ln>
            <a:noFill/>
          </a:ln>
          <a:effectLst/>
        </p:spPr>
        <p:txBody>
          <a:bodyPr rtlCol="0" anchor="ctr"/>
          <a:lstStyle/>
          <a:p>
            <a:pPr algn="ctr"/>
          </a:p>
        </p:txBody>
      </p:sp>
      <p:pic>
        <p:nvPicPr>
          <p:cNvPr id="13" name="Picture 12" descr="footprints_4A35FF_256_2.0.png"/>
          <p:cNvPicPr>
            <a:picLocks noChangeAspect="1"/>
          </p:cNvPicPr>
          <p:nvPr/>
        </p:nvPicPr>
        <p:blipFill>
          <a:blip r:embed="rId3"/>
          <a:stretch>
            <a:fillRect/>
          </a:stretch>
        </p:blipFill>
        <p:spPr>
          <a:xfrm>
            <a:off x="654710" y="3242462"/>
            <a:ext cx="190195" cy="190195"/>
          </a:xfrm>
          <a:prstGeom prst="rect">
            <a:avLst/>
          </a:prstGeom>
        </p:spPr>
      </p:pic>
      <p:sp>
        <p:nvSpPr>
          <p:cNvPr id="14" name="TextBox 13"/>
          <p:cNvSpPr txBox="1"/>
          <p:nvPr/>
        </p:nvSpPr>
        <p:spPr>
          <a:xfrm>
            <a:off x="1097280" y="3136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Pedestrian-first audits</a:t>
            </a:r>
          </a:p>
        </p:txBody>
      </p:sp>
      <p:sp>
        <p:nvSpPr>
          <p:cNvPr id="15" name="TextBox 14"/>
          <p:cNvSpPr txBox="1"/>
          <p:nvPr/>
        </p:nvSpPr>
        <p:spPr>
          <a:xfrm>
            <a:off x="3566160" y="31363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Rakshak audits document crossings, footpaths and lighting as designable protections, 900+ stakeholders consulted.</a:t>
            </a:r>
          </a:p>
        </p:txBody>
      </p:sp>
      <p:sp>
        <p:nvSpPr>
          <p:cNvPr id="16" name="Oval 15"/>
          <p:cNvSpPr/>
          <p:nvPr/>
        </p:nvSpPr>
        <p:spPr>
          <a:xfrm>
            <a:off x="566928" y="4069080"/>
            <a:ext cx="365760" cy="365760"/>
          </a:xfrm>
          <a:prstGeom prst="ellipse">
            <a:avLst/>
          </a:prstGeom>
          <a:solidFill>
            <a:srgbClr val="E7F4F4"/>
          </a:solidFill>
          <a:ln>
            <a:noFill/>
          </a:ln>
          <a:effectLst/>
        </p:spPr>
        <p:txBody>
          <a:bodyPr rtlCol="0" anchor="ctr"/>
          <a:lstStyle/>
          <a:p>
            <a:pPr algn="ctr"/>
          </a:p>
        </p:txBody>
      </p:sp>
      <p:pic>
        <p:nvPicPr>
          <p:cNvPr id="17" name="Picture 16" descr="school_0E8A8A_256_2.0.png"/>
          <p:cNvPicPr>
            <a:picLocks noChangeAspect="1"/>
          </p:cNvPicPr>
          <p:nvPr/>
        </p:nvPicPr>
        <p:blipFill>
          <a:blip r:embed="rId4"/>
          <a:stretch>
            <a:fillRect/>
          </a:stretch>
        </p:blipFill>
        <p:spPr>
          <a:xfrm>
            <a:off x="654710" y="4156862"/>
            <a:ext cx="190195" cy="190195"/>
          </a:xfrm>
          <a:prstGeom prst="rect">
            <a:avLst/>
          </a:prstGeom>
        </p:spPr>
      </p:pic>
      <p:sp>
        <p:nvSpPr>
          <p:cNvPr id="18" name="TextBox 17"/>
          <p:cNvSpPr txBox="1"/>
          <p:nvPr/>
        </p:nvSpPr>
        <p:spPr>
          <a:xfrm>
            <a:off x="1097280" y="40507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School zones</a:t>
            </a:r>
          </a:p>
        </p:txBody>
      </p:sp>
      <p:sp>
        <p:nvSpPr>
          <p:cNvPr id="19" name="TextBox 18"/>
          <p:cNvSpPr txBox="1"/>
          <p:nvPr/>
        </p:nvSpPr>
        <p:spPr>
          <a:xfrm>
            <a:off x="3566160" y="40507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College-led, standards-based school-zone screening under exploration as the next extension of the audit platform.</a:t>
            </a:r>
          </a:p>
        </p:txBody>
      </p:sp>
      <p:sp>
        <p:nvSpPr>
          <p:cNvPr id="20" name="Oval 19"/>
          <p:cNvSpPr/>
          <p:nvPr/>
        </p:nvSpPr>
        <p:spPr>
          <a:xfrm>
            <a:off x="566928" y="4983480"/>
            <a:ext cx="365760" cy="365760"/>
          </a:xfrm>
          <a:prstGeom prst="ellipse">
            <a:avLst/>
          </a:prstGeom>
          <a:solidFill>
            <a:srgbClr val="E9F7F0"/>
          </a:solidFill>
          <a:ln>
            <a:noFill/>
          </a:ln>
          <a:effectLst/>
        </p:spPr>
        <p:txBody>
          <a:bodyPr rtlCol="0" anchor="ctr"/>
          <a:lstStyle/>
          <a:p>
            <a:pPr algn="ctr"/>
          </a:p>
        </p:txBody>
      </p:sp>
      <p:pic>
        <p:nvPicPr>
          <p:cNvPr id="21" name="Picture 20" descr="shield_0A9955_256_2.0.png"/>
          <p:cNvPicPr>
            <a:picLocks noChangeAspect="1"/>
          </p:cNvPicPr>
          <p:nvPr/>
        </p:nvPicPr>
        <p:blipFill>
          <a:blip r:embed="rId5"/>
          <a:stretch>
            <a:fillRect/>
          </a:stretch>
        </p:blipFill>
        <p:spPr>
          <a:xfrm>
            <a:off x="654710" y="5071262"/>
            <a:ext cx="190195" cy="190195"/>
          </a:xfrm>
          <a:prstGeom prst="rect">
            <a:avLst/>
          </a:prstGeom>
        </p:spPr>
      </p:pic>
      <p:sp>
        <p:nvSpPr>
          <p:cNvPr id="22" name="TextBox 21"/>
          <p:cNvSpPr txBox="1"/>
          <p:nvPr/>
        </p:nvSpPr>
        <p:spPr>
          <a:xfrm>
            <a:off x="1097280" y="49651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Enforcement that protects VRUs</a:t>
            </a:r>
          </a:p>
        </p:txBody>
      </p:sp>
      <p:sp>
        <p:nvSpPr>
          <p:cNvPr id="23" name="TextBox 22"/>
          <p:cNvSpPr txBox="1"/>
          <p:nvPr/>
        </p:nvSpPr>
        <p:spPr>
          <a:xfrm>
            <a:off x="3566160" y="49651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SATARK helps police prioritise the small share of vehicles with the worst records, targeted, fair, technology-led.</a:t>
            </a:r>
          </a:p>
        </p:txBody>
      </p:sp>
      <p:pic>
        <p:nvPicPr>
          <p:cNvPr id="24" name="Picture 23" descr="chart_vru_trends.png"/>
          <p:cNvPicPr>
            <a:picLocks noChangeAspect="1"/>
          </p:cNvPicPr>
          <p:nvPr/>
        </p:nvPicPr>
        <p:blipFill>
          <a:blip r:embed="rId6"/>
          <a:stretch>
            <a:fillRect/>
          </a:stretch>
        </p:blipFill>
        <p:spPr>
          <a:xfrm>
            <a:off x="7772400" y="2240280"/>
            <a:ext cx="2994263" cy="2011680"/>
          </a:xfrm>
          <a:prstGeom prst="rect">
            <a:avLst/>
          </a:prstGeom>
        </p:spPr>
      </p:pic>
      <p:sp>
        <p:nvSpPr>
          <p:cNvPr id="25" name="Rectangle 24"/>
          <p:cNvSpPr/>
          <p:nvPr/>
        </p:nvSpPr>
        <p:spPr>
          <a:xfrm>
            <a:off x="7772400" y="2240280"/>
            <a:ext cx="2994263" cy="2011680"/>
          </a:xfrm>
          <a:prstGeom prst="rect">
            <a:avLst/>
          </a:prstGeom>
          <a:noFill/>
          <a:ln w="12700">
            <a:solidFill>
              <a:srgbClr val="E8E9EE"/>
            </a:solidFill>
          </a:ln>
          <a:effectLst/>
        </p:spPr>
        <p:txBody>
          <a:bodyPr rtlCol="0" anchor="ctr"/>
          <a:lstStyle/>
          <a:p>
            <a:pPr algn="ctr"/>
          </a:p>
        </p:txBody>
      </p:sp>
      <p:sp>
        <p:nvSpPr>
          <p:cNvPr id="26" name="TextBox 25"/>
          <p:cNvSpPr txBox="1"/>
          <p:nvPr/>
        </p:nvSpPr>
        <p:spPr>
          <a:xfrm>
            <a:off x="7772400" y="4297680"/>
            <a:ext cx="2994263"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Fatality trends by road-user type, 2014–2023 (MoRTH; via IndiaSpend).</a:t>
            </a:r>
          </a:p>
        </p:txBody>
      </p:sp>
      <p:pic>
        <p:nvPicPr>
          <p:cNvPr id="27" name="Picture 26" descr="ph_gig_riders.jpg_4.20x1.45_0.35.jpg"/>
          <p:cNvPicPr>
            <a:picLocks noChangeAspect="1"/>
          </p:cNvPicPr>
          <p:nvPr/>
        </p:nvPicPr>
        <p:blipFill>
          <a:blip r:embed="rId7"/>
          <a:stretch>
            <a:fillRect/>
          </a:stretch>
        </p:blipFill>
        <p:spPr>
          <a:xfrm>
            <a:off x="7772400" y="4754880"/>
            <a:ext cx="3840480" cy="1325880"/>
          </a:xfrm>
          <a:prstGeom prst="rect">
            <a:avLst/>
          </a:prstGeom>
        </p:spPr>
      </p:pic>
      <p:sp>
        <p:nvSpPr>
          <p:cNvPr id="28" name="Rectangle 27"/>
          <p:cNvSpPr/>
          <p:nvPr/>
        </p:nvSpPr>
        <p:spPr>
          <a:xfrm>
            <a:off x="7772400" y="4754880"/>
            <a:ext cx="3840480" cy="1325880"/>
          </a:xfrm>
          <a:prstGeom prst="rect">
            <a:avLst/>
          </a:prstGeom>
          <a:noFill/>
          <a:ln w="12700">
            <a:solidFill>
              <a:srgbClr val="E8E9EE"/>
            </a:solidFill>
          </a:ln>
          <a:effectLst/>
        </p:spPr>
        <p:txBody>
          <a:bodyPr rtlCol="0" anchor="ctr"/>
          <a:lstStyle/>
          <a:p>
            <a:pPr algn="ct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25 /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OUR CONTRIBUTION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HOW WE CAN CONTRIBUTE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concrete offers to </a:t>
            </a:r>
            <a:r>
              <a:rPr sz="2250" b="1" i="0">
                <a:solidFill>
                  <a:srgbClr val="4A35FF"/>
                </a:solidFill>
                <a:latin typeface="Montserrat"/>
              </a:rPr>
              <a:t>Working Group 2</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All four are ready today, need no funding from the Board, and can begin within weeks.</a:t>
            </a:r>
          </a:p>
        </p:txBody>
      </p:sp>
      <p:sp>
        <p:nvSpPr>
          <p:cNvPr id="8" name="Rounded Rectangle 7"/>
          <p:cNvSpPr/>
          <p:nvPr/>
        </p:nvSpPr>
        <p:spPr>
          <a:xfrm>
            <a:off x="566928" y="2057400"/>
            <a:ext cx="11055096" cy="841248"/>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749808" y="2258568"/>
            <a:ext cx="438912" cy="438912"/>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749808" y="224759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11" name="TextBox 10"/>
          <p:cNvSpPr txBox="1"/>
          <p:nvPr/>
        </p:nvSpPr>
        <p:spPr>
          <a:xfrm>
            <a:off x="1408176" y="2176272"/>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Ready evidence for standard-setting</a:t>
            </a:r>
          </a:p>
        </p:txBody>
      </p:sp>
      <p:sp>
        <p:nvSpPr>
          <p:cNvPr id="12" name="TextBox 11"/>
          <p:cNvSpPr txBox="1"/>
          <p:nvPr/>
        </p:nvSpPr>
        <p:spPr>
          <a:xfrm>
            <a:off x="5138928" y="2176272"/>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Site-level audit data, crash-pattern analysis and costed intervention designs across emerging hotspots and official black spots, for rectification protocols and speed-management guidance.</a:t>
            </a:r>
          </a:p>
        </p:txBody>
      </p:sp>
      <p:sp>
        <p:nvSpPr>
          <p:cNvPr id="13" name="Rounded Rectangle 12"/>
          <p:cNvSpPr/>
          <p:nvPr/>
        </p:nvSpPr>
        <p:spPr>
          <a:xfrm>
            <a:off x="566928" y="3026664"/>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749808" y="3227832"/>
            <a:ext cx="438912" cy="438912"/>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749808" y="321686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6" name="TextBox 15"/>
          <p:cNvSpPr txBox="1"/>
          <p:nvPr/>
        </p:nvSpPr>
        <p:spPr>
          <a:xfrm>
            <a:off x="1408176" y="3145536"/>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live testing ground</a:t>
            </a:r>
          </a:p>
        </p:txBody>
      </p:sp>
      <p:sp>
        <p:nvSpPr>
          <p:cNvPr id="17" name="TextBox 16"/>
          <p:cNvSpPr txBox="1"/>
          <p:nvPr/>
        </p:nvSpPr>
        <p:spPr>
          <a:xfrm>
            <a:off x="5138928" y="3145536"/>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Active district relationships in Gurugram, South-West Delhi and Jaipur offer a ready pipeline to pilot or stress-test draft recommendations before national rollout.</a:t>
            </a:r>
          </a:p>
        </p:txBody>
      </p:sp>
      <p:sp>
        <p:nvSpPr>
          <p:cNvPr id="18" name="Rounded Rectangle 17"/>
          <p:cNvSpPr/>
          <p:nvPr/>
        </p:nvSpPr>
        <p:spPr>
          <a:xfrm>
            <a:off x="566928" y="3995928"/>
            <a:ext cx="11055096" cy="841248"/>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749808" y="4197096"/>
            <a:ext cx="438912" cy="438912"/>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749808" y="418612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1" name="TextBox 20"/>
          <p:cNvSpPr txBox="1"/>
          <p:nvPr/>
        </p:nvSpPr>
        <p:spPr>
          <a:xfrm>
            <a:off x="1408176" y="4114800"/>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Ground-level implementation diagnostics</a:t>
            </a:r>
          </a:p>
        </p:txBody>
      </p:sp>
      <p:sp>
        <p:nvSpPr>
          <p:cNvPr id="22" name="TextBox 21"/>
          <p:cNvSpPr txBox="1"/>
          <p:nvPr/>
        </p:nvSpPr>
        <p:spPr>
          <a:xfrm>
            <a:off x="5138928" y="4114800"/>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Granular, field-verified insight into how DRSCs and road-owning agencies actually move, meeting cadence, data use, follow-through.</a:t>
            </a:r>
          </a:p>
        </p:txBody>
      </p:sp>
      <p:sp>
        <p:nvSpPr>
          <p:cNvPr id="23" name="Rounded Rectangle 22"/>
          <p:cNvSpPr/>
          <p:nvPr/>
        </p:nvSpPr>
        <p:spPr>
          <a:xfrm>
            <a:off x="566928" y="4965192"/>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749808" y="5166360"/>
            <a:ext cx="438912" cy="438912"/>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749808" y="515538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26" name="TextBox 25"/>
          <p:cNvSpPr txBox="1"/>
          <p:nvPr/>
        </p:nvSpPr>
        <p:spPr>
          <a:xfrm>
            <a:off x="1408176" y="5084064"/>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Technical bench strength on request</a:t>
            </a:r>
          </a:p>
        </p:txBody>
      </p:sp>
      <p:sp>
        <p:nvSpPr>
          <p:cNvPr id="27" name="TextBox 26"/>
          <p:cNvSpPr txBox="1"/>
          <p:nvPr/>
        </p:nvSpPr>
        <p:spPr>
          <a:xfrm>
            <a:off x="5138928" y="5084064"/>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Our academic and expert network stands ready for drafting, review and technical input on road design, speed and VRU standards.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26 /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1874519"/>
            <a:ext cx="10515600" cy="1280160"/>
          </a:xfrm>
          <a:prstGeom prst="rect">
            <a:avLst/>
          </a:prstGeom>
          <a:noFill/>
        </p:spPr>
        <p:txBody>
          <a:bodyPr wrap="square" lIns="0" rIns="0" tIns="0" bIns="0" anchor="t">
            <a:spAutoFit/>
          </a:bodyPr>
          <a:lstStyle/>
          <a:p>
            <a:pPr algn="l">
              <a:lnSpc>
                <a:spcPct val="120000"/>
              </a:lnSpc>
            </a:pPr>
            <a:r>
              <a:rPr sz="3000" b="1" i="0">
                <a:solidFill>
                  <a:srgbClr val="FFFFFF"/>
                </a:solidFill>
                <a:latin typeface="Montserrat"/>
              </a:rPr>
              <a:t>We would be honoured to contribute</a:t>
            </a:r>
          </a:p>
          <a:p>
            <a:pPr algn="l">
              <a:lnSpc>
                <a:spcPct val="120000"/>
              </a:lnSpc>
            </a:pPr>
            <a:r>
              <a:rPr sz="3000" b="1" i="0">
                <a:solidFill>
                  <a:srgbClr val="FFFFFF"/>
                </a:solidFill>
                <a:latin typeface="Montserrat"/>
              </a:rPr>
              <a:t>to Working Group 2.</a:t>
            </a:r>
          </a:p>
        </p:txBody>
      </p:sp>
      <p:sp>
        <p:nvSpPr>
          <p:cNvPr id="5" name="TextBox 4"/>
          <p:cNvSpPr txBox="1"/>
          <p:nvPr/>
        </p:nvSpPr>
        <p:spPr>
          <a:xfrm>
            <a:off x="566928" y="3383280"/>
            <a:ext cx="9601200" cy="548640"/>
          </a:xfrm>
          <a:prstGeom prst="rect">
            <a:avLst/>
          </a:prstGeom>
          <a:noFill/>
        </p:spPr>
        <p:txBody>
          <a:bodyPr wrap="square" lIns="0" rIns="0" tIns="0" bIns="0" anchor="t">
            <a:spAutoFit/>
          </a:bodyPr>
          <a:lstStyle/>
          <a:p>
            <a:pPr algn="l">
              <a:lnSpc>
                <a:spcPct val="140000"/>
              </a:lnSpc>
            </a:pPr>
            <a:r>
              <a:rPr sz="1200" b="0" i="0">
                <a:solidFill>
                  <a:srgbClr val="C8C0FF"/>
                </a:solidFill>
                <a:latin typeface="Geist"/>
              </a:rPr>
              <a:t>Our evidence, our district relationships, our technology and our expert bench are available to the Board, in whichever form is most useful.</a:t>
            </a:r>
          </a:p>
        </p:txBody>
      </p:sp>
      <p:cxnSp>
        <p:nvCxnSpPr>
          <p:cNvPr id="6" name="Connector 5"/>
          <p:cNvCxnSpPr/>
          <p:nvPr/>
        </p:nvCxnSpPr>
        <p:spPr>
          <a:xfrm>
            <a:off x="566928" y="4160520"/>
            <a:ext cx="4754880" cy="0"/>
          </a:xfrm>
          <a:prstGeom prst="line">
            <a:avLst/>
          </a:prstGeom>
          <a:ln w="12700">
            <a:solidFill>
              <a:srgbClr val="6A55FF"/>
            </a:solidFill>
          </a:ln>
          <a:effectLst/>
        </p:spPr>
      </p:cxnSp>
      <p:sp>
        <p:nvSpPr>
          <p:cNvPr id="7" name="TextBox 6"/>
          <p:cNvSpPr txBox="1"/>
          <p:nvPr/>
        </p:nvSpPr>
        <p:spPr>
          <a:xfrm>
            <a:off x="566928" y="4343400"/>
            <a:ext cx="7863840" cy="777240"/>
          </a:xfrm>
          <a:prstGeom prst="rect">
            <a:avLst/>
          </a:prstGeom>
          <a:noFill/>
        </p:spPr>
        <p:txBody>
          <a:bodyPr wrap="square" lIns="0" rIns="0" tIns="0" bIns="0" anchor="t">
            <a:spAutoFit/>
          </a:bodyPr>
          <a:lstStyle/>
          <a:p>
            <a:pPr algn="l">
              <a:lnSpc>
                <a:spcPct val="135000"/>
              </a:lnSpc>
            </a:pPr>
            <a:r>
              <a:rPr sz="1350" b="1" i="1">
                <a:solidFill>
                  <a:srgbClr val="FFFFFF"/>
                </a:solidFill>
                <a:latin typeface="Montserrat"/>
              </a:rPr>
              <a:t>"We already know what is going wrong. What we need now is more responsibility, more discipline, more respect for life."</a:t>
            </a:r>
          </a:p>
        </p:txBody>
      </p:sp>
      <p:sp>
        <p:nvSpPr>
          <p:cNvPr id="8" name="TextBox 7"/>
          <p:cNvSpPr txBox="1"/>
          <p:nvPr/>
        </p:nvSpPr>
        <p:spPr>
          <a:xfrm>
            <a:off x="566928" y="5138928"/>
            <a:ext cx="73152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MS Dhoni · Goodwill Ambassador, Crashfree India</a:t>
            </a:r>
          </a:p>
        </p:txBody>
      </p:sp>
      <p:pic>
        <p:nvPicPr>
          <p:cNvPr id="9" name="Picture 8" descr="globe_C8C0FF_256_2.0.png"/>
          <p:cNvPicPr>
            <a:picLocks noChangeAspect="1"/>
          </p:cNvPicPr>
          <p:nvPr/>
        </p:nvPicPr>
        <p:blipFill>
          <a:blip r:embed="rId3"/>
          <a:stretch>
            <a:fillRect/>
          </a:stretch>
        </p:blipFill>
        <p:spPr>
          <a:xfrm>
            <a:off x="566928" y="5577840"/>
            <a:ext cx="256032" cy="256032"/>
          </a:xfrm>
          <a:prstGeom prst="rect">
            <a:avLst/>
          </a:prstGeom>
        </p:spPr>
      </p:pic>
      <p:sp>
        <p:nvSpPr>
          <p:cNvPr id="10" name="TextBox 9"/>
          <p:cNvSpPr txBox="1"/>
          <p:nvPr/>
        </p:nvSpPr>
        <p:spPr>
          <a:xfrm>
            <a:off x="978408" y="5559552"/>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crashfreeindia.org</a:t>
            </a:r>
          </a:p>
        </p:txBody>
      </p:sp>
      <p:pic>
        <p:nvPicPr>
          <p:cNvPr id="11" name="Picture 10" descr="mail_C8C0FF_256_2.0.png"/>
          <p:cNvPicPr>
            <a:picLocks noChangeAspect="1"/>
          </p:cNvPicPr>
          <p:nvPr/>
        </p:nvPicPr>
        <p:blipFill>
          <a:blip r:embed="rId4"/>
          <a:stretch>
            <a:fillRect/>
          </a:stretch>
        </p:blipFill>
        <p:spPr>
          <a:xfrm>
            <a:off x="566928" y="5998464"/>
            <a:ext cx="256032" cy="256032"/>
          </a:xfrm>
          <a:prstGeom prst="rect">
            <a:avLst/>
          </a:prstGeom>
        </p:spPr>
      </p:pic>
      <p:sp>
        <p:nvSpPr>
          <p:cNvPr id="12" name="TextBox 11"/>
          <p:cNvSpPr txBox="1"/>
          <p:nvPr/>
        </p:nvSpPr>
        <p:spPr>
          <a:xfrm>
            <a:off x="978408" y="5980176"/>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akhtar@crashfreeindia.org  ·  helpdesk@crashfreeindia.org</a:t>
            </a:r>
          </a:p>
        </p:txBody>
      </p:sp>
      <p:sp>
        <p:nvSpPr>
          <p:cNvPr id="13" name="TextBox 12"/>
          <p:cNvSpPr txBox="1"/>
          <p:nvPr/>
        </p:nvSpPr>
        <p:spPr>
          <a:xfrm>
            <a:off x="566928" y="644652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pic>
        <p:nvPicPr>
          <p:cNvPr id="14" name="Picture 13" descr="ph_dhoni_white.jpg_3.10x4.20_0.10.jpg"/>
          <p:cNvPicPr>
            <a:picLocks noChangeAspect="1"/>
          </p:cNvPicPr>
          <p:nvPr/>
        </p:nvPicPr>
        <p:blipFill>
          <a:blip r:embed="rId5"/>
          <a:stretch>
            <a:fillRect/>
          </a:stretch>
        </p:blipFill>
        <p:spPr>
          <a:xfrm>
            <a:off x="8778240" y="1874519"/>
            <a:ext cx="2834640" cy="3840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