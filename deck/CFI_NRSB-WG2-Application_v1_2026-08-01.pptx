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29.png"/><Relationship Id="rId5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651760" cy="3664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777589"/>
                </a:solidFill>
                <a:latin typeface="Montserrat"/>
              </a:rPr>
              <a:t>Expression of Interest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A1C1C"/>
                </a:solidFill>
                <a:latin typeface="Montserrat"/>
              </a:rPr>
              <a:t>Working Group 2:</a:t>
            </a:r>
          </a:p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A1C1C"/>
                </a:solidFill>
                <a:latin typeface="Montserrat"/>
              </a:rPr>
              <a:t>Safe Roads, Speeds &amp; Vulnerable Road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C1C"/>
                </a:solidFill>
                <a:latin typeface="Geist"/>
              </a:rPr>
              <a:t>Submitted to the National Road Safety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77589"/>
                </a:solidFill>
                <a:latin typeface="Geist"/>
              </a:rPr>
              <a:t>by Crashfree India (Vision Zero Trust) · August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669280"/>
            <a:ext cx="2139696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2139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1M+ people reached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6936" y="5669280"/>
            <a:ext cx="1275588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5669280"/>
            <a:ext cx="12755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18 cities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9684" y="5669280"/>
            <a:ext cx="2619756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9684" y="5669280"/>
            <a:ext cx="26197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25+ authority approvals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5669280"/>
            <a:ext cx="2427732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5669280"/>
            <a:ext cx="24277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4 district committees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crashfreeindia.org · helpdesk@crashfreeindia.org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Crashfree India: a nonprofit working for safer roads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Registered as Vision Zero Trust. Co-founded by Cars24 and the Indian Road Safety Council, June 2025. We follow the global Vision Zero principle: no loss of life on the road is acceptable.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28600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earch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226771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Evidence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77589"/>
                </a:solidFill>
                <a:latin typeface="Geist"/>
              </a:rPr>
              <a:t>Structured field audits, file reviews and research to official standards — not opinion.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3580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27248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30175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Institutional collaboration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35808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77589"/>
                </a:solidFill>
                <a:latin typeface="Geist"/>
              </a:rPr>
              <a:t>We work through PWDs, NHAI, transport departments, police and District Road Safety Committees.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78561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users-round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19456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376732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Youth-led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85616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77589"/>
                </a:solidFill>
                <a:latin typeface="Geist"/>
              </a:rPr>
              <a:t>Trained student teams from IITs, NITs and SPAs add auditing hands the system needs.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53542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monitor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26864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4440" y="451713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Technology for follow-through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535424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77589"/>
                </a:solidFill>
                <a:latin typeface="Geist"/>
              </a:rPr>
              <a:t>Public dashboards track every recommendation from submission to completion.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86400"/>
            <a:ext cx="10911535" cy="5486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Backed by a US$3 million, three-year commitment from Cars24 — with programmes, not overheads, receiving 71% of the budget.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One year of work across four connected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Each area strengthens the others — audits create data, data supports policy, policy guides the field.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492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615184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81328" y="254203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Project Rakshak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94436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Youth-led road safety audits to IRC / MoRTH standards; 31 sites, 25+ approvals, 15 implementations underway.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286000"/>
            <a:ext cx="53492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9088" y="25146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scan-lin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615184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31736" y="254203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SATARK &amp; enforcement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94436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AI number-plate platform built with traffic police — 3,00,000+ vehicles screened in Jaipur &amp; Bengaluru.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53492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43484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hand-helping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535424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81328" y="446227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Post-crash support &amp; compensation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86460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'Justice Unserved' research, Aasha chatbot, hospital helpdesks, district committee integration, Rajasthan portal design.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4206240"/>
            <a:ext cx="53492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9088" y="443484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bar-chart-3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4535424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31736" y="446227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Open data &amp; public education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486460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Four public data platforms; comics, Hindi guides and a pre-hospital care primer.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OUR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We build serious public technology — and keep it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Self-updating platforms that make road-safety work transparent, measurable and usable by government.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157984"/>
            <a:ext cx="5468112" cy="2592953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5394960" cy="2519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805801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77589"/>
                </a:solidFill>
                <a:latin typeface="Geist"/>
              </a:rPr>
              <a:t>Project Rakshak public dashboard — every site, authority and status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Rakshak accountability portal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rakshak.crashfreeindia.org — submission → committee ratification →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072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SATARK enforcement platform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ANPR + national vehicle records, officer app and public compliance billboards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6557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Aasha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24/7 multilingual AI guide for crash victims, on WhatsApp and 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2394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Compensation Calculator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Free estimates on Supreme Court principles (Sarla Verma, Pranay Sethi)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823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National crash data dashboard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MoRTH statistics productised: report cards for 36 states, 50 cities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4406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Road defect repository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AI reads local news in 13 languages across 146 districts; hazards mapped publicly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OUR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Academic leadership, senior advisors and a multidisciplinary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4924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gtiw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29968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2029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Prof. Geetam Tiwari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Emeritus Professor &amp; Chair, TRIP Centre, IIT Delhi · Member, IRC H-7 Committee on Road Safety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874519"/>
            <a:ext cx="534924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91656" y="2029968"/>
            <a:ext cx="731520" cy="73152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20299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7768" y="2029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Piyush Tewari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7768" y="23317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Founder &amp; CEO, SaveLIFE Foundation · Architect of the Good Samaritan Law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20">
                <a:solidFill>
                  <a:srgbClr val="777589"/>
                </a:solidFill>
                <a:latin typeface="Montserrat"/>
              </a:rPr>
              <a:t>BOARD OF ADVISORS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77589"/>
                </a:solidFill>
                <a:latin typeface="Geist"/>
              </a:rPr>
              <a:t>Guided also by Dr. Richa Ahuja (IIT Kharagpur) and an expert network spanning CSIR-CRRI, IRF India, CoERS IIT Madras, IISc, IIT Bombay, IIT Roorkee, IIT Kanpur and the Schools of Planning &amp; Architecture.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Trustees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6052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Amar Srivastava (Founder, Indian Road Safety Council) · Deepanshu Gupta (Founder, IRSC) · Gajendra Jangid (Co-founder, Cars24)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908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Full-time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690872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Educated at IIT Delhi, NALSAR &amp; Delhi University (law), TISS (development studies), HKUST — experience across engineering, law, policy, psychology and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212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Field 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21224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75+ road-engineering interns and 31 student audit teams across 18 cities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5157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Goodwill Ambassador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751576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MS Dhoni — voice for youth participation and safer school zones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WORKING GROUP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The mandate, and where we align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Safe roads, speed management and the protection of vulnerable road users.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613916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6139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Road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8588" y="2103120"/>
            <a:ext cx="1613916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8588" y="2103120"/>
            <a:ext cx="16139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Black spots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7096" y="2103120"/>
            <a:ext cx="1719072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7096" y="2103120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Speed 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103120"/>
            <a:ext cx="1719072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103120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School zones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4424" y="2103120"/>
            <a:ext cx="1613916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64424" y="2103120"/>
            <a:ext cx="16139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Pedestrians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2932" y="2103120"/>
            <a:ext cx="1298448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2932" y="2103120"/>
            <a:ext cx="12984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Cyclists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26080"/>
            <a:ext cx="10911535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03580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Black-spot rectification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03580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31 sites audited in year one — 11 official blackspots among them — with 25+ authority approvals and 15 implementations underway.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85616"/>
            <a:ext cx="10911535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9534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Road design to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895344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Every audit anchored in IRC codes and MoRTH checklists, guided by a member of the IRC H-7 Committee on Road Safety Audit.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45152"/>
            <a:ext cx="10911535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7548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Speed &amp; school zones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7548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Speed-calming measures in approved designs; college-led school-zone screening under exploration.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04688"/>
            <a:ext cx="10911535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61441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Vulnerable road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614416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Dedicated research on two-wheeler and gig-rider risk — the largest VRU category — plus pedestrian-first audit findings.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Identification has outpaced rectification — capacity is the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The knowledge exists; the pipeline that turns identified risk into completed engineering needs more hands, and better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74720" cy="11887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4A35FF"/>
                </a:solidFill>
                <a:latin typeface="Montserrat"/>
              </a:rPr>
              <a:t>13,795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0662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black spots identified nationally (MoRTH)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94560"/>
            <a:ext cx="3474720" cy="11887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2860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4A35FF"/>
                </a:solidFill>
                <a:latin typeface="Montserrat"/>
              </a:rPr>
              <a:t>5,036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70662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permanently rectified so far (Parliamentary Standing Committee, 2024)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94560"/>
            <a:ext cx="3474720" cy="11887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4A35FF"/>
                </a:solidFill>
                <a:latin typeface="Montserrat"/>
              </a:rPr>
              <a:t>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70662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certified Road Safety Auditors on the national registry (July 2026)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840480"/>
            <a:ext cx="310896" cy="31089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trending-up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3904488"/>
            <a:ext cx="182880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385876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C1C"/>
                </a:solidFill>
                <a:latin typeface="Geist"/>
              </a:rPr>
              <a:t>Low-cost engineering measures — raised crossings, traffic calming, lighting, safer intersections — reduce crashes by 20–80% (IRF conference, Prof. Geetam Tiwari).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526280"/>
            <a:ext cx="310896" cy="31089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rout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590288"/>
            <a:ext cx="182880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454456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C1C"/>
                </a:solidFill>
                <a:latin typeface="Geist"/>
              </a:rPr>
              <a:t>Roughly 80% of crashes are attributed to 'human error', yet outcomes are shaped most by the road environment people operate in — which is fixable by design.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49240"/>
            <a:ext cx="10911535" cy="64008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Project Rakshak was designed for precisely this constraint: trained, supervised auditing capacity that supports road-owning agencies — and tracks every fix to completion.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PROJECT RAKSHAK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A structured, standards-based audit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Conceptualised and guided by Prof. Geetam Tiwari (TRIP Centre, IIT Delhi) and Dr. Richa Ahuja (IIT Kharagpur).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26060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8658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Phase 1 · Jul–Aug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6090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Research &amp; problem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2783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Crash data, FIRs, RTIs, police records, site mapping</a:t>
            </a:r>
          </a:p>
        </p:txBody>
      </p:sp>
      <p:pic>
        <p:nvPicPr>
          <p:cNvPr id="10" name="Picture 9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2999232"/>
            <a:ext cx="219456" cy="219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483864" y="2240280"/>
            <a:ext cx="26060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238658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Phase 2 · Aug–Sep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66090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Stakeholder engagement &amp; audits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322783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Structured surveys; audits against IRC / MoRTH standards</a:t>
            </a:r>
          </a:p>
        </p:txBody>
      </p:sp>
      <p:pic>
        <p:nvPicPr>
          <p:cNvPr id="15" name="Picture 14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999232"/>
            <a:ext cx="219456" cy="21945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327648" y="2240280"/>
            <a:ext cx="26060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38658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Phase 3 · Oct–Nov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66090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Analysis &amp; solution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22783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Benchmarking, costed intervention design</a:t>
            </a:r>
          </a:p>
        </p:txBody>
      </p:sp>
      <p:pic>
        <p:nvPicPr>
          <p:cNvPr id="20" name="Picture 19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2999232"/>
            <a:ext cx="219456" cy="21945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171432" y="2240280"/>
            <a:ext cx="26060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238658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Phase 4 · Nov onwards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2" y="266090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Reporting &amp; authority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322783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Consolidated reports to municipal bodies, PWDs, police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343400"/>
            <a:ext cx="310896" cy="31089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graduation-cap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407408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436168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C1C"/>
                </a:solidFill>
                <a:latin typeface="Geist"/>
              </a:rPr>
              <a:t>Teams train under expert masterclasses (Prof. Tiwari on the Safe System approach; Dr. S. Velmurugan, CSIR-CRRI, on the 5Es and IRC-131).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983480"/>
            <a:ext cx="310896" cy="31089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badge-chec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5047488"/>
            <a:ext cx="182880" cy="1828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97280" y="500176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C1C"/>
                </a:solidFill>
                <a:latin typeface="Geist"/>
              </a:rPr>
              <a:t>Every recommendation is presented to the road-owning authority in its own format — and tracked publicly after submission.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PROJECT RAKSHAK · YEAR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Cohort 1: a national footprint in the first year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60604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4A35FF"/>
                </a:solidFill>
                <a:latin typeface="Montserrat"/>
              </a:rPr>
              <a:t>120+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2432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locations screened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864" y="1965960"/>
            <a:ext cx="260604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3864" y="207568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4A35FF"/>
                </a:solidFill>
                <a:latin typeface="Montserrat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262432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sites audited (11 official black spots)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965960"/>
            <a:ext cx="260604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7568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62432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authority approvals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71432" y="1965960"/>
            <a:ext cx="2606040" cy="123444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207568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FFFFFF"/>
                </a:solidFill>
                <a:latin typeface="Montserrat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262432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implementations underway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31 student teams · 20 institutions including nine IITs · 900+ stakeholder surveys · guided by 8 mentors and independent evaluators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39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777589"/>
                </a:solidFill>
                <a:latin typeface="Geist"/>
              </a:rPr>
              <a:t>North: Ropar, Dehradun, Roorkee, Delhi · Uttar Pradesh: Lucknow, Varanasi · East: Guwahati, Durgapur · West &amp; Central: Surat, Indore, Mumbai, Nanded · South: Vijayawada, Guntur, Kozhikode, Chennai — among others.</a:t>
            </a:r>
          </a:p>
        </p:txBody>
      </p:sp>
      <p:pic>
        <p:nvPicPr>
          <p:cNvPr id="19" name="Picture 18" descr="indi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931920"/>
            <a:ext cx="1923922" cy="2286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0080" y="5394960"/>
            <a:ext cx="7863840" cy="68580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Example: Tejaji Nagar Junction, Indore — an official black spot; redesign approved by CPWD and the Additional Collector's office.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PROJECT RAKSHAK · THE PAPER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Authority approvals, in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A sample of the 25+ approval and acknowledgement letters issued by public works and district authorities.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112264"/>
            <a:ext cx="2467695" cy="336499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Visione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2394544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532120"/>
            <a:ext cx="2760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Tejaji Nagar, Indore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5247" y="2112264"/>
            <a:ext cx="2616846" cy="336499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Crashz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23" y="2148840"/>
            <a:ext cx="2543695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91823" y="5532120"/>
            <a:ext cx="29094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Kozhikode — PWD Kerala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6142" y="2112264"/>
            <a:ext cx="2616846" cy="336499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Pathraksha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718" y="2148840"/>
            <a:ext cx="2543695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92718" y="5532120"/>
            <a:ext cx="29094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Lucknow — PWD (UP)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57036" y="2112264"/>
            <a:ext cx="2616846" cy="336499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Vision_Zero_Squ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3612" y="2148840"/>
            <a:ext cx="2543695" cy="3291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493612" y="5532120"/>
            <a:ext cx="29094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Ropar — PWD (Punjab)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Approving authorities include PWD Kerala, PWD Uttar Pradesh, PWD Punjab, CPWD &amp; the Additional Collector (Indore), ADDA Durgapur, R&amp;B Andhra Pradesh and GCC Chennai.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PROJECT RAKSHAK · ON THE 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From approval to construction: implementations under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Parking, drainage, road markings, signage, footpaths and barricading — city by city.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112264"/>
            <a:ext cx="1808433" cy="25877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v_durgapur_pa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1735282" cy="2514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754880"/>
            <a:ext cx="21924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Parking — Durgapur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8825" y="2112264"/>
            <a:ext cx="1808433" cy="25877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iv_durgapur_r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401" y="2148840"/>
            <a:ext cx="1735282" cy="2514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95401" y="4754880"/>
            <a:ext cx="21924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Road works — Durgapur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4147" y="2112264"/>
            <a:ext cx="1852551" cy="25877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v_guntur_drain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723" y="2148840"/>
            <a:ext cx="1779399" cy="2514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0723" y="4754880"/>
            <a:ext cx="2236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Drainage — Guntur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3586" y="2112264"/>
            <a:ext cx="1852551" cy="25877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iv_indore_barric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0162" y="2148840"/>
            <a:ext cx="1779399" cy="2514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0162" y="4754880"/>
            <a:ext cx="2236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Barricading — Indore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3025" y="2112264"/>
            <a:ext cx="1831240" cy="25877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v_indore_footpa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9601" y="2148840"/>
            <a:ext cx="1758089" cy="2514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49601" y="4754880"/>
            <a:ext cx="2215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Footpath — Indore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91154" y="2112264"/>
            <a:ext cx="1863206" cy="25877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iv_guntur_markin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7730" y="2148840"/>
            <a:ext cx="1790054" cy="2514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027730" y="4754880"/>
            <a:ext cx="22472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Markings — Guntur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349240"/>
            <a:ext cx="10911535" cy="64008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Estimated 20–50% crash reduction at treated sites once complete, based on WHO / iRAP evidence for these counter-measures — to be verified with before/after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PROJECT RAKSHAK ·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A public portal that tracks every site to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The design principle: transparency, not repeated follow-up, is what moves a recommendation from acknowledgement to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112264"/>
            <a:ext cx="6382512" cy="3020038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6309360" cy="29468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87166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77589"/>
                </a:solidFill>
                <a:latin typeface="Geist"/>
              </a:rPr>
              <a:t>rakshak.crashfreeindia.org — live public accountability portal.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Every site tracked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From submission through DRSC ratification to engineering completion — regardless of who audited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52044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The PRAGATI parallel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The PMO's PRAGATI platform resolved 7,150+ of ~7,700 flagged issues across ₹85 lakh crore of projects — public, real-time review works at national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75488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What the Board gains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A live, honest read on how quickly road-owning agencies can act — evidence for capacity planning, not just compliance.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PROJECT RAKSHAK ·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Why this model scales: three tracks, one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Cohort 2 matches each road type to the right auditing capacity — reserving scarce certified auditors for the most complex sites.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0911535" cy="4572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1031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Road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1031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Implementing 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1031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Who audits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10911535" cy="914400"/>
          </a:xfrm>
          <a:prstGeom prst="rect">
            <a:avLst/>
          </a:prstGeom>
          <a:solidFill>
            <a:srgbClr val="F3F1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A — Institutional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7004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Urban arterials, in-town state highways, district roads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67004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ULB, State / District PWD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670048"/>
            <a:ext cx="3977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IIT / NIT / SPA teams under expert mentors, IRC-aligned rubric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1091153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8444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B — NGO partners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58444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District &amp; peri-urban corridors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58444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District PWD, ULB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584448"/>
            <a:ext cx="3977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NGO field teams; desk-reviewed, share re-verified by CFI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89120"/>
            <a:ext cx="10911535" cy="914400"/>
          </a:xfrm>
          <a:prstGeom prst="rect">
            <a:avLst/>
          </a:prstGeom>
          <a:solidFill>
            <a:srgbClr val="F3F1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9884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C — Certified RSAs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498848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National Highways, complex junctions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49884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NHAI Project Director, State PWD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498848"/>
            <a:ext cx="3977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CSIR-CRRI-certified auditors; full IRC SP:88; usable by NHAI without rework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623560"/>
            <a:ext cx="310896" cy="31089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map-pin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687568"/>
            <a:ext cx="182880" cy="182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97280" y="564184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C1C"/>
                </a:solidFill>
                <a:latin typeface="Geist"/>
              </a:rPr>
              <a:t>Site selection in Cohort 2 is anchored to locations that district administrations, DRSCs and road-owning agencies have themselves flagged as priorities.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PROJECT RAKSHAK · THE LONG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Built to be institutionalised — not to depend on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Our role narrows over time to standard-setter and platform steward; the ecosystem runs the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12848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A1C1C"/>
                </a:solidFill>
                <a:latin typeface="Geist"/>
              </a:rPr>
              <a:t>CFI runs cohorts, quality-controls audits and stewards the public 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115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00400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A1C1C"/>
                </a:solidFill>
                <a:latin typeface="Geist"/>
              </a:rPr>
              <a:t>Rakshak Audit Manual v1.0 codifies the method; universities field their own teams; NGOs run Track B directly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78224"/>
            <a:ext cx="109115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Mature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187952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A1C1C"/>
                </a:solidFill>
                <a:latin typeface="Geist"/>
              </a:rPr>
              <a:t>States engage certified RSAs for Track C without CFI as intermediary; the portal remains the shared public record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257800"/>
            <a:ext cx="310896" cy="31089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school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321808"/>
            <a:ext cx="182880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527608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C1C"/>
                </a:solidFill>
                <a:latin typeface="Geist"/>
              </a:rPr>
              <a:t>The same standards-anchored approach is being explored for school-zone safety — college-led screening under the same public-tracking discipline.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OUR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The technical bench behind the audits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Mentors, evaluators and forum experts who review and strengthen every cohort's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520440" cy="5669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gtiw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30552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213055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Prof. Geetam Tiwari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368296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TRIP Centre, IIT Delhi · IRC H-7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57400"/>
            <a:ext cx="3520440" cy="5669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25696" y="2130552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21305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13055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Dr. Richa Ahuja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368296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IIT Kharagpur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2057400"/>
            <a:ext cx="3520440" cy="5669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19872" y="2130552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21305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213055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Dr. S. Velmurugan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2368296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Chief Scientist, CSIR-CRRI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52344"/>
            <a:ext cx="3520440" cy="5669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asrivasta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25496"/>
            <a:ext cx="420624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61872" y="282549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Akhilesh Srivastava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3063240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President, IRF India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6" y="2752344"/>
            <a:ext cx="3520440" cy="5669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25696" y="2825496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282549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282549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Dr. A. M. Rao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3063240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Chief Scientist, CSIR-CRRI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2" y="2752344"/>
            <a:ext cx="3520440" cy="5669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pand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2825496"/>
            <a:ext cx="420624" cy="4206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50224" y="282549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Rama Shankar Pandey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0224" y="3063240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FICCI Road Safety Roundtable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447288"/>
            <a:ext cx="3520440" cy="5669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3520440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52044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AV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1872" y="3520440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Prof. Ashish Verma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1872" y="3758184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IISc Bengaluru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6" y="3447288"/>
            <a:ext cx="3520440" cy="5669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425696" y="3520440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352044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SC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3520440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Prof. Satish Chandra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3758184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IIT Roorkee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8432" y="3447288"/>
            <a:ext cx="3520440" cy="5669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19872" y="3520440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9872" y="352044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GR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0224" y="3520440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Prof. Gopal R. Patil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0224" y="3758184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IIT Bombay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4348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777589"/>
                </a:solidFill>
                <a:latin typeface="Geist"/>
              </a:rPr>
              <a:t>Plus mentors and evaluators from KPMG, EY, CTRANS, SVNIT Surat, SPA Vijayawada &amp; Bhopal, IIT Mandi, Vignan's University and the TRIP Centre — and forum participation from MoRTH, WHO, UNICEF, WRI, IFFCO Tokio, district administrations and traffic police leadership.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394960"/>
            <a:ext cx="10911535" cy="64008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394960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This bench is available to the Working Group for drafting, review and technical input on road design, speed and VRU standards.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THE TALENT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Youth mobilisation that keeps the model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Scaling audits needs a steady flow of trained, motivated young engineers and planners — we have built that funnel.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60604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700+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ideathon registrations (IITs, IIMs, NLUs)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2103120"/>
            <a:ext cx="260604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221284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250+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7432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policy concept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2103120"/>
            <a:ext cx="260604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21284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7432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teams mentored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71432" y="2103120"/>
            <a:ext cx="260604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221284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27432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finalists judged by 24 experts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657600"/>
            <a:ext cx="310896" cy="31089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graduation-cap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3721608"/>
            <a:ext cx="182880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367588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C1C"/>
                </a:solidFill>
                <a:latin typeface="Geist"/>
              </a:rPr>
              <a:t>NextMile (2025), our national road-safety policy ideathon, closed at India Habitat Centre with a jury including Justice J.R. Midha and former MoRTH leadership.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297680"/>
            <a:ext cx="310896" cy="31089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rocket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361688"/>
            <a:ext cx="182880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431596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C1C"/>
                </a:solidFill>
                <a:latin typeface="Geist"/>
              </a:rPr>
              <a:t>Winning tracks — blackspot identification, speed management, delivery-rider safety — feed directly into our audit and research pipeline.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937760"/>
            <a:ext cx="310896" cy="31089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users-round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5001768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" y="495604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C1C"/>
                </a:solidFill>
                <a:latin typeface="Geist"/>
              </a:rPr>
              <a:t>Next: 'Be a Rakshak' university chapters at IITs, NITs and SPAs, with MS Dhoni as the recruiting voice — a self-renewing national audit corps.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VULNERABLE ROAD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A growing evidence base on those most at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Two-wheeler riders and pedestrians carry most of the burden — our research follows them specifically.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bik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208483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Gig &amp; delivery riders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'When Risks Become Routine' (Feb 2026): incentive pressure, helmet compliance, training gaps and data fragmentation — now being quantified through a 300-rider study across Delhi NCR.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90672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82112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3072384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Pedestrian-first audits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90672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Rakshak audits document crossings, footpaths and lighting as designable protections — 900+ stakeholder surveys included road users themselves.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7822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school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69664"/>
            <a:ext cx="219456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4059936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School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078224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College-led, standards-based school-zone screening under exploration as the next extension of the audit platform.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06577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scan-lin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157216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4440" y="504748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Enforcement that protects VRUs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065776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SATARK helps police prioritise the small share of vehicles with the worst records — targeted, fair and technology-led.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OUR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Four concrete contributions to Working Group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911535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203704"/>
            <a:ext cx="457200" cy="45720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0370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93976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Ready evidence for standard-setting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93976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Site-level audit data, crash-pattern analysis and intervention designs across emerging hotspots and official black spots — a working evidence base for rectification protocols and speed-management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08375"/>
            <a:ext cx="10911535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246119"/>
            <a:ext cx="457200" cy="45720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461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36391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A live testing 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136391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Active district relationships in Gurugram, South-West Delhi and Jaipur offer a ready pipeline to pilot or stress-test draft recommendations before national rollout.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50790"/>
            <a:ext cx="10911535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288534"/>
            <a:ext cx="457200" cy="45720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8853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78806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Ground-level implementation diagnostics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178806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Granular, field-verified insight into how DRSCs function — meeting cadence, data use, follow-through — to inform the Group's governance recommendations.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93205"/>
            <a:ext cx="10911535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5330949"/>
            <a:ext cx="457200" cy="45720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33094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21221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Technical bench strength on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221221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Our academic and expert network stands ready for drafting, review and technical input on road design, speed and VRU standards.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A young organisation the ecosystem already engages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975104"/>
            <a:ext cx="5193792" cy="295351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comp_image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9834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77589"/>
                </a:solidFill>
                <a:latin typeface="Geist"/>
              </a:rPr>
              <a:t>National Road Safety Implementation Forum, IIT Delhi — April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0312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National forum at IIT Delhi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60+ experts; MoRTH, WHO, UNICEF, IRF and CSIR-CRRI participation; hosted with the TRIP Centre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06324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MS Dhoni, Goodwill Ambassador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announced at the forum; covered by Business Standard, The Tribune and The Wire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02336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Research in national press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'Justice Unserved' covered by Deccan Herald, Economic Times, Fortune India, IndiaSpend, Moneycontrol, Scroll.in and The Wire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98348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Government partnerships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MoUs with Jaipur Traffic Police &amp; Gurugram Police; formal tasking by the South-West Delhi DRSC; Rajasthan Transport Department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2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103120" cy="2906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19456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We would be honoured to contribute to</a:t>
            </a:r>
          </a:p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Working Group 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8C0FF"/>
                </a:solidFill>
                <a:latin typeface="Geist"/>
              </a:rPr>
              <a:t>Our evidence, our district relationships, our technology and our expert network are available to the Board — in whichever form is most useful.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663440"/>
            <a:ext cx="1088136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pic>
        <p:nvPicPr>
          <p:cNvPr id="7" name="Picture 6" descr="globe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992624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4128" y="4983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Geist"/>
              </a:rPr>
              <a:t>crashfreeindia.org</a:t>
            </a:r>
          </a:p>
        </p:txBody>
      </p:sp>
      <p:pic>
        <p:nvPicPr>
          <p:cNvPr id="9" name="Picture 8" descr="mail_C8C0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431536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4128" y="5422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Geist"/>
              </a:rPr>
              <a:t>helpdesk@crashfreeindia.org</a:t>
            </a:r>
          </a:p>
        </p:txBody>
      </p:sp>
      <p:pic>
        <p:nvPicPr>
          <p:cNvPr id="11" name="Picture 10" descr="bar-chart-3_C8C0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870448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4128" y="58613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Geist"/>
              </a:rPr>
              <a:t>Live portal: rakshak.crashfreeindia.org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Crashfree India · A Cars24 Commitment · operated by Vision Zero Trust, New Delhi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