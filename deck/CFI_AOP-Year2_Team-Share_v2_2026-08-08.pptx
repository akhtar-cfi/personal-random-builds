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1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9" Type="http://schemas.openxmlformats.org/officeDocument/2006/relationships/slide" Target="slides/slide14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9357055" y="502920"/>
            <a:ext cx="457200" cy="45720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2103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PROJECT RAKSHAK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57055" y="2487168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57055" y="27614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HIT &amp; RUN COMPENSATION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57055" y="3145536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57055" y="3419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CIVIC &amp; GOVTECH  ·  SATARK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57055" y="3803904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57055" y="40782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CAMPAIGN &amp; ENABLERS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7055" y="4462272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57055" y="4736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BETS  ·  SSI + GIG RIDER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7055" y="5120640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2148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ANNUAL OPERATING PLAN  ·  JULY 2026 - JUNE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A1C1C"/>
                </a:solidFill>
                <a:latin typeface="Montserrat"/>
              </a:rPr>
              <a:t>From programmes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4A35FF"/>
                </a:solidFill>
                <a:latin typeface="Montserrat"/>
              </a:rPr>
              <a:t>to institutions.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Year 2 runs three core programmes and one civic-tech vertical, deep not wide.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Everything else is an exploratory bet that must earn its way to scale.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806440"/>
            <a:ext cx="7680960" cy="0"/>
          </a:xfrm>
          <a:prstGeom prst="line">
            <a:avLst/>
          </a:prstGeom>
          <a:ln w="12700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9893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40">
                <a:solidFill>
                  <a:srgbClr val="777589"/>
                </a:solidFill>
                <a:latin typeface="Montserrat"/>
              </a:rPr>
              <a:t>Vision Zero Trust  ·  Internal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1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one year of audit-led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on the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Cohort 1 proved the model: youth-generated audits can reach district officials and trigger engineering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715768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Priority sites 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ilding-2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71576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39312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Cities engaged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ircle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71576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Approvals &amp; actions initiated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rd-ha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271576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Engineering works begun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912" y="4425696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900+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Stakeholder surveys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2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and-helping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544" y="4425696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39312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Victims &amp; families surveyed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c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4425696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9944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Expert consultations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egaphone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808" y="4425696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80576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897880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978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150+ members  ·  50+ experts  ·  AASHA chatbot live  ·  MoUs with Gurugram &amp; Jaipur Traffic Police  ·  DRSC integration begun in SW Delhi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LEARNINGS FROM 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Five lessons that rewired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Year 2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0848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Credibility is the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Energy and field discovery were strong; report quality must meet DRSC and NHAI standards without rework.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9514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Expert Consortium, certified RSAs, Rakshak Audit Manual 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02666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0896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295351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Awareness alone doesn't move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5351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Institutional incapacity and process non-compliance - not just awareness gaps - drive claim dropout.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53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6382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Shift from awareness drives to stage-wise scheme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389534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7764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17320" y="382219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Depth beats breadth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2219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Parallel full-scale sites diluted bandwidth and institutional trust took longer than planned.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221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3250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Anchor districts + model-district approach; MACT reform deprioritised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" y="47640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lipboard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46320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17320" y="469087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Audits die at 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69087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Most audit programmes stop at report submission; follow-through is where impact happens.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6908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011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Public accountability loop - every recommendation tracked to implementation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" y="563270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ndian-rupe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15000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17320" y="555955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Plan with rigour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55955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Prior plans carried loosely-scoped activities and untracked workstreams.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5595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76986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Unit-based planning, quarterly phasing, formula-driven rollups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 ·  THE DESTINATION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must be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when Year 2 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0911535" cy="65836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POSITION  </a:t>
            </a:r>
            <a:r>
              <a:rPr sz="1100" b="0" i="0">
                <a:solidFill>
                  <a:srgbClr val="FFFFFF"/>
                </a:solidFill>
                <a:latin typeface="Geist"/>
              </a:rPr>
              <a:t>By June 2027, CFI is India's audit-and-accountability institution for road safety - the organisation governments call to find where systems break, and to hold the fix to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449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Rakshak runs inside institutions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An audit pipeline owned by universities, NGO partners and certified RSAs - consortium, Audit Manual v1.0 and a public dashboard - that no longer needs CFI to push every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national scale through chapters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04495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2864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Compensation fixed, then replicated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Two districts where the hit &amp; run claim pipeline demonstrably works, pilots running beyond them, and the process mapped in 8+ districts - a replication playbook, not a project.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state-level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37176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SATARK as public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Enforcement intelligence live in 30 cities, plus an active exploration track for new govtech products and digital public goods with government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the road-safety data layer for government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82512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egapho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837176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12864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 public evidence 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Four open data products cited by committees and press, 1M+ citizens engaged through the campaign, and both bets resolved with board-ready designs.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evidence citations drive inbound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2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operating model,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run deeper.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1579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20391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01  · 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317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Diagnose where systems break - blackspots, claim pipelines, school zones, platform practices - with evidence that survives institutional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gapho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295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34107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02  ·  ADVOCATE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7033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Turn evidence into stakeholder action: DRSC integration, co-designed fixes, model districts, a sustained publishing cadence.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90118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47823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03  ·  HOLD ACCOUNTABLE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0749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Track every recommendation publicly from submission to implementation; escalate from district fixes to system reform.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011680"/>
            <a:ext cx="3779215" cy="4160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3047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20">
                <a:solidFill>
                  <a:srgbClr val="C8C0FF"/>
                </a:solidFill>
                <a:latin typeface="Montserrat"/>
              </a:rPr>
              <a:t>THE YEAR 2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047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From programmes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to institutions.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3611880"/>
            <a:ext cx="304769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56448" y="386791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3794760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Expert Consortium + Audit Manual v1.0 give audits institutional authority</a:t>
            </a:r>
          </a:p>
        </p:txBody>
      </p:sp>
      <p:sp>
        <p:nvSpPr>
          <p:cNvPr id="26" name="Oval 25"/>
          <p:cNvSpPr/>
          <p:nvPr/>
        </p:nvSpPr>
        <p:spPr>
          <a:xfrm>
            <a:off x="8156448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379976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Model districts, not scattered pilots - Gurugram, SW Delhi, anchor cities</a:t>
            </a:r>
          </a:p>
        </p:txBody>
      </p:sp>
      <p:sp>
        <p:nvSpPr>
          <p:cNvPr id="28" name="Oval 27"/>
          <p:cNvSpPr/>
          <p:nvPr/>
        </p:nvSpPr>
        <p:spPr>
          <a:xfrm>
            <a:off x="8156448" y="503834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965192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Civic tech in government hands: SATARK enforcement + four open data products</a:t>
            </a:r>
          </a:p>
        </p:txBody>
      </p:sp>
      <p:sp>
        <p:nvSpPr>
          <p:cNvPr id="30" name="Oval 29"/>
          <p:cNvSpPr/>
          <p:nvPr/>
        </p:nvSpPr>
        <p:spPr>
          <a:xfrm>
            <a:off x="8156448" y="562356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550408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Publishing cadence: monthly field notes, quarterly findings, year-end audit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KEY FOCUS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Three core programmes,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two exploratory bets.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core programme has a north-star outcome. Bets are exploratory - they scale only if their pilots earn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2549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6192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Institutionalise the national audit pipeline: three-track model, Expert Consortium, Audit Manual v1.0.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150+ blackspots audited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08576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2549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30368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Fix the claim pipeline in two districts, pilot the playbook beyond them, and map the process in 8+ districts.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2 fixed  ·  8+ mapped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2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282549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24544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Scale SATARK - the AI enforcement co-pilot for traffic police - to 30 cities; explore the next govtech products and partnerships.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SATARK live in 30 cities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TWO BETS  ·  STAGE-GATED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chool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513832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2,000-school index is parked. First step: validate the IRC:SP:32 rubric on ~100 schools in one city.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Pilot on ~100 schools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64224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ik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513832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12864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national study is parked. First step: scoping study + first engagements with delivery platforms.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Scoping + platforms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Project Rakshak: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the audit pipeline inside institutions.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THE THREE-TRACK MODEL  ·  RUN BY INSTITUTIONS, NOT BY CFI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05456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41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IIT / NIT / SPA student teams under expert mentors; IRC-aligned rubric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51176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55117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~90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310128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NGO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NGO field teams; 100% desk review + 10-15% physical re-checks by CFI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55848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355848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~20 sites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2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50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Certified RSAs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06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CRRI-certified auditors; full IRC SP:88 - usable by NHAI without rework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~40 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Anchor districts:  </a:t>
            </a:r>
            <a:r>
              <a:rPr sz="950" b="0" i="0">
                <a:solidFill>
                  <a:srgbClr val="777589"/>
                </a:solidFill>
                <a:latin typeface="Geist"/>
              </a:rPr>
              <a:t>Gurugram (NH-48)  ·  SW Delhi (NH-48/44)  ·  Jaipur (NH-8)  ·  +10 exploratory cities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6858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6858000" cy="29260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" y="5221224"/>
            <a:ext cx="91440" cy="91440"/>
          </a:xfrm>
          <a:prstGeom prst="ellipse">
            <a:avLst/>
          </a:prstGeom>
          <a:solidFill>
            <a:srgbClr val="F1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" y="5221224"/>
            <a:ext cx="91440" cy="914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" y="5221224"/>
            <a:ext cx="91440" cy="91440"/>
          </a:xfrm>
          <a:prstGeom prst="ellipse">
            <a:avLst/>
          </a:prstGeom>
          <a:solidFill>
            <a:srgbClr val="00A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516636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crashfreeindia.org/rakshak/dashboard</a:t>
            </a:r>
          </a:p>
        </p:txBody>
      </p:sp>
      <p:pic>
        <p:nvPicPr>
          <p:cNvPr id="37" name="Picture 36" descr="bar-chart-3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541264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8448" y="54864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Public accountability dashboard - the institutional spine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72414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1">
                <a:solidFill>
                  <a:srgbClr val="777589"/>
                </a:solidFill>
                <a:latin typeface="Geist"/>
              </a:rPr>
              <a:t>Every site tracked in public: identification &gt; audit &gt; authority review &gt; engineering implementation.  [Insert live dashboard screenshot before circulation]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150+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71576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blackspots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28269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recommendations accepted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75+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849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implementations initiated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12+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416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DRSC presentations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983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Rakshak Audit Manual + 4 Expert Consortium meetings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Hit &amp; Run Compensation: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fix two districts, map 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FOUR PILLARS  ·  AUDIT-LED, RESEARCH-EMBEDDED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5117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63347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24780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Scheme audit &amp; process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24912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Stage-wise pipeline audit in Gurugram: FIR to GI Council disbursal; 20-30 claims tracked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27832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0156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8386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9888" y="332841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 capacity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575304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Fellow-in-Residence at Tehsildar office; SOP reference cards; training-gap assessment - research-embedded, not social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78224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25196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o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89888" y="41788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Victim identification &amp; AASHA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42569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DLSA-partnered helpdesks; AASHA QR deployment at police stations and trauma centres; usage measured monthly.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28616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10235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le-tex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8464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Policy audit &amp; advocacy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27608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'Where the Pipeline Breaks' - comprehensive scheme audit submitted to MoRTH; quarterly findings + public brief.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247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Fix &gt; pilot &gt; map: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FIX Gurugram + SW Delhi (measured uptake lift)  ·  PILOT the playbook in Jaipur + watchlist districts  ·  MAP the claim process in 8+ districts by June 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706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FIXED - measured claim-uptake lift, -20% processing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273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PILOTING the fixed-pipeline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840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process-MAPPED by June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20-30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40740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claims tracked FIR to disbursal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97433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scheme audit report to MoRTH (Apr-May '27)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Civic &amp; GovTech: take SATARK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from 2 cities to 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SATARK  ·  THE ENFORCEMENT CO-PILOT FOR TRAFFIC POLICE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ANPR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plate scan</a:t>
            </a:r>
          </a:p>
        </p:txBody>
      </p:sp>
      <p:pic>
        <p:nvPicPr>
          <p:cNvPr id="11" name="Picture 10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578608"/>
            <a:ext cx="164592" cy="164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48256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6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ULIP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vehicle records</a:t>
            </a:r>
          </a:p>
        </p:txBody>
      </p:sp>
      <p:pic>
        <p:nvPicPr>
          <p:cNvPr id="14" name="Picture 1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578608"/>
            <a:ext cx="164592" cy="16459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56432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SATARK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rule engine</a:t>
            </a:r>
          </a:p>
        </p:txBody>
      </p:sp>
      <p:pic>
        <p:nvPicPr>
          <p:cNvPr id="17" name="Picture 16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78608"/>
            <a:ext cx="164592" cy="1645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64608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Billboard +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officer app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578608"/>
            <a:ext cx="164592" cy="1645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72784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Interception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PROVEN IN THE FIELD  ·  CUMULATIVE, LIVE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scanned at live 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Rs 30 Cr+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pending challan value surfaced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intercepted in the field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2 cities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live today - Jaipur &amp; Bengaluru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303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BEYOND SATARK  ·  DATA STACK + GOVTECH EXPLORATION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Sustain the four open data products: Defect Repository (daily, 146 districts) · Parliament tracker (1,423 questions) · SC Litigation Tracker · Crash Data Dashboard (CC-BY).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Scout the next govtech wedges: new digital public goods, state integrations, and partnerships across the ULIP / MoRTH ecosystem.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697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43200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cities live with SATARK - Gurugram, Pune &amp; Ahmedabad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355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1,000+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401568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field interceptions logged - a floor, not a ceiling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01421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059936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open data products sustained &amp; cited in DRSCs and press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67258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718304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new govtech / DPG opportunities scoped with partners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BETS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Two bets, exploratory now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scaled only if they earn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School Safety and Gig Rider stay exploratory this year. Each runs a small pilot, released against a board-approved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34640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01  ·  STAGE-GATED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2,000-school index is parked, not killed.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Validate the IRC:SP:32-2023 rubric (44 checks, 13 sections) on ~100 school zones in one anchor city; test the Zone Captain audit model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A defensible per-school method and validated rubric &gt; board approves a multi-city index in Year 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5664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ik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834640"/>
            <a:ext cx="283464" cy="283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95744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02  ·  STAGE-GATED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national study is parked until the field model is proven.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Scoping study on gig rider crash data + first structured engagements with delivery platforms and OMI Foundation.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3+ platforms at the table and a viable study design &gt; board approves the full programme in Year 3.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70448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Both bets are stage-gated  ·  nothing scales without a board-approved design  ·  a proven bet returns as a Year 3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north star per programme,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measured quarterly.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11226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51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75+ implementations initiated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9514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150+ audits · 100+ recommendations accepted · 12+ DRSC presentations · Audit Manual v1.0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43784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03580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1810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29900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53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729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districts fixed, 8+ mapped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53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17296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-20% median processing time · 20-30 claims tracked · pilots beyond model districts · audit report to MoRTH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21608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391363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9592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17320" y="38679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313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50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SATARK live in 30 cities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313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05079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1,000+ interceptions logged · 4 open data products cited in DRSCs &amp; press · 2+ new govtech opportunities scoped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99432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7914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prou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737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17320" y="474573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Bets (SSI + Gig Rider)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091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928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board-ready pilot designs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709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286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SSI rubric validated on ~100 schools · gig scoping study · 3+ platform engagements · scaled only on board approval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77256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8" y="56692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egaphon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51576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5623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Campaign &amp; Comms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586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06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1M+ engaged via 'Safety is the New Swag'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8064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50 micro-influencers · OOH in 3-4 cities · monthly field notes · quarterly findings · year-end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ENABLERS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campaign and the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behind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SAFETY IS THE NEW SWAG  ·  THE CAMPAIGN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pperboar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8448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Media advocacy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Editorial partnerships, radio &amp; podcast integration, PSA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y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0604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9744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Digital advocacy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50 micro-influencers, branded short films, #SafeSwag digital 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8448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Offline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OOH in 3-4 cities, guerilla installations, event co-branding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51376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427024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09744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Community mobilization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College competitions, app-based engagement, real-life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All four campaign pillars are now active workstreams (the prior plan ran only one of four).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C8C0FF"/>
                </a:solidFill>
                <a:latin typeface="Montserrat"/>
              </a:rPr>
              <a:t>ORG BACKBONE</a:t>
            </a:r>
          </a:p>
        </p:txBody>
      </p:sp>
      <p:pic>
        <p:nvPicPr>
          <p:cNvPr id="28" name="Picture 27" descr="users-round_C8C0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31352" y="2724912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Core team salaries &amp; benefits</a:t>
            </a:r>
          </a:p>
        </p:txBody>
      </p:sp>
      <p:pic>
        <p:nvPicPr>
          <p:cNvPr id="30" name="Picture 29" descr="landmark_C8C0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364992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31352" y="3346704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IRSC institutional support &amp; expert consultation</a:t>
            </a:r>
          </a:p>
        </p:txBody>
      </p:sp>
      <p:pic>
        <p:nvPicPr>
          <p:cNvPr id="32" name="Picture 31" descr="bot_C8C0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986784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31352" y="3968496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IT, SaaS &amp; AI tooling (Workspace, Slack, Claude)</a:t>
            </a:r>
          </a:p>
        </p:txBody>
      </p:sp>
      <p:pic>
        <p:nvPicPr>
          <p:cNvPr id="34" name="Picture 33" descr="clipboard-check_C8C0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4608576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31352" y="4590288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M&amp;E, statutory &amp; impact audit</a:t>
            </a:r>
          </a:p>
        </p:txBody>
      </p:sp>
      <p:pic>
        <p:nvPicPr>
          <p:cNvPr id="36" name="Picture 35" descr="briefcase_C8C0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5230368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31352" y="5212080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Travel, branding,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13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247120" y="320040"/>
            <a:ext cx="502920" cy="50292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0927080" y="731520"/>
            <a:ext cx="292608" cy="292608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WHAT SUCCESS LOOKS LIKE  ·  JUNE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Systems work because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C8C0FF"/>
                </a:solidFill>
                <a:latin typeface="Montserrat"/>
              </a:rPr>
              <a:t>we hold them accountable.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9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291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Rakshak running inside institutions: consortium, Audit Manual v1.0, and a public dashboard tracking 75+ implementations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85876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Claim pipeline fixed in two districts, piloted beyond them, and mapped in 8+ - a replication playbook, not a project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531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9884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442569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SATARK live in 30 cities, 1,000+ interceptions logged, and a govtech pipeline positioning CFI as government's road-safety data layer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2005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65776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4992624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Two board-ready pilot designs that decide whether School Safety and Gig Rider become full Year 3 programmes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86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32704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555955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An Expert Consortium, an Audit Manual, and a publishing cadence that outlive any single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80">
                <a:solidFill>
                  <a:srgbClr val="C8C0FF"/>
                </a:solidFill>
                <a:latin typeface="Montserrat"/>
              </a:rPr>
              <a:t>CRASHFREE INDIA  ·  AOP 2026-27  ·  INTERNAL PLANNING DOCUMENT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00" b="1" spc="240">
                <a:solidFill>
                  <a:srgbClr val="4A35FF"/>
                </a:solidFill>
                <a:latin typeface="Montserrat"/>
              </a:rPr>
              <a:t>NON-NEGOTIABLES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2700" b="1">
                <a:solidFill>
                  <a:srgbClr val="1A1C1C"/>
                </a:solidFill>
                <a:latin typeface="Montserrat"/>
              </a:rPr>
              <a:t>Non-negotiables </a:t>
            </a:r>
            <a:r>
              <a:rPr sz="2700" b="1">
                <a:solidFill>
                  <a:srgbClr val="4A35FF"/>
                </a:solidFill>
                <a:latin typeface="Montserrat"/>
              </a:rPr>
              <a:t>in each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050" b="0">
                <a:solidFill>
                  <a:srgbClr val="777589"/>
                </a:solidFill>
                <a:latin typeface="Geist"/>
              </a:rPr>
              <a:t>Where effort must go this year, and what does not count as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3489960" cy="454456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1956816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29967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1956816"/>
            <a:ext cx="268528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200" b="1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450591"/>
            <a:ext cx="3160776" cy="3758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Location selection is gated: </a:t>
            </a:r>
            <a:r>
              <a:rPr sz="800" b="0">
                <a:solidFill>
                  <a:srgbClr val="777589"/>
                </a:solidFill>
                <a:latin typeface="Geist"/>
              </a:rPr>
              <a:t>only crash-prone locations to be assigned and selected this year, with data validation done beforehand.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Audit quality top notch: </a:t>
            </a:r>
            <a:r>
              <a:rPr sz="800" b="0">
                <a:solidFill>
                  <a:srgbClr val="777589"/>
                </a:solidFill>
                <a:latin typeface="Geist"/>
              </a:rPr>
              <a:t>the lever we go all in on. If needed, we will put in resources and money for evaluation, validation and top-notch audits.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Solutions actually implemented: </a:t>
            </a:r>
            <a:r>
              <a:rPr sz="800" b="0">
                <a:solidFill>
                  <a:srgbClr val="777589"/>
                </a:solidFill>
                <a:latin typeface="Geist"/>
              </a:rPr>
              <a:t>actually life-saving road design. Our North Star metric is solutions implemented, not just approved. Not minor traffic lights or small fixes: actual budgets, actually fixing the road.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Approval means a signed letter </a:t>
            </a:r>
            <a:r>
              <a:rPr sz="800" b="0">
                <a:solidFill>
                  <a:srgbClr val="777589"/>
                </a:solidFill>
                <a:latin typeface="Geist"/>
              </a:rPr>
              <a:t>explicitly accepting at least one recommendation. Acknowledgement, presentation or verbal interest does not count.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Implemented means verified: </a:t>
            </a:r>
            <a:r>
              <a:rPr sz="800" b="0">
                <a:solidFill>
                  <a:srgbClr val="777589"/>
                </a:solidFill>
                <a:latin typeface="Geist"/>
              </a:rPr>
              <a:t>dated before-and-after photos with location proof, or authority confirmation. A team’s own update alone is never proof.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Activity is not outcome: </a:t>
            </a:r>
            <a:r>
              <a:rPr sz="800" b="0">
                <a:solidFill>
                  <a:srgbClr val="777589"/>
                </a:solidFill>
                <a:latin typeface="Geist"/>
              </a:rPr>
              <a:t>audits done, approvals, implementation reported and implementation verified stay separate numbers, never one headline.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The location outlives the team: </a:t>
            </a:r>
            <a:r>
              <a:rPr sz="800" b="0">
                <a:solidFill>
                  <a:srgbClr val="777589"/>
                </a:solidFill>
                <a:latin typeface="Geist"/>
              </a:rPr>
              <a:t>every site has one case with full history. Students graduate; the case and the authority relationship stay with us.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Scale never dilutes quality: </a:t>
            </a:r>
            <a:r>
              <a:rPr sz="800" b="0">
                <a:solidFill>
                  <a:srgbClr val="777589"/>
                </a:solidFill>
                <a:latin typeface="Geist"/>
              </a:rPr>
              <a:t>more teams only after audit quality holds at the current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810512"/>
            <a:ext cx="3489960" cy="4544568"/>
          </a:xfrm>
          <a:prstGeom prst="roundRect">
            <a:avLst>
              <a:gd name="adj" fmla="val 4192"/>
            </a:avLst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4088" y="1956816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2029967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89576" y="1956816"/>
            <a:ext cx="268528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200" b="1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450591"/>
            <a:ext cx="3160776" cy="3758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Actually fix the claim rate </a:t>
            </a:r>
            <a:r>
              <a:rPr sz="800" b="0">
                <a:solidFill>
                  <a:srgbClr val="777589"/>
                </a:solidFill>
                <a:latin typeface="Geist"/>
              </a:rPr>
              <a:t>in at least 2 districts; the change should be directly visible in the numbers.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Metric to measure: </a:t>
            </a:r>
            <a:r>
              <a:rPr sz="800" b="0">
                <a:solidFill>
                  <a:srgbClr val="777589"/>
                </a:solidFill>
                <a:latin typeface="Geist"/>
              </a:rPr>
              <a:t>not meetings held, trainings conducted, or reports and briefs published, but actual change in claim rate.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A clear path to scale up </a:t>
            </a:r>
            <a:r>
              <a:rPr sz="800" b="0">
                <a:solidFill>
                  <a:srgbClr val="777589"/>
                </a:solidFill>
                <a:latin typeface="Geist"/>
              </a:rPr>
              <a:t>in other states and nationally going forward; every fix designed so another district can adopt it.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Follow real claims end to end: </a:t>
            </a:r>
            <a:r>
              <a:rPr sz="800" b="0">
                <a:solidFill>
                  <a:srgbClr val="777589"/>
                </a:solidFill>
                <a:latin typeface="Geist"/>
              </a:rPr>
              <a:t>20–30 families tracked from FIR to money in the bank. That is where the truth of the process lives.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Fix the stage where claims die: </a:t>
            </a:r>
            <a:r>
              <a:rPr sz="800" b="0">
                <a:solidFill>
                  <a:srgbClr val="777589"/>
                </a:solidFill>
                <a:latin typeface="Geist"/>
              </a:rPr>
              <a:t>stage-wise audit of the scheme pipeline, not general awareness drives.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Depth before breadth: </a:t>
            </a:r>
            <a:r>
              <a:rPr sz="800" b="0">
                <a:solidFill>
                  <a:srgbClr val="777589"/>
                </a:solidFill>
                <a:latin typeface="Geist"/>
              </a:rPr>
              <a:t>go deep in the model districts first; replicate only what has actually worked there.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Changes land in government systems: </a:t>
            </a:r>
            <a:r>
              <a:rPr sz="800" b="0">
                <a:solidFill>
                  <a:srgbClr val="777589"/>
                </a:solidFill>
                <a:latin typeface="Geist"/>
              </a:rPr>
              <a:t>SOPs, formats and portals that officials themselves use. Authorities keep every substantive decision.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Honest denominators: </a:t>
            </a:r>
            <a:r>
              <a:rPr sz="800" b="0">
                <a:solidFill>
                  <a:srgbClr val="777589"/>
                </a:solidFill>
                <a:latin typeface="Geist"/>
              </a:rPr>
              <a:t>claim rate measured the same way every quarter, with the population and as-of date defined.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1" y="1810512"/>
            <a:ext cx="3489960" cy="1965960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3503" y="1956816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655" y="2029967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98991" y="1956816"/>
            <a:ext cx="268528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200" b="1">
                <a:solidFill>
                  <a:srgbClr val="1A1C1C"/>
                </a:solidFill>
                <a:latin typeface="Montserrat"/>
              </a:rPr>
              <a:t>SATARK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3503" y="2450591"/>
            <a:ext cx="3160776" cy="11795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Direct, measurable change in violations: </a:t>
            </a:r>
            <a:r>
              <a:rPr sz="800" b="0">
                <a:solidFill>
                  <a:srgbClr val="777589"/>
                </a:solidFill>
                <a:latin typeface="Geist"/>
              </a:rPr>
              <a:t>that is the metric, not screenings, downloads or dashboards.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Police remain the decision-makers: </a:t>
            </a:r>
            <a:r>
              <a:rPr sz="800" b="0">
                <a:solidFill>
                  <a:srgbClr val="777589"/>
                </a:solidFill>
                <a:latin typeface="Geist"/>
              </a:rPr>
              <a:t>SATARK flags, officers decide; every interception logged in the field.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Screening counts when it converts </a:t>
            </a:r>
            <a:r>
              <a:rPr sz="800" b="0">
                <a:solidFill>
                  <a:srgbClr val="777589"/>
                </a:solidFill>
                <a:latin typeface="Geist"/>
              </a:rPr>
              <a:t>to enforcement action on the ground.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Results before new cities: </a:t>
            </a:r>
            <a:r>
              <a:rPr sz="800" b="0">
                <a:solidFill>
                  <a:srgbClr val="777589"/>
                </a:solidFill>
                <a:latin typeface="Geist"/>
              </a:rPr>
              <a:t>expansion only after the current city shows measurable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8911" y="3922776"/>
            <a:ext cx="3489960" cy="2432304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3503" y="4069080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655" y="4142232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98991" y="4069080"/>
            <a:ext cx="268528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r>
              <a:rPr sz="1200" b="1">
                <a:solidFill>
                  <a:srgbClr val="1A1C1C"/>
                </a:solidFill>
                <a:latin typeface="Montserrat"/>
              </a:rPr>
              <a:t>Other Pilot Programmes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3503" y="4562856"/>
            <a:ext cx="3160776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Scaled up only when there is a clear path to impact: </a:t>
            </a:r>
            <a:r>
              <a:rPr sz="800" b="0">
                <a:solidFill>
                  <a:srgbClr val="777589"/>
                </a:solidFill>
                <a:latin typeface="Geist"/>
              </a:rPr>
              <a:t>not research, not press, not marketing.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20% of effort can go there </a:t>
            </a:r>
            <a:r>
              <a:rPr sz="800" b="0">
                <a:solidFill>
                  <a:srgbClr val="777589"/>
                </a:solidFill>
                <a:latin typeface="Geist"/>
              </a:rPr>
              <a:t>for the rest of the stuff, but it will not be core until we are very sure of the path to impact.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Every pilot has a decision date: </a:t>
            </a:r>
            <a:r>
              <a:rPr sz="800" b="0">
                <a:solidFill>
                  <a:srgbClr val="777589"/>
                </a:solidFill>
                <a:latin typeface="Geist"/>
              </a:rPr>
              <a:t>a board-approved design and a scale-or-stop call. Nothing drifts on.</a:t>
            </a:r>
          </a:p>
          <a:p>
            <a:pPr>
              <a:lnSpc>
                <a:spcPct val="114000"/>
              </a:lnSpc>
              <a:spcAft>
                <a:spcPts val="450"/>
              </a:spcAft>
            </a:pPr>
            <a:r>
              <a:rPr sz="800" b="1">
                <a:solidFill>
                  <a:srgbClr val="4A35FF"/>
                </a:solidFill>
                <a:latin typeface="Geist"/>
              </a:rPr>
              <a:t>•  </a:t>
            </a:r>
            <a:r>
              <a:rPr sz="800" b="1">
                <a:solidFill>
                  <a:srgbClr val="1A1C1C"/>
                </a:solidFill>
                <a:latin typeface="Geist"/>
              </a:rPr>
              <a:t>Pilots borrow no core capacity: </a:t>
            </a:r>
            <a:r>
              <a:rPr sz="800" b="0">
                <a:solidFill>
                  <a:srgbClr val="777589"/>
                </a:solidFill>
                <a:latin typeface="Geist"/>
              </a:rPr>
              <a:t>Rakshak and compensation teams are not pulled away to run experiments.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850" b="1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1" spc="160">
                <a:solidFill>
                  <a:srgbClr val="777589"/>
                </a:solidFill>
                <a:latin typeface="Montserrat"/>
              </a:rPr>
              <a:t>12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