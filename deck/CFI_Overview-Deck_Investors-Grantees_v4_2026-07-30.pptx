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2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2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18.png"/><Relationship Id="rId4" Type="http://schemas.openxmlformats.org/officeDocument/2006/relationships/image" Target="../media/image34.png"/><Relationship Id="rId5" Type="http://schemas.openxmlformats.org/officeDocument/2006/relationships/image" Target="../media/image11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49.png"/><Relationship Id="rId10" Type="http://schemas.openxmlformats.org/officeDocument/2006/relationships/image" Target="../media/image5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58.png"/><Relationship Id="rId8" Type="http://schemas.openxmlformats.org/officeDocument/2006/relationships/image" Target="../media/image59.png"/><Relationship Id="rId9" Type="http://schemas.openxmlformats.org/officeDocument/2006/relationships/image" Target="../media/image6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6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6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17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Relationship Id="rId7" Type="http://schemas.openxmlformats.org/officeDocument/2006/relationships/image" Target="../media/image72.png"/><Relationship Id="rId8" Type="http://schemas.openxmlformats.org/officeDocument/2006/relationships/image" Target="../media/image7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Relationship Id="rId6" Type="http://schemas.openxmlformats.org/officeDocument/2006/relationships/image" Target="../media/image78.png"/><Relationship Id="rId7" Type="http://schemas.openxmlformats.org/officeDocument/2006/relationships/image" Target="../media/image7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image" Target="../media/image83.png"/><Relationship Id="rId6" Type="http://schemas.openxmlformats.org/officeDocument/2006/relationships/image" Target="../media/image84.jpg"/><Relationship Id="rId7" Type="http://schemas.openxmlformats.org/officeDocument/2006/relationships/image" Target="../media/image8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2468880" cy="3411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897112" y="0"/>
            <a:ext cx="3294583" cy="6858000"/>
          </a:xfrm>
          <a:prstGeom prst="rect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11247120" y="384048"/>
            <a:ext cx="475488" cy="475488"/>
          </a:xfrm>
          <a:prstGeom prst="star4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4-Point Star 5"/>
          <p:cNvSpPr/>
          <p:nvPr/>
        </p:nvSpPr>
        <p:spPr>
          <a:xfrm>
            <a:off x="10991088" y="786384"/>
            <a:ext cx="274320" cy="274320"/>
          </a:xfrm>
          <a:prstGeom prst="star4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54312" y="1554480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C8C0FF"/>
                </a:solidFill>
                <a:latin typeface="Montserrat"/>
              </a:rPr>
              <a:t>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2952" y="157276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 spc="180">
                <a:solidFill>
                  <a:srgbClr val="FFFFFF"/>
                </a:solidFill>
                <a:latin typeface="Montserrat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354312" y="2011680"/>
            <a:ext cx="2331720" cy="0"/>
          </a:xfrm>
          <a:prstGeom prst="line">
            <a:avLst/>
          </a:prstGeom>
          <a:ln w="9525">
            <a:solidFill>
              <a:srgbClr val="6A55FF"/>
            </a:solidFill>
          </a:ln>
          <a:effectLst/>
        </p:spPr>
      </p:cxnSp>
      <p:sp>
        <p:nvSpPr>
          <p:cNvPr id="10" name="TextBox 9"/>
          <p:cNvSpPr txBox="1"/>
          <p:nvPr/>
        </p:nvSpPr>
        <p:spPr>
          <a:xfrm>
            <a:off x="9354312" y="221284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C8C0FF"/>
                </a:solidFill>
                <a:latin typeface="Montserrat"/>
              </a:rPr>
              <a:t>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2952" y="223113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 spc="180">
                <a:solidFill>
                  <a:srgbClr val="FFFFFF"/>
                </a:solidFill>
                <a:latin typeface="Montserrat"/>
              </a:rPr>
              <a:t>WHO WE ARE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54312" y="2670048"/>
            <a:ext cx="2331720" cy="0"/>
          </a:xfrm>
          <a:prstGeom prst="line">
            <a:avLst/>
          </a:prstGeom>
          <a:ln w="9525">
            <a:solidFill>
              <a:srgbClr val="6A55FF"/>
            </a:solidFill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9354312" y="2871216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C8C0FF"/>
                </a:solidFill>
                <a:latin typeface="Montserrat"/>
              </a:rPr>
              <a:t>III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2952" y="2889504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 spc="180">
                <a:solidFill>
                  <a:srgbClr val="FFFFFF"/>
                </a:solidFill>
                <a:latin typeface="Montserrat"/>
              </a:rPr>
              <a:t>WHAT WE DO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54312" y="3328416"/>
            <a:ext cx="2331720" cy="0"/>
          </a:xfrm>
          <a:prstGeom prst="line">
            <a:avLst/>
          </a:prstGeom>
          <a:ln w="9525">
            <a:solidFill>
              <a:srgbClr val="6A55FF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9354312" y="3529584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C8C0FF"/>
                </a:solidFill>
                <a:latin typeface="Montserrat"/>
              </a:rPr>
              <a:t>IV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02952" y="3547872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 spc="180">
                <a:solidFill>
                  <a:srgbClr val="FFFFFF"/>
                </a:solidFill>
                <a:latin typeface="Montserrat"/>
              </a:rPr>
              <a:t>OUR PEOPLE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62872" y="4261104"/>
            <a:ext cx="2560320" cy="12348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9448" y="4297680"/>
            <a:ext cx="2487168" cy="116167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99448" y="5550791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i="0" spc="80">
                <a:solidFill>
                  <a:srgbClr val="C8C0FF"/>
                </a:solidFill>
                <a:latin typeface="Montserrat"/>
              </a:rPr>
              <a:t>Live: crashfreeindia.org/rakshak/dashboard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6263640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 i="0" spc="100">
                <a:solidFill>
                  <a:srgbClr val="C8C0FF"/>
                </a:solidFill>
                <a:latin typeface="Montserrat"/>
              </a:rPr>
              <a:t>Goodwill Ambassador: MS Dhoni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3317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CRASHFREE INDIA  ·  A CARS24 COMMITMENT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670048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400" b="1" i="0">
                <a:solidFill>
                  <a:srgbClr val="1A1C1C"/>
                </a:solidFill>
                <a:latin typeface="Montserrat"/>
              </a:rPr>
              <a:t>Building safer roads for India 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236976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400" b="1" i="0">
                <a:solidFill>
                  <a:srgbClr val="4A35FF"/>
                </a:solidFill>
                <a:latin typeface="Montserrat"/>
              </a:rPr>
              <a:t>audit by audit, fix by fix.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977639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777589"/>
                </a:solidFill>
                <a:latin typeface="Geist"/>
              </a:rPr>
              <a:t>A nonprofit working alongside government — finding road-safety gaps, getting fixes approved, and staying until they are built.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709160"/>
            <a:ext cx="1783080" cy="365760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709160"/>
            <a:ext cx="156362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1" i="0">
                <a:solidFill>
                  <a:srgbClr val="4A35FF"/>
                </a:solidFill>
                <a:latin typeface="Montserrat"/>
              </a:rPr>
              <a:t>ROAD INFRASTRUCTURE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32888" y="4709160"/>
            <a:ext cx="2011680" cy="365760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42616" y="470916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1" i="0">
                <a:solidFill>
                  <a:srgbClr val="4A35FF"/>
                </a:solidFill>
                <a:latin typeface="Montserrat"/>
              </a:rPr>
              <a:t>ENFORCEMENT TECHNOLOGY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54296" y="4709160"/>
            <a:ext cx="2057400" cy="365760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64024" y="4709160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1" i="0">
                <a:solidFill>
                  <a:srgbClr val="4A35FF"/>
                </a:solidFill>
                <a:latin typeface="Montserrat"/>
              </a:rPr>
              <a:t>POLICY &amp; VICTIM SUPPORT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21424" y="4709160"/>
            <a:ext cx="1828800" cy="365760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31152" y="4709160"/>
            <a:ext cx="160934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1" i="0">
                <a:solidFill>
                  <a:srgbClr val="4A35FF"/>
                </a:solidFill>
                <a:latin typeface="Montserrat"/>
              </a:rPr>
              <a:t>YOUTH MOBILISATION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40080" y="5532120"/>
            <a:ext cx="7863840" cy="0"/>
          </a:xfrm>
          <a:prstGeom prst="line">
            <a:avLst/>
          </a:prstGeom>
          <a:ln w="12700">
            <a:solidFill>
              <a:srgbClr val="EDEEF2"/>
            </a:solidFill>
          </a:ln>
          <a:effectLst/>
        </p:spPr>
      </p:cxnSp>
      <p:sp>
        <p:nvSpPr>
          <p:cNvPr id="35" name="TextBox 34"/>
          <p:cNvSpPr txBox="1"/>
          <p:nvPr/>
        </p:nvSpPr>
        <p:spPr>
          <a:xfrm>
            <a:off x="640080" y="5715000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777589"/>
                </a:solidFill>
                <a:latin typeface="Montserrat"/>
              </a:rPr>
              <a:t>Year one:  </a:t>
            </a:r>
            <a:r>
              <a:rPr sz="1050" b="1" i="0">
                <a:solidFill>
                  <a:srgbClr val="1A1C1C"/>
                </a:solidFill>
                <a:latin typeface="Montserrat"/>
              </a:rPr>
              <a:t>1M+ people reached  ·  18 cities  ·  25+ government approvals  ·  ₹30 Cr+ unpaid challans surfaced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17220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 spc="160">
                <a:solidFill>
                  <a:srgbClr val="777589"/>
                </a:solidFill>
                <a:latin typeface="Montserrat"/>
              </a:rPr>
              <a:t>Partner overview  ·  July 2026  ·  crashfreeindia.org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India loses 485 lives on its roads every day 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most of them preventable with follow-through.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49377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</a:pPr>
            <a:r>
              <a:rPr sz="15000" b="1" i="0">
                <a:solidFill>
                  <a:srgbClr val="F10015"/>
                </a:solidFill>
                <a:latin typeface="Montserrat"/>
              </a:rPr>
              <a:t>485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434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A1C1C"/>
                </a:solidFill>
                <a:latin typeface="Montserrat"/>
              </a:rPr>
              <a:t>people killed every single day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74520" y="4800600"/>
            <a:ext cx="2468880" cy="38404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84248" y="4800600"/>
            <a:ext cx="22494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4A35FF"/>
                </a:solidFill>
                <a:latin typeface="Montserrat"/>
              </a:rPr>
              <a:t>ONE DEATH EVERY 3 MINUTES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777589"/>
                </a:solidFill>
                <a:latin typeface="Geist"/>
              </a:rPr>
              <a:t>MoRTH, Road Accidents in India 2024: 1,77,175 deaths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14884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000" b="1" i="0">
                <a:solidFill>
                  <a:srgbClr val="4A35FF"/>
                </a:solidFill>
                <a:latin typeface="Montserrat"/>
              </a:rPr>
              <a:t>59%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218688"/>
            <a:ext cx="5120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1A1C1C"/>
                </a:solidFill>
                <a:latin typeface="Geist"/>
              </a:rPr>
              <a:t>of road deaths involve no traffic violation by the victim — better road design, supported enforcement and faster post-crash care decide who survives.</a:t>
            </a:r>
          </a:p>
        </p:txBody>
      </p:sp>
      <p:sp>
        <p:nvSpPr>
          <p:cNvPr id="13" name="Oval 12"/>
          <p:cNvSpPr/>
          <p:nvPr/>
        </p:nvSpPr>
        <p:spPr>
          <a:xfrm>
            <a:off x="6309360" y="4325112"/>
            <a:ext cx="109728" cy="109728"/>
          </a:xfrm>
          <a:prstGeom prst="ellipse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427939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A1C1C"/>
                </a:solidFill>
                <a:latin typeface="Geist"/>
              </a:rPr>
              <a:t>66% of victims are aged 18–34  </a:t>
            </a:r>
            <a:r>
              <a:rPr sz="1000" b="0" i="0">
                <a:solidFill>
                  <a:srgbClr val="777589"/>
                </a:solidFill>
                <a:latin typeface="Geist"/>
              </a:rPr>
              <a:t>— India's workforce bears the loss</a:t>
            </a:r>
          </a:p>
        </p:txBody>
      </p:sp>
      <p:sp>
        <p:nvSpPr>
          <p:cNvPr id="15" name="Oval 14"/>
          <p:cNvSpPr/>
          <p:nvPr/>
        </p:nvSpPr>
        <p:spPr>
          <a:xfrm>
            <a:off x="6309360" y="4745736"/>
            <a:ext cx="109728" cy="109728"/>
          </a:xfrm>
          <a:prstGeom prst="ellipse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470001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A1C1C"/>
                </a:solidFill>
                <a:latin typeface="Geist"/>
              </a:rPr>
              <a:t>1% of world's vehicles, 11% of its road deaths  </a:t>
            </a:r>
            <a:r>
              <a:rPr sz="1000" b="0" i="0">
                <a:solidFill>
                  <a:srgbClr val="777589"/>
                </a:solidFill>
                <a:latin typeface="Geist"/>
              </a:rPr>
              <a:t>— the gap is systemic</a:t>
            </a:r>
          </a:p>
        </p:txBody>
      </p:sp>
      <p:sp>
        <p:nvSpPr>
          <p:cNvPr id="17" name="Oval 16"/>
          <p:cNvSpPr/>
          <p:nvPr/>
        </p:nvSpPr>
        <p:spPr>
          <a:xfrm>
            <a:off x="6309360" y="5166360"/>
            <a:ext cx="109728" cy="109728"/>
          </a:xfrm>
          <a:prstGeom prst="ellipse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51206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A1C1C"/>
                </a:solidFill>
                <a:latin typeface="Geist"/>
              </a:rPr>
              <a:t>₹80,000 Cr in compensation undelivered  </a:t>
            </a:r>
            <a:r>
              <a:rPr sz="1000" b="0" i="0">
                <a:solidFill>
                  <a:srgbClr val="777589"/>
                </a:solidFill>
                <a:latin typeface="Geist"/>
              </a:rPr>
              <a:t>— the failure continues after the crash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715000"/>
            <a:ext cx="10911535" cy="457200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715000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4A35FF"/>
                </a:solidFill>
                <a:latin typeface="Montserrat"/>
              </a:rPr>
              <a:t>India has strong laws and committed institutions. What they need is more capacity for follow-through — that is the gap we fill.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THE PROBLEM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02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57200"/>
            <a:ext cx="1920240" cy="265346"/>
          </a:xfrm>
          <a:prstGeom prst="rect">
            <a:avLst/>
          </a:prstGeom>
        </p:spPr>
      </p:pic>
      <p:sp>
        <p:nvSpPr>
          <p:cNvPr id="4" name="4-Point Star 3"/>
          <p:cNvSpPr/>
          <p:nvPr/>
        </p:nvSpPr>
        <p:spPr>
          <a:xfrm>
            <a:off x="11338560" y="292608"/>
            <a:ext cx="457200" cy="457200"/>
          </a:xfrm>
          <a:prstGeom prst="star4">
            <a:avLst/>
          </a:prstGeom>
          <a:solidFill>
            <a:srgbClr val="6A5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11064240" y="658368"/>
            <a:ext cx="274320" cy="274320"/>
          </a:xfrm>
          <a:prstGeom prst="star4">
            <a:avLst/>
          </a:prstGeom>
          <a:solidFill>
            <a:srgbClr val="6A5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 spc="240">
                <a:solidFill>
                  <a:srgbClr val="C8C0FF"/>
                </a:solidFill>
                <a:latin typeface="Montserrat"/>
              </a:rPr>
              <a:t>THE PROBLEM · WHERE WE 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FFFFFF"/>
                </a:solidFill>
                <a:latin typeface="Montserrat"/>
              </a:rPr>
              <a:t>Three pendencies we help the system clear.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128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C8C0FF"/>
                </a:solidFill>
                <a:latin typeface="Geist"/>
              </a:rPr>
              <a:t>We studied how India responds to a road death. Departments know the problems — what they need is dedicated hands, tools and follow-through.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34640"/>
            <a:ext cx="3520440" cy="2606040"/>
          </a:xfrm>
          <a:prstGeom prst="roundRect">
            <a:avLst/>
          </a:prstGeom>
          <a:solidFill>
            <a:srgbClr val="5A46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108960"/>
            <a:ext cx="502920" cy="502920"/>
          </a:xfrm>
          <a:prstGeom prst="ellipse">
            <a:avLst/>
          </a:prstGeom>
          <a:solidFill>
            <a:srgbClr val="6A5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traffic-cone_FFFF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3218688"/>
            <a:ext cx="283464" cy="2834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767328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 spc="180">
                <a:solidFill>
                  <a:srgbClr val="C8C0FF"/>
                </a:solidFill>
                <a:latin typeface="Montserrat"/>
              </a:rPr>
              <a:t>01 · ROAD FIXES PENDING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FFFFFF"/>
                </a:solidFill>
                <a:latin typeface="Montserrat"/>
              </a:rPr>
              <a:t>Audits await execution.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645152"/>
            <a:ext cx="2971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8C0FF"/>
                </a:solidFill>
                <a:latin typeface="Geist"/>
              </a:rPr>
              <a:t>Hazards are identified and studies filed — stretched departments need help converting reports into built fixes.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6" y="2834640"/>
            <a:ext cx="3520440" cy="2606040"/>
          </a:xfrm>
          <a:prstGeom prst="roundRect">
            <a:avLst/>
          </a:prstGeom>
          <a:solidFill>
            <a:srgbClr val="5A46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08576" y="3108960"/>
            <a:ext cx="502920" cy="502920"/>
          </a:xfrm>
          <a:prstGeom prst="ellipse">
            <a:avLst/>
          </a:prstGeom>
          <a:solidFill>
            <a:srgbClr val="6A5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scale_FFFFFF_256_2.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8304" y="3218688"/>
            <a:ext cx="283464" cy="283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576" y="3767328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 spc="180">
                <a:solidFill>
                  <a:srgbClr val="C8C0FF"/>
                </a:solidFill>
                <a:latin typeface="Montserrat"/>
              </a:rPr>
              <a:t>02 · CLAIMS PENDING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8576" y="4041648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FFFFFF"/>
                </a:solidFill>
                <a:latin typeface="Montserrat"/>
              </a:rPr>
              <a:t>₹80,000 Cr awaits families.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8576" y="4645152"/>
            <a:ext cx="2971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8C0FF"/>
                </a:solidFill>
                <a:latin typeface="Geist"/>
              </a:rPr>
              <a:t>10.46 lakh compensation cases pending. Our Gurugram file audit shows where each claim gets stuck — and how to unblock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2" y="2834640"/>
            <a:ext cx="3520440" cy="2606040"/>
          </a:xfrm>
          <a:prstGeom prst="roundRect">
            <a:avLst/>
          </a:prstGeom>
          <a:solidFill>
            <a:srgbClr val="5A46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302752" y="3108960"/>
            <a:ext cx="502920" cy="502920"/>
          </a:xfrm>
          <a:prstGeom prst="ellipse">
            <a:avLst/>
          </a:prstGeom>
          <a:solidFill>
            <a:srgbClr val="6A5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siren_FFFFFF_256_2.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3218688"/>
            <a:ext cx="283464" cy="28346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302752" y="3767328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 spc="180">
                <a:solidFill>
                  <a:srgbClr val="C8C0FF"/>
                </a:solidFill>
                <a:latin typeface="Montserrat"/>
              </a:rPr>
              <a:t>03 · RECORDS UNUSED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4041648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FFFFFF"/>
                </a:solidFill>
                <a:latin typeface="Montserrat"/>
              </a:rPr>
              <a:t>Enforcement lacks live tools.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4645152"/>
            <a:ext cx="2971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8C0FF"/>
                </a:solidFill>
                <a:latin typeface="Geist"/>
              </a:rPr>
              <a:t>46 crore e-challans on record, ~75% unpaid. Police need technology that turns records into targeted, fair action.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74243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FFFFF"/>
                </a:solidFill>
                <a:latin typeface="Montserrat"/>
              </a:rPr>
              <a:t>Our role: give the system the hands, tools and follow-through to convert intent into outcomes on the ground.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C8C0FF"/>
                </a:solidFill>
                <a:latin typeface="Montserrat"/>
              </a:rPr>
              <a:t>THE PROBLEM · WHERE WE HELP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C8C0FF"/>
                </a:solidFill>
                <a:latin typeface="Montserrat"/>
              </a:rPr>
              <a:t>03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WHO WE ARE · ABOUT CRASHFREE INDIA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A partner to the system — with the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hands and tools to finish the job.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4708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777589"/>
                </a:solidFill>
                <a:latin typeface="Geist"/>
              </a:rPr>
              <a:t>A Cars24-backed nonprofit ($3M over 3 years, run by Vision Zero Trust) working with governments towards zero road deaths by 2040.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5577840" cy="1965960"/>
          </a:xfrm>
          <a:prstGeom prst="roundRect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 spc="180">
                <a:solidFill>
                  <a:srgbClr val="C8C0FF"/>
                </a:solidFill>
                <a:latin typeface="Montserrat"/>
              </a:rPr>
              <a:t>OUR PHILOSOPHY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90672"/>
            <a:ext cx="5074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FFFFFF"/>
                </a:solidFill>
                <a:latin typeface="Geist"/>
              </a:rPr>
              <a:t>Road deaths are a solvable systems problem. We work as a support layer to government — auditing on the ground, building tools, and staying with every fix until it is done.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977639"/>
            <a:ext cx="754380" cy="329184"/>
          </a:xfrm>
          <a:prstGeom prst="roundRect">
            <a:avLst/>
          </a:prstGeom>
          <a:solidFill>
            <a:srgbClr val="5A46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7543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i="0" spc="80">
                <a:solidFill>
                  <a:srgbClr val="FFFFFF"/>
                </a:solidFill>
                <a:latin typeface="Montserrat"/>
              </a:rPr>
              <a:t>AUDIT</a:t>
            </a:r>
          </a:p>
        </p:txBody>
      </p:sp>
      <p:pic>
        <p:nvPicPr>
          <p:cNvPr id="12" name="Picture 11" descr="arrow-right_C8C0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644" y="4041648"/>
            <a:ext cx="182880" cy="1828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961388" y="3977639"/>
            <a:ext cx="987552" cy="329184"/>
          </a:xfrm>
          <a:prstGeom prst="roundRect">
            <a:avLst/>
          </a:prstGeom>
          <a:solidFill>
            <a:srgbClr val="5A46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1388" y="3977639"/>
            <a:ext cx="9875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i="0" spc="80">
                <a:solidFill>
                  <a:srgbClr val="FFFFFF"/>
                </a:solidFill>
                <a:latin typeface="Montserrat"/>
              </a:rPr>
              <a:t>ADVOCATE</a:t>
            </a:r>
          </a:p>
        </p:txBody>
      </p:sp>
      <p:pic>
        <p:nvPicPr>
          <p:cNvPr id="15" name="Picture 14" descr="arrow-right_C8C0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3804" y="4041648"/>
            <a:ext cx="182880" cy="1828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3241548" y="3977639"/>
            <a:ext cx="1453896" cy="329184"/>
          </a:xfrm>
          <a:prstGeom prst="roundRect">
            <a:avLst/>
          </a:prstGeom>
          <a:solidFill>
            <a:srgbClr val="5A46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1548" y="3977639"/>
            <a:ext cx="145389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i="0" spc="80">
                <a:solidFill>
                  <a:srgbClr val="FFFFFF"/>
                </a:solidFill>
                <a:latin typeface="Montserrat"/>
              </a:rPr>
              <a:t>FOLLOW THROUGH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54880"/>
            <a:ext cx="1325880" cy="777240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84632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1" i="0">
                <a:solidFill>
                  <a:srgbClr val="4A35FF"/>
                </a:solidFill>
                <a:latin typeface="Montserrat"/>
              </a:rPr>
              <a:t>1M+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9379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i="0">
                <a:solidFill>
                  <a:srgbClr val="777589"/>
                </a:solidFill>
                <a:latin typeface="Geist"/>
              </a:rPr>
              <a:t>people reached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66544" y="4754880"/>
            <a:ext cx="1325880" cy="777240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66544" y="484632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1" i="0">
                <a:solidFill>
                  <a:srgbClr val="4A35FF"/>
                </a:solidFill>
                <a:latin typeface="Montserrat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66544" y="519379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i="0">
                <a:solidFill>
                  <a:srgbClr val="777589"/>
                </a:solidFill>
                <a:latin typeface="Geist"/>
              </a:rPr>
              <a:t>cities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93008" y="4754880"/>
            <a:ext cx="1325880" cy="777240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93008" y="484632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1" i="0">
                <a:solidFill>
                  <a:srgbClr val="4A35FF"/>
                </a:solidFill>
                <a:latin typeface="Montserrat"/>
              </a:rPr>
              <a:t>25+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93008" y="519379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i="0">
                <a:solidFill>
                  <a:srgbClr val="777589"/>
                </a:solidFill>
                <a:latin typeface="Geist"/>
              </a:rPr>
              <a:t>govt approvals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19472" y="4754880"/>
            <a:ext cx="1325880" cy="777240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9472" y="484632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1" i="0">
                <a:solidFill>
                  <a:srgbClr val="4A35FF"/>
                </a:solidFill>
                <a:latin typeface="Montserrat"/>
              </a:rPr>
              <a:t>₹30 Cr+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19472" y="519379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i="0">
                <a:solidFill>
                  <a:srgbClr val="777589"/>
                </a:solidFill>
                <a:latin typeface="Geist"/>
              </a:rPr>
              <a:t>dues surfaced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26060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 spc="180">
                <a:solidFill>
                  <a:srgbClr val="777589"/>
                </a:solidFill>
                <a:latin typeface="Montserrat"/>
              </a:rPr>
              <a:t>FOUR PILLARS OF WORK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2907792"/>
            <a:ext cx="365760" cy="365760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hard-hat_4A35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985516"/>
            <a:ext cx="210312" cy="21031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040880" y="2889504"/>
            <a:ext cx="4480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1C1C"/>
                </a:solidFill>
                <a:latin typeface="Montserrat"/>
              </a:rPr>
              <a:t>Road infrastructure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3136392"/>
            <a:ext cx="4480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777589"/>
                </a:solidFill>
                <a:latin typeface="Geist"/>
              </a:rPr>
              <a:t>Project Rakshak — audits that end in built fixes</a:t>
            </a:r>
          </a:p>
        </p:txBody>
      </p:sp>
      <p:sp>
        <p:nvSpPr>
          <p:cNvPr id="35" name="Oval 34"/>
          <p:cNvSpPr/>
          <p:nvPr/>
        </p:nvSpPr>
        <p:spPr>
          <a:xfrm>
            <a:off x="6537960" y="3566160"/>
            <a:ext cx="365760" cy="365760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6" name="Picture 35" descr="scan-line_4A35FF_256_2.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684" y="3643884"/>
            <a:ext cx="210312" cy="2103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040880" y="3547872"/>
            <a:ext cx="4480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1C1C"/>
                </a:solidFill>
                <a:latin typeface="Montserrat"/>
              </a:rPr>
              <a:t>Enforcement technology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3794760"/>
            <a:ext cx="4480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777589"/>
                </a:solidFill>
                <a:latin typeface="Geist"/>
              </a:rPr>
              <a:t>SATARK &amp; AI billboards, run with police</a:t>
            </a:r>
          </a:p>
        </p:txBody>
      </p:sp>
      <p:sp>
        <p:nvSpPr>
          <p:cNvPr id="39" name="Oval 38"/>
          <p:cNvSpPr/>
          <p:nvPr/>
        </p:nvSpPr>
        <p:spPr>
          <a:xfrm>
            <a:off x="6537960" y="4224528"/>
            <a:ext cx="365760" cy="365760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hand-helping_4A35FF_256_2.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684" y="4302252"/>
            <a:ext cx="210312" cy="2103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040880" y="4206240"/>
            <a:ext cx="4480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1C1C"/>
                </a:solidFill>
                <a:latin typeface="Montserrat"/>
              </a:rPr>
              <a:t>Policy &amp; victim support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4453128"/>
            <a:ext cx="4480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777589"/>
                </a:solidFill>
                <a:latin typeface="Geist"/>
              </a:rPr>
              <a:t>Aasha, compensation research, district committees</a:t>
            </a:r>
          </a:p>
        </p:txBody>
      </p:sp>
      <p:sp>
        <p:nvSpPr>
          <p:cNvPr id="43" name="Oval 42"/>
          <p:cNvSpPr/>
          <p:nvPr/>
        </p:nvSpPr>
        <p:spPr>
          <a:xfrm>
            <a:off x="6537960" y="4882896"/>
            <a:ext cx="365760" cy="365760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3" descr="bar-chart-3_4A35FF_256_2.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5684" y="4960620"/>
            <a:ext cx="210312" cy="2103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40880" y="4864608"/>
            <a:ext cx="4480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1C1C"/>
                </a:solidFill>
                <a:latin typeface="Montserrat"/>
              </a:rPr>
              <a:t>Open data &amp; education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0" y="5111496"/>
            <a:ext cx="4480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777589"/>
                </a:solidFill>
                <a:latin typeface="Geist"/>
              </a:rPr>
              <a:t>Public dashboards, comics, guides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" y="5715000"/>
            <a:ext cx="10911535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5779008"/>
            <a:ext cx="10454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1" i="0">
                <a:solidFill>
                  <a:srgbClr val="4A35FF"/>
                </a:solidFill>
                <a:latin typeface="Montserrat"/>
              </a:rPr>
              <a:t>Trustees:  </a:t>
            </a:r>
            <a:r>
              <a:rPr sz="900" b="0" i="0">
                <a:solidFill>
                  <a:srgbClr val="1A1C1C"/>
                </a:solidFill>
                <a:latin typeface="Geist"/>
              </a:rPr>
              <a:t>Amar Srivastava (Founder, IRSC) · Deepanshu Gupta (Founder, IRSC) · Gajendra Jangid (Co-founder, Cars24)      </a:t>
            </a:r>
            <a:r>
              <a:rPr sz="900" b="1" i="0">
                <a:solidFill>
                  <a:srgbClr val="4A35FF"/>
                </a:solidFill>
                <a:latin typeface="Montserrat"/>
              </a:rPr>
              <a:t>Board of Advisors:  </a:t>
            </a:r>
            <a:r>
              <a:rPr sz="900" b="0" i="0">
                <a:solidFill>
                  <a:srgbClr val="1A1C1C"/>
                </a:solidFill>
                <a:latin typeface="Geist"/>
              </a:rPr>
              <a:t>Piyush Tewari (SaveLIFE Foundation) · Prof. Geetam Tiwari (IIT Delhi)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ABOUT CRASHFREE INDIA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04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WHO WE ARE · OUR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How we work: audit, advocate, 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follow through until the fix is built.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2331720" cy="3017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2624328"/>
            <a:ext cx="566928" cy="566928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search-check_4A3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752344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6112" y="3383280"/>
            <a:ext cx="18196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 spc="120">
                <a:solidFill>
                  <a:srgbClr val="4A35FF"/>
                </a:solidFill>
                <a:latin typeface="Montserrat"/>
              </a:rPr>
              <a:t>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703320"/>
            <a:ext cx="18196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A1C1C"/>
                </a:solidFill>
                <a:latin typeface="Montserrat"/>
              </a:rPr>
              <a:t>Find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142232"/>
            <a:ext cx="18196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777589"/>
                </a:solidFill>
                <a:latin typeface="Geist"/>
              </a:rPr>
              <a:t>Field evidence to IRC / MoRTH standards — blackspots, claim files, enforcement gaps.</a:t>
            </a:r>
          </a:p>
        </p:txBody>
      </p:sp>
      <p:pic>
        <p:nvPicPr>
          <p:cNvPr id="12" name="Picture 11" descr="arrow-right_6A55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3712464"/>
            <a:ext cx="256032" cy="25603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355848" y="2331720"/>
            <a:ext cx="2331720" cy="3017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11880" y="2624328"/>
            <a:ext cx="566928" cy="566928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megaphone_4A35FF_256_2.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9896" y="2752344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611880" y="3383280"/>
            <a:ext cx="18196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 spc="120">
                <a:solidFill>
                  <a:srgbClr val="4A35FF"/>
                </a:solidFill>
                <a:latin typeface="Montserrat"/>
              </a:rPr>
              <a:t>ADVOCATE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703320"/>
            <a:ext cx="18196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A1C1C"/>
                </a:solidFill>
                <a:latin typeface="Montserrat"/>
              </a:rPr>
              <a:t>Name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142232"/>
            <a:ext cx="18196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777589"/>
                </a:solidFill>
                <a:latin typeface="Geist"/>
              </a:rPr>
              <a:t>Findings published and presented — to district committees, state departments, MoRTH, the press.</a:t>
            </a:r>
          </a:p>
        </p:txBody>
      </p:sp>
      <p:pic>
        <p:nvPicPr>
          <p:cNvPr id="19" name="Picture 18" descr="arrow-right_6A55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1576" y="3712464"/>
            <a:ext cx="256032" cy="256032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71616" y="2331720"/>
            <a:ext cx="2331720" cy="3017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27648" y="2624328"/>
            <a:ext cx="566928" cy="566928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badge-check_4A35FF_256_2.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2752344"/>
            <a:ext cx="310896" cy="3108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27648" y="3383280"/>
            <a:ext cx="18196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 spc="120">
                <a:solidFill>
                  <a:srgbClr val="4A35FF"/>
                </a:solidFill>
                <a:latin typeface="Montserrat"/>
              </a:rPr>
              <a:t>ACCOUNTABILITY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703320"/>
            <a:ext cx="18196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A1C1C"/>
                </a:solidFill>
                <a:latin typeface="Montserrat"/>
              </a:rPr>
              <a:t>Unblock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7648" y="4142232"/>
            <a:ext cx="18196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777589"/>
                </a:solidFill>
                <a:latin typeface="Geist"/>
              </a:rPr>
              <a:t>Every recommendation tracked in public — from approval to build, from claim to payout.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49640" y="2331720"/>
            <a:ext cx="2999232" cy="3017520"/>
          </a:xfrm>
          <a:prstGeom prst="roundRect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3960" y="2578608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 spc="180">
                <a:solidFill>
                  <a:srgbClr val="C8C0FF"/>
                </a:solidFill>
                <a:latin typeface="Montserrat"/>
              </a:rPr>
              <a:t>HOW WE STAY FOCUSED</a:t>
            </a:r>
          </a:p>
        </p:txBody>
      </p:sp>
      <p:sp>
        <p:nvSpPr>
          <p:cNvPr id="28" name="Oval 27"/>
          <p:cNvSpPr/>
          <p:nvPr/>
        </p:nvSpPr>
        <p:spPr>
          <a:xfrm>
            <a:off x="8823960" y="2990088"/>
            <a:ext cx="237744" cy="237744"/>
          </a:xfrm>
          <a:prstGeom prst="ellipse">
            <a:avLst/>
          </a:prstGeom>
          <a:solidFill>
            <a:srgbClr val="5A46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x_FFFFFF_256_2.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5108" y="3031236"/>
            <a:ext cx="155448" cy="1554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171432" y="2971800"/>
            <a:ext cx="2130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Geist"/>
              </a:rPr>
              <a:t>No campaigns without follow-up</a:t>
            </a:r>
          </a:p>
        </p:txBody>
      </p:sp>
      <p:sp>
        <p:nvSpPr>
          <p:cNvPr id="31" name="Oval 30"/>
          <p:cNvSpPr/>
          <p:nvPr/>
        </p:nvSpPr>
        <p:spPr>
          <a:xfrm>
            <a:off x="8823960" y="3410712"/>
            <a:ext cx="237744" cy="237744"/>
          </a:xfrm>
          <a:prstGeom prst="ellipse">
            <a:avLst/>
          </a:prstGeom>
          <a:solidFill>
            <a:srgbClr val="5A46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x_FFFFFF_256_2.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5108" y="3451860"/>
            <a:ext cx="155448" cy="15544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171432" y="3392424"/>
            <a:ext cx="2130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Geist"/>
              </a:rPr>
              <a:t>No event-counting as impact</a:t>
            </a:r>
          </a:p>
        </p:txBody>
      </p:sp>
      <p:sp>
        <p:nvSpPr>
          <p:cNvPr id="34" name="Oval 33"/>
          <p:cNvSpPr/>
          <p:nvPr/>
        </p:nvSpPr>
        <p:spPr>
          <a:xfrm>
            <a:off x="8823960" y="3831336"/>
            <a:ext cx="237744" cy="237744"/>
          </a:xfrm>
          <a:prstGeom prst="ellipse">
            <a:avLst/>
          </a:prstGeom>
          <a:solidFill>
            <a:srgbClr val="5A46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x_FFFFFF_256_2.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5108" y="3872484"/>
            <a:ext cx="155448" cy="15544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171432" y="3813048"/>
            <a:ext cx="2130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Geist"/>
              </a:rPr>
              <a:t>Never duplicating govt's role</a:t>
            </a:r>
          </a:p>
        </p:txBody>
      </p:sp>
      <p:sp>
        <p:nvSpPr>
          <p:cNvPr id="37" name="Oval 36"/>
          <p:cNvSpPr/>
          <p:nvPr/>
        </p:nvSpPr>
        <p:spPr>
          <a:xfrm>
            <a:off x="8823960" y="4251960"/>
            <a:ext cx="237744" cy="237744"/>
          </a:xfrm>
          <a:prstGeom prst="ellipse">
            <a:avLst/>
          </a:prstGeom>
          <a:solidFill>
            <a:srgbClr val="5A46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x_FFFFFF_256_2.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5108" y="4293108"/>
            <a:ext cx="155448" cy="15544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171432" y="4233672"/>
            <a:ext cx="2130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Geist"/>
              </a:rPr>
              <a:t>No reports that end at submission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823960" y="4736592"/>
            <a:ext cx="2450592" cy="0"/>
          </a:xfrm>
          <a:prstGeom prst="line">
            <a:avLst/>
          </a:prstGeom>
          <a:ln w="9525">
            <a:solidFill>
              <a:srgbClr val="6A55FF"/>
            </a:solidFill>
          </a:ln>
          <a:effectLst/>
        </p:spPr>
      </p:cxnSp>
      <p:sp>
        <p:nvSpPr>
          <p:cNvPr id="41" name="TextBox 40"/>
          <p:cNvSpPr txBox="1"/>
          <p:nvPr/>
        </p:nvSpPr>
        <p:spPr>
          <a:xfrm>
            <a:off x="8823960" y="4864608"/>
            <a:ext cx="24505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C8C0FF"/>
                </a:solidFill>
                <a:latin typeface="Geist"/>
              </a:rPr>
              <a:t>Every recommendation tracked to implementation.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777589"/>
                </a:solidFill>
                <a:latin typeface="Geist"/>
              </a:rPr>
              <a:t>Institutionally embedded: 4 District Road Safety Committees · MoUs with Jaipur Traffic Police &amp; Gurugram Police · formally tasked by SW Delhi DRSC.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OPERATING MODEL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05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WHAT WE DO ·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Four working pillars,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one accountability engine.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4708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777589"/>
                </a:solidFill>
                <a:latin typeface="Geist"/>
              </a:rPr>
              <a:t>Each pillar is explained on the following slides; detailed briefs are in the appendix.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97480"/>
            <a:ext cx="5349240" cy="15727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1248" y="2916936"/>
            <a:ext cx="457200" cy="457200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hard-hat_4A3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008376"/>
            <a:ext cx="27432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44752" y="2862072"/>
            <a:ext cx="4343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30" b="1" i="0" spc="150">
                <a:solidFill>
                  <a:srgbClr val="777589"/>
                </a:solidFill>
                <a:latin typeface="Montserrat"/>
              </a:rPr>
              <a:t>01 · ROAD 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3081528"/>
            <a:ext cx="4343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A1C1C"/>
                </a:solidFill>
                <a:latin typeface="Montserrat"/>
              </a:rPr>
              <a:t>Project Rakshak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3410712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30" b="0" i="0">
                <a:solidFill>
                  <a:srgbClr val="777589"/>
                </a:solidFill>
                <a:latin typeface="Geist"/>
              </a:rPr>
              <a:t>Engineering students audit dangerous roads to official standards; governments approve and build the fixes.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959352"/>
            <a:ext cx="4343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4A35FF"/>
                </a:solidFill>
                <a:latin typeface="Montserrat"/>
              </a:rPr>
              <a:t>25+ approvals · 15 builds begun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2697480"/>
            <a:ext cx="5349240" cy="15727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916936"/>
            <a:ext cx="457200" cy="457200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scan-line_4A35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3008376"/>
            <a:ext cx="274320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95160" y="2862072"/>
            <a:ext cx="4343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30" b="1" i="0" spc="150">
                <a:solidFill>
                  <a:srgbClr val="777589"/>
                </a:solidFill>
                <a:latin typeface="Montserrat"/>
              </a:rPr>
              <a:t>02 · ENFORCEMENT TECHNOLOGY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3081528"/>
            <a:ext cx="4343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A1C1C"/>
                </a:solidFill>
                <a:latin typeface="Montserrat"/>
              </a:rPr>
              <a:t>SATARK &amp; AI billboards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3410712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30" b="0" i="0">
                <a:solidFill>
                  <a:srgbClr val="777589"/>
                </a:solidFill>
                <a:latin typeface="Geist"/>
              </a:rPr>
              <a:t>AI reads number plates, checks live records and helps traffic police stop the riskiest vehicles.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3959352"/>
            <a:ext cx="4343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4A35FF"/>
                </a:solidFill>
                <a:latin typeface="Montserrat"/>
              </a:rPr>
              <a:t>₹30 Cr+ dues surfaced · 2 cities live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453128"/>
            <a:ext cx="5349240" cy="15727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1248" y="4672584"/>
            <a:ext cx="457200" cy="457200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hand-helping_4A35FF_256_2.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4764024"/>
            <a:ext cx="274320" cy="274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44752" y="4617720"/>
            <a:ext cx="4343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30" b="1" i="0" spc="150">
                <a:solidFill>
                  <a:srgbClr val="777589"/>
                </a:solidFill>
                <a:latin typeface="Montserrat"/>
              </a:rPr>
              <a:t>03 · POLICY &amp; VICTIM SUPPORT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44752" y="4837176"/>
            <a:ext cx="4343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A1C1C"/>
                </a:solidFill>
                <a:latin typeface="Montserrat"/>
              </a:rPr>
              <a:t>Aasha &amp; compensation reform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5166360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30" b="0" i="0">
                <a:solidFill>
                  <a:srgbClr val="777589"/>
                </a:solidFill>
                <a:latin typeface="Geist"/>
              </a:rPr>
              <a:t>Research, victim tools and government partnerships that make legal compensation actually reach families.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4752" y="5715000"/>
            <a:ext cx="4343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4A35FF"/>
                </a:solidFill>
                <a:latin typeface="Montserrat"/>
              </a:rPr>
              <a:t>100+ victims helped in first 4 days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0488" y="4453128"/>
            <a:ext cx="5349240" cy="15727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91656" y="4672584"/>
            <a:ext cx="457200" cy="457200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bar-chart-3_4A35FF_256_2.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96" y="4764024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995160" y="4617720"/>
            <a:ext cx="4343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30" b="1" i="0" spc="150">
                <a:solidFill>
                  <a:srgbClr val="777589"/>
                </a:solidFill>
                <a:latin typeface="Montserrat"/>
              </a:rPr>
              <a:t>04 · OPEN DATA &amp; EDUCATION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4837176"/>
            <a:ext cx="4343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A1C1C"/>
                </a:solidFill>
                <a:latin typeface="Montserrat"/>
              </a:rPr>
              <a:t>Public platforms &amp; guides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5166360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30" b="0" i="0">
                <a:solidFill>
                  <a:srgbClr val="777589"/>
                </a:solidFill>
                <a:latin typeface="Geist"/>
              </a:rPr>
              <a:t>Self-updating public data tools plus comics and plain-language guides that make problems impossible to ignore.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60" y="5715000"/>
            <a:ext cx="4343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4A35FF"/>
                </a:solidFill>
                <a:latin typeface="Montserrat"/>
              </a:rPr>
              <a:t>4 platforms · 36 states covered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WHAT WE DO · OVERVIEW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06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WHAT WE DO · 01 ROAD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Project Rakshak — engineering 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audit dangerous roads; governments fix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4708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777589"/>
                </a:solidFill>
                <a:latin typeface="Geist"/>
              </a:rPr>
              <a:t>A national programme that mobilises trained student teams to audit high-risk locations to official standards and hand authorities ready-to-build fixes.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9572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30" b="1" i="0" spc="120">
                <a:solidFill>
                  <a:srgbClr val="4A35FF"/>
                </a:solidFill>
                <a:latin typeface="Montserrat"/>
              </a:rPr>
              <a:t>WHY THIS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33472"/>
            <a:ext cx="239572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80" b="0" i="0">
                <a:solidFill>
                  <a:srgbClr val="777589"/>
                </a:solidFill>
                <a:latin typeface="Geist"/>
              </a:rPr>
              <a:t>Black spots are known and studied — converting reports into built fixes is the bottleneck we remove.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18688" y="239572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30" b="1" i="0" spc="120">
                <a:solidFill>
                  <a:srgbClr val="4A35FF"/>
                </a:solidFill>
                <a:latin typeface="Montserrat"/>
              </a:rPr>
              <a:t>HOW IT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8688" y="2633472"/>
            <a:ext cx="239572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80" b="0" i="0">
                <a:solidFill>
                  <a:srgbClr val="777589"/>
                </a:solidFill>
                <a:latin typeface="Geist"/>
              </a:rPr>
              <a:t>Trained student teams audit to IRC / MoRTH standards and hand authorities ready-to-approve proposals.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7296" y="239572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30" b="1" i="0" spc="120">
                <a:solidFill>
                  <a:srgbClr val="4A35FF"/>
                </a:solidFill>
                <a:latin typeface="Montserrat"/>
              </a:rPr>
              <a:t>WHY WE'RE PLACED TO DO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97296" y="2633472"/>
            <a:ext cx="239572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80" b="0" i="0">
                <a:solidFill>
                  <a:srgbClr val="777589"/>
                </a:solidFill>
                <a:latin typeface="Geist"/>
              </a:rPr>
              <a:t>A 9-IIT talent pipeline, mentors led by Prof. Geetam Tiwari (IIT Delhi), and a public tracking dashboard.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611880"/>
            <a:ext cx="1691640" cy="129844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721608"/>
            <a:ext cx="1691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500" b="1" i="0">
                <a:solidFill>
                  <a:srgbClr val="4A35FF"/>
                </a:solidFill>
                <a:latin typeface="Montserrat"/>
              </a:rPr>
              <a:t>120+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70248"/>
            <a:ext cx="1691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0" i="0">
                <a:solidFill>
                  <a:srgbClr val="777589"/>
                </a:solidFill>
                <a:latin typeface="Geist"/>
              </a:rPr>
              <a:t>locations</a:t>
            </a:r>
          </a:p>
          <a:p>
            <a:pPr algn="ctr">
              <a:lnSpc>
                <a:spcPct val="118000"/>
              </a:lnSpc>
            </a:pPr>
            <a:r>
              <a:rPr sz="850" b="0" i="0">
                <a:solidFill>
                  <a:srgbClr val="777589"/>
                </a:solidFill>
                <a:latin typeface="Geist"/>
              </a:rPr>
              <a:t>screened</a:t>
            </a:r>
          </a:p>
        </p:txBody>
      </p:sp>
      <p:pic>
        <p:nvPicPr>
          <p:cNvPr id="16" name="Picture 15" descr="chevron-right_6A5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292" y="4160520"/>
            <a:ext cx="201168" cy="20116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2542032" y="3611880"/>
            <a:ext cx="1691640" cy="129844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42032" y="3721608"/>
            <a:ext cx="1691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500" b="1" i="0">
                <a:solidFill>
                  <a:srgbClr val="4A35FF"/>
                </a:solidFill>
                <a:latin typeface="Montserrat"/>
              </a:rPr>
              <a:t>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4270248"/>
            <a:ext cx="1691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0" i="0">
                <a:solidFill>
                  <a:srgbClr val="777589"/>
                </a:solidFill>
                <a:latin typeface="Geist"/>
              </a:rPr>
              <a:t>sites audited ·</a:t>
            </a:r>
          </a:p>
          <a:p>
            <a:pPr algn="ctr">
              <a:lnSpc>
                <a:spcPct val="118000"/>
              </a:lnSpc>
            </a:pPr>
            <a:r>
              <a:rPr sz="850" b="0" i="0">
                <a:solidFill>
                  <a:srgbClr val="777589"/>
                </a:solidFill>
                <a:latin typeface="Geist"/>
              </a:rPr>
              <a:t>11 blackspots</a:t>
            </a:r>
          </a:p>
        </p:txBody>
      </p:sp>
      <p:pic>
        <p:nvPicPr>
          <p:cNvPr id="20" name="Picture 19" descr="chevron-right_6A5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244" y="4160520"/>
            <a:ext cx="201168" cy="20116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4443984" y="3611880"/>
            <a:ext cx="1691640" cy="129844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3721608"/>
            <a:ext cx="1691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500" b="1" i="0">
                <a:solidFill>
                  <a:srgbClr val="4A35FF"/>
                </a:solidFill>
                <a:latin typeface="Montserrat"/>
              </a:rPr>
              <a:t>25+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4270248"/>
            <a:ext cx="1691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0" i="0">
                <a:solidFill>
                  <a:srgbClr val="777589"/>
                </a:solidFill>
                <a:latin typeface="Geist"/>
              </a:rPr>
              <a:t>government</a:t>
            </a:r>
          </a:p>
          <a:p>
            <a:pPr algn="ctr">
              <a:lnSpc>
                <a:spcPct val="118000"/>
              </a:lnSpc>
            </a:pPr>
            <a:r>
              <a:rPr sz="850" b="0" i="0">
                <a:solidFill>
                  <a:srgbClr val="777589"/>
                </a:solidFill>
                <a:latin typeface="Geist"/>
              </a:rPr>
              <a:t>approvals</a:t>
            </a:r>
          </a:p>
        </p:txBody>
      </p:sp>
      <p:pic>
        <p:nvPicPr>
          <p:cNvPr id="24" name="Picture 23" descr="chevron-right_6A5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0196" y="4160520"/>
            <a:ext cx="201168" cy="201168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345936" y="3611880"/>
            <a:ext cx="1691640" cy="1298448"/>
          </a:xfrm>
          <a:prstGeom prst="roundRect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5936" y="3721608"/>
            <a:ext cx="1691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500" b="1" i="0">
                <a:solidFill>
                  <a:srgbClr val="FFFFFF"/>
                </a:solidFill>
                <a:latin typeface="Montserrat"/>
              </a:rPr>
              <a:t>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36" y="4270248"/>
            <a:ext cx="1691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0" i="0">
                <a:solidFill>
                  <a:srgbClr val="C8C0FF"/>
                </a:solidFill>
                <a:latin typeface="Geist"/>
              </a:rPr>
              <a:t>builds</a:t>
            </a:r>
          </a:p>
          <a:p>
            <a:pPr algn="ctr">
              <a:lnSpc>
                <a:spcPct val="118000"/>
              </a:lnSpc>
            </a:pPr>
            <a:r>
              <a:rPr sz="850" b="0" i="0">
                <a:solidFill>
                  <a:srgbClr val="C8C0FF"/>
                </a:solidFill>
                <a:latin typeface="Geist"/>
              </a:rPr>
              <a:t>begun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74980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 spc="30">
                <a:solidFill>
                  <a:srgbClr val="1A1C1C"/>
                </a:solidFill>
                <a:latin typeface="Montserrat"/>
              </a:rPr>
              <a:t>18 cities · 20 institutions incl. 9 IITs · 900+ stakeholder surveys · every site public on the dashboard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413248"/>
            <a:ext cx="7498079" cy="65836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landmark_4A35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596128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80160" y="5468112"/>
            <a:ext cx="6766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C1C"/>
                </a:solidFill>
                <a:latin typeface="Geist"/>
              </a:rPr>
              <a:t>Institutionalising the model: Cohort 2 runs three tracks — students, NGO partners, CRRI-certified auditors — building towards the Rakshak Audit Manual v1.0, usable by NHAI without rework.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66175" y="2359152"/>
            <a:ext cx="3319272" cy="1589303"/>
          </a:xfrm>
          <a:prstGeom prst="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2395728"/>
            <a:ext cx="3246120" cy="151615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302752" y="3985031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i="1">
                <a:solidFill>
                  <a:srgbClr val="777589"/>
                </a:solidFill>
                <a:latin typeface="Geist"/>
              </a:rPr>
              <a:t>The live implementation dashboard — every site, authority and status public.</a:t>
            </a:r>
          </a:p>
        </p:txBody>
      </p:sp>
      <p:pic>
        <p:nvPicPr>
          <p:cNvPr id="35" name="Picture 34" descr="iv_indore_footpat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2752" y="4526280"/>
            <a:ext cx="1035674" cy="148132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302752" y="603504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i="1">
                <a:solidFill>
                  <a:srgbClr val="777589"/>
                </a:solidFill>
                <a:latin typeface="Geist"/>
              </a:rPr>
              <a:t>Footpath — Indore</a:t>
            </a:r>
          </a:p>
        </p:txBody>
      </p:sp>
      <p:pic>
        <p:nvPicPr>
          <p:cNvPr id="37" name="Picture 36" descr="iv_durgapur_park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4392" y="4526280"/>
            <a:ext cx="1022239" cy="14813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994392" y="603504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i="1">
                <a:solidFill>
                  <a:srgbClr val="777589"/>
                </a:solidFill>
                <a:latin typeface="Geist"/>
              </a:rPr>
              <a:t>Parking — Durgapur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WHAT WE DO · PROJECT RAKSHAK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07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WHAT WE DO · 01 ROAD INFRASTRUCTURE — THE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Government approval, in writing: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25+ signed authority letters and counting.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4708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777589"/>
                </a:solidFill>
                <a:latin typeface="Geist"/>
              </a:rPr>
              <a:t>A sample of the approval and acknowledgement letters issued to Rakshak student teams by public works and district authorities.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" y="2752344"/>
            <a:ext cx="2168377" cy="2953512"/>
          </a:xfrm>
          <a:prstGeom prst="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Visione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788920"/>
            <a:ext cx="2095226" cy="2880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742432"/>
            <a:ext cx="241526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30" b="0" i="0">
                <a:solidFill>
                  <a:srgbClr val="777589"/>
                </a:solidFill>
                <a:latin typeface="Geist"/>
              </a:rPr>
              <a:t>Tejaji Nagar, Indore — approved interventions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82777" y="2752344"/>
            <a:ext cx="2298884" cy="2953512"/>
          </a:xfrm>
          <a:prstGeom prst="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rashz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9353" y="2788920"/>
            <a:ext cx="2225733" cy="2880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119353" y="5742432"/>
            <a:ext cx="25457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30" b="0" i="0">
                <a:solidFill>
                  <a:srgbClr val="777589"/>
                </a:solidFill>
                <a:latin typeface="Geist"/>
              </a:rPr>
              <a:t>Kunnamangalam Jn., Kozhikode — PWD Kerala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92557" y="2752344"/>
            <a:ext cx="2298884" cy="2953512"/>
          </a:xfrm>
          <a:prstGeom prst="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Pathraksha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9133" y="2788920"/>
            <a:ext cx="2225733" cy="2880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29133" y="5742432"/>
            <a:ext cx="25457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30" b="0" i="0">
                <a:solidFill>
                  <a:srgbClr val="777589"/>
                </a:solidFill>
                <a:latin typeface="Geist"/>
              </a:rPr>
              <a:t>Kamta Chauraha, Lucknow — PWD (UP)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02337" y="2752344"/>
            <a:ext cx="2298884" cy="2953512"/>
          </a:xfrm>
          <a:prstGeom prst="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Vision_Zero_Squ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8913" y="2788920"/>
            <a:ext cx="2225733" cy="2880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38913" y="5742432"/>
            <a:ext cx="25457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30" b="0" i="0">
                <a:solidFill>
                  <a:srgbClr val="777589"/>
                </a:solidFill>
                <a:latin typeface="Geist"/>
              </a:rPr>
              <a:t>NH-205 &amp; Surjit Chowk, Ropar — PWD (Punjab)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14476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i="0" spc="30">
                <a:solidFill>
                  <a:srgbClr val="1A1C1C"/>
                </a:solidFill>
                <a:latin typeface="Montserrat"/>
              </a:rPr>
              <a:t>Authorities include: PWD Kerala · PWD UP · PWD Punjab · CPWD &amp; Addl. Collector Indore · ADDA Durgapur · R&amp;B Andhra Pradesh · GCC Chennai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PROJECT RAKSHAK · APPROVALS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08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WHAT WE DO · 02 ENFORCEMENT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SATARK — an AI platform that helps traffic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police identify and stop high-risk vehicles.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4708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777589"/>
                </a:solidFill>
                <a:latin typeface="Geist"/>
              </a:rPr>
              <a:t>Cameras read every passing number plate and check it against live national records — officers act on evidence instead of stopping vehicles at random.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4A35FF"/>
                </a:solidFill>
                <a:latin typeface="Montserrat"/>
              </a:rPr>
              <a:t>3,00,000+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7355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77589"/>
                </a:solidFill>
                <a:latin typeface="Geist"/>
              </a:rPr>
              <a:t>vehicles scanned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83464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4A35FF"/>
                </a:solidFill>
                <a:latin typeface="Montserrat"/>
              </a:rPr>
              <a:t>₹30 Cr+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27355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77589"/>
                </a:solidFill>
                <a:latin typeface="Geist"/>
              </a:rPr>
              <a:t>pending challans surfaced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947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4A35FF"/>
                </a:solidFill>
                <a:latin typeface="Montserrat"/>
              </a:rPr>
              <a:t>350+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3367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77589"/>
                </a:solidFill>
                <a:latin typeface="Geist"/>
              </a:rPr>
              <a:t>high-risk vehicles intercepted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7947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4A35FF"/>
                </a:solidFill>
                <a:latin typeface="Montserrat"/>
              </a:rPr>
              <a:t>2 cities 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23367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77589"/>
                </a:solidFill>
                <a:latin typeface="Geist"/>
              </a:rPr>
              <a:t>Jaipur &amp; Bengaluru · 5 police approvals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892040"/>
            <a:ext cx="896112" cy="347472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4892040"/>
            <a:ext cx="67665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 i="0">
                <a:solidFill>
                  <a:srgbClr val="4A35FF"/>
                </a:solidFill>
                <a:latin typeface="Montserrat"/>
              </a:rPr>
              <a:t>Plate read</a:t>
            </a:r>
          </a:p>
        </p:txBody>
      </p:sp>
      <p:pic>
        <p:nvPicPr>
          <p:cNvPr id="17" name="Picture 16" descr="chevron-right_6A5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624" y="4965192"/>
            <a:ext cx="182880" cy="18288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1709928" y="4892040"/>
            <a:ext cx="1027785" cy="347472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19656" y="4892040"/>
            <a:ext cx="808329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 i="0">
                <a:solidFill>
                  <a:srgbClr val="4A35FF"/>
                </a:solidFill>
                <a:latin typeface="Montserrat"/>
              </a:rPr>
              <a:t>Record check</a:t>
            </a:r>
          </a:p>
        </p:txBody>
      </p:sp>
      <p:pic>
        <p:nvPicPr>
          <p:cNvPr id="20" name="Picture 19" descr="chevron-right_6A5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5145" y="4965192"/>
            <a:ext cx="182880" cy="18288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2911449" y="4892040"/>
            <a:ext cx="961948" cy="347472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21177" y="4892040"/>
            <a:ext cx="742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 i="0">
                <a:solidFill>
                  <a:srgbClr val="4A35FF"/>
                </a:solidFill>
                <a:latin typeface="Montserrat"/>
              </a:rPr>
              <a:t>Rule engine</a:t>
            </a:r>
          </a:p>
        </p:txBody>
      </p:sp>
      <p:pic>
        <p:nvPicPr>
          <p:cNvPr id="23" name="Picture 22" descr="chevron-right_6A5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0829" y="4965192"/>
            <a:ext cx="182880" cy="18288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4047133" y="4892040"/>
            <a:ext cx="1225295" cy="347472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56861" y="4892040"/>
            <a:ext cx="1005839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 i="0">
                <a:solidFill>
                  <a:srgbClr val="4A35FF"/>
                </a:solidFill>
                <a:latin typeface="Montserrat"/>
              </a:rPr>
              <a:t>Billboard + app</a:t>
            </a:r>
          </a:p>
        </p:txBody>
      </p:sp>
      <p:pic>
        <p:nvPicPr>
          <p:cNvPr id="26" name="Picture 25" descr="chevron-right_6A5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9860" y="4965192"/>
            <a:ext cx="182880" cy="182880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5446164" y="4892040"/>
            <a:ext cx="830275" cy="347472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5892" y="4892040"/>
            <a:ext cx="610819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 i="0">
                <a:solidFill>
                  <a:srgbClr val="4A35FF"/>
                </a:solidFill>
                <a:latin typeface="Montserrat"/>
              </a:rPr>
              <a:t>Intercept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532120"/>
            <a:ext cx="5852160" cy="548640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53212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4A35FF"/>
                </a:solidFill>
                <a:latin typeface="Montserrat"/>
              </a:rPr>
              <a:t>Built with police, not for them — departments set the flagging rules; CFI provides the technology. First 72 hours in Jaipur: 1,240 flagged, 58 intercepted.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84848" y="2615184"/>
            <a:ext cx="4782312" cy="2813294"/>
          </a:xfrm>
          <a:prstGeom prst="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stk_p1_x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1424" y="2651760"/>
            <a:ext cx="4709160" cy="274014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821424" y="5501630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777589"/>
                </a:solidFill>
                <a:latin typeface="Geist"/>
              </a:rPr>
              <a:t>Live SATARK billboard, Rambagh Circle, Jaipur — naming a passing vehicle's 4 pending challans in real time.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WHAT WE DO · SATARK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09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WHAT WE DO · 03 POLICY &amp; VICTIM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Helping crash victims and families claim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the compensation the law promises them.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0116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45059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A1C1C"/>
                </a:solidFill>
                <a:latin typeface="Montserrat"/>
              </a:rPr>
              <a:t>10.46 lakh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7432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777589"/>
                </a:solidFill>
                <a:latin typeface="Geist"/>
              </a:rPr>
              <a:t>cases pending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208" y="2377440"/>
            <a:ext cx="329184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450592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A1C1C"/>
                </a:solidFill>
                <a:latin typeface="Montserrat"/>
              </a:rPr>
              <a:t>205 vs ~25,000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7432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777589"/>
                </a:solidFill>
                <a:latin typeface="Geist"/>
              </a:rPr>
              <a:t>hit-and-run claims filed vs eligible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2377440"/>
            <a:ext cx="20116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245059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A1C1C"/>
                </a:solidFill>
                <a:latin typeface="Montserrat"/>
              </a:rPr>
              <a:t>3.6 years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7432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777589"/>
                </a:solidFill>
                <a:latin typeface="Geist"/>
              </a:rPr>
              <a:t>average wait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2377440"/>
            <a:ext cx="310896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86216" y="245059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A1C1C"/>
                </a:solidFill>
                <a:latin typeface="Montserrat"/>
              </a:rPr>
              <a:t>2 of 102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6216" y="27432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777589"/>
                </a:solidFill>
                <a:latin typeface="Geist"/>
              </a:rPr>
              <a:t>files settled in our Gurugram audit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10128"/>
            <a:ext cx="6492240" cy="2697480"/>
          </a:xfrm>
          <a:prstGeom prst="roundRect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49300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 spc="180">
                <a:solidFill>
                  <a:srgbClr val="C8C0FF"/>
                </a:solidFill>
                <a:latin typeface="Montserrat"/>
              </a:rPr>
              <a:t>WHAT WE BUILT AND DO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3822192"/>
            <a:ext cx="292608" cy="292608"/>
          </a:xfrm>
          <a:prstGeom prst="ellipse">
            <a:avLst/>
          </a:prstGeom>
          <a:solidFill>
            <a:srgbClr val="5A46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bot_FFFF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3877056"/>
            <a:ext cx="182880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325880" y="3813048"/>
            <a:ext cx="5532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0" b="0" i="0">
                <a:solidFill>
                  <a:srgbClr val="FFFFFF"/>
                </a:solidFill>
                <a:latin typeface="Geist"/>
              </a:rPr>
              <a:t>Aasha — India's first 24/7 multilingual AI chatbot guiding victims step-by-step on WhatsApp &amp; voice</a:t>
            </a:r>
          </a:p>
        </p:txBody>
      </p:sp>
      <p:sp>
        <p:nvSpPr>
          <p:cNvPr id="23" name="Oval 22"/>
          <p:cNvSpPr/>
          <p:nvPr/>
        </p:nvSpPr>
        <p:spPr>
          <a:xfrm>
            <a:off x="914400" y="4251960"/>
            <a:ext cx="292608" cy="292608"/>
          </a:xfrm>
          <a:prstGeom prst="ellipse">
            <a:avLst/>
          </a:prstGeom>
          <a:solidFill>
            <a:srgbClr val="5A46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calculator_FFFF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4306824"/>
            <a:ext cx="182880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25880" y="4242816"/>
            <a:ext cx="5532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0" b="0" i="0">
                <a:solidFill>
                  <a:srgbClr val="FFFFFF"/>
                </a:solidFill>
                <a:latin typeface="Geist"/>
              </a:rPr>
              <a:t>Free Compensation Calculator based on Supreme Court principles (Sarla Verma, Pranay Sethi)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4681728"/>
            <a:ext cx="292608" cy="292608"/>
          </a:xfrm>
          <a:prstGeom prst="ellipse">
            <a:avLst/>
          </a:prstGeom>
          <a:solidFill>
            <a:srgbClr val="5A46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hand-helping_FFFFFF_256_2.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4736592"/>
            <a:ext cx="182880" cy="1828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25880" y="4672584"/>
            <a:ext cx="5532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0" b="0" i="0">
                <a:solidFill>
                  <a:srgbClr val="FFFFFF"/>
                </a:solidFill>
                <a:latin typeface="Geist"/>
              </a:rPr>
              <a:t>Legal helpdesks in hospital trauma wards — 100+ victims supported in the first 4 days</a:t>
            </a:r>
          </a:p>
        </p:txBody>
      </p:sp>
      <p:sp>
        <p:nvSpPr>
          <p:cNvPr id="29" name="Oval 28"/>
          <p:cNvSpPr/>
          <p:nvPr/>
        </p:nvSpPr>
        <p:spPr>
          <a:xfrm>
            <a:off x="914400" y="5111496"/>
            <a:ext cx="292608" cy="292608"/>
          </a:xfrm>
          <a:prstGeom prst="ellipse">
            <a:avLst/>
          </a:prstGeom>
          <a:solidFill>
            <a:srgbClr val="5A46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landmark_FFFFFF_256_2.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64" y="5166360"/>
            <a:ext cx="182880" cy="1828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325880" y="5102352"/>
            <a:ext cx="5532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0" b="0" i="0">
                <a:solidFill>
                  <a:srgbClr val="FFFFFF"/>
                </a:solidFill>
                <a:latin typeface="Geist"/>
              </a:rPr>
              <a:t>Embedded in 4 District Road Safety Committees — formally tasked by SW Delhi DRSC; fellow placed with Gurugram district offices</a:t>
            </a:r>
          </a:p>
        </p:txBody>
      </p:sp>
      <p:sp>
        <p:nvSpPr>
          <p:cNvPr id="32" name="Oval 31"/>
          <p:cNvSpPr/>
          <p:nvPr/>
        </p:nvSpPr>
        <p:spPr>
          <a:xfrm>
            <a:off x="914400" y="5541264"/>
            <a:ext cx="292608" cy="292608"/>
          </a:xfrm>
          <a:prstGeom prst="ellipse">
            <a:avLst/>
          </a:prstGeom>
          <a:solidFill>
            <a:srgbClr val="5A46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route_FFFFFF_256_2.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264" y="5596128"/>
            <a:ext cx="182880" cy="1828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325880" y="5532120"/>
            <a:ext cx="5532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0" b="0" i="0">
                <a:solidFill>
                  <a:srgbClr val="FFFFFF"/>
                </a:solidFill>
                <a:latin typeface="Geist"/>
              </a:rPr>
              <a:t>'Justice Unserved' presented to MoRTH; hit-and-run claim pipeline rebuild underway with Rajasthan Transport Dept.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70064" y="3273552"/>
            <a:ext cx="2042112" cy="2770632"/>
          </a:xfrm>
          <a:prstGeom prst="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6" name="Picture 35" descr="guide_p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6640" y="3310128"/>
            <a:ext cx="1968960" cy="2697480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9503616" y="3273552"/>
            <a:ext cx="2163571" cy="2770632"/>
          </a:xfrm>
          <a:prstGeom prst="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comp_image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40192" y="3310128"/>
            <a:ext cx="2090420" cy="26974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406640" y="60533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777589"/>
                </a:solidFill>
                <a:latin typeface="Geist"/>
              </a:rPr>
              <a:t>Hindi legal-rights guide (hospitals &amp; police stations) · 'Justice Unserved' research brief.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WHAT WE DO · VICTIM SUPPORT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WHAT WE DO · 04 OPEN DATA PLATFORMS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Public data tools we built so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road-safety problems cannot be ignored.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4708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777589"/>
                </a:solidFill>
                <a:latin typeface="Geist"/>
              </a:rPr>
              <a:t>Four self-updating platforms — free for government, researchers, journalists and citizens.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97480"/>
            <a:ext cx="3310128" cy="15727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" y="2880360"/>
            <a:ext cx="384048" cy="384048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map-pinned_4A3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953512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16736" y="2898648"/>
            <a:ext cx="2441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1C1C"/>
                </a:solidFill>
                <a:latin typeface="Montserrat"/>
              </a:rPr>
              <a:t>National Road Defect Repository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10712"/>
            <a:ext cx="29443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60" b="0" i="0">
                <a:solidFill>
                  <a:srgbClr val="777589"/>
                </a:solidFill>
                <a:latin typeface="Geist"/>
              </a:rPr>
              <a:t>AI reads local news in 13 languages across 146 districts — potholes, missing signage, unlit stretches — mapped publicly.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33088" y="2697480"/>
            <a:ext cx="3310128" cy="15727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15968" y="2880360"/>
            <a:ext cx="384048" cy="384048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landmark_4A35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9535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09744" y="2898648"/>
            <a:ext cx="2441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1C1C"/>
                </a:solidFill>
                <a:latin typeface="Montserrat"/>
              </a:rPr>
              <a:t>Road Safety in Parliament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3410712"/>
            <a:ext cx="29443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60" b="0" i="0">
                <a:solidFill>
                  <a:srgbClr val="777589"/>
                </a:solidFill>
                <a:latin typeface="Geist"/>
              </a:rPr>
              <a:t>All 1,423 parliamentary road-safety questions since 2014, searchable by MP — 282 sitting MPs have never asked 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434840"/>
            <a:ext cx="3310128" cy="15727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2960" y="4617720"/>
            <a:ext cx="384048" cy="384048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scale_4A35FF_256_2.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690872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16736" y="4636008"/>
            <a:ext cx="2441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1C1C"/>
                </a:solidFill>
                <a:latin typeface="Montserrat"/>
              </a:rPr>
              <a:t>Supreme Court Litigation Tracker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48072"/>
            <a:ext cx="29443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60" b="0" i="0">
                <a:solidFill>
                  <a:srgbClr val="777589"/>
                </a:solidFill>
                <a:latin typeface="Geist"/>
              </a:rPr>
              <a:t>18 live road-safety cases, 190+ orders, every government deadline tracked — 11 already overdue at launch.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33088" y="4434840"/>
            <a:ext cx="3310128" cy="15727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15968" y="4617720"/>
            <a:ext cx="384048" cy="384048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bar-chart-3_4A35FF_256_2.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4690872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809744" y="4636008"/>
            <a:ext cx="2441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1C1C"/>
                </a:solidFill>
                <a:latin typeface="Montserrat"/>
              </a:rPr>
              <a:t>National Crash Data 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5148072"/>
            <a:ext cx="29443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60" b="0" i="0">
                <a:solidFill>
                  <a:srgbClr val="777589"/>
                </a:solidFill>
                <a:latin typeface="Geist"/>
              </a:rPr>
              <a:t>Official crash statistics (2019–2024) turned into report cards for 36 states and 50 cities — openly licensed.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24927" y="2660904"/>
            <a:ext cx="4005072" cy="2153633"/>
          </a:xfrm>
          <a:prstGeom prst="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p_p18_x8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1504" y="2697480"/>
            <a:ext cx="3931920" cy="208048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461504" y="4851113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30" b="0" i="1">
                <a:solidFill>
                  <a:srgbClr val="777589"/>
                </a:solidFill>
                <a:latin typeface="Geist"/>
              </a:rPr>
              <a:t>Road Safety Resources Hub — the public front door.</a:t>
            </a:r>
          </a:p>
        </p:txBody>
      </p:sp>
      <p:pic>
        <p:nvPicPr>
          <p:cNvPr id="30" name="Picture 29" descr="imp_p14_x7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1504" y="5120640"/>
            <a:ext cx="3931920" cy="12245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461504" y="6400083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30" b="0" i="1">
                <a:solidFill>
                  <a:srgbClr val="777589"/>
                </a:solidFill>
                <a:latin typeface="Geist"/>
              </a:rPr>
              <a:t>Citizen hazard-reporting apps — 50+ hazards in first 20 days.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144768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30" b="1" i="0" spc="30">
                <a:solidFill>
                  <a:srgbClr val="777589"/>
                </a:solidFill>
                <a:latin typeface="Montserrat"/>
              </a:rPr>
              <a:t>'Justice Unserved' in print: Deccan Herald · ET · Fortune India · IndiaSpend · Moneycontrol · Scroll.in · The Wire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WHAT WE DO · OPEN DATA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WHAT WE DO · YOUTH MOBILISATION &amp; PUBLIC EDUCATION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NextMile, campus programmes and street-level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education that bring citizens into road safety.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 spc="140">
                <a:solidFill>
                  <a:srgbClr val="4A35FF"/>
                </a:solidFill>
                <a:latin typeface="Montserrat"/>
              </a:rPr>
              <a:t>NEXTMILE — NATIONAL ROAD SAFETY POLICY IDEATHON (2025)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1536192" cy="1371600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52928"/>
            <a:ext cx="153619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1" i="0">
                <a:solidFill>
                  <a:srgbClr val="4A35FF"/>
                </a:solidFill>
                <a:latin typeface="Montserrat"/>
              </a:rPr>
              <a:t>700+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01568"/>
            <a:ext cx="15361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30" b="0" i="0">
                <a:solidFill>
                  <a:srgbClr val="777589"/>
                </a:solidFill>
                <a:latin typeface="Geist"/>
              </a:rPr>
              <a:t>registrations from</a:t>
            </a:r>
          </a:p>
          <a:p>
            <a:pPr algn="ctr">
              <a:lnSpc>
                <a:spcPct val="115000"/>
              </a:lnSpc>
            </a:pPr>
            <a:r>
              <a:rPr sz="830" b="0" i="0">
                <a:solidFill>
                  <a:srgbClr val="777589"/>
                </a:solidFill>
                <a:latin typeface="Geist"/>
              </a:rPr>
              <a:t>IITs, IIMs, NLUs</a:t>
            </a:r>
          </a:p>
        </p:txBody>
      </p:sp>
      <p:pic>
        <p:nvPicPr>
          <p:cNvPr id="10" name="Picture 9" descr="chevron-right_6A5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6272" y="3328416"/>
            <a:ext cx="201168" cy="20116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377440" y="2743200"/>
            <a:ext cx="1536192" cy="1371600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2852928"/>
            <a:ext cx="153619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1" i="0">
                <a:solidFill>
                  <a:srgbClr val="4A35FF"/>
                </a:solidFill>
                <a:latin typeface="Montserrat"/>
              </a:rPr>
              <a:t>250+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401568"/>
            <a:ext cx="15361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30" b="0" i="0">
                <a:solidFill>
                  <a:srgbClr val="777589"/>
                </a:solidFill>
                <a:latin typeface="Geist"/>
              </a:rPr>
              <a:t>policy concept</a:t>
            </a:r>
          </a:p>
          <a:p>
            <a:pPr algn="ctr">
              <a:lnSpc>
                <a:spcPct val="115000"/>
              </a:lnSpc>
            </a:pPr>
            <a:r>
              <a:rPr sz="830" b="0" i="0">
                <a:solidFill>
                  <a:srgbClr val="777589"/>
                </a:solidFill>
                <a:latin typeface="Geist"/>
              </a:rPr>
              <a:t>notes submitted</a:t>
            </a:r>
          </a:p>
        </p:txBody>
      </p:sp>
      <p:pic>
        <p:nvPicPr>
          <p:cNvPr id="14" name="Picture 13" descr="chevron-right_6A5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3632" y="3328416"/>
            <a:ext cx="201168" cy="20116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114800" y="2743200"/>
            <a:ext cx="1536192" cy="1371600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2852928"/>
            <a:ext cx="153619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1" i="0">
                <a:solidFill>
                  <a:srgbClr val="4A35FF"/>
                </a:solidFill>
                <a:latin typeface="Montserrat"/>
              </a:rPr>
              <a:t>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401568"/>
            <a:ext cx="15361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30" b="0" i="0">
                <a:solidFill>
                  <a:srgbClr val="777589"/>
                </a:solidFill>
                <a:latin typeface="Geist"/>
              </a:rPr>
              <a:t>teams mentored</a:t>
            </a:r>
          </a:p>
          <a:p>
            <a:pPr algn="ctr">
              <a:lnSpc>
                <a:spcPct val="115000"/>
              </a:lnSpc>
            </a:pPr>
            <a:r>
              <a:rPr sz="830" b="0" i="0">
                <a:solidFill>
                  <a:srgbClr val="777589"/>
                </a:solidFill>
                <a:latin typeface="Geist"/>
              </a:rPr>
              <a:t>for four weeks</a:t>
            </a:r>
          </a:p>
        </p:txBody>
      </p:sp>
      <p:pic>
        <p:nvPicPr>
          <p:cNvPr id="18" name="Picture 17" descr="chevron-right_6A5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0992" y="3328416"/>
            <a:ext cx="201168" cy="20116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852160" y="2743200"/>
            <a:ext cx="1536192" cy="1371600"/>
          </a:xfrm>
          <a:prstGeom prst="roundRect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2852928"/>
            <a:ext cx="153619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1" i="0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401568"/>
            <a:ext cx="15361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30" b="0" i="0">
                <a:solidFill>
                  <a:srgbClr val="C8C0FF"/>
                </a:solidFill>
                <a:latin typeface="Geist"/>
              </a:rPr>
              <a:t>finalists judged by</a:t>
            </a:r>
          </a:p>
          <a:p>
            <a:pPr algn="ctr">
              <a:lnSpc>
                <a:spcPct val="115000"/>
              </a:lnSpc>
            </a:pPr>
            <a:r>
              <a:rPr sz="830" b="0" i="0">
                <a:solidFill>
                  <a:srgbClr val="C8C0FF"/>
                </a:solidFill>
                <a:latin typeface="Geist"/>
              </a:rPr>
              <a:t>24 national experts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4343400"/>
            <a:ext cx="329184" cy="329184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graduation-cap_4A35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4411980"/>
            <a:ext cx="192024" cy="19202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43000" y="4361688"/>
            <a:ext cx="6309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 i="0">
                <a:solidFill>
                  <a:srgbClr val="1A1C1C"/>
                </a:solidFill>
                <a:latin typeface="Geist"/>
              </a:rPr>
              <a:t>Grand Finale at India Habitat Centre, Sept 2025 — jury included Justice J.R. Midha and ex-MoRTH leadership.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" y="4800600"/>
            <a:ext cx="329184" cy="329184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rocket_4A35FF_256_2.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" y="4869180"/>
            <a:ext cx="192024" cy="19202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43000" y="4818888"/>
            <a:ext cx="6309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 i="0">
                <a:solidFill>
                  <a:srgbClr val="1A1C1C"/>
                </a:solidFill>
                <a:latin typeface="Geist"/>
              </a:rPr>
              <a:t>Winning ideas feed CFI's own pipeline — compensation reform and rider safety became live workstreams.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" y="5257800"/>
            <a:ext cx="329184" cy="329184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book-open_4A35FF_256_2.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" y="5326380"/>
            <a:ext cx="192024" cy="1920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143000" y="5276088"/>
            <a:ext cx="6309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 i="0">
                <a:solidFill>
                  <a:srgbClr val="1A1C1C"/>
                </a:solidFill>
                <a:latin typeface="Geist"/>
              </a:rPr>
              <a:t>Street plays, comics and multilingual guides carry road-safety education beyond campuses.</a:t>
            </a:r>
          </a:p>
        </p:txBody>
      </p:sp>
      <p:sp>
        <p:nvSpPr>
          <p:cNvPr id="31" name="Oval 30"/>
          <p:cNvSpPr/>
          <p:nvPr/>
        </p:nvSpPr>
        <p:spPr>
          <a:xfrm>
            <a:off x="640080" y="5715000"/>
            <a:ext cx="329184" cy="329184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users-round_4A35FF_256_2.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" y="5783580"/>
            <a:ext cx="192024" cy="19202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143000" y="5733288"/>
            <a:ext cx="6309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 i="0">
                <a:solidFill>
                  <a:srgbClr val="1A1C1C"/>
                </a:solidFill>
                <a:latin typeface="Geist"/>
              </a:rPr>
              <a:t>Next: 'Be a Rakshak' university chapters at IITs, NITs and SPAs, with MS Dhoni as the recruiting voice.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2340864"/>
            <a:ext cx="2713482" cy="3593592"/>
          </a:xfrm>
          <a:prstGeom prst="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ideathon_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49056" y="2377440"/>
            <a:ext cx="2640330" cy="35204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449056" y="596188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777589"/>
                </a:solidFill>
                <a:latin typeface="Geist"/>
              </a:rPr>
              <a:t>NextMile Grand Finale — winners on stage, Sept 2025.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WHAT WE DO · YOUTH &amp; EDUCATION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IMPACT · OUR FIRST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Year one: measurable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across 18 Indian cities.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23317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users_C8C0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2888" y="2432304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" y="2395728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4A35FF"/>
                </a:solidFill>
                <a:latin typeface="Montserrat"/>
              </a:rPr>
              <a:t>1M+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85292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0">
                <a:solidFill>
                  <a:srgbClr val="777589"/>
                </a:solidFill>
                <a:latin typeface="Geist"/>
              </a:rPr>
              <a:t>citizens reached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36392" y="2286000"/>
            <a:ext cx="23317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map-pin_C8C0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432304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37560" y="2395728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4A35FF"/>
                </a:solidFill>
                <a:latin typeface="Montserrat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85292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0">
                <a:solidFill>
                  <a:srgbClr val="777589"/>
                </a:solidFill>
                <a:latin typeface="Geist"/>
              </a:rPr>
              <a:t>cities active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32704" y="2286000"/>
            <a:ext cx="23317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badge-check_C8C0FF_256_2.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5512" y="2432304"/>
            <a:ext cx="237744" cy="2377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33872" y="2395728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4A35FF"/>
                </a:solidFill>
                <a:latin typeface="Montserrat"/>
              </a:rPr>
              <a:t>25+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33872" y="285292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0">
                <a:solidFill>
                  <a:srgbClr val="777589"/>
                </a:solidFill>
                <a:latin typeface="Geist"/>
              </a:rPr>
              <a:t>govt approvals won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01568"/>
            <a:ext cx="23317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hard-hat_C8C0FF_256_2.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2888" y="3547872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41248" y="3511296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4A35FF"/>
                </a:solidFill>
                <a:latin typeface="Montserrat"/>
              </a:rPr>
              <a:t>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3968496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0">
                <a:solidFill>
                  <a:srgbClr val="777589"/>
                </a:solidFill>
                <a:latin typeface="Geist"/>
              </a:rPr>
              <a:t>implementations begun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36392" y="3401568"/>
            <a:ext cx="23317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andmark_C8C0FF_256_2.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354787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337560" y="3511296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4A35FF"/>
                </a:solidFill>
                <a:latin typeface="Montserrat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7560" y="3968496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0">
                <a:solidFill>
                  <a:srgbClr val="777589"/>
                </a:solidFill>
                <a:latin typeface="Geist"/>
              </a:rPr>
              <a:t>district committees joined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32704" y="3401568"/>
            <a:ext cx="23317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scan-line_C8C0FF_256_2.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25512" y="3547872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833872" y="3511296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4A35FF"/>
                </a:solidFill>
                <a:latin typeface="Montserrat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33872" y="3968496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0">
                <a:solidFill>
                  <a:srgbClr val="777589"/>
                </a:solidFill>
                <a:latin typeface="Geist"/>
              </a:rPr>
              <a:t>cities enforcing with SATARK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517136"/>
            <a:ext cx="23317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users-round_C8C0FF_256_2.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32888" y="4663440"/>
            <a:ext cx="237744" cy="23774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41248" y="4626864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4A35FF"/>
                </a:solidFill>
                <a:latin typeface="Montserrat"/>
              </a:rPr>
              <a:t>150+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5084064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0">
                <a:solidFill>
                  <a:srgbClr val="777589"/>
                </a:solidFill>
                <a:latin typeface="Geist"/>
              </a:rPr>
              <a:t>members &amp; interns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36392" y="4517136"/>
            <a:ext cx="23317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graduation-cap_C8C0FF_256_2.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29200" y="4663440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3337560" y="4626864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4A35FF"/>
                </a:solidFill>
                <a:latin typeface="Montserrat"/>
              </a:rPr>
              <a:t>50+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7560" y="5084064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0">
                <a:solidFill>
                  <a:srgbClr val="777589"/>
                </a:solidFill>
                <a:latin typeface="Geist"/>
              </a:rPr>
              <a:t>experts engaged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32704" y="4517136"/>
            <a:ext cx="23317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newspaper_C8C0FF_256_2.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25512" y="4663440"/>
            <a:ext cx="237744" cy="23774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833872" y="4626864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4A35FF"/>
                </a:solidFill>
                <a:latin typeface="Montserrat"/>
              </a:rPr>
              <a:t>10+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33872" y="5084064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0">
                <a:solidFill>
                  <a:srgbClr val="777589"/>
                </a:solidFill>
                <a:latin typeface="Geist"/>
              </a:rPr>
              <a:t>national media features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366760" y="2286000"/>
            <a:ext cx="3182112" cy="3611880"/>
          </a:xfrm>
          <a:prstGeom prst="roundRect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22792" y="2487168"/>
            <a:ext cx="2670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 spc="180">
                <a:solidFill>
                  <a:srgbClr val="C8C0FF"/>
                </a:solidFill>
                <a:latin typeface="Montserrat"/>
              </a:rPr>
              <a:t>THE FIRST 400 DAYS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22792" y="2871216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C8C0FF"/>
                </a:solidFill>
                <a:latin typeface="Montserrat"/>
              </a:rPr>
              <a:t>Jun 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26880" y="2871216"/>
            <a:ext cx="19751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FFFFFF"/>
                </a:solidFill>
                <a:latin typeface="Geist"/>
              </a:rPr>
              <a:t>Launched as a Cars24 commitment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22792" y="3374136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C8C0FF"/>
                </a:solidFill>
                <a:latin typeface="Montserrat"/>
              </a:rPr>
              <a:t>Sep 25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26880" y="3374136"/>
            <a:ext cx="19751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FFFFFF"/>
                </a:solidFill>
                <a:latin typeface="Geist"/>
              </a:rPr>
              <a:t>NextMile finale · first AI billboard live in Bengaluru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22792" y="3877056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C8C0FF"/>
                </a:solidFill>
                <a:latin typeface="Montserrat"/>
              </a:rPr>
              <a:t>Jan 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26880" y="3877056"/>
            <a:ext cx="19751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FFFFFF"/>
                </a:solidFill>
                <a:latin typeface="Geist"/>
              </a:rPr>
              <a:t>'Justice Unserved' published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22792" y="4379976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C8C0FF"/>
                </a:solidFill>
                <a:latin typeface="Montserrat"/>
              </a:rPr>
              <a:t>Apr 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26880" y="4379976"/>
            <a:ext cx="19751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FFFFFF"/>
                </a:solidFill>
                <a:latin typeface="Geist"/>
              </a:rPr>
              <a:t>IIT Delhi national forum · Dhoni joins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22792" y="4882896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C8C0FF"/>
                </a:solidFill>
                <a:latin typeface="Montserrat"/>
              </a:rPr>
              <a:t>Jun 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4882896"/>
            <a:ext cx="19751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FFFFFF"/>
                </a:solidFill>
                <a:latin typeface="Geist"/>
              </a:rPr>
              <a:t>SATARK live with Jaipur Police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22792" y="5385816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C8C0FF"/>
                </a:solidFill>
                <a:latin typeface="Montserrat"/>
              </a:rPr>
              <a:t>Jul 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0" y="5385816"/>
            <a:ext cx="19751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FFFFFF"/>
                </a:solidFill>
                <a:latin typeface="Geist"/>
              </a:rPr>
              <a:t>Rakshak Cohort 2 · 4 open-data products shipped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58064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50">
                <a:solidFill>
                  <a:srgbClr val="777589"/>
                </a:solidFill>
                <a:latin typeface="Montserrat"/>
              </a:rPr>
              <a:t>WORKING ALONGSIDE: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40080" y="6053328"/>
            <a:ext cx="662940" cy="3108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9808" y="6053328"/>
            <a:ext cx="4434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1A1C1C"/>
                </a:solidFill>
                <a:latin typeface="Montserrat"/>
              </a:rPr>
              <a:t>MoRTH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412748" y="6053328"/>
            <a:ext cx="507491" cy="3108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522476" y="6053328"/>
            <a:ext cx="2880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1A1C1C"/>
                </a:solidFill>
                <a:latin typeface="Montserrat"/>
              </a:rPr>
              <a:t>WHO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29967" y="6053328"/>
            <a:ext cx="740664" cy="3108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139695" y="6053328"/>
            <a:ext cx="52120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1A1C1C"/>
                </a:solidFill>
                <a:latin typeface="Montserrat"/>
              </a:rPr>
              <a:t>UNICEF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880359" y="6053328"/>
            <a:ext cx="973836" cy="3108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990087" y="6053328"/>
            <a:ext cx="7543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1A1C1C"/>
                </a:solidFill>
                <a:latin typeface="Montserrat"/>
              </a:rPr>
              <a:t>CSIR-CRRI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963923" y="6053328"/>
            <a:ext cx="507491" cy="3108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073651" y="6053328"/>
            <a:ext cx="2880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1A1C1C"/>
                </a:solidFill>
                <a:latin typeface="Montserrat"/>
              </a:rPr>
              <a:t>IRF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81142" y="6053328"/>
            <a:ext cx="662940" cy="3108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690870" y="6053328"/>
            <a:ext cx="4434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1A1C1C"/>
                </a:solidFill>
                <a:latin typeface="Montserrat"/>
              </a:rPr>
              <a:t>FICCI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353810" y="6053328"/>
            <a:ext cx="973836" cy="3108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463538" y="6053328"/>
            <a:ext cx="7543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1A1C1C"/>
                </a:solidFill>
                <a:latin typeface="Montserrat"/>
              </a:rPr>
              <a:t>IIT Delhi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437374" y="6053328"/>
            <a:ext cx="1906524" cy="3108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47102" y="6053328"/>
            <a:ext cx="16870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1A1C1C"/>
                </a:solidFill>
                <a:latin typeface="Montserrat"/>
              </a:rPr>
              <a:t>Jaipur Traffic Police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453626" y="6053328"/>
            <a:ext cx="1440180" cy="3108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563354" y="6053328"/>
            <a:ext cx="12207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1A1C1C"/>
                </a:solidFill>
                <a:latin typeface="Montserrat"/>
              </a:rPr>
              <a:t>Gurugram Police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IMPACT · OUR FIRST YEAR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57200"/>
            <a:ext cx="1920240" cy="265346"/>
          </a:xfrm>
          <a:prstGeom prst="rect">
            <a:avLst/>
          </a:prstGeom>
        </p:spPr>
      </p:pic>
      <p:sp>
        <p:nvSpPr>
          <p:cNvPr id="4" name="4-Point Star 3"/>
          <p:cNvSpPr/>
          <p:nvPr/>
        </p:nvSpPr>
        <p:spPr>
          <a:xfrm>
            <a:off x="11338560" y="292608"/>
            <a:ext cx="457200" cy="457200"/>
          </a:xfrm>
          <a:prstGeom prst="star4">
            <a:avLst/>
          </a:prstGeom>
          <a:solidFill>
            <a:srgbClr val="6A5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11064240" y="658368"/>
            <a:ext cx="274320" cy="274320"/>
          </a:xfrm>
          <a:prstGeom prst="star4">
            <a:avLst/>
          </a:prstGeom>
          <a:solidFill>
            <a:srgbClr val="6A5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 spc="240">
                <a:solidFill>
                  <a:srgbClr val="C8C0FF"/>
                </a:solidFill>
                <a:latin typeface="Montserrat"/>
              </a:rPr>
              <a:t>OUR AMBASSADOR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55648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FFFFFF"/>
                </a:solidFill>
                <a:latin typeface="Montserrat"/>
              </a:rPr>
              <a:t>MS Dhoni is Crashfree India's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C8C0FF"/>
                </a:solidFill>
                <a:latin typeface="Montserrat"/>
              </a:rPr>
              <a:t>Goodwill Ambassador.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71800"/>
            <a:ext cx="5577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Geist"/>
              </a:rPr>
              <a:t>One of India's most trusted public figures joined us in April 2026, unveiled at our national forum at IIT Delhi. His role — lending his voice where it moves people to act:</a:t>
            </a:r>
          </a:p>
        </p:txBody>
      </p:sp>
      <p:pic>
        <p:nvPicPr>
          <p:cNvPr id="10" name="Picture 9" descr="check_C8C0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005071"/>
            <a:ext cx="182880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3977639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C8C0FF"/>
                </a:solidFill>
                <a:latin typeface="Geist"/>
              </a:rPr>
              <a:t>Inviting India's students to join Project Rakshak road audits</a:t>
            </a:r>
          </a:p>
        </p:txBody>
      </p:sp>
      <p:pic>
        <p:nvPicPr>
          <p:cNvPr id="12" name="Picture 11" descr="check_C8C0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389119"/>
            <a:ext cx="182880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" y="4361687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C8C0FF"/>
                </a:solidFill>
                <a:latin typeface="Geist"/>
              </a:rPr>
              <a:t>Championing safer school zones</a:t>
            </a:r>
          </a:p>
        </p:txBody>
      </p:sp>
      <p:pic>
        <p:nvPicPr>
          <p:cNvPr id="14" name="Picture 13" descr="check_C8C0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773167"/>
            <a:ext cx="182880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60120" y="4745735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C8C0FF"/>
                </a:solidFill>
                <a:latin typeface="Geist"/>
              </a:rPr>
              <a:t>Spreading awareness of victims' compensation rights and Aasha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4068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1">
                <a:solidFill>
                  <a:srgbClr val="FFFFFF"/>
                </a:solidFill>
                <a:latin typeface="Montserrat"/>
              </a:rPr>
              <a:t>“Because every ride deserves to end safely.”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C8C0FF"/>
                </a:solidFill>
                <a:latin typeface="Geist"/>
              </a:rPr>
              <a:t>Announcement covered by Business Standard · The Tribune · The Wire</a:t>
            </a:r>
          </a:p>
        </p:txBody>
      </p:sp>
      <p:pic>
        <p:nvPicPr>
          <p:cNvPr id="18" name="Picture 17" descr="dhoni_cutou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1478" y="1234440"/>
            <a:ext cx="2837394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594360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i="1">
                <a:solidFill>
                  <a:srgbClr val="C8C0FF"/>
                </a:solidFill>
                <a:latin typeface="Geist"/>
              </a:rPr>
              <a:t>CFI shoot · June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C8C0FF"/>
                </a:solidFill>
                <a:latin typeface="Montserrat"/>
              </a:rPr>
              <a:t>OUR AMBASSADOR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C8C0FF"/>
                </a:solidFill>
                <a:latin typeface="Montserrat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OUR PEOPLE · BOARD OF ADVISORS &amp; EXPERTS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Guided by two of India's foremost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road-safety experts.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349240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2432304"/>
            <a:ext cx="749808" cy="749808"/>
          </a:xfrm>
          <a:prstGeom prst="ellipse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432304"/>
            <a:ext cx="74980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900" b="1" i="0">
                <a:solidFill>
                  <a:srgbClr val="FFFFFF"/>
                </a:solidFill>
                <a:latin typeface="Montserrat"/>
              </a:rPr>
              <a:t>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432304"/>
            <a:ext cx="3977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A1C1C"/>
                </a:solidFill>
                <a:latin typeface="Montserrat"/>
              </a:rPr>
              <a:t>Piyush Tewari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779776"/>
            <a:ext cx="3977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4A35FF"/>
                </a:solidFill>
                <a:latin typeface="Montserrat"/>
              </a:rPr>
              <a:t>Founder &amp; CEO, SaveLIFE Foundation</a:t>
            </a:r>
          </a:p>
        </p:txBody>
      </p:sp>
      <p:sp>
        <p:nvSpPr>
          <p:cNvPr id="11" name="Oval 10"/>
          <p:cNvSpPr/>
          <p:nvPr/>
        </p:nvSpPr>
        <p:spPr>
          <a:xfrm>
            <a:off x="1801368" y="3191256"/>
            <a:ext cx="73152" cy="73152"/>
          </a:xfrm>
          <a:prstGeom prst="ellipse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127248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69" b="0" i="0">
                <a:solidFill>
                  <a:srgbClr val="777589"/>
                </a:solidFill>
                <a:latin typeface="Geist"/>
              </a:rPr>
              <a:t>Architect of India's Good Samaritan Law (Supreme Court, 2016)</a:t>
            </a:r>
          </a:p>
        </p:txBody>
      </p:sp>
      <p:sp>
        <p:nvSpPr>
          <p:cNvPr id="13" name="Oval 12"/>
          <p:cNvSpPr/>
          <p:nvPr/>
        </p:nvSpPr>
        <p:spPr>
          <a:xfrm>
            <a:off x="1801368" y="3566160"/>
            <a:ext cx="73152" cy="73152"/>
          </a:xfrm>
          <a:prstGeom prst="ellipse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3502152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69" b="0" i="0">
                <a:solidFill>
                  <a:srgbClr val="777589"/>
                </a:solidFill>
                <a:latin typeface="Geist"/>
              </a:rPr>
              <a:t>Built the Zero Fatality Corridor model — ~40% fewer deaths on Mumbai–Pune Expressway; scaling with MoRTH</a:t>
            </a:r>
          </a:p>
        </p:txBody>
      </p:sp>
      <p:sp>
        <p:nvSpPr>
          <p:cNvPr id="15" name="Oval 14"/>
          <p:cNvSpPr/>
          <p:nvPr/>
        </p:nvSpPr>
        <p:spPr>
          <a:xfrm>
            <a:off x="1801368" y="3941064"/>
            <a:ext cx="73152" cy="73152"/>
          </a:xfrm>
          <a:prstGeom prst="ellipse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3877056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69" b="0" i="0">
                <a:solidFill>
                  <a:srgbClr val="777589"/>
                </a:solidFill>
                <a:latin typeface="Geist"/>
              </a:rPr>
              <a:t>Rolex Award for Enterprise · Elevate Prize · MPA, Harvard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0488" y="2194560"/>
            <a:ext cx="5349240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gtiw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432304"/>
            <a:ext cx="749808" cy="7498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33488" y="2432304"/>
            <a:ext cx="3977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A1C1C"/>
                </a:solidFill>
                <a:latin typeface="Montserrat"/>
              </a:rPr>
              <a:t>Prof. (Dr.) Geetam Tiwari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3488" y="2779776"/>
            <a:ext cx="3977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4A35FF"/>
                </a:solidFill>
                <a:latin typeface="Montserrat"/>
              </a:rPr>
              <a:t>Professor Emerita, TRIPC, IIT Delhi</a:t>
            </a:r>
          </a:p>
        </p:txBody>
      </p:sp>
      <p:sp>
        <p:nvSpPr>
          <p:cNvPr id="21" name="Oval 20"/>
          <p:cNvSpPr/>
          <p:nvPr/>
        </p:nvSpPr>
        <p:spPr>
          <a:xfrm>
            <a:off x="7351776" y="3191256"/>
            <a:ext cx="73152" cy="73152"/>
          </a:xfrm>
          <a:prstGeom prst="ellipse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62088" y="3127248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69" b="0" i="0">
                <a:solidFill>
                  <a:srgbClr val="777589"/>
                </a:solidFill>
                <a:latin typeface="Geist"/>
              </a:rPr>
              <a:t>Three decades leading India's foremost road-safety research centre — a WHO Collaborating Centre</a:t>
            </a:r>
          </a:p>
        </p:txBody>
      </p:sp>
      <p:sp>
        <p:nvSpPr>
          <p:cNvPr id="23" name="Oval 22"/>
          <p:cNvSpPr/>
          <p:nvPr/>
        </p:nvSpPr>
        <p:spPr>
          <a:xfrm>
            <a:off x="7351776" y="3566160"/>
            <a:ext cx="73152" cy="73152"/>
          </a:xfrm>
          <a:prstGeom prst="ellipse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62088" y="3502152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69" b="0" i="0">
                <a:solidFill>
                  <a:srgbClr val="777589"/>
                </a:solidFill>
                <a:latin typeface="Geist"/>
              </a:rPr>
              <a:t>Global authority on vulnerable road users &amp; safe-system design · PhD, University of Illinois Chicago</a:t>
            </a:r>
          </a:p>
        </p:txBody>
      </p:sp>
      <p:sp>
        <p:nvSpPr>
          <p:cNvPr id="25" name="Oval 24"/>
          <p:cNvSpPr/>
          <p:nvPr/>
        </p:nvSpPr>
        <p:spPr>
          <a:xfrm>
            <a:off x="7351776" y="3941064"/>
            <a:ext cx="73152" cy="73152"/>
          </a:xfrm>
          <a:prstGeom prst="ellipse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62088" y="3877056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69" b="0" i="0">
                <a:solidFill>
                  <a:srgbClr val="777589"/>
                </a:solidFill>
                <a:latin typeface="Geist"/>
              </a:rPr>
              <a:t>Guides Project Rakshak's audit methodology; anchors our Expert Consortium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480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 spc="180">
                <a:solidFill>
                  <a:srgbClr val="777589"/>
                </a:solidFill>
                <a:latin typeface="Montserrat"/>
              </a:rPr>
              <a:t>THE EXPERT BENCH BEHIND OUR WORK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754880"/>
            <a:ext cx="3520440" cy="47548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mid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809744"/>
            <a:ext cx="402336" cy="40233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07008" y="4809744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1" i="0">
                <a:solidFill>
                  <a:srgbClr val="1A1C1C"/>
                </a:solidFill>
                <a:latin typeface="Montserrat"/>
              </a:rPr>
              <a:t>Justice J. R. Midha (Retd.)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07008" y="5029200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70" b="0" i="0">
                <a:solidFill>
                  <a:srgbClr val="777589"/>
                </a:solidFill>
                <a:latin typeface="Geist"/>
              </a:rPr>
              <a:t>Delhi High Court · FastDAR architect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34256" y="4754880"/>
            <a:ext cx="3520440" cy="47548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dam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7408" y="4809744"/>
            <a:ext cx="402336" cy="402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901184" y="4809744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1" i="0">
                <a:solidFill>
                  <a:srgbClr val="1A1C1C"/>
                </a:solidFill>
                <a:latin typeface="Montserrat"/>
              </a:rPr>
              <a:t>Abhay Damle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01184" y="5029200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70" b="0" i="0">
                <a:solidFill>
                  <a:srgbClr val="777589"/>
                </a:solidFill>
                <a:latin typeface="Geist"/>
              </a:rPr>
              <a:t>Former Joint Secretary, MoRTH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28432" y="4754880"/>
            <a:ext cx="3520440" cy="47548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d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1584" y="4809744"/>
            <a:ext cx="402336" cy="402336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595360" y="4809744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1" i="0">
                <a:solidFill>
                  <a:srgbClr val="1A1C1C"/>
                </a:solidFill>
                <a:latin typeface="Montserrat"/>
              </a:rPr>
              <a:t>Vaibhav Dange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0" y="5029200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70" b="0" i="0">
                <a:solidFill>
                  <a:srgbClr val="777589"/>
                </a:solidFill>
                <a:latin typeface="Geist"/>
              </a:rPr>
              <a:t>Former Advisor, MoRTH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5294376"/>
            <a:ext cx="3520440" cy="47548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13232" y="5349240"/>
            <a:ext cx="402336" cy="402336"/>
          </a:xfrm>
          <a:prstGeom prst="ellipse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534924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FFFFFF"/>
                </a:solidFill>
                <a:latin typeface="Montserrat"/>
              </a:rPr>
              <a:t>SV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07008" y="5349240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1" i="0">
                <a:solidFill>
                  <a:srgbClr val="1A1C1C"/>
                </a:solidFill>
                <a:latin typeface="Montserrat"/>
              </a:rPr>
              <a:t>Dr. S. Velmurugan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07008" y="5568696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70" b="0" i="0">
                <a:solidFill>
                  <a:srgbClr val="777589"/>
                </a:solidFill>
                <a:latin typeface="Geist"/>
              </a:rPr>
              <a:t>Head, Traffic Engg. &amp; Safety, CSIR-CRRI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34256" y="5294376"/>
            <a:ext cx="3520440" cy="47548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407408" y="5349240"/>
            <a:ext cx="402336" cy="402336"/>
          </a:xfrm>
          <a:prstGeom prst="ellipse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07408" y="534924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FFFFFF"/>
                </a:solidFill>
                <a:latin typeface="Montserrat"/>
              </a:rPr>
              <a:t>RA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01184" y="5349240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1" i="0">
                <a:solidFill>
                  <a:srgbClr val="1A1C1C"/>
                </a:solidFill>
                <a:latin typeface="Montserrat"/>
              </a:rPr>
              <a:t>Dr. Richa Ahuja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1184" y="5568696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70" b="0" i="0">
                <a:solidFill>
                  <a:srgbClr val="777589"/>
                </a:solidFill>
                <a:latin typeface="Geist"/>
              </a:rPr>
              <a:t>IIT Kharagpur · Rakshak advisor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28432" y="5294376"/>
            <a:ext cx="3520440" cy="47548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1" name="Picture 50" descr="asrivastav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1584" y="5349240"/>
            <a:ext cx="402336" cy="402336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595360" y="5349240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1" i="0">
                <a:solidFill>
                  <a:srgbClr val="1A1C1C"/>
                </a:solidFill>
                <a:latin typeface="Montserrat"/>
              </a:rPr>
              <a:t>Akhilesh Srivastava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95360" y="5568696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70" b="0" i="0">
                <a:solidFill>
                  <a:srgbClr val="777589"/>
                </a:solidFill>
                <a:latin typeface="Geist"/>
              </a:rPr>
              <a:t>ITS India · IRF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833872"/>
            <a:ext cx="3520440" cy="47548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5" name="Picture 54" descr="tand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5888736"/>
            <a:ext cx="402336" cy="402336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07008" y="5888736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1" i="0">
                <a:solidFill>
                  <a:srgbClr val="1A1C1C"/>
                </a:solidFill>
                <a:latin typeface="Montserrat"/>
              </a:rPr>
              <a:t>Dr. Maya Tandon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07008" y="6108192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70" b="0" i="0">
                <a:solidFill>
                  <a:srgbClr val="777589"/>
                </a:solidFill>
                <a:latin typeface="Geist"/>
              </a:rPr>
              <a:t>Sahayta Trust, Jaipur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34256" y="5833872"/>
            <a:ext cx="3520440" cy="47548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9" name="Picture 58" descr="ratna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07408" y="5888736"/>
            <a:ext cx="402336" cy="402336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901184" y="5888736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1" i="0">
                <a:solidFill>
                  <a:srgbClr val="1A1C1C"/>
                </a:solidFill>
                <a:latin typeface="Montserrat"/>
              </a:rPr>
              <a:t>R. Venkat Ratnam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01184" y="6108192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70" b="0" i="0">
                <a:solidFill>
                  <a:srgbClr val="777589"/>
                </a:solidFill>
                <a:latin typeface="Geist"/>
              </a:rPr>
              <a:t>DG, Punjab Road Safety Lead Agency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028432" y="5833872"/>
            <a:ext cx="3520440" cy="47548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3" name="Picture 62" descr="pande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01584" y="5888736"/>
            <a:ext cx="402336" cy="402336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8595360" y="5888736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1" i="0">
                <a:solidFill>
                  <a:srgbClr val="1A1C1C"/>
                </a:solidFill>
                <a:latin typeface="Montserrat"/>
              </a:rPr>
              <a:t>Rama Shankar Pandey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95360" y="6108192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70" b="0" i="0">
                <a:solidFill>
                  <a:srgbClr val="777589"/>
                </a:solidFill>
                <a:latin typeface="Geist"/>
              </a:rPr>
              <a:t>FICCI Road Safety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BOARD OF ADVISORS &amp; EXPERTS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OUR PEOPLE ·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A full-time team of eight, three trustees,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and 75+ engineering interns nationwide.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12848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 spc="160">
                <a:solidFill>
                  <a:srgbClr val="777589"/>
                </a:solidFill>
                <a:latin typeface="Montserrat"/>
              </a:rPr>
              <a:t>TRUSTEES · VISION ZERO TRUST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14600"/>
            <a:ext cx="2651760" cy="129844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4672" y="2679192"/>
            <a:ext cx="475488" cy="475488"/>
          </a:xfrm>
          <a:prstGeom prst="ellipse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67919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Montserrat"/>
              </a:rPr>
              <a:t>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2660904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1" i="0">
                <a:solidFill>
                  <a:srgbClr val="1A1C1C"/>
                </a:solidFill>
                <a:latin typeface="Montserrat"/>
              </a:rPr>
              <a:t>Amar Srivastava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2916936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>
                <a:solidFill>
                  <a:srgbClr val="4A35FF"/>
                </a:solidFill>
                <a:latin typeface="Montserrat"/>
              </a:rPr>
              <a:t>President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209544"/>
            <a:ext cx="23225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70" b="0" i="0">
                <a:solidFill>
                  <a:srgbClr val="777589"/>
                </a:solidFill>
                <a:latin typeface="Geist"/>
              </a:rPr>
              <a:t>Founder, Indian Road Safety Council — 50,000+ volunteers · Diana Award 2019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9856" y="2514600"/>
            <a:ext cx="2651760" cy="129844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84448" y="2679192"/>
            <a:ext cx="475488" cy="475488"/>
          </a:xfrm>
          <a:prstGeom prst="ellipse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267919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Montserrat"/>
              </a:rPr>
              <a:t>DG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9664" y="2660904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1" i="0">
                <a:solidFill>
                  <a:srgbClr val="1A1C1C"/>
                </a:solidFill>
                <a:latin typeface="Montserrat"/>
              </a:rPr>
              <a:t>Deepanshu Gupta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9664" y="2916936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>
                <a:solidFill>
                  <a:srgbClr val="4A35FF"/>
                </a:solidFill>
                <a:latin typeface="Montserrat"/>
              </a:rPr>
              <a:t>Managing Trustee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4448" y="3209544"/>
            <a:ext cx="23225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70" b="0" i="0">
                <a:solidFill>
                  <a:srgbClr val="777589"/>
                </a:solidFill>
                <a:latin typeface="Geist"/>
              </a:rPr>
              <a:t>Founder, IRSC · Global Youth Coalition for Road Safety leadership board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2514600"/>
            <a:ext cx="2651760" cy="129844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64224" y="2679192"/>
            <a:ext cx="475488" cy="475488"/>
          </a:xfrm>
          <a:prstGeom prst="ellipse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267919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Montserrat"/>
              </a:rPr>
              <a:t>GJ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2660904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1" i="0">
                <a:solidFill>
                  <a:srgbClr val="1A1C1C"/>
                </a:solidFill>
                <a:latin typeface="Montserrat"/>
              </a:rPr>
              <a:t>Gajendra Jangid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916936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>
                <a:solidFill>
                  <a:srgbClr val="4A35FF"/>
                </a:solidFill>
                <a:latin typeface="Montserrat"/>
              </a:rPr>
              <a:t>General Secretary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3209544"/>
            <a:ext cx="23225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70" b="0" i="0">
                <a:solidFill>
                  <a:srgbClr val="777589"/>
                </a:solidFill>
                <a:latin typeface="Geist"/>
              </a:rPr>
              <a:t>Co-founder, Cars24 · ex-Schlumberger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968496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 spc="160">
                <a:solidFill>
                  <a:srgbClr val="777589"/>
                </a:solidFill>
                <a:latin typeface="Montserrat"/>
              </a:rPr>
              <a:t>FULL-TIME TEAM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224528"/>
            <a:ext cx="1965960" cy="8961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9808" y="4334256"/>
            <a:ext cx="347472" cy="347472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3342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i="0">
                <a:solidFill>
                  <a:srgbClr val="4A35FF"/>
                </a:solidFill>
                <a:latin typeface="Montserrat"/>
              </a:rPr>
              <a:t>AH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" y="4315968"/>
            <a:ext cx="1344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1A1C1C"/>
                </a:solidFill>
                <a:latin typeface="Montserrat"/>
              </a:rPr>
              <a:t>Akhtar Hussain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700016"/>
            <a:ext cx="1746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i="0">
                <a:solidFill>
                  <a:srgbClr val="4A35FF"/>
                </a:solidFill>
                <a:latin typeface="Geist"/>
              </a:rPr>
              <a:t>Mission Lead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892040"/>
            <a:ext cx="1746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90" b="0" i="0">
                <a:solidFill>
                  <a:srgbClr val="777589"/>
                </a:solidFill>
                <a:latin typeface="Geist"/>
              </a:rPr>
              <a:t>IIT Delhi · ex-Bain &amp; Co., Deloitte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24912" y="4224528"/>
            <a:ext cx="1965960" cy="8961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834640" y="4334256"/>
            <a:ext cx="347472" cy="347472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34640" y="43342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i="0">
                <a:solidFill>
                  <a:srgbClr val="4A35FF"/>
                </a:solidFill>
                <a:latin typeface="Montserrat"/>
              </a:rPr>
              <a:t>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55264" y="4315968"/>
            <a:ext cx="1344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1A1C1C"/>
                </a:solidFill>
                <a:latin typeface="Montserrat"/>
              </a:rPr>
              <a:t>Shubham Kumar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4700016"/>
            <a:ext cx="1746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i="0">
                <a:solidFill>
                  <a:srgbClr val="4A35FF"/>
                </a:solidFill>
                <a:latin typeface="Geist"/>
              </a:rPr>
              <a:t>Policy Advocacy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4892040"/>
            <a:ext cx="1746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90" b="0" i="0">
                <a:solidFill>
                  <a:srgbClr val="777589"/>
                </a:solidFill>
                <a:latin typeface="Geist"/>
              </a:rPr>
              <a:t>DU + NALSAR · byline: Scroll.in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09744" y="4224528"/>
            <a:ext cx="1965960" cy="8961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19472" y="4334256"/>
            <a:ext cx="347472" cy="347472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19472" y="43342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i="0">
                <a:solidFill>
                  <a:srgbClr val="4A35FF"/>
                </a:solidFill>
                <a:latin typeface="Montserrat"/>
              </a:rPr>
              <a:t>MY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0096" y="4315968"/>
            <a:ext cx="1344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1A1C1C"/>
                </a:solidFill>
                <a:latin typeface="Montserrat"/>
              </a:rPr>
              <a:t>Muskan Yadav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19472" y="4700016"/>
            <a:ext cx="1746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i="0">
                <a:solidFill>
                  <a:srgbClr val="4A35FF"/>
                </a:solidFill>
                <a:latin typeface="Geist"/>
              </a:rPr>
              <a:t>Programs · Infrastructure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19472" y="4892040"/>
            <a:ext cx="1746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90" b="0" i="0">
                <a:solidFill>
                  <a:srgbClr val="777589"/>
                </a:solidFill>
                <a:latin typeface="Geist"/>
              </a:rPr>
              <a:t>TISS Mumbai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894576" y="4224528"/>
            <a:ext cx="1965960" cy="8961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004304" y="4334256"/>
            <a:ext cx="347472" cy="347472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04304" y="43342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i="0">
                <a:solidFill>
                  <a:srgbClr val="4A35FF"/>
                </a:solidFill>
                <a:latin typeface="Montserrat"/>
              </a:rPr>
              <a:t>AS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24928" y="4315968"/>
            <a:ext cx="1344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1A1C1C"/>
                </a:solidFill>
                <a:latin typeface="Montserrat"/>
              </a:rPr>
              <a:t>Aastha Shreeharsh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04304" y="4700016"/>
            <a:ext cx="1746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i="0">
                <a:solidFill>
                  <a:srgbClr val="4A35FF"/>
                </a:solidFill>
                <a:latin typeface="Geist"/>
              </a:rPr>
              <a:t>Strategy &amp; Operations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04304" y="4892040"/>
            <a:ext cx="1746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90" b="0" i="0">
                <a:solidFill>
                  <a:srgbClr val="777589"/>
                </a:solidFill>
                <a:latin typeface="Geist"/>
              </a:rPr>
              <a:t>HKUST · quoted in The Wire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0080" y="5230368"/>
            <a:ext cx="1965960" cy="8961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49808" y="5340096"/>
            <a:ext cx="347472" cy="347472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9808" y="534009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i="0">
                <a:solidFill>
                  <a:srgbClr val="4A35FF"/>
                </a:solidFill>
                <a:latin typeface="Montserrat"/>
              </a:rPr>
              <a:t>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70432" y="5321808"/>
            <a:ext cx="1344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1A1C1C"/>
                </a:solidFill>
                <a:latin typeface="Montserrat"/>
              </a:rPr>
              <a:t>Rohan Sharma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9808" y="5705856"/>
            <a:ext cx="1746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i="0">
                <a:solidFill>
                  <a:srgbClr val="4A35FF"/>
                </a:solidFill>
                <a:latin typeface="Geist"/>
              </a:rPr>
              <a:t>Cause Marketing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9808" y="5897880"/>
            <a:ext cx="1746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90" b="0" i="0">
                <a:solidFill>
                  <a:srgbClr val="777589"/>
                </a:solidFill>
                <a:latin typeface="Geist"/>
              </a:rPr>
              <a:t>ex-Unacademy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724912" y="5230368"/>
            <a:ext cx="1965960" cy="8961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2834640" y="5340096"/>
            <a:ext cx="347472" cy="347472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834640" y="534009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i="0">
                <a:solidFill>
                  <a:srgbClr val="4A35FF"/>
                </a:solidFill>
                <a:latin typeface="Montserrat"/>
              </a:rPr>
              <a:t>IR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55264" y="5321808"/>
            <a:ext cx="1344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1A1C1C"/>
                </a:solidFill>
                <a:latin typeface="Montserrat"/>
              </a:rPr>
              <a:t>Ishita Rathore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834640" y="5705856"/>
            <a:ext cx="1746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i="0">
                <a:solidFill>
                  <a:srgbClr val="4A35FF"/>
                </a:solidFill>
                <a:latin typeface="Geist"/>
              </a:rPr>
              <a:t>People &amp; Culture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34640" y="5897880"/>
            <a:ext cx="1746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90" b="0" i="0">
                <a:solidFill>
                  <a:srgbClr val="777589"/>
                </a:solidFill>
                <a:latin typeface="Geist"/>
              </a:rPr>
              <a:t/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809744" y="5230368"/>
            <a:ext cx="1965960" cy="8961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919472" y="5340096"/>
            <a:ext cx="347472" cy="347472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19472" y="534009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i="0">
                <a:solidFill>
                  <a:srgbClr val="4A35FF"/>
                </a:solidFill>
                <a:latin typeface="Montserrat"/>
              </a:rPr>
              <a:t>YY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40096" y="5321808"/>
            <a:ext cx="1344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1A1C1C"/>
                </a:solidFill>
                <a:latin typeface="Montserrat"/>
              </a:rPr>
              <a:t>Yuvraj Yadav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919472" y="5705856"/>
            <a:ext cx="1746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i="0">
                <a:solidFill>
                  <a:srgbClr val="4A35FF"/>
                </a:solidFill>
                <a:latin typeface="Geist"/>
              </a:rPr>
              <a:t>Product Design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919472" y="5897880"/>
            <a:ext cx="1746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90" b="0" i="0">
                <a:solidFill>
                  <a:srgbClr val="777589"/>
                </a:solidFill>
                <a:latin typeface="Geist"/>
              </a:rPr>
              <a:t/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894576" y="5230368"/>
            <a:ext cx="1965960" cy="8961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004304" y="5340096"/>
            <a:ext cx="347472" cy="347472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04304" y="534009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i="0">
                <a:solidFill>
                  <a:srgbClr val="4A35FF"/>
                </a:solidFill>
                <a:latin typeface="Montserrat"/>
              </a:rPr>
              <a:t>SK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24928" y="5321808"/>
            <a:ext cx="1344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1A1C1C"/>
                </a:solidFill>
                <a:latin typeface="Montserrat"/>
              </a:rPr>
              <a:t>Shipra Kushwaha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04304" y="5705856"/>
            <a:ext cx="1746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i="0">
                <a:solidFill>
                  <a:srgbClr val="4A35FF"/>
                </a:solidFill>
                <a:latin typeface="Geist"/>
              </a:rPr>
              <a:t>Graphic Design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04304" y="5897880"/>
            <a:ext cx="1746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90" b="0" i="0">
                <a:solidFill>
                  <a:srgbClr val="777589"/>
                </a:solidFill>
                <a:latin typeface="Geist"/>
              </a:rPr>
              <a:t/>
            </a:r>
          </a:p>
        </p:txBody>
      </p:sp>
      <p:sp>
        <p:nvSpPr>
          <p:cNvPr id="74" name="Rectangle 73"/>
          <p:cNvSpPr/>
          <p:nvPr/>
        </p:nvSpPr>
        <p:spPr>
          <a:xfrm>
            <a:off x="9041131" y="2478024"/>
            <a:ext cx="2507741" cy="3319272"/>
          </a:xfrm>
          <a:prstGeom prst="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5" name="Picture 74" descr="ideathon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7707" y="2514600"/>
            <a:ext cx="2434590" cy="324612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077707" y="5833872"/>
            <a:ext cx="243458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30" b="0" i="1">
                <a:solidFill>
                  <a:srgbClr val="777589"/>
                </a:solidFill>
                <a:latin typeface="Geist"/>
              </a:rPr>
              <a:t>Team members at the NextMile Grand Finale, Sept 2025.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" y="626364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1">
                <a:solidFill>
                  <a:srgbClr val="777589"/>
                </a:solidFill>
                <a:latin typeface="Geist"/>
              </a:rPr>
              <a:t>+ 75+ part-time road-engineering interns across India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THE TEAM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1920240" cy="265346"/>
          </a:xfrm>
          <a:prstGeom prst="rect">
            <a:avLst/>
          </a:prstGeom>
        </p:spPr>
      </p:pic>
      <p:sp>
        <p:nvSpPr>
          <p:cNvPr id="4" name="4-Point Star 3"/>
          <p:cNvSpPr/>
          <p:nvPr/>
        </p:nvSpPr>
        <p:spPr>
          <a:xfrm>
            <a:off x="11338560" y="292608"/>
            <a:ext cx="457200" cy="457200"/>
          </a:xfrm>
          <a:prstGeom prst="star4">
            <a:avLst/>
          </a:prstGeom>
          <a:solidFill>
            <a:srgbClr val="6A5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11064240" y="658368"/>
            <a:ext cx="274320" cy="274320"/>
          </a:xfrm>
          <a:prstGeom prst="star4">
            <a:avLst/>
          </a:prstGeom>
          <a:solidFill>
            <a:srgbClr val="6A5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 spc="240">
                <a:solidFill>
                  <a:srgbClr val="C8C0FF"/>
                </a:solidFill>
                <a:latin typeface="Montserrat"/>
              </a:rPr>
              <a:t>THE YEAR AHEAD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10881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ontserrat"/>
              </a:rPr>
              <a:t>Year two: fewer bets, deeper districts,</a:t>
            </a:r>
          </a:p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ontserrat"/>
              </a:rPr>
              <a:t>and more fixes built on the ground.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C8C0FF"/>
                </a:solidFill>
                <a:latin typeface="Montserrat"/>
              </a:rPr>
              <a:t>Every three minutes, a life is lost on an Indian road. Join us in changing that.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881360" cy="0"/>
          </a:xfrm>
          <a:prstGeom prst="line">
            <a:avLst/>
          </a:prstGeom>
          <a:ln w="9525">
            <a:solidFill>
              <a:srgbClr val="6A55FF"/>
            </a:solidFill>
          </a:ln>
          <a:effectLst/>
        </p:spPr>
      </p:cxnSp>
      <p:sp>
        <p:nvSpPr>
          <p:cNvPr id="10" name="TextBox 9"/>
          <p:cNvSpPr txBox="1"/>
          <p:nvPr/>
        </p:nvSpPr>
        <p:spPr>
          <a:xfrm>
            <a:off x="640080" y="431596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 spc="180">
                <a:solidFill>
                  <a:srgbClr val="C8C0FF"/>
                </a:solidFill>
                <a:latin typeface="Montserrat"/>
              </a:rPr>
              <a:t>YEAR TWO, WITH YOU — THE TARGETS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4709160"/>
            <a:ext cx="128016" cy="128016"/>
          </a:xfrm>
          <a:prstGeom prst="ellipse">
            <a:avLst/>
          </a:prstGeom>
          <a:solidFill>
            <a:srgbClr val="C8C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66344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FFFFFF"/>
                </a:solidFill>
                <a:latin typeface="Geist"/>
              </a:rPr>
              <a:t>150+ blackspots audited by the national pipeline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5074920"/>
            <a:ext cx="128016" cy="128016"/>
          </a:xfrm>
          <a:prstGeom prst="ellipse">
            <a:avLst/>
          </a:prstGeom>
          <a:solidFill>
            <a:srgbClr val="C8C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029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FFFFFF"/>
                </a:solidFill>
                <a:latin typeface="Geist"/>
              </a:rPr>
              <a:t>Model districts: Gurugram · SW Delhi · Jaipur</a:t>
            </a:r>
          </a:p>
        </p:txBody>
      </p:sp>
      <p:sp>
        <p:nvSpPr>
          <p:cNvPr id="15" name="Oval 14"/>
          <p:cNvSpPr/>
          <p:nvPr/>
        </p:nvSpPr>
        <p:spPr>
          <a:xfrm>
            <a:off x="658368" y="5440680"/>
            <a:ext cx="128016" cy="128016"/>
          </a:xfrm>
          <a:prstGeom prst="ellipse">
            <a:avLst/>
          </a:prstGeom>
          <a:solidFill>
            <a:srgbClr val="C8C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3949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FFFFFF"/>
                </a:solidFill>
                <a:latin typeface="Geist"/>
              </a:rPr>
              <a:t>12+ district-committee presentations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5806440"/>
            <a:ext cx="128016" cy="128016"/>
          </a:xfrm>
          <a:prstGeom prst="ellipse">
            <a:avLst/>
          </a:prstGeom>
          <a:solidFill>
            <a:srgbClr val="C8C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07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FFFFFF"/>
                </a:solidFill>
                <a:latin typeface="Geist"/>
              </a:rPr>
              <a:t>Rakshak Audit Manual v1.0 — usable by NHAI without rework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3159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 spc="180">
                <a:solidFill>
                  <a:srgbClr val="C8C0FF"/>
                </a:solidFill>
                <a:latin typeface="Montserrat"/>
              </a:rPr>
              <a:t>START THE CONVERSATION</a:t>
            </a:r>
          </a:p>
        </p:txBody>
      </p:sp>
      <p:pic>
        <p:nvPicPr>
          <p:cNvPr id="20" name="Picture 19" descr="globe_C8C0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4672584"/>
            <a:ext cx="219456" cy="21945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931152" y="46634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FFFFF"/>
                </a:solidFill>
                <a:latin typeface="Geist"/>
              </a:rPr>
              <a:t>crashfreeindia.org</a:t>
            </a:r>
          </a:p>
        </p:txBody>
      </p:sp>
      <p:pic>
        <p:nvPicPr>
          <p:cNvPr id="22" name="Picture 21" descr="mail_C8C0FF_256_2.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5056632"/>
            <a:ext cx="219456" cy="21945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931152" y="50474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FFFFF"/>
                </a:solidFill>
                <a:latin typeface="Geist"/>
              </a:rPr>
              <a:t>helpdesk@crashfreeindia.org</a:t>
            </a:r>
          </a:p>
        </p:txBody>
      </p:sp>
      <p:pic>
        <p:nvPicPr>
          <p:cNvPr id="24" name="Picture 23" descr="bar-chart-3_C8C0FF_256_2.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5440680"/>
            <a:ext cx="219456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931152" y="543153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FFFFF"/>
                </a:solidFill>
                <a:latin typeface="Geist"/>
              </a:rPr>
              <a:t>Live proof: crashfreeindia.org/rakshak/dashboard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1">
                <a:solidFill>
                  <a:srgbClr val="FFFFFF"/>
                </a:solidFill>
                <a:latin typeface="Montserrat"/>
              </a:rPr>
              <a:t>Lasting change happens when someone owns the follow-through. That is the job we have taken 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C8C0FF"/>
                </a:solidFill>
                <a:latin typeface="Montserrat"/>
              </a:rPr>
              <a:t>Crashfree India · A Cars24 Commitment · operated by Vision Zero Trust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57200"/>
            <a:ext cx="1920240" cy="2653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63840" y="548640"/>
            <a:ext cx="36576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0" b="1" i="0">
                <a:solidFill>
                  <a:srgbClr val="6A55FF"/>
                </a:solidFill>
                <a:latin typeface="Montserrat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 spc="240">
                <a:solidFill>
                  <a:srgbClr val="C8C0FF"/>
                </a:solidFill>
                <a:latin typeface="Montserrat"/>
              </a:rPr>
              <a:t>REFERENCE MATERIAL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3464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400" b="1" i="0">
                <a:solidFill>
                  <a:srgbClr val="FFFFFF"/>
                </a:solidFill>
                <a:latin typeface="Montserrat"/>
              </a:rPr>
              <a:t>Appendix: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1188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400" b="1" i="0">
                <a:solidFill>
                  <a:srgbClr val="C8C0FF"/>
                </a:solidFill>
                <a:latin typeface="Montserrat"/>
              </a:rPr>
              <a:t>programme deep-dives.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2628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C8C0FF"/>
                </a:solidFill>
                <a:latin typeface="Geist"/>
              </a:rPr>
              <a:t>A1  Project Rakshak — model &amp; Cohort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9145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C8C0FF"/>
                </a:solidFill>
                <a:latin typeface="Geist"/>
              </a:rPr>
              <a:t>A2  Rakshak — approvals &amp; site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5663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C8C0FF"/>
                </a:solidFill>
                <a:latin typeface="Geist"/>
              </a:rPr>
              <a:t>A3  SATARK — product &amp;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2180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C8C0FF"/>
                </a:solidFill>
                <a:latin typeface="Geist"/>
              </a:rPr>
              <a:t>A4  'Justice Unserved' — 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8698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C8C0FF"/>
                </a:solidFill>
                <a:latin typeface="Geist"/>
              </a:rPr>
              <a:t>A5  Open-data platforms in detail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8521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C8C0FF"/>
                </a:solidFill>
                <a:latin typeface="Geist"/>
              </a:rPr>
              <a:t>A6  NextMile &amp; public education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1733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C8C0FF"/>
                </a:solidFill>
                <a:latin typeface="Geist"/>
              </a:rPr>
              <a:t>A7  Press &amp; contact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C8C0FF"/>
                </a:solidFill>
                <a:latin typeface="Montserrat"/>
              </a:rPr>
              <a:t>APPENDIX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C8C0FF"/>
                </a:solidFill>
                <a:latin typeface="Montserrat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APPENDIX A1 · PROJECT RAKSHAK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The Rakshak model: a four-phase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pipeline, now scaling into three tracks.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182880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2523744"/>
            <a:ext cx="15361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1" i="0" spc="80">
                <a:solidFill>
                  <a:srgbClr val="4A35FF"/>
                </a:solidFill>
                <a:latin typeface="Montserrat"/>
              </a:rPr>
              <a:t>P1 · Jul–Aug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779776"/>
            <a:ext cx="1536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A1C1C"/>
                </a:solidFill>
                <a:latin typeface="Montserrat"/>
              </a:rPr>
              <a:t>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108960"/>
            <a:ext cx="1536192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777589"/>
                </a:solidFill>
                <a:latin typeface="Geist"/>
              </a:rPr>
              <a:t>Teams form at campuses; risks identified via FIRs, RTIs, police data and local media.</a:t>
            </a:r>
          </a:p>
        </p:txBody>
      </p:sp>
      <p:pic>
        <p:nvPicPr>
          <p:cNvPr id="10" name="Picture 9" descr="chevron-right_6A5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3259836"/>
            <a:ext cx="182880" cy="1828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660904" y="2377440"/>
            <a:ext cx="182880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7208" y="2523744"/>
            <a:ext cx="15361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1" i="0" spc="80">
                <a:solidFill>
                  <a:srgbClr val="4A35FF"/>
                </a:solidFill>
                <a:latin typeface="Montserrat"/>
              </a:rPr>
              <a:t>P2 · Aug–Sep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7208" y="2779776"/>
            <a:ext cx="1536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A1C1C"/>
                </a:solidFill>
                <a:latin typeface="Montserrat"/>
              </a:rPr>
              <a:t>Field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208" y="3108960"/>
            <a:ext cx="1536192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777589"/>
                </a:solidFill>
                <a:latin typeface="Geist"/>
              </a:rPr>
              <a:t>30+ stakeholder surveys per team; audits to IRC / MoRTH checklists under expert masterclasses.</a:t>
            </a:r>
          </a:p>
        </p:txBody>
      </p:sp>
      <p:pic>
        <p:nvPicPr>
          <p:cNvPr id="15" name="Picture 14" descr="chevron-right_6A5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9704" y="3259836"/>
            <a:ext cx="182880" cy="1828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681728" y="2377440"/>
            <a:ext cx="182880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8032" y="2523744"/>
            <a:ext cx="15361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1" i="0" spc="80">
                <a:solidFill>
                  <a:srgbClr val="4A35FF"/>
                </a:solidFill>
                <a:latin typeface="Montserrat"/>
              </a:rPr>
              <a:t>P3 · Oct–Nov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8032" y="2779776"/>
            <a:ext cx="1536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A1C1C"/>
                </a:solidFill>
                <a:latin typeface="Montserrat"/>
              </a:rPr>
              <a:t>Solutions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28032" y="3108960"/>
            <a:ext cx="1536192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777589"/>
                </a:solidFill>
                <a:latin typeface="Geist"/>
              </a:rPr>
              <a:t>Root-cause analysis; costed, standards-compliant redesigns reviewed by mentors.</a:t>
            </a:r>
          </a:p>
        </p:txBody>
      </p:sp>
      <p:pic>
        <p:nvPicPr>
          <p:cNvPr id="20" name="Picture 19" descr="chevron-right_6A5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3259836"/>
            <a:ext cx="182880" cy="18288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702552" y="2377440"/>
            <a:ext cx="182880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48856" y="2523744"/>
            <a:ext cx="15361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1" i="0" spc="80">
                <a:solidFill>
                  <a:srgbClr val="4A35FF"/>
                </a:solidFill>
                <a:latin typeface="Montserrat"/>
              </a:rPr>
              <a:t>P4 · Nov onwards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48856" y="2779776"/>
            <a:ext cx="1536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A1C1C"/>
                </a:solidFill>
                <a:latin typeface="Montserrat"/>
              </a:rPr>
              <a:t>Accountability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8856" y="3108960"/>
            <a:ext cx="1536192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777589"/>
                </a:solidFill>
                <a:latin typeface="Geist"/>
              </a:rPr>
              <a:t>Authority-format reports presented to PWD / municipal / police officials; approvals &amp; builds tracked publicly.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6177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 spc="160">
                <a:solidFill>
                  <a:srgbClr val="777589"/>
                </a:solidFill>
                <a:latin typeface="Montserrat"/>
              </a:rPr>
              <a:t>COHORT 2 (2026-27) — THREE TRACKS, ALL [TARGETS]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937760"/>
            <a:ext cx="7818120" cy="402336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37760"/>
            <a:ext cx="18288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4A35FF"/>
                </a:solidFill>
                <a:latin typeface="Montserrat"/>
              </a:rPr>
              <a:t>Institutional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4937760"/>
            <a:ext cx="5577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C1C"/>
                </a:solidFill>
                <a:latin typeface="Geist"/>
              </a:rPr>
              <a:t>IIT / NIT / SPA student teams — ~90 sites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413248"/>
            <a:ext cx="7818120" cy="402336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413248"/>
            <a:ext cx="18288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4A35FF"/>
                </a:solidFill>
                <a:latin typeface="Montserrat"/>
              </a:rPr>
              <a:t>NGO partners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5413248"/>
            <a:ext cx="5577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C1C"/>
                </a:solidFill>
                <a:latin typeface="Geist"/>
              </a:rPr>
              <a:t>~20 sites · 100% desk review · 10–15% CFI re-checks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888736"/>
            <a:ext cx="7818120" cy="402336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888736"/>
            <a:ext cx="18288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4A35FF"/>
                </a:solidFill>
                <a:latin typeface="Montserrat"/>
              </a:rPr>
              <a:t>Certified RSAs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5888736"/>
            <a:ext cx="5577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C1C"/>
                </a:solidFill>
                <a:latin typeface="Geist"/>
              </a:rPr>
              <a:t>CRRI-certified auditors · full IRC SP:88 · 'usable by NHAI without rework' · ~40 sites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741664" y="2340864"/>
            <a:ext cx="2982606" cy="3730752"/>
          </a:xfrm>
          <a:prstGeom prst="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6" name="Picture 35" descr="imp_p6_x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377440"/>
            <a:ext cx="2909455" cy="36576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778240" y="60807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30" b="0" i="1">
                <a:solidFill>
                  <a:srgbClr val="777589"/>
                </a:solidFill>
                <a:latin typeface="Geist"/>
              </a:rPr>
              <a:t>Risk heat-map of the 31 audited corridors.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APPENDIX · RAKSHAK 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APPENDIX A2 · PROJECT RAKSHAK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From site survey to signed approval: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what the paper trail looks like.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2340864"/>
            <a:ext cx="2596640" cy="3639312"/>
          </a:xfrm>
          <a:prstGeom prst="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enti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77440"/>
            <a:ext cx="2523488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893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30" b="0" i="1">
                <a:solidFill>
                  <a:srgbClr val="777589"/>
                </a:solidFill>
                <a:latin typeface="Geist"/>
              </a:rPr>
              <a:t>Chennai: site photos + engineer suggestions (Team Sentinels).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3803904" y="2340864"/>
            <a:ext cx="2828821" cy="3639312"/>
          </a:xfrm>
          <a:prstGeom prst="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Safe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2377440"/>
            <a:ext cx="2755669" cy="3566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40480" y="59893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30" b="0" i="1">
                <a:solidFill>
                  <a:srgbClr val="777589"/>
                </a:solidFill>
                <a:latin typeface="Geist"/>
              </a:rPr>
              <a:t>Official acknowledgement on state letterhead (Team Safegrid).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377440"/>
            <a:ext cx="4572000" cy="3246120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5472" y="2578608"/>
            <a:ext cx="4059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 spc="140">
                <a:solidFill>
                  <a:srgbClr val="4A35FF"/>
                </a:solidFill>
                <a:latin typeface="Montserrat"/>
              </a:rPr>
              <a:t>WHAT AUTHORITIES APPROVED (EXAMPLES)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926080"/>
            <a:ext cx="40599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A1C1C"/>
                </a:solidFill>
                <a:latin typeface="Montserrat"/>
              </a:rPr>
              <a:t>Tejaji Nagar, Indore  </a:t>
            </a:r>
            <a:r>
              <a:rPr sz="880" b="0" i="0">
                <a:solidFill>
                  <a:srgbClr val="777589"/>
                </a:solidFill>
                <a:latin typeface="Geist"/>
              </a:rPr>
              <a:t>— signal, refuge island, speed calming, footpaths — CPWD &amp; Addl. Collector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5472" y="3438144"/>
            <a:ext cx="40599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A1C1C"/>
                </a:solidFill>
                <a:latin typeface="Montserrat"/>
              </a:rPr>
              <a:t>Kamta Chauraha, Lucknow  </a:t>
            </a:r>
            <a:r>
              <a:rPr sz="880" b="0" i="0">
                <a:solidFill>
                  <a:srgbClr val="777589"/>
                </a:solidFill>
                <a:latin typeface="Geist"/>
              </a:rPr>
              <a:t>— complete junction redesign package — PWD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5472" y="3950208"/>
            <a:ext cx="40599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A1C1C"/>
                </a:solidFill>
                <a:latin typeface="Montserrat"/>
              </a:rPr>
              <a:t>NH-205 / Surjit Chowk, Ropar  </a:t>
            </a:r>
            <a:r>
              <a:rPr sz="880" b="0" i="0">
                <a:solidFill>
                  <a:srgbClr val="777589"/>
                </a:solidFill>
                <a:latin typeface="Geist"/>
              </a:rPr>
              <a:t>— high-friction surfacing, signage, crossings — PWD Punjab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2" y="4462272"/>
            <a:ext cx="40599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A1C1C"/>
                </a:solidFill>
                <a:latin typeface="Montserrat"/>
              </a:rPr>
              <a:t>Kunnamangalam Jn., Kozhikode  </a:t>
            </a:r>
            <a:r>
              <a:rPr sz="880" b="0" i="0">
                <a:solidFill>
                  <a:srgbClr val="777589"/>
                </a:solidFill>
                <a:latin typeface="Geist"/>
              </a:rPr>
              <a:t>— reflective studs, markings, signage — PWD Kerala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5472" y="4974336"/>
            <a:ext cx="40599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A1C1C"/>
                </a:solidFill>
                <a:latin typeface="Montserrat"/>
              </a:rPr>
              <a:t>Thiruvottiyur Jn., Chennai  </a:t>
            </a:r>
            <a:r>
              <a:rPr sz="880" b="0" i="0">
                <a:solidFill>
                  <a:srgbClr val="777589"/>
                </a:solidFill>
                <a:latin typeface="Geist"/>
              </a:rPr>
              <a:t>— speed breakers repaired to IRC spec, thermoplastic paint — GCC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8978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1">
                <a:solidFill>
                  <a:srgbClr val="777589"/>
                </a:solidFill>
                <a:latin typeface="Geist"/>
              </a:rPr>
              <a:t>Full set of 25+ letters available in the Rakshak approvals folder.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APPENDIX · RAKSHAK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APPENDIX A3 · SATARK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Inside SATARK: from camera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intercept in under a minute.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1481328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" y="2505456"/>
            <a:ext cx="438912" cy="438912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amera_4A3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2596896"/>
            <a:ext cx="256032" cy="256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3035808"/>
            <a:ext cx="14813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00" b="0" i="0">
                <a:solidFill>
                  <a:srgbClr val="1A1C1C"/>
                </a:solidFill>
                <a:latin typeface="Geist"/>
              </a:rPr>
              <a:t>ANPR camera</a:t>
            </a:r>
          </a:p>
          <a:p>
            <a:pPr algn="ctr">
              <a:lnSpc>
                <a:spcPct val="118000"/>
              </a:lnSpc>
            </a:pPr>
            <a:r>
              <a:rPr sz="800" b="0" i="0">
                <a:solidFill>
                  <a:srgbClr val="1A1C1C"/>
                </a:solidFill>
                <a:latin typeface="Geist"/>
              </a:rPr>
              <a:t>reads every plate</a:t>
            </a:r>
          </a:p>
        </p:txBody>
      </p:sp>
      <p:pic>
        <p:nvPicPr>
          <p:cNvPr id="10" name="Picture 9" descr="chevron-right_6A55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6836" y="2971800"/>
            <a:ext cx="182880" cy="1828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304288" y="2377440"/>
            <a:ext cx="1481328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25496" y="2505456"/>
            <a:ext cx="438912" cy="438912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database_4A35FF_256_2.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6936" y="2596896"/>
            <a:ext cx="256032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04288" y="3035808"/>
            <a:ext cx="14813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00" b="0" i="0">
                <a:solidFill>
                  <a:srgbClr val="1A1C1C"/>
                </a:solidFill>
                <a:latin typeface="Geist"/>
              </a:rPr>
              <a:t>Live vehicle record</a:t>
            </a:r>
          </a:p>
          <a:p>
            <a:pPr algn="ctr">
              <a:lnSpc>
                <a:spcPct val="118000"/>
              </a:lnSpc>
            </a:pPr>
            <a:r>
              <a:rPr sz="800" b="0" i="0">
                <a:solidFill>
                  <a:srgbClr val="1A1C1C"/>
                </a:solidFill>
                <a:latin typeface="Geist"/>
              </a:rPr>
              <a:t>via national APIs</a:t>
            </a:r>
          </a:p>
        </p:txBody>
      </p:sp>
      <p:pic>
        <p:nvPicPr>
          <p:cNvPr id="15" name="Picture 14" descr="chevron-right_6A55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1044" y="2971800"/>
            <a:ext cx="182880" cy="1828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3968496" y="2377440"/>
            <a:ext cx="1481328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89704" y="2505456"/>
            <a:ext cx="438912" cy="438912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list-filter_4A35FF_256_2.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1144" y="2596896"/>
            <a:ext cx="256032" cy="2560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968496" y="3035808"/>
            <a:ext cx="14813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00" b="0" i="0">
                <a:solidFill>
                  <a:srgbClr val="1A1C1C"/>
                </a:solidFill>
                <a:latin typeface="Geist"/>
              </a:rPr>
              <a:t>Rule engine flags</a:t>
            </a:r>
          </a:p>
          <a:p>
            <a:pPr algn="ctr">
              <a:lnSpc>
                <a:spcPct val="118000"/>
              </a:lnSpc>
            </a:pPr>
            <a:r>
              <a:rPr sz="800" b="0" i="0">
                <a:solidFill>
                  <a:srgbClr val="1A1C1C"/>
                </a:solidFill>
                <a:latin typeface="Geist"/>
              </a:rPr>
              <a:t>habitual offenders</a:t>
            </a:r>
          </a:p>
        </p:txBody>
      </p:sp>
      <p:pic>
        <p:nvPicPr>
          <p:cNvPr id="20" name="Picture 19" descr="chevron-right_6A55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5252" y="2971800"/>
            <a:ext cx="182880" cy="18288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632704" y="2377440"/>
            <a:ext cx="1481328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153912" y="2505456"/>
            <a:ext cx="438912" cy="438912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tv_4A35FF_256_2.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5352" y="2596896"/>
            <a:ext cx="256032" cy="25603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32704" y="3035808"/>
            <a:ext cx="14813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00" b="0" i="0">
                <a:solidFill>
                  <a:srgbClr val="1A1C1C"/>
                </a:solidFill>
                <a:latin typeface="Geist"/>
              </a:rPr>
              <a:t>Public billboard</a:t>
            </a:r>
          </a:p>
          <a:p>
            <a:pPr algn="ctr">
              <a:lnSpc>
                <a:spcPct val="118000"/>
              </a:lnSpc>
            </a:pPr>
            <a:r>
              <a:rPr sz="800" b="0" i="0">
                <a:solidFill>
                  <a:srgbClr val="1A1C1C"/>
                </a:solidFill>
                <a:latin typeface="Geist"/>
              </a:rPr>
              <a:t>names the risk</a:t>
            </a:r>
          </a:p>
        </p:txBody>
      </p:sp>
      <p:pic>
        <p:nvPicPr>
          <p:cNvPr id="25" name="Picture 24" descr="chevron-right_6A55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9460" y="2971800"/>
            <a:ext cx="182880" cy="18288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7296912" y="2377440"/>
            <a:ext cx="1481328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818120" y="2505456"/>
            <a:ext cx="438912" cy="438912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shield-check_4A35FF_256_2.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9560" y="2596896"/>
            <a:ext cx="256032" cy="2560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296912" y="3035808"/>
            <a:ext cx="14813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00" b="0" i="0">
                <a:solidFill>
                  <a:srgbClr val="1A1C1C"/>
                </a:solidFill>
                <a:latin typeface="Geist"/>
              </a:rPr>
              <a:t>Officer app routes</a:t>
            </a:r>
          </a:p>
          <a:p>
            <a:pPr algn="ctr">
              <a:lnSpc>
                <a:spcPct val="118000"/>
              </a:lnSpc>
            </a:pPr>
            <a:r>
              <a:rPr sz="800" b="0" i="0">
                <a:solidFill>
                  <a:srgbClr val="1A1C1C"/>
                </a:solidFill>
                <a:latin typeface="Geist"/>
              </a:rPr>
              <a:t>the interception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977639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20">
                <a:solidFill>
                  <a:srgbClr val="4A35FF"/>
                </a:solidFill>
                <a:latin typeface="Montserrat"/>
              </a:rPr>
              <a:t>DEPLOYMENT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68880" y="3977639"/>
            <a:ext cx="6217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777589"/>
                </a:solidFill>
                <a:latin typeface="Geist"/>
              </a:rPr>
              <a:t>Live: Jaipur (Rambagh Circle billboard, officer app) &amp; Bengaluru (Trinity Circle billboard) · approvals from 5 police forces · upcoming: Gurugram, Pune, Ahmedabad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544567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20">
                <a:solidFill>
                  <a:srgbClr val="4A35FF"/>
                </a:solidFill>
                <a:latin typeface="Montserrat"/>
              </a:rPr>
              <a:t>OFFICER APP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4544567"/>
            <a:ext cx="6217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777589"/>
                </a:solidFill>
                <a:latin typeface="Geist"/>
              </a:rPr>
              <a:t>Prioritised vehicle queue · full challan history via national APIs · plain-language intelligence summary · one-tap outcome logging (intercepted / missed / dismissed)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111495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20">
                <a:solidFill>
                  <a:srgbClr val="4A35FF"/>
                </a:solidFill>
                <a:latin typeface="Montserrat"/>
              </a:rPr>
              <a:t>WHY IT MATTERS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8880" y="5111495"/>
            <a:ext cx="6217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777589"/>
                </a:solidFill>
                <a:latin typeface="Geist"/>
              </a:rPr>
              <a:t>46 Cr e-challans issued nationally, ~75% unpaid — SATARK turns that dormant record into live, targeted roadside enforcement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678423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20">
                <a:solidFill>
                  <a:srgbClr val="4A35FF"/>
                </a:solidFill>
                <a:latin typeface="Montserrat"/>
              </a:rPr>
              <a:t>FLAGGING CRITERIA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678423"/>
            <a:ext cx="6217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777589"/>
                </a:solidFill>
                <a:latin typeface="Geist"/>
              </a:rPr>
              <a:t>Set by police, not CFI — e.g. 10+ pending challans or ₹10,000+ outstanding · 20,000+ vehicles flagged on these rules so far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833104" y="2340864"/>
            <a:ext cx="3106143" cy="3639312"/>
          </a:xfrm>
          <a:prstGeom prst="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stk_p1_x2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9680" y="2377440"/>
            <a:ext cx="3032992" cy="356616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69680" y="598932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30" b="0" i="1">
                <a:solidFill>
                  <a:srgbClr val="777589"/>
                </a:solidFill>
                <a:latin typeface="Geist"/>
              </a:rPr>
              <a:t>The officer app: captured vehicle, live intelligence summary.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APPENDIX · SATARK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APPENDIX A4 ·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'Justice Unserved': why crash compensation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fails, in five measured gaps.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4708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777589"/>
                </a:solidFill>
                <a:latin typeface="Geist"/>
              </a:rPr>
              <a:t>Published January 2026; launched at IIT Delhi; findings presented to MoRTH and cited by national press.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14600"/>
            <a:ext cx="2084831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" y="2670048"/>
            <a:ext cx="365760" cy="365760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eye-off_4A3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743200"/>
            <a:ext cx="219456" cy="219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3099816"/>
            <a:ext cx="17190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1C1C"/>
                </a:solidFill>
                <a:latin typeface="Montserrat"/>
              </a:rPr>
              <a:t>Awareness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74136"/>
            <a:ext cx="171907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30" b="0" i="0">
                <a:solidFill>
                  <a:srgbClr val="777589"/>
                </a:solidFill>
                <a:latin typeface="Geist"/>
              </a:rPr>
              <a:t>70% of low-income families don't know compensation exists; tout networks fill the vacuum.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62071" y="2514600"/>
            <a:ext cx="2084831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044951" y="2670048"/>
            <a:ext cx="365760" cy="365760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clock_4A35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8103" y="2743200"/>
            <a:ext cx="219456" cy="2194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044951" y="3099816"/>
            <a:ext cx="17190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1C1C"/>
                </a:solidFill>
                <a:latin typeface="Montserrat"/>
              </a:rPr>
              <a:t>Timeliness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4951" y="3374136"/>
            <a:ext cx="171907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30" b="0" i="0">
                <a:solidFill>
                  <a:srgbClr val="777589"/>
                </a:solidFill>
                <a:latin typeface="Geist"/>
              </a:rPr>
              <a:t>3.6-year average claim; typical MACT case runs 8–10 years.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84062" y="2514600"/>
            <a:ext cx="2084831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66942" y="2670048"/>
            <a:ext cx="365760" cy="365760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file-x_4A35FF_256_2.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0094" y="2743200"/>
            <a:ext cx="219456" cy="21945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266942" y="3099816"/>
            <a:ext cx="17190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1C1C"/>
                </a:solidFill>
                <a:latin typeface="Montserrat"/>
              </a:rPr>
              <a:t>Legal efficiency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6942" y="3374136"/>
            <a:ext cx="171907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30" b="0" i="0">
                <a:solidFill>
                  <a:srgbClr val="777589"/>
                </a:solidFill>
                <a:latin typeface="Geist"/>
              </a:rPr>
              <a:t>90% of pending hit-and-run claims are stalled on documentation alone.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06053" y="2514600"/>
            <a:ext cx="2084831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88933" y="2670048"/>
            <a:ext cx="365760" cy="365760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rending-down_4A35FF_256_2.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2085" y="2743200"/>
            <a:ext cx="219456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88933" y="3099816"/>
            <a:ext cx="17190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1C1C"/>
                </a:solidFill>
                <a:latin typeface="Montserrat"/>
              </a:rPr>
              <a:t>Adequacy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88933" y="3374136"/>
            <a:ext cx="171907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30" b="0" i="0">
                <a:solidFill>
                  <a:srgbClr val="777589"/>
                </a:solidFill>
                <a:latin typeface="Geist"/>
              </a:rPr>
              <a:t>Informal workers valued at minimum wage; courts repeatedly enhance awards on appeal.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28044" y="2514600"/>
            <a:ext cx="2084831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710924" y="2670048"/>
            <a:ext cx="365760" cy="365760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users_4A35FF_256_2.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4076" y="2743200"/>
            <a:ext cx="219456" cy="21945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710924" y="3099816"/>
            <a:ext cx="17190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1C1C"/>
                </a:solidFill>
                <a:latin typeface="Montserrat"/>
              </a:rPr>
              <a:t>Equity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0924" y="3374136"/>
            <a:ext cx="171907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30" b="0" i="0">
                <a:solidFill>
                  <a:srgbClr val="777589"/>
                </a:solidFill>
                <a:latin typeface="Geist"/>
              </a:rPr>
              <a:t>14% of low-income households receive insurance compensation vs 24% of high-income.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" y="4398264"/>
            <a:ext cx="7388352" cy="1850290"/>
          </a:xfrm>
          <a:prstGeom prst="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journey_stri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434840"/>
            <a:ext cx="7315200" cy="177713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" y="6275986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30" b="0" i="1">
                <a:solidFill>
                  <a:srgbClr val="777589"/>
                </a:solidFill>
                <a:latin typeface="Geist"/>
              </a:rPr>
              <a:t>The claim journey we mapped in Jaipur — six institutions from FIR to payment; every hand-off manual today.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0" y="4398264"/>
            <a:ext cx="3319272" cy="1737360"/>
          </a:xfrm>
          <a:prstGeom prst="roundRect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03920" y="4398264"/>
            <a:ext cx="278892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205 claims filed vs ~25,000 eligible.</a:t>
            </a:r>
          </a:p>
          <a:p>
            <a:pPr algn="l">
              <a:lnSpc>
                <a:spcPct val="135000"/>
              </a:lnSpc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The pipeline, not the scheme, is the gap — so that is what we are fixing, office by office.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APPENDIX · JUSTICE UNSERVED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APPENDIX A5 · OPEN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The data commons, in numbers.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685800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12848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A1C1C"/>
                </a:solidFill>
                <a:latin typeface="Montserrat"/>
              </a:rPr>
              <a:t>National Road Defect 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231136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i="0">
                <a:solidFill>
                  <a:srgbClr val="4A35FF"/>
                </a:solidFill>
                <a:latin typeface="Geist"/>
              </a:rPr>
              <a:t>cfi-defect-repository.vercel.app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87168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i="0">
                <a:solidFill>
                  <a:srgbClr val="777589"/>
                </a:solidFill>
                <a:latin typeface="Geist"/>
              </a:rPr>
              <a:t>AI reads local-language news daily in 13 languages across 146 districts (Bihar, UP, Rajasthan); defects geocoded and clustered into ranked public hotspot maps with verbatim source evidence.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27248"/>
            <a:ext cx="685800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236976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A1C1C"/>
                </a:solidFill>
                <a:latin typeface="Montserrat"/>
              </a:rPr>
              <a:t>Road Safety in Parliament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3255264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i="0">
                <a:solidFill>
                  <a:srgbClr val="4A35FF"/>
                </a:solidFill>
                <a:latin typeface="Geist"/>
              </a:rPr>
              <a:t>road-safety-parliament.vercel.app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511296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i="0">
                <a:solidFill>
                  <a:srgbClr val="777589"/>
                </a:solidFill>
                <a:latin typeface="Geist"/>
              </a:rPr>
              <a:t>1,423 questions across 4 ministries since 2014; find-your-MP report cards; live session tracking; RTI Watch pairs it with CFI's Delhi MACT RTI campaign.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51376"/>
            <a:ext cx="685800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26110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A1C1C"/>
                </a:solidFill>
                <a:latin typeface="Montserrat"/>
              </a:rPr>
              <a:t>SC Litigation Tracker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4279392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i="0">
                <a:solidFill>
                  <a:srgbClr val="4A35FF"/>
                </a:solidFill>
                <a:latin typeface="Geist"/>
              </a:rPr>
              <a:t>sc-litigation-tracker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53542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i="0">
                <a:solidFill>
                  <a:srgbClr val="777589"/>
                </a:solidFill>
                <a:latin typeface="Geist"/>
              </a:rPr>
              <a:t>18 live cases, 190+ orders, 27 precedent judgments; an accountability ledger of Supreme Court directions with auto-flipping deadlines — 11 overdue at launch.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175504"/>
            <a:ext cx="685800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28523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A1C1C"/>
                </a:solidFill>
                <a:latin typeface="Montserrat"/>
              </a:rPr>
              <a:t>Crash Data 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530352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i="0">
                <a:solidFill>
                  <a:srgbClr val="4A35FF"/>
                </a:solidFill>
                <a:latin typeface="Geist"/>
              </a:rPr>
              <a:t>cfi-crash-dashboard.vercel.app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559552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i="0">
                <a:solidFill>
                  <a:srgbClr val="777589"/>
                </a:solidFill>
                <a:latin typeface="Geist"/>
              </a:rPr>
              <a:t>MoRTH's 266-page annual reports productised: 2019–2024 data, report cards for 36 states + 50 cities, 21 verified findings, CC-BY open license.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44383" y="2157984"/>
            <a:ext cx="3913632" cy="2632846"/>
          </a:xfrm>
          <a:prstGeom prst="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imp_p8_x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194560"/>
            <a:ext cx="3840480" cy="255969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680960" y="4845694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777589"/>
                </a:solidFill>
                <a:latin typeface="Geist"/>
              </a:rPr>
              <a:t>Live crash-data walkthrough at the NextMile finale — the dashboards in use.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263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777589"/>
                </a:solidFill>
                <a:latin typeface="Geist"/>
              </a:rPr>
              <a:t>All four platforms are self-updating cloud services — nothing depends on any one person's laptop.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APPENDIX · OPEN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APPENDIX A6 · YOUTH &amp; EDUCATION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NextMile's six policy tracks, and the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education assets that travel beyond campuses.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2514600" cy="38404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331720"/>
            <a:ext cx="229514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4A35FF"/>
                </a:solidFill>
                <a:latin typeface="Montserrat"/>
              </a:rPr>
              <a:t>Speed management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2331720"/>
            <a:ext cx="2514600" cy="38404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01568" y="2331720"/>
            <a:ext cx="229514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4A35FF"/>
                </a:solidFill>
                <a:latin typeface="Montserrat"/>
              </a:rPr>
              <a:t>Delivery-rider safety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331720"/>
            <a:ext cx="2514600" cy="38404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53328" y="2331720"/>
            <a:ext cx="229514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4A35FF"/>
                </a:solidFill>
                <a:latin typeface="Montserrat"/>
              </a:rPr>
              <a:t>Road-safety data transparency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807208"/>
            <a:ext cx="2514600" cy="38404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807208"/>
            <a:ext cx="229514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4A35FF"/>
                </a:solidFill>
                <a:latin typeface="Montserrat"/>
              </a:rPr>
              <a:t>Crash-claim compensation reform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807208"/>
            <a:ext cx="2514600" cy="38404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1568" y="2807208"/>
            <a:ext cx="229514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4A35FF"/>
                </a:solidFill>
                <a:latin typeface="Montserrat"/>
              </a:rPr>
              <a:t>Local blackspot identification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2807208"/>
            <a:ext cx="2514600" cy="38404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53328" y="2807208"/>
            <a:ext cx="229514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4A35FF"/>
                </a:solidFill>
                <a:latin typeface="Montserrat"/>
              </a:rPr>
              <a:t>On-road emergency protocols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3520440"/>
            <a:ext cx="365760" cy="365760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book-open_4A3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" y="3598164"/>
            <a:ext cx="210312" cy="2103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88720" y="3502152"/>
            <a:ext cx="6583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A1C1C"/>
                </a:solidFill>
                <a:latin typeface="Montserrat"/>
              </a:rPr>
              <a:t>'Know Your Rights with Aasha' comic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758184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80" b="0" i="0">
                <a:solidFill>
                  <a:srgbClr val="777589"/>
                </a:solidFill>
                <a:latin typeface="Geist"/>
              </a:rPr>
              <a:t>Three compensation pathways explained in comic form — Hit &amp; Run Scheme (₹2L), Section 164 no-fault (₹5L), Section 166 full claims.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4233672"/>
            <a:ext cx="365760" cy="365760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file-text_4A35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" y="4311396"/>
            <a:ext cx="210312" cy="21031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88720" y="4215384"/>
            <a:ext cx="6583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A1C1C"/>
                </a:solidFill>
                <a:latin typeface="Montserrat"/>
              </a:rPr>
              <a:t>Hindi crash-claim guides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471416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80" b="0" i="0">
                <a:solidFill>
                  <a:srgbClr val="777589"/>
                </a:solidFill>
                <a:latin typeface="Geist"/>
              </a:rPr>
              <a:t>4-step claim process, free DLSA legal aid, NALSA 15100, Cashless Treatment Scheme 2025 (₹1.5L / 7 days) — distributed at hospitals and police stations.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" y="4946904"/>
            <a:ext cx="365760" cy="365760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heart-pulse_4A35FF_256_2.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" y="5024628"/>
            <a:ext cx="210312" cy="21031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88720" y="4928616"/>
            <a:ext cx="6583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A1C1C"/>
                </a:solidFill>
                <a:latin typeface="Montserrat"/>
              </a:rPr>
              <a:t>Pre-Hospital Care Primer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184648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80" b="0" i="0">
                <a:solidFill>
                  <a:srgbClr val="777589"/>
                </a:solidFill>
                <a:latin typeface="Geist"/>
              </a:rPr>
              <a:t>Golden Hour, ERSS-112, ambulance benchmarks — India's emergency-response gaps mapped against global standards.</a:t>
            </a:r>
          </a:p>
        </p:txBody>
      </p:sp>
      <p:sp>
        <p:nvSpPr>
          <p:cNvPr id="30" name="Oval 29"/>
          <p:cNvSpPr/>
          <p:nvPr/>
        </p:nvSpPr>
        <p:spPr>
          <a:xfrm>
            <a:off x="640080" y="5660136"/>
            <a:ext cx="365760" cy="365760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presentation_4A35FF_256_2.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" y="5737860"/>
            <a:ext cx="210312" cy="21031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188720" y="5641848"/>
            <a:ext cx="6583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A1C1C"/>
                </a:solidFill>
                <a:latin typeface="Montserrat"/>
              </a:rPr>
              <a:t>Road Safety Dialogue Series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589788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80" b="0" i="0">
                <a:solidFill>
                  <a:srgbClr val="777589"/>
                </a:solidFill>
                <a:latin typeface="Geist"/>
              </a:rPr>
              <a:t>1,000+ participants across sessions with police, transport departments and professionals.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84464" y="2295144"/>
            <a:ext cx="3319272" cy="1899094"/>
          </a:xfrm>
          <a:prstGeom prst="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comp_image6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0" y="2331720"/>
            <a:ext cx="3246120" cy="182594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321040" y="4249102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30" b="0" i="1">
                <a:solidFill>
                  <a:srgbClr val="777589"/>
                </a:solidFill>
                <a:latin typeface="Geist"/>
              </a:rPr>
              <a:t>On stage at the National Road Safety Implementation Forum, IIT Delhi — April 2026.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84464" y="4261104"/>
            <a:ext cx="1352889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nextmile_p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1040" y="4297680"/>
            <a:ext cx="1279738" cy="20116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32104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30" b="0" i="1">
                <a:solidFill>
                  <a:srgbClr val="777589"/>
                </a:solidFill>
                <a:latin typeface="Geist"/>
              </a:rPr>
              <a:t>The NextMile newsletter.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APPENDIX · NEXTMILE &amp; EDUCATION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APPENDIX A7 · PRESS &amp; 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Where you may have read about us.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82296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304288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C1C"/>
                </a:solidFill>
                <a:latin typeface="Montserrat"/>
              </a:rPr>
              <a:t>'Justice Unserved'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2304288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777589"/>
                </a:solidFill>
                <a:latin typeface="Geist"/>
              </a:rPr>
              <a:t>Deccan Herald · Economic Times · Fortune India · IndiaSpend · Moneycontrol · Scroll.in · The Wire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90672"/>
            <a:ext cx="82296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2004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C1C"/>
                </a:solidFill>
                <a:latin typeface="Montserrat"/>
              </a:rPr>
              <a:t>MS Dhoni announcement (Apr 2026)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320040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777589"/>
                </a:solidFill>
                <a:latin typeface="Geist"/>
              </a:rPr>
              <a:t>Business Standard · The Tribune · The Wire (PTI) · Team-BHP · MediaBrief · Adgully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86784"/>
            <a:ext cx="82296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9651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C1C"/>
                </a:solidFill>
                <a:latin typeface="Montserrat"/>
              </a:rPr>
              <a:t>Launch coverage (Jun 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4096512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777589"/>
                </a:solidFill>
                <a:latin typeface="Geist"/>
              </a:rPr>
              <a:t>TheCSRUniverse · Team-BHP · Adgully · MediaInfoline — 'Cars24 launches Crashfree India to eliminate road fatalities by 2040'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82896"/>
            <a:ext cx="82296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99262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C1C"/>
                </a:solidFill>
                <a:latin typeface="Montserrat"/>
              </a:rPr>
              <a:t>Team bylines &amp; citations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499262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777589"/>
                </a:solidFill>
                <a:latin typeface="Geist"/>
              </a:rPr>
              <a:t>Scroll.in op-ed on underage-driving law (Shubham Kumar) · The Wire / IndiaSpend on gig-rider crash data (Aastha Shreeharsh)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560" y="2194560"/>
            <a:ext cx="1810512" cy="1810512"/>
          </a:xfrm>
          <a:prstGeom prst="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comp_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36" y="2231136"/>
            <a:ext cx="1737360" cy="173736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9052560" y="4133088"/>
            <a:ext cx="682620" cy="1435608"/>
          </a:xfrm>
          <a:prstGeom prst="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comp_image5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36" y="4169664"/>
            <a:ext cx="609468" cy="136245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052560" y="55961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i="1">
                <a:solidFill>
                  <a:srgbClr val="777589"/>
                </a:solidFill>
                <a:latin typeface="Geist"/>
              </a:rPr>
              <a:t>IndiaSpend citing CFI research, 2026.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806440"/>
            <a:ext cx="10881360" cy="502920"/>
          </a:xfrm>
          <a:prstGeom prst="roundRect">
            <a:avLst/>
          </a:prstGeom>
          <a:solidFill>
            <a:srgbClr val="4A35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806440"/>
            <a:ext cx="10332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crashfreeindia.org  ·  helpdesk@crashfreeindia.org  ·  WhatsApp +91 78380 59367  ·  Live dashboard: crashfreeindia.org/rakshak/dashboard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APPENDIX · PRESS &amp; CONTACT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