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jpg"/><Relationship Id="rId8" Type="http://schemas.openxmlformats.org/officeDocument/2006/relationships/image" Target="../media/image3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8.png"/><Relationship Id="rId5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1691640" cy="2337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24367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1" i="0" spc="160">
                <a:solidFill>
                  <a:srgbClr val="6E7180"/>
                </a:solidFill>
                <a:latin typeface="Montserrat"/>
              </a:rPr>
              <a:t>3 AUGUST 2026  ·  PREPARED FOR GOOGLE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17904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AN INTRODUCTION, AHEAD OF THE ROADS MANAGEMENT INSIGHTS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3664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6181D"/>
                </a:solidFill>
                <a:latin typeface="Montserrat"/>
              </a:rPr>
              <a:t>Crashfree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4A35FF"/>
                </a:solidFill>
                <a:latin typeface="Montserrat"/>
              </a:rPr>
              <a:t>We fix dangerous roads with students, experts</a:t>
            </a:r>
          </a:p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4A35FF"/>
                </a:solidFill>
                <a:latin typeface="Montserrat"/>
              </a:rPr>
              <a:t>and the authorities. Your data can tell us where.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4041648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map-pin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4129430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8992" y="4096512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18 cities  ·  31 sites audited  ·  25+ approvals in writing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553712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school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641494"/>
            <a:ext cx="190195" cy="1901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8992" y="4608576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Next: India's first School Safety Index — 2,000 school zones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506577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landmar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5153558"/>
            <a:ext cx="190195" cy="1901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" y="512064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Inside district road-safety committees in Gurugram &amp; Jaipur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557784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handshak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" y="5665622"/>
            <a:ext cx="190195" cy="190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8992" y="5632704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Backed by a 3-year, US$3M commitment from Cars24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2764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For Ravi Bhaskaran &amp; the Google Maps team  ·  arranged with Lepton 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7327" y="63276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crashfreeindia.org</a:t>
            </a:r>
          </a:p>
        </p:txBody>
      </p:sp>
      <p:pic>
        <p:nvPicPr>
          <p:cNvPr id="22" name="Picture 21" descr="ph_school_kids.jpg_3.60x5.15_0.3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1051560"/>
            <a:ext cx="3291840" cy="47091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321040" y="1051560"/>
            <a:ext cx="3291840" cy="470916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5248656"/>
            <a:ext cx="3291840" cy="512064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528523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spc="100">
                <a:solidFill>
                  <a:srgbClr val="FFFFFF"/>
                </a:solidFill>
                <a:latin typeface="Montserrat"/>
              </a:rPr>
              <a:t>SCHOOL ROAD-SAFETY PROGRAMME</a:t>
            </a:r>
          </a:p>
          <a:p>
            <a:pPr algn="ctr">
              <a:lnSpc>
                <a:spcPct val="115000"/>
              </a:lnSpc>
            </a:pPr>
            <a:r>
              <a:rPr sz="850" b="1" i="0" spc="100">
                <a:solidFill>
                  <a:srgbClr val="FFFFFF"/>
                </a:solidFill>
                <a:latin typeface="Montserrat"/>
              </a:rPr>
              <a:t>CRASHFREE INDIA,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15807" y="27432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00" b="1" i="0" spc="160">
                <a:solidFill>
                  <a:srgbClr val="6E7180"/>
                </a:solidFill>
                <a:latin typeface="Montserrat"/>
              </a:rPr>
              <a:t>GOOGLE MAPS  ×  CRASHFREE INDIA  · 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01 · WHO WE ARE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A young nonprofit that builds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capacity for road safety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Registered as the Vision Zero Trust · co-founded by Cars24 and the Indian Road Safety Council, June 2025.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1975104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landmar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062886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195681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With authorities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56816"/>
            <a:ext cx="3611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We work alongside PWDs, police and district administrations — never around them.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633472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bar-chart-3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2721254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261518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Evidence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15184"/>
            <a:ext cx="3611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Every audit anchored to IRC codes; every claim to published data.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329184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graduation-cap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3379622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32735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Students + experts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273552"/>
            <a:ext cx="3611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Trained student teams do the ground work, senior experts verify it.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3950208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glob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4037990"/>
            <a:ext cx="190195" cy="1901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39319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Public goods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931920"/>
            <a:ext cx="3611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Everything we build is published free for any authority to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8928"/>
            <a:ext cx="1627632" cy="1078992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23036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5687568"/>
            <a:ext cx="1371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cities with active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CFI 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59152" y="5138928"/>
            <a:ext cx="1627632" cy="1078992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7168" y="523036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5687568"/>
            <a:ext cx="1371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institutions — incl.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9 IITs — engaged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51376" y="5138928"/>
            <a:ext cx="1627632" cy="1078992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9392" y="523036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75+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5687568"/>
            <a:ext cx="1371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road-engineering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interns trained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5138928"/>
            <a:ext cx="1627632" cy="1078992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71616" y="523036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US$3M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71616" y="5687568"/>
            <a:ext cx="1371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Cars24 commitment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over three years</a:t>
            </a:r>
          </a:p>
        </p:txBody>
      </p:sp>
      <p:pic>
        <p:nvPicPr>
          <p:cNvPr id="36" name="Picture 35" descr="cfi_map_do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8388" y="1481328"/>
            <a:ext cx="2385663" cy="28346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68388" y="4361688"/>
            <a:ext cx="2385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CFI footprint — 18 cities across India</a:t>
            </a:r>
          </a:p>
        </p:txBody>
      </p:sp>
      <p:pic>
        <p:nvPicPr>
          <p:cNvPr id="38" name="Picture 37" descr="ph_meeting_official.jpg_4.05x1.55_0.3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4727448"/>
            <a:ext cx="3703320" cy="141732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7909560" y="4727448"/>
            <a:ext cx="3703320" cy="141732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566928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Introduction for the Google Maps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15807" y="27432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00" b="1" i="0" spc="160">
                <a:solidFill>
                  <a:srgbClr val="6E7180"/>
                </a:solidFill>
                <a:latin typeface="Montserrat"/>
              </a:rPr>
              <a:t>GOOGLE MAPS  ×  CRASHFREE INDIA  · 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Six public-facing programmes,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all running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One line on each — then this deck goes deep on the two where Google Maps data changes the game.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3602736" cy="2066543"/>
          </a:xfrm>
          <a:prstGeom prst="roundRect">
            <a:avLst>
              <a:gd name="adj" fmla="val 6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plementation_work.jpg_3.66x0.98_0.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066544"/>
            <a:ext cx="3346704" cy="8961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94944" y="2066544"/>
            <a:ext cx="3346704" cy="89611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017520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Project Rakshak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264408"/>
            <a:ext cx="3346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Student-audited, expert-verified road fixes — walked through authorities until built.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7307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6181D"/>
                </a:solidFill>
                <a:latin typeface="Montserrat"/>
              </a:rPr>
              <a:t>25+ approvals in writing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2252" y="1938528"/>
            <a:ext cx="3602736" cy="2066543"/>
          </a:xfrm>
          <a:prstGeom prst="roundRect">
            <a:avLst>
              <a:gd name="adj" fmla="val 6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ph_school_activity.jpg_3.66x0.98_0.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268" y="2066544"/>
            <a:ext cx="3346704" cy="89611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430268" y="2066544"/>
            <a:ext cx="3346704" cy="89611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0268" y="3017520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School Safety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0268" y="3264408"/>
            <a:ext cx="3346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India's first public index of school-zone road safety — in design, launching next.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0268" y="37307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6181D"/>
                </a:solidFill>
                <a:latin typeface="Montserrat"/>
              </a:rPr>
              <a:t>2,000 school zones planned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6" y="1938528"/>
            <a:ext cx="3602736" cy="2066543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satark_billboard.jpg_3.66x0.98_0.3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2066544"/>
            <a:ext cx="3346704" cy="89611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65592" y="2066544"/>
            <a:ext cx="3346704" cy="89611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017520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SATARK enforcement tech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3264408"/>
            <a:ext cx="3346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Camera + billboard tech that helps police target repeat violators fairly.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37307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6181D"/>
                </a:solidFill>
                <a:latin typeface="Montserrat"/>
              </a:rPr>
              <a:t>3,00,000+ vehicles scanned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206239"/>
            <a:ext cx="3602736" cy="2066543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ph_helpdesk_desk.jpg_3.66x0.98_0.3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334255"/>
            <a:ext cx="3346704" cy="89611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94944" y="4334255"/>
            <a:ext cx="3346704" cy="89611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285231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Victim support suite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5532119"/>
            <a:ext cx="3346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Aasha 24/7 chatbot, compensation calculator, hospital legal helpdesks.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5998463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6181D"/>
                </a:solidFill>
                <a:latin typeface="Montserrat"/>
              </a:rPr>
              <a:t>100+ victims in first 4 days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02252" y="4206239"/>
            <a:ext cx="3602736" cy="2066543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sctracker.png_3.66x0.98_0.3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0268" y="4334255"/>
            <a:ext cx="3346704" cy="89611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430268" y="4334255"/>
            <a:ext cx="3346704" cy="89611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0268" y="5285231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Open data public goods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0268" y="5532119"/>
            <a:ext cx="3346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SC litigation tracker, defect repository, Parliament tracker, crash dashboards.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0268" y="5998463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6181D"/>
                </a:solidFill>
                <a:latin typeface="Montserrat"/>
              </a:rPr>
              <a:t>146 districts · 13 languages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37576" y="4206239"/>
            <a:ext cx="3602736" cy="2066543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ph_ideathon_group.jpg_3.66x0.98_0.3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5592" y="4334255"/>
            <a:ext cx="3346704" cy="89611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165592" y="4334255"/>
            <a:ext cx="3346704" cy="89611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65592" y="5285231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Youth &amp; public campaigns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65592" y="5532119"/>
            <a:ext cx="3346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NextMile ideathon, dialogue series, MS Dhoni as Goodwill Ambassador.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5592" y="5998463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6181D"/>
                </a:solidFill>
                <a:latin typeface="Montserrat"/>
              </a:rPr>
              <a:t>2,000+ young participants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66928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Introduction for the Google Maps team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15807" y="27432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00" b="1" i="0" spc="160">
                <a:solidFill>
                  <a:srgbClr val="6E7180"/>
                </a:solidFill>
                <a:latin typeface="Montserrat"/>
              </a:rPr>
              <a:t>GOOGLE MAPS  ×  CRASHFREE INDIA  · 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03 · PROJECT RAKSHAK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Trained students audit dangerous roads — and we walk each fix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through the authority until it is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3602736" cy="1572768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1737360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users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8" y="1833920"/>
            <a:ext cx="209214" cy="2092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1773936"/>
            <a:ext cx="2734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Students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12848"/>
            <a:ext cx="32369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6E7180"/>
                </a:solidFill>
                <a:latin typeface="Geist"/>
              </a:rPr>
              <a:t>31 student audit teams from 20 institutions — including 9 IITs — survey sites on IRC codes and MoRTH checklists.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2252" y="1554480"/>
            <a:ext cx="3602736" cy="1572768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5132" y="1737360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badge-chec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692" y="1833920"/>
            <a:ext cx="209214" cy="209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15484" y="1773936"/>
            <a:ext cx="2734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Experts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5132" y="2212848"/>
            <a:ext cx="32369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6E7180"/>
                </a:solidFill>
                <a:latin typeface="Geist"/>
              </a:rPr>
              <a:t>Every audit reviewed by senior engineers, guided by Prof. Geetam Tiwari (IIT Delhi, IRC H-7).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6" y="1554480"/>
            <a:ext cx="3602736" cy="1572768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0456" y="1737360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hard-hat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016" y="1833920"/>
            <a:ext cx="209214" cy="20921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50808" y="1773936"/>
            <a:ext cx="2734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Authorities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212848"/>
            <a:ext cx="32369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6E7180"/>
                </a:solidFill>
                <a:latin typeface="Geist"/>
              </a:rPr>
              <a:t>Recommendations handed to the road-owning authority; CFI tracks every site from submission to completion.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43814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00">
                <a:solidFill>
                  <a:srgbClr val="4A35FF"/>
                </a:solidFill>
                <a:latin typeface="Montserrat"/>
              </a:rPr>
              <a:t>YEAR-ONE FUNNEL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730752"/>
            <a:ext cx="1700784" cy="1170432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822192"/>
            <a:ext cx="14447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120+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4279392"/>
            <a:ext cx="1444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sites screened</a:t>
            </a:r>
          </a:p>
        </p:txBody>
      </p:sp>
      <p:pic>
        <p:nvPicPr>
          <p:cNvPr id="26" name="Picture 25" descr="arrow-right_6E7180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288" y="4151376"/>
            <a:ext cx="237744" cy="23774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2578608" y="3730752"/>
            <a:ext cx="1700784" cy="1170432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6624" y="3822192"/>
            <a:ext cx="14447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6624" y="4279392"/>
            <a:ext cx="1444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audited — incl. 11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official blackspots</a:t>
            </a:r>
          </a:p>
        </p:txBody>
      </p:sp>
      <p:pic>
        <p:nvPicPr>
          <p:cNvPr id="30" name="Picture 29" descr="arrow-right_6E7180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4151376"/>
            <a:ext cx="237744" cy="23774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4590288" y="3730752"/>
            <a:ext cx="1700784" cy="1170432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8304" y="3822192"/>
            <a:ext cx="14447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8304" y="4279392"/>
            <a:ext cx="1444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approvals from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authorities, in writing</a:t>
            </a:r>
          </a:p>
        </p:txBody>
      </p:sp>
      <p:pic>
        <p:nvPicPr>
          <p:cNvPr id="34" name="Picture 33" descr="arrow-right_6E7180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4151376"/>
            <a:ext cx="237744" cy="237744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6601968" y="3730752"/>
            <a:ext cx="1700784" cy="1170432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9984" y="3822192"/>
            <a:ext cx="14447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4" y="4279392"/>
            <a:ext cx="1444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implementations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underway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065776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6E7180"/>
                </a:solidFill>
                <a:latin typeface="Geist"/>
              </a:rPr>
              <a:t>Global evidence: low-cost engineering fixes of this kind</a:t>
            </a:r>
          </a:p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6E7180"/>
                </a:solidFill>
                <a:latin typeface="Geist"/>
              </a:rPr>
              <a:t>cut crashes 20–50% at treated sites (iRAP / World Bank).</a:t>
            </a:r>
          </a:p>
        </p:txBody>
      </p:sp>
      <p:pic>
        <p:nvPicPr>
          <p:cNvPr id="39" name="Picture 38" descr="guntur_junction.jpg_3.34x2.42_0.4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928" y="3456432"/>
            <a:ext cx="3056839" cy="2212848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567928" y="3456432"/>
            <a:ext cx="3056839" cy="2212848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7928" y="5715000"/>
            <a:ext cx="30568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Guntur junction — audited, approved, redesigned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566928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Introduction for the Google Maps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15807" y="27432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00" b="1" i="0" spc="160">
                <a:solidFill>
                  <a:srgbClr val="6E7180"/>
                </a:solidFill>
                <a:latin typeface="Montserrat"/>
              </a:rPr>
              <a:t>GOOGLE MAPS  ×  CRASHFREE INDIA  · 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03 · PROJECT RAKSHAK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Authorities are building our fixes.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What we cannot yet measure is the after.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9961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00">
                <a:solidFill>
                  <a:srgbClr val="4A35FF"/>
                </a:solidFill>
                <a:latin typeface="Montserrat"/>
              </a:rPr>
              <a:t>APPROVALS IN WRITING, FROM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92224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792224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PWD Kerala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2656" y="1792224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1792224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PWD Uttar Pradesh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249424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2249424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PWD Punjab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62656" y="2249424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2249424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CPWD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706624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706624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R&amp;B Andhra Pradesh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62656" y="2706624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80944" y="2706624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GCC Chennai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163824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3163824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ADDA Durgapur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62656" y="3163824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80944" y="3163824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Addl. Collector, Indore</a:t>
            </a:r>
          </a:p>
        </p:txBody>
      </p:sp>
      <p:pic>
        <p:nvPicPr>
          <p:cNvPr id="24" name="Picture 23" descr="iv_indore_footpath.png_1.66x1.28_0.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67328"/>
            <a:ext cx="1517904" cy="117043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66928" y="3767328"/>
            <a:ext cx="1517904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iv_guntur_markings.png_1.66x1.28_0.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767328"/>
            <a:ext cx="1517904" cy="117043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194560" y="3767328"/>
            <a:ext cx="1517904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v_durgapur_parking.png_1.66x1.28_0.4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3767328"/>
            <a:ext cx="1517904" cy="117043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822192" y="3767328"/>
            <a:ext cx="1517904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992624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Built interventions — footpaths, markings, parking, signage, drainage</a:t>
            </a:r>
          </a:p>
        </p:txBody>
      </p:sp>
      <p:pic>
        <p:nvPicPr>
          <p:cNvPr id="31" name="Picture 30" descr="rakshak_dashboard_full.png_4.10x4.62_0.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517904"/>
            <a:ext cx="3749039" cy="4224528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40680" y="1517904"/>
            <a:ext cx="3749039" cy="4224528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5788152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Every site tracked in public — submission to completion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19" y="1517904"/>
            <a:ext cx="2206448" cy="4498848"/>
          </a:xfrm>
          <a:prstGeom prst="roundRect">
            <a:avLst>
              <a:gd name="adj" fmla="val 8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19487" y="1737360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search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047" y="1833920"/>
            <a:ext cx="209214" cy="20921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619487" y="2304288"/>
            <a:ext cx="1804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6181D"/>
                </a:solidFill>
                <a:latin typeface="Montserrat"/>
              </a:rPr>
              <a:t>The missing layer:</a:t>
            </a:r>
          </a:p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6181D"/>
                </a:solidFill>
                <a:latin typeface="Montserrat"/>
              </a:rPr>
              <a:t>measurement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9487" y="3108960"/>
            <a:ext cx="1804112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16181D"/>
                </a:solidFill>
                <a:latin typeface="Geist"/>
              </a:rPr>
              <a:t>We know what was built. We cannot yet see, at network scale, what changed —</a:t>
            </a:r>
          </a:p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16181D"/>
                </a:solidFill>
                <a:latin typeface="Geis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16181D"/>
                </a:solidFill>
                <a:latin typeface="Geist"/>
              </a:rPr>
              <a:t>vehicle speeds before and after each fix, exposure around each site, risk on the corridors we haven't audited yet.</a:t>
            </a:r>
          </a:p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16181D"/>
                </a:solidFill>
                <a:latin typeface="Geis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16181D"/>
                </a:solidFill>
                <a:latin typeface="Geist"/>
              </a:rPr>
              <a:t>That is exactly the data Roads Management Insights holds.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566928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Introduction for the Google Maps team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15807" y="27432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00" b="1" i="0" spc="160">
                <a:solidFill>
                  <a:srgbClr val="6E7180"/>
                </a:solidFill>
                <a:latin typeface="Montserrat"/>
              </a:rPr>
              <a:t>GOOGLE MAPS  ×  CRASHFREE INDIA  · 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04 · SCHOOL SAFETY INDEX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Next build: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India's first School Safety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In design now — a public, district-wise score of how safe the road outside every school actually is.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195681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clipboard-chec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044598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19385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A standard rubric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38528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19" b="0" i="0">
                <a:solidFill>
                  <a:srgbClr val="6E7180"/>
                </a:solidFill>
                <a:latin typeface="Geist"/>
              </a:rPr>
              <a:t>44 scored checks across 13 sections, aligned to IRC:SP:32-2023 — the same standard authorities use.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59689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users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2684678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25786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Scaled by 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78608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19" b="0" i="0">
                <a:solidFill>
                  <a:srgbClr val="6E7180"/>
                </a:solidFill>
                <a:latin typeface="Geist"/>
              </a:rPr>
              <a:t>College audit teams and trained Zone Captains — the Rakshak model, pointed at school zones.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323697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map-pin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3324758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32186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2,000 school zones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218688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19" b="0" i="0">
                <a:solidFill>
                  <a:srgbClr val="6E7180"/>
                </a:solidFill>
                <a:latin typeface="Geist"/>
              </a:rPr>
              <a:t>Across 15+ cities in the first wave; every score public, every gap actionable by the district.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387705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trending-up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3964838"/>
            <a:ext cx="190195" cy="1901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385876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Built to rank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58768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19" b="0" i="0">
                <a:solidFill>
                  <a:srgbClr val="6E7180"/>
                </a:solidFill>
                <a:latin typeface="Geist"/>
              </a:rPr>
              <a:t>Districts compete to climb; parents and authorities see the same number.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45152"/>
            <a:ext cx="6720840" cy="969264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4791456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base_E58900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" y="4879238"/>
            <a:ext cx="190195" cy="19019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25296" y="4773168"/>
            <a:ext cx="5943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16181D"/>
                </a:solidFill>
                <a:latin typeface="Geist"/>
              </a:rPr>
              <a:t>The hard part is not the checklist — it is speed and exposure data around 2,000 schools.</a:t>
            </a:r>
          </a:p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16181D"/>
                </a:solidFill>
                <a:latin typeface="Geist"/>
              </a:rPr>
              <a:t>Collecting it manually is slow and patchy. Maps data makes it systematic.</a:t>
            </a:r>
          </a:p>
        </p:txBody>
      </p:sp>
      <p:pic>
        <p:nvPicPr>
          <p:cNvPr id="28" name="Picture 27" descr="ph_street_outreach.jpg_3.95x2.50_0.3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1938528"/>
            <a:ext cx="3611880" cy="2286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001000" y="1938528"/>
            <a:ext cx="3611880" cy="228600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ph_school_activity.jpg_3.95x2.20_0.3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352544"/>
            <a:ext cx="3611880" cy="201168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8001000" y="4352544"/>
            <a:ext cx="3611880" cy="201168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6409944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CFI school programmes — Road Safety Month 2026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566928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Introduction for the Google Maps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15807" y="27432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00" b="1" i="0" spc="160">
                <a:solidFill>
                  <a:srgbClr val="6E7180"/>
                </a:solidFill>
                <a:latin typeface="Montserrat"/>
              </a:rPr>
              <a:t>GOOGLE MAPS  ×  CRASHFREE INDIA  · 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05 · WHERE GOOGLE MAPS FITS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Four places your data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plugs straight into our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Roads Management Insights is live in India. Here is what it unlocks, programme by programme.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75104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157984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crosshair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8" y="2263322"/>
            <a:ext cx="228234" cy="2282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35024" y="21031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Prioritise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2432304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40" b="0" i="0">
                <a:solidFill>
                  <a:srgbClr val="16181D"/>
                </a:solidFill>
                <a:latin typeface="Geist"/>
              </a:rPr>
              <a:t>RMI segment speeds &amp; risk insights → choose the next 100 Rakshak sites by evidence, not anecdote.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93047" y="2212848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11335" y="2212848"/>
            <a:ext cx="21579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PROJECT RAKSHAK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907792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090672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school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8" y="3196010"/>
            <a:ext cx="228234" cy="2282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35024" y="30358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364992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40" b="0" i="0">
                <a:solidFill>
                  <a:srgbClr val="16181D"/>
                </a:solidFill>
                <a:latin typeface="Geist"/>
              </a:rPr>
              <a:t>Speed and exposure layers around schools → the data backbone of the School Safety Index, 2,000 zones at once.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3047" y="3145536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1335" y="3145536"/>
            <a:ext cx="21579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SCHOOL SAFETY INDEX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023360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line-chart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58" y="4128698"/>
            <a:ext cx="228234" cy="22823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35024" y="396849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9768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40" b="0" i="0">
                <a:solidFill>
                  <a:srgbClr val="16181D"/>
                </a:solidFill>
                <a:latin typeface="Geist"/>
              </a:rPr>
              <a:t>Before-and-after speeds at treated sites → India's first measured evidence base for low-cost road fixes.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3047" y="4078224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11335" y="4078224"/>
            <a:ext cx="21579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IMPACT EVALUATION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773168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4956048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glob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58" y="5061386"/>
            <a:ext cx="228234" cy="22823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35024" y="490118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Publish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5230368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40" b="0" i="0">
                <a:solidFill>
                  <a:srgbClr val="16181D"/>
                </a:solidFill>
                <a:latin typeface="Geist"/>
              </a:rPr>
              <a:t>Verified school zones &amp; audit findings back to Google → ground truth for accident-prone alerts, beyond 4 cities.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93047" y="501091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1335" y="5010912"/>
            <a:ext cx="21579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OPEN DATA — BOTH WAYS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74243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1">
                <a:solidFill>
                  <a:srgbClr val="6E7180"/>
                </a:solidFill>
                <a:latin typeface="Geist"/>
              </a:rPr>
              <a:t>Precedent: Google.org already funds iRAP's Star Rating for Schools with US$2M — deployed in Vietnam. India has no lead partner yet.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66928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Introduction for the Google Maps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15807" y="27432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00" b="1" i="0" spc="160">
                <a:solidFill>
                  <a:srgbClr val="6E7180"/>
                </a:solidFill>
                <a:latin typeface="Montserrat"/>
              </a:rPr>
              <a:t>GOOGLE MAPS  ×  CRASHFREE INDIA  · 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06 · WHY CRASHFREE INDIA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RMI serves governments.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We already sit inside the government machinery.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1755648"/>
            <a:ext cx="402336" cy="402336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landmark_0A9955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8" y="1852208"/>
            <a:ext cx="209214" cy="2092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8448" y="17922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District machinery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6E7180"/>
                </a:solidFill>
                <a:latin typeface="Geist"/>
              </a:rPr>
              <a:t>Formal member of 4 District Road Safety Committees — Gurugram, SW Delhi, NW Delhi, Jaipur. MoUs with Jaipur Traffic Police and Gurugram Police.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5916" y="1572768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68796" y="1755648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file-text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356" y="1852208"/>
            <a:ext cx="209214" cy="209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17436" y="17922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Authority 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6" y="2176272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6E7180"/>
                </a:solidFill>
                <a:latin typeface="Geist"/>
              </a:rPr>
              <a:t>Written approvals from 8 road-owning authorities across 6 states — we know how files move, and how to move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00400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383280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graduation-cap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8" y="3479840"/>
            <a:ext cx="209214" cy="20921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98448" y="34198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Academic bench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803904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6E7180"/>
                </a:solidFill>
                <a:latin typeface="Geist"/>
              </a:rPr>
              <a:t>Prof. Geetam Tiwari (IRC H-7) and experts from 9 IITs verify our work — credibility your government clients recognise.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3200400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8796" y="3383280"/>
            <a:ext cx="402336" cy="402336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handshake_0A9955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356" y="3479840"/>
            <a:ext cx="209214" cy="2092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17436" y="34198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Corporate stability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803904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80" b="0" i="0">
                <a:solidFill>
                  <a:srgbClr val="6E7180"/>
                </a:solidFill>
                <a:latin typeface="Geist"/>
              </a:rPr>
              <a:t>Cars24's 3-year US$3M commitment and MS Dhoni as Goodwill Ambassador — a partner built to last, not a pilot NGO.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809744"/>
            <a:ext cx="11057839" cy="713232"/>
          </a:xfrm>
          <a:prstGeom prst="roundRect">
            <a:avLst>
              <a:gd name="adj" fmla="val 12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809744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Your Nov 2025 safety launch covers Gurugram and Jaipur.  </a:t>
            </a:r>
            <a:r>
              <a:rPr sz="1200" b="1" i="0">
                <a:solidFill>
                  <a:srgbClr val="4A35FF"/>
                </a:solidFill>
                <a:latin typeface="Montserrat"/>
              </a:rPr>
              <a:t>Those are the two districts where we hold committee seats and police MoUs.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566928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Introduction for the Google Maps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15807" y="27432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00" b="1" i="0" spc="160">
                <a:solidFill>
                  <a:srgbClr val="6E7180"/>
                </a:solidFill>
                <a:latin typeface="Montserrat"/>
              </a:rPr>
              <a:t>GOOGLE MAPS  ×  CRASHFREE INDIA  · 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07 · WORKING TOGETHER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Three concrete ways to start —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smallest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3602736" cy="2651760"/>
          </a:xfrm>
          <a:prstGeom prst="roundRect">
            <a:avLst>
              <a:gd name="adj" fmla="val 7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3602736" cy="64008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92224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812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547872" y="1792224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map-pin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821" y="1893173"/>
            <a:ext cx="218724" cy="2187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8" y="2359152"/>
            <a:ext cx="323697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6181D"/>
                </a:solidFill>
                <a:latin typeface="Montserrat"/>
              </a:rPr>
              <a:t>Pilot where we overlap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44368"/>
            <a:ext cx="3236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80" b="0" i="0">
                <a:solidFill>
                  <a:srgbClr val="6E7180"/>
                </a:solidFill>
                <a:latin typeface="Geist"/>
              </a:rPr>
              <a:t>Gurugram or Jaipur: RMI data + Rakshak audits + our DRSC seat. One city, 90 days, results presented to the district committee.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76732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767328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START: 90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2252" y="1572768"/>
            <a:ext cx="3602736" cy="2651760"/>
          </a:xfrm>
          <a:prstGeom prst="roundRect">
            <a:avLst>
              <a:gd name="adj" fmla="val 7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2252" y="1572768"/>
            <a:ext cx="3602736" cy="64008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5132" y="1792224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5132" y="17812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7283196" y="1792224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school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145" y="1893173"/>
            <a:ext cx="218724" cy="2187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85132" y="2359152"/>
            <a:ext cx="323697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6181D"/>
                </a:solidFill>
                <a:latin typeface="Montserrat"/>
              </a:rPr>
              <a:t>School Safety Index partnership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5132" y="2944368"/>
            <a:ext cx="3236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80" b="0" i="0">
                <a:solidFill>
                  <a:srgbClr val="6E7180"/>
                </a:solidFill>
                <a:latin typeface="Geist"/>
              </a:rPr>
              <a:t>Co-design the SSI data layer — RMI speeds &amp; exposure as scoring inputs for the first 2,000 school zones. India's answer to Star Rating for Schools.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5132" y="376732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3420" y="3767328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START: WITH SSI WAVE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7576" y="1572768"/>
            <a:ext cx="3602736" cy="2651760"/>
          </a:xfrm>
          <a:prstGeom prst="roundRect">
            <a:avLst>
              <a:gd name="adj" fmla="val 7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37576" y="1572768"/>
            <a:ext cx="3602736" cy="64008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0456" y="1792224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17812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11018520" y="1792224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line-chart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469" y="1893173"/>
            <a:ext cx="218724" cy="21872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20456" y="2359152"/>
            <a:ext cx="323697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6181D"/>
                </a:solidFill>
                <a:latin typeface="Montserrat"/>
              </a:rPr>
              <a:t>Joint impact study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2944368"/>
            <a:ext cx="3236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80" b="0" i="0">
                <a:solidFill>
                  <a:srgbClr val="6E7180"/>
                </a:solidFill>
                <a:latin typeface="Geist"/>
              </a:rPr>
              <a:t>Before-and-after evaluation of implemented Rakshak fixes using RMI — published openly, first-of-its-kind evidence for India.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0456" y="376732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8744" y="3767328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START: 15 LIVE SITES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425696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00">
                <a:solidFill>
                  <a:srgbClr val="0A9955"/>
                </a:solidFill>
                <a:latin typeface="Montserrat"/>
              </a:rPr>
              <a:t>WE BRING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681728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Ground teams in 18 cities · government access &amp; committee seats · IIT-verified method · open publication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442569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00">
                <a:solidFill>
                  <a:srgbClr val="4A35FF"/>
                </a:solidFill>
                <a:latin typeface="Montserrat"/>
              </a:rPr>
              <a:t>WE 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468172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RMI data access for one pilot geography · a working session with the Lepton + Maps team to scope it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566928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Introduction for the Google Maps 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1691640" cy="2337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103120"/>
            <a:ext cx="10881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Montserrat"/>
              </a:rPr>
              <a:t>Your maps see every road in India.</a:t>
            </a:r>
          </a:p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Montserrat"/>
              </a:rPr>
              <a:t>Together, they can start fixing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703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8C0FF"/>
                </a:solidFill>
                <a:latin typeface="Geist"/>
              </a:rPr>
              <a:t>Thank you — we look forward to the Roads Management Insights showcase.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4572000"/>
            <a:ext cx="5943600" cy="0"/>
          </a:xfrm>
          <a:prstGeom prst="line">
            <a:avLst/>
          </a:prstGeom>
          <a:ln w="12700">
            <a:solidFill>
              <a:srgbClr val="C8C0FF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66928" y="48463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Akhtar Hussain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12064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Mission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358384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akhtar@crashfreeindia.org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48463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Deepanshu Gupta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512064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Trustee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5358384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deepanshu@crashfreeindia.org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48463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Gajendra Jangid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512064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Trustee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5358384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gajendra@crashfreeindia.org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09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i="0">
                <a:solidFill>
                  <a:srgbClr val="FFFFFF"/>
                </a:solidFill>
                <a:latin typeface="Montserrat"/>
              </a:rPr>
              <a:t>crashfreeindia.org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7487" y="63093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0" i="0">
                <a:solidFill>
                  <a:srgbClr val="C8C0FF"/>
                </a:solidFill>
                <a:latin typeface="Geist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