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27.jpg"/><Relationship Id="rId4" Type="http://schemas.openxmlformats.org/officeDocument/2006/relationships/image" Target="../media/image28.jpg"/><Relationship Id="rId5" Type="http://schemas.openxmlformats.org/officeDocument/2006/relationships/image" Target="../media/image29.jpg"/><Relationship Id="rId6" Type="http://schemas.openxmlformats.org/officeDocument/2006/relationships/image" Target="../media/image30.jpg"/><Relationship Id="rId7" Type="http://schemas.openxmlformats.org/officeDocument/2006/relationships/image" Target="../media/image3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40.png"/><Relationship Id="rId11" Type="http://schemas.openxmlformats.org/officeDocument/2006/relationships/image" Target="../media/image4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jpg"/><Relationship Id="rId9" Type="http://schemas.openxmlformats.org/officeDocument/2006/relationships/image" Target="../media/image5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image" Target="../media/image57.jp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jpg"/><Relationship Id="rId3" Type="http://schemas.openxmlformats.org/officeDocument/2006/relationships/image" Target="../media/image62.jpg"/><Relationship Id="rId4" Type="http://schemas.openxmlformats.org/officeDocument/2006/relationships/image" Target="../media/image63.jpg"/><Relationship Id="rId5" Type="http://schemas.openxmlformats.org/officeDocument/2006/relationships/image" Target="../media/image64.jpg"/><Relationship Id="rId6" Type="http://schemas.openxmlformats.org/officeDocument/2006/relationships/image" Target="../media/image6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jpg"/><Relationship Id="rId3" Type="http://schemas.openxmlformats.org/officeDocument/2006/relationships/image" Target="../media/image67.jpg"/><Relationship Id="rId4" Type="http://schemas.openxmlformats.org/officeDocument/2006/relationships/image" Target="../media/image68.jpg"/><Relationship Id="rId5" Type="http://schemas.openxmlformats.org/officeDocument/2006/relationships/image" Target="../media/image6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image" Target="../media/image74.png"/><Relationship Id="rId7" Type="http://schemas.openxmlformats.org/officeDocument/2006/relationships/image" Target="../media/image75.png"/><Relationship Id="rId8" Type="http://schemas.openxmlformats.org/officeDocument/2006/relationships/image" Target="../media/image76.png"/><Relationship Id="rId9" Type="http://schemas.openxmlformats.org/officeDocument/2006/relationships/image" Target="../media/image77.png"/><Relationship Id="rId10" Type="http://schemas.openxmlformats.org/officeDocument/2006/relationships/image" Target="../media/image78.png"/><Relationship Id="rId11" Type="http://schemas.openxmlformats.org/officeDocument/2006/relationships/image" Target="../media/image79.png"/><Relationship Id="rId12" Type="http://schemas.openxmlformats.org/officeDocument/2006/relationships/image" Target="../media/image80.png"/><Relationship Id="rId13" Type="http://schemas.openxmlformats.org/officeDocument/2006/relationships/image" Target="../media/image81.png"/><Relationship Id="rId14" Type="http://schemas.openxmlformats.org/officeDocument/2006/relationships/image" Target="../media/image82.png"/><Relationship Id="rId15" Type="http://schemas.openxmlformats.org/officeDocument/2006/relationships/image" Target="../media/image83.png"/><Relationship Id="rId16" Type="http://schemas.openxmlformats.org/officeDocument/2006/relationships/image" Target="../media/image84.png"/><Relationship Id="rId17" Type="http://schemas.openxmlformats.org/officeDocument/2006/relationships/image" Target="../media/image85.png"/><Relationship Id="rId18" Type="http://schemas.openxmlformats.org/officeDocument/2006/relationships/image" Target="../media/image86.png"/><Relationship Id="rId19" Type="http://schemas.openxmlformats.org/officeDocument/2006/relationships/image" Target="../media/image87.png"/><Relationship Id="rId20" Type="http://schemas.openxmlformats.org/officeDocument/2006/relationships/image" Target="../media/image88.png"/><Relationship Id="rId21" Type="http://schemas.openxmlformats.org/officeDocument/2006/relationships/image" Target="../media/image89.png"/><Relationship Id="rId22" Type="http://schemas.openxmlformats.org/officeDocument/2006/relationships/image" Target="../media/image90.png"/><Relationship Id="rId23" Type="http://schemas.openxmlformats.org/officeDocument/2006/relationships/image" Target="../media/image91.png"/><Relationship Id="rId24" Type="http://schemas.openxmlformats.org/officeDocument/2006/relationships/image" Target="../media/image92.png"/><Relationship Id="rId25" Type="http://schemas.openxmlformats.org/officeDocument/2006/relationships/image" Target="../media/image9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 Id="rId3" Type="http://schemas.openxmlformats.org/officeDocument/2006/relationships/image" Target="../media/image95.png"/><Relationship Id="rId4" Type="http://schemas.openxmlformats.org/officeDocument/2006/relationships/image" Target="../media/image96.png"/><Relationship Id="rId5" Type="http://schemas.openxmlformats.org/officeDocument/2006/relationships/image" Target="../media/image97.png"/><Relationship Id="rId6" Type="http://schemas.openxmlformats.org/officeDocument/2006/relationships/image" Target="../media/image98.png"/><Relationship Id="rId7" Type="http://schemas.openxmlformats.org/officeDocument/2006/relationships/image" Target="../media/image99.png"/><Relationship Id="rId8" Type="http://schemas.openxmlformats.org/officeDocument/2006/relationships/image" Target="../media/image100.png"/><Relationship Id="rId9" Type="http://schemas.openxmlformats.org/officeDocument/2006/relationships/image" Target="../media/image101.png"/><Relationship Id="rId10" Type="http://schemas.openxmlformats.org/officeDocument/2006/relationships/image" Target="../media/image102.png"/><Relationship Id="rId11" Type="http://schemas.openxmlformats.org/officeDocument/2006/relationships/image" Target="../media/image103.png"/><Relationship Id="rId12" Type="http://schemas.openxmlformats.org/officeDocument/2006/relationships/image" Target="../media/image104.png"/><Relationship Id="rId13" Type="http://schemas.openxmlformats.org/officeDocument/2006/relationships/image" Target="../media/image105.png"/><Relationship Id="rId14" Type="http://schemas.openxmlformats.org/officeDocument/2006/relationships/image" Target="../media/image10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07.png"/><Relationship Id="rId4" Type="http://schemas.openxmlformats.org/officeDocument/2006/relationships/image" Target="../media/image108.png"/><Relationship Id="rId5" Type="http://schemas.openxmlformats.org/officeDocument/2006/relationships/image" Target="../media/image23.png"/><Relationship Id="rId6" Type="http://schemas.openxmlformats.org/officeDocument/2006/relationships/image" Target="../media/image109.png"/><Relationship Id="rId7" Type="http://schemas.openxmlformats.org/officeDocument/2006/relationships/image" Target="../media/image110.png"/><Relationship Id="rId8" Type="http://schemas.openxmlformats.org/officeDocument/2006/relationships/image" Target="../media/image111.png"/><Relationship Id="rId9" Type="http://schemas.openxmlformats.org/officeDocument/2006/relationships/image" Target="../media/image112.png"/><Relationship Id="rId10" Type="http://schemas.openxmlformats.org/officeDocument/2006/relationships/image" Target="../media/image113.png"/><Relationship Id="rId11" Type="http://schemas.openxmlformats.org/officeDocument/2006/relationships/image" Target="../media/image114.png"/><Relationship Id="rId12" Type="http://schemas.openxmlformats.org/officeDocument/2006/relationships/image" Target="../media/image115.png"/><Relationship Id="rId1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6.jpg"/><Relationship Id="rId3" Type="http://schemas.openxmlformats.org/officeDocument/2006/relationships/image" Target="../media/image2.png"/><Relationship Id="rId4" Type="http://schemas.openxmlformats.org/officeDocument/2006/relationships/image" Target="../media/image117.jpg"/><Relationship Id="rId5" Type="http://schemas.openxmlformats.org/officeDocument/2006/relationships/image" Target="../media/image118.png"/><Relationship Id="rId6" Type="http://schemas.openxmlformats.org/officeDocument/2006/relationships/image" Target="../media/image119.jpg"/><Relationship Id="rId7" Type="http://schemas.openxmlformats.org/officeDocument/2006/relationships/image" Target="../media/image1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image" Target="../media/image125.jpg"/><Relationship Id="rId6" Type="http://schemas.openxmlformats.org/officeDocument/2006/relationships/image" Target="../media/image126.jpg"/><Relationship Id="rId7" Type="http://schemas.openxmlformats.org/officeDocument/2006/relationships/image" Target="../media/image127.jpg"/><Relationship Id="rId8" Type="http://schemas.openxmlformats.org/officeDocument/2006/relationships/image" Target="../media/image71.png"/><Relationship Id="rId9" Type="http://schemas.openxmlformats.org/officeDocument/2006/relationships/image" Target="../media/image70.png"/><Relationship Id="rId10" Type="http://schemas.openxmlformats.org/officeDocument/2006/relationships/image" Target="../media/image72.png"/><Relationship Id="rId11" Type="http://schemas.openxmlformats.org/officeDocument/2006/relationships/image" Target="../media/image7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jpg"/><Relationship Id="rId3" Type="http://schemas.openxmlformats.org/officeDocument/2006/relationships/image" Target="../media/image129.jpg"/><Relationship Id="rId4" Type="http://schemas.openxmlformats.org/officeDocument/2006/relationships/image" Target="../media/image130.jpg"/><Relationship Id="rId5" Type="http://schemas.openxmlformats.org/officeDocument/2006/relationships/image" Target="../media/image13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2.jp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6.png"/><Relationship Id="rId3" Type="http://schemas.openxmlformats.org/officeDocument/2006/relationships/image" Target="../media/image137.png"/><Relationship Id="rId4" Type="http://schemas.openxmlformats.org/officeDocument/2006/relationships/image" Target="../media/image138.png"/><Relationship Id="rId5" Type="http://schemas.openxmlformats.org/officeDocument/2006/relationships/image" Target="../media/image139.png"/><Relationship Id="rId6" Type="http://schemas.openxmlformats.org/officeDocument/2006/relationships/image" Target="../media/image140.jpg"/><Relationship Id="rId7" Type="http://schemas.openxmlformats.org/officeDocument/2006/relationships/image" Target="../media/image14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7.png"/><Relationship Id="rId3" Type="http://schemas.openxmlformats.org/officeDocument/2006/relationships/image" Target="../media/image148.png"/><Relationship Id="rId4" Type="http://schemas.openxmlformats.org/officeDocument/2006/relationships/image" Target="../media/image14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logo_blue.png"/>
          <p:cNvPicPr>
            <a:picLocks noChangeAspect="1"/>
          </p:cNvPicPr>
          <p:nvPr/>
        </p:nvPicPr>
        <p:blipFill>
          <a:blip r:embed="rId2"/>
          <a:stretch>
            <a:fillRect/>
          </a:stretch>
        </p:blipFill>
        <p:spPr>
          <a:xfrm>
            <a:off x="566928" y="457200"/>
            <a:ext cx="1691640" cy="233757"/>
          </a:xfrm>
          <a:prstGeom prst="rect">
            <a:avLst/>
          </a:prstGeom>
        </p:spPr>
      </p:pic>
      <p:sp>
        <p:nvSpPr>
          <p:cNvPr id="4" name="TextBox 3"/>
          <p:cNvSpPr txBox="1"/>
          <p:nvPr/>
        </p:nvSpPr>
        <p:spPr>
          <a:xfrm>
            <a:off x="8424367" y="502920"/>
            <a:ext cx="3200400" cy="274320"/>
          </a:xfrm>
          <a:prstGeom prst="rect">
            <a:avLst/>
          </a:prstGeom>
          <a:noFill/>
        </p:spPr>
        <p:txBody>
          <a:bodyPr wrap="square" lIns="0" rIns="0" tIns="0" bIns="0" anchor="t">
            <a:spAutoFit/>
          </a:bodyPr>
          <a:lstStyle/>
          <a:p>
            <a:pPr algn="r">
              <a:lnSpc>
                <a:spcPct val="128000"/>
              </a:lnSpc>
            </a:pPr>
            <a:r>
              <a:rPr sz="900" b="1" i="0" spc="180">
                <a:solidFill>
                  <a:srgbClr val="6E7180"/>
                </a:solidFill>
                <a:latin typeface="Montserrat"/>
              </a:rPr>
              <a:t>AUGUST 2026  ·  NEW DELHI</a:t>
            </a:r>
          </a:p>
        </p:txBody>
      </p:sp>
      <p:sp>
        <p:nvSpPr>
          <p:cNvPr id="5" name="TextBox 4"/>
          <p:cNvSpPr txBox="1"/>
          <p:nvPr/>
        </p:nvSpPr>
        <p:spPr>
          <a:xfrm>
            <a:off x="566928" y="1572768"/>
            <a:ext cx="7498079" cy="274320"/>
          </a:xfrm>
          <a:prstGeom prst="rect">
            <a:avLst/>
          </a:prstGeom>
          <a:noFill/>
        </p:spPr>
        <p:txBody>
          <a:bodyPr wrap="square" lIns="0" rIns="0" tIns="0" bIns="0" anchor="t">
            <a:spAutoFit/>
          </a:bodyPr>
          <a:lstStyle/>
          <a:p>
            <a:pPr algn="l">
              <a:lnSpc>
                <a:spcPct val="128000"/>
              </a:lnSpc>
            </a:pPr>
            <a:r>
              <a:rPr sz="1050" b="1" i="0" spc="220">
                <a:solidFill>
                  <a:srgbClr val="4A35FF"/>
                </a:solidFill>
                <a:latin typeface="Montserrat"/>
              </a:rPr>
              <a:t>EXPRESSION OF INTEREST  ·  NATIONAL ROAD SAFETY BOARD</a:t>
            </a:r>
          </a:p>
        </p:txBody>
      </p:sp>
      <p:sp>
        <p:nvSpPr>
          <p:cNvPr id="6" name="TextBox 5"/>
          <p:cNvSpPr txBox="1"/>
          <p:nvPr/>
        </p:nvSpPr>
        <p:spPr>
          <a:xfrm>
            <a:off x="566928" y="1956816"/>
            <a:ext cx="7589520" cy="777240"/>
          </a:xfrm>
          <a:prstGeom prst="rect">
            <a:avLst/>
          </a:prstGeom>
          <a:noFill/>
        </p:spPr>
        <p:txBody>
          <a:bodyPr wrap="square" lIns="0" rIns="0" tIns="0" bIns="0" anchor="t">
            <a:spAutoFit/>
          </a:bodyPr>
          <a:lstStyle/>
          <a:p>
            <a:pPr algn="l">
              <a:lnSpc>
                <a:spcPct val="100000"/>
              </a:lnSpc>
            </a:pPr>
            <a:r>
              <a:rPr sz="4600" b="1" i="0">
                <a:solidFill>
                  <a:srgbClr val="16181D"/>
                </a:solidFill>
                <a:latin typeface="Montserrat"/>
              </a:rPr>
              <a:t>Crashfree India</a:t>
            </a:r>
          </a:p>
        </p:txBody>
      </p:sp>
      <p:sp>
        <p:nvSpPr>
          <p:cNvPr id="7" name="TextBox 6"/>
          <p:cNvSpPr txBox="1"/>
          <p:nvPr/>
        </p:nvSpPr>
        <p:spPr>
          <a:xfrm>
            <a:off x="566928" y="2834640"/>
            <a:ext cx="7589520" cy="777240"/>
          </a:xfrm>
          <a:prstGeom prst="rect">
            <a:avLst/>
          </a:prstGeom>
          <a:noFill/>
        </p:spPr>
        <p:txBody>
          <a:bodyPr wrap="square" lIns="0" rIns="0" tIns="0" bIns="0" anchor="t">
            <a:spAutoFit/>
          </a:bodyPr>
          <a:lstStyle/>
          <a:p>
            <a:pPr algn="l">
              <a:lnSpc>
                <a:spcPct val="125000"/>
              </a:lnSpc>
            </a:pPr>
            <a:r>
              <a:rPr sz="1650" b="1" i="0">
                <a:solidFill>
                  <a:srgbClr val="4A35FF"/>
                </a:solidFill>
                <a:latin typeface="Montserrat"/>
              </a:rPr>
              <a:t>Application to Working Group 2:</a:t>
            </a:r>
          </a:p>
          <a:p>
            <a:pPr algn="l">
              <a:lnSpc>
                <a:spcPct val="125000"/>
              </a:lnSpc>
            </a:pPr>
            <a:r>
              <a:rPr sz="1650" b="1" i="0">
                <a:solidFill>
                  <a:srgbClr val="4A35FF"/>
                </a:solidFill>
                <a:latin typeface="Montserrat"/>
              </a:rPr>
              <a:t>Safe Roads, Speeds &amp; Vulnerable Road Users</a:t>
            </a:r>
          </a:p>
        </p:txBody>
      </p:sp>
      <p:sp>
        <p:nvSpPr>
          <p:cNvPr id="8" name="Oval 7"/>
          <p:cNvSpPr/>
          <p:nvPr/>
        </p:nvSpPr>
        <p:spPr>
          <a:xfrm>
            <a:off x="566928" y="4251960"/>
            <a:ext cx="365760" cy="365760"/>
          </a:xfrm>
          <a:prstGeom prst="ellipse">
            <a:avLst/>
          </a:prstGeom>
          <a:solidFill>
            <a:srgbClr val="EFEDFF"/>
          </a:solidFill>
          <a:ln>
            <a:noFill/>
          </a:ln>
          <a:effectLst/>
        </p:spPr>
        <p:txBody>
          <a:bodyPr rtlCol="0" anchor="ctr"/>
          <a:lstStyle/>
          <a:p>
            <a:pPr algn="ctr"/>
          </a:p>
        </p:txBody>
      </p:sp>
      <p:pic>
        <p:nvPicPr>
          <p:cNvPr id="9" name="Picture 8" descr="clipboard-list_4A35FF_256_2.0.png"/>
          <p:cNvPicPr>
            <a:picLocks noChangeAspect="1"/>
          </p:cNvPicPr>
          <p:nvPr/>
        </p:nvPicPr>
        <p:blipFill>
          <a:blip r:embed="rId3"/>
          <a:stretch>
            <a:fillRect/>
          </a:stretch>
        </p:blipFill>
        <p:spPr>
          <a:xfrm>
            <a:off x="654710" y="4339742"/>
            <a:ext cx="190195" cy="190195"/>
          </a:xfrm>
          <a:prstGeom prst="rect">
            <a:avLst/>
          </a:prstGeom>
        </p:spPr>
      </p:pic>
      <p:sp>
        <p:nvSpPr>
          <p:cNvPr id="10" name="TextBox 9"/>
          <p:cNvSpPr txBox="1"/>
          <p:nvPr/>
        </p:nvSpPr>
        <p:spPr>
          <a:xfrm>
            <a:off x="1078992" y="4297680"/>
            <a:ext cx="722376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Expert-guided student audits that end in built fixes, 31 sites, 7 completed</a:t>
            </a:r>
          </a:p>
        </p:txBody>
      </p:sp>
      <p:sp>
        <p:nvSpPr>
          <p:cNvPr id="11" name="Oval 10"/>
          <p:cNvSpPr/>
          <p:nvPr/>
        </p:nvSpPr>
        <p:spPr>
          <a:xfrm>
            <a:off x="566928" y="4818888"/>
            <a:ext cx="365760" cy="365760"/>
          </a:xfrm>
          <a:prstGeom prst="ellipse">
            <a:avLst/>
          </a:prstGeom>
          <a:solidFill>
            <a:srgbClr val="EFEDFF"/>
          </a:solidFill>
          <a:ln>
            <a:noFill/>
          </a:ln>
          <a:effectLst/>
        </p:spPr>
        <p:txBody>
          <a:bodyPr rtlCol="0" anchor="ctr"/>
          <a:lstStyle/>
          <a:p>
            <a:pPr algn="ctr"/>
          </a:p>
        </p:txBody>
      </p:sp>
      <p:pic>
        <p:nvPicPr>
          <p:cNvPr id="12" name="Picture 11" descr="cpu_4A35FF_256_2.0.png"/>
          <p:cNvPicPr>
            <a:picLocks noChangeAspect="1"/>
          </p:cNvPicPr>
          <p:nvPr/>
        </p:nvPicPr>
        <p:blipFill>
          <a:blip r:embed="rId4"/>
          <a:stretch>
            <a:fillRect/>
          </a:stretch>
        </p:blipFill>
        <p:spPr>
          <a:xfrm>
            <a:off x="654710" y="4906670"/>
            <a:ext cx="190195" cy="190195"/>
          </a:xfrm>
          <a:prstGeom prst="rect">
            <a:avLst/>
          </a:prstGeom>
        </p:spPr>
      </p:pic>
      <p:sp>
        <p:nvSpPr>
          <p:cNvPr id="13" name="TextBox 12"/>
          <p:cNvSpPr txBox="1"/>
          <p:nvPr/>
        </p:nvSpPr>
        <p:spPr>
          <a:xfrm>
            <a:off x="1078992" y="4864608"/>
            <a:ext cx="722376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Technology the system uses: AI enforcement with police, public tracking dashboards</a:t>
            </a:r>
          </a:p>
        </p:txBody>
      </p:sp>
      <p:sp>
        <p:nvSpPr>
          <p:cNvPr id="14" name="Oval 13"/>
          <p:cNvSpPr/>
          <p:nvPr/>
        </p:nvSpPr>
        <p:spPr>
          <a:xfrm>
            <a:off x="566928" y="5385816"/>
            <a:ext cx="365760" cy="365760"/>
          </a:xfrm>
          <a:prstGeom prst="ellipse">
            <a:avLst/>
          </a:prstGeom>
          <a:solidFill>
            <a:srgbClr val="EFEDFF"/>
          </a:solidFill>
          <a:ln>
            <a:noFill/>
          </a:ln>
          <a:effectLst/>
        </p:spPr>
        <p:txBody>
          <a:bodyPr rtlCol="0" anchor="ctr"/>
          <a:lstStyle/>
          <a:p>
            <a:pPr algn="ctr"/>
          </a:p>
        </p:txBody>
      </p:sp>
      <p:pic>
        <p:nvPicPr>
          <p:cNvPr id="15" name="Picture 14" descr="file-search_4A35FF_256_2.0.png"/>
          <p:cNvPicPr>
            <a:picLocks noChangeAspect="1"/>
          </p:cNvPicPr>
          <p:nvPr/>
        </p:nvPicPr>
        <p:blipFill>
          <a:blip r:embed="rId5"/>
          <a:stretch>
            <a:fillRect/>
          </a:stretch>
        </p:blipFill>
        <p:spPr>
          <a:xfrm>
            <a:off x="654710" y="5473598"/>
            <a:ext cx="190195" cy="190195"/>
          </a:xfrm>
          <a:prstGeom prst="rect">
            <a:avLst/>
          </a:prstGeom>
        </p:spPr>
      </p:pic>
      <p:sp>
        <p:nvSpPr>
          <p:cNvPr id="16" name="TextBox 15"/>
          <p:cNvSpPr txBox="1"/>
          <p:nvPr/>
        </p:nvSpPr>
        <p:spPr>
          <a:xfrm>
            <a:off x="1078992" y="5431536"/>
            <a:ext cx="722376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Published audit reports and policy research, anchored to the IRC codes</a:t>
            </a:r>
          </a:p>
        </p:txBody>
      </p:sp>
      <p:sp>
        <p:nvSpPr>
          <p:cNvPr id="17" name="TextBox 16"/>
          <p:cNvSpPr txBox="1"/>
          <p:nvPr/>
        </p:nvSpPr>
        <p:spPr>
          <a:xfrm>
            <a:off x="566928" y="6309360"/>
            <a:ext cx="7863840"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Submitted to the Chairperson and Members, Working Group 2, National Road Safety Board</a:t>
            </a:r>
          </a:p>
        </p:txBody>
      </p:sp>
      <p:sp>
        <p:nvSpPr>
          <p:cNvPr id="18" name="TextBox 17"/>
          <p:cNvSpPr txBox="1"/>
          <p:nvPr/>
        </p:nvSpPr>
        <p:spPr>
          <a:xfrm>
            <a:off x="9247327" y="6309360"/>
            <a:ext cx="2377440" cy="274320"/>
          </a:xfrm>
          <a:prstGeom prst="rect">
            <a:avLst/>
          </a:prstGeom>
          <a:noFill/>
        </p:spPr>
        <p:txBody>
          <a:bodyPr wrap="square" lIns="0" rIns="0" tIns="0" bIns="0" anchor="t">
            <a:spAutoFit/>
          </a:bodyPr>
          <a:lstStyle/>
          <a:p>
            <a:pPr algn="r">
              <a:lnSpc>
                <a:spcPct val="128000"/>
              </a:lnSpc>
            </a:pPr>
            <a:r>
              <a:rPr sz="950" b="1" i="0">
                <a:solidFill>
                  <a:srgbClr val="4A35FF"/>
                </a:solidFill>
                <a:latin typeface="Montserrat"/>
              </a:rPr>
              <a:t>crashfreeindia.org</a:t>
            </a:r>
          </a:p>
        </p:txBody>
      </p:sp>
      <p:pic>
        <p:nvPicPr>
          <p:cNvPr id="19" name="Picture 18" descr="ph_dhoni_white.jpg_3.60x4.90_0.12.jpg"/>
          <p:cNvPicPr>
            <a:picLocks noChangeAspect="1"/>
          </p:cNvPicPr>
          <p:nvPr/>
        </p:nvPicPr>
        <p:blipFill>
          <a:blip r:embed="rId6"/>
          <a:stretch>
            <a:fillRect/>
          </a:stretch>
        </p:blipFill>
        <p:spPr>
          <a:xfrm>
            <a:off x="8321040" y="1051560"/>
            <a:ext cx="3291840" cy="4480560"/>
          </a:xfrm>
          <a:prstGeom prst="rect">
            <a:avLst/>
          </a:prstGeom>
        </p:spPr>
      </p:pic>
      <p:sp>
        <p:nvSpPr>
          <p:cNvPr id="20" name="Rectangle 19"/>
          <p:cNvSpPr/>
          <p:nvPr/>
        </p:nvSpPr>
        <p:spPr>
          <a:xfrm>
            <a:off x="8321040" y="1051560"/>
            <a:ext cx="3291840" cy="4480560"/>
          </a:xfrm>
          <a:prstGeom prst="rect">
            <a:avLst/>
          </a:prstGeom>
          <a:noFill/>
          <a:ln w="12700">
            <a:solidFill>
              <a:srgbClr val="E8E9EE"/>
            </a:solidFill>
          </a:ln>
          <a:effectLst/>
        </p:spPr>
        <p:txBody>
          <a:bodyPr rtlCol="0" anchor="ctr"/>
          <a:lstStyle/>
          <a:p>
            <a:pPr algn="ctr"/>
          </a:p>
        </p:txBody>
      </p:sp>
      <p:sp>
        <p:nvSpPr>
          <p:cNvPr id="21" name="Rectangle 20"/>
          <p:cNvSpPr/>
          <p:nvPr/>
        </p:nvSpPr>
        <p:spPr>
          <a:xfrm>
            <a:off x="8321040" y="5020056"/>
            <a:ext cx="3291840" cy="512064"/>
          </a:xfrm>
          <a:prstGeom prst="rect">
            <a:avLst/>
          </a:prstGeom>
          <a:solidFill>
            <a:srgbClr val="4A35FF"/>
          </a:solidFill>
          <a:ln>
            <a:noFill/>
          </a:ln>
          <a:effectLst/>
        </p:spPr>
        <p:txBody>
          <a:bodyPr rtlCol="0" anchor="ctr"/>
          <a:lstStyle/>
          <a:p>
            <a:pPr algn="ctr"/>
          </a:p>
        </p:txBody>
      </p:sp>
      <p:sp>
        <p:nvSpPr>
          <p:cNvPr id="22" name="TextBox 21"/>
          <p:cNvSpPr txBox="1"/>
          <p:nvPr/>
        </p:nvSpPr>
        <p:spPr>
          <a:xfrm>
            <a:off x="8321040" y="5056632"/>
            <a:ext cx="3291840" cy="457200"/>
          </a:xfrm>
          <a:prstGeom prst="rect">
            <a:avLst/>
          </a:prstGeom>
          <a:noFill/>
        </p:spPr>
        <p:txBody>
          <a:bodyPr wrap="square" lIns="0" rIns="0" tIns="0" bIns="0" anchor="t">
            <a:spAutoFit/>
          </a:bodyPr>
          <a:lstStyle/>
          <a:p>
            <a:pPr algn="ctr">
              <a:lnSpc>
                <a:spcPct val="115000"/>
              </a:lnSpc>
            </a:pPr>
            <a:r>
              <a:rPr sz="850" b="1" i="0" spc="100">
                <a:solidFill>
                  <a:srgbClr val="FFFFFF"/>
                </a:solidFill>
                <a:latin typeface="Montserrat"/>
              </a:rPr>
              <a:t>MS DHONI · GOODWILL AMBASSADOR,</a:t>
            </a:r>
          </a:p>
          <a:p>
            <a:pPr algn="ctr">
              <a:lnSpc>
                <a:spcPct val="115000"/>
              </a:lnSpc>
            </a:pPr>
            <a:r>
              <a:rPr sz="850" b="1" i="0" spc="100">
                <a:solidFill>
                  <a:srgbClr val="FFFFFF"/>
                </a:solidFill>
                <a:latin typeface="Montserrat"/>
              </a:rPr>
              <a:t>CRASHFREE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BEFORE THE SLIDES</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A letter to the </a:t>
            </a:r>
            <a:r>
              <a:rPr sz="2250" b="1" i="0">
                <a:solidFill>
                  <a:srgbClr val="4A35FF"/>
                </a:solidFill>
                <a:latin typeface="Montserrat"/>
              </a:rPr>
              <a:t>Working Group</a:t>
            </a:r>
          </a:p>
        </p:txBody>
      </p:sp>
      <p:sp>
        <p:nvSpPr>
          <p:cNvPr id="6" name="Rectangle 5"/>
          <p:cNvSpPr/>
          <p:nvPr/>
        </p:nvSpPr>
        <p:spPr>
          <a:xfrm>
            <a:off x="1435608" y="1371600"/>
            <a:ext cx="9326880" cy="4956048"/>
          </a:xfrm>
          <a:prstGeom prst="rect">
            <a:avLst/>
          </a:prstGeom>
          <a:solidFill>
            <a:srgbClr val="FFFFFF"/>
          </a:solidFill>
          <a:ln w="15240">
            <a:solidFill>
              <a:srgbClr val="E8E9EE"/>
            </a:solidFill>
          </a:ln>
          <a:effectLst/>
        </p:spPr>
        <p:txBody>
          <a:bodyPr rtlCol="0" anchor="ctr"/>
          <a:lstStyle/>
          <a:p>
            <a:pPr algn="ctr"/>
          </a:p>
        </p:txBody>
      </p:sp>
      <p:sp>
        <p:nvSpPr>
          <p:cNvPr id="7" name="Rectangle 6"/>
          <p:cNvSpPr/>
          <p:nvPr/>
        </p:nvSpPr>
        <p:spPr>
          <a:xfrm>
            <a:off x="1435608" y="1371600"/>
            <a:ext cx="9326880" cy="54864"/>
          </a:xfrm>
          <a:prstGeom prst="rect">
            <a:avLst/>
          </a:prstGeom>
          <a:solidFill>
            <a:srgbClr val="4A35FF"/>
          </a:solidFill>
          <a:ln>
            <a:noFill/>
          </a:ln>
          <a:effectLst/>
        </p:spPr>
        <p:txBody>
          <a:bodyPr rtlCol="0" anchor="ctr"/>
          <a:lstStyle/>
          <a:p>
            <a:pPr algn="ctr"/>
          </a:p>
        </p:txBody>
      </p:sp>
      <p:pic>
        <p:nvPicPr>
          <p:cNvPr id="8" name="Picture 7" descr="logo_blue.png"/>
          <p:cNvPicPr>
            <a:picLocks noChangeAspect="1"/>
          </p:cNvPicPr>
          <p:nvPr/>
        </p:nvPicPr>
        <p:blipFill>
          <a:blip r:embed="rId2"/>
          <a:stretch>
            <a:fillRect/>
          </a:stretch>
        </p:blipFill>
        <p:spPr>
          <a:xfrm>
            <a:off x="1892808" y="1664208"/>
            <a:ext cx="1234440" cy="170579"/>
          </a:xfrm>
          <a:prstGeom prst="rect">
            <a:avLst/>
          </a:prstGeom>
        </p:spPr>
      </p:pic>
      <p:sp>
        <p:nvSpPr>
          <p:cNvPr id="9" name="TextBox 8"/>
          <p:cNvSpPr txBox="1"/>
          <p:nvPr/>
        </p:nvSpPr>
        <p:spPr>
          <a:xfrm>
            <a:off x="7836408" y="1700784"/>
            <a:ext cx="2468880" cy="274320"/>
          </a:xfrm>
          <a:prstGeom prst="rect">
            <a:avLst/>
          </a:prstGeom>
          <a:noFill/>
        </p:spPr>
        <p:txBody>
          <a:bodyPr wrap="square" lIns="0" rIns="0" tIns="0" bIns="0" anchor="t">
            <a:spAutoFit/>
          </a:bodyPr>
          <a:lstStyle/>
          <a:p>
            <a:pPr algn="r">
              <a:lnSpc>
                <a:spcPct val="128000"/>
              </a:lnSpc>
            </a:pPr>
            <a:r>
              <a:rPr sz="950" b="0" i="0">
                <a:solidFill>
                  <a:srgbClr val="6E7180"/>
                </a:solidFill>
                <a:latin typeface="Geist"/>
              </a:rPr>
              <a:t>New Delhi · August 2026</a:t>
            </a:r>
          </a:p>
        </p:txBody>
      </p:sp>
      <p:sp>
        <p:nvSpPr>
          <p:cNvPr id="10" name="TextBox 9"/>
          <p:cNvSpPr txBox="1"/>
          <p:nvPr/>
        </p:nvSpPr>
        <p:spPr>
          <a:xfrm>
            <a:off x="1892808" y="2240280"/>
            <a:ext cx="8412480" cy="3291840"/>
          </a:xfrm>
          <a:prstGeom prst="rect">
            <a:avLst/>
          </a:prstGeom>
          <a:noFill/>
        </p:spPr>
        <p:txBody>
          <a:bodyPr wrap="square" lIns="0" rIns="0" tIns="0" bIns="0" anchor="t">
            <a:spAutoFit/>
          </a:bodyPr>
          <a:lstStyle/>
          <a:p>
            <a:pPr algn="l">
              <a:lnSpc>
                <a:spcPct val="130000"/>
              </a:lnSpc>
              <a:spcAft>
                <a:spcPts val="700"/>
              </a:spcAft>
            </a:pPr>
            <a:r>
              <a:rPr sz="1060" b="0" i="0">
                <a:solidFill>
                  <a:srgbClr val="16181D"/>
                </a:solidFill>
                <a:latin typeface="Geist"/>
              </a:rPr>
              <a:t>Respected Chairperson and Members of Working Group 2,</a:t>
            </a:r>
          </a:p>
          <a:p>
            <a:pPr algn="l">
              <a:lnSpc>
                <a:spcPct val="130000"/>
              </a:lnSpc>
              <a:spcAft>
                <a:spcPts val="700"/>
              </a:spcAft>
            </a:pPr>
            <a:r>
              <a:rPr sz="1060" b="0" i="0">
                <a:solidFill>
                  <a:srgbClr val="16181D"/>
                </a:solidFill>
                <a:latin typeface="Geist"/>
              </a:rPr>
              <a:t>Crashfree India is a young road safety nonprofit, registered as the Vision Zero Trust, co-founded with the Indian Road Safety Council, and backed by a three-year, US$3 million commitment from Cars24. Our core work is road infrastructure: trained student teams audit dangerous locations under senior experts, to IRC codes and MoRTH checklists, and we walk each recommended fix through the road-owning authority until it is built, tracked on a public dashboard. MS Dhoni carries this message to the country as our Goodwill Ambassador.</a:t>
            </a:r>
          </a:p>
          <a:p>
            <a:pPr algn="l">
              <a:lnSpc>
                <a:spcPct val="130000"/>
              </a:lnSpc>
              <a:spcAft>
                <a:spcPts val="700"/>
              </a:spcAft>
            </a:pPr>
            <a:r>
              <a:rPr sz="1060" b="0" i="0">
                <a:solidFill>
                  <a:srgbClr val="16181D"/>
                </a:solidFill>
                <a:latin typeface="Geist"/>
              </a:rPr>
              <a:t>In our first year we audited 31 high-risk locations across 18 cities with teams from 20 institutions, secured 25+ written approvals from road-owning authorities, and implementation has started at 15 sites, with 7 already fully built. SATARK, our AI enforcement platform, has screened over 3,00,000 vehicles for police in Jaipur and Bengaluru and has now reached Gurugram. Four open public data platforms and a national youth pipeline complete the picture.</a:t>
            </a:r>
          </a:p>
          <a:p>
            <a:pPr algn="l">
              <a:lnSpc>
                <a:spcPct val="130000"/>
              </a:lnSpc>
              <a:spcAft>
                <a:spcPts val="700"/>
              </a:spcAft>
            </a:pPr>
            <a:r>
              <a:rPr sz="1060" b="0" i="0">
                <a:solidFill>
                  <a:srgbClr val="16181D"/>
                </a:solidFill>
                <a:latin typeface="Geist"/>
              </a:rPr>
              <a:t>The pages that follow introduce the organisation briefly, then set out the work most relevant to this Working Group in the detail its mandate deserves. Everything shown is running today, is public, and is offered to the Board without cost. We would be honoured to contribute.</a:t>
            </a:r>
          </a:p>
        </p:txBody>
      </p:sp>
      <p:sp>
        <p:nvSpPr>
          <p:cNvPr id="11" name="TextBox 10"/>
          <p:cNvSpPr txBox="1"/>
          <p:nvPr/>
        </p:nvSpPr>
        <p:spPr>
          <a:xfrm>
            <a:off x="1892808" y="5596128"/>
            <a:ext cx="8412480" cy="274320"/>
          </a:xfrm>
          <a:prstGeom prst="rect">
            <a:avLst/>
          </a:prstGeom>
          <a:noFill/>
        </p:spPr>
        <p:txBody>
          <a:bodyPr wrap="square" lIns="0" rIns="0" tIns="0" bIns="0" anchor="t">
            <a:spAutoFit/>
          </a:bodyPr>
          <a:lstStyle/>
          <a:p>
            <a:pPr algn="l">
              <a:lnSpc>
                <a:spcPct val="128000"/>
              </a:lnSpc>
            </a:pPr>
            <a:r>
              <a:rPr sz="1060" b="0" i="0">
                <a:solidFill>
                  <a:srgbClr val="16181D"/>
                </a:solidFill>
                <a:latin typeface="Geist"/>
              </a:rPr>
              <a:t>Respectfully,</a:t>
            </a:r>
          </a:p>
        </p:txBody>
      </p:sp>
      <p:sp>
        <p:nvSpPr>
          <p:cNvPr id="12" name="TextBox 11"/>
          <p:cNvSpPr txBox="1"/>
          <p:nvPr/>
        </p:nvSpPr>
        <p:spPr>
          <a:xfrm>
            <a:off x="1892808" y="5870448"/>
            <a:ext cx="841248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Akhtar Hussain</a:t>
            </a:r>
          </a:p>
        </p:txBody>
      </p:sp>
      <p:sp>
        <p:nvSpPr>
          <p:cNvPr id="13" name="TextBox 12"/>
          <p:cNvSpPr txBox="1"/>
          <p:nvPr/>
        </p:nvSpPr>
        <p:spPr>
          <a:xfrm>
            <a:off x="1892808" y="6089904"/>
            <a:ext cx="8412480" cy="237744"/>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Mission Lead, Crashfree India  ·  akhtar@crashfreeindia.org  ·  crashfreeindia.org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HOW THIS DECK IS ORGANISED</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Five sections, </a:t>
            </a:r>
            <a:r>
              <a:rPr sz="2250" b="1" i="0">
                <a:solidFill>
                  <a:srgbClr val="4A35FF"/>
                </a:solidFill>
                <a:latin typeface="Montserrat"/>
              </a:rPr>
              <a:t>from who we are to what we offer</a:t>
            </a:r>
          </a:p>
        </p:txBody>
      </p:sp>
      <p:sp>
        <p:nvSpPr>
          <p:cNvPr id="6" name="Rounded Rectangle 5"/>
          <p:cNvSpPr/>
          <p:nvPr/>
        </p:nvSpPr>
        <p:spPr>
          <a:xfrm>
            <a:off x="566928" y="1572768"/>
            <a:ext cx="11057839" cy="804672"/>
          </a:xfrm>
          <a:prstGeom prst="roundRect">
            <a:avLst>
              <a:gd name="adj" fmla="val 10000"/>
            </a:avLst>
          </a:prstGeom>
          <a:solidFill>
            <a:srgbClr val="F7F7FA"/>
          </a:solidFill>
          <a:ln>
            <a:noFill/>
          </a:ln>
          <a:effectLst/>
        </p:spPr>
        <p:txBody>
          <a:bodyPr rtlCol="0" anchor="ctr"/>
          <a:lstStyle/>
          <a:p>
            <a:pPr algn="ctr"/>
          </a:p>
        </p:txBody>
      </p:sp>
      <p:sp>
        <p:nvSpPr>
          <p:cNvPr id="7" name="Oval 6"/>
          <p:cNvSpPr/>
          <p:nvPr/>
        </p:nvSpPr>
        <p:spPr>
          <a:xfrm>
            <a:off x="768096" y="1755648"/>
            <a:ext cx="438912" cy="438912"/>
          </a:xfrm>
          <a:prstGeom prst="ellipse">
            <a:avLst/>
          </a:prstGeom>
          <a:solidFill>
            <a:srgbClr val="EFEDFF"/>
          </a:solidFill>
          <a:ln>
            <a:noFill/>
          </a:ln>
          <a:effectLst/>
        </p:spPr>
        <p:txBody>
          <a:bodyPr rtlCol="0" anchor="ctr"/>
          <a:lstStyle/>
          <a:p>
            <a:pPr algn="ctr"/>
          </a:p>
        </p:txBody>
      </p:sp>
      <p:sp>
        <p:nvSpPr>
          <p:cNvPr id="8" name="TextBox 7"/>
          <p:cNvSpPr txBox="1"/>
          <p:nvPr/>
        </p:nvSpPr>
        <p:spPr>
          <a:xfrm>
            <a:off x="768096" y="174467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9" name="Oval 8"/>
          <p:cNvSpPr/>
          <p:nvPr/>
        </p:nvSpPr>
        <p:spPr>
          <a:xfrm>
            <a:off x="1435608" y="1755648"/>
            <a:ext cx="438912" cy="438912"/>
          </a:xfrm>
          <a:prstGeom prst="ellipse">
            <a:avLst/>
          </a:prstGeom>
          <a:solidFill>
            <a:srgbClr val="EFEDFF"/>
          </a:solidFill>
          <a:ln>
            <a:noFill/>
          </a:ln>
          <a:effectLst/>
        </p:spPr>
        <p:txBody>
          <a:bodyPr rtlCol="0" anchor="ctr"/>
          <a:lstStyle/>
          <a:p>
            <a:pPr algn="ctr"/>
          </a:p>
        </p:txBody>
      </p:sp>
      <p:pic>
        <p:nvPicPr>
          <p:cNvPr id="10" name="Picture 9" descr="building-2_4A35FF_256_2.0.png"/>
          <p:cNvPicPr>
            <a:picLocks noChangeAspect="1"/>
          </p:cNvPicPr>
          <p:nvPr/>
        </p:nvPicPr>
        <p:blipFill>
          <a:blip r:embed="rId2"/>
          <a:stretch>
            <a:fillRect/>
          </a:stretch>
        </p:blipFill>
        <p:spPr>
          <a:xfrm>
            <a:off x="1540946" y="1860986"/>
            <a:ext cx="228234" cy="228234"/>
          </a:xfrm>
          <a:prstGeom prst="rect">
            <a:avLst/>
          </a:prstGeom>
        </p:spPr>
      </p:pic>
      <p:sp>
        <p:nvSpPr>
          <p:cNvPr id="11" name="TextBox 10"/>
          <p:cNvSpPr txBox="1"/>
          <p:nvPr/>
        </p:nvSpPr>
        <p:spPr>
          <a:xfrm>
            <a:off x="2103120" y="1691640"/>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About us, and how we work</a:t>
            </a:r>
          </a:p>
        </p:txBody>
      </p:sp>
      <p:sp>
        <p:nvSpPr>
          <p:cNvPr id="12" name="TextBox 11"/>
          <p:cNvSpPr txBox="1"/>
          <p:nvPr/>
        </p:nvSpPr>
        <p:spPr>
          <a:xfrm>
            <a:off x="2103120" y="1993392"/>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Who we are, our approach to the road crash crisis, and why this Working Group.</a:t>
            </a:r>
          </a:p>
        </p:txBody>
      </p:sp>
      <p:sp>
        <p:nvSpPr>
          <p:cNvPr id="13" name="TextBox 12"/>
          <p:cNvSpPr txBox="1"/>
          <p:nvPr/>
        </p:nvSpPr>
        <p:spPr>
          <a:xfrm>
            <a:off x="10024567" y="1792224"/>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04 – 06</a:t>
            </a:r>
          </a:p>
        </p:txBody>
      </p:sp>
      <p:sp>
        <p:nvSpPr>
          <p:cNvPr id="14" name="Rounded Rectangle 13"/>
          <p:cNvSpPr/>
          <p:nvPr/>
        </p:nvSpPr>
        <p:spPr>
          <a:xfrm>
            <a:off x="566928" y="2505456"/>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5" name="Oval 14"/>
          <p:cNvSpPr/>
          <p:nvPr/>
        </p:nvSpPr>
        <p:spPr>
          <a:xfrm>
            <a:off x="768096" y="2688336"/>
            <a:ext cx="438912" cy="438912"/>
          </a:xfrm>
          <a:prstGeom prst="ellipse">
            <a:avLst/>
          </a:prstGeom>
          <a:solidFill>
            <a:srgbClr val="EFEDFF"/>
          </a:solidFill>
          <a:ln>
            <a:noFill/>
          </a:ln>
          <a:effectLst/>
        </p:spPr>
        <p:txBody>
          <a:bodyPr rtlCol="0" anchor="ctr"/>
          <a:lstStyle/>
          <a:p>
            <a:pPr algn="ctr"/>
          </a:p>
        </p:txBody>
      </p:sp>
      <p:sp>
        <p:nvSpPr>
          <p:cNvPr id="16" name="TextBox 15"/>
          <p:cNvSpPr txBox="1"/>
          <p:nvPr/>
        </p:nvSpPr>
        <p:spPr>
          <a:xfrm>
            <a:off x="768096" y="267736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7" name="Oval 16"/>
          <p:cNvSpPr/>
          <p:nvPr/>
        </p:nvSpPr>
        <p:spPr>
          <a:xfrm>
            <a:off x="1435608" y="2688336"/>
            <a:ext cx="438912" cy="438912"/>
          </a:xfrm>
          <a:prstGeom prst="ellipse">
            <a:avLst/>
          </a:prstGeom>
          <a:solidFill>
            <a:srgbClr val="EFEDFF"/>
          </a:solidFill>
          <a:ln>
            <a:noFill/>
          </a:ln>
          <a:effectLst/>
        </p:spPr>
        <p:txBody>
          <a:bodyPr rtlCol="0" anchor="ctr"/>
          <a:lstStyle/>
          <a:p>
            <a:pPr algn="ctr"/>
          </a:p>
        </p:txBody>
      </p:sp>
      <p:pic>
        <p:nvPicPr>
          <p:cNvPr id="18" name="Picture 17" descr="layers_4A35FF_256_2.0.png"/>
          <p:cNvPicPr>
            <a:picLocks noChangeAspect="1"/>
          </p:cNvPicPr>
          <p:nvPr/>
        </p:nvPicPr>
        <p:blipFill>
          <a:blip r:embed="rId3"/>
          <a:stretch>
            <a:fillRect/>
          </a:stretch>
        </p:blipFill>
        <p:spPr>
          <a:xfrm>
            <a:off x="1540946" y="2793674"/>
            <a:ext cx="228234" cy="228234"/>
          </a:xfrm>
          <a:prstGeom prst="rect">
            <a:avLst/>
          </a:prstGeom>
        </p:spPr>
      </p:pic>
      <p:sp>
        <p:nvSpPr>
          <p:cNvPr id="19" name="TextBox 18"/>
          <p:cNvSpPr txBox="1"/>
          <p:nvPr/>
        </p:nvSpPr>
        <p:spPr>
          <a:xfrm>
            <a:off x="2103120" y="2624328"/>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What we have built</a:t>
            </a:r>
          </a:p>
        </p:txBody>
      </p:sp>
      <p:sp>
        <p:nvSpPr>
          <p:cNvPr id="20" name="TextBox 19"/>
          <p:cNvSpPr txBox="1"/>
          <p:nvPr/>
        </p:nvSpPr>
        <p:spPr>
          <a:xfrm>
            <a:off x="2103120" y="2926080"/>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Every public-facing programme, audits, enforcement tech, victim support, open data, youth, campaigns.</a:t>
            </a:r>
          </a:p>
        </p:txBody>
      </p:sp>
      <p:sp>
        <p:nvSpPr>
          <p:cNvPr id="21" name="TextBox 20"/>
          <p:cNvSpPr txBox="1"/>
          <p:nvPr/>
        </p:nvSpPr>
        <p:spPr>
          <a:xfrm>
            <a:off x="10024567" y="2724912"/>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07 – 14</a:t>
            </a:r>
          </a:p>
        </p:txBody>
      </p:sp>
      <p:sp>
        <p:nvSpPr>
          <p:cNvPr id="22" name="Rounded Rectangle 21"/>
          <p:cNvSpPr/>
          <p:nvPr/>
        </p:nvSpPr>
        <p:spPr>
          <a:xfrm>
            <a:off x="566928" y="3438144"/>
            <a:ext cx="11057839" cy="804672"/>
          </a:xfrm>
          <a:prstGeom prst="roundRect">
            <a:avLst>
              <a:gd name="adj" fmla="val 10000"/>
            </a:avLst>
          </a:prstGeom>
          <a:solidFill>
            <a:srgbClr val="F7F7FA"/>
          </a:solidFill>
          <a:ln>
            <a:noFill/>
          </a:ln>
          <a:effectLst/>
        </p:spPr>
        <p:txBody>
          <a:bodyPr rtlCol="0" anchor="ctr"/>
          <a:lstStyle/>
          <a:p>
            <a:pPr algn="ctr"/>
          </a:p>
        </p:txBody>
      </p:sp>
      <p:sp>
        <p:nvSpPr>
          <p:cNvPr id="23" name="Oval 22"/>
          <p:cNvSpPr/>
          <p:nvPr/>
        </p:nvSpPr>
        <p:spPr>
          <a:xfrm>
            <a:off x="768096" y="3621024"/>
            <a:ext cx="438912" cy="438912"/>
          </a:xfrm>
          <a:prstGeom prst="ellipse">
            <a:avLst/>
          </a:prstGeom>
          <a:solidFill>
            <a:srgbClr val="EFEDFF"/>
          </a:solidFill>
          <a:ln>
            <a:noFill/>
          </a:ln>
          <a:effectLst/>
        </p:spPr>
        <p:txBody>
          <a:bodyPr rtlCol="0" anchor="ctr"/>
          <a:lstStyle/>
          <a:p>
            <a:pPr algn="ctr"/>
          </a:p>
        </p:txBody>
      </p:sp>
      <p:sp>
        <p:nvSpPr>
          <p:cNvPr id="24" name="TextBox 23"/>
          <p:cNvSpPr txBox="1"/>
          <p:nvPr/>
        </p:nvSpPr>
        <p:spPr>
          <a:xfrm>
            <a:off x="768096" y="3610052"/>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5" name="Oval 24"/>
          <p:cNvSpPr/>
          <p:nvPr/>
        </p:nvSpPr>
        <p:spPr>
          <a:xfrm>
            <a:off x="1435608" y="3621024"/>
            <a:ext cx="438912" cy="438912"/>
          </a:xfrm>
          <a:prstGeom prst="ellipse">
            <a:avLst/>
          </a:prstGeom>
          <a:solidFill>
            <a:srgbClr val="EFEDFF"/>
          </a:solidFill>
          <a:ln>
            <a:noFill/>
          </a:ln>
          <a:effectLst/>
        </p:spPr>
        <p:txBody>
          <a:bodyPr rtlCol="0" anchor="ctr"/>
          <a:lstStyle/>
          <a:p>
            <a:pPr algn="ctr"/>
          </a:p>
        </p:txBody>
      </p:sp>
      <p:pic>
        <p:nvPicPr>
          <p:cNvPr id="26" name="Picture 25" descr="users_4A35FF_256_2.0.png"/>
          <p:cNvPicPr>
            <a:picLocks noChangeAspect="1"/>
          </p:cNvPicPr>
          <p:nvPr/>
        </p:nvPicPr>
        <p:blipFill>
          <a:blip r:embed="rId4"/>
          <a:stretch>
            <a:fillRect/>
          </a:stretch>
        </p:blipFill>
        <p:spPr>
          <a:xfrm>
            <a:off x="1540946" y="3726362"/>
            <a:ext cx="228234" cy="228234"/>
          </a:xfrm>
          <a:prstGeom prst="rect">
            <a:avLst/>
          </a:prstGeom>
        </p:spPr>
      </p:pic>
      <p:sp>
        <p:nvSpPr>
          <p:cNvPr id="27" name="TextBox 26"/>
          <p:cNvSpPr txBox="1"/>
          <p:nvPr/>
        </p:nvSpPr>
        <p:spPr>
          <a:xfrm>
            <a:off x="2103120" y="3557016"/>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Our people</a:t>
            </a:r>
          </a:p>
        </p:txBody>
      </p:sp>
      <p:sp>
        <p:nvSpPr>
          <p:cNvPr id="28" name="TextBox 27"/>
          <p:cNvSpPr txBox="1"/>
          <p:nvPr/>
        </p:nvSpPr>
        <p:spPr>
          <a:xfrm>
            <a:off x="2103120" y="3858768"/>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team, its capabilities, and the expert bench around the work.</a:t>
            </a:r>
          </a:p>
        </p:txBody>
      </p:sp>
      <p:sp>
        <p:nvSpPr>
          <p:cNvPr id="29" name="TextBox 28"/>
          <p:cNvSpPr txBox="1"/>
          <p:nvPr/>
        </p:nvSpPr>
        <p:spPr>
          <a:xfrm>
            <a:off x="10024567" y="3657600"/>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15 – 16</a:t>
            </a:r>
          </a:p>
        </p:txBody>
      </p:sp>
      <p:sp>
        <p:nvSpPr>
          <p:cNvPr id="30" name="Rounded Rectangle 29"/>
          <p:cNvSpPr/>
          <p:nvPr/>
        </p:nvSpPr>
        <p:spPr>
          <a:xfrm>
            <a:off x="566928" y="4370832"/>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31" name="Oval 30"/>
          <p:cNvSpPr/>
          <p:nvPr/>
        </p:nvSpPr>
        <p:spPr>
          <a:xfrm>
            <a:off x="768096" y="4553712"/>
            <a:ext cx="438912" cy="438912"/>
          </a:xfrm>
          <a:prstGeom prst="ellipse">
            <a:avLst/>
          </a:prstGeom>
          <a:solidFill>
            <a:srgbClr val="EFEDFF"/>
          </a:solidFill>
          <a:ln>
            <a:noFill/>
          </a:ln>
          <a:effectLst/>
        </p:spPr>
        <p:txBody>
          <a:bodyPr rtlCol="0" anchor="ctr"/>
          <a:lstStyle/>
          <a:p>
            <a:pPr algn="ctr"/>
          </a:p>
        </p:txBody>
      </p:sp>
      <p:sp>
        <p:nvSpPr>
          <p:cNvPr id="32" name="TextBox 31"/>
          <p:cNvSpPr txBox="1"/>
          <p:nvPr/>
        </p:nvSpPr>
        <p:spPr>
          <a:xfrm>
            <a:off x="768096" y="454274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33" name="Oval 32"/>
          <p:cNvSpPr/>
          <p:nvPr/>
        </p:nvSpPr>
        <p:spPr>
          <a:xfrm>
            <a:off x="1435608" y="4553712"/>
            <a:ext cx="438912" cy="438912"/>
          </a:xfrm>
          <a:prstGeom prst="ellipse">
            <a:avLst/>
          </a:prstGeom>
          <a:solidFill>
            <a:srgbClr val="EFEDFF"/>
          </a:solidFill>
          <a:ln>
            <a:noFill/>
          </a:ln>
          <a:effectLst/>
        </p:spPr>
        <p:txBody>
          <a:bodyPr rtlCol="0" anchor="ctr"/>
          <a:lstStyle/>
          <a:p>
            <a:pPr algn="ctr"/>
          </a:p>
        </p:txBody>
      </p:sp>
      <p:pic>
        <p:nvPicPr>
          <p:cNvPr id="34" name="Picture 33" descr="target_4A35FF_256_2.0.png"/>
          <p:cNvPicPr>
            <a:picLocks noChangeAspect="1"/>
          </p:cNvPicPr>
          <p:nvPr/>
        </p:nvPicPr>
        <p:blipFill>
          <a:blip r:embed="rId5"/>
          <a:stretch>
            <a:fillRect/>
          </a:stretch>
        </p:blipFill>
        <p:spPr>
          <a:xfrm>
            <a:off x="1540946" y="4659050"/>
            <a:ext cx="228234" cy="228234"/>
          </a:xfrm>
          <a:prstGeom prst="rect">
            <a:avLst/>
          </a:prstGeom>
        </p:spPr>
      </p:pic>
      <p:sp>
        <p:nvSpPr>
          <p:cNvPr id="35" name="TextBox 34"/>
          <p:cNvSpPr txBox="1"/>
          <p:nvPr/>
        </p:nvSpPr>
        <p:spPr>
          <a:xfrm>
            <a:off x="2103120" y="4489704"/>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Project Rakshak in depth</a:t>
            </a:r>
          </a:p>
        </p:txBody>
      </p:sp>
      <p:sp>
        <p:nvSpPr>
          <p:cNvPr id="36" name="TextBox 35"/>
          <p:cNvSpPr txBox="1"/>
          <p:nvPr/>
        </p:nvSpPr>
        <p:spPr>
          <a:xfrm>
            <a:off x="2103120" y="4791456"/>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deep dive matched to this Working Group's mandate, evidence, method, results.</a:t>
            </a:r>
          </a:p>
        </p:txBody>
      </p:sp>
      <p:sp>
        <p:nvSpPr>
          <p:cNvPr id="37" name="TextBox 36"/>
          <p:cNvSpPr txBox="1"/>
          <p:nvPr/>
        </p:nvSpPr>
        <p:spPr>
          <a:xfrm>
            <a:off x="10024567" y="4590288"/>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17 – 26</a:t>
            </a:r>
          </a:p>
        </p:txBody>
      </p:sp>
      <p:sp>
        <p:nvSpPr>
          <p:cNvPr id="38" name="Rounded Rectangle 37"/>
          <p:cNvSpPr/>
          <p:nvPr/>
        </p:nvSpPr>
        <p:spPr>
          <a:xfrm>
            <a:off x="566928" y="5303520"/>
            <a:ext cx="11057839" cy="804672"/>
          </a:xfrm>
          <a:prstGeom prst="roundRect">
            <a:avLst>
              <a:gd name="adj" fmla="val 10000"/>
            </a:avLst>
          </a:prstGeom>
          <a:solidFill>
            <a:srgbClr val="F7F7FA"/>
          </a:solidFill>
          <a:ln>
            <a:noFill/>
          </a:ln>
          <a:effectLst/>
        </p:spPr>
        <p:txBody>
          <a:bodyPr rtlCol="0" anchor="ctr"/>
          <a:lstStyle/>
          <a:p>
            <a:pPr algn="ctr"/>
          </a:p>
        </p:txBody>
      </p:sp>
      <p:sp>
        <p:nvSpPr>
          <p:cNvPr id="39" name="Oval 38"/>
          <p:cNvSpPr/>
          <p:nvPr/>
        </p:nvSpPr>
        <p:spPr>
          <a:xfrm>
            <a:off x="768096" y="5486400"/>
            <a:ext cx="438912" cy="438912"/>
          </a:xfrm>
          <a:prstGeom prst="ellipse">
            <a:avLst/>
          </a:prstGeom>
          <a:solidFill>
            <a:srgbClr val="EFEDFF"/>
          </a:solidFill>
          <a:ln>
            <a:noFill/>
          </a:ln>
          <a:effectLst/>
        </p:spPr>
        <p:txBody>
          <a:bodyPr rtlCol="0" anchor="ctr"/>
          <a:lstStyle/>
          <a:p>
            <a:pPr algn="ctr"/>
          </a:p>
        </p:txBody>
      </p:sp>
      <p:sp>
        <p:nvSpPr>
          <p:cNvPr id="40" name="TextBox 39"/>
          <p:cNvSpPr txBox="1"/>
          <p:nvPr/>
        </p:nvSpPr>
        <p:spPr>
          <a:xfrm>
            <a:off x="768096" y="547542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5</a:t>
            </a:r>
          </a:p>
        </p:txBody>
      </p:sp>
      <p:sp>
        <p:nvSpPr>
          <p:cNvPr id="41" name="Oval 40"/>
          <p:cNvSpPr/>
          <p:nvPr/>
        </p:nvSpPr>
        <p:spPr>
          <a:xfrm>
            <a:off x="1435608" y="5486400"/>
            <a:ext cx="438912" cy="438912"/>
          </a:xfrm>
          <a:prstGeom prst="ellipse">
            <a:avLst/>
          </a:prstGeom>
          <a:solidFill>
            <a:srgbClr val="EFEDFF"/>
          </a:solidFill>
          <a:ln>
            <a:noFill/>
          </a:ln>
          <a:effectLst/>
        </p:spPr>
        <p:txBody>
          <a:bodyPr rtlCol="0" anchor="ctr"/>
          <a:lstStyle/>
          <a:p>
            <a:pPr algn="ctr"/>
          </a:p>
        </p:txBody>
      </p:sp>
      <p:pic>
        <p:nvPicPr>
          <p:cNvPr id="42" name="Picture 41" descr="handshake_4A35FF_256_2.0.png"/>
          <p:cNvPicPr>
            <a:picLocks noChangeAspect="1"/>
          </p:cNvPicPr>
          <p:nvPr/>
        </p:nvPicPr>
        <p:blipFill>
          <a:blip r:embed="rId6"/>
          <a:stretch>
            <a:fillRect/>
          </a:stretch>
        </p:blipFill>
        <p:spPr>
          <a:xfrm>
            <a:off x="1540946" y="5591738"/>
            <a:ext cx="228234" cy="228234"/>
          </a:xfrm>
          <a:prstGeom prst="rect">
            <a:avLst/>
          </a:prstGeom>
        </p:spPr>
      </p:pic>
      <p:sp>
        <p:nvSpPr>
          <p:cNvPr id="43" name="TextBox 42"/>
          <p:cNvSpPr txBox="1"/>
          <p:nvPr/>
        </p:nvSpPr>
        <p:spPr>
          <a:xfrm>
            <a:off x="2103120" y="5422392"/>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How we can contribute</a:t>
            </a:r>
          </a:p>
        </p:txBody>
      </p:sp>
      <p:sp>
        <p:nvSpPr>
          <p:cNvPr id="44" name="TextBox 43"/>
          <p:cNvSpPr txBox="1"/>
          <p:nvPr/>
        </p:nvSpPr>
        <p:spPr>
          <a:xfrm>
            <a:off x="2103120" y="5724144"/>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Four concrete, no-cost offers to the Working Group.</a:t>
            </a:r>
          </a:p>
        </p:txBody>
      </p:sp>
      <p:sp>
        <p:nvSpPr>
          <p:cNvPr id="45" name="TextBox 44"/>
          <p:cNvSpPr txBox="1"/>
          <p:nvPr/>
        </p:nvSpPr>
        <p:spPr>
          <a:xfrm>
            <a:off x="10024567" y="5522976"/>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27 – 28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Crashfree India: a nonprofit that adds </a:t>
            </a:r>
            <a:r>
              <a:rPr sz="2250" b="1" i="0">
                <a:solidFill>
                  <a:srgbClr val="4A35FF"/>
                </a:solidFill>
                <a:latin typeface="Montserrat"/>
              </a:rPr>
              <a:t>capacity</a:t>
            </a:r>
            <a:r>
              <a:rPr sz="2250" b="1" i="0">
                <a:solidFill>
                  <a:srgbClr val="16181D"/>
                </a:solidFill>
                <a:latin typeface="Montserrat"/>
              </a:rPr>
              <a:t> to road safety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Registered as the Vision Zero Trust · Co-founded by Cars24 and the Indian Road Safety Council · Working since June 2025 · New Delhi</a:t>
            </a:r>
          </a:p>
        </p:txBody>
      </p:sp>
      <p:sp>
        <p:nvSpPr>
          <p:cNvPr id="8" name="Oval 7"/>
          <p:cNvSpPr/>
          <p:nvPr/>
        </p:nvSpPr>
        <p:spPr>
          <a:xfrm>
            <a:off x="566928" y="2011680"/>
            <a:ext cx="365760" cy="365760"/>
          </a:xfrm>
          <a:prstGeom prst="ellipse">
            <a:avLst/>
          </a:prstGeom>
          <a:solidFill>
            <a:srgbClr val="E9F7F0"/>
          </a:solidFill>
          <a:ln>
            <a:noFill/>
          </a:ln>
          <a:effectLst/>
        </p:spPr>
        <p:txBody>
          <a:bodyPr rtlCol="0" anchor="ctr"/>
          <a:lstStyle/>
          <a:p>
            <a:pPr algn="ctr"/>
          </a:p>
        </p:txBody>
      </p:sp>
      <p:pic>
        <p:nvPicPr>
          <p:cNvPr id="9" name="Picture 8" descr="search-check_0A9955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Evidence first</a:t>
            </a:r>
          </a:p>
        </p:txBody>
      </p:sp>
      <p:sp>
        <p:nvSpPr>
          <p:cNvPr id="11" name="TextBox 10"/>
          <p:cNvSpPr txBox="1"/>
          <p:nvPr/>
        </p:nvSpPr>
        <p:spPr>
          <a:xfrm>
            <a:off x="3566160" y="1993392"/>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Structured field audits, file reviews and research to official standards, not opinion.</a:t>
            </a:r>
          </a:p>
        </p:txBody>
      </p:sp>
      <p:sp>
        <p:nvSpPr>
          <p:cNvPr id="12" name="Oval 11"/>
          <p:cNvSpPr/>
          <p:nvPr/>
        </p:nvSpPr>
        <p:spPr>
          <a:xfrm>
            <a:off x="566928" y="2761488"/>
            <a:ext cx="365760" cy="365760"/>
          </a:xfrm>
          <a:prstGeom prst="ellipse">
            <a:avLst/>
          </a:prstGeom>
          <a:solidFill>
            <a:srgbClr val="EFEDFF"/>
          </a:solidFill>
          <a:ln>
            <a:noFill/>
          </a:ln>
          <a:effectLst/>
        </p:spPr>
        <p:txBody>
          <a:bodyPr rtlCol="0" anchor="ctr"/>
          <a:lstStyle/>
          <a:p>
            <a:pPr algn="ctr"/>
          </a:p>
        </p:txBody>
      </p:sp>
      <p:pic>
        <p:nvPicPr>
          <p:cNvPr id="13" name="Picture 12" descr="landmark_4A35FF_256_2.0.png"/>
          <p:cNvPicPr>
            <a:picLocks noChangeAspect="1"/>
          </p:cNvPicPr>
          <p:nvPr/>
        </p:nvPicPr>
        <p:blipFill>
          <a:blip r:embed="rId3"/>
          <a:stretch>
            <a:fillRect/>
          </a:stretch>
        </p:blipFill>
        <p:spPr>
          <a:xfrm>
            <a:off x="654710" y="2849270"/>
            <a:ext cx="190195" cy="190195"/>
          </a:xfrm>
          <a:prstGeom prst="rect">
            <a:avLst/>
          </a:prstGeom>
        </p:spPr>
      </p:pic>
      <p:sp>
        <p:nvSpPr>
          <p:cNvPr id="14" name="TextBox 13"/>
          <p:cNvSpPr txBox="1"/>
          <p:nvPr/>
        </p:nvSpPr>
        <p:spPr>
          <a:xfrm>
            <a:off x="1097280" y="274320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Institutional collaboration</a:t>
            </a:r>
          </a:p>
        </p:txBody>
      </p:sp>
      <p:sp>
        <p:nvSpPr>
          <p:cNvPr id="15" name="TextBox 14"/>
          <p:cNvSpPr txBox="1"/>
          <p:nvPr/>
        </p:nvSpPr>
        <p:spPr>
          <a:xfrm>
            <a:off x="3566160" y="2743200"/>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We work through PWDs, NHAI, transport departments, police and District Road Safety Committees.</a:t>
            </a:r>
          </a:p>
        </p:txBody>
      </p:sp>
      <p:sp>
        <p:nvSpPr>
          <p:cNvPr id="16" name="Oval 15"/>
          <p:cNvSpPr/>
          <p:nvPr/>
        </p:nvSpPr>
        <p:spPr>
          <a:xfrm>
            <a:off x="566928" y="3511296"/>
            <a:ext cx="365760" cy="365760"/>
          </a:xfrm>
          <a:prstGeom prst="ellipse">
            <a:avLst/>
          </a:prstGeom>
          <a:solidFill>
            <a:srgbClr val="FDF3E3"/>
          </a:solidFill>
          <a:ln>
            <a:noFill/>
          </a:ln>
          <a:effectLst/>
        </p:spPr>
        <p:txBody>
          <a:bodyPr rtlCol="0" anchor="ctr"/>
          <a:lstStyle/>
          <a:p>
            <a:pPr algn="ctr"/>
          </a:p>
        </p:txBody>
      </p:sp>
      <p:pic>
        <p:nvPicPr>
          <p:cNvPr id="17" name="Picture 16" descr="users_E58900_256_2.0.png"/>
          <p:cNvPicPr>
            <a:picLocks noChangeAspect="1"/>
          </p:cNvPicPr>
          <p:nvPr/>
        </p:nvPicPr>
        <p:blipFill>
          <a:blip r:embed="rId4"/>
          <a:stretch>
            <a:fillRect/>
          </a:stretch>
        </p:blipFill>
        <p:spPr>
          <a:xfrm>
            <a:off x="654710" y="3599078"/>
            <a:ext cx="190195" cy="190195"/>
          </a:xfrm>
          <a:prstGeom prst="rect">
            <a:avLst/>
          </a:prstGeom>
        </p:spPr>
      </p:pic>
      <p:sp>
        <p:nvSpPr>
          <p:cNvPr id="18" name="TextBox 17"/>
          <p:cNvSpPr txBox="1"/>
          <p:nvPr/>
        </p:nvSpPr>
        <p:spPr>
          <a:xfrm>
            <a:off x="1097280" y="349300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Youth-led capacity</a:t>
            </a:r>
          </a:p>
        </p:txBody>
      </p:sp>
      <p:sp>
        <p:nvSpPr>
          <p:cNvPr id="19" name="TextBox 18"/>
          <p:cNvSpPr txBox="1"/>
          <p:nvPr/>
        </p:nvSpPr>
        <p:spPr>
          <a:xfrm>
            <a:off x="3566160" y="3493008"/>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Trained student teams from IITs, NITs and SPAs add the auditing hands the system needs.</a:t>
            </a:r>
          </a:p>
        </p:txBody>
      </p:sp>
      <p:sp>
        <p:nvSpPr>
          <p:cNvPr id="20" name="Oval 19"/>
          <p:cNvSpPr/>
          <p:nvPr/>
        </p:nvSpPr>
        <p:spPr>
          <a:xfrm>
            <a:off x="566928" y="4261104"/>
            <a:ext cx="365760" cy="365760"/>
          </a:xfrm>
          <a:prstGeom prst="ellipse">
            <a:avLst/>
          </a:prstGeom>
          <a:solidFill>
            <a:srgbClr val="E7F4F4"/>
          </a:solidFill>
          <a:ln>
            <a:noFill/>
          </a:ln>
          <a:effectLst/>
        </p:spPr>
        <p:txBody>
          <a:bodyPr rtlCol="0" anchor="ctr"/>
          <a:lstStyle/>
          <a:p>
            <a:pPr algn="ctr"/>
          </a:p>
        </p:txBody>
      </p:sp>
      <p:pic>
        <p:nvPicPr>
          <p:cNvPr id="21" name="Picture 20" descr="monitor-check_0E8A8A_256_2.0.png"/>
          <p:cNvPicPr>
            <a:picLocks noChangeAspect="1"/>
          </p:cNvPicPr>
          <p:nvPr/>
        </p:nvPicPr>
        <p:blipFill>
          <a:blip r:embed="rId5"/>
          <a:stretch>
            <a:fillRect/>
          </a:stretch>
        </p:blipFill>
        <p:spPr>
          <a:xfrm>
            <a:off x="654710" y="4348886"/>
            <a:ext cx="190195" cy="190195"/>
          </a:xfrm>
          <a:prstGeom prst="rect">
            <a:avLst/>
          </a:prstGeom>
        </p:spPr>
      </p:pic>
      <p:sp>
        <p:nvSpPr>
          <p:cNvPr id="22" name="TextBox 21"/>
          <p:cNvSpPr txBox="1"/>
          <p:nvPr/>
        </p:nvSpPr>
        <p:spPr>
          <a:xfrm>
            <a:off x="1097280" y="42428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Technology for follow-through</a:t>
            </a:r>
          </a:p>
        </p:txBody>
      </p:sp>
      <p:sp>
        <p:nvSpPr>
          <p:cNvPr id="23" name="TextBox 22"/>
          <p:cNvSpPr txBox="1"/>
          <p:nvPr/>
        </p:nvSpPr>
        <p:spPr>
          <a:xfrm>
            <a:off x="3566160" y="4242816"/>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Public dashboards track every recommendation from submission to completion.</a:t>
            </a:r>
          </a:p>
        </p:txBody>
      </p:sp>
      <p:sp>
        <p:nvSpPr>
          <p:cNvPr id="24" name="Rounded Rectangle 23"/>
          <p:cNvSpPr/>
          <p:nvPr/>
        </p:nvSpPr>
        <p:spPr>
          <a:xfrm>
            <a:off x="566928" y="5166360"/>
            <a:ext cx="6903720" cy="841248"/>
          </a:xfrm>
          <a:prstGeom prst="roundRect">
            <a:avLst>
              <a:gd name="adj" fmla="val 16000"/>
            </a:avLst>
          </a:prstGeom>
          <a:solidFill>
            <a:srgbClr val="EFEDFF"/>
          </a:solidFill>
          <a:ln>
            <a:noFill/>
          </a:ln>
          <a:effectLst/>
        </p:spPr>
        <p:txBody>
          <a:bodyPr rtlCol="0" anchor="ctr"/>
          <a:lstStyle/>
          <a:p>
            <a:pPr algn="ctr"/>
          </a:p>
        </p:txBody>
      </p:sp>
      <p:sp>
        <p:nvSpPr>
          <p:cNvPr id="25" name="TextBox 24"/>
          <p:cNvSpPr txBox="1"/>
          <p:nvPr/>
        </p:nvSpPr>
        <p:spPr>
          <a:xfrm>
            <a:off x="795528" y="5230368"/>
            <a:ext cx="6492240" cy="731520"/>
          </a:xfrm>
          <a:prstGeom prst="rect">
            <a:avLst/>
          </a:prstGeom>
          <a:noFill/>
        </p:spPr>
        <p:txBody>
          <a:bodyPr wrap="square" lIns="0" rIns="0" tIns="0" bIns="0" anchor="t">
            <a:spAutoFit/>
          </a:bodyPr>
          <a:lstStyle/>
          <a:p>
            <a:pPr algn="l">
              <a:lnSpc>
                <a:spcPct val="130000"/>
              </a:lnSpc>
            </a:pPr>
            <a:r>
              <a:rPr sz="1150" b="1" i="0">
                <a:solidFill>
                  <a:srgbClr val="4A35FF"/>
                </a:solidFill>
                <a:latin typeface="Geist"/>
              </a:rPr>
              <a:t>The Group's mandate is our daily work: </a:t>
            </a:r>
            <a:r>
              <a:rPr sz="1150" b="0" i="0">
                <a:solidFill>
                  <a:srgbClr val="4A35FF"/>
                </a:solidFill>
                <a:latin typeface="Geist"/>
              </a:rPr>
              <a:t>audits that end in built fixes, evidence for managing speeds, and streets designed around pedestrians and riders.</a:t>
            </a:r>
          </a:p>
        </p:txBody>
      </p:sp>
      <p:pic>
        <p:nvPicPr>
          <p:cNvPr id="26" name="Picture 25" descr="cfi_map_dots.png"/>
          <p:cNvPicPr>
            <a:picLocks noChangeAspect="1"/>
          </p:cNvPicPr>
          <p:nvPr/>
        </p:nvPicPr>
        <p:blipFill>
          <a:blip r:embed="rId6"/>
          <a:stretch>
            <a:fillRect/>
          </a:stretch>
        </p:blipFill>
        <p:spPr>
          <a:xfrm>
            <a:off x="8092440" y="1965960"/>
            <a:ext cx="3291840" cy="3911357"/>
          </a:xfrm>
          <a:prstGeom prst="rect">
            <a:avLst/>
          </a:prstGeom>
        </p:spPr>
      </p:pic>
      <p:sp>
        <p:nvSpPr>
          <p:cNvPr id="27" name="Rectangle 26"/>
          <p:cNvSpPr/>
          <p:nvPr/>
        </p:nvSpPr>
        <p:spPr>
          <a:xfrm>
            <a:off x="8092440" y="1965960"/>
            <a:ext cx="3291840" cy="3911357"/>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8092440" y="5923037"/>
            <a:ext cx="3291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Where we work today, 18 cities, north to south.</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04 / 28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 OUR APPROACH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Our approach: work </a:t>
            </a:r>
            <a:r>
              <a:rPr sz="2250" b="1" i="0">
                <a:solidFill>
                  <a:srgbClr val="4A35FF"/>
                </a:solidFill>
                <a:latin typeface="Montserrat"/>
              </a:rPr>
              <a:t>with the system</a:t>
            </a:r>
            <a:r>
              <a:rPr sz="2250" b="1" i="0">
                <a:solidFill>
                  <a:srgbClr val="16181D"/>
                </a:solidFill>
                <a:latin typeface="Montserrat"/>
              </a:rPr>
              <a:t>, and prove it with data</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Four steps, applied to every problem we take up, from a dangerous junction to a stalled compensation claim.</a:t>
            </a:r>
          </a:p>
        </p:txBody>
      </p:sp>
      <p:sp>
        <p:nvSpPr>
          <p:cNvPr id="8" name="Rounded Rectangle 7"/>
          <p:cNvSpPr/>
          <p:nvPr/>
        </p:nvSpPr>
        <p:spPr>
          <a:xfrm>
            <a:off x="56692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9" name="Oval 8"/>
          <p:cNvSpPr/>
          <p:nvPr/>
        </p:nvSpPr>
        <p:spPr>
          <a:xfrm>
            <a:off x="749808" y="2258568"/>
            <a:ext cx="475488" cy="475488"/>
          </a:xfrm>
          <a:prstGeom prst="ellipse">
            <a:avLst/>
          </a:prstGeom>
          <a:solidFill>
            <a:srgbClr val="E9F7F0"/>
          </a:solidFill>
          <a:ln>
            <a:noFill/>
          </a:ln>
          <a:effectLst/>
        </p:spPr>
        <p:txBody>
          <a:bodyPr rtlCol="0" anchor="ctr"/>
          <a:lstStyle/>
          <a:p>
            <a:pPr algn="ctr"/>
          </a:p>
        </p:txBody>
      </p:sp>
      <p:pic>
        <p:nvPicPr>
          <p:cNvPr id="10" name="Picture 9" descr="search-check_0A9955_256_2.0.png"/>
          <p:cNvPicPr>
            <a:picLocks noChangeAspect="1"/>
          </p:cNvPicPr>
          <p:nvPr/>
        </p:nvPicPr>
        <p:blipFill>
          <a:blip r:embed="rId2"/>
          <a:stretch>
            <a:fillRect/>
          </a:stretch>
        </p:blipFill>
        <p:spPr>
          <a:xfrm>
            <a:off x="863925" y="2372685"/>
            <a:ext cx="247253" cy="247253"/>
          </a:xfrm>
          <a:prstGeom prst="rect">
            <a:avLst/>
          </a:prstGeom>
        </p:spPr>
      </p:pic>
      <p:sp>
        <p:nvSpPr>
          <p:cNvPr id="11" name="TextBox 10"/>
          <p:cNvSpPr txBox="1"/>
          <p:nvPr/>
        </p:nvSpPr>
        <p:spPr>
          <a:xfrm>
            <a:off x="74980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1 · Evidence</a:t>
            </a:r>
          </a:p>
        </p:txBody>
      </p:sp>
      <p:sp>
        <p:nvSpPr>
          <p:cNvPr id="12" name="TextBox 11"/>
          <p:cNvSpPr txBox="1"/>
          <p:nvPr/>
        </p:nvSpPr>
        <p:spPr>
          <a:xfrm>
            <a:off x="74980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Field audits, file reviews and research to official standards.</a:t>
            </a:r>
          </a:p>
        </p:txBody>
      </p:sp>
      <p:cxnSp>
        <p:nvCxnSpPr>
          <p:cNvPr id="13" name="Connector 12"/>
          <p:cNvCxnSpPr/>
          <p:nvPr/>
        </p:nvCxnSpPr>
        <p:spPr>
          <a:xfrm>
            <a:off x="749808" y="4270248"/>
            <a:ext cx="2304288" cy="0"/>
          </a:xfrm>
          <a:prstGeom prst="line">
            <a:avLst/>
          </a:prstGeom>
          <a:ln w="9525">
            <a:solidFill>
              <a:srgbClr val="E8E9EE"/>
            </a:solidFill>
          </a:ln>
          <a:effectLst/>
        </p:spPr>
      </p:cxnSp>
      <p:sp>
        <p:nvSpPr>
          <p:cNvPr id="14" name="TextBox 13"/>
          <p:cNvSpPr txBox="1"/>
          <p:nvPr/>
        </p:nvSpPr>
        <p:spPr>
          <a:xfrm>
            <a:off x="74980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31 sites audited · 50+ stakeholder consultations</a:t>
            </a:r>
          </a:p>
        </p:txBody>
      </p:sp>
      <p:sp>
        <p:nvSpPr>
          <p:cNvPr id="15" name="TextBox 14"/>
          <p:cNvSpPr txBox="1"/>
          <p:nvPr/>
        </p:nvSpPr>
        <p:spPr>
          <a:xfrm>
            <a:off x="749808" y="4361688"/>
            <a:ext cx="2304288" cy="502920"/>
          </a:xfrm>
          <a:prstGeom prst="rect">
            <a:avLst/>
          </a:prstGeom>
          <a:noFill/>
        </p:spPr>
        <p:txBody>
          <a:bodyPr wrap="square" lIns="0" rIns="0" tIns="0" bIns="0" anchor="t">
            <a:spAutoFit/>
          </a:bodyPr>
          <a:lstStyle/>
          <a:p>
            <a:pPr algn="l">
              <a:lnSpc>
                <a:spcPct val="125000"/>
              </a:lnSpc>
            </a:pPr>
            <a:r>
              <a:rPr sz="850" b="1" i="0">
                <a:solidFill>
                  <a:srgbClr val="0A9955"/>
                </a:solidFill>
                <a:latin typeface="Montserrat"/>
              </a:rPr>
              <a:t>31 sites audited · 50+ stakeholder consultations</a:t>
            </a:r>
          </a:p>
        </p:txBody>
      </p:sp>
      <p:sp>
        <p:nvSpPr>
          <p:cNvPr id="16" name="TextBox 15"/>
          <p:cNvSpPr txBox="1"/>
          <p:nvPr/>
        </p:nvSpPr>
        <p:spPr>
          <a:xfrm>
            <a:off x="320954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17" name="Rounded Rectangle 16"/>
          <p:cNvSpPr/>
          <p:nvPr/>
        </p:nvSpPr>
        <p:spPr>
          <a:xfrm>
            <a:off x="335584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8" name="Oval 17"/>
          <p:cNvSpPr/>
          <p:nvPr/>
        </p:nvSpPr>
        <p:spPr>
          <a:xfrm>
            <a:off x="3538728" y="2258568"/>
            <a:ext cx="475488" cy="475488"/>
          </a:xfrm>
          <a:prstGeom prst="ellipse">
            <a:avLst/>
          </a:prstGeom>
          <a:solidFill>
            <a:srgbClr val="EFEDFF"/>
          </a:solidFill>
          <a:ln>
            <a:noFill/>
          </a:ln>
          <a:effectLst/>
        </p:spPr>
        <p:txBody>
          <a:bodyPr rtlCol="0" anchor="ctr"/>
          <a:lstStyle/>
          <a:p>
            <a:pPr algn="ctr"/>
          </a:p>
        </p:txBody>
      </p:sp>
      <p:pic>
        <p:nvPicPr>
          <p:cNvPr id="19" name="Picture 18" descr="landmark_4A35FF_256_2.0.png"/>
          <p:cNvPicPr>
            <a:picLocks noChangeAspect="1"/>
          </p:cNvPicPr>
          <p:nvPr/>
        </p:nvPicPr>
        <p:blipFill>
          <a:blip r:embed="rId3"/>
          <a:stretch>
            <a:fillRect/>
          </a:stretch>
        </p:blipFill>
        <p:spPr>
          <a:xfrm>
            <a:off x="3652845" y="2372685"/>
            <a:ext cx="247253" cy="247253"/>
          </a:xfrm>
          <a:prstGeom prst="rect">
            <a:avLst/>
          </a:prstGeom>
        </p:spPr>
      </p:pic>
      <p:sp>
        <p:nvSpPr>
          <p:cNvPr id="20" name="TextBox 19"/>
          <p:cNvSpPr txBox="1"/>
          <p:nvPr/>
        </p:nvSpPr>
        <p:spPr>
          <a:xfrm>
            <a:off x="353872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2 · Institutional partnership</a:t>
            </a:r>
          </a:p>
        </p:txBody>
      </p:sp>
      <p:sp>
        <p:nvSpPr>
          <p:cNvPr id="21" name="TextBox 20"/>
          <p:cNvSpPr txBox="1"/>
          <p:nvPr/>
        </p:nvSpPr>
        <p:spPr>
          <a:xfrm>
            <a:off x="353872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Work through the authority that owns the problem, never around it.</a:t>
            </a:r>
          </a:p>
        </p:txBody>
      </p:sp>
      <p:cxnSp>
        <p:nvCxnSpPr>
          <p:cNvPr id="22" name="Connector 21"/>
          <p:cNvCxnSpPr/>
          <p:nvPr/>
        </p:nvCxnSpPr>
        <p:spPr>
          <a:xfrm>
            <a:off x="3538728" y="4270248"/>
            <a:ext cx="2304288" cy="0"/>
          </a:xfrm>
          <a:prstGeom prst="line">
            <a:avLst/>
          </a:prstGeom>
          <a:ln w="9525">
            <a:solidFill>
              <a:srgbClr val="E8E9EE"/>
            </a:solidFill>
          </a:ln>
          <a:effectLst/>
        </p:spPr>
      </p:cxnSp>
      <p:sp>
        <p:nvSpPr>
          <p:cNvPr id="23" name="TextBox 22"/>
          <p:cNvSpPr txBox="1"/>
          <p:nvPr/>
        </p:nvSpPr>
        <p:spPr>
          <a:xfrm>
            <a:off x="353872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25+ written approvals · 4 DRSCs · MoUs with police</a:t>
            </a:r>
          </a:p>
        </p:txBody>
      </p:sp>
      <p:sp>
        <p:nvSpPr>
          <p:cNvPr id="24" name="TextBox 23"/>
          <p:cNvSpPr txBox="1"/>
          <p:nvPr/>
        </p:nvSpPr>
        <p:spPr>
          <a:xfrm>
            <a:off x="3538728" y="4361688"/>
            <a:ext cx="2304288" cy="502920"/>
          </a:xfrm>
          <a:prstGeom prst="rect">
            <a:avLst/>
          </a:prstGeom>
          <a:noFill/>
        </p:spPr>
        <p:txBody>
          <a:bodyPr wrap="square" lIns="0" rIns="0" tIns="0" bIns="0" anchor="t">
            <a:spAutoFit/>
          </a:bodyPr>
          <a:lstStyle/>
          <a:p>
            <a:pPr algn="l">
              <a:lnSpc>
                <a:spcPct val="125000"/>
              </a:lnSpc>
            </a:pPr>
            <a:r>
              <a:rPr sz="850" b="1" i="0">
                <a:solidFill>
                  <a:srgbClr val="4A35FF"/>
                </a:solidFill>
                <a:latin typeface="Montserrat"/>
              </a:rPr>
              <a:t>25+ written approvals · 4 DRSCs · MoUs with police</a:t>
            </a:r>
          </a:p>
        </p:txBody>
      </p:sp>
      <p:sp>
        <p:nvSpPr>
          <p:cNvPr id="25" name="TextBox 24"/>
          <p:cNvSpPr txBox="1"/>
          <p:nvPr/>
        </p:nvSpPr>
        <p:spPr>
          <a:xfrm>
            <a:off x="599846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26" name="Rounded Rectangle 25"/>
          <p:cNvSpPr/>
          <p:nvPr/>
        </p:nvSpPr>
        <p:spPr>
          <a:xfrm>
            <a:off x="614476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7" name="Oval 26"/>
          <p:cNvSpPr/>
          <p:nvPr/>
        </p:nvSpPr>
        <p:spPr>
          <a:xfrm>
            <a:off x="6327648" y="2258568"/>
            <a:ext cx="475488" cy="475488"/>
          </a:xfrm>
          <a:prstGeom prst="ellipse">
            <a:avLst/>
          </a:prstGeom>
          <a:solidFill>
            <a:srgbClr val="E7F4F4"/>
          </a:solidFill>
          <a:ln>
            <a:noFill/>
          </a:ln>
          <a:effectLst/>
        </p:spPr>
        <p:txBody>
          <a:bodyPr rtlCol="0" anchor="ctr"/>
          <a:lstStyle/>
          <a:p>
            <a:pPr algn="ctr"/>
          </a:p>
        </p:txBody>
      </p:sp>
      <p:pic>
        <p:nvPicPr>
          <p:cNvPr id="28" name="Picture 27" descr="cpu_0E8A8A_256_2.0.png"/>
          <p:cNvPicPr>
            <a:picLocks noChangeAspect="1"/>
          </p:cNvPicPr>
          <p:nvPr/>
        </p:nvPicPr>
        <p:blipFill>
          <a:blip r:embed="rId4"/>
          <a:stretch>
            <a:fillRect/>
          </a:stretch>
        </p:blipFill>
        <p:spPr>
          <a:xfrm>
            <a:off x="6441765" y="2372685"/>
            <a:ext cx="247253" cy="247253"/>
          </a:xfrm>
          <a:prstGeom prst="rect">
            <a:avLst/>
          </a:prstGeom>
        </p:spPr>
      </p:pic>
      <p:sp>
        <p:nvSpPr>
          <p:cNvPr id="29" name="TextBox 28"/>
          <p:cNvSpPr txBox="1"/>
          <p:nvPr/>
        </p:nvSpPr>
        <p:spPr>
          <a:xfrm>
            <a:off x="632764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3 · Technology</a:t>
            </a:r>
          </a:p>
        </p:txBody>
      </p:sp>
      <p:sp>
        <p:nvSpPr>
          <p:cNvPr id="30" name="TextBox 29"/>
          <p:cNvSpPr txBox="1"/>
          <p:nvPr/>
        </p:nvSpPr>
        <p:spPr>
          <a:xfrm>
            <a:off x="632764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Dashboards, AI and WhatsApp tools that fit how officials already work.</a:t>
            </a:r>
          </a:p>
        </p:txBody>
      </p:sp>
      <p:cxnSp>
        <p:nvCxnSpPr>
          <p:cNvPr id="31" name="Connector 30"/>
          <p:cNvCxnSpPr/>
          <p:nvPr/>
        </p:nvCxnSpPr>
        <p:spPr>
          <a:xfrm>
            <a:off x="6327648" y="4270248"/>
            <a:ext cx="2304288" cy="0"/>
          </a:xfrm>
          <a:prstGeom prst="line">
            <a:avLst/>
          </a:prstGeom>
          <a:ln w="9525">
            <a:solidFill>
              <a:srgbClr val="E8E9EE"/>
            </a:solidFill>
          </a:ln>
          <a:effectLst/>
        </p:spPr>
      </p:cxnSp>
      <p:sp>
        <p:nvSpPr>
          <p:cNvPr id="32" name="TextBox 31"/>
          <p:cNvSpPr txBox="1"/>
          <p:nvPr/>
        </p:nvSpPr>
        <p:spPr>
          <a:xfrm>
            <a:off x="632764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Aasha · SATARK · 4 open data platforms</a:t>
            </a:r>
          </a:p>
        </p:txBody>
      </p:sp>
      <p:sp>
        <p:nvSpPr>
          <p:cNvPr id="33" name="TextBox 32"/>
          <p:cNvSpPr txBox="1"/>
          <p:nvPr/>
        </p:nvSpPr>
        <p:spPr>
          <a:xfrm>
            <a:off x="6327648" y="4361688"/>
            <a:ext cx="2304288" cy="502920"/>
          </a:xfrm>
          <a:prstGeom prst="rect">
            <a:avLst/>
          </a:prstGeom>
          <a:noFill/>
        </p:spPr>
        <p:txBody>
          <a:bodyPr wrap="square" lIns="0" rIns="0" tIns="0" bIns="0" anchor="t">
            <a:spAutoFit/>
          </a:bodyPr>
          <a:lstStyle/>
          <a:p>
            <a:pPr algn="l">
              <a:lnSpc>
                <a:spcPct val="125000"/>
              </a:lnSpc>
            </a:pPr>
            <a:r>
              <a:rPr sz="850" b="1" i="0">
                <a:solidFill>
                  <a:srgbClr val="0E8A8A"/>
                </a:solidFill>
                <a:latin typeface="Montserrat"/>
              </a:rPr>
              <a:t>Aasha · SATARK · 4 open data platforms</a:t>
            </a:r>
          </a:p>
        </p:txBody>
      </p:sp>
      <p:sp>
        <p:nvSpPr>
          <p:cNvPr id="34" name="TextBox 33"/>
          <p:cNvSpPr txBox="1"/>
          <p:nvPr/>
        </p:nvSpPr>
        <p:spPr>
          <a:xfrm>
            <a:off x="878738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35" name="Rounded Rectangle 34"/>
          <p:cNvSpPr/>
          <p:nvPr/>
        </p:nvSpPr>
        <p:spPr>
          <a:xfrm>
            <a:off x="893368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36" name="Oval 35"/>
          <p:cNvSpPr/>
          <p:nvPr/>
        </p:nvSpPr>
        <p:spPr>
          <a:xfrm>
            <a:off x="9116568" y="2258568"/>
            <a:ext cx="475488" cy="475488"/>
          </a:xfrm>
          <a:prstGeom prst="ellipse">
            <a:avLst/>
          </a:prstGeom>
          <a:solidFill>
            <a:srgbClr val="FDF3E3"/>
          </a:solidFill>
          <a:ln>
            <a:noFill/>
          </a:ln>
          <a:effectLst/>
        </p:spPr>
        <p:txBody>
          <a:bodyPr rtlCol="0" anchor="ctr"/>
          <a:lstStyle/>
          <a:p>
            <a:pPr algn="ctr"/>
          </a:p>
        </p:txBody>
      </p:sp>
      <p:pic>
        <p:nvPicPr>
          <p:cNvPr id="37" name="Picture 36" descr="route_E58900_256_2.0.png"/>
          <p:cNvPicPr>
            <a:picLocks noChangeAspect="1"/>
          </p:cNvPicPr>
          <p:nvPr/>
        </p:nvPicPr>
        <p:blipFill>
          <a:blip r:embed="rId5"/>
          <a:stretch>
            <a:fillRect/>
          </a:stretch>
        </p:blipFill>
        <p:spPr>
          <a:xfrm>
            <a:off x="9230685" y="2372685"/>
            <a:ext cx="247253" cy="247253"/>
          </a:xfrm>
          <a:prstGeom prst="rect">
            <a:avLst/>
          </a:prstGeom>
        </p:spPr>
      </p:pic>
      <p:sp>
        <p:nvSpPr>
          <p:cNvPr id="38" name="TextBox 37"/>
          <p:cNvSpPr txBox="1"/>
          <p:nvPr/>
        </p:nvSpPr>
        <p:spPr>
          <a:xfrm>
            <a:off x="911656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4 · Follow-through</a:t>
            </a:r>
          </a:p>
        </p:txBody>
      </p:sp>
      <p:sp>
        <p:nvSpPr>
          <p:cNvPr id="39" name="TextBox 38"/>
          <p:cNvSpPr txBox="1"/>
          <p:nvPr/>
        </p:nvSpPr>
        <p:spPr>
          <a:xfrm>
            <a:off x="911656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Every recommendation tracked publicly to completion.</a:t>
            </a:r>
          </a:p>
        </p:txBody>
      </p:sp>
      <p:cxnSp>
        <p:nvCxnSpPr>
          <p:cNvPr id="40" name="Connector 39"/>
          <p:cNvCxnSpPr/>
          <p:nvPr/>
        </p:nvCxnSpPr>
        <p:spPr>
          <a:xfrm>
            <a:off x="9116568" y="4270248"/>
            <a:ext cx="2304288" cy="0"/>
          </a:xfrm>
          <a:prstGeom prst="line">
            <a:avLst/>
          </a:prstGeom>
          <a:ln w="9525">
            <a:solidFill>
              <a:srgbClr val="E8E9EE"/>
            </a:solidFill>
          </a:ln>
          <a:effectLst/>
        </p:spPr>
      </p:cxnSp>
      <p:sp>
        <p:nvSpPr>
          <p:cNvPr id="41" name="TextBox 40"/>
          <p:cNvSpPr txBox="1"/>
          <p:nvPr/>
        </p:nvSpPr>
        <p:spPr>
          <a:xfrm>
            <a:off x="911656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Implementation started at 15 sites · 7 fully built</a:t>
            </a:r>
          </a:p>
        </p:txBody>
      </p:sp>
      <p:sp>
        <p:nvSpPr>
          <p:cNvPr id="42" name="TextBox 41"/>
          <p:cNvSpPr txBox="1"/>
          <p:nvPr/>
        </p:nvSpPr>
        <p:spPr>
          <a:xfrm>
            <a:off x="9116568" y="4361688"/>
            <a:ext cx="2304288" cy="502920"/>
          </a:xfrm>
          <a:prstGeom prst="rect">
            <a:avLst/>
          </a:prstGeom>
          <a:noFill/>
        </p:spPr>
        <p:txBody>
          <a:bodyPr wrap="square" lIns="0" rIns="0" tIns="0" bIns="0" anchor="t">
            <a:spAutoFit/>
          </a:bodyPr>
          <a:lstStyle/>
          <a:p>
            <a:pPr algn="l">
              <a:lnSpc>
                <a:spcPct val="125000"/>
              </a:lnSpc>
            </a:pPr>
            <a:r>
              <a:rPr sz="850" b="1" i="0">
                <a:solidFill>
                  <a:srgbClr val="E58900"/>
                </a:solidFill>
                <a:latin typeface="Montserrat"/>
              </a:rPr>
              <a:t>Implementation started at 15 sites · 7 fully built</a:t>
            </a:r>
          </a:p>
        </p:txBody>
      </p:sp>
      <p:sp>
        <p:nvSpPr>
          <p:cNvPr id="43" name="Rounded Rectangle 42"/>
          <p:cNvSpPr/>
          <p:nvPr/>
        </p:nvSpPr>
        <p:spPr>
          <a:xfrm>
            <a:off x="566928" y="5257800"/>
            <a:ext cx="11057839" cy="640080"/>
          </a:xfrm>
          <a:prstGeom prst="roundRect">
            <a:avLst>
              <a:gd name="adj" fmla="val 14000"/>
            </a:avLst>
          </a:prstGeom>
          <a:solidFill>
            <a:srgbClr val="F7F7FA"/>
          </a:solidFill>
          <a:ln>
            <a:noFill/>
          </a:ln>
          <a:effectLst/>
        </p:spPr>
        <p:txBody>
          <a:bodyPr rtlCol="0" anchor="ctr"/>
          <a:lstStyle/>
          <a:p>
            <a:pPr algn="ctr"/>
          </a:p>
        </p:txBody>
      </p:sp>
      <p:sp>
        <p:nvSpPr>
          <p:cNvPr id="44" name="TextBox 43"/>
          <p:cNvSpPr txBox="1"/>
          <p:nvPr/>
        </p:nvSpPr>
        <p:spPr>
          <a:xfrm>
            <a:off x="795528" y="5358384"/>
            <a:ext cx="10600639" cy="457200"/>
          </a:xfrm>
          <a:prstGeom prst="rect">
            <a:avLst/>
          </a:prstGeom>
          <a:noFill/>
        </p:spPr>
        <p:txBody>
          <a:bodyPr wrap="square" lIns="0" rIns="0" tIns="0" bIns="0" anchor="t">
            <a:spAutoFit/>
          </a:bodyPr>
          <a:lstStyle/>
          <a:p>
            <a:pPr algn="l">
              <a:lnSpc>
                <a:spcPct val="130000"/>
              </a:lnSpc>
            </a:pPr>
            <a:r>
              <a:rPr sz="1100" b="1" i="0">
                <a:solidFill>
                  <a:srgbClr val="16181D"/>
                </a:solidFill>
                <a:latin typeface="Geist"/>
              </a:rPr>
              <a:t>We do not replace the system and we do not campaign against it. </a:t>
            </a:r>
            <a:r>
              <a:rPr sz="1100" b="0" i="0">
                <a:solidFill>
                  <a:srgbClr val="6E7180"/>
                </a:solidFill>
                <a:latin typeface="Geist"/>
              </a:rPr>
              <a:t>We add hands, evidence and tools to work the system has already committed to.</a:t>
            </a:r>
          </a:p>
        </p:txBody>
      </p:sp>
      <p:cxnSp>
        <p:nvCxnSpPr>
          <p:cNvPr id="45" name="Connector 44"/>
          <p:cNvCxnSpPr/>
          <p:nvPr/>
        </p:nvCxnSpPr>
        <p:spPr>
          <a:xfrm>
            <a:off x="566928" y="6455664"/>
            <a:ext cx="11057839" cy="0"/>
          </a:xfrm>
          <a:prstGeom prst="line">
            <a:avLst/>
          </a:prstGeom>
          <a:ln w="9525">
            <a:solidFill>
              <a:srgbClr val="E8E9EE"/>
            </a:solidFill>
          </a:ln>
          <a:effectLst/>
        </p:spPr>
      </p:cxnSp>
      <p:sp>
        <p:nvSpPr>
          <p:cNvPr id="46" name="TextBox 4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47" name="TextBox 4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05 / 28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WHY WORKING GROUP 2</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Why Working Group 2, </a:t>
            </a:r>
            <a:r>
              <a:rPr sz="2250" b="1" i="0">
                <a:solidFill>
                  <a:srgbClr val="4A35FF"/>
                </a:solidFill>
                <a:latin typeface="Montserrat"/>
              </a:rPr>
              <a:t>and what we bring to it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The Group's mandate matches the deepest part of our portfolio. Three focus areas where we are ready on day one.</a:t>
            </a:r>
          </a:p>
        </p:txBody>
      </p:sp>
      <p:sp>
        <p:nvSpPr>
          <p:cNvPr id="8" name="Oval 7"/>
          <p:cNvSpPr/>
          <p:nvPr/>
        </p:nvSpPr>
        <p:spPr>
          <a:xfrm>
            <a:off x="566928" y="2011680"/>
            <a:ext cx="365760" cy="365760"/>
          </a:xfrm>
          <a:prstGeom prst="ellipse">
            <a:avLst/>
          </a:prstGeom>
          <a:solidFill>
            <a:srgbClr val="EFEDFF"/>
          </a:solidFill>
          <a:ln>
            <a:noFill/>
          </a:ln>
          <a:effectLst/>
        </p:spPr>
        <p:txBody>
          <a:bodyPr rtlCol="0" anchor="ctr"/>
          <a:lstStyle/>
          <a:p>
            <a:pPr algn="ctr"/>
          </a:p>
        </p:txBody>
      </p:sp>
      <p:pic>
        <p:nvPicPr>
          <p:cNvPr id="9" name="Picture 8" descr="construction_4A35FF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Black-spot rectification at scale</a:t>
            </a:r>
          </a:p>
        </p:txBody>
      </p:sp>
      <p:sp>
        <p:nvSpPr>
          <p:cNvPr id="11" name="TextBox 10"/>
          <p:cNvSpPr txBox="1"/>
          <p:nvPr/>
        </p:nvSpPr>
        <p:spPr>
          <a:xfrm>
            <a:off x="3566160" y="1993392"/>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Our audit-to-implementation pipeline is running in 18 cities, the Group's rectification agenda is our core work.</a:t>
            </a:r>
          </a:p>
        </p:txBody>
      </p:sp>
      <p:sp>
        <p:nvSpPr>
          <p:cNvPr id="12" name="Oval 11"/>
          <p:cNvSpPr/>
          <p:nvPr/>
        </p:nvSpPr>
        <p:spPr>
          <a:xfrm>
            <a:off x="566928" y="2907792"/>
            <a:ext cx="365760" cy="365760"/>
          </a:xfrm>
          <a:prstGeom prst="ellipse">
            <a:avLst/>
          </a:prstGeom>
          <a:solidFill>
            <a:srgbClr val="E9F7F0"/>
          </a:solidFill>
          <a:ln>
            <a:noFill/>
          </a:ln>
          <a:effectLst/>
        </p:spPr>
        <p:txBody>
          <a:bodyPr rtlCol="0" anchor="ctr"/>
          <a:lstStyle/>
          <a:p>
            <a:pPr algn="ctr"/>
          </a:p>
        </p:txBody>
      </p:sp>
      <p:pic>
        <p:nvPicPr>
          <p:cNvPr id="13" name="Picture 12" descr="gauge_0A9955_256_2.0.png"/>
          <p:cNvPicPr>
            <a:picLocks noChangeAspect="1"/>
          </p:cNvPicPr>
          <p:nvPr/>
        </p:nvPicPr>
        <p:blipFill>
          <a:blip r:embed="rId3"/>
          <a:stretch>
            <a:fillRect/>
          </a:stretch>
        </p:blipFill>
        <p:spPr>
          <a:xfrm>
            <a:off x="654710" y="2995574"/>
            <a:ext cx="190195" cy="190195"/>
          </a:xfrm>
          <a:prstGeom prst="rect">
            <a:avLst/>
          </a:prstGeom>
        </p:spPr>
      </p:pic>
      <p:sp>
        <p:nvSpPr>
          <p:cNvPr id="14" name="TextBox 13"/>
          <p:cNvSpPr txBox="1"/>
          <p:nvPr/>
        </p:nvSpPr>
        <p:spPr>
          <a:xfrm>
            <a:off x="1097280" y="2889504"/>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Standards for audits &amp; speed management</a:t>
            </a:r>
          </a:p>
        </p:txBody>
      </p:sp>
      <p:sp>
        <p:nvSpPr>
          <p:cNvPr id="15" name="TextBox 14"/>
          <p:cNvSpPr txBox="1"/>
          <p:nvPr/>
        </p:nvSpPr>
        <p:spPr>
          <a:xfrm>
            <a:off x="3566160" y="2889504"/>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Audit instruments anchored to IRC codes and MoRTH checklists, with masterclass-trained student teams.</a:t>
            </a:r>
          </a:p>
        </p:txBody>
      </p:sp>
      <p:sp>
        <p:nvSpPr>
          <p:cNvPr id="16" name="Oval 15"/>
          <p:cNvSpPr/>
          <p:nvPr/>
        </p:nvSpPr>
        <p:spPr>
          <a:xfrm>
            <a:off x="566928" y="3803904"/>
            <a:ext cx="365760" cy="365760"/>
          </a:xfrm>
          <a:prstGeom prst="ellipse">
            <a:avLst/>
          </a:prstGeom>
          <a:solidFill>
            <a:srgbClr val="FDF3E3"/>
          </a:solidFill>
          <a:ln>
            <a:noFill/>
          </a:ln>
          <a:effectLst/>
        </p:spPr>
        <p:txBody>
          <a:bodyPr rtlCol="0" anchor="ctr"/>
          <a:lstStyle/>
          <a:p>
            <a:pPr algn="ctr"/>
          </a:p>
        </p:txBody>
      </p:sp>
      <p:pic>
        <p:nvPicPr>
          <p:cNvPr id="17" name="Picture 16" descr="footprints_E58900_256_2.0.png"/>
          <p:cNvPicPr>
            <a:picLocks noChangeAspect="1"/>
          </p:cNvPicPr>
          <p:nvPr/>
        </p:nvPicPr>
        <p:blipFill>
          <a:blip r:embed="rId4"/>
          <a:stretch>
            <a:fillRect/>
          </a:stretch>
        </p:blipFill>
        <p:spPr>
          <a:xfrm>
            <a:off x="654710" y="3891686"/>
            <a:ext cx="190195" cy="190195"/>
          </a:xfrm>
          <a:prstGeom prst="rect">
            <a:avLst/>
          </a:prstGeom>
        </p:spPr>
      </p:pic>
      <p:sp>
        <p:nvSpPr>
          <p:cNvPr id="18" name="TextBox 17"/>
          <p:cNvSpPr txBox="1"/>
          <p:nvPr/>
        </p:nvSpPr>
        <p:spPr>
          <a:xfrm>
            <a:off x="1097280" y="37856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Protecting vulnerable road users</a:t>
            </a:r>
          </a:p>
        </p:txBody>
      </p:sp>
      <p:sp>
        <p:nvSpPr>
          <p:cNvPr id="19" name="TextBox 18"/>
          <p:cNvSpPr txBox="1"/>
          <p:nvPr/>
        </p:nvSpPr>
        <p:spPr>
          <a:xfrm>
            <a:off x="3566160" y="3785616"/>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Pedestrian-first audits, our published gig-rider safety study, school-zone screening, evidence ready for VRU standards.</a:t>
            </a:r>
          </a:p>
        </p:txBody>
      </p:sp>
      <p:sp>
        <p:nvSpPr>
          <p:cNvPr id="20" name="TextBox 19"/>
          <p:cNvSpPr txBox="1"/>
          <p:nvPr/>
        </p:nvSpPr>
        <p:spPr>
          <a:xfrm>
            <a:off x="7452360" y="1920240"/>
            <a:ext cx="4023360" cy="237744"/>
          </a:xfrm>
          <a:prstGeom prst="rect">
            <a:avLst/>
          </a:prstGeom>
          <a:noFill/>
        </p:spPr>
        <p:txBody>
          <a:bodyPr wrap="square" lIns="0" rIns="0" tIns="0" bIns="0" anchor="t">
            <a:spAutoFit/>
          </a:bodyPr>
          <a:lstStyle/>
          <a:p>
            <a:pPr algn="l">
              <a:lnSpc>
                <a:spcPct val="128000"/>
              </a:lnSpc>
            </a:pPr>
            <a:r>
              <a:rPr sz="850" b="1" i="0" spc="140">
                <a:solidFill>
                  <a:srgbClr val="6E7180"/>
                </a:solidFill>
                <a:latin typeface="Montserrat"/>
              </a:rPr>
              <a:t>EXISTING CAPABILITIES WE PUT ON THE TABLE</a:t>
            </a:r>
          </a:p>
        </p:txBody>
      </p:sp>
      <p:sp>
        <p:nvSpPr>
          <p:cNvPr id="21" name="Rounded Rectangle 20"/>
          <p:cNvSpPr/>
          <p:nvPr/>
        </p:nvSpPr>
        <p:spPr>
          <a:xfrm>
            <a:off x="7452360" y="2212848"/>
            <a:ext cx="2048256" cy="402336"/>
          </a:xfrm>
          <a:prstGeom prst="roundRect">
            <a:avLst>
              <a:gd name="adj" fmla="val 50000"/>
            </a:avLst>
          </a:prstGeom>
          <a:solidFill>
            <a:srgbClr val="EFEDFF"/>
          </a:solidFill>
          <a:ln>
            <a:noFill/>
          </a:ln>
          <a:effectLst/>
        </p:spPr>
        <p:txBody>
          <a:bodyPr rtlCol="0" anchor="ctr"/>
          <a:lstStyle/>
          <a:p>
            <a:pPr algn="ctr"/>
          </a:p>
        </p:txBody>
      </p:sp>
      <p:sp>
        <p:nvSpPr>
          <p:cNvPr id="22" name="TextBox 21"/>
          <p:cNvSpPr txBox="1"/>
          <p:nvPr/>
        </p:nvSpPr>
        <p:spPr>
          <a:xfrm>
            <a:off x="7470648" y="2212848"/>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31 trained audit teams</a:t>
            </a:r>
          </a:p>
        </p:txBody>
      </p:sp>
      <p:sp>
        <p:nvSpPr>
          <p:cNvPr id="23" name="Rounded Rectangle 22"/>
          <p:cNvSpPr/>
          <p:nvPr/>
        </p:nvSpPr>
        <p:spPr>
          <a:xfrm>
            <a:off x="9573768" y="2212848"/>
            <a:ext cx="2048256" cy="402336"/>
          </a:xfrm>
          <a:prstGeom prst="roundRect">
            <a:avLst>
              <a:gd name="adj" fmla="val 50000"/>
            </a:avLst>
          </a:prstGeom>
          <a:solidFill>
            <a:srgbClr val="EFEDFF"/>
          </a:solidFill>
          <a:ln>
            <a:noFill/>
          </a:ln>
          <a:effectLst/>
        </p:spPr>
        <p:txBody>
          <a:bodyPr rtlCol="0" anchor="ctr"/>
          <a:lstStyle/>
          <a:p>
            <a:pPr algn="ctr"/>
          </a:p>
        </p:txBody>
      </p:sp>
      <p:sp>
        <p:nvSpPr>
          <p:cNvPr id="24" name="TextBox 23"/>
          <p:cNvSpPr txBox="1"/>
          <p:nvPr/>
        </p:nvSpPr>
        <p:spPr>
          <a:xfrm>
            <a:off x="9592056" y="2212848"/>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Public tracking portal</a:t>
            </a:r>
          </a:p>
        </p:txBody>
      </p:sp>
      <p:sp>
        <p:nvSpPr>
          <p:cNvPr id="25" name="Rounded Rectangle 24"/>
          <p:cNvSpPr/>
          <p:nvPr/>
        </p:nvSpPr>
        <p:spPr>
          <a:xfrm>
            <a:off x="7452360" y="2688336"/>
            <a:ext cx="2048256" cy="402336"/>
          </a:xfrm>
          <a:prstGeom prst="roundRect">
            <a:avLst>
              <a:gd name="adj" fmla="val 50000"/>
            </a:avLst>
          </a:prstGeom>
          <a:solidFill>
            <a:srgbClr val="EFEDFF"/>
          </a:solidFill>
          <a:ln>
            <a:noFill/>
          </a:ln>
          <a:effectLst/>
        </p:spPr>
        <p:txBody>
          <a:bodyPr rtlCol="0" anchor="ctr"/>
          <a:lstStyle/>
          <a:p>
            <a:pPr algn="ctr"/>
          </a:p>
        </p:txBody>
      </p:sp>
      <p:sp>
        <p:nvSpPr>
          <p:cNvPr id="26" name="TextBox 25"/>
          <p:cNvSpPr txBox="1"/>
          <p:nvPr/>
        </p:nvSpPr>
        <p:spPr>
          <a:xfrm>
            <a:off x="7470648" y="2688336"/>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District pilots: GGM · SWD · Jaipur</a:t>
            </a:r>
          </a:p>
        </p:txBody>
      </p:sp>
      <p:sp>
        <p:nvSpPr>
          <p:cNvPr id="27" name="Rounded Rectangle 26"/>
          <p:cNvSpPr/>
          <p:nvPr/>
        </p:nvSpPr>
        <p:spPr>
          <a:xfrm>
            <a:off x="9573768" y="2688336"/>
            <a:ext cx="2048256" cy="402336"/>
          </a:xfrm>
          <a:prstGeom prst="roundRect">
            <a:avLst>
              <a:gd name="adj" fmla="val 50000"/>
            </a:avLst>
          </a:prstGeom>
          <a:solidFill>
            <a:srgbClr val="EFEDFF"/>
          </a:solidFill>
          <a:ln>
            <a:noFill/>
          </a:ln>
          <a:effectLst/>
        </p:spPr>
        <p:txBody>
          <a:bodyPr rtlCol="0" anchor="ctr"/>
          <a:lstStyle/>
          <a:p>
            <a:pPr algn="ctr"/>
          </a:p>
        </p:txBody>
      </p:sp>
      <p:sp>
        <p:nvSpPr>
          <p:cNvPr id="28" name="TextBox 27"/>
          <p:cNvSpPr txBox="1"/>
          <p:nvPr/>
        </p:nvSpPr>
        <p:spPr>
          <a:xfrm>
            <a:off x="9592056" y="2688336"/>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Gig-rider safety study</a:t>
            </a:r>
          </a:p>
        </p:txBody>
      </p:sp>
      <p:sp>
        <p:nvSpPr>
          <p:cNvPr id="29" name="Rounded Rectangle 28"/>
          <p:cNvSpPr/>
          <p:nvPr/>
        </p:nvSpPr>
        <p:spPr>
          <a:xfrm>
            <a:off x="7452360" y="3163824"/>
            <a:ext cx="2048256" cy="402336"/>
          </a:xfrm>
          <a:prstGeom prst="roundRect">
            <a:avLst>
              <a:gd name="adj" fmla="val 50000"/>
            </a:avLst>
          </a:prstGeom>
          <a:solidFill>
            <a:srgbClr val="EFEDFF"/>
          </a:solidFill>
          <a:ln>
            <a:noFill/>
          </a:ln>
          <a:effectLst/>
        </p:spPr>
        <p:txBody>
          <a:bodyPr rtlCol="0" anchor="ctr"/>
          <a:lstStyle/>
          <a:p>
            <a:pPr algn="ctr"/>
          </a:p>
        </p:txBody>
      </p:sp>
      <p:sp>
        <p:nvSpPr>
          <p:cNvPr id="30" name="TextBox 29"/>
          <p:cNvSpPr txBox="1"/>
          <p:nvPr/>
        </p:nvSpPr>
        <p:spPr>
          <a:xfrm>
            <a:off x="7470648" y="3163824"/>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7 sites fully built</a:t>
            </a:r>
          </a:p>
        </p:txBody>
      </p:sp>
      <p:sp>
        <p:nvSpPr>
          <p:cNvPr id="31" name="Rounded Rectangle 30"/>
          <p:cNvSpPr/>
          <p:nvPr/>
        </p:nvSpPr>
        <p:spPr>
          <a:xfrm>
            <a:off x="9573768" y="3163824"/>
            <a:ext cx="2048256" cy="402336"/>
          </a:xfrm>
          <a:prstGeom prst="roundRect">
            <a:avLst>
              <a:gd name="adj" fmla="val 50000"/>
            </a:avLst>
          </a:prstGeom>
          <a:solidFill>
            <a:srgbClr val="EFEDFF"/>
          </a:solidFill>
          <a:ln>
            <a:noFill/>
          </a:ln>
          <a:effectLst/>
        </p:spPr>
        <p:txBody>
          <a:bodyPr rtlCol="0" anchor="ctr"/>
          <a:lstStyle/>
          <a:p>
            <a:pPr algn="ctr"/>
          </a:p>
        </p:txBody>
      </p:sp>
      <p:sp>
        <p:nvSpPr>
          <p:cNvPr id="32" name="TextBox 31"/>
          <p:cNvSpPr txBox="1"/>
          <p:nvPr/>
        </p:nvSpPr>
        <p:spPr>
          <a:xfrm>
            <a:off x="9592056" y="3163824"/>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Expert bench on call</a:t>
            </a:r>
          </a:p>
        </p:txBody>
      </p:sp>
      <p:sp>
        <p:nvSpPr>
          <p:cNvPr id="33" name="TextBox 32"/>
          <p:cNvSpPr txBox="1"/>
          <p:nvPr/>
        </p:nvSpPr>
        <p:spPr>
          <a:xfrm>
            <a:off x="566928" y="4709160"/>
            <a:ext cx="10972800" cy="237744"/>
          </a:xfrm>
          <a:prstGeom prst="rect">
            <a:avLst/>
          </a:prstGeom>
          <a:noFill/>
        </p:spPr>
        <p:txBody>
          <a:bodyPr wrap="square" lIns="0" rIns="0" tIns="0" bIns="0" anchor="t">
            <a:spAutoFit/>
          </a:bodyPr>
          <a:lstStyle/>
          <a:p>
            <a:pPr algn="l">
              <a:lnSpc>
                <a:spcPct val="128000"/>
              </a:lnSpc>
            </a:pPr>
            <a:r>
              <a:rPr sz="850" b="1" i="0" spc="140">
                <a:solidFill>
                  <a:srgbClr val="6E7180"/>
                </a:solidFill>
                <a:latin typeface="Montserrat"/>
              </a:rPr>
              <a:t>SUBJECT-MATTER EXPERTS ALREADY ENGAGED ON THIS AGENDA</a:t>
            </a:r>
          </a:p>
        </p:txBody>
      </p:sp>
      <p:sp>
        <p:nvSpPr>
          <p:cNvPr id="34" name="Rounded Rectangle 33"/>
          <p:cNvSpPr/>
          <p:nvPr/>
        </p:nvSpPr>
        <p:spPr>
          <a:xfrm>
            <a:off x="566928"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35" name="Picture 34" descr="x_richa.png"/>
          <p:cNvPicPr>
            <a:picLocks noChangeAspect="1"/>
          </p:cNvPicPr>
          <p:nvPr/>
        </p:nvPicPr>
        <p:blipFill>
          <a:blip r:embed="rId5"/>
          <a:stretch>
            <a:fillRect/>
          </a:stretch>
        </p:blipFill>
        <p:spPr>
          <a:xfrm>
            <a:off x="676656" y="5138928"/>
            <a:ext cx="777240" cy="777240"/>
          </a:xfrm>
          <a:prstGeom prst="rect">
            <a:avLst/>
          </a:prstGeom>
        </p:spPr>
      </p:pic>
      <p:sp>
        <p:nvSpPr>
          <p:cNvPr id="36" name="TextBox 35"/>
          <p:cNvSpPr txBox="1"/>
          <p:nvPr/>
        </p:nvSpPr>
        <p:spPr>
          <a:xfrm>
            <a:off x="1536192"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Dr. Richa Ahuja</a:t>
            </a:r>
            <a:r>
              <a:rPr sz="750" b="0" i="0">
                <a:solidFill>
                  <a:srgbClr val="6E7180"/>
                </a:solidFill>
                <a:latin typeface="Montserrat"/>
              </a:rPr>
              <a:t>
Asst Professor, IIT Kharagpur</a:t>
            </a:r>
          </a:p>
        </p:txBody>
      </p:sp>
      <p:sp>
        <p:nvSpPr>
          <p:cNvPr id="37" name="Rounded Rectangle 36"/>
          <p:cNvSpPr/>
          <p:nvPr/>
        </p:nvSpPr>
        <p:spPr>
          <a:xfrm>
            <a:off x="2794955"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38" name="Picture 37" descr="x_gtiwari.png"/>
          <p:cNvPicPr>
            <a:picLocks noChangeAspect="1"/>
          </p:cNvPicPr>
          <p:nvPr/>
        </p:nvPicPr>
        <p:blipFill>
          <a:blip r:embed="rId6"/>
          <a:stretch>
            <a:fillRect/>
          </a:stretch>
        </p:blipFill>
        <p:spPr>
          <a:xfrm>
            <a:off x="2904683" y="5138928"/>
            <a:ext cx="777240" cy="777240"/>
          </a:xfrm>
          <a:prstGeom prst="rect">
            <a:avLst/>
          </a:prstGeom>
        </p:spPr>
      </p:pic>
      <p:sp>
        <p:nvSpPr>
          <p:cNvPr id="39" name="TextBox 38"/>
          <p:cNvSpPr txBox="1"/>
          <p:nvPr/>
        </p:nvSpPr>
        <p:spPr>
          <a:xfrm>
            <a:off x="3764219"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Prof. Geetam Tiwari</a:t>
            </a:r>
            <a:r>
              <a:rPr sz="750" b="0" i="0">
                <a:solidFill>
                  <a:srgbClr val="6E7180"/>
                </a:solidFill>
                <a:latin typeface="Montserrat"/>
              </a:rPr>
              <a:t>
TRIP Centre, IIT Delhi</a:t>
            </a:r>
          </a:p>
        </p:txBody>
      </p:sp>
      <p:sp>
        <p:nvSpPr>
          <p:cNvPr id="40" name="Rounded Rectangle 39"/>
          <p:cNvSpPr/>
          <p:nvPr/>
        </p:nvSpPr>
        <p:spPr>
          <a:xfrm>
            <a:off x="5022982"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41" name="Picture 40" descr="x_damle.png"/>
          <p:cNvPicPr>
            <a:picLocks noChangeAspect="1"/>
          </p:cNvPicPr>
          <p:nvPr/>
        </p:nvPicPr>
        <p:blipFill>
          <a:blip r:embed="rId7"/>
          <a:stretch>
            <a:fillRect/>
          </a:stretch>
        </p:blipFill>
        <p:spPr>
          <a:xfrm>
            <a:off x="5132710" y="5138928"/>
            <a:ext cx="777240" cy="777240"/>
          </a:xfrm>
          <a:prstGeom prst="rect">
            <a:avLst/>
          </a:prstGeom>
        </p:spPr>
      </p:pic>
      <p:sp>
        <p:nvSpPr>
          <p:cNvPr id="42" name="TextBox 41"/>
          <p:cNvSpPr txBox="1"/>
          <p:nvPr/>
        </p:nvSpPr>
        <p:spPr>
          <a:xfrm>
            <a:off x="5992246"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Abhay Damle</a:t>
            </a:r>
            <a:r>
              <a:rPr sz="750" b="0" i="0">
                <a:solidFill>
                  <a:srgbClr val="6E7180"/>
                </a:solidFill>
                <a:latin typeface="Montserrat"/>
              </a:rPr>
              <a:t>
Ex-Joint Secretary, MoRTH</a:t>
            </a:r>
          </a:p>
        </p:txBody>
      </p:sp>
      <p:sp>
        <p:nvSpPr>
          <p:cNvPr id="43" name="Rounded Rectangle 42"/>
          <p:cNvSpPr/>
          <p:nvPr/>
        </p:nvSpPr>
        <p:spPr>
          <a:xfrm>
            <a:off x="7251009"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44" name="Picture 43" descr="x_dash.png"/>
          <p:cNvPicPr>
            <a:picLocks noChangeAspect="1"/>
          </p:cNvPicPr>
          <p:nvPr/>
        </p:nvPicPr>
        <p:blipFill>
          <a:blip r:embed="rId8"/>
          <a:stretch>
            <a:fillRect/>
          </a:stretch>
        </p:blipFill>
        <p:spPr>
          <a:xfrm>
            <a:off x="7360737" y="5138928"/>
            <a:ext cx="777240" cy="777240"/>
          </a:xfrm>
          <a:prstGeom prst="rect">
            <a:avLst/>
          </a:prstGeom>
        </p:spPr>
      </p:pic>
      <p:sp>
        <p:nvSpPr>
          <p:cNvPr id="45" name="TextBox 44"/>
          <p:cNvSpPr txBox="1"/>
          <p:nvPr/>
        </p:nvSpPr>
        <p:spPr>
          <a:xfrm>
            <a:off x="8220273"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Dipak Dash</a:t>
            </a:r>
            <a:r>
              <a:rPr sz="750" b="0" i="0">
                <a:solidFill>
                  <a:srgbClr val="6E7180"/>
                </a:solidFill>
                <a:latin typeface="Montserrat"/>
              </a:rPr>
              <a:t>
Senior journalist, Times of India</a:t>
            </a:r>
          </a:p>
        </p:txBody>
      </p:sp>
      <p:sp>
        <p:nvSpPr>
          <p:cNvPr id="46" name="Rounded Rectangle 45"/>
          <p:cNvSpPr/>
          <p:nvPr/>
        </p:nvSpPr>
        <p:spPr>
          <a:xfrm>
            <a:off x="9479036"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47" name="Picture 46" descr="x_sarika.png"/>
          <p:cNvPicPr>
            <a:picLocks noChangeAspect="1"/>
          </p:cNvPicPr>
          <p:nvPr/>
        </p:nvPicPr>
        <p:blipFill>
          <a:blip r:embed="rId9"/>
          <a:stretch>
            <a:fillRect/>
          </a:stretch>
        </p:blipFill>
        <p:spPr>
          <a:xfrm>
            <a:off x="9588764" y="5138928"/>
            <a:ext cx="777240" cy="777240"/>
          </a:xfrm>
          <a:prstGeom prst="rect">
            <a:avLst/>
          </a:prstGeom>
        </p:spPr>
      </p:pic>
      <p:sp>
        <p:nvSpPr>
          <p:cNvPr id="48" name="TextBox 47"/>
          <p:cNvSpPr txBox="1"/>
          <p:nvPr/>
        </p:nvSpPr>
        <p:spPr>
          <a:xfrm>
            <a:off x="10448300"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Sarika Panda Bhatt</a:t>
            </a:r>
            <a:r>
              <a:rPr sz="750" b="0" i="0">
                <a:solidFill>
                  <a:srgbClr val="6E7180"/>
                </a:solidFill>
                <a:latin typeface="Montserrat"/>
              </a:rPr>
              <a:t>
Co-founder &amp; Trustee, Raahgiri Foundation</a:t>
            </a:r>
          </a:p>
        </p:txBody>
      </p:sp>
      <p:cxnSp>
        <p:nvCxnSpPr>
          <p:cNvPr id="49" name="Connector 48"/>
          <p:cNvCxnSpPr/>
          <p:nvPr/>
        </p:nvCxnSpPr>
        <p:spPr>
          <a:xfrm>
            <a:off x="566928" y="6455664"/>
            <a:ext cx="11057839" cy="0"/>
          </a:xfrm>
          <a:prstGeom prst="line">
            <a:avLst/>
          </a:prstGeom>
          <a:ln w="9525">
            <a:solidFill>
              <a:srgbClr val="E8E9EE"/>
            </a:solidFill>
          </a:ln>
          <a:effectLst/>
        </p:spPr>
      </p:cxnSp>
      <p:sp>
        <p:nvSpPr>
          <p:cNvPr id="50" name="TextBox 4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51" name="TextBox 5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06 / 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Six lines of work, </a:t>
            </a:r>
            <a:r>
              <a:rPr sz="2250" b="1" i="0">
                <a:solidFill>
                  <a:srgbClr val="4A35FF"/>
                </a:solidFill>
                <a:latin typeface="Montserrat"/>
              </a:rPr>
              <a:t>one connected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Audits create data · data supports policy · policy guides the field. Everything below is live today.</a:t>
            </a:r>
          </a:p>
        </p:txBody>
      </p:sp>
      <p:sp>
        <p:nvSpPr>
          <p:cNvPr id="8" name="Rounded Rectangle 7"/>
          <p:cNvSpPr/>
          <p:nvPr/>
        </p:nvSpPr>
        <p:spPr>
          <a:xfrm>
            <a:off x="566928"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implementation_work.jpg_3.95x1.28_0.30.jpg"/>
          <p:cNvPicPr>
            <a:picLocks noChangeAspect="1"/>
          </p:cNvPicPr>
          <p:nvPr/>
        </p:nvPicPr>
        <p:blipFill>
          <a:blip r:embed="rId2"/>
          <a:stretch>
            <a:fillRect/>
          </a:stretch>
        </p:blipFill>
        <p:spPr>
          <a:xfrm>
            <a:off x="566928" y="1938528"/>
            <a:ext cx="3611880" cy="1170432"/>
          </a:xfrm>
          <a:prstGeom prst="rect">
            <a:avLst/>
          </a:prstGeom>
        </p:spPr>
      </p:pic>
      <p:sp>
        <p:nvSpPr>
          <p:cNvPr id="10" name="Rectangle 9"/>
          <p:cNvSpPr/>
          <p:nvPr/>
        </p:nvSpPr>
        <p:spPr>
          <a:xfrm>
            <a:off x="566928" y="1938528"/>
            <a:ext cx="3611880" cy="1170432"/>
          </a:xfrm>
          <a:prstGeom prst="rect">
            <a:avLst/>
          </a:prstGeom>
          <a:noFill/>
          <a:ln w="12700">
            <a:solidFill>
              <a:srgbClr val="E8E9EE"/>
            </a:solidFill>
          </a:ln>
          <a:effectLst/>
        </p:spPr>
        <p:txBody>
          <a:bodyPr rtlCol="0" anchor="ctr"/>
          <a:lstStyle/>
          <a:p>
            <a:pPr algn="ctr"/>
          </a:p>
        </p:txBody>
      </p:sp>
      <p:sp>
        <p:nvSpPr>
          <p:cNvPr id="11" name="TextBox 10"/>
          <p:cNvSpPr txBox="1"/>
          <p:nvPr/>
        </p:nvSpPr>
        <p:spPr>
          <a:xfrm>
            <a:off x="694944"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Project Rakshak</a:t>
            </a:r>
          </a:p>
        </p:txBody>
      </p:sp>
      <p:sp>
        <p:nvSpPr>
          <p:cNvPr id="12" name="TextBox 11"/>
          <p:cNvSpPr txBox="1"/>
          <p:nvPr/>
        </p:nvSpPr>
        <p:spPr>
          <a:xfrm>
            <a:off x="694944"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Student-led road audits, fixed with authorities</a:t>
            </a:r>
          </a:p>
        </p:txBody>
      </p:sp>
      <p:sp>
        <p:nvSpPr>
          <p:cNvPr id="13" name="TextBox 12"/>
          <p:cNvSpPr txBox="1"/>
          <p:nvPr/>
        </p:nvSpPr>
        <p:spPr>
          <a:xfrm>
            <a:off x="694944"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31 sites · 7 fixes fully built</a:t>
            </a:r>
          </a:p>
        </p:txBody>
      </p:sp>
      <p:sp>
        <p:nvSpPr>
          <p:cNvPr id="14" name="Rounded Rectangle 13"/>
          <p:cNvSpPr/>
          <p:nvPr/>
        </p:nvSpPr>
        <p:spPr>
          <a:xfrm>
            <a:off x="4288536"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satark_billboard.jpg_3.95x1.28_0.42.jpg"/>
          <p:cNvPicPr>
            <a:picLocks noChangeAspect="1"/>
          </p:cNvPicPr>
          <p:nvPr/>
        </p:nvPicPr>
        <p:blipFill>
          <a:blip r:embed="rId3"/>
          <a:stretch>
            <a:fillRect/>
          </a:stretch>
        </p:blipFill>
        <p:spPr>
          <a:xfrm>
            <a:off x="4288536" y="1938528"/>
            <a:ext cx="3611880" cy="1170432"/>
          </a:xfrm>
          <a:prstGeom prst="rect">
            <a:avLst/>
          </a:prstGeom>
        </p:spPr>
      </p:pic>
      <p:sp>
        <p:nvSpPr>
          <p:cNvPr id="16" name="Rectangle 15"/>
          <p:cNvSpPr/>
          <p:nvPr/>
        </p:nvSpPr>
        <p:spPr>
          <a:xfrm>
            <a:off x="4288536" y="1938528"/>
            <a:ext cx="3611880" cy="1170432"/>
          </a:xfrm>
          <a:prstGeom prst="rect">
            <a:avLst/>
          </a:prstGeom>
          <a:noFill/>
          <a:ln w="12700">
            <a:solidFill>
              <a:srgbClr val="E8E9EE"/>
            </a:solidFill>
          </a:ln>
          <a:effectLst/>
        </p:spPr>
        <p:txBody>
          <a:bodyPr rtlCol="0" anchor="ctr"/>
          <a:lstStyle/>
          <a:p>
            <a:pPr algn="ctr"/>
          </a:p>
        </p:txBody>
      </p:sp>
      <p:sp>
        <p:nvSpPr>
          <p:cNvPr id="17" name="TextBox 16"/>
          <p:cNvSpPr txBox="1"/>
          <p:nvPr/>
        </p:nvSpPr>
        <p:spPr>
          <a:xfrm>
            <a:off x="4416552"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SATARK enforcement</a:t>
            </a:r>
          </a:p>
        </p:txBody>
      </p:sp>
      <p:sp>
        <p:nvSpPr>
          <p:cNvPr id="18" name="TextBox 17"/>
          <p:cNvSpPr txBox="1"/>
          <p:nvPr/>
        </p:nvSpPr>
        <p:spPr>
          <a:xfrm>
            <a:off x="4416552"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AI support that helps police find high-risk vehicles</a:t>
            </a:r>
          </a:p>
        </p:txBody>
      </p:sp>
      <p:sp>
        <p:nvSpPr>
          <p:cNvPr id="19" name="TextBox 18"/>
          <p:cNvSpPr txBox="1"/>
          <p:nvPr/>
        </p:nvSpPr>
        <p:spPr>
          <a:xfrm>
            <a:off x="4416552"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3,00,000+ vehicles screened</a:t>
            </a:r>
          </a:p>
        </p:txBody>
      </p:sp>
      <p:sp>
        <p:nvSpPr>
          <p:cNvPr id="20" name="Rounded Rectangle 19"/>
          <p:cNvSpPr/>
          <p:nvPr/>
        </p:nvSpPr>
        <p:spPr>
          <a:xfrm>
            <a:off x="8010144"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ph_helpdesk_desk.jpg_3.95x1.28_0.25.jpg"/>
          <p:cNvPicPr>
            <a:picLocks noChangeAspect="1"/>
          </p:cNvPicPr>
          <p:nvPr/>
        </p:nvPicPr>
        <p:blipFill>
          <a:blip r:embed="rId4"/>
          <a:stretch>
            <a:fillRect/>
          </a:stretch>
        </p:blipFill>
        <p:spPr>
          <a:xfrm>
            <a:off x="8010144" y="1938528"/>
            <a:ext cx="3611880" cy="1170432"/>
          </a:xfrm>
          <a:prstGeom prst="rect">
            <a:avLst/>
          </a:prstGeom>
        </p:spPr>
      </p:pic>
      <p:sp>
        <p:nvSpPr>
          <p:cNvPr id="22" name="Rectangle 21"/>
          <p:cNvSpPr/>
          <p:nvPr/>
        </p:nvSpPr>
        <p:spPr>
          <a:xfrm>
            <a:off x="8010144" y="1938528"/>
            <a:ext cx="3611880" cy="1170432"/>
          </a:xfrm>
          <a:prstGeom prst="rect">
            <a:avLst/>
          </a:prstGeom>
          <a:noFill/>
          <a:ln w="12700">
            <a:solidFill>
              <a:srgbClr val="E8E9EE"/>
            </a:solidFill>
          </a:ln>
          <a:effectLst/>
        </p:spPr>
        <p:txBody>
          <a:bodyPr rtlCol="0" anchor="ctr"/>
          <a:lstStyle/>
          <a:p>
            <a:pPr algn="ctr"/>
          </a:p>
        </p:txBody>
      </p:sp>
      <p:sp>
        <p:nvSpPr>
          <p:cNvPr id="23" name="TextBox 22"/>
          <p:cNvSpPr txBox="1"/>
          <p:nvPr/>
        </p:nvSpPr>
        <p:spPr>
          <a:xfrm>
            <a:off x="8138160"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Victim support</a:t>
            </a:r>
          </a:p>
        </p:txBody>
      </p:sp>
      <p:sp>
        <p:nvSpPr>
          <p:cNvPr id="24" name="TextBox 23"/>
          <p:cNvSpPr txBox="1"/>
          <p:nvPr/>
        </p:nvSpPr>
        <p:spPr>
          <a:xfrm>
            <a:off x="8138160"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Aasha chatbot, calculator, hospital helpdesks</a:t>
            </a:r>
          </a:p>
        </p:txBody>
      </p:sp>
      <p:sp>
        <p:nvSpPr>
          <p:cNvPr id="25" name="TextBox 24"/>
          <p:cNvSpPr txBox="1"/>
          <p:nvPr/>
        </p:nvSpPr>
        <p:spPr>
          <a:xfrm>
            <a:off x="8138160"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100+ victims helped in first 4 days</a:t>
            </a:r>
          </a:p>
        </p:txBody>
      </p:sp>
      <p:sp>
        <p:nvSpPr>
          <p:cNvPr id="26" name="Rounded Rectangle 25"/>
          <p:cNvSpPr/>
          <p:nvPr/>
        </p:nvSpPr>
        <p:spPr>
          <a:xfrm>
            <a:off x="566928"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sctracker.png_3.95x1.28_0.05.jpg"/>
          <p:cNvPicPr>
            <a:picLocks noChangeAspect="1"/>
          </p:cNvPicPr>
          <p:nvPr/>
        </p:nvPicPr>
        <p:blipFill>
          <a:blip r:embed="rId5"/>
          <a:stretch>
            <a:fillRect/>
          </a:stretch>
        </p:blipFill>
        <p:spPr>
          <a:xfrm>
            <a:off x="566928" y="4206240"/>
            <a:ext cx="3611880" cy="1170432"/>
          </a:xfrm>
          <a:prstGeom prst="rect">
            <a:avLst/>
          </a:prstGeom>
        </p:spPr>
      </p:pic>
      <p:sp>
        <p:nvSpPr>
          <p:cNvPr id="28" name="Rectangle 27"/>
          <p:cNvSpPr/>
          <p:nvPr/>
        </p:nvSpPr>
        <p:spPr>
          <a:xfrm>
            <a:off x="566928" y="4206240"/>
            <a:ext cx="3611880" cy="1170432"/>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694944"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Open public data</a:t>
            </a:r>
          </a:p>
        </p:txBody>
      </p:sp>
      <p:sp>
        <p:nvSpPr>
          <p:cNvPr id="30" name="TextBox 29"/>
          <p:cNvSpPr txBox="1"/>
          <p:nvPr/>
        </p:nvSpPr>
        <p:spPr>
          <a:xfrm>
            <a:off x="694944"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Four self-updating data platforms, free to use</a:t>
            </a:r>
          </a:p>
        </p:txBody>
      </p:sp>
      <p:sp>
        <p:nvSpPr>
          <p:cNvPr id="31" name="TextBox 30"/>
          <p:cNvSpPr txBox="1"/>
          <p:nvPr/>
        </p:nvSpPr>
        <p:spPr>
          <a:xfrm>
            <a:off x="694944"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36 states &amp; 50 cities covered</a:t>
            </a:r>
          </a:p>
        </p:txBody>
      </p:sp>
      <p:sp>
        <p:nvSpPr>
          <p:cNvPr id="32" name="Rounded Rectangle 31"/>
          <p:cNvSpPr/>
          <p:nvPr/>
        </p:nvSpPr>
        <p:spPr>
          <a:xfrm>
            <a:off x="4288536"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3" name="Picture 32" descr="ph_ideathon_winners.jpg_3.95x1.28_0.25.jpg"/>
          <p:cNvPicPr>
            <a:picLocks noChangeAspect="1"/>
          </p:cNvPicPr>
          <p:nvPr/>
        </p:nvPicPr>
        <p:blipFill>
          <a:blip r:embed="rId6"/>
          <a:stretch>
            <a:fillRect/>
          </a:stretch>
        </p:blipFill>
        <p:spPr>
          <a:xfrm>
            <a:off x="4288536" y="4206240"/>
            <a:ext cx="3611880" cy="1170432"/>
          </a:xfrm>
          <a:prstGeom prst="rect">
            <a:avLst/>
          </a:prstGeom>
        </p:spPr>
      </p:pic>
      <p:sp>
        <p:nvSpPr>
          <p:cNvPr id="34" name="Rectangle 33"/>
          <p:cNvSpPr/>
          <p:nvPr/>
        </p:nvSpPr>
        <p:spPr>
          <a:xfrm>
            <a:off x="4288536" y="4206240"/>
            <a:ext cx="3611880" cy="1170432"/>
          </a:xfrm>
          <a:prstGeom prst="rect">
            <a:avLst/>
          </a:prstGeom>
          <a:noFill/>
          <a:ln w="12700">
            <a:solidFill>
              <a:srgbClr val="E8E9EE"/>
            </a:solidFill>
          </a:ln>
          <a:effectLst/>
        </p:spPr>
        <p:txBody>
          <a:bodyPr rtlCol="0" anchor="ctr"/>
          <a:lstStyle/>
          <a:p>
            <a:pPr algn="ctr"/>
          </a:p>
        </p:txBody>
      </p:sp>
      <p:sp>
        <p:nvSpPr>
          <p:cNvPr id="35" name="TextBox 34"/>
          <p:cNvSpPr txBox="1"/>
          <p:nvPr/>
        </p:nvSpPr>
        <p:spPr>
          <a:xfrm>
            <a:off x="4416552"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Youth &amp; policy</a:t>
            </a:r>
          </a:p>
        </p:txBody>
      </p:sp>
      <p:sp>
        <p:nvSpPr>
          <p:cNvPr id="36" name="TextBox 35"/>
          <p:cNvSpPr txBox="1"/>
          <p:nvPr/>
        </p:nvSpPr>
        <p:spPr>
          <a:xfrm>
            <a:off x="4416552"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NextMile ideathon and national dialogue series</a:t>
            </a:r>
          </a:p>
        </p:txBody>
      </p:sp>
      <p:sp>
        <p:nvSpPr>
          <p:cNvPr id="37" name="TextBox 36"/>
          <p:cNvSpPr txBox="1"/>
          <p:nvPr/>
        </p:nvSpPr>
        <p:spPr>
          <a:xfrm>
            <a:off x="4416552"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2,000+ participants engaged</a:t>
            </a:r>
          </a:p>
        </p:txBody>
      </p:sp>
      <p:sp>
        <p:nvSpPr>
          <p:cNvPr id="38" name="Rounded Rectangle 37"/>
          <p:cNvSpPr/>
          <p:nvPr/>
        </p:nvSpPr>
        <p:spPr>
          <a:xfrm>
            <a:off x="8010144"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9" name="Picture 38" descr="ph_police_rally.jpg_3.95x1.28_0.35.jpg"/>
          <p:cNvPicPr>
            <a:picLocks noChangeAspect="1"/>
          </p:cNvPicPr>
          <p:nvPr/>
        </p:nvPicPr>
        <p:blipFill>
          <a:blip r:embed="rId7"/>
          <a:stretch>
            <a:fillRect/>
          </a:stretch>
        </p:blipFill>
        <p:spPr>
          <a:xfrm>
            <a:off x="8010144" y="4206240"/>
            <a:ext cx="3611880" cy="1170432"/>
          </a:xfrm>
          <a:prstGeom prst="rect">
            <a:avLst/>
          </a:prstGeom>
        </p:spPr>
      </p:pic>
      <p:sp>
        <p:nvSpPr>
          <p:cNvPr id="40" name="Rectangle 39"/>
          <p:cNvSpPr/>
          <p:nvPr/>
        </p:nvSpPr>
        <p:spPr>
          <a:xfrm>
            <a:off x="8010144" y="4206240"/>
            <a:ext cx="3611880" cy="1170432"/>
          </a:xfrm>
          <a:prstGeom prst="rect">
            <a:avLst/>
          </a:prstGeom>
          <a:noFill/>
          <a:ln w="12700">
            <a:solidFill>
              <a:srgbClr val="E8E9EE"/>
            </a:solidFill>
          </a:ln>
          <a:effectLst/>
        </p:spPr>
        <p:txBody>
          <a:bodyPr rtlCol="0" anchor="ctr"/>
          <a:lstStyle/>
          <a:p>
            <a:pPr algn="ctr"/>
          </a:p>
        </p:txBody>
      </p:sp>
      <p:sp>
        <p:nvSpPr>
          <p:cNvPr id="41" name="TextBox 40"/>
          <p:cNvSpPr txBox="1"/>
          <p:nvPr/>
        </p:nvSpPr>
        <p:spPr>
          <a:xfrm>
            <a:off x="8138160"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Public campaigns</a:t>
            </a:r>
          </a:p>
        </p:txBody>
      </p:sp>
      <p:sp>
        <p:nvSpPr>
          <p:cNvPr id="42" name="TextBox 41"/>
          <p:cNvSpPr txBox="1"/>
          <p:nvPr/>
        </p:nvSpPr>
        <p:spPr>
          <a:xfrm>
            <a:off x="8138160"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Road Safety Month with police &amp; schools; MS Dhoni</a:t>
            </a:r>
          </a:p>
        </p:txBody>
      </p:sp>
      <p:sp>
        <p:nvSpPr>
          <p:cNvPr id="43" name="TextBox 42"/>
          <p:cNvSpPr txBox="1"/>
          <p:nvPr/>
        </p:nvSpPr>
        <p:spPr>
          <a:xfrm>
            <a:off x="8138160"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1M+ citizens reached</a:t>
            </a:r>
          </a:p>
        </p:txBody>
      </p:sp>
      <p:cxnSp>
        <p:nvCxnSpPr>
          <p:cNvPr id="44" name="Connector 43"/>
          <p:cNvCxnSpPr/>
          <p:nvPr/>
        </p:nvCxnSpPr>
        <p:spPr>
          <a:xfrm>
            <a:off x="566928" y="6455664"/>
            <a:ext cx="11057839" cy="0"/>
          </a:xfrm>
          <a:prstGeom prst="line">
            <a:avLst/>
          </a:prstGeom>
          <a:ln w="9525">
            <a:solidFill>
              <a:srgbClr val="E8E9EE"/>
            </a:solidFill>
          </a:ln>
          <a:effectLst/>
        </p:spPr>
      </p:cxnSp>
      <p:sp>
        <p:nvSpPr>
          <p:cNvPr id="45" name="TextBox 4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46" name="TextBox 4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07 / 28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ENFORCEMENT TECHNOLOGY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SATARK: AI that helps police stop </a:t>
            </a:r>
            <a:r>
              <a:rPr sz="2250" b="1" i="0">
                <a:solidFill>
                  <a:srgbClr val="4A35FF"/>
                </a:solidFill>
                <a:latin typeface="Montserrat"/>
              </a:rPr>
              <a:t>the right vehicle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Built with Cars24 engineers. Reads number plates, checks government records, and alerts officers to repeat offenders, in real time.</a:t>
            </a:r>
          </a:p>
        </p:txBody>
      </p:sp>
      <p:pic>
        <p:nvPicPr>
          <p:cNvPr id="8" name="Picture 7" descr="satark_billboard.jpg_4.35x2.65_0.42.jpg"/>
          <p:cNvPicPr>
            <a:picLocks noChangeAspect="1"/>
          </p:cNvPicPr>
          <p:nvPr/>
        </p:nvPicPr>
        <p:blipFill>
          <a:blip r:embed="rId2"/>
          <a:stretch>
            <a:fillRect/>
          </a:stretch>
        </p:blipFill>
        <p:spPr>
          <a:xfrm>
            <a:off x="566928" y="1965960"/>
            <a:ext cx="3977639" cy="2423160"/>
          </a:xfrm>
          <a:prstGeom prst="rect">
            <a:avLst/>
          </a:prstGeom>
        </p:spPr>
      </p:pic>
      <p:sp>
        <p:nvSpPr>
          <p:cNvPr id="9" name="Rectangle 8"/>
          <p:cNvSpPr/>
          <p:nvPr/>
        </p:nvSpPr>
        <p:spPr>
          <a:xfrm>
            <a:off x="566928" y="1965960"/>
            <a:ext cx="3977639" cy="242316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434840"/>
            <a:ext cx="39776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Rambagh Circle, Jaipur, live plate, pending challans and dues on a public billboard.</a:t>
            </a:r>
          </a:p>
        </p:txBody>
      </p:sp>
      <p:pic>
        <p:nvPicPr>
          <p:cNvPr id="11" name="Picture 10" descr="satark_officer_app.jpg"/>
          <p:cNvPicPr>
            <a:picLocks noChangeAspect="1"/>
          </p:cNvPicPr>
          <p:nvPr/>
        </p:nvPicPr>
        <p:blipFill>
          <a:blip r:embed="rId3"/>
          <a:stretch>
            <a:fillRect/>
          </a:stretch>
        </p:blipFill>
        <p:spPr>
          <a:xfrm>
            <a:off x="4709160" y="1965960"/>
            <a:ext cx="1828800" cy="2150283"/>
          </a:xfrm>
          <a:prstGeom prst="rect">
            <a:avLst/>
          </a:prstGeom>
        </p:spPr>
      </p:pic>
      <p:sp>
        <p:nvSpPr>
          <p:cNvPr id="12" name="Rectangle 11"/>
          <p:cNvSpPr/>
          <p:nvPr/>
        </p:nvSpPr>
        <p:spPr>
          <a:xfrm>
            <a:off x="4709160" y="1965960"/>
            <a:ext cx="1828800" cy="2150283"/>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4709160" y="4161963"/>
            <a:ext cx="182880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Officer view, challans,</a:t>
            </a:r>
          </a:p>
          <a:p>
            <a:pPr algn="l">
              <a:lnSpc>
                <a:spcPct val="112000"/>
              </a:lnSpc>
            </a:pPr>
            <a:r>
              <a:rPr sz="850" b="0" i="0">
                <a:solidFill>
                  <a:srgbClr val="6E7180"/>
                </a:solidFill>
                <a:latin typeface="Geist"/>
              </a:rPr>
              <a:t>RC &amp; compliance status.</a:t>
            </a:r>
          </a:p>
        </p:txBody>
      </p:sp>
      <p:sp>
        <p:nvSpPr>
          <p:cNvPr id="14" name="TextBox 13"/>
          <p:cNvSpPr txBox="1"/>
          <p:nvPr/>
        </p:nvSpPr>
        <p:spPr>
          <a:xfrm>
            <a:off x="6784848"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3,00,000+</a:t>
            </a:r>
          </a:p>
        </p:txBody>
      </p:sp>
      <p:sp>
        <p:nvSpPr>
          <p:cNvPr id="15" name="TextBox 14"/>
          <p:cNvSpPr txBox="1"/>
          <p:nvPr/>
        </p:nvSpPr>
        <p:spPr>
          <a:xfrm>
            <a:off x="6784848"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screened</a:t>
            </a:r>
          </a:p>
        </p:txBody>
      </p:sp>
      <p:sp>
        <p:nvSpPr>
          <p:cNvPr id="16" name="TextBox 15"/>
          <p:cNvSpPr txBox="1"/>
          <p:nvPr/>
        </p:nvSpPr>
        <p:spPr>
          <a:xfrm>
            <a:off x="9235440"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 Cr+</a:t>
            </a:r>
          </a:p>
        </p:txBody>
      </p:sp>
      <p:sp>
        <p:nvSpPr>
          <p:cNvPr id="17" name="TextBox 16"/>
          <p:cNvSpPr txBox="1"/>
          <p:nvPr/>
        </p:nvSpPr>
        <p:spPr>
          <a:xfrm>
            <a:off x="9235440"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pending challan value identified</a:t>
            </a:r>
          </a:p>
        </p:txBody>
      </p:sp>
      <p:sp>
        <p:nvSpPr>
          <p:cNvPr id="18" name="TextBox 17"/>
          <p:cNvSpPr txBox="1"/>
          <p:nvPr/>
        </p:nvSpPr>
        <p:spPr>
          <a:xfrm>
            <a:off x="6784848"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350+</a:t>
            </a:r>
          </a:p>
        </p:txBody>
      </p:sp>
      <p:sp>
        <p:nvSpPr>
          <p:cNvPr id="19" name="TextBox 18"/>
          <p:cNvSpPr txBox="1"/>
          <p:nvPr/>
        </p:nvSpPr>
        <p:spPr>
          <a:xfrm>
            <a:off x="6784848"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high-risk vehicles intercepted</a:t>
            </a:r>
          </a:p>
        </p:txBody>
      </p:sp>
      <p:sp>
        <p:nvSpPr>
          <p:cNvPr id="20" name="TextBox 19"/>
          <p:cNvSpPr txBox="1"/>
          <p:nvPr/>
        </p:nvSpPr>
        <p:spPr>
          <a:xfrm>
            <a:off x="9235440"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70,019</a:t>
            </a:r>
          </a:p>
        </p:txBody>
      </p:sp>
      <p:sp>
        <p:nvSpPr>
          <p:cNvPr id="21" name="TextBox 20"/>
          <p:cNvSpPr txBox="1"/>
          <p:nvPr/>
        </p:nvSpPr>
        <p:spPr>
          <a:xfrm>
            <a:off x="9235440"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found with pending challans</a:t>
            </a:r>
          </a:p>
        </p:txBody>
      </p:sp>
      <p:sp>
        <p:nvSpPr>
          <p:cNvPr id="22" name="Rounded Rectangle 21"/>
          <p:cNvSpPr/>
          <p:nvPr/>
        </p:nvSpPr>
        <p:spPr>
          <a:xfrm>
            <a:off x="6784848" y="3767328"/>
            <a:ext cx="2240280" cy="384048"/>
          </a:xfrm>
          <a:prstGeom prst="roundRect">
            <a:avLst>
              <a:gd name="adj" fmla="val 50000"/>
            </a:avLst>
          </a:prstGeom>
          <a:solidFill>
            <a:srgbClr val="E9F7F0"/>
          </a:solidFill>
          <a:ln>
            <a:noFill/>
          </a:ln>
          <a:effectLst/>
        </p:spPr>
        <p:txBody>
          <a:bodyPr rtlCol="0" anchor="ctr"/>
          <a:lstStyle/>
          <a:p>
            <a:pPr algn="ctr"/>
          </a:p>
        </p:txBody>
      </p:sp>
      <p:sp>
        <p:nvSpPr>
          <p:cNvPr id="23" name="TextBox 22"/>
          <p:cNvSpPr txBox="1"/>
          <p:nvPr/>
        </p:nvSpPr>
        <p:spPr>
          <a:xfrm>
            <a:off x="6803136" y="3767328"/>
            <a:ext cx="2203704" cy="384048"/>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LIVE · Jaipur &amp; Bengaluru</a:t>
            </a:r>
          </a:p>
        </p:txBody>
      </p:sp>
      <p:sp>
        <p:nvSpPr>
          <p:cNvPr id="24" name="Rounded Rectangle 23"/>
          <p:cNvSpPr/>
          <p:nvPr/>
        </p:nvSpPr>
        <p:spPr>
          <a:xfrm>
            <a:off x="9144000" y="3767328"/>
            <a:ext cx="1600200" cy="384048"/>
          </a:xfrm>
          <a:prstGeom prst="roundRect">
            <a:avLst>
              <a:gd name="adj" fmla="val 50000"/>
            </a:avLst>
          </a:prstGeom>
          <a:solidFill>
            <a:srgbClr val="EFEDFF"/>
          </a:solidFill>
          <a:ln>
            <a:noFill/>
          </a:ln>
          <a:effectLst/>
        </p:spPr>
        <p:txBody>
          <a:bodyPr rtlCol="0" anchor="ctr"/>
          <a:lstStyle/>
          <a:p>
            <a:pPr algn="ctr"/>
          </a:p>
        </p:txBody>
      </p:sp>
      <p:sp>
        <p:nvSpPr>
          <p:cNvPr id="25" name="TextBox 24"/>
          <p:cNvSpPr txBox="1"/>
          <p:nvPr/>
        </p:nvSpPr>
        <p:spPr>
          <a:xfrm>
            <a:off x="9162288" y="3767328"/>
            <a:ext cx="1563624" cy="384048"/>
          </a:xfrm>
          <a:prstGeom prst="rect">
            <a:avLst/>
          </a:prstGeom>
          <a:noFill/>
        </p:spPr>
        <p:txBody>
          <a:bodyPr wrap="square" lIns="0" rIns="0" tIns="0" bIns="0" anchor="ctr">
            <a:spAutoFit/>
          </a:bodyPr>
          <a:lstStyle/>
          <a:p>
            <a:pPr algn="ctr">
              <a:lnSpc>
                <a:spcPct val="100000"/>
              </a:lnSpc>
            </a:pPr>
            <a:r>
              <a:rPr sz="950" b="1" i="0">
                <a:solidFill>
                  <a:srgbClr val="4A35FF"/>
                </a:solidFill>
                <a:latin typeface="Montserrat"/>
              </a:rPr>
              <a:t>NEW · Gurugram</a:t>
            </a:r>
          </a:p>
        </p:txBody>
      </p:sp>
      <p:sp>
        <p:nvSpPr>
          <p:cNvPr id="26" name="TextBox 25"/>
          <p:cNvSpPr txBox="1"/>
          <p:nvPr/>
        </p:nvSpPr>
        <p:spPr>
          <a:xfrm>
            <a:off x="6784848" y="4261104"/>
            <a:ext cx="4754880" cy="2743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Bengaluru's Trinity Circle billboard was India's first, covered by Deccan Herald and national press. Pune and Ahmedabad are next.</a:t>
            </a:r>
          </a:p>
        </p:txBody>
      </p:sp>
      <p:cxnSp>
        <p:nvCxnSpPr>
          <p:cNvPr id="27" name="Connector 26"/>
          <p:cNvCxnSpPr/>
          <p:nvPr/>
        </p:nvCxnSpPr>
        <p:spPr>
          <a:xfrm>
            <a:off x="932688" y="5358384"/>
            <a:ext cx="10326319" cy="0"/>
          </a:xfrm>
          <a:prstGeom prst="line">
            <a:avLst/>
          </a:prstGeom>
          <a:ln w="12700">
            <a:solidFill>
              <a:srgbClr val="E8E9EE"/>
            </a:solidFill>
          </a:ln>
          <a:effectLst/>
        </p:spPr>
      </p:cxnSp>
      <p:sp>
        <p:nvSpPr>
          <p:cNvPr id="28" name="Oval 27"/>
          <p:cNvSpPr/>
          <p:nvPr/>
        </p:nvSpPr>
        <p:spPr>
          <a:xfrm>
            <a:off x="1038586" y="5138928"/>
            <a:ext cx="438912" cy="438912"/>
          </a:xfrm>
          <a:prstGeom prst="ellipse">
            <a:avLst/>
          </a:prstGeom>
          <a:solidFill>
            <a:srgbClr val="F7F7FA"/>
          </a:solidFill>
          <a:ln>
            <a:noFill/>
          </a:ln>
          <a:effectLst/>
        </p:spPr>
        <p:txBody>
          <a:bodyPr rtlCol="0" anchor="ctr"/>
          <a:lstStyle/>
          <a:p>
            <a:pPr algn="ctr"/>
          </a:p>
        </p:txBody>
      </p:sp>
      <p:pic>
        <p:nvPicPr>
          <p:cNvPr id="29" name="Picture 28" descr="camera_4A35FF_256_2.0.png"/>
          <p:cNvPicPr>
            <a:picLocks noChangeAspect="1"/>
          </p:cNvPicPr>
          <p:nvPr/>
        </p:nvPicPr>
        <p:blipFill>
          <a:blip r:embed="rId4"/>
          <a:stretch>
            <a:fillRect/>
          </a:stretch>
        </p:blipFill>
        <p:spPr>
          <a:xfrm>
            <a:off x="1143924" y="5244266"/>
            <a:ext cx="228234" cy="228234"/>
          </a:xfrm>
          <a:prstGeom prst="rect">
            <a:avLst/>
          </a:prstGeom>
        </p:spPr>
      </p:pic>
      <p:sp>
        <p:nvSpPr>
          <p:cNvPr id="30" name="TextBox 29"/>
          <p:cNvSpPr txBox="1"/>
          <p:nvPr/>
        </p:nvSpPr>
        <p:spPr>
          <a:xfrm>
            <a:off x="566928"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ANPR camera</a:t>
            </a:r>
          </a:p>
        </p:txBody>
      </p:sp>
      <p:sp>
        <p:nvSpPr>
          <p:cNvPr id="31" name="Oval 30"/>
          <p:cNvSpPr/>
          <p:nvPr/>
        </p:nvSpPr>
        <p:spPr>
          <a:xfrm>
            <a:off x="2420815" y="5138928"/>
            <a:ext cx="438912" cy="438912"/>
          </a:xfrm>
          <a:prstGeom prst="ellipse">
            <a:avLst/>
          </a:prstGeom>
          <a:solidFill>
            <a:srgbClr val="F7F7FA"/>
          </a:solidFill>
          <a:ln>
            <a:noFill/>
          </a:ln>
          <a:effectLst/>
        </p:spPr>
        <p:txBody>
          <a:bodyPr rtlCol="0" anchor="ctr"/>
          <a:lstStyle/>
          <a:p>
            <a:pPr algn="ctr"/>
          </a:p>
        </p:txBody>
      </p:sp>
      <p:pic>
        <p:nvPicPr>
          <p:cNvPr id="32" name="Picture 31" descr="scan-line_4A35FF_256_2.0.png"/>
          <p:cNvPicPr>
            <a:picLocks noChangeAspect="1"/>
          </p:cNvPicPr>
          <p:nvPr/>
        </p:nvPicPr>
        <p:blipFill>
          <a:blip r:embed="rId5"/>
          <a:stretch>
            <a:fillRect/>
          </a:stretch>
        </p:blipFill>
        <p:spPr>
          <a:xfrm>
            <a:off x="2526153" y="5244266"/>
            <a:ext cx="228234" cy="228234"/>
          </a:xfrm>
          <a:prstGeom prst="rect">
            <a:avLst/>
          </a:prstGeom>
        </p:spPr>
      </p:pic>
      <p:sp>
        <p:nvSpPr>
          <p:cNvPr id="33" name="TextBox 32"/>
          <p:cNvSpPr txBox="1"/>
          <p:nvPr/>
        </p:nvSpPr>
        <p:spPr>
          <a:xfrm>
            <a:off x="194915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Plate read</a:t>
            </a:r>
          </a:p>
        </p:txBody>
      </p:sp>
      <p:sp>
        <p:nvSpPr>
          <p:cNvPr id="34" name="Oval 33"/>
          <p:cNvSpPr/>
          <p:nvPr/>
        </p:nvSpPr>
        <p:spPr>
          <a:xfrm>
            <a:off x="3803045" y="5138928"/>
            <a:ext cx="438912" cy="438912"/>
          </a:xfrm>
          <a:prstGeom prst="ellipse">
            <a:avLst/>
          </a:prstGeom>
          <a:solidFill>
            <a:srgbClr val="F7F7FA"/>
          </a:solidFill>
          <a:ln>
            <a:noFill/>
          </a:ln>
          <a:effectLst/>
        </p:spPr>
        <p:txBody>
          <a:bodyPr rtlCol="0" anchor="ctr"/>
          <a:lstStyle/>
          <a:p>
            <a:pPr algn="ctr"/>
          </a:p>
        </p:txBody>
      </p:sp>
      <p:pic>
        <p:nvPicPr>
          <p:cNvPr id="35" name="Picture 34" descr="database_4A35FF_256_2.0.png"/>
          <p:cNvPicPr>
            <a:picLocks noChangeAspect="1"/>
          </p:cNvPicPr>
          <p:nvPr/>
        </p:nvPicPr>
        <p:blipFill>
          <a:blip r:embed="rId6"/>
          <a:stretch>
            <a:fillRect/>
          </a:stretch>
        </p:blipFill>
        <p:spPr>
          <a:xfrm>
            <a:off x="3908383" y="5244266"/>
            <a:ext cx="228234" cy="228234"/>
          </a:xfrm>
          <a:prstGeom prst="rect">
            <a:avLst/>
          </a:prstGeom>
        </p:spPr>
      </p:pic>
      <p:sp>
        <p:nvSpPr>
          <p:cNvPr id="36" name="TextBox 35"/>
          <p:cNvSpPr txBox="1"/>
          <p:nvPr/>
        </p:nvSpPr>
        <p:spPr>
          <a:xfrm>
            <a:off x="333138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Records check</a:t>
            </a:r>
          </a:p>
        </p:txBody>
      </p:sp>
      <p:sp>
        <p:nvSpPr>
          <p:cNvPr id="37" name="Oval 36"/>
          <p:cNvSpPr/>
          <p:nvPr/>
        </p:nvSpPr>
        <p:spPr>
          <a:xfrm>
            <a:off x="5185275" y="5138928"/>
            <a:ext cx="438912" cy="438912"/>
          </a:xfrm>
          <a:prstGeom prst="ellipse">
            <a:avLst/>
          </a:prstGeom>
          <a:solidFill>
            <a:srgbClr val="F7F7FA"/>
          </a:solidFill>
          <a:ln>
            <a:noFill/>
          </a:ln>
          <a:effectLst/>
        </p:spPr>
        <p:txBody>
          <a:bodyPr rtlCol="0" anchor="ctr"/>
          <a:lstStyle/>
          <a:p>
            <a:pPr algn="ctr"/>
          </a:p>
        </p:txBody>
      </p:sp>
      <p:pic>
        <p:nvPicPr>
          <p:cNvPr id="38" name="Picture 37" descr="alert-triangle_4A35FF_256_2.0.png"/>
          <p:cNvPicPr>
            <a:picLocks noChangeAspect="1"/>
          </p:cNvPicPr>
          <p:nvPr/>
        </p:nvPicPr>
        <p:blipFill>
          <a:blip r:embed="rId7"/>
          <a:stretch>
            <a:fillRect/>
          </a:stretch>
        </p:blipFill>
        <p:spPr>
          <a:xfrm>
            <a:off x="5290613" y="5244266"/>
            <a:ext cx="228234" cy="228234"/>
          </a:xfrm>
          <a:prstGeom prst="rect">
            <a:avLst/>
          </a:prstGeom>
        </p:spPr>
      </p:pic>
      <p:sp>
        <p:nvSpPr>
          <p:cNvPr id="39" name="TextBox 38"/>
          <p:cNvSpPr txBox="1"/>
          <p:nvPr/>
        </p:nvSpPr>
        <p:spPr>
          <a:xfrm>
            <a:off x="471361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Risk flag</a:t>
            </a:r>
          </a:p>
        </p:txBody>
      </p:sp>
      <p:sp>
        <p:nvSpPr>
          <p:cNvPr id="40" name="Oval 39"/>
          <p:cNvSpPr/>
          <p:nvPr/>
        </p:nvSpPr>
        <p:spPr>
          <a:xfrm>
            <a:off x="6567505" y="5138928"/>
            <a:ext cx="438912" cy="438912"/>
          </a:xfrm>
          <a:prstGeom prst="ellipse">
            <a:avLst/>
          </a:prstGeom>
          <a:solidFill>
            <a:srgbClr val="F7F7FA"/>
          </a:solidFill>
          <a:ln>
            <a:noFill/>
          </a:ln>
          <a:effectLst/>
        </p:spPr>
        <p:txBody>
          <a:bodyPr rtlCol="0" anchor="ctr"/>
          <a:lstStyle/>
          <a:p>
            <a:pPr algn="ctr"/>
          </a:p>
        </p:txBody>
      </p:sp>
      <p:pic>
        <p:nvPicPr>
          <p:cNvPr id="41" name="Picture 40" descr="bell-ring_4A35FF_256_2.0.png"/>
          <p:cNvPicPr>
            <a:picLocks noChangeAspect="1"/>
          </p:cNvPicPr>
          <p:nvPr/>
        </p:nvPicPr>
        <p:blipFill>
          <a:blip r:embed="rId8"/>
          <a:stretch>
            <a:fillRect/>
          </a:stretch>
        </p:blipFill>
        <p:spPr>
          <a:xfrm>
            <a:off x="6672843" y="5244266"/>
            <a:ext cx="228234" cy="228234"/>
          </a:xfrm>
          <a:prstGeom prst="rect">
            <a:avLst/>
          </a:prstGeom>
        </p:spPr>
      </p:pic>
      <p:sp>
        <p:nvSpPr>
          <p:cNvPr id="42" name="TextBox 41"/>
          <p:cNvSpPr txBox="1"/>
          <p:nvPr/>
        </p:nvSpPr>
        <p:spPr>
          <a:xfrm>
            <a:off x="609584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Officer alert</a:t>
            </a:r>
          </a:p>
        </p:txBody>
      </p:sp>
      <p:sp>
        <p:nvSpPr>
          <p:cNvPr id="43" name="Oval 42"/>
          <p:cNvSpPr/>
          <p:nvPr/>
        </p:nvSpPr>
        <p:spPr>
          <a:xfrm>
            <a:off x="7949735" y="5138928"/>
            <a:ext cx="438912" cy="438912"/>
          </a:xfrm>
          <a:prstGeom prst="ellipse">
            <a:avLst/>
          </a:prstGeom>
          <a:solidFill>
            <a:srgbClr val="F7F7FA"/>
          </a:solidFill>
          <a:ln>
            <a:noFill/>
          </a:ln>
          <a:effectLst/>
        </p:spPr>
        <p:txBody>
          <a:bodyPr rtlCol="0" anchor="ctr"/>
          <a:lstStyle/>
          <a:p>
            <a:pPr algn="ctr"/>
          </a:p>
        </p:txBody>
      </p:sp>
      <p:pic>
        <p:nvPicPr>
          <p:cNvPr id="44" name="Picture 43" descr="monitor_4A35FF_256_2.0.png"/>
          <p:cNvPicPr>
            <a:picLocks noChangeAspect="1"/>
          </p:cNvPicPr>
          <p:nvPr/>
        </p:nvPicPr>
        <p:blipFill>
          <a:blip r:embed="rId9"/>
          <a:stretch>
            <a:fillRect/>
          </a:stretch>
        </p:blipFill>
        <p:spPr>
          <a:xfrm>
            <a:off x="8055073" y="5244266"/>
            <a:ext cx="228234" cy="228234"/>
          </a:xfrm>
          <a:prstGeom prst="rect">
            <a:avLst/>
          </a:prstGeom>
        </p:spPr>
      </p:pic>
      <p:sp>
        <p:nvSpPr>
          <p:cNvPr id="45" name="TextBox 44"/>
          <p:cNvSpPr txBox="1"/>
          <p:nvPr/>
        </p:nvSpPr>
        <p:spPr>
          <a:xfrm>
            <a:off x="747807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Billboard</a:t>
            </a:r>
          </a:p>
        </p:txBody>
      </p:sp>
      <p:sp>
        <p:nvSpPr>
          <p:cNvPr id="46" name="Oval 45"/>
          <p:cNvSpPr/>
          <p:nvPr/>
        </p:nvSpPr>
        <p:spPr>
          <a:xfrm>
            <a:off x="9331965" y="5138928"/>
            <a:ext cx="438912" cy="438912"/>
          </a:xfrm>
          <a:prstGeom prst="ellipse">
            <a:avLst/>
          </a:prstGeom>
          <a:solidFill>
            <a:srgbClr val="F7F7FA"/>
          </a:solidFill>
          <a:ln>
            <a:noFill/>
          </a:ln>
          <a:effectLst/>
        </p:spPr>
        <p:txBody>
          <a:bodyPr rtlCol="0" anchor="ctr"/>
          <a:lstStyle/>
          <a:p>
            <a:pPr algn="ctr"/>
          </a:p>
        </p:txBody>
      </p:sp>
      <p:pic>
        <p:nvPicPr>
          <p:cNvPr id="47" name="Picture 46" descr="hand_4A35FF_256_2.0.png"/>
          <p:cNvPicPr>
            <a:picLocks noChangeAspect="1"/>
          </p:cNvPicPr>
          <p:nvPr/>
        </p:nvPicPr>
        <p:blipFill>
          <a:blip r:embed="rId10"/>
          <a:stretch>
            <a:fillRect/>
          </a:stretch>
        </p:blipFill>
        <p:spPr>
          <a:xfrm>
            <a:off x="9437303" y="5244266"/>
            <a:ext cx="228234" cy="228234"/>
          </a:xfrm>
          <a:prstGeom prst="rect">
            <a:avLst/>
          </a:prstGeom>
        </p:spPr>
      </p:pic>
      <p:sp>
        <p:nvSpPr>
          <p:cNvPr id="48" name="TextBox 47"/>
          <p:cNvSpPr txBox="1"/>
          <p:nvPr/>
        </p:nvSpPr>
        <p:spPr>
          <a:xfrm>
            <a:off x="886030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Interception</a:t>
            </a:r>
          </a:p>
        </p:txBody>
      </p:sp>
      <p:sp>
        <p:nvSpPr>
          <p:cNvPr id="49" name="Oval 48"/>
          <p:cNvSpPr/>
          <p:nvPr/>
        </p:nvSpPr>
        <p:spPr>
          <a:xfrm>
            <a:off x="10714195" y="5138928"/>
            <a:ext cx="438912" cy="438912"/>
          </a:xfrm>
          <a:prstGeom prst="ellipse">
            <a:avLst/>
          </a:prstGeom>
          <a:solidFill>
            <a:srgbClr val="F7F7FA"/>
          </a:solidFill>
          <a:ln>
            <a:noFill/>
          </a:ln>
          <a:effectLst/>
        </p:spPr>
        <p:txBody>
          <a:bodyPr rtlCol="0" anchor="ctr"/>
          <a:lstStyle/>
          <a:p>
            <a:pPr algn="ctr"/>
          </a:p>
        </p:txBody>
      </p:sp>
      <p:pic>
        <p:nvPicPr>
          <p:cNvPr id="50" name="Picture 49" descr="shield-check_4A35FF_256_2.0.png"/>
          <p:cNvPicPr>
            <a:picLocks noChangeAspect="1"/>
          </p:cNvPicPr>
          <p:nvPr/>
        </p:nvPicPr>
        <p:blipFill>
          <a:blip r:embed="rId11"/>
          <a:stretch>
            <a:fillRect/>
          </a:stretch>
        </p:blipFill>
        <p:spPr>
          <a:xfrm>
            <a:off x="10819533" y="5244266"/>
            <a:ext cx="228234" cy="228234"/>
          </a:xfrm>
          <a:prstGeom prst="rect">
            <a:avLst/>
          </a:prstGeom>
        </p:spPr>
      </p:pic>
      <p:sp>
        <p:nvSpPr>
          <p:cNvPr id="51" name="TextBox 50"/>
          <p:cNvSpPr txBox="1"/>
          <p:nvPr/>
        </p:nvSpPr>
        <p:spPr>
          <a:xfrm>
            <a:off x="1024253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Enforcement</a:t>
            </a:r>
          </a:p>
        </p:txBody>
      </p:sp>
      <p:cxnSp>
        <p:nvCxnSpPr>
          <p:cNvPr id="52" name="Connector 51"/>
          <p:cNvCxnSpPr/>
          <p:nvPr/>
        </p:nvCxnSpPr>
        <p:spPr>
          <a:xfrm>
            <a:off x="566928" y="6455664"/>
            <a:ext cx="11057839" cy="0"/>
          </a:xfrm>
          <a:prstGeom prst="line">
            <a:avLst/>
          </a:prstGeom>
          <a:ln w="9525">
            <a:solidFill>
              <a:srgbClr val="E8E9EE"/>
            </a:solidFill>
          </a:ln>
          <a:effectLst/>
        </p:spPr>
      </p:cxnSp>
      <p:sp>
        <p:nvSpPr>
          <p:cNvPr id="53" name="TextBox 5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54" name="TextBox 5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08 / 28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OPEN PUBLIC DATA</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Live public data platforms, </a:t>
            </a:r>
            <a:r>
              <a:rPr sz="2250" b="1" i="0">
                <a:solidFill>
                  <a:srgbClr val="4A35FF"/>
                </a:solidFill>
                <a:latin typeface="Montserrat"/>
              </a:rPr>
              <a:t>free for any authority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Four platforms, each turning a scattered public record into structured, citable evidence. The Parliament tracker is shown live, as captured this week.</a:t>
            </a:r>
          </a:p>
        </p:txBody>
      </p:sp>
      <p:pic>
        <p:nvPicPr>
          <p:cNvPr id="8" name="Picture 7" descr="parliament_live.png_6.00x2.62_0.00.jpg"/>
          <p:cNvPicPr>
            <a:picLocks noChangeAspect="1"/>
          </p:cNvPicPr>
          <p:nvPr/>
        </p:nvPicPr>
        <p:blipFill>
          <a:blip r:embed="rId2"/>
          <a:stretch>
            <a:fillRect/>
          </a:stretch>
        </p:blipFill>
        <p:spPr>
          <a:xfrm>
            <a:off x="566928" y="1938528"/>
            <a:ext cx="5486400" cy="2395728"/>
          </a:xfrm>
          <a:prstGeom prst="rect">
            <a:avLst/>
          </a:prstGeom>
        </p:spPr>
      </p:pic>
      <p:sp>
        <p:nvSpPr>
          <p:cNvPr id="9" name="Rectangle 8"/>
          <p:cNvSpPr/>
          <p:nvPr/>
        </p:nvSpPr>
        <p:spPr>
          <a:xfrm>
            <a:off x="566928" y="1938528"/>
            <a:ext cx="5486400" cy="2395728"/>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379976"/>
            <a:ext cx="54864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Road Safety in Parliament: all 1,444 questions since 2014 across four ministries; 275 of 540 sitting Lok Sabha MPs have never asked one.</a:t>
            </a:r>
          </a:p>
        </p:txBody>
      </p:sp>
      <p:sp>
        <p:nvSpPr>
          <p:cNvPr id="11" name="Rounded Rectangle 10"/>
          <p:cNvSpPr/>
          <p:nvPr/>
        </p:nvSpPr>
        <p:spPr>
          <a:xfrm>
            <a:off x="6144768" y="1938528"/>
            <a:ext cx="5486400" cy="2395728"/>
          </a:xfrm>
          <a:prstGeom prst="roundRect">
            <a:avLst>
              <a:gd name="adj" fmla="val 6000"/>
            </a:avLst>
          </a:prstGeom>
          <a:solidFill>
            <a:srgbClr val="FFFFFF"/>
          </a:solidFill>
          <a:ln w="9525">
            <a:solidFill>
              <a:srgbClr val="E8E9EE"/>
            </a:solidFill>
          </a:ln>
          <a:effectLst/>
        </p:spPr>
        <p:txBody>
          <a:bodyPr rtlCol="0" anchor="ctr"/>
          <a:lstStyle/>
          <a:p>
            <a:pPr algn="ctr"/>
          </a:p>
        </p:txBody>
      </p:sp>
      <p:sp>
        <p:nvSpPr>
          <p:cNvPr id="12" name="Oval 11"/>
          <p:cNvSpPr/>
          <p:nvPr/>
        </p:nvSpPr>
        <p:spPr>
          <a:xfrm>
            <a:off x="6327648" y="2121408"/>
            <a:ext cx="420624" cy="420624"/>
          </a:xfrm>
          <a:prstGeom prst="ellipse">
            <a:avLst/>
          </a:prstGeom>
          <a:solidFill>
            <a:srgbClr val="E7F4F4"/>
          </a:solidFill>
          <a:ln>
            <a:noFill/>
          </a:ln>
          <a:effectLst/>
        </p:spPr>
        <p:txBody>
          <a:bodyPr rtlCol="0" anchor="ctr"/>
          <a:lstStyle/>
          <a:p>
            <a:pPr algn="ctr"/>
          </a:p>
        </p:txBody>
      </p:sp>
      <p:pic>
        <p:nvPicPr>
          <p:cNvPr id="13" name="Picture 12" descr="database_0E8A8A_256_2.0.png"/>
          <p:cNvPicPr>
            <a:picLocks noChangeAspect="1"/>
          </p:cNvPicPr>
          <p:nvPr/>
        </p:nvPicPr>
        <p:blipFill>
          <a:blip r:embed="rId3"/>
          <a:stretch>
            <a:fillRect/>
          </a:stretch>
        </p:blipFill>
        <p:spPr>
          <a:xfrm>
            <a:off x="6428597" y="2222357"/>
            <a:ext cx="218724" cy="218724"/>
          </a:xfrm>
          <a:prstGeom prst="rect">
            <a:avLst/>
          </a:prstGeom>
        </p:spPr>
      </p:pic>
      <p:sp>
        <p:nvSpPr>
          <p:cNvPr id="14" name="TextBox 13"/>
          <p:cNvSpPr txBox="1"/>
          <p:nvPr/>
        </p:nvSpPr>
        <p:spPr>
          <a:xfrm>
            <a:off x="6876288" y="2103120"/>
            <a:ext cx="3840480" cy="50292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National Road-Infrastructure</a:t>
            </a:r>
          </a:p>
          <a:p>
            <a:pPr algn="l">
              <a:lnSpc>
                <a:spcPct val="110000"/>
              </a:lnSpc>
            </a:pPr>
            <a:r>
              <a:rPr sz="1250" b="1" i="0">
                <a:solidFill>
                  <a:srgbClr val="16181D"/>
                </a:solidFill>
                <a:latin typeface="Montserrat"/>
              </a:rPr>
              <a:t>Defect Repository</a:t>
            </a:r>
          </a:p>
        </p:txBody>
      </p:sp>
      <p:sp>
        <p:nvSpPr>
          <p:cNvPr id="15" name="Rounded Rectangle 14"/>
          <p:cNvSpPr/>
          <p:nvPr/>
        </p:nvSpPr>
        <p:spPr>
          <a:xfrm>
            <a:off x="10213848" y="2139696"/>
            <a:ext cx="1261872" cy="310896"/>
          </a:xfrm>
          <a:prstGeom prst="roundRect">
            <a:avLst>
              <a:gd name="adj" fmla="val 50000"/>
            </a:avLst>
          </a:prstGeom>
          <a:solidFill>
            <a:srgbClr val="E7F4F4"/>
          </a:solidFill>
          <a:ln>
            <a:noFill/>
          </a:ln>
          <a:effectLst/>
        </p:spPr>
        <p:txBody>
          <a:bodyPr rtlCol="0" anchor="ctr"/>
          <a:lstStyle/>
          <a:p>
            <a:pPr algn="ctr"/>
          </a:p>
        </p:txBody>
      </p:sp>
      <p:sp>
        <p:nvSpPr>
          <p:cNvPr id="16" name="TextBox 15"/>
          <p:cNvSpPr txBox="1"/>
          <p:nvPr/>
        </p:nvSpPr>
        <p:spPr>
          <a:xfrm>
            <a:off x="10232136" y="2139696"/>
            <a:ext cx="1225296" cy="310896"/>
          </a:xfrm>
          <a:prstGeom prst="rect">
            <a:avLst/>
          </a:prstGeom>
          <a:noFill/>
        </p:spPr>
        <p:txBody>
          <a:bodyPr wrap="square" lIns="0" rIns="0" tIns="0" bIns="0" anchor="ctr">
            <a:spAutoFit/>
          </a:bodyPr>
          <a:lstStyle/>
          <a:p>
            <a:pPr algn="ctr">
              <a:lnSpc>
                <a:spcPct val="100000"/>
              </a:lnSpc>
            </a:pPr>
            <a:r>
              <a:rPr sz="700" b="1" i="0">
                <a:solidFill>
                  <a:srgbClr val="0E8A8A"/>
                </a:solidFill>
                <a:latin typeface="Montserrat"/>
              </a:rPr>
              <a:t>DAILY · 07:00 IST</a:t>
            </a:r>
          </a:p>
        </p:txBody>
      </p:sp>
      <p:sp>
        <p:nvSpPr>
          <p:cNvPr id="17" name="TextBox 16"/>
          <p:cNvSpPr txBox="1"/>
          <p:nvPr/>
        </p:nvSpPr>
        <p:spPr>
          <a:xfrm>
            <a:off x="6327648" y="2798064"/>
            <a:ext cx="5120640" cy="45720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An AI pipeline reads local-language news every morning and turns road-defect reports into structured, mapped, ranked evidence, each entry carrying its verbatim source.</a:t>
            </a:r>
          </a:p>
        </p:txBody>
      </p:sp>
      <p:sp>
        <p:nvSpPr>
          <p:cNvPr id="18" name="Rounded Rectangle 17"/>
          <p:cNvSpPr/>
          <p:nvPr/>
        </p:nvSpPr>
        <p:spPr>
          <a:xfrm>
            <a:off x="6327648"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19" name="TextBox 18"/>
          <p:cNvSpPr txBox="1"/>
          <p:nvPr/>
        </p:nvSpPr>
        <p:spPr>
          <a:xfrm>
            <a:off x="6345936"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Potholes</a:t>
            </a:r>
          </a:p>
        </p:txBody>
      </p:sp>
      <p:sp>
        <p:nvSpPr>
          <p:cNvPr id="20" name="Rounded Rectangle 19"/>
          <p:cNvSpPr/>
          <p:nvPr/>
        </p:nvSpPr>
        <p:spPr>
          <a:xfrm>
            <a:off x="7370063"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21" name="TextBox 20"/>
          <p:cNvSpPr txBox="1"/>
          <p:nvPr/>
        </p:nvSpPr>
        <p:spPr>
          <a:xfrm>
            <a:off x="7388351"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Missing signage</a:t>
            </a:r>
          </a:p>
        </p:txBody>
      </p:sp>
      <p:sp>
        <p:nvSpPr>
          <p:cNvPr id="22" name="Rounded Rectangle 21"/>
          <p:cNvSpPr/>
          <p:nvPr/>
        </p:nvSpPr>
        <p:spPr>
          <a:xfrm>
            <a:off x="8412478"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23" name="TextBox 22"/>
          <p:cNvSpPr txBox="1"/>
          <p:nvPr/>
        </p:nvSpPr>
        <p:spPr>
          <a:xfrm>
            <a:off x="8430766"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Unlit stretches</a:t>
            </a:r>
          </a:p>
        </p:txBody>
      </p:sp>
      <p:sp>
        <p:nvSpPr>
          <p:cNvPr id="24" name="Rounded Rectangle 23"/>
          <p:cNvSpPr/>
          <p:nvPr/>
        </p:nvSpPr>
        <p:spPr>
          <a:xfrm>
            <a:off x="9454893"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25" name="TextBox 24"/>
          <p:cNvSpPr txBox="1"/>
          <p:nvPr/>
        </p:nvSpPr>
        <p:spPr>
          <a:xfrm>
            <a:off x="9473181"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Blind curves</a:t>
            </a:r>
          </a:p>
        </p:txBody>
      </p:sp>
      <p:sp>
        <p:nvSpPr>
          <p:cNvPr id="26" name="Rounded Rectangle 25"/>
          <p:cNvSpPr/>
          <p:nvPr/>
        </p:nvSpPr>
        <p:spPr>
          <a:xfrm>
            <a:off x="10497308"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27" name="TextBox 26"/>
          <p:cNvSpPr txBox="1"/>
          <p:nvPr/>
        </p:nvSpPr>
        <p:spPr>
          <a:xfrm>
            <a:off x="10515596"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Broken dividers</a:t>
            </a:r>
          </a:p>
        </p:txBody>
      </p:sp>
      <p:sp>
        <p:nvSpPr>
          <p:cNvPr id="28" name="Rounded Rectangle 27"/>
          <p:cNvSpPr/>
          <p:nvPr/>
        </p:nvSpPr>
        <p:spPr>
          <a:xfrm>
            <a:off x="6327648" y="3694176"/>
            <a:ext cx="1645920" cy="512064"/>
          </a:xfrm>
          <a:prstGeom prst="roundRect">
            <a:avLst>
              <a:gd name="adj" fmla="val 12000"/>
            </a:avLst>
          </a:prstGeom>
          <a:solidFill>
            <a:srgbClr val="E7F4F4"/>
          </a:solidFill>
          <a:ln>
            <a:noFill/>
          </a:ln>
          <a:effectLst/>
        </p:spPr>
        <p:txBody>
          <a:bodyPr rtlCol="0" anchor="ctr"/>
          <a:lstStyle/>
          <a:p>
            <a:pPr algn="ctr"/>
          </a:p>
        </p:txBody>
      </p:sp>
      <p:sp>
        <p:nvSpPr>
          <p:cNvPr id="29" name="TextBox 28"/>
          <p:cNvSpPr txBox="1"/>
          <p:nvPr/>
        </p:nvSpPr>
        <p:spPr>
          <a:xfrm>
            <a:off x="6419088" y="3749039"/>
            <a:ext cx="475488" cy="274320"/>
          </a:xfrm>
          <a:prstGeom prst="rect">
            <a:avLst/>
          </a:prstGeom>
          <a:noFill/>
        </p:spPr>
        <p:txBody>
          <a:bodyPr wrap="square" lIns="0" rIns="0" tIns="0" bIns="0" anchor="t">
            <a:spAutoFit/>
          </a:bodyPr>
          <a:lstStyle/>
          <a:p>
            <a:pPr algn="l">
              <a:lnSpc>
                <a:spcPct val="100000"/>
              </a:lnSpc>
            </a:pPr>
            <a:r>
              <a:rPr sz="1200" b="1" i="0">
                <a:solidFill>
                  <a:srgbClr val="0E8A8A"/>
                </a:solidFill>
                <a:latin typeface="Montserrat"/>
              </a:rPr>
              <a:t>146</a:t>
            </a:r>
          </a:p>
        </p:txBody>
      </p:sp>
      <p:sp>
        <p:nvSpPr>
          <p:cNvPr id="30" name="TextBox 29"/>
          <p:cNvSpPr txBox="1"/>
          <p:nvPr/>
        </p:nvSpPr>
        <p:spPr>
          <a:xfrm>
            <a:off x="6894576" y="3739896"/>
            <a:ext cx="1051560" cy="402336"/>
          </a:xfrm>
          <a:prstGeom prst="rect">
            <a:avLst/>
          </a:prstGeom>
          <a:noFill/>
        </p:spPr>
        <p:txBody>
          <a:bodyPr wrap="square" lIns="0" rIns="0" tIns="0" bIns="0" anchor="t">
            <a:spAutoFit/>
          </a:bodyPr>
          <a:lstStyle/>
          <a:p>
            <a:pPr algn="l">
              <a:lnSpc>
                <a:spcPct val="108000"/>
              </a:lnSpc>
            </a:pPr>
            <a:r>
              <a:rPr sz="650" b="0" i="0">
                <a:solidFill>
                  <a:srgbClr val="6E7180"/>
                </a:solidFill>
                <a:latin typeface="Geist"/>
              </a:rPr>
              <a:t>districts scanned daily</a:t>
            </a:r>
          </a:p>
        </p:txBody>
      </p:sp>
      <p:sp>
        <p:nvSpPr>
          <p:cNvPr id="31" name="Rounded Rectangle 30"/>
          <p:cNvSpPr/>
          <p:nvPr/>
        </p:nvSpPr>
        <p:spPr>
          <a:xfrm>
            <a:off x="8083296" y="3694176"/>
            <a:ext cx="1645920" cy="512064"/>
          </a:xfrm>
          <a:prstGeom prst="roundRect">
            <a:avLst>
              <a:gd name="adj" fmla="val 12000"/>
            </a:avLst>
          </a:prstGeom>
          <a:solidFill>
            <a:srgbClr val="E7F4F4"/>
          </a:solidFill>
          <a:ln>
            <a:noFill/>
          </a:ln>
          <a:effectLst/>
        </p:spPr>
        <p:txBody>
          <a:bodyPr rtlCol="0" anchor="ctr"/>
          <a:lstStyle/>
          <a:p>
            <a:pPr algn="ctr"/>
          </a:p>
        </p:txBody>
      </p:sp>
      <p:sp>
        <p:nvSpPr>
          <p:cNvPr id="32" name="TextBox 31"/>
          <p:cNvSpPr txBox="1"/>
          <p:nvPr/>
        </p:nvSpPr>
        <p:spPr>
          <a:xfrm>
            <a:off x="8174736" y="3749039"/>
            <a:ext cx="475488" cy="274320"/>
          </a:xfrm>
          <a:prstGeom prst="rect">
            <a:avLst/>
          </a:prstGeom>
          <a:noFill/>
        </p:spPr>
        <p:txBody>
          <a:bodyPr wrap="square" lIns="0" rIns="0" tIns="0" bIns="0" anchor="t">
            <a:spAutoFit/>
          </a:bodyPr>
          <a:lstStyle/>
          <a:p>
            <a:pPr algn="l">
              <a:lnSpc>
                <a:spcPct val="100000"/>
              </a:lnSpc>
            </a:pPr>
            <a:r>
              <a:rPr sz="1200" b="1" i="0">
                <a:solidFill>
                  <a:srgbClr val="0E8A8A"/>
                </a:solidFill>
                <a:latin typeface="Montserrat"/>
              </a:rPr>
              <a:t>13</a:t>
            </a:r>
          </a:p>
        </p:txBody>
      </p:sp>
      <p:sp>
        <p:nvSpPr>
          <p:cNvPr id="33" name="TextBox 32"/>
          <p:cNvSpPr txBox="1"/>
          <p:nvPr/>
        </p:nvSpPr>
        <p:spPr>
          <a:xfrm>
            <a:off x="8650224" y="3739896"/>
            <a:ext cx="1051560" cy="402336"/>
          </a:xfrm>
          <a:prstGeom prst="rect">
            <a:avLst/>
          </a:prstGeom>
          <a:noFill/>
        </p:spPr>
        <p:txBody>
          <a:bodyPr wrap="square" lIns="0" rIns="0" tIns="0" bIns="0" anchor="t">
            <a:spAutoFit/>
          </a:bodyPr>
          <a:lstStyle/>
          <a:p>
            <a:pPr algn="l">
              <a:lnSpc>
                <a:spcPct val="108000"/>
              </a:lnSpc>
            </a:pPr>
            <a:r>
              <a:rPr sz="650" b="0" i="0">
                <a:solidFill>
                  <a:srgbClr val="6E7180"/>
                </a:solidFill>
                <a:latin typeface="Geist"/>
              </a:rPr>
              <a:t>languages read</a:t>
            </a:r>
          </a:p>
        </p:txBody>
      </p:sp>
      <p:sp>
        <p:nvSpPr>
          <p:cNvPr id="34" name="Rounded Rectangle 33"/>
          <p:cNvSpPr/>
          <p:nvPr/>
        </p:nvSpPr>
        <p:spPr>
          <a:xfrm>
            <a:off x="9838944" y="3694176"/>
            <a:ext cx="1645920" cy="512064"/>
          </a:xfrm>
          <a:prstGeom prst="roundRect">
            <a:avLst>
              <a:gd name="adj" fmla="val 12000"/>
            </a:avLst>
          </a:prstGeom>
          <a:solidFill>
            <a:srgbClr val="E7F4F4"/>
          </a:solidFill>
          <a:ln>
            <a:noFill/>
          </a:ln>
          <a:effectLst/>
        </p:spPr>
        <p:txBody>
          <a:bodyPr rtlCol="0" anchor="ctr"/>
          <a:lstStyle/>
          <a:p>
            <a:pPr algn="ctr"/>
          </a:p>
        </p:txBody>
      </p:sp>
      <p:sp>
        <p:nvSpPr>
          <p:cNvPr id="35" name="TextBox 34"/>
          <p:cNvSpPr txBox="1"/>
          <p:nvPr/>
        </p:nvSpPr>
        <p:spPr>
          <a:xfrm>
            <a:off x="9930384" y="3749039"/>
            <a:ext cx="475488" cy="274320"/>
          </a:xfrm>
          <a:prstGeom prst="rect">
            <a:avLst/>
          </a:prstGeom>
          <a:noFill/>
        </p:spPr>
        <p:txBody>
          <a:bodyPr wrap="square" lIns="0" rIns="0" tIns="0" bIns="0" anchor="t">
            <a:spAutoFit/>
          </a:bodyPr>
          <a:lstStyle/>
          <a:p>
            <a:pPr algn="l">
              <a:lnSpc>
                <a:spcPct val="100000"/>
              </a:lnSpc>
            </a:pPr>
            <a:r>
              <a:rPr sz="1200" b="1" i="0">
                <a:solidFill>
                  <a:srgbClr val="0E8A8A"/>
                </a:solidFill>
                <a:latin typeface="Montserrat"/>
              </a:rPr>
              <a:t>21</a:t>
            </a:r>
          </a:p>
        </p:txBody>
      </p:sp>
      <p:sp>
        <p:nvSpPr>
          <p:cNvPr id="36" name="TextBox 35"/>
          <p:cNvSpPr txBox="1"/>
          <p:nvPr/>
        </p:nvSpPr>
        <p:spPr>
          <a:xfrm>
            <a:off x="10405872" y="3739896"/>
            <a:ext cx="1051560" cy="402336"/>
          </a:xfrm>
          <a:prstGeom prst="rect">
            <a:avLst/>
          </a:prstGeom>
          <a:noFill/>
        </p:spPr>
        <p:txBody>
          <a:bodyPr wrap="square" lIns="0" rIns="0" tIns="0" bIns="0" anchor="t">
            <a:spAutoFit/>
          </a:bodyPr>
          <a:lstStyle/>
          <a:p>
            <a:pPr algn="l">
              <a:lnSpc>
                <a:spcPct val="108000"/>
              </a:lnSpc>
            </a:pPr>
            <a:r>
              <a:rPr sz="650" b="0" i="0">
                <a:solidFill>
                  <a:srgbClr val="6E7180"/>
                </a:solidFill>
                <a:latin typeface="Geist"/>
              </a:rPr>
              <a:t>defect codes tracked</a:t>
            </a:r>
          </a:p>
        </p:txBody>
      </p:sp>
      <p:sp>
        <p:nvSpPr>
          <p:cNvPr id="37" name="TextBox 36"/>
          <p:cNvSpPr txBox="1"/>
          <p:nvPr/>
        </p:nvSpPr>
        <p:spPr>
          <a:xfrm>
            <a:off x="6144768" y="4379976"/>
            <a:ext cx="5486400" cy="2743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Local news → AI extraction → confidence gate → human review → public map. Live across Bihar, UP and Rajasthan districts today.</a:t>
            </a:r>
          </a:p>
        </p:txBody>
      </p:sp>
      <p:sp>
        <p:nvSpPr>
          <p:cNvPr id="38" name="Rounded Rectangle 37"/>
          <p:cNvSpPr/>
          <p:nvPr/>
        </p:nvSpPr>
        <p:spPr>
          <a:xfrm>
            <a:off x="566928" y="4956048"/>
            <a:ext cx="5486400" cy="1298448"/>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39" name="Oval 38"/>
          <p:cNvSpPr/>
          <p:nvPr/>
        </p:nvSpPr>
        <p:spPr>
          <a:xfrm>
            <a:off x="713232" y="5102352"/>
            <a:ext cx="365760" cy="365760"/>
          </a:xfrm>
          <a:prstGeom prst="ellipse">
            <a:avLst/>
          </a:prstGeom>
          <a:solidFill>
            <a:srgbClr val="EFEDFF"/>
          </a:solidFill>
          <a:ln>
            <a:noFill/>
          </a:ln>
          <a:effectLst/>
        </p:spPr>
        <p:txBody>
          <a:bodyPr rtlCol="0" anchor="ctr"/>
          <a:lstStyle/>
          <a:p>
            <a:pPr algn="ctr"/>
          </a:p>
        </p:txBody>
      </p:sp>
      <p:pic>
        <p:nvPicPr>
          <p:cNvPr id="40" name="Picture 39" descr="scale_4A35FF_256_2.0.png"/>
          <p:cNvPicPr>
            <a:picLocks noChangeAspect="1"/>
          </p:cNvPicPr>
          <p:nvPr/>
        </p:nvPicPr>
        <p:blipFill>
          <a:blip r:embed="rId4"/>
          <a:stretch>
            <a:fillRect/>
          </a:stretch>
        </p:blipFill>
        <p:spPr>
          <a:xfrm>
            <a:off x="801014" y="5190134"/>
            <a:ext cx="190195" cy="190195"/>
          </a:xfrm>
          <a:prstGeom prst="rect">
            <a:avLst/>
          </a:prstGeom>
        </p:spPr>
      </p:pic>
      <p:sp>
        <p:nvSpPr>
          <p:cNvPr id="41" name="TextBox 40"/>
          <p:cNvSpPr txBox="1"/>
          <p:nvPr/>
        </p:nvSpPr>
        <p:spPr>
          <a:xfrm>
            <a:off x="1188720" y="5074920"/>
            <a:ext cx="3291840" cy="27432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Supreme Court Litigation Tracker</a:t>
            </a:r>
          </a:p>
        </p:txBody>
      </p:sp>
      <p:sp>
        <p:nvSpPr>
          <p:cNvPr id="42" name="Rounded Rectangle 41"/>
          <p:cNvSpPr/>
          <p:nvPr/>
        </p:nvSpPr>
        <p:spPr>
          <a:xfrm>
            <a:off x="4572000" y="5093208"/>
            <a:ext cx="1353312" cy="292608"/>
          </a:xfrm>
          <a:prstGeom prst="roundRect">
            <a:avLst>
              <a:gd name="adj" fmla="val 50000"/>
            </a:avLst>
          </a:prstGeom>
          <a:solidFill>
            <a:srgbClr val="EFEDFF"/>
          </a:solidFill>
          <a:ln>
            <a:noFill/>
          </a:ln>
          <a:effectLst/>
        </p:spPr>
        <p:txBody>
          <a:bodyPr rtlCol="0" anchor="ctr"/>
          <a:lstStyle/>
          <a:p>
            <a:pPr algn="ctr"/>
          </a:p>
        </p:txBody>
      </p:sp>
      <p:sp>
        <p:nvSpPr>
          <p:cNvPr id="43" name="TextBox 42"/>
          <p:cNvSpPr txBox="1"/>
          <p:nvPr/>
        </p:nvSpPr>
        <p:spPr>
          <a:xfrm>
            <a:off x="4590288" y="5093208"/>
            <a:ext cx="1316736" cy="292608"/>
          </a:xfrm>
          <a:prstGeom prst="rect">
            <a:avLst/>
          </a:prstGeom>
          <a:noFill/>
        </p:spPr>
        <p:txBody>
          <a:bodyPr wrap="square" lIns="0" rIns="0" tIns="0" bIns="0" anchor="ctr">
            <a:spAutoFit/>
          </a:bodyPr>
          <a:lstStyle/>
          <a:p>
            <a:pPr algn="ctr">
              <a:lnSpc>
                <a:spcPct val="100000"/>
              </a:lnSpc>
            </a:pPr>
            <a:r>
              <a:rPr sz="700" b="1" i="0">
                <a:solidFill>
                  <a:srgbClr val="4A35FF"/>
                </a:solidFill>
                <a:latin typeface="Montserrat"/>
              </a:rPr>
              <a:t>WEEKLY · LIVE</a:t>
            </a:r>
          </a:p>
        </p:txBody>
      </p:sp>
      <p:sp>
        <p:nvSpPr>
          <p:cNvPr id="44" name="TextBox 43"/>
          <p:cNvSpPr txBox="1"/>
          <p:nvPr/>
        </p:nvSpPr>
        <p:spPr>
          <a:xfrm>
            <a:off x="713232" y="5522976"/>
            <a:ext cx="3246120" cy="658368"/>
          </a:xfrm>
          <a:prstGeom prst="rect">
            <a:avLst/>
          </a:prstGeom>
          <a:noFill/>
        </p:spPr>
        <p:txBody>
          <a:bodyPr wrap="square" lIns="0" rIns="0" tIns="0" bIns="0" anchor="t">
            <a:spAutoFit/>
          </a:bodyPr>
          <a:lstStyle/>
          <a:p>
            <a:pPr algn="l">
              <a:lnSpc>
                <a:spcPct val="116000"/>
              </a:lnSpc>
            </a:pPr>
            <a:r>
              <a:rPr sz="800" b="0" i="0">
                <a:solidFill>
                  <a:srgbClr val="6E7180"/>
                </a:solidFill>
                <a:latin typeface="Geist"/>
              </a:rPr>
              <a:t>Every systemic road-safety matter before the Supreme Court, orders indexed, precedent judgments digested, refreshed every Tuesday.</a:t>
            </a:r>
          </a:p>
        </p:txBody>
      </p:sp>
      <p:pic>
        <p:nvPicPr>
          <p:cNvPr id="45" name="Picture 44" descr="strip_sctracker.png"/>
          <p:cNvPicPr>
            <a:picLocks noChangeAspect="1"/>
          </p:cNvPicPr>
          <p:nvPr/>
        </p:nvPicPr>
        <p:blipFill>
          <a:blip r:embed="rId5"/>
          <a:stretch>
            <a:fillRect/>
          </a:stretch>
        </p:blipFill>
        <p:spPr>
          <a:xfrm>
            <a:off x="4059936" y="5522976"/>
            <a:ext cx="1847088" cy="362006"/>
          </a:xfrm>
          <a:prstGeom prst="rect">
            <a:avLst/>
          </a:prstGeom>
        </p:spPr>
      </p:pic>
      <p:sp>
        <p:nvSpPr>
          <p:cNvPr id="46" name="Rounded Rectangle 45"/>
          <p:cNvSpPr/>
          <p:nvPr/>
        </p:nvSpPr>
        <p:spPr>
          <a:xfrm>
            <a:off x="6144768" y="4956048"/>
            <a:ext cx="5486400" cy="1298448"/>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47" name="Oval 46"/>
          <p:cNvSpPr/>
          <p:nvPr/>
        </p:nvSpPr>
        <p:spPr>
          <a:xfrm>
            <a:off x="6291072" y="5102352"/>
            <a:ext cx="365760" cy="365760"/>
          </a:xfrm>
          <a:prstGeom prst="ellipse">
            <a:avLst/>
          </a:prstGeom>
          <a:solidFill>
            <a:srgbClr val="FDF3E3"/>
          </a:solidFill>
          <a:ln>
            <a:noFill/>
          </a:ln>
          <a:effectLst/>
        </p:spPr>
        <p:txBody>
          <a:bodyPr rtlCol="0" anchor="ctr"/>
          <a:lstStyle/>
          <a:p>
            <a:pPr algn="ctr"/>
          </a:p>
        </p:txBody>
      </p:sp>
      <p:pic>
        <p:nvPicPr>
          <p:cNvPr id="48" name="Picture 47" descr="bar-chart-3_E58900_256_2.0.png"/>
          <p:cNvPicPr>
            <a:picLocks noChangeAspect="1"/>
          </p:cNvPicPr>
          <p:nvPr/>
        </p:nvPicPr>
        <p:blipFill>
          <a:blip r:embed="rId6"/>
          <a:stretch>
            <a:fillRect/>
          </a:stretch>
        </p:blipFill>
        <p:spPr>
          <a:xfrm>
            <a:off x="6378854" y="5190134"/>
            <a:ext cx="190195" cy="190195"/>
          </a:xfrm>
          <a:prstGeom prst="rect">
            <a:avLst/>
          </a:prstGeom>
        </p:spPr>
      </p:pic>
      <p:sp>
        <p:nvSpPr>
          <p:cNvPr id="49" name="TextBox 48"/>
          <p:cNvSpPr txBox="1"/>
          <p:nvPr/>
        </p:nvSpPr>
        <p:spPr>
          <a:xfrm>
            <a:off x="6766560" y="5074920"/>
            <a:ext cx="3291840" cy="27432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Crash Data Dashboard</a:t>
            </a:r>
          </a:p>
        </p:txBody>
      </p:sp>
      <p:sp>
        <p:nvSpPr>
          <p:cNvPr id="50" name="Rounded Rectangle 49"/>
          <p:cNvSpPr/>
          <p:nvPr/>
        </p:nvSpPr>
        <p:spPr>
          <a:xfrm>
            <a:off x="10149840" y="5093208"/>
            <a:ext cx="1353312" cy="292608"/>
          </a:xfrm>
          <a:prstGeom prst="roundRect">
            <a:avLst>
              <a:gd name="adj" fmla="val 50000"/>
            </a:avLst>
          </a:prstGeom>
          <a:solidFill>
            <a:srgbClr val="FDF3E3"/>
          </a:solidFill>
          <a:ln>
            <a:noFill/>
          </a:ln>
          <a:effectLst/>
        </p:spPr>
        <p:txBody>
          <a:bodyPr rtlCol="0" anchor="ctr"/>
          <a:lstStyle/>
          <a:p>
            <a:pPr algn="ctr"/>
          </a:p>
        </p:txBody>
      </p:sp>
      <p:sp>
        <p:nvSpPr>
          <p:cNvPr id="51" name="TextBox 50"/>
          <p:cNvSpPr txBox="1"/>
          <p:nvPr/>
        </p:nvSpPr>
        <p:spPr>
          <a:xfrm>
            <a:off x="10168128" y="5093208"/>
            <a:ext cx="1316736" cy="292608"/>
          </a:xfrm>
          <a:prstGeom prst="rect">
            <a:avLst/>
          </a:prstGeom>
          <a:noFill/>
        </p:spPr>
        <p:txBody>
          <a:bodyPr wrap="square" lIns="0" rIns="0" tIns="0" bIns="0" anchor="ctr">
            <a:spAutoFit/>
          </a:bodyPr>
          <a:lstStyle/>
          <a:p>
            <a:pPr algn="ctr">
              <a:lnSpc>
                <a:spcPct val="100000"/>
              </a:lnSpc>
            </a:pPr>
            <a:r>
              <a:rPr sz="700" b="1" i="0">
                <a:solidFill>
                  <a:srgbClr val="E58900"/>
                </a:solidFill>
                <a:latin typeface="Montserrat"/>
              </a:rPr>
              <a:t>ANNUAL · OPEN DATA</a:t>
            </a:r>
          </a:p>
        </p:txBody>
      </p:sp>
      <p:sp>
        <p:nvSpPr>
          <p:cNvPr id="52" name="TextBox 51"/>
          <p:cNvSpPr txBox="1"/>
          <p:nvPr/>
        </p:nvSpPr>
        <p:spPr>
          <a:xfrm>
            <a:off x="6291072" y="5522976"/>
            <a:ext cx="3246120" cy="658368"/>
          </a:xfrm>
          <a:prstGeom prst="rect">
            <a:avLst/>
          </a:prstGeom>
          <a:noFill/>
        </p:spPr>
        <p:txBody>
          <a:bodyPr wrap="square" lIns="0" rIns="0" tIns="0" bIns="0" anchor="t">
            <a:spAutoFit/>
          </a:bodyPr>
          <a:lstStyle/>
          <a:p>
            <a:pPr algn="l">
              <a:lnSpc>
                <a:spcPct val="116000"/>
              </a:lnSpc>
            </a:pPr>
            <a:r>
              <a:rPr sz="800" b="0" i="0">
                <a:solidFill>
                  <a:srgbClr val="6E7180"/>
                </a:solidFill>
                <a:latin typeface="Geist"/>
              </a:rPr>
              <a:t>MoRTH's annual 'Road Accidents in India' books as a usable product: report cards for 36 states and 50 cities, every number reconciled against the printed books, open licence (CC-BY).</a:t>
            </a:r>
          </a:p>
        </p:txBody>
      </p:sp>
      <p:pic>
        <p:nvPicPr>
          <p:cNvPr id="53" name="Picture 52" descr="strip_crash.png"/>
          <p:cNvPicPr>
            <a:picLocks noChangeAspect="1"/>
          </p:cNvPicPr>
          <p:nvPr/>
        </p:nvPicPr>
        <p:blipFill>
          <a:blip r:embed="rId7"/>
          <a:stretch>
            <a:fillRect/>
          </a:stretch>
        </p:blipFill>
        <p:spPr>
          <a:xfrm>
            <a:off x="9637776" y="5522976"/>
            <a:ext cx="1847088" cy="362006"/>
          </a:xfrm>
          <a:prstGeom prst="rect">
            <a:avLst/>
          </a:prstGeom>
        </p:spPr>
      </p:pic>
      <p:cxnSp>
        <p:nvCxnSpPr>
          <p:cNvPr id="54" name="Connector 53"/>
          <p:cNvCxnSpPr/>
          <p:nvPr/>
        </p:nvCxnSpPr>
        <p:spPr>
          <a:xfrm>
            <a:off x="566928" y="6455664"/>
            <a:ext cx="11057839" cy="0"/>
          </a:xfrm>
          <a:prstGeom prst="line">
            <a:avLst/>
          </a:prstGeom>
          <a:ln w="9525">
            <a:solidFill>
              <a:srgbClr val="E8E9EE"/>
            </a:solidFill>
          </a:ln>
          <a:effectLst/>
        </p:spPr>
      </p:cxnSp>
      <p:sp>
        <p:nvSpPr>
          <p:cNvPr id="55" name="TextBox 5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56" name="TextBox 5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09 / 28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VICTIM SUPPORT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Help a family can actually use, </a:t>
            </a:r>
            <a:r>
              <a:rPr sz="2250" b="1" i="0">
                <a:solidFill>
                  <a:srgbClr val="4A35FF"/>
                </a:solidFill>
                <a:latin typeface="Montserrat"/>
              </a:rPr>
              <a:t>in their language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From the first hours after a crash to the final compensation order, on WhatsApp, on paper, and in person.</a:t>
            </a:r>
          </a:p>
        </p:txBody>
      </p:sp>
      <p:sp>
        <p:nvSpPr>
          <p:cNvPr id="8" name="Rounded Rectangle 7"/>
          <p:cNvSpPr/>
          <p:nvPr/>
        </p:nvSpPr>
        <p:spPr>
          <a:xfrm>
            <a:off x="56692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ui_aasha_chat.png"/>
          <p:cNvPicPr>
            <a:picLocks noChangeAspect="1"/>
          </p:cNvPicPr>
          <p:nvPr/>
        </p:nvPicPr>
        <p:blipFill>
          <a:blip r:embed="rId2"/>
          <a:stretch>
            <a:fillRect/>
          </a:stretch>
        </p:blipFill>
        <p:spPr>
          <a:xfrm>
            <a:off x="676656" y="2048256"/>
            <a:ext cx="2459736" cy="1810774"/>
          </a:xfrm>
          <a:prstGeom prst="rect">
            <a:avLst/>
          </a:prstGeom>
        </p:spPr>
      </p:pic>
      <p:sp>
        <p:nvSpPr>
          <p:cNvPr id="10" name="Oval 9"/>
          <p:cNvSpPr/>
          <p:nvPr/>
        </p:nvSpPr>
        <p:spPr>
          <a:xfrm>
            <a:off x="694944" y="4526280"/>
            <a:ext cx="347472" cy="347472"/>
          </a:xfrm>
          <a:prstGeom prst="ellipse">
            <a:avLst/>
          </a:prstGeom>
          <a:solidFill>
            <a:srgbClr val="EFEDFF"/>
          </a:solidFill>
          <a:ln>
            <a:noFill/>
          </a:ln>
          <a:effectLst/>
        </p:spPr>
        <p:txBody>
          <a:bodyPr rtlCol="0" anchor="ctr"/>
          <a:lstStyle/>
          <a:p>
            <a:pPr algn="ctr"/>
          </a:p>
        </p:txBody>
      </p:sp>
      <p:pic>
        <p:nvPicPr>
          <p:cNvPr id="11" name="Picture 10" descr="bot_4A35FF_256_2.0.png"/>
          <p:cNvPicPr>
            <a:picLocks noChangeAspect="1"/>
          </p:cNvPicPr>
          <p:nvPr/>
        </p:nvPicPr>
        <p:blipFill>
          <a:blip r:embed="rId3"/>
          <a:stretch>
            <a:fillRect/>
          </a:stretch>
        </p:blipFill>
        <p:spPr>
          <a:xfrm>
            <a:off x="778337" y="4609673"/>
            <a:ext cx="180685" cy="180685"/>
          </a:xfrm>
          <a:prstGeom prst="rect">
            <a:avLst/>
          </a:prstGeom>
        </p:spPr>
      </p:pic>
      <p:sp>
        <p:nvSpPr>
          <p:cNvPr id="12" name="TextBox 11"/>
          <p:cNvSpPr txBox="1"/>
          <p:nvPr/>
        </p:nvSpPr>
        <p:spPr>
          <a:xfrm>
            <a:off x="113385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Aasha chatbot</a:t>
            </a:r>
          </a:p>
        </p:txBody>
      </p:sp>
      <p:sp>
        <p:nvSpPr>
          <p:cNvPr id="13" name="TextBox 12"/>
          <p:cNvSpPr txBox="1"/>
          <p:nvPr/>
        </p:nvSpPr>
        <p:spPr>
          <a:xfrm>
            <a:off x="69494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India's first AI legal companion for crash victims, on WhatsApp and voice, no app needed.</a:t>
            </a:r>
          </a:p>
        </p:txBody>
      </p:sp>
      <p:sp>
        <p:nvSpPr>
          <p:cNvPr id="14" name="Rounded Rectangle 13"/>
          <p:cNvSpPr/>
          <p:nvPr/>
        </p:nvSpPr>
        <p:spPr>
          <a:xfrm>
            <a:off x="335584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ui_mact_calc.png"/>
          <p:cNvPicPr>
            <a:picLocks noChangeAspect="1"/>
          </p:cNvPicPr>
          <p:nvPr/>
        </p:nvPicPr>
        <p:blipFill>
          <a:blip r:embed="rId4"/>
          <a:stretch>
            <a:fillRect/>
          </a:stretch>
        </p:blipFill>
        <p:spPr>
          <a:xfrm>
            <a:off x="3537522" y="2048256"/>
            <a:ext cx="2315843" cy="2286000"/>
          </a:xfrm>
          <a:prstGeom prst="rect">
            <a:avLst/>
          </a:prstGeom>
        </p:spPr>
      </p:pic>
      <p:sp>
        <p:nvSpPr>
          <p:cNvPr id="16" name="Oval 15"/>
          <p:cNvSpPr/>
          <p:nvPr/>
        </p:nvSpPr>
        <p:spPr>
          <a:xfrm>
            <a:off x="3483864" y="4526280"/>
            <a:ext cx="347472" cy="347472"/>
          </a:xfrm>
          <a:prstGeom prst="ellipse">
            <a:avLst/>
          </a:prstGeom>
          <a:solidFill>
            <a:srgbClr val="E7F4F4"/>
          </a:solidFill>
          <a:ln>
            <a:noFill/>
          </a:ln>
          <a:effectLst/>
        </p:spPr>
        <p:txBody>
          <a:bodyPr rtlCol="0" anchor="ctr"/>
          <a:lstStyle/>
          <a:p>
            <a:pPr algn="ctr"/>
          </a:p>
        </p:txBody>
      </p:sp>
      <p:pic>
        <p:nvPicPr>
          <p:cNvPr id="17" name="Picture 16" descr="calculator_0E8A8A_256_2.0.png"/>
          <p:cNvPicPr>
            <a:picLocks noChangeAspect="1"/>
          </p:cNvPicPr>
          <p:nvPr/>
        </p:nvPicPr>
        <p:blipFill>
          <a:blip r:embed="rId5"/>
          <a:stretch>
            <a:fillRect/>
          </a:stretch>
        </p:blipFill>
        <p:spPr>
          <a:xfrm>
            <a:off x="3567257" y="4609673"/>
            <a:ext cx="180685" cy="180685"/>
          </a:xfrm>
          <a:prstGeom prst="rect">
            <a:avLst/>
          </a:prstGeom>
        </p:spPr>
      </p:pic>
      <p:sp>
        <p:nvSpPr>
          <p:cNvPr id="18" name="TextBox 17"/>
          <p:cNvSpPr txBox="1"/>
          <p:nvPr/>
        </p:nvSpPr>
        <p:spPr>
          <a:xfrm>
            <a:off x="392277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Compensation Calculator</a:t>
            </a:r>
          </a:p>
        </p:txBody>
      </p:sp>
      <p:sp>
        <p:nvSpPr>
          <p:cNvPr id="19" name="TextBox 18"/>
          <p:cNvSpPr txBox="1"/>
          <p:nvPr/>
        </p:nvSpPr>
        <p:spPr>
          <a:xfrm>
            <a:off x="348386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Free instant estimates computed on Supreme Court principles (Sarla Verma, Pranay Sethi).</a:t>
            </a:r>
          </a:p>
        </p:txBody>
      </p:sp>
      <p:sp>
        <p:nvSpPr>
          <p:cNvPr id="20" name="Rounded Rectangle 19"/>
          <p:cNvSpPr/>
          <p:nvPr/>
        </p:nvSpPr>
        <p:spPr>
          <a:xfrm>
            <a:off x="614476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comic_aasha_page.png"/>
          <p:cNvPicPr>
            <a:picLocks noChangeAspect="1"/>
          </p:cNvPicPr>
          <p:nvPr/>
        </p:nvPicPr>
        <p:blipFill>
          <a:blip r:embed="rId6"/>
          <a:stretch>
            <a:fillRect/>
          </a:stretch>
        </p:blipFill>
        <p:spPr>
          <a:xfrm>
            <a:off x="6620503" y="2048256"/>
            <a:ext cx="1727722" cy="2286000"/>
          </a:xfrm>
          <a:prstGeom prst="rect">
            <a:avLst/>
          </a:prstGeom>
        </p:spPr>
      </p:pic>
      <p:sp>
        <p:nvSpPr>
          <p:cNvPr id="22" name="Oval 21"/>
          <p:cNvSpPr/>
          <p:nvPr/>
        </p:nvSpPr>
        <p:spPr>
          <a:xfrm>
            <a:off x="6272784" y="4526280"/>
            <a:ext cx="347472" cy="347472"/>
          </a:xfrm>
          <a:prstGeom prst="ellipse">
            <a:avLst/>
          </a:prstGeom>
          <a:solidFill>
            <a:srgbClr val="FDF3E3"/>
          </a:solidFill>
          <a:ln>
            <a:noFill/>
          </a:ln>
          <a:effectLst/>
        </p:spPr>
        <p:txBody>
          <a:bodyPr rtlCol="0" anchor="ctr"/>
          <a:lstStyle/>
          <a:p>
            <a:pPr algn="ctr"/>
          </a:p>
        </p:txBody>
      </p:sp>
      <p:pic>
        <p:nvPicPr>
          <p:cNvPr id="23" name="Picture 22" descr="book-open_E58900_256_2.0.png"/>
          <p:cNvPicPr>
            <a:picLocks noChangeAspect="1"/>
          </p:cNvPicPr>
          <p:nvPr/>
        </p:nvPicPr>
        <p:blipFill>
          <a:blip r:embed="rId7"/>
          <a:stretch>
            <a:fillRect/>
          </a:stretch>
        </p:blipFill>
        <p:spPr>
          <a:xfrm>
            <a:off x="6356177" y="4609673"/>
            <a:ext cx="180685" cy="180685"/>
          </a:xfrm>
          <a:prstGeom prst="rect">
            <a:avLst/>
          </a:prstGeom>
        </p:spPr>
      </p:pic>
      <p:sp>
        <p:nvSpPr>
          <p:cNvPr id="24" name="TextBox 23"/>
          <p:cNvSpPr txBox="1"/>
          <p:nvPr/>
        </p:nvSpPr>
        <p:spPr>
          <a:xfrm>
            <a:off x="671169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'Meet Aasha' comics</a:t>
            </a:r>
          </a:p>
        </p:txBody>
      </p:sp>
      <p:sp>
        <p:nvSpPr>
          <p:cNvPr id="25" name="TextBox 24"/>
          <p:cNvSpPr txBox="1"/>
          <p:nvPr/>
        </p:nvSpPr>
        <p:spPr>
          <a:xfrm>
            <a:off x="627278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Plain-language legal education that families actually read, at desks and in schools.</a:t>
            </a:r>
          </a:p>
        </p:txBody>
      </p:sp>
      <p:sp>
        <p:nvSpPr>
          <p:cNvPr id="26" name="Rounded Rectangle 25"/>
          <p:cNvSpPr/>
          <p:nvPr/>
        </p:nvSpPr>
        <p:spPr>
          <a:xfrm>
            <a:off x="893368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opt_guide_p1_1500.jpg"/>
          <p:cNvPicPr>
            <a:picLocks noChangeAspect="1"/>
          </p:cNvPicPr>
          <p:nvPr/>
        </p:nvPicPr>
        <p:blipFill>
          <a:blip r:embed="rId8"/>
          <a:stretch>
            <a:fillRect/>
          </a:stretch>
        </p:blipFill>
        <p:spPr>
          <a:xfrm>
            <a:off x="9438979" y="2048256"/>
            <a:ext cx="1668610" cy="2286000"/>
          </a:xfrm>
          <a:prstGeom prst="rect">
            <a:avLst/>
          </a:prstGeom>
        </p:spPr>
      </p:pic>
      <p:sp>
        <p:nvSpPr>
          <p:cNvPr id="28" name="Oval 27"/>
          <p:cNvSpPr/>
          <p:nvPr/>
        </p:nvSpPr>
        <p:spPr>
          <a:xfrm>
            <a:off x="9061704" y="4526280"/>
            <a:ext cx="347472" cy="347472"/>
          </a:xfrm>
          <a:prstGeom prst="ellipse">
            <a:avLst/>
          </a:prstGeom>
          <a:solidFill>
            <a:srgbClr val="E9F7F0"/>
          </a:solidFill>
          <a:ln>
            <a:noFill/>
          </a:ln>
          <a:effectLst/>
        </p:spPr>
        <p:txBody>
          <a:bodyPr rtlCol="0" anchor="ctr"/>
          <a:lstStyle/>
          <a:p>
            <a:pPr algn="ctr"/>
          </a:p>
        </p:txBody>
      </p:sp>
      <p:pic>
        <p:nvPicPr>
          <p:cNvPr id="29" name="Picture 28" descr="languages_0A9955_256_2.0.png"/>
          <p:cNvPicPr>
            <a:picLocks noChangeAspect="1"/>
          </p:cNvPicPr>
          <p:nvPr/>
        </p:nvPicPr>
        <p:blipFill>
          <a:blip r:embed="rId9"/>
          <a:stretch>
            <a:fillRect/>
          </a:stretch>
        </p:blipFill>
        <p:spPr>
          <a:xfrm>
            <a:off x="9145097" y="4609673"/>
            <a:ext cx="180685" cy="180685"/>
          </a:xfrm>
          <a:prstGeom prst="rect">
            <a:avLst/>
          </a:prstGeom>
        </p:spPr>
      </p:pic>
      <p:sp>
        <p:nvSpPr>
          <p:cNvPr id="30" name="TextBox 29"/>
          <p:cNvSpPr txBox="1"/>
          <p:nvPr/>
        </p:nvSpPr>
        <p:spPr>
          <a:xfrm>
            <a:off x="950061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Hindi rights guide</a:t>
            </a:r>
          </a:p>
        </p:txBody>
      </p:sp>
      <p:sp>
        <p:nvSpPr>
          <p:cNvPr id="31" name="TextBox 30"/>
          <p:cNvSpPr txBox="1"/>
          <p:nvPr/>
        </p:nvSpPr>
        <p:spPr>
          <a:xfrm>
            <a:off x="906170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All three compensation routes, NALSA 15100 and the Cashless Treatment Scheme 2025.</a:t>
            </a:r>
          </a:p>
        </p:txBody>
      </p:sp>
      <p:sp>
        <p:nvSpPr>
          <p:cNvPr id="32" name="Rounded Rectangle 31"/>
          <p:cNvSpPr/>
          <p:nvPr/>
        </p:nvSpPr>
        <p:spPr>
          <a:xfrm>
            <a:off x="566928" y="5870448"/>
            <a:ext cx="11057839" cy="457200"/>
          </a:xfrm>
          <a:prstGeom prst="roundRect">
            <a:avLst>
              <a:gd name="adj" fmla="val 14000"/>
            </a:avLst>
          </a:prstGeom>
          <a:solidFill>
            <a:srgbClr val="E9F7F0"/>
          </a:solidFill>
          <a:ln>
            <a:noFill/>
          </a:ln>
          <a:effectLst/>
        </p:spPr>
        <p:txBody>
          <a:bodyPr rtlCol="0" anchor="ctr"/>
          <a:lstStyle/>
          <a:p>
            <a:pPr algn="ctr"/>
          </a:p>
        </p:txBody>
      </p:sp>
      <p:sp>
        <p:nvSpPr>
          <p:cNvPr id="33" name="TextBox 32"/>
          <p:cNvSpPr txBox="1"/>
          <p:nvPr/>
        </p:nvSpPr>
        <p:spPr>
          <a:xfrm>
            <a:off x="768096" y="5943600"/>
            <a:ext cx="10646359" cy="329184"/>
          </a:xfrm>
          <a:prstGeom prst="rect">
            <a:avLst/>
          </a:prstGeom>
          <a:noFill/>
        </p:spPr>
        <p:txBody>
          <a:bodyPr wrap="square" lIns="0" rIns="0" tIns="0" bIns="0" anchor="t">
            <a:spAutoFit/>
          </a:bodyPr>
          <a:lstStyle/>
          <a:p>
            <a:pPr algn="l">
              <a:lnSpc>
                <a:spcPct val="120000"/>
              </a:lnSpc>
            </a:pPr>
            <a:r>
              <a:rPr sz="950" b="1" i="0">
                <a:solidFill>
                  <a:srgbClr val="0A9955"/>
                </a:solidFill>
                <a:latin typeface="Geist"/>
              </a:rPr>
              <a:t>Hospital helpdesks bring all of this to the trauma-ward bedside </a:t>
            </a:r>
            <a:r>
              <a:rPr sz="950" b="0" i="0">
                <a:solidFill>
                  <a:srgbClr val="0A9955"/>
                </a:solidFill>
                <a:latin typeface="Geist"/>
              </a:rPr>
              <a:t>, 100+ victims supported in the first four days, run with DLSA and Neev Foundation.</a:t>
            </a:r>
          </a:p>
        </p:txBody>
      </p:sp>
      <p:cxnSp>
        <p:nvCxnSpPr>
          <p:cNvPr id="34" name="Connector 33"/>
          <p:cNvCxnSpPr/>
          <p:nvPr/>
        </p:nvCxnSpPr>
        <p:spPr>
          <a:xfrm>
            <a:off x="566928" y="6455664"/>
            <a:ext cx="11057839" cy="0"/>
          </a:xfrm>
          <a:prstGeom prst="line">
            <a:avLst/>
          </a:prstGeom>
          <a:ln w="9525">
            <a:solidFill>
              <a:srgbClr val="E8E9EE"/>
            </a:solidFill>
          </a:ln>
          <a:effectLst/>
        </p:spPr>
      </p:cxnSp>
      <p:sp>
        <p:nvSpPr>
          <p:cNvPr id="35" name="TextBox 3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6" name="TextBox 3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10 / 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YOUTH &amp; POLICY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Young talent and senior experts, </a:t>
            </a:r>
            <a:r>
              <a:rPr sz="2250" b="1" i="0">
                <a:solidFill>
                  <a:srgbClr val="4A35FF"/>
                </a:solidFill>
                <a:latin typeface="Montserrat"/>
              </a:rPr>
              <a:t>working the same problem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 steady pipeline of engineers and policy minds, so road safety work never runs out of hands.</a:t>
            </a:r>
          </a:p>
        </p:txBody>
      </p:sp>
      <p:pic>
        <p:nvPicPr>
          <p:cNvPr id="8" name="Picture 7" descr="ph_ideathon_winners.jpg_4.05x2.50_0.20.jpg"/>
          <p:cNvPicPr>
            <a:picLocks noChangeAspect="1"/>
          </p:cNvPicPr>
          <p:nvPr/>
        </p:nvPicPr>
        <p:blipFill>
          <a:blip r:embed="rId2"/>
          <a:stretch>
            <a:fillRect/>
          </a:stretch>
        </p:blipFill>
        <p:spPr>
          <a:xfrm>
            <a:off x="566928" y="1938528"/>
            <a:ext cx="3703320" cy="2286000"/>
          </a:xfrm>
          <a:prstGeom prst="rect">
            <a:avLst/>
          </a:prstGeom>
        </p:spPr>
      </p:pic>
      <p:sp>
        <p:nvSpPr>
          <p:cNvPr id="9" name="Rectangle 8"/>
          <p:cNvSpPr/>
          <p:nvPr/>
        </p:nvSpPr>
        <p:spPr>
          <a:xfrm>
            <a:off x="566928" y="1938528"/>
            <a:ext cx="3703320" cy="22860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270248"/>
            <a:ext cx="37033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NextMile: Road Safety Policy Ideathon, grand finale, 28 Sep 2025, New Delhi.</a:t>
            </a:r>
          </a:p>
        </p:txBody>
      </p:sp>
      <p:sp>
        <p:nvSpPr>
          <p:cNvPr id="11" name="TextBox 10"/>
          <p:cNvSpPr txBox="1"/>
          <p:nvPr/>
        </p:nvSpPr>
        <p:spPr>
          <a:xfrm>
            <a:off x="56692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2,000+</a:t>
            </a:r>
          </a:p>
        </p:txBody>
      </p:sp>
      <p:sp>
        <p:nvSpPr>
          <p:cNvPr id="12" name="TextBox 11"/>
          <p:cNvSpPr txBox="1"/>
          <p:nvPr/>
        </p:nvSpPr>
        <p:spPr>
          <a:xfrm>
            <a:off x="56692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participants</a:t>
            </a:r>
          </a:p>
        </p:txBody>
      </p:sp>
      <p:sp>
        <p:nvSpPr>
          <p:cNvPr id="13" name="TextBox 12"/>
          <p:cNvSpPr txBox="1"/>
          <p:nvPr/>
        </p:nvSpPr>
        <p:spPr>
          <a:xfrm>
            <a:off x="152704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250+</a:t>
            </a:r>
          </a:p>
        </p:txBody>
      </p:sp>
      <p:sp>
        <p:nvSpPr>
          <p:cNvPr id="14" name="TextBox 13"/>
          <p:cNvSpPr txBox="1"/>
          <p:nvPr/>
        </p:nvSpPr>
        <p:spPr>
          <a:xfrm>
            <a:off x="152704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concept notes</a:t>
            </a:r>
          </a:p>
        </p:txBody>
      </p:sp>
      <p:sp>
        <p:nvSpPr>
          <p:cNvPr id="15" name="TextBox 14"/>
          <p:cNvSpPr txBox="1"/>
          <p:nvPr/>
        </p:nvSpPr>
        <p:spPr>
          <a:xfrm>
            <a:off x="248716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700+</a:t>
            </a:r>
          </a:p>
        </p:txBody>
      </p:sp>
      <p:sp>
        <p:nvSpPr>
          <p:cNvPr id="16" name="TextBox 15"/>
          <p:cNvSpPr txBox="1"/>
          <p:nvPr/>
        </p:nvSpPr>
        <p:spPr>
          <a:xfrm>
            <a:off x="248716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teams</a:t>
            </a:r>
          </a:p>
        </p:txBody>
      </p:sp>
      <p:sp>
        <p:nvSpPr>
          <p:cNvPr id="17" name="TextBox 16"/>
          <p:cNvSpPr txBox="1"/>
          <p:nvPr/>
        </p:nvSpPr>
        <p:spPr>
          <a:xfrm>
            <a:off x="344728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10</a:t>
            </a:r>
          </a:p>
        </p:txBody>
      </p:sp>
      <p:sp>
        <p:nvSpPr>
          <p:cNvPr id="18" name="TextBox 17"/>
          <p:cNvSpPr txBox="1"/>
          <p:nvPr/>
        </p:nvSpPr>
        <p:spPr>
          <a:xfrm>
            <a:off x="344728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finalist teams</a:t>
            </a:r>
          </a:p>
        </p:txBody>
      </p:sp>
      <p:pic>
        <p:nvPicPr>
          <p:cNvPr id="19" name="Picture 18" descr="ph_forum_stage2.jpg_3.70x2.50_0.30.jpg"/>
          <p:cNvPicPr>
            <a:picLocks noChangeAspect="1"/>
          </p:cNvPicPr>
          <p:nvPr/>
        </p:nvPicPr>
        <p:blipFill>
          <a:blip r:embed="rId3"/>
          <a:stretch>
            <a:fillRect/>
          </a:stretch>
        </p:blipFill>
        <p:spPr>
          <a:xfrm>
            <a:off x="4434840" y="1938528"/>
            <a:ext cx="3383280" cy="2286000"/>
          </a:xfrm>
          <a:prstGeom prst="rect">
            <a:avLst/>
          </a:prstGeom>
        </p:spPr>
      </p:pic>
      <p:sp>
        <p:nvSpPr>
          <p:cNvPr id="20" name="Rectangle 19"/>
          <p:cNvSpPr/>
          <p:nvPr/>
        </p:nvSpPr>
        <p:spPr>
          <a:xfrm>
            <a:off x="4434840" y="1938528"/>
            <a:ext cx="3383280" cy="2286000"/>
          </a:xfrm>
          <a:prstGeom prst="rect">
            <a:avLst/>
          </a:prstGeom>
          <a:noFill/>
          <a:ln w="12700">
            <a:solidFill>
              <a:srgbClr val="E8E9EE"/>
            </a:solidFill>
          </a:ln>
          <a:effectLst/>
        </p:spPr>
        <p:txBody>
          <a:bodyPr rtlCol="0" anchor="ctr"/>
          <a:lstStyle/>
          <a:p>
            <a:pPr algn="ctr"/>
          </a:p>
        </p:txBody>
      </p:sp>
      <p:sp>
        <p:nvSpPr>
          <p:cNvPr id="21" name="TextBox 20"/>
          <p:cNvSpPr txBox="1"/>
          <p:nvPr/>
        </p:nvSpPr>
        <p:spPr>
          <a:xfrm>
            <a:off x="4434840" y="4270248"/>
            <a:ext cx="33832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Implementation Forum, IIT Delhi: 60+ experts from MoRTH, WHO, UNICEF, iRAP and CSIR-CRRI reviewed the work.</a:t>
            </a:r>
          </a:p>
        </p:txBody>
      </p:sp>
      <p:sp>
        <p:nvSpPr>
          <p:cNvPr id="22" name="TextBox 21"/>
          <p:cNvSpPr txBox="1"/>
          <p:nvPr/>
        </p:nvSpPr>
        <p:spPr>
          <a:xfrm>
            <a:off x="4434840" y="4828032"/>
            <a:ext cx="3383280" cy="7315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Mentors and jury from the Government of Rajasthan, NIUA, OMI, NASSCOM and CSEP judged the student teams; winning tracks now feed our audit and research pipeline.</a:t>
            </a:r>
          </a:p>
        </p:txBody>
      </p:sp>
      <p:sp>
        <p:nvSpPr>
          <p:cNvPr id="23" name="Oval 22"/>
          <p:cNvSpPr/>
          <p:nvPr/>
        </p:nvSpPr>
        <p:spPr>
          <a:xfrm>
            <a:off x="8229600" y="1938528"/>
            <a:ext cx="384048" cy="384048"/>
          </a:xfrm>
          <a:prstGeom prst="ellipse">
            <a:avLst/>
          </a:prstGeom>
          <a:solidFill>
            <a:srgbClr val="EFEDFF"/>
          </a:solidFill>
          <a:ln>
            <a:noFill/>
          </a:ln>
          <a:effectLst/>
        </p:spPr>
        <p:txBody>
          <a:bodyPr rtlCol="0" anchor="ctr"/>
          <a:lstStyle/>
          <a:p>
            <a:pPr algn="ctr"/>
          </a:p>
        </p:txBody>
      </p:sp>
      <p:pic>
        <p:nvPicPr>
          <p:cNvPr id="24" name="Picture 23" descr="mic_4A35FF_256_2.0.png"/>
          <p:cNvPicPr>
            <a:picLocks noChangeAspect="1"/>
          </p:cNvPicPr>
          <p:nvPr/>
        </p:nvPicPr>
        <p:blipFill>
          <a:blip r:embed="rId4"/>
          <a:stretch>
            <a:fillRect/>
          </a:stretch>
        </p:blipFill>
        <p:spPr>
          <a:xfrm>
            <a:off x="8321771" y="2030699"/>
            <a:ext cx="199704" cy="199704"/>
          </a:xfrm>
          <a:prstGeom prst="rect">
            <a:avLst/>
          </a:prstGeom>
        </p:spPr>
      </p:pic>
      <p:sp>
        <p:nvSpPr>
          <p:cNvPr id="25" name="TextBox 24"/>
          <p:cNvSpPr txBox="1"/>
          <p:nvPr/>
        </p:nvSpPr>
        <p:spPr>
          <a:xfrm>
            <a:off x="8759952" y="1911096"/>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National Road Safety Dialogue Series</a:t>
            </a:r>
          </a:p>
        </p:txBody>
      </p:sp>
      <p:sp>
        <p:nvSpPr>
          <p:cNvPr id="26" name="TextBox 25"/>
          <p:cNvSpPr txBox="1"/>
          <p:nvPr/>
        </p:nvSpPr>
        <p:spPr>
          <a:xfrm>
            <a:off x="8759952" y="2267712"/>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200+ live attendees; speakers from MoRTH, CIRT, AIIMS Trauma Centre, CSIR-CRRI and ARAI.</a:t>
            </a:r>
          </a:p>
        </p:txBody>
      </p:sp>
      <p:sp>
        <p:nvSpPr>
          <p:cNvPr id="27" name="Oval 26"/>
          <p:cNvSpPr/>
          <p:nvPr/>
        </p:nvSpPr>
        <p:spPr>
          <a:xfrm>
            <a:off x="8229600" y="3108960"/>
            <a:ext cx="384048" cy="384048"/>
          </a:xfrm>
          <a:prstGeom prst="ellipse">
            <a:avLst/>
          </a:prstGeom>
          <a:solidFill>
            <a:srgbClr val="E7F4F4"/>
          </a:solidFill>
          <a:ln>
            <a:noFill/>
          </a:ln>
          <a:effectLst/>
        </p:spPr>
        <p:txBody>
          <a:bodyPr rtlCol="0" anchor="ctr"/>
          <a:lstStyle/>
          <a:p>
            <a:pPr algn="ctr"/>
          </a:p>
        </p:txBody>
      </p:sp>
      <p:pic>
        <p:nvPicPr>
          <p:cNvPr id="28" name="Picture 27" descr="message-square_0E8A8A_256_2.0.png"/>
          <p:cNvPicPr>
            <a:picLocks noChangeAspect="1"/>
          </p:cNvPicPr>
          <p:nvPr/>
        </p:nvPicPr>
        <p:blipFill>
          <a:blip r:embed="rId5"/>
          <a:stretch>
            <a:fillRect/>
          </a:stretch>
        </p:blipFill>
        <p:spPr>
          <a:xfrm>
            <a:off x="8321771" y="3201131"/>
            <a:ext cx="199704" cy="199704"/>
          </a:xfrm>
          <a:prstGeom prst="rect">
            <a:avLst/>
          </a:prstGeom>
        </p:spPr>
      </p:pic>
      <p:sp>
        <p:nvSpPr>
          <p:cNvPr id="29" name="TextBox 28"/>
          <p:cNvSpPr txBox="1"/>
          <p:nvPr/>
        </p:nvSpPr>
        <p:spPr>
          <a:xfrm>
            <a:off x="8759952" y="3081528"/>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Three sessions so far</a:t>
            </a:r>
          </a:p>
        </p:txBody>
      </p:sp>
      <p:sp>
        <p:nvSpPr>
          <p:cNvPr id="30" name="TextBox 29"/>
          <p:cNvSpPr txBox="1"/>
          <p:nvPr/>
        </p:nvSpPr>
        <p:spPr>
          <a:xfrm>
            <a:off x="8759952" y="3438144"/>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Bus safety · Delivery rider safety · Good Samaritan law &amp; the Cashless Treatment Scheme.</a:t>
            </a:r>
          </a:p>
        </p:txBody>
      </p:sp>
      <p:sp>
        <p:nvSpPr>
          <p:cNvPr id="31" name="Oval 30"/>
          <p:cNvSpPr/>
          <p:nvPr/>
        </p:nvSpPr>
        <p:spPr>
          <a:xfrm>
            <a:off x="8229600" y="4279392"/>
            <a:ext cx="384048" cy="384048"/>
          </a:xfrm>
          <a:prstGeom prst="ellipse">
            <a:avLst/>
          </a:prstGeom>
          <a:solidFill>
            <a:srgbClr val="FDEFEC"/>
          </a:solidFill>
          <a:ln>
            <a:noFill/>
          </a:ln>
          <a:effectLst/>
        </p:spPr>
        <p:txBody>
          <a:bodyPr rtlCol="0" anchor="ctr"/>
          <a:lstStyle/>
          <a:p>
            <a:pPr algn="ctr"/>
          </a:p>
        </p:txBody>
      </p:sp>
      <p:pic>
        <p:nvPicPr>
          <p:cNvPr id="32" name="Picture 31" descr="monitor-play_E11900_256_2.0.png"/>
          <p:cNvPicPr>
            <a:picLocks noChangeAspect="1"/>
          </p:cNvPicPr>
          <p:nvPr/>
        </p:nvPicPr>
        <p:blipFill>
          <a:blip r:embed="rId6"/>
          <a:stretch>
            <a:fillRect/>
          </a:stretch>
        </p:blipFill>
        <p:spPr>
          <a:xfrm>
            <a:off x="8321771" y="4371563"/>
            <a:ext cx="199704" cy="199704"/>
          </a:xfrm>
          <a:prstGeom prst="rect">
            <a:avLst/>
          </a:prstGeom>
        </p:spPr>
      </p:pic>
      <p:sp>
        <p:nvSpPr>
          <p:cNvPr id="33" name="TextBox 32"/>
          <p:cNvSpPr txBox="1"/>
          <p:nvPr/>
        </p:nvSpPr>
        <p:spPr>
          <a:xfrm>
            <a:off x="8759952" y="4251960"/>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Advocacy on video</a:t>
            </a:r>
          </a:p>
        </p:txBody>
      </p:sp>
      <p:sp>
        <p:nvSpPr>
          <p:cNvPr id="34" name="TextBox 33"/>
          <p:cNvSpPr txBox="1"/>
          <p:nvPr/>
        </p:nvSpPr>
        <p:spPr>
          <a:xfrm>
            <a:off x="8759952" y="4608576"/>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Our YouTube channel documents hazards and fixes on camera: ground-audit walkthroughs, Dialogue Series recordings and victim-education explainers. A public record any authority can cite.</a:t>
            </a:r>
          </a:p>
        </p:txBody>
      </p:sp>
      <p:sp>
        <p:nvSpPr>
          <p:cNvPr id="35" name="Rounded Rectangle 34"/>
          <p:cNvSpPr/>
          <p:nvPr/>
        </p:nvSpPr>
        <p:spPr>
          <a:xfrm>
            <a:off x="8229600" y="5486400"/>
            <a:ext cx="3383280" cy="658368"/>
          </a:xfrm>
          <a:prstGeom prst="roundRect">
            <a:avLst>
              <a:gd name="adj" fmla="val 14000"/>
            </a:avLst>
          </a:prstGeom>
          <a:solidFill>
            <a:srgbClr val="F7F7FA"/>
          </a:solidFill>
          <a:ln>
            <a:noFill/>
          </a:ln>
          <a:effectLst/>
        </p:spPr>
        <p:txBody>
          <a:bodyPr rtlCol="0" anchor="ctr"/>
          <a:lstStyle/>
          <a:p>
            <a:pPr algn="ctr"/>
          </a:p>
        </p:txBody>
      </p:sp>
      <p:sp>
        <p:nvSpPr>
          <p:cNvPr id="36" name="TextBox 35"/>
          <p:cNvSpPr txBox="1"/>
          <p:nvPr/>
        </p:nvSpPr>
        <p:spPr>
          <a:xfrm>
            <a:off x="8394192" y="5559552"/>
            <a:ext cx="3108960" cy="548640"/>
          </a:xfrm>
          <a:prstGeom prst="rect">
            <a:avLst/>
          </a:prstGeom>
          <a:noFill/>
        </p:spPr>
        <p:txBody>
          <a:bodyPr wrap="square" lIns="0" rIns="0" tIns="0" bIns="0" anchor="t">
            <a:spAutoFit/>
          </a:bodyPr>
          <a:lstStyle/>
          <a:p>
            <a:pPr algn="l">
              <a:lnSpc>
                <a:spcPct val="125000"/>
              </a:lnSpc>
            </a:pPr>
            <a:r>
              <a:rPr sz="950" b="1" i="0">
                <a:solidFill>
                  <a:srgbClr val="16181D"/>
                </a:solidFill>
                <a:latin typeface="Geist"/>
              </a:rPr>
              <a:t>Next: </a:t>
            </a:r>
            <a:r>
              <a:rPr sz="950" b="0" i="0">
                <a:solidFill>
                  <a:srgbClr val="6E7180"/>
                </a:solidFill>
                <a:latin typeface="Geist"/>
              </a:rPr>
              <a:t>'Be a Rakshak' university chapters at IITs, NITs and SPAs.</a:t>
            </a:r>
          </a:p>
        </p:txBody>
      </p:sp>
      <p:cxnSp>
        <p:nvCxnSpPr>
          <p:cNvPr id="37" name="Connector 36"/>
          <p:cNvCxnSpPr/>
          <p:nvPr/>
        </p:nvCxnSpPr>
        <p:spPr>
          <a:xfrm>
            <a:off x="566928" y="6455664"/>
            <a:ext cx="11057839" cy="0"/>
          </a:xfrm>
          <a:prstGeom prst="line">
            <a:avLst/>
          </a:prstGeom>
          <a:ln w="9525">
            <a:solidFill>
              <a:srgbClr val="E8E9EE"/>
            </a:solidFill>
          </a:ln>
          <a:effectLst/>
        </p:spPr>
      </p:cxnSp>
      <p:sp>
        <p:nvSpPr>
          <p:cNvPr id="38" name="TextBox 37"/>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9" name="TextBox 3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11 / 28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ON THE GROUND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Road Safety Month 2026, run </a:t>
            </a:r>
            <a:r>
              <a:rPr sz="2250" b="1" i="0">
                <a:solidFill>
                  <a:srgbClr val="4A35FF"/>
                </a:solidFill>
                <a:latin typeface="Montserrat"/>
              </a:rPr>
              <a:t>with the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With district police, schools, hospitals and delivery platforms, in Hindi and local languages.</a:t>
            </a:r>
          </a:p>
        </p:txBody>
      </p:sp>
      <p:pic>
        <p:nvPicPr>
          <p:cNvPr id="8" name="Picture 7" descr="ph_police_rally.jpg_4.70x3.55_0.35.jpg"/>
          <p:cNvPicPr>
            <a:picLocks noChangeAspect="1"/>
          </p:cNvPicPr>
          <p:nvPr/>
        </p:nvPicPr>
        <p:blipFill>
          <a:blip r:embed="rId2"/>
          <a:stretch>
            <a:fillRect/>
          </a:stretch>
        </p:blipFill>
        <p:spPr>
          <a:xfrm>
            <a:off x="566928" y="1938528"/>
            <a:ext cx="4297680" cy="3246120"/>
          </a:xfrm>
          <a:prstGeom prst="rect">
            <a:avLst/>
          </a:prstGeom>
        </p:spPr>
      </p:pic>
      <p:sp>
        <p:nvSpPr>
          <p:cNvPr id="9" name="Rectangle 8"/>
          <p:cNvSpPr/>
          <p:nvPr/>
        </p:nvSpPr>
        <p:spPr>
          <a:xfrm>
            <a:off x="566928" y="1938528"/>
            <a:ext cx="4297680" cy="324612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30368"/>
            <a:ext cx="42976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Month rally, on the road with district traffic police, Jan 2026.</a:t>
            </a:r>
          </a:p>
        </p:txBody>
      </p:sp>
      <p:pic>
        <p:nvPicPr>
          <p:cNvPr id="11" name="Picture 10" descr="ph_stall.jpg_3.55x1.72_0.45.jpg"/>
          <p:cNvPicPr>
            <a:picLocks noChangeAspect="1"/>
          </p:cNvPicPr>
          <p:nvPr/>
        </p:nvPicPr>
        <p:blipFill>
          <a:blip r:embed="rId3"/>
          <a:stretch>
            <a:fillRect/>
          </a:stretch>
        </p:blipFill>
        <p:spPr>
          <a:xfrm>
            <a:off x="5074920" y="1938528"/>
            <a:ext cx="3246120" cy="1572768"/>
          </a:xfrm>
          <a:prstGeom prst="rect">
            <a:avLst/>
          </a:prstGeom>
        </p:spPr>
      </p:pic>
      <p:sp>
        <p:nvSpPr>
          <p:cNvPr id="12" name="Rectangle 11"/>
          <p:cNvSpPr/>
          <p:nvPr/>
        </p:nvSpPr>
        <p:spPr>
          <a:xfrm>
            <a:off x="5074920" y="1938528"/>
            <a:ext cx="3246120" cy="1572768"/>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507492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CFI stall at a government office</a:t>
            </a:r>
          </a:p>
        </p:txBody>
      </p:sp>
      <p:pic>
        <p:nvPicPr>
          <p:cNvPr id="14" name="Picture 13" descr="ph_police_station.jpg_3.55x1.72_0.35.jpg"/>
          <p:cNvPicPr>
            <a:picLocks noChangeAspect="1"/>
          </p:cNvPicPr>
          <p:nvPr/>
        </p:nvPicPr>
        <p:blipFill>
          <a:blip r:embed="rId4"/>
          <a:stretch>
            <a:fillRect/>
          </a:stretch>
        </p:blipFill>
        <p:spPr>
          <a:xfrm>
            <a:off x="8412480" y="1938528"/>
            <a:ext cx="3246120" cy="1572768"/>
          </a:xfrm>
          <a:prstGeom prst="rect">
            <a:avLst/>
          </a:prstGeom>
        </p:spPr>
      </p:pic>
      <p:sp>
        <p:nvSpPr>
          <p:cNvPr id="15" name="Rectangle 14"/>
          <p:cNvSpPr/>
          <p:nvPr/>
        </p:nvSpPr>
        <p:spPr>
          <a:xfrm>
            <a:off x="8412480" y="1938528"/>
            <a:ext cx="3246120" cy="1572768"/>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841248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Materials briefing with police staff</a:t>
            </a:r>
          </a:p>
        </p:txBody>
      </p:sp>
      <p:pic>
        <p:nvPicPr>
          <p:cNvPr id="17" name="Picture 16" descr="ph_school_kids.jpg_3.55x1.72_0.30.jpg"/>
          <p:cNvPicPr>
            <a:picLocks noChangeAspect="1"/>
          </p:cNvPicPr>
          <p:nvPr/>
        </p:nvPicPr>
        <p:blipFill>
          <a:blip r:embed="rId5"/>
          <a:stretch>
            <a:fillRect/>
          </a:stretch>
        </p:blipFill>
        <p:spPr>
          <a:xfrm>
            <a:off x="5074920" y="3904488"/>
            <a:ext cx="3246120" cy="1572768"/>
          </a:xfrm>
          <a:prstGeom prst="rect">
            <a:avLst/>
          </a:prstGeom>
        </p:spPr>
      </p:pic>
      <p:sp>
        <p:nvSpPr>
          <p:cNvPr id="18" name="Rectangle 17"/>
          <p:cNvSpPr/>
          <p:nvPr/>
        </p:nvSpPr>
        <p:spPr>
          <a:xfrm>
            <a:off x="5074920" y="3904488"/>
            <a:ext cx="3246120" cy="1572768"/>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507492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School programme with certificates</a:t>
            </a:r>
          </a:p>
        </p:txBody>
      </p:sp>
      <p:pic>
        <p:nvPicPr>
          <p:cNvPr id="20" name="Picture 19" descr="ph_gig_riders.jpg_3.55x1.72_0.40.jpg"/>
          <p:cNvPicPr>
            <a:picLocks noChangeAspect="1"/>
          </p:cNvPicPr>
          <p:nvPr/>
        </p:nvPicPr>
        <p:blipFill>
          <a:blip r:embed="rId6"/>
          <a:stretch>
            <a:fillRect/>
          </a:stretch>
        </p:blipFill>
        <p:spPr>
          <a:xfrm>
            <a:off x="8412480" y="3904488"/>
            <a:ext cx="3246120" cy="1572768"/>
          </a:xfrm>
          <a:prstGeom prst="rect">
            <a:avLst/>
          </a:prstGeom>
        </p:spPr>
      </p:pic>
      <p:sp>
        <p:nvSpPr>
          <p:cNvPr id="21" name="Rectangle 20"/>
          <p:cNvSpPr/>
          <p:nvPr/>
        </p:nvSpPr>
        <p:spPr>
          <a:xfrm>
            <a:off x="8412480" y="3904488"/>
            <a:ext cx="3246120" cy="1572768"/>
          </a:xfrm>
          <a:prstGeom prst="rect">
            <a:avLst/>
          </a:prstGeom>
          <a:noFill/>
          <a:ln w="12700">
            <a:solidFill>
              <a:srgbClr val="E8E9EE"/>
            </a:solidFill>
          </a:ln>
          <a:effectLst/>
        </p:spPr>
        <p:txBody>
          <a:bodyPr rtlCol="0" anchor="ctr"/>
          <a:lstStyle/>
          <a:p>
            <a:pPr algn="ctr"/>
          </a:p>
        </p:txBody>
      </p:sp>
      <p:sp>
        <p:nvSpPr>
          <p:cNvPr id="22" name="TextBox 21"/>
          <p:cNvSpPr txBox="1"/>
          <p:nvPr/>
        </p:nvSpPr>
        <p:spPr>
          <a:xfrm>
            <a:off x="841248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Delivery-rider outreach, Swiggy &amp; Instamart</a:t>
            </a:r>
          </a:p>
        </p:txBody>
      </p:sp>
      <p:sp>
        <p:nvSpPr>
          <p:cNvPr id="23" name="Rounded Rectangle 22"/>
          <p:cNvSpPr/>
          <p:nvPr/>
        </p:nvSpPr>
        <p:spPr>
          <a:xfrm>
            <a:off x="566928" y="5623560"/>
            <a:ext cx="4297680" cy="566928"/>
          </a:xfrm>
          <a:prstGeom prst="roundRect">
            <a:avLst>
              <a:gd name="adj" fmla="val 16000"/>
            </a:avLst>
          </a:prstGeom>
          <a:solidFill>
            <a:srgbClr val="E9F7F0"/>
          </a:solidFill>
          <a:ln>
            <a:noFill/>
          </a:ln>
          <a:effectLst/>
        </p:spPr>
        <p:txBody>
          <a:bodyPr rtlCol="0" anchor="ctr"/>
          <a:lstStyle/>
          <a:p>
            <a:pPr algn="ctr"/>
          </a:p>
        </p:txBody>
      </p:sp>
      <p:sp>
        <p:nvSpPr>
          <p:cNvPr id="24" name="TextBox 23"/>
          <p:cNvSpPr txBox="1"/>
          <p:nvPr/>
        </p:nvSpPr>
        <p:spPr>
          <a:xfrm>
            <a:off x="749808" y="5705856"/>
            <a:ext cx="4023360" cy="457200"/>
          </a:xfrm>
          <a:prstGeom prst="rect">
            <a:avLst/>
          </a:prstGeom>
          <a:noFill/>
        </p:spPr>
        <p:txBody>
          <a:bodyPr wrap="square" lIns="0" rIns="0" tIns="0" bIns="0" anchor="t">
            <a:spAutoFit/>
          </a:bodyPr>
          <a:lstStyle/>
          <a:p>
            <a:pPr algn="l">
              <a:lnSpc>
                <a:spcPct val="120000"/>
              </a:lnSpc>
            </a:pPr>
            <a:r>
              <a:rPr sz="1050" b="1" i="0">
                <a:solidFill>
                  <a:srgbClr val="0A9955"/>
                </a:solidFill>
                <a:latin typeface="Geist"/>
              </a:rPr>
              <a:t>1M+ citizens reached </a:t>
            </a:r>
            <a:r>
              <a:rPr sz="1050" b="0" i="0">
                <a:solidFill>
                  <a:srgbClr val="0A9955"/>
                </a:solidFill>
                <a:latin typeface="Geist"/>
              </a:rPr>
              <a:t>across campaigns in year one.</a:t>
            </a:r>
          </a:p>
        </p:txBody>
      </p:sp>
      <p:cxnSp>
        <p:nvCxnSpPr>
          <p:cNvPr id="25" name="Connector 24"/>
          <p:cNvCxnSpPr/>
          <p:nvPr/>
        </p:nvCxnSpPr>
        <p:spPr>
          <a:xfrm>
            <a:off x="566928" y="6455664"/>
            <a:ext cx="11057839" cy="0"/>
          </a:xfrm>
          <a:prstGeom prst="line">
            <a:avLst/>
          </a:prstGeom>
          <a:ln w="9525">
            <a:solidFill>
              <a:srgbClr val="E8E9EE"/>
            </a:solidFill>
          </a:ln>
          <a:effectLst/>
        </p:spPr>
      </p:cxnSp>
      <p:sp>
        <p:nvSpPr>
          <p:cNvPr id="26" name="TextBox 2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27" name="TextBox 2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12 / 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PUBLIC VOICE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MS Dhoni gives road safety </a:t>
            </a:r>
            <a:r>
              <a:rPr sz="2250" b="1" i="0">
                <a:solidFill>
                  <a:srgbClr val="4A35FF"/>
                </a:solidFill>
                <a:latin typeface="Montserrat"/>
              </a:rPr>
              <a:t>a national voice</a:t>
            </a:r>
          </a:p>
        </p:txBody>
      </p:sp>
      <p:pic>
        <p:nvPicPr>
          <p:cNvPr id="7" name="Picture 6" descr="ph_dhoni_helmet.jpg_2.85x3.60_0.10.jpg"/>
          <p:cNvPicPr>
            <a:picLocks noChangeAspect="1"/>
          </p:cNvPicPr>
          <p:nvPr/>
        </p:nvPicPr>
        <p:blipFill>
          <a:blip r:embed="rId2"/>
          <a:stretch>
            <a:fillRect/>
          </a:stretch>
        </p:blipFill>
        <p:spPr>
          <a:xfrm>
            <a:off x="566928" y="1783080"/>
            <a:ext cx="2606040" cy="3291840"/>
          </a:xfrm>
          <a:prstGeom prst="rect">
            <a:avLst/>
          </a:prstGeom>
        </p:spPr>
      </p:pic>
      <p:sp>
        <p:nvSpPr>
          <p:cNvPr id="8" name="Rectangle 7"/>
          <p:cNvSpPr/>
          <p:nvPr/>
        </p:nvSpPr>
        <p:spPr>
          <a:xfrm>
            <a:off x="566928" y="1783080"/>
            <a:ext cx="2606040" cy="3291840"/>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5120640"/>
            <a:ext cx="26060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MS Dhoni, Goodwill Ambassador, announced April 2026.</a:t>
            </a:r>
          </a:p>
        </p:txBody>
      </p:sp>
      <p:sp>
        <p:nvSpPr>
          <p:cNvPr id="10" name="Rounded Rectangle 9"/>
          <p:cNvSpPr/>
          <p:nvPr/>
        </p:nvSpPr>
        <p:spPr>
          <a:xfrm>
            <a:off x="3429000" y="1783080"/>
            <a:ext cx="3063240" cy="3291840"/>
          </a:xfrm>
          <a:prstGeom prst="roundRect">
            <a:avLst>
              <a:gd name="adj" fmla="val 8000"/>
            </a:avLst>
          </a:prstGeom>
          <a:solidFill>
            <a:srgbClr val="F7F7FA"/>
          </a:solidFill>
          <a:ln>
            <a:noFill/>
          </a:ln>
          <a:effectLst/>
        </p:spPr>
        <p:txBody>
          <a:bodyPr rtlCol="0" anchor="ctr"/>
          <a:lstStyle/>
          <a:p>
            <a:pPr algn="ctr"/>
          </a:p>
        </p:txBody>
      </p:sp>
      <p:sp>
        <p:nvSpPr>
          <p:cNvPr id="11" name="TextBox 10"/>
          <p:cNvSpPr txBox="1"/>
          <p:nvPr/>
        </p:nvSpPr>
        <p:spPr>
          <a:xfrm>
            <a:off x="3657600" y="2057400"/>
            <a:ext cx="2606040" cy="2011680"/>
          </a:xfrm>
          <a:prstGeom prst="rect">
            <a:avLst/>
          </a:prstGeom>
          <a:noFill/>
        </p:spPr>
        <p:txBody>
          <a:bodyPr wrap="square" lIns="0" rIns="0" tIns="0" bIns="0" anchor="t">
            <a:spAutoFit/>
          </a:bodyPr>
          <a:lstStyle/>
          <a:p>
            <a:pPr algn="l">
              <a:lnSpc>
                <a:spcPct val="135000"/>
              </a:lnSpc>
            </a:pPr>
            <a:r>
              <a:rPr sz="1300" b="1" i="1">
                <a:solidFill>
                  <a:srgbClr val="16181D"/>
                </a:solidFill>
                <a:latin typeface="Montserrat"/>
              </a:rPr>
              <a:t>"We already know what is going wrong. What we need now is more responsibility, more discipline, more respect for life."</a:t>
            </a:r>
          </a:p>
        </p:txBody>
      </p:sp>
      <p:sp>
        <p:nvSpPr>
          <p:cNvPr id="12" name="TextBox 11"/>
          <p:cNvSpPr txBox="1"/>
          <p:nvPr/>
        </p:nvSpPr>
        <p:spPr>
          <a:xfrm>
            <a:off x="3657600" y="4206240"/>
            <a:ext cx="2606040" cy="548640"/>
          </a:xfrm>
          <a:prstGeom prst="rect">
            <a:avLst/>
          </a:prstGeom>
          <a:noFill/>
        </p:spPr>
        <p:txBody>
          <a:bodyPr wrap="square" lIns="0" rIns="0" tIns="0" bIns="0" anchor="t">
            <a:spAutoFit/>
          </a:bodyPr>
          <a:lstStyle/>
          <a:p>
            <a:pPr algn="l">
              <a:lnSpc>
                <a:spcPct val="125000"/>
              </a:lnSpc>
            </a:pPr>
            <a:r>
              <a:rPr sz="900" b="0" i="0">
                <a:solidFill>
                  <a:srgbClr val="6E7180"/>
                </a:solidFill>
                <a:latin typeface="Geist"/>
              </a:rPr>
              <a:t>MS Dhoni, at the National Road Safety</a:t>
            </a:r>
          </a:p>
          <a:p>
            <a:pPr algn="l">
              <a:lnSpc>
                <a:spcPct val="125000"/>
              </a:lnSpc>
            </a:pPr>
            <a:r>
              <a:rPr sz="900" b="0" i="0">
                <a:solidFill>
                  <a:srgbClr val="6E7180"/>
                </a:solidFill>
                <a:latin typeface="Geist"/>
              </a:rPr>
              <a:t>Implementation Forum, IIT Delhi</a:t>
            </a:r>
          </a:p>
        </p:txBody>
      </p:sp>
      <p:sp>
        <p:nvSpPr>
          <p:cNvPr id="13" name="TextBox 12"/>
          <p:cNvSpPr txBox="1"/>
          <p:nvPr/>
        </p:nvSpPr>
        <p:spPr>
          <a:xfrm>
            <a:off x="6766560" y="1783080"/>
            <a:ext cx="4846320" cy="237744"/>
          </a:xfrm>
          <a:prstGeom prst="rect">
            <a:avLst/>
          </a:prstGeom>
          <a:noFill/>
        </p:spPr>
        <p:txBody>
          <a:bodyPr wrap="square" lIns="0" rIns="0" tIns="0" bIns="0" anchor="t">
            <a:spAutoFit/>
          </a:bodyPr>
          <a:lstStyle/>
          <a:p>
            <a:pPr algn="l">
              <a:lnSpc>
                <a:spcPct val="128000"/>
              </a:lnSpc>
            </a:pPr>
            <a:r>
              <a:rPr sz="800" b="1" i="0" spc="160">
                <a:solidFill>
                  <a:srgbClr val="6E7180"/>
                </a:solidFill>
                <a:latin typeface="Montserrat"/>
              </a:rPr>
              <a:t>AS SEEN IN THE PRESS</a:t>
            </a:r>
          </a:p>
        </p:txBody>
      </p:sp>
      <p:pic>
        <p:nvPicPr>
          <p:cNvPr id="14" name="Picture 13" descr="opt_press_ht_primer_1500.jpg"/>
          <p:cNvPicPr>
            <a:picLocks noChangeAspect="1"/>
          </p:cNvPicPr>
          <p:nvPr/>
        </p:nvPicPr>
        <p:blipFill>
          <a:blip r:embed="rId3"/>
          <a:stretch>
            <a:fillRect/>
          </a:stretch>
        </p:blipFill>
        <p:spPr>
          <a:xfrm>
            <a:off x="6766560" y="2084831"/>
            <a:ext cx="2313584" cy="1965960"/>
          </a:xfrm>
          <a:prstGeom prst="rect">
            <a:avLst/>
          </a:prstGeom>
        </p:spPr>
      </p:pic>
      <p:sp>
        <p:nvSpPr>
          <p:cNvPr id="15" name="Rectangle 14"/>
          <p:cNvSpPr/>
          <p:nvPr/>
        </p:nvSpPr>
        <p:spPr>
          <a:xfrm>
            <a:off x="6766560" y="2084831"/>
            <a:ext cx="2313584" cy="1965960"/>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6766560" y="4096511"/>
            <a:ext cx="2313584"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Hindustan Times, on our</a:t>
            </a:r>
          </a:p>
          <a:p>
            <a:pPr algn="l">
              <a:lnSpc>
                <a:spcPct val="112000"/>
              </a:lnSpc>
            </a:pPr>
            <a:r>
              <a:rPr sz="850" b="0" i="0">
                <a:solidFill>
                  <a:srgbClr val="6E7180"/>
                </a:solidFill>
                <a:latin typeface="Geist"/>
              </a:rPr>
              <a:t>Pre-Hospital Care Primer.</a:t>
            </a:r>
          </a:p>
        </p:txBody>
      </p:sp>
      <p:pic>
        <p:nvPicPr>
          <p:cNvPr id="17" name="Picture 16" descr="opt_press_print_ideathon_1500.jpg"/>
          <p:cNvPicPr>
            <a:picLocks noChangeAspect="1"/>
          </p:cNvPicPr>
          <p:nvPr/>
        </p:nvPicPr>
        <p:blipFill>
          <a:blip r:embed="rId4"/>
          <a:stretch>
            <a:fillRect/>
          </a:stretch>
        </p:blipFill>
        <p:spPr>
          <a:xfrm>
            <a:off x="9281160" y="2084831"/>
            <a:ext cx="2331720" cy="1600567"/>
          </a:xfrm>
          <a:prstGeom prst="rect">
            <a:avLst/>
          </a:prstGeom>
        </p:spPr>
      </p:pic>
      <p:sp>
        <p:nvSpPr>
          <p:cNvPr id="18" name="Rectangle 17"/>
          <p:cNvSpPr/>
          <p:nvPr/>
        </p:nvSpPr>
        <p:spPr>
          <a:xfrm>
            <a:off x="9281160" y="2084831"/>
            <a:ext cx="2331720" cy="1600567"/>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9281160" y="3731118"/>
            <a:ext cx="233172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ThePrint, on the NextMile</a:t>
            </a:r>
          </a:p>
          <a:p>
            <a:pPr algn="l">
              <a:lnSpc>
                <a:spcPct val="112000"/>
              </a:lnSpc>
            </a:pPr>
            <a:r>
              <a:rPr sz="850" b="0" i="0">
                <a:solidFill>
                  <a:srgbClr val="6E7180"/>
                </a:solidFill>
                <a:latin typeface="Geist"/>
              </a:rPr>
              <a:t>ideathon finale.</a:t>
            </a:r>
          </a:p>
        </p:txBody>
      </p:sp>
      <p:sp>
        <p:nvSpPr>
          <p:cNvPr id="20" name="Rounded Rectangle 19"/>
          <p:cNvSpPr/>
          <p:nvPr/>
        </p:nvSpPr>
        <p:spPr>
          <a:xfrm>
            <a:off x="6766560" y="4709160"/>
            <a:ext cx="1463040" cy="548640"/>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1" name="Picture 20" descr="lg_bloomberg.png"/>
          <p:cNvPicPr>
            <a:picLocks noChangeAspect="1"/>
          </p:cNvPicPr>
          <p:nvPr/>
        </p:nvPicPr>
        <p:blipFill>
          <a:blip r:embed="rId5"/>
          <a:stretch>
            <a:fillRect/>
          </a:stretch>
        </p:blipFill>
        <p:spPr>
          <a:xfrm>
            <a:off x="6876288" y="4867715"/>
            <a:ext cx="1243584" cy="231530"/>
          </a:xfrm>
          <a:prstGeom prst="rect">
            <a:avLst/>
          </a:prstGeom>
        </p:spPr>
      </p:pic>
      <p:sp>
        <p:nvSpPr>
          <p:cNvPr id="22" name="Rounded Rectangle 21"/>
          <p:cNvSpPr/>
          <p:nvPr/>
        </p:nvSpPr>
        <p:spPr>
          <a:xfrm>
            <a:off x="8339327"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3" name="TextBox 22"/>
          <p:cNvSpPr txBox="1"/>
          <p:nvPr/>
        </p:nvSpPr>
        <p:spPr>
          <a:xfrm>
            <a:off x="8357615"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Deccan Herald</a:t>
            </a:r>
          </a:p>
        </p:txBody>
      </p:sp>
      <p:sp>
        <p:nvSpPr>
          <p:cNvPr id="24" name="Rounded Rectangle 23"/>
          <p:cNvSpPr/>
          <p:nvPr/>
        </p:nvSpPr>
        <p:spPr>
          <a:xfrm>
            <a:off x="9473183"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5" name="TextBox 24"/>
          <p:cNvSpPr txBox="1"/>
          <p:nvPr/>
        </p:nvSpPr>
        <p:spPr>
          <a:xfrm>
            <a:off x="9491471"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Economic Times</a:t>
            </a:r>
          </a:p>
        </p:txBody>
      </p:sp>
      <p:sp>
        <p:nvSpPr>
          <p:cNvPr id="26" name="Rounded Rectangle 25"/>
          <p:cNvSpPr/>
          <p:nvPr/>
        </p:nvSpPr>
        <p:spPr>
          <a:xfrm>
            <a:off x="10607039"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7" name="TextBox 26"/>
          <p:cNvSpPr txBox="1"/>
          <p:nvPr/>
        </p:nvSpPr>
        <p:spPr>
          <a:xfrm>
            <a:off x="10625327"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Fortune India</a:t>
            </a:r>
          </a:p>
        </p:txBody>
      </p:sp>
      <p:sp>
        <p:nvSpPr>
          <p:cNvPr id="28" name="Rounded Rectangle 27"/>
          <p:cNvSpPr/>
          <p:nvPr/>
        </p:nvSpPr>
        <p:spPr>
          <a:xfrm>
            <a:off x="8339327"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9" name="TextBox 28"/>
          <p:cNvSpPr txBox="1"/>
          <p:nvPr/>
        </p:nvSpPr>
        <p:spPr>
          <a:xfrm>
            <a:off x="8357615"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IndiaSpend</a:t>
            </a:r>
          </a:p>
        </p:txBody>
      </p:sp>
      <p:sp>
        <p:nvSpPr>
          <p:cNvPr id="30" name="Rounded Rectangle 29"/>
          <p:cNvSpPr/>
          <p:nvPr/>
        </p:nvSpPr>
        <p:spPr>
          <a:xfrm>
            <a:off x="9473183"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1" name="TextBox 30"/>
          <p:cNvSpPr txBox="1"/>
          <p:nvPr/>
        </p:nvSpPr>
        <p:spPr>
          <a:xfrm>
            <a:off x="9491471"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Scroll.in</a:t>
            </a:r>
          </a:p>
        </p:txBody>
      </p:sp>
      <p:sp>
        <p:nvSpPr>
          <p:cNvPr id="32" name="Rounded Rectangle 31"/>
          <p:cNvSpPr/>
          <p:nvPr/>
        </p:nvSpPr>
        <p:spPr>
          <a:xfrm>
            <a:off x="10607039"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3" name="TextBox 32"/>
          <p:cNvSpPr txBox="1"/>
          <p:nvPr/>
        </p:nvSpPr>
        <p:spPr>
          <a:xfrm>
            <a:off x="10625327"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The Wire</a:t>
            </a:r>
          </a:p>
        </p:txBody>
      </p:sp>
      <p:sp>
        <p:nvSpPr>
          <p:cNvPr id="34" name="Rounded Rectangle 33"/>
          <p:cNvSpPr/>
          <p:nvPr/>
        </p:nvSpPr>
        <p:spPr>
          <a:xfrm>
            <a:off x="8339327" y="5330952"/>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5" name="TextBox 34"/>
          <p:cNvSpPr txBox="1"/>
          <p:nvPr/>
        </p:nvSpPr>
        <p:spPr>
          <a:xfrm>
            <a:off x="8357615" y="5330952"/>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Times of India</a:t>
            </a:r>
          </a:p>
        </p:txBody>
      </p:sp>
      <p:sp>
        <p:nvSpPr>
          <p:cNvPr id="36" name="Rounded Rectangle 35"/>
          <p:cNvSpPr/>
          <p:nvPr/>
        </p:nvSpPr>
        <p:spPr>
          <a:xfrm>
            <a:off x="9473183" y="5330952"/>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7" name="TextBox 36"/>
          <p:cNvSpPr txBox="1"/>
          <p:nvPr/>
        </p:nvSpPr>
        <p:spPr>
          <a:xfrm>
            <a:off x="9491471" y="5330952"/>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Business Standard</a:t>
            </a:r>
          </a:p>
        </p:txBody>
      </p:sp>
      <p:sp>
        <p:nvSpPr>
          <p:cNvPr id="38" name="TextBox 37"/>
          <p:cNvSpPr txBox="1"/>
          <p:nvPr/>
        </p:nvSpPr>
        <p:spPr>
          <a:xfrm>
            <a:off x="566928" y="5440680"/>
            <a:ext cx="6035040" cy="502920"/>
          </a:xfrm>
          <a:prstGeom prst="rect">
            <a:avLst/>
          </a:prstGeom>
          <a:noFill/>
        </p:spPr>
        <p:txBody>
          <a:bodyPr wrap="square" lIns="0" rIns="0" tIns="0" bIns="0" anchor="t">
            <a:spAutoFit/>
          </a:bodyPr>
          <a:lstStyle/>
          <a:p>
            <a:pPr algn="l">
              <a:lnSpc>
                <a:spcPct val="130000"/>
              </a:lnSpc>
            </a:pPr>
            <a:r>
              <a:rPr sz="1000" b="0" i="0">
                <a:solidFill>
                  <a:srgbClr val="6E7180"/>
                </a:solidFill>
                <a:latin typeface="Geist"/>
              </a:rPr>
              <a:t>Dhoni's voice powers 'Be a Rakshak', school-zone safety and compensation-awareness campaigns.</a:t>
            </a:r>
          </a:p>
        </p:txBody>
      </p:sp>
      <p:cxnSp>
        <p:nvCxnSpPr>
          <p:cNvPr id="39" name="Connector 38"/>
          <p:cNvCxnSpPr/>
          <p:nvPr/>
        </p:nvCxnSpPr>
        <p:spPr>
          <a:xfrm>
            <a:off x="566928" y="6455664"/>
            <a:ext cx="11057839" cy="0"/>
          </a:xfrm>
          <a:prstGeom prst="line">
            <a:avLst/>
          </a:prstGeom>
          <a:ln w="9525">
            <a:solidFill>
              <a:srgbClr val="E8E9EE"/>
            </a:solidFill>
          </a:ln>
          <a:effectLst/>
        </p:spPr>
      </p:cxnSp>
      <p:sp>
        <p:nvSpPr>
          <p:cNvPr id="40" name="TextBox 3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41" name="TextBox 4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13 / 28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THE NETWORK</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institutions </a:t>
            </a:r>
            <a:r>
              <a:rPr sz="2250" b="1" i="0">
                <a:solidFill>
                  <a:srgbClr val="4A35FF"/>
                </a:solidFill>
                <a:latin typeface="Montserrat"/>
              </a:rPr>
              <a:t>around the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As they appear in our working decks, engagement ranges from formal MoUs and written approvals to jury, mentoring and research collaboration.</a:t>
            </a:r>
          </a:p>
        </p:txBody>
      </p:sp>
      <p:sp>
        <p:nvSpPr>
          <p:cNvPr id="8" name="TextBox 7"/>
          <p:cNvSpPr txBox="1"/>
          <p:nvPr/>
        </p:nvSpPr>
        <p:spPr>
          <a:xfrm>
            <a:off x="566928" y="178308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AUTHORITIES &amp; PUBLIC BODIES WE WORK WITH</a:t>
            </a:r>
          </a:p>
        </p:txBody>
      </p:sp>
      <p:sp>
        <p:nvSpPr>
          <p:cNvPr id="9" name="Rounded Rectangle 8"/>
          <p:cNvSpPr/>
          <p:nvPr/>
        </p:nvSpPr>
        <p:spPr>
          <a:xfrm>
            <a:off x="566928"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0" name="Picture 9" descr="lg_nhai.png"/>
          <p:cNvPicPr>
            <a:picLocks noChangeAspect="1"/>
          </p:cNvPicPr>
          <p:nvPr/>
        </p:nvPicPr>
        <p:blipFill>
          <a:blip r:embed="rId2"/>
          <a:stretch>
            <a:fillRect/>
          </a:stretch>
        </p:blipFill>
        <p:spPr>
          <a:xfrm>
            <a:off x="841725" y="2167128"/>
            <a:ext cx="748854" cy="493776"/>
          </a:xfrm>
          <a:prstGeom prst="rect">
            <a:avLst/>
          </a:prstGeom>
        </p:spPr>
      </p:pic>
      <p:sp>
        <p:nvSpPr>
          <p:cNvPr id="11" name="Rounded Rectangle 10"/>
          <p:cNvSpPr/>
          <p:nvPr/>
        </p:nvSpPr>
        <p:spPr>
          <a:xfrm>
            <a:off x="1956816"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2" name="Picture 11" descr="lg_pwd.png"/>
          <p:cNvPicPr>
            <a:picLocks noChangeAspect="1"/>
          </p:cNvPicPr>
          <p:nvPr/>
        </p:nvPicPr>
        <p:blipFill>
          <a:blip r:embed="rId3"/>
          <a:stretch>
            <a:fillRect/>
          </a:stretch>
        </p:blipFill>
        <p:spPr>
          <a:xfrm>
            <a:off x="2234145" y="2167128"/>
            <a:ext cx="743789" cy="493776"/>
          </a:xfrm>
          <a:prstGeom prst="rect">
            <a:avLst/>
          </a:prstGeom>
        </p:spPr>
      </p:pic>
      <p:sp>
        <p:nvSpPr>
          <p:cNvPr id="13" name="Rounded Rectangle 12"/>
          <p:cNvSpPr/>
          <p:nvPr/>
        </p:nvSpPr>
        <p:spPr>
          <a:xfrm>
            <a:off x="3346704"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4" name="Picture 13" descr="lg_indore_nn.png"/>
          <p:cNvPicPr>
            <a:picLocks noChangeAspect="1"/>
          </p:cNvPicPr>
          <p:nvPr/>
        </p:nvPicPr>
        <p:blipFill>
          <a:blip r:embed="rId4"/>
          <a:stretch>
            <a:fillRect/>
          </a:stretch>
        </p:blipFill>
        <p:spPr>
          <a:xfrm>
            <a:off x="3784517" y="2167128"/>
            <a:ext cx="422822" cy="493776"/>
          </a:xfrm>
          <a:prstGeom prst="rect">
            <a:avLst/>
          </a:prstGeom>
        </p:spPr>
      </p:pic>
      <p:sp>
        <p:nvSpPr>
          <p:cNvPr id="15" name="Rounded Rectangle 14"/>
          <p:cNvSpPr/>
          <p:nvPr/>
        </p:nvSpPr>
        <p:spPr>
          <a:xfrm>
            <a:off x="4736592"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6" name="Picture 15" descr="lg_vijayawada_police.png"/>
          <p:cNvPicPr>
            <a:picLocks noChangeAspect="1"/>
          </p:cNvPicPr>
          <p:nvPr/>
        </p:nvPicPr>
        <p:blipFill>
          <a:blip r:embed="rId5"/>
          <a:stretch>
            <a:fillRect/>
          </a:stretch>
        </p:blipFill>
        <p:spPr>
          <a:xfrm>
            <a:off x="5138928" y="2167128"/>
            <a:ext cx="493776" cy="493776"/>
          </a:xfrm>
          <a:prstGeom prst="rect">
            <a:avLst/>
          </a:prstGeom>
        </p:spPr>
      </p:pic>
      <p:sp>
        <p:nvSpPr>
          <p:cNvPr id="17" name="Rounded Rectangle 16"/>
          <p:cNvSpPr/>
          <p:nvPr/>
        </p:nvSpPr>
        <p:spPr>
          <a:xfrm>
            <a:off x="6126480"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8" name="Picture 17" descr="lg_haryana_police.png"/>
          <p:cNvPicPr>
            <a:picLocks noChangeAspect="1"/>
          </p:cNvPicPr>
          <p:nvPr/>
        </p:nvPicPr>
        <p:blipFill>
          <a:blip r:embed="rId6"/>
          <a:stretch>
            <a:fillRect/>
          </a:stretch>
        </p:blipFill>
        <p:spPr>
          <a:xfrm>
            <a:off x="6528816" y="2167128"/>
            <a:ext cx="493776" cy="493776"/>
          </a:xfrm>
          <a:prstGeom prst="rect">
            <a:avLst/>
          </a:prstGeom>
        </p:spPr>
      </p:pic>
      <p:sp>
        <p:nvSpPr>
          <p:cNvPr id="19" name="Rounded Rectangle 18"/>
          <p:cNvSpPr/>
          <p:nvPr/>
        </p:nvSpPr>
        <p:spPr>
          <a:xfrm>
            <a:off x="7516368"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0" name="Picture 19" descr="lg_kolkata_police.png"/>
          <p:cNvPicPr>
            <a:picLocks noChangeAspect="1"/>
          </p:cNvPicPr>
          <p:nvPr/>
        </p:nvPicPr>
        <p:blipFill>
          <a:blip r:embed="rId7"/>
          <a:stretch>
            <a:fillRect/>
          </a:stretch>
        </p:blipFill>
        <p:spPr>
          <a:xfrm>
            <a:off x="7909726" y="2167128"/>
            <a:ext cx="511731" cy="493776"/>
          </a:xfrm>
          <a:prstGeom prst="rect">
            <a:avLst/>
          </a:prstGeom>
        </p:spPr>
      </p:pic>
      <p:sp>
        <p:nvSpPr>
          <p:cNvPr id="21" name="Rounded Rectangle 20"/>
          <p:cNvSpPr/>
          <p:nvPr/>
        </p:nvSpPr>
        <p:spPr>
          <a:xfrm>
            <a:off x="8906256"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2" name="Picture 21" descr="lg_kozhikode_tp.png"/>
          <p:cNvPicPr>
            <a:picLocks noChangeAspect="1"/>
          </p:cNvPicPr>
          <p:nvPr/>
        </p:nvPicPr>
        <p:blipFill>
          <a:blip r:embed="rId8"/>
          <a:stretch>
            <a:fillRect/>
          </a:stretch>
        </p:blipFill>
        <p:spPr>
          <a:xfrm>
            <a:off x="9307490" y="2167128"/>
            <a:ext cx="495980" cy="493776"/>
          </a:xfrm>
          <a:prstGeom prst="rect">
            <a:avLst/>
          </a:prstGeom>
        </p:spPr>
      </p:pic>
      <p:sp>
        <p:nvSpPr>
          <p:cNvPr id="23" name="Rounded Rectangle 22"/>
          <p:cNvSpPr/>
          <p:nvPr/>
        </p:nvSpPr>
        <p:spPr>
          <a:xfrm>
            <a:off x="10296144"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4" name="Picture 23" descr="lg_dlsa.png"/>
          <p:cNvPicPr>
            <a:picLocks noChangeAspect="1"/>
          </p:cNvPicPr>
          <p:nvPr/>
        </p:nvPicPr>
        <p:blipFill>
          <a:blip r:embed="rId9"/>
          <a:stretch>
            <a:fillRect/>
          </a:stretch>
        </p:blipFill>
        <p:spPr>
          <a:xfrm>
            <a:off x="10735297" y="2167128"/>
            <a:ext cx="420142" cy="493776"/>
          </a:xfrm>
          <a:prstGeom prst="rect">
            <a:avLst/>
          </a:prstGeom>
        </p:spPr>
      </p:pic>
      <p:sp>
        <p:nvSpPr>
          <p:cNvPr id="25" name="TextBox 24"/>
          <p:cNvSpPr txBox="1"/>
          <p:nvPr/>
        </p:nvSpPr>
        <p:spPr>
          <a:xfrm>
            <a:off x="566928" y="306324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UNIVERSITIES &amp; INSTITUTES FIELDING AUDIT TEAMS</a:t>
            </a:r>
          </a:p>
        </p:txBody>
      </p:sp>
      <p:sp>
        <p:nvSpPr>
          <p:cNvPr id="26" name="Rounded Rectangle 25"/>
          <p:cNvSpPr/>
          <p:nvPr/>
        </p:nvSpPr>
        <p:spPr>
          <a:xfrm>
            <a:off x="566928"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7" name="Picture 26" descr="lg_iitm.png"/>
          <p:cNvPicPr>
            <a:picLocks noChangeAspect="1"/>
          </p:cNvPicPr>
          <p:nvPr/>
        </p:nvPicPr>
        <p:blipFill>
          <a:blip r:embed="rId10"/>
          <a:stretch>
            <a:fillRect/>
          </a:stretch>
        </p:blipFill>
        <p:spPr>
          <a:xfrm>
            <a:off x="969264" y="3447288"/>
            <a:ext cx="493776" cy="493776"/>
          </a:xfrm>
          <a:prstGeom prst="rect">
            <a:avLst/>
          </a:prstGeom>
        </p:spPr>
      </p:pic>
      <p:sp>
        <p:nvSpPr>
          <p:cNvPr id="28" name="Rounded Rectangle 27"/>
          <p:cNvSpPr/>
          <p:nvPr/>
        </p:nvSpPr>
        <p:spPr>
          <a:xfrm>
            <a:off x="1956816"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9" name="Picture 28" descr="lg_iitd.png"/>
          <p:cNvPicPr>
            <a:picLocks noChangeAspect="1"/>
          </p:cNvPicPr>
          <p:nvPr/>
        </p:nvPicPr>
        <p:blipFill>
          <a:blip r:embed="rId11"/>
          <a:stretch>
            <a:fillRect/>
          </a:stretch>
        </p:blipFill>
        <p:spPr>
          <a:xfrm>
            <a:off x="2361751" y="3447288"/>
            <a:ext cx="488578" cy="493776"/>
          </a:xfrm>
          <a:prstGeom prst="rect">
            <a:avLst/>
          </a:prstGeom>
        </p:spPr>
      </p:pic>
      <p:sp>
        <p:nvSpPr>
          <p:cNvPr id="30" name="Rounded Rectangle 29"/>
          <p:cNvSpPr/>
          <p:nvPr/>
        </p:nvSpPr>
        <p:spPr>
          <a:xfrm>
            <a:off x="3346704"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1" name="Picture 30" descr="lg_nitc.png"/>
          <p:cNvPicPr>
            <a:picLocks noChangeAspect="1"/>
          </p:cNvPicPr>
          <p:nvPr/>
        </p:nvPicPr>
        <p:blipFill>
          <a:blip r:embed="rId12"/>
          <a:stretch>
            <a:fillRect/>
          </a:stretch>
        </p:blipFill>
        <p:spPr>
          <a:xfrm>
            <a:off x="3784951" y="3447288"/>
            <a:ext cx="421954" cy="493776"/>
          </a:xfrm>
          <a:prstGeom prst="rect">
            <a:avLst/>
          </a:prstGeom>
        </p:spPr>
      </p:pic>
      <p:sp>
        <p:nvSpPr>
          <p:cNvPr id="32" name="Rounded Rectangle 31"/>
          <p:cNvSpPr/>
          <p:nvPr/>
        </p:nvSpPr>
        <p:spPr>
          <a:xfrm>
            <a:off x="4736592"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3" name="Picture 32" descr="lg_u29.png"/>
          <p:cNvPicPr>
            <a:picLocks noChangeAspect="1"/>
          </p:cNvPicPr>
          <p:nvPr/>
        </p:nvPicPr>
        <p:blipFill>
          <a:blip r:embed="rId13"/>
          <a:stretch>
            <a:fillRect/>
          </a:stretch>
        </p:blipFill>
        <p:spPr>
          <a:xfrm>
            <a:off x="5136329" y="3447288"/>
            <a:ext cx="498973" cy="493776"/>
          </a:xfrm>
          <a:prstGeom prst="rect">
            <a:avLst/>
          </a:prstGeom>
        </p:spPr>
      </p:pic>
      <p:sp>
        <p:nvSpPr>
          <p:cNvPr id="34" name="Rounded Rectangle 33"/>
          <p:cNvSpPr/>
          <p:nvPr/>
        </p:nvSpPr>
        <p:spPr>
          <a:xfrm>
            <a:off x="6126480"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5" name="Picture 34" descr="lg_u30.png"/>
          <p:cNvPicPr>
            <a:picLocks noChangeAspect="1"/>
          </p:cNvPicPr>
          <p:nvPr/>
        </p:nvPicPr>
        <p:blipFill>
          <a:blip r:embed="rId14"/>
          <a:stretch>
            <a:fillRect/>
          </a:stretch>
        </p:blipFill>
        <p:spPr>
          <a:xfrm>
            <a:off x="6453450" y="3447288"/>
            <a:ext cx="644507" cy="493776"/>
          </a:xfrm>
          <a:prstGeom prst="rect">
            <a:avLst/>
          </a:prstGeom>
        </p:spPr>
      </p:pic>
      <p:sp>
        <p:nvSpPr>
          <p:cNvPr id="36" name="Rounded Rectangle 35"/>
          <p:cNvSpPr/>
          <p:nvPr/>
        </p:nvSpPr>
        <p:spPr>
          <a:xfrm>
            <a:off x="7516368"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7" name="Picture 36" descr="lg_u25.png"/>
          <p:cNvPicPr>
            <a:picLocks noChangeAspect="1"/>
          </p:cNvPicPr>
          <p:nvPr/>
        </p:nvPicPr>
        <p:blipFill>
          <a:blip r:embed="rId15"/>
          <a:stretch>
            <a:fillRect/>
          </a:stretch>
        </p:blipFill>
        <p:spPr>
          <a:xfrm>
            <a:off x="7918704" y="3447288"/>
            <a:ext cx="493776" cy="493776"/>
          </a:xfrm>
          <a:prstGeom prst="rect">
            <a:avLst/>
          </a:prstGeom>
        </p:spPr>
      </p:pic>
      <p:sp>
        <p:nvSpPr>
          <p:cNvPr id="38" name="Rounded Rectangle 37"/>
          <p:cNvSpPr/>
          <p:nvPr/>
        </p:nvSpPr>
        <p:spPr>
          <a:xfrm>
            <a:off x="8906256"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9" name="Picture 38" descr="lg_u22.png"/>
          <p:cNvPicPr>
            <a:picLocks noChangeAspect="1"/>
          </p:cNvPicPr>
          <p:nvPr/>
        </p:nvPicPr>
        <p:blipFill>
          <a:blip r:embed="rId16"/>
          <a:stretch>
            <a:fillRect/>
          </a:stretch>
        </p:blipFill>
        <p:spPr>
          <a:xfrm>
            <a:off x="9308592" y="3447288"/>
            <a:ext cx="493776" cy="493776"/>
          </a:xfrm>
          <a:prstGeom prst="rect">
            <a:avLst/>
          </a:prstGeom>
        </p:spPr>
      </p:pic>
      <p:sp>
        <p:nvSpPr>
          <p:cNvPr id="40" name="Rounded Rectangle 39"/>
          <p:cNvSpPr/>
          <p:nvPr/>
        </p:nvSpPr>
        <p:spPr>
          <a:xfrm>
            <a:off x="10296144"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1" name="Picture 40" descr="lg_u105.png"/>
          <p:cNvPicPr>
            <a:picLocks noChangeAspect="1"/>
          </p:cNvPicPr>
          <p:nvPr/>
        </p:nvPicPr>
        <p:blipFill>
          <a:blip r:embed="rId17"/>
          <a:stretch>
            <a:fillRect/>
          </a:stretch>
        </p:blipFill>
        <p:spPr>
          <a:xfrm>
            <a:off x="10698480" y="3447288"/>
            <a:ext cx="493776" cy="493776"/>
          </a:xfrm>
          <a:prstGeom prst="rect">
            <a:avLst/>
          </a:prstGeom>
        </p:spPr>
      </p:pic>
      <p:sp>
        <p:nvSpPr>
          <p:cNvPr id="42" name="TextBox 41"/>
          <p:cNvSpPr txBox="1"/>
          <p:nvPr/>
        </p:nvSpPr>
        <p:spPr>
          <a:xfrm>
            <a:off x="566928" y="434340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EXPERT &amp; ECOSYSTEM PARTNERS</a:t>
            </a:r>
          </a:p>
        </p:txBody>
      </p:sp>
      <p:sp>
        <p:nvSpPr>
          <p:cNvPr id="43" name="Rounded Rectangle 42"/>
          <p:cNvSpPr/>
          <p:nvPr/>
        </p:nvSpPr>
        <p:spPr>
          <a:xfrm>
            <a:off x="566928"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4" name="Picture 43" descr="lg_tripc.png"/>
          <p:cNvPicPr>
            <a:picLocks noChangeAspect="1"/>
          </p:cNvPicPr>
          <p:nvPr/>
        </p:nvPicPr>
        <p:blipFill>
          <a:blip r:embed="rId18"/>
          <a:stretch>
            <a:fillRect/>
          </a:stretch>
        </p:blipFill>
        <p:spPr>
          <a:xfrm>
            <a:off x="676656" y="4823014"/>
            <a:ext cx="1078992" cy="302644"/>
          </a:xfrm>
          <a:prstGeom prst="rect">
            <a:avLst/>
          </a:prstGeom>
        </p:spPr>
      </p:pic>
      <p:sp>
        <p:nvSpPr>
          <p:cNvPr id="45" name="Rounded Rectangle 44"/>
          <p:cNvSpPr/>
          <p:nvPr/>
        </p:nvSpPr>
        <p:spPr>
          <a:xfrm>
            <a:off x="1956816"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6" name="Picture 45" descr="lg_niua.png"/>
          <p:cNvPicPr>
            <a:picLocks noChangeAspect="1"/>
          </p:cNvPicPr>
          <p:nvPr/>
        </p:nvPicPr>
        <p:blipFill>
          <a:blip r:embed="rId19"/>
          <a:stretch>
            <a:fillRect/>
          </a:stretch>
        </p:blipFill>
        <p:spPr>
          <a:xfrm>
            <a:off x="2066544" y="4762204"/>
            <a:ext cx="1078992" cy="424263"/>
          </a:xfrm>
          <a:prstGeom prst="rect">
            <a:avLst/>
          </a:prstGeom>
        </p:spPr>
      </p:pic>
      <p:sp>
        <p:nvSpPr>
          <p:cNvPr id="47" name="Rounded Rectangle 46"/>
          <p:cNvSpPr/>
          <p:nvPr/>
        </p:nvSpPr>
        <p:spPr>
          <a:xfrm>
            <a:off x="3346704"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8" name="Picture 47" descr="lg_omi.png"/>
          <p:cNvPicPr>
            <a:picLocks noChangeAspect="1"/>
          </p:cNvPicPr>
          <p:nvPr/>
        </p:nvPicPr>
        <p:blipFill>
          <a:blip r:embed="rId20"/>
          <a:stretch>
            <a:fillRect/>
          </a:stretch>
        </p:blipFill>
        <p:spPr>
          <a:xfrm>
            <a:off x="3632379" y="4727448"/>
            <a:ext cx="727098" cy="493776"/>
          </a:xfrm>
          <a:prstGeom prst="rect">
            <a:avLst/>
          </a:prstGeom>
        </p:spPr>
      </p:pic>
      <p:sp>
        <p:nvSpPr>
          <p:cNvPr id="49" name="Rounded Rectangle 48"/>
          <p:cNvSpPr/>
          <p:nvPr/>
        </p:nvSpPr>
        <p:spPr>
          <a:xfrm>
            <a:off x="4736592"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0" name="Picture 49" descr="lg_wri.png"/>
          <p:cNvPicPr>
            <a:picLocks noChangeAspect="1"/>
          </p:cNvPicPr>
          <p:nvPr/>
        </p:nvPicPr>
        <p:blipFill>
          <a:blip r:embed="rId21"/>
          <a:stretch>
            <a:fillRect/>
          </a:stretch>
        </p:blipFill>
        <p:spPr>
          <a:xfrm>
            <a:off x="4846320" y="4781659"/>
            <a:ext cx="1078992" cy="385354"/>
          </a:xfrm>
          <a:prstGeom prst="rect">
            <a:avLst/>
          </a:prstGeom>
        </p:spPr>
      </p:pic>
      <p:sp>
        <p:nvSpPr>
          <p:cNvPr id="51" name="Rounded Rectangle 50"/>
          <p:cNvSpPr/>
          <p:nvPr/>
        </p:nvSpPr>
        <p:spPr>
          <a:xfrm>
            <a:off x="6126480"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2" name="Picture 51" descr="lg_cii.png"/>
          <p:cNvPicPr>
            <a:picLocks noChangeAspect="1"/>
          </p:cNvPicPr>
          <p:nvPr/>
        </p:nvPicPr>
        <p:blipFill>
          <a:blip r:embed="rId22"/>
          <a:stretch>
            <a:fillRect/>
          </a:stretch>
        </p:blipFill>
        <p:spPr>
          <a:xfrm>
            <a:off x="6236208" y="4809382"/>
            <a:ext cx="1078992" cy="329907"/>
          </a:xfrm>
          <a:prstGeom prst="rect">
            <a:avLst/>
          </a:prstGeom>
        </p:spPr>
      </p:pic>
      <p:sp>
        <p:nvSpPr>
          <p:cNvPr id="53" name="Rounded Rectangle 52"/>
          <p:cNvSpPr/>
          <p:nvPr/>
        </p:nvSpPr>
        <p:spPr>
          <a:xfrm>
            <a:off x="7516368"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4" name="Picture 53" descr="lg_gic.png"/>
          <p:cNvPicPr>
            <a:picLocks noChangeAspect="1"/>
          </p:cNvPicPr>
          <p:nvPr/>
        </p:nvPicPr>
        <p:blipFill>
          <a:blip r:embed="rId23"/>
          <a:stretch>
            <a:fillRect/>
          </a:stretch>
        </p:blipFill>
        <p:spPr>
          <a:xfrm>
            <a:off x="7705051" y="4727448"/>
            <a:ext cx="921082" cy="493776"/>
          </a:xfrm>
          <a:prstGeom prst="rect">
            <a:avLst/>
          </a:prstGeom>
        </p:spPr>
      </p:pic>
      <p:sp>
        <p:nvSpPr>
          <p:cNvPr id="55" name="Rounded Rectangle 54"/>
          <p:cNvSpPr/>
          <p:nvPr/>
        </p:nvSpPr>
        <p:spPr>
          <a:xfrm>
            <a:off x="8906256"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6" name="Picture 55" descr="lg_iffco.png"/>
          <p:cNvPicPr>
            <a:picLocks noChangeAspect="1"/>
          </p:cNvPicPr>
          <p:nvPr/>
        </p:nvPicPr>
        <p:blipFill>
          <a:blip r:embed="rId24"/>
          <a:stretch>
            <a:fillRect/>
          </a:stretch>
        </p:blipFill>
        <p:spPr>
          <a:xfrm>
            <a:off x="9116286" y="4727448"/>
            <a:ext cx="878388" cy="493776"/>
          </a:xfrm>
          <a:prstGeom prst="rect">
            <a:avLst/>
          </a:prstGeom>
        </p:spPr>
      </p:pic>
      <p:sp>
        <p:nvSpPr>
          <p:cNvPr id="57" name="Rounded Rectangle 56"/>
          <p:cNvSpPr/>
          <p:nvPr/>
        </p:nvSpPr>
        <p:spPr>
          <a:xfrm>
            <a:off x="10296144"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8" name="Picture 57" descr="lg_nia.png"/>
          <p:cNvPicPr>
            <a:picLocks noChangeAspect="1"/>
          </p:cNvPicPr>
          <p:nvPr/>
        </p:nvPicPr>
        <p:blipFill>
          <a:blip r:embed="rId25"/>
          <a:stretch>
            <a:fillRect/>
          </a:stretch>
        </p:blipFill>
        <p:spPr>
          <a:xfrm>
            <a:off x="10405872" y="4769184"/>
            <a:ext cx="1078992" cy="410304"/>
          </a:xfrm>
          <a:prstGeom prst="rect">
            <a:avLst/>
          </a:prstGeom>
        </p:spPr>
      </p:pic>
      <p:sp>
        <p:nvSpPr>
          <p:cNvPr id="59" name="Rounded Rectangle 58"/>
          <p:cNvSpPr/>
          <p:nvPr/>
        </p:nvSpPr>
        <p:spPr>
          <a:xfrm>
            <a:off x="566928" y="5623560"/>
            <a:ext cx="11057839" cy="548640"/>
          </a:xfrm>
          <a:prstGeom prst="roundRect">
            <a:avLst>
              <a:gd name="adj" fmla="val 14000"/>
            </a:avLst>
          </a:prstGeom>
          <a:solidFill>
            <a:srgbClr val="F7F7FA"/>
          </a:solidFill>
          <a:ln>
            <a:noFill/>
          </a:ln>
          <a:effectLst/>
        </p:spPr>
        <p:txBody>
          <a:bodyPr rtlCol="0" anchor="ctr"/>
          <a:lstStyle/>
          <a:p>
            <a:pPr algn="ctr"/>
          </a:p>
        </p:txBody>
      </p:sp>
      <p:sp>
        <p:nvSpPr>
          <p:cNvPr id="60" name="TextBox 59"/>
          <p:cNvSpPr txBox="1"/>
          <p:nvPr/>
        </p:nvSpPr>
        <p:spPr>
          <a:xfrm>
            <a:off x="768096" y="5715000"/>
            <a:ext cx="10646359" cy="384048"/>
          </a:xfrm>
          <a:prstGeom prst="rect">
            <a:avLst/>
          </a:prstGeom>
          <a:noFill/>
        </p:spPr>
        <p:txBody>
          <a:bodyPr wrap="square" lIns="0" rIns="0" tIns="0" bIns="0" anchor="t">
            <a:spAutoFit/>
          </a:bodyPr>
          <a:lstStyle/>
          <a:p>
            <a:pPr algn="l">
              <a:lnSpc>
                <a:spcPct val="120000"/>
              </a:lnSpc>
            </a:pPr>
            <a:r>
              <a:rPr sz="950" b="1" i="0">
                <a:solidFill>
                  <a:srgbClr val="16181D"/>
                </a:solidFill>
                <a:latin typeface="Geist"/>
              </a:rPr>
              <a:t>Plus: </a:t>
            </a:r>
            <a:r>
              <a:rPr sz="950" b="0" i="0">
                <a:solidFill>
                  <a:srgbClr val="6E7180"/>
                </a:solidFill>
                <a:latin typeface="Geist"/>
              </a:rPr>
              <a:t>Jaipur Traffic Police &amp; Gurugram Police (MoUs) · CPWD &amp; district administrations · Bloomberg, Johns Hopkins, Centre for Green Mobility and PwC experts on juries and reviews.</a:t>
            </a:r>
          </a:p>
        </p:txBody>
      </p:sp>
      <p:cxnSp>
        <p:nvCxnSpPr>
          <p:cNvPr id="61" name="Connector 60"/>
          <p:cNvCxnSpPr/>
          <p:nvPr/>
        </p:nvCxnSpPr>
        <p:spPr>
          <a:xfrm>
            <a:off x="566928" y="6455664"/>
            <a:ext cx="11057839" cy="0"/>
          </a:xfrm>
          <a:prstGeom prst="line">
            <a:avLst/>
          </a:prstGeom>
          <a:ln w="9525">
            <a:solidFill>
              <a:srgbClr val="E8E9EE"/>
            </a:solidFill>
          </a:ln>
          <a:effectLst/>
        </p:spPr>
      </p:cxnSp>
      <p:sp>
        <p:nvSpPr>
          <p:cNvPr id="62" name="TextBox 61"/>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63" name="TextBox 62"/>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14 / 28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full-time team </a:t>
            </a:r>
            <a:r>
              <a:rPr sz="2250" b="1" i="0">
                <a:solidFill>
                  <a:srgbClr val="4A35FF"/>
                </a:solidFill>
                <a:latin typeface="Montserrat"/>
              </a:rPr>
              <a:t>built for this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Engineering, law, policy, product and field operations, under trustees who have led Indian road safety for a decade.</a:t>
            </a:r>
          </a:p>
        </p:txBody>
      </p:sp>
      <p:sp>
        <p:nvSpPr>
          <p:cNvPr id="8" name="Rounded Rectangle 7"/>
          <p:cNvSpPr/>
          <p:nvPr/>
        </p:nvSpPr>
        <p:spPr>
          <a:xfrm>
            <a:off x="566928" y="1883664"/>
            <a:ext cx="3630168" cy="859536"/>
          </a:xfrm>
          <a:prstGeom prst="roundRect">
            <a:avLst>
              <a:gd name="adj" fmla="val 10000"/>
            </a:avLst>
          </a:prstGeom>
          <a:solidFill>
            <a:srgbClr val="F7F7FA"/>
          </a:solidFill>
          <a:ln>
            <a:noFill/>
          </a:ln>
          <a:effectLst/>
        </p:spPr>
        <p:txBody>
          <a:bodyPr rtlCol="0" anchor="ctr"/>
          <a:lstStyle/>
          <a:p>
            <a:pPr algn="ctr"/>
          </a:p>
        </p:txBody>
      </p:sp>
      <p:pic>
        <p:nvPicPr>
          <p:cNvPr id="9" name="Picture 8" descr="t_amar.png"/>
          <p:cNvPicPr>
            <a:picLocks noChangeAspect="1"/>
          </p:cNvPicPr>
          <p:nvPr/>
        </p:nvPicPr>
        <p:blipFill>
          <a:blip r:embed="rId2"/>
          <a:stretch>
            <a:fillRect/>
          </a:stretch>
        </p:blipFill>
        <p:spPr>
          <a:xfrm>
            <a:off x="685800" y="1993392"/>
            <a:ext cx="640080" cy="640080"/>
          </a:xfrm>
          <a:prstGeom prst="rect">
            <a:avLst/>
          </a:prstGeom>
        </p:spPr>
      </p:pic>
      <p:sp>
        <p:nvSpPr>
          <p:cNvPr id="10" name="TextBox 9"/>
          <p:cNvSpPr txBox="1"/>
          <p:nvPr/>
        </p:nvSpPr>
        <p:spPr>
          <a:xfrm>
            <a:off x="1463040" y="196596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Amar Srivastava</a:t>
            </a:r>
          </a:p>
        </p:txBody>
      </p:sp>
      <p:sp>
        <p:nvSpPr>
          <p:cNvPr id="11" name="TextBox 10"/>
          <p:cNvSpPr txBox="1"/>
          <p:nvPr/>
        </p:nvSpPr>
        <p:spPr>
          <a:xfrm>
            <a:off x="1463040" y="224028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President · Founder, Indian Road Safety Campaign · Member, National Road Safety Council</a:t>
            </a:r>
          </a:p>
        </p:txBody>
      </p:sp>
      <p:sp>
        <p:nvSpPr>
          <p:cNvPr id="12" name="Rounded Rectangle 11"/>
          <p:cNvSpPr/>
          <p:nvPr/>
        </p:nvSpPr>
        <p:spPr>
          <a:xfrm>
            <a:off x="4279391" y="1883664"/>
            <a:ext cx="3630168" cy="859536"/>
          </a:xfrm>
          <a:prstGeom prst="roundRect">
            <a:avLst>
              <a:gd name="adj" fmla="val 10000"/>
            </a:avLst>
          </a:prstGeom>
          <a:solidFill>
            <a:srgbClr val="F7F7FA"/>
          </a:solidFill>
          <a:ln>
            <a:noFill/>
          </a:ln>
          <a:effectLst/>
        </p:spPr>
        <p:txBody>
          <a:bodyPr rtlCol="0" anchor="ctr"/>
          <a:lstStyle/>
          <a:p>
            <a:pPr algn="ctr"/>
          </a:p>
        </p:txBody>
      </p:sp>
      <p:pic>
        <p:nvPicPr>
          <p:cNvPr id="13" name="Picture 12" descr="t_deepanshu.png"/>
          <p:cNvPicPr>
            <a:picLocks noChangeAspect="1"/>
          </p:cNvPicPr>
          <p:nvPr/>
        </p:nvPicPr>
        <p:blipFill>
          <a:blip r:embed="rId3"/>
          <a:stretch>
            <a:fillRect/>
          </a:stretch>
        </p:blipFill>
        <p:spPr>
          <a:xfrm>
            <a:off x="4398263" y="1993392"/>
            <a:ext cx="640080" cy="640080"/>
          </a:xfrm>
          <a:prstGeom prst="rect">
            <a:avLst/>
          </a:prstGeom>
        </p:spPr>
      </p:pic>
      <p:sp>
        <p:nvSpPr>
          <p:cNvPr id="14" name="TextBox 13"/>
          <p:cNvSpPr txBox="1"/>
          <p:nvPr/>
        </p:nvSpPr>
        <p:spPr>
          <a:xfrm>
            <a:off x="5175503" y="196596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Deepanshu Gupta</a:t>
            </a:r>
          </a:p>
        </p:txBody>
      </p:sp>
      <p:sp>
        <p:nvSpPr>
          <p:cNvPr id="15" name="TextBox 14"/>
          <p:cNvSpPr txBox="1"/>
          <p:nvPr/>
        </p:nvSpPr>
        <p:spPr>
          <a:xfrm>
            <a:off x="5175503" y="224028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Managing Trustee · Founder, IRSC · Global Youth Coalition for Road Safety</a:t>
            </a:r>
          </a:p>
        </p:txBody>
      </p:sp>
      <p:sp>
        <p:nvSpPr>
          <p:cNvPr id="16" name="Rounded Rectangle 15"/>
          <p:cNvSpPr/>
          <p:nvPr/>
        </p:nvSpPr>
        <p:spPr>
          <a:xfrm>
            <a:off x="7991854" y="1883664"/>
            <a:ext cx="3630168" cy="859536"/>
          </a:xfrm>
          <a:prstGeom prst="roundRect">
            <a:avLst>
              <a:gd name="adj" fmla="val 10000"/>
            </a:avLst>
          </a:prstGeom>
          <a:solidFill>
            <a:srgbClr val="F7F7FA"/>
          </a:solidFill>
          <a:ln>
            <a:noFill/>
          </a:ln>
          <a:effectLst/>
        </p:spPr>
        <p:txBody>
          <a:bodyPr rtlCol="0" anchor="ctr"/>
          <a:lstStyle/>
          <a:p>
            <a:pPr algn="ctr"/>
          </a:p>
        </p:txBody>
      </p:sp>
      <p:pic>
        <p:nvPicPr>
          <p:cNvPr id="17" name="Picture 16" descr="t_gajendra.png"/>
          <p:cNvPicPr>
            <a:picLocks noChangeAspect="1"/>
          </p:cNvPicPr>
          <p:nvPr/>
        </p:nvPicPr>
        <p:blipFill>
          <a:blip r:embed="rId4"/>
          <a:stretch>
            <a:fillRect/>
          </a:stretch>
        </p:blipFill>
        <p:spPr>
          <a:xfrm>
            <a:off x="8110726" y="1993392"/>
            <a:ext cx="640080" cy="640080"/>
          </a:xfrm>
          <a:prstGeom prst="rect">
            <a:avLst/>
          </a:prstGeom>
        </p:spPr>
      </p:pic>
      <p:sp>
        <p:nvSpPr>
          <p:cNvPr id="18" name="TextBox 17"/>
          <p:cNvSpPr txBox="1"/>
          <p:nvPr/>
        </p:nvSpPr>
        <p:spPr>
          <a:xfrm>
            <a:off x="8887966" y="196596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Gajendra Jangid</a:t>
            </a:r>
          </a:p>
        </p:txBody>
      </p:sp>
      <p:sp>
        <p:nvSpPr>
          <p:cNvPr id="19" name="TextBox 18"/>
          <p:cNvSpPr txBox="1"/>
          <p:nvPr/>
        </p:nvSpPr>
        <p:spPr>
          <a:xfrm>
            <a:off x="8887966" y="224028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General Secretary · Co-founder, Cars24</a:t>
            </a:r>
          </a:p>
        </p:txBody>
      </p:sp>
      <p:sp>
        <p:nvSpPr>
          <p:cNvPr id="20" name="TextBox 19"/>
          <p:cNvSpPr txBox="1"/>
          <p:nvPr/>
        </p:nvSpPr>
        <p:spPr>
          <a:xfrm>
            <a:off x="566928" y="2944368"/>
            <a:ext cx="10972800" cy="237744"/>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THE FULL-TIME TEAM</a:t>
            </a:r>
          </a:p>
        </p:txBody>
      </p:sp>
      <p:pic>
        <p:nvPicPr>
          <p:cNvPr id="21" name="Picture 20" descr="t_akhtar.png"/>
          <p:cNvPicPr>
            <a:picLocks noChangeAspect="1"/>
          </p:cNvPicPr>
          <p:nvPr/>
        </p:nvPicPr>
        <p:blipFill>
          <a:blip r:embed="rId5"/>
          <a:stretch>
            <a:fillRect/>
          </a:stretch>
        </p:blipFill>
        <p:spPr>
          <a:xfrm>
            <a:off x="566928" y="3273552"/>
            <a:ext cx="530352" cy="530352"/>
          </a:xfrm>
          <a:prstGeom prst="rect">
            <a:avLst/>
          </a:prstGeom>
        </p:spPr>
      </p:pic>
      <p:sp>
        <p:nvSpPr>
          <p:cNvPr id="22" name="TextBox 21"/>
          <p:cNvSpPr txBox="1"/>
          <p:nvPr/>
        </p:nvSpPr>
        <p:spPr>
          <a:xfrm>
            <a:off x="1225296" y="3236976"/>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Akhtar Hussain  </a:t>
            </a:r>
            <a:r>
              <a:rPr sz="800" b="1" i="0">
                <a:solidFill>
                  <a:srgbClr val="4A35FF"/>
                </a:solidFill>
                <a:latin typeface="Geist"/>
              </a:rPr>
              <a:t>Mission Lead</a:t>
            </a:r>
          </a:p>
        </p:txBody>
      </p:sp>
      <p:sp>
        <p:nvSpPr>
          <p:cNvPr id="23" name="TextBox 22"/>
          <p:cNvSpPr txBox="1"/>
          <p:nvPr/>
        </p:nvSpPr>
        <p:spPr>
          <a:xfrm>
            <a:off x="1225296" y="3456432"/>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IIT Delhi · ex-Bain · strategy, programmes, new initiatives, partnerships and product</a:t>
            </a:r>
          </a:p>
        </p:txBody>
      </p:sp>
      <p:pic>
        <p:nvPicPr>
          <p:cNvPr id="24" name="Picture 23" descr="t_shubham.png"/>
          <p:cNvPicPr>
            <a:picLocks noChangeAspect="1"/>
          </p:cNvPicPr>
          <p:nvPr/>
        </p:nvPicPr>
        <p:blipFill>
          <a:blip r:embed="rId6"/>
          <a:stretch>
            <a:fillRect/>
          </a:stretch>
        </p:blipFill>
        <p:spPr>
          <a:xfrm>
            <a:off x="4279391" y="3273552"/>
            <a:ext cx="530352" cy="530352"/>
          </a:xfrm>
          <a:prstGeom prst="rect">
            <a:avLst/>
          </a:prstGeom>
        </p:spPr>
      </p:pic>
      <p:sp>
        <p:nvSpPr>
          <p:cNvPr id="25" name="TextBox 24"/>
          <p:cNvSpPr txBox="1"/>
          <p:nvPr/>
        </p:nvSpPr>
        <p:spPr>
          <a:xfrm>
            <a:off x="4937759" y="3236976"/>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Shubham Kumar  </a:t>
            </a:r>
            <a:r>
              <a:rPr sz="800" b="1" i="0">
                <a:solidFill>
                  <a:srgbClr val="4A35FF"/>
                </a:solidFill>
                <a:latin typeface="Geist"/>
              </a:rPr>
              <a:t>Policy &amp; Advocacy</a:t>
            </a:r>
          </a:p>
        </p:txBody>
      </p:sp>
      <p:sp>
        <p:nvSpPr>
          <p:cNvPr id="26" name="TextBox 25"/>
          <p:cNvSpPr txBox="1"/>
          <p:nvPr/>
        </p:nvSpPr>
        <p:spPr>
          <a:xfrm>
            <a:off x="4937759" y="3456432"/>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NALSAR Hyderabad · programmes, policy advocacy, legal research, government relations</a:t>
            </a:r>
          </a:p>
        </p:txBody>
      </p:sp>
      <p:pic>
        <p:nvPicPr>
          <p:cNvPr id="27" name="Picture 26" descr="t_muskan.png"/>
          <p:cNvPicPr>
            <a:picLocks noChangeAspect="1"/>
          </p:cNvPicPr>
          <p:nvPr/>
        </p:nvPicPr>
        <p:blipFill>
          <a:blip r:embed="rId7"/>
          <a:stretch>
            <a:fillRect/>
          </a:stretch>
        </p:blipFill>
        <p:spPr>
          <a:xfrm>
            <a:off x="7991854" y="3273552"/>
            <a:ext cx="530352" cy="530352"/>
          </a:xfrm>
          <a:prstGeom prst="rect">
            <a:avLst/>
          </a:prstGeom>
        </p:spPr>
      </p:pic>
      <p:sp>
        <p:nvSpPr>
          <p:cNvPr id="28" name="TextBox 27"/>
          <p:cNvSpPr txBox="1"/>
          <p:nvPr/>
        </p:nvSpPr>
        <p:spPr>
          <a:xfrm>
            <a:off x="8650222" y="3236976"/>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Muskan Yadav  </a:t>
            </a:r>
            <a:r>
              <a:rPr sz="800" b="1" i="0">
                <a:solidFill>
                  <a:srgbClr val="4A35FF"/>
                </a:solidFill>
                <a:latin typeface="Geist"/>
              </a:rPr>
              <a:t>Programmes</a:t>
            </a:r>
          </a:p>
        </p:txBody>
      </p:sp>
      <p:sp>
        <p:nvSpPr>
          <p:cNvPr id="29" name="TextBox 28"/>
          <p:cNvSpPr txBox="1"/>
          <p:nvPr/>
        </p:nvSpPr>
        <p:spPr>
          <a:xfrm>
            <a:off x="8650222" y="3456432"/>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TISS · district programmes, Project Rakshak, infrastructure interventions, DRSC work</a:t>
            </a:r>
          </a:p>
        </p:txBody>
      </p:sp>
      <p:pic>
        <p:nvPicPr>
          <p:cNvPr id="30" name="Picture 29" descr="t_krishna.png"/>
          <p:cNvPicPr>
            <a:picLocks noChangeAspect="1"/>
          </p:cNvPicPr>
          <p:nvPr/>
        </p:nvPicPr>
        <p:blipFill>
          <a:blip r:embed="rId8"/>
          <a:stretch>
            <a:fillRect/>
          </a:stretch>
        </p:blipFill>
        <p:spPr>
          <a:xfrm>
            <a:off x="566928" y="3968496"/>
            <a:ext cx="530352" cy="530352"/>
          </a:xfrm>
          <a:prstGeom prst="rect">
            <a:avLst/>
          </a:prstGeom>
        </p:spPr>
      </p:pic>
      <p:sp>
        <p:nvSpPr>
          <p:cNvPr id="31" name="TextBox 30"/>
          <p:cNvSpPr txBox="1"/>
          <p:nvPr/>
        </p:nvSpPr>
        <p:spPr>
          <a:xfrm>
            <a:off x="1225296" y="3931920"/>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Krishna Jain  </a:t>
            </a:r>
            <a:r>
              <a:rPr sz="800" b="1" i="0">
                <a:solidFill>
                  <a:srgbClr val="4A35FF"/>
                </a:solidFill>
                <a:latin typeface="Geist"/>
              </a:rPr>
              <a:t>Tech &amp; Product</a:t>
            </a:r>
          </a:p>
        </p:txBody>
      </p:sp>
      <p:sp>
        <p:nvSpPr>
          <p:cNvPr id="32" name="TextBox 31"/>
          <p:cNvSpPr txBox="1"/>
          <p:nvPr/>
        </p:nvSpPr>
        <p:spPr>
          <a:xfrm>
            <a:off x="1225296" y="4151376"/>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Builds and runs Aasha, SATARK and the open public data platforms</a:t>
            </a:r>
          </a:p>
        </p:txBody>
      </p:sp>
      <p:pic>
        <p:nvPicPr>
          <p:cNvPr id="33" name="Picture 32" descr="t_aastha.png"/>
          <p:cNvPicPr>
            <a:picLocks noChangeAspect="1"/>
          </p:cNvPicPr>
          <p:nvPr/>
        </p:nvPicPr>
        <p:blipFill>
          <a:blip r:embed="rId9"/>
          <a:stretch>
            <a:fillRect/>
          </a:stretch>
        </p:blipFill>
        <p:spPr>
          <a:xfrm>
            <a:off x="4279391" y="3968496"/>
            <a:ext cx="530352" cy="530352"/>
          </a:xfrm>
          <a:prstGeom prst="rect">
            <a:avLst/>
          </a:prstGeom>
        </p:spPr>
      </p:pic>
      <p:sp>
        <p:nvSpPr>
          <p:cNvPr id="34" name="TextBox 33"/>
          <p:cNvSpPr txBox="1"/>
          <p:nvPr/>
        </p:nvSpPr>
        <p:spPr>
          <a:xfrm>
            <a:off x="4937759" y="3931920"/>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Aastha Shreeharsh  </a:t>
            </a:r>
            <a:r>
              <a:rPr sz="800" b="1" i="0">
                <a:solidFill>
                  <a:srgbClr val="4A35FF"/>
                </a:solidFill>
                <a:latin typeface="Geist"/>
              </a:rPr>
              <a:t>Development Communications</a:t>
            </a:r>
          </a:p>
        </p:txBody>
      </p:sp>
      <p:sp>
        <p:nvSpPr>
          <p:cNvPr id="35" name="TextBox 34"/>
          <p:cNvSpPr txBox="1"/>
          <p:nvPr/>
        </p:nvSpPr>
        <p:spPr>
          <a:xfrm>
            <a:off x="4937759" y="4151376"/>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HKUST · institutional communications, government relations</a:t>
            </a:r>
          </a:p>
        </p:txBody>
      </p:sp>
      <p:pic>
        <p:nvPicPr>
          <p:cNvPr id="36" name="Picture 35" descr="t_rohan.png"/>
          <p:cNvPicPr>
            <a:picLocks noChangeAspect="1"/>
          </p:cNvPicPr>
          <p:nvPr/>
        </p:nvPicPr>
        <p:blipFill>
          <a:blip r:embed="rId10"/>
          <a:stretch>
            <a:fillRect/>
          </a:stretch>
        </p:blipFill>
        <p:spPr>
          <a:xfrm>
            <a:off x="7991854" y="3968496"/>
            <a:ext cx="530352" cy="530352"/>
          </a:xfrm>
          <a:prstGeom prst="rect">
            <a:avLst/>
          </a:prstGeom>
        </p:spPr>
      </p:pic>
      <p:sp>
        <p:nvSpPr>
          <p:cNvPr id="37" name="TextBox 36"/>
          <p:cNvSpPr txBox="1"/>
          <p:nvPr/>
        </p:nvSpPr>
        <p:spPr>
          <a:xfrm>
            <a:off x="8650222" y="3931920"/>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Rohan Sharma  </a:t>
            </a:r>
            <a:r>
              <a:rPr sz="800" b="1" i="0">
                <a:solidFill>
                  <a:srgbClr val="4A35FF"/>
                </a:solidFill>
                <a:latin typeface="Geist"/>
              </a:rPr>
              <a:t>Cause Marketing</a:t>
            </a:r>
          </a:p>
        </p:txBody>
      </p:sp>
      <p:sp>
        <p:nvSpPr>
          <p:cNvPr id="38" name="TextBox 37"/>
          <p:cNvSpPr txBox="1"/>
          <p:nvPr/>
        </p:nvSpPr>
        <p:spPr>
          <a:xfrm>
            <a:off x="8650222" y="4151376"/>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Awareness campaigns, digital advocacy, community mobilisation</a:t>
            </a:r>
          </a:p>
        </p:txBody>
      </p:sp>
      <p:pic>
        <p:nvPicPr>
          <p:cNvPr id="39" name="Picture 38" descr="t_ishita.png"/>
          <p:cNvPicPr>
            <a:picLocks noChangeAspect="1"/>
          </p:cNvPicPr>
          <p:nvPr/>
        </p:nvPicPr>
        <p:blipFill>
          <a:blip r:embed="rId11"/>
          <a:stretch>
            <a:fillRect/>
          </a:stretch>
        </p:blipFill>
        <p:spPr>
          <a:xfrm>
            <a:off x="566928" y="4663440"/>
            <a:ext cx="530352" cy="530352"/>
          </a:xfrm>
          <a:prstGeom prst="rect">
            <a:avLst/>
          </a:prstGeom>
        </p:spPr>
      </p:pic>
      <p:sp>
        <p:nvSpPr>
          <p:cNvPr id="40" name="TextBox 39"/>
          <p:cNvSpPr txBox="1"/>
          <p:nvPr/>
        </p:nvSpPr>
        <p:spPr>
          <a:xfrm>
            <a:off x="1225296" y="4626864"/>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Ishita Rathore  </a:t>
            </a:r>
            <a:r>
              <a:rPr sz="800" b="1" i="0">
                <a:solidFill>
                  <a:srgbClr val="4A35FF"/>
                </a:solidFill>
                <a:latin typeface="Geist"/>
              </a:rPr>
              <a:t>People &amp; Culture</a:t>
            </a:r>
          </a:p>
        </p:txBody>
      </p:sp>
      <p:sp>
        <p:nvSpPr>
          <p:cNvPr id="41" name="TextBox 40"/>
          <p:cNvSpPr txBox="1"/>
          <p:nvPr/>
        </p:nvSpPr>
        <p:spPr>
          <a:xfrm>
            <a:off x="1225296" y="4846320"/>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Talent and hiring, volunteers, the 75+ intern engineering corps</a:t>
            </a:r>
          </a:p>
        </p:txBody>
      </p:sp>
      <p:pic>
        <p:nvPicPr>
          <p:cNvPr id="42" name="Picture 41" descr="t_yuvraj.png"/>
          <p:cNvPicPr>
            <a:picLocks noChangeAspect="1"/>
          </p:cNvPicPr>
          <p:nvPr/>
        </p:nvPicPr>
        <p:blipFill>
          <a:blip r:embed="rId12"/>
          <a:stretch>
            <a:fillRect/>
          </a:stretch>
        </p:blipFill>
        <p:spPr>
          <a:xfrm>
            <a:off x="4279391" y="4663440"/>
            <a:ext cx="530352" cy="530352"/>
          </a:xfrm>
          <a:prstGeom prst="rect">
            <a:avLst/>
          </a:prstGeom>
        </p:spPr>
      </p:pic>
      <p:sp>
        <p:nvSpPr>
          <p:cNvPr id="43" name="TextBox 42"/>
          <p:cNvSpPr txBox="1"/>
          <p:nvPr/>
        </p:nvSpPr>
        <p:spPr>
          <a:xfrm>
            <a:off x="4937759" y="4626864"/>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Yuvraj Yadav  </a:t>
            </a:r>
            <a:r>
              <a:rPr sz="800" b="1" i="0">
                <a:solidFill>
                  <a:srgbClr val="4A35FF"/>
                </a:solidFill>
                <a:latin typeface="Geist"/>
              </a:rPr>
              <a:t>Operations</a:t>
            </a:r>
          </a:p>
        </p:txBody>
      </p:sp>
      <p:sp>
        <p:nvSpPr>
          <p:cNvPr id="44" name="TextBox 43"/>
          <p:cNvSpPr txBox="1"/>
          <p:nvPr/>
        </p:nvSpPr>
        <p:spPr>
          <a:xfrm>
            <a:off x="4937759" y="4846320"/>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Field operations across 18 cities · works with police on SATARK and enforcement rollouts</a:t>
            </a:r>
          </a:p>
        </p:txBody>
      </p:sp>
      <p:pic>
        <p:nvPicPr>
          <p:cNvPr id="45" name="Picture 44" descr="t_lovish.png"/>
          <p:cNvPicPr>
            <a:picLocks noChangeAspect="1"/>
          </p:cNvPicPr>
          <p:nvPr/>
        </p:nvPicPr>
        <p:blipFill>
          <a:blip r:embed="rId13"/>
          <a:stretch>
            <a:fillRect/>
          </a:stretch>
        </p:blipFill>
        <p:spPr>
          <a:xfrm>
            <a:off x="7991854" y="4663440"/>
            <a:ext cx="530352" cy="530352"/>
          </a:xfrm>
          <a:prstGeom prst="rect">
            <a:avLst/>
          </a:prstGeom>
        </p:spPr>
      </p:pic>
      <p:sp>
        <p:nvSpPr>
          <p:cNvPr id="46" name="TextBox 45"/>
          <p:cNvSpPr txBox="1"/>
          <p:nvPr/>
        </p:nvSpPr>
        <p:spPr>
          <a:xfrm>
            <a:off x="8650222" y="4626864"/>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Lovish  </a:t>
            </a:r>
            <a:r>
              <a:rPr sz="800" b="1" i="0">
                <a:solidFill>
                  <a:srgbClr val="4A35FF"/>
                </a:solidFill>
                <a:latin typeface="Geist"/>
              </a:rPr>
              <a:t>Creative (Video)</a:t>
            </a:r>
          </a:p>
        </p:txBody>
      </p:sp>
      <p:sp>
        <p:nvSpPr>
          <p:cNvPr id="47" name="TextBox 46"/>
          <p:cNvSpPr txBox="1"/>
          <p:nvPr/>
        </p:nvSpPr>
        <p:spPr>
          <a:xfrm>
            <a:off x="8650222" y="4846320"/>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Video explainers, ground-audit films and the YouTube channel</a:t>
            </a:r>
          </a:p>
        </p:txBody>
      </p:sp>
      <p:pic>
        <p:nvPicPr>
          <p:cNvPr id="48" name="Picture 47" descr="t_shipra.png"/>
          <p:cNvPicPr>
            <a:picLocks noChangeAspect="1"/>
          </p:cNvPicPr>
          <p:nvPr/>
        </p:nvPicPr>
        <p:blipFill>
          <a:blip r:embed="rId14"/>
          <a:stretch>
            <a:fillRect/>
          </a:stretch>
        </p:blipFill>
        <p:spPr>
          <a:xfrm>
            <a:off x="566928" y="5358384"/>
            <a:ext cx="530352" cy="530352"/>
          </a:xfrm>
          <a:prstGeom prst="rect">
            <a:avLst/>
          </a:prstGeom>
        </p:spPr>
      </p:pic>
      <p:sp>
        <p:nvSpPr>
          <p:cNvPr id="49" name="TextBox 48"/>
          <p:cNvSpPr txBox="1"/>
          <p:nvPr/>
        </p:nvSpPr>
        <p:spPr>
          <a:xfrm>
            <a:off x="1225296" y="5321808"/>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Shipra Kushwaha  </a:t>
            </a:r>
            <a:r>
              <a:rPr sz="800" b="1" i="0">
                <a:solidFill>
                  <a:srgbClr val="4A35FF"/>
                </a:solidFill>
                <a:latin typeface="Geist"/>
              </a:rPr>
              <a:t>Creative (Graphic)</a:t>
            </a:r>
          </a:p>
        </p:txBody>
      </p:sp>
      <p:sp>
        <p:nvSpPr>
          <p:cNvPr id="50" name="TextBox 49"/>
          <p:cNvSpPr txBox="1"/>
          <p:nvPr/>
        </p:nvSpPr>
        <p:spPr>
          <a:xfrm>
            <a:off x="1225296" y="5541264"/>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Guides, comics and bilingual campaign material families actually read</a:t>
            </a:r>
          </a:p>
        </p:txBody>
      </p:sp>
      <p:sp>
        <p:nvSpPr>
          <p:cNvPr id="51" name="Rounded Rectangle 50"/>
          <p:cNvSpPr/>
          <p:nvPr/>
        </p:nvSpPr>
        <p:spPr>
          <a:xfrm>
            <a:off x="4553712" y="5340096"/>
            <a:ext cx="5120640" cy="548640"/>
          </a:xfrm>
          <a:prstGeom prst="roundRect">
            <a:avLst>
              <a:gd name="adj" fmla="val 12000"/>
            </a:avLst>
          </a:prstGeom>
          <a:solidFill>
            <a:srgbClr val="EFEDFF"/>
          </a:solidFill>
          <a:ln>
            <a:noFill/>
          </a:ln>
          <a:effectLst/>
        </p:spPr>
        <p:txBody>
          <a:bodyPr rtlCol="0" anchor="ctr"/>
          <a:lstStyle/>
          <a:p>
            <a:pPr algn="ctr"/>
          </a:p>
        </p:txBody>
      </p:sp>
      <p:sp>
        <p:nvSpPr>
          <p:cNvPr id="52" name="TextBox 51"/>
          <p:cNvSpPr txBox="1"/>
          <p:nvPr/>
        </p:nvSpPr>
        <p:spPr>
          <a:xfrm>
            <a:off x="4754880" y="5340096"/>
            <a:ext cx="4754880" cy="548640"/>
          </a:xfrm>
          <a:prstGeom prst="rect">
            <a:avLst/>
          </a:prstGeom>
          <a:noFill/>
        </p:spPr>
        <p:txBody>
          <a:bodyPr wrap="square" lIns="0" rIns="0" tIns="0" bIns="0" anchor="ctr">
            <a:spAutoFit/>
          </a:bodyPr>
          <a:lstStyle/>
          <a:p>
            <a:pPr algn="l">
              <a:lnSpc>
                <a:spcPct val="115000"/>
              </a:lnSpc>
            </a:pPr>
            <a:r>
              <a:rPr sz="900" b="1" i="0">
                <a:solidFill>
                  <a:srgbClr val="4A35FF"/>
                </a:solidFill>
                <a:latin typeface="Geist"/>
              </a:rPr>
              <a:t>Plus 75+ engineering interns and 31 student audit teams.</a:t>
            </a:r>
          </a:p>
        </p:txBody>
      </p:sp>
      <p:sp>
        <p:nvSpPr>
          <p:cNvPr id="53" name="Rounded Rectangle 52"/>
          <p:cNvSpPr/>
          <p:nvPr/>
        </p:nvSpPr>
        <p:spPr>
          <a:xfrm>
            <a:off x="566928" y="5989320"/>
            <a:ext cx="11057839" cy="384048"/>
          </a:xfrm>
          <a:prstGeom prst="roundRect">
            <a:avLst>
              <a:gd name="adj" fmla="val 14000"/>
            </a:avLst>
          </a:prstGeom>
          <a:solidFill>
            <a:srgbClr val="F7F7FA"/>
          </a:solidFill>
          <a:ln>
            <a:noFill/>
          </a:ln>
          <a:effectLst/>
        </p:spPr>
        <p:txBody>
          <a:bodyPr rtlCol="0" anchor="ctr"/>
          <a:lstStyle/>
          <a:p>
            <a:pPr algn="ctr"/>
          </a:p>
        </p:txBody>
      </p:sp>
      <p:sp>
        <p:nvSpPr>
          <p:cNvPr id="54" name="TextBox 53"/>
          <p:cNvSpPr txBox="1"/>
          <p:nvPr/>
        </p:nvSpPr>
        <p:spPr>
          <a:xfrm>
            <a:off x="768096" y="6053328"/>
            <a:ext cx="10646359" cy="292608"/>
          </a:xfrm>
          <a:prstGeom prst="rect">
            <a:avLst/>
          </a:prstGeom>
          <a:noFill/>
        </p:spPr>
        <p:txBody>
          <a:bodyPr wrap="square" lIns="0" rIns="0" tIns="0" bIns="0" anchor="t">
            <a:spAutoFit/>
          </a:bodyPr>
          <a:lstStyle/>
          <a:p>
            <a:pPr algn="l">
              <a:lnSpc>
                <a:spcPct val="115000"/>
              </a:lnSpc>
            </a:pPr>
            <a:r>
              <a:rPr sz="900" b="1" i="0">
                <a:solidFill>
                  <a:srgbClr val="16181D"/>
                </a:solidFill>
                <a:latin typeface="Geist"/>
              </a:rPr>
              <a:t>In-house capabilities: </a:t>
            </a:r>
            <a:r>
              <a:rPr sz="900" b="0" i="0">
                <a:solidFill>
                  <a:srgbClr val="6E7180"/>
                </a:solidFill>
                <a:latin typeface="Geist"/>
              </a:rPr>
              <a:t>road-engineering audits · legal &amp; policy research · AI product development · district operations · behaviour-change communication</a:t>
            </a:r>
          </a:p>
        </p:txBody>
      </p:sp>
      <p:cxnSp>
        <p:nvCxnSpPr>
          <p:cNvPr id="55" name="Connector 54"/>
          <p:cNvCxnSpPr/>
          <p:nvPr/>
        </p:nvCxnSpPr>
        <p:spPr>
          <a:xfrm>
            <a:off x="566928" y="6455664"/>
            <a:ext cx="11057839" cy="0"/>
          </a:xfrm>
          <a:prstGeom prst="line">
            <a:avLst/>
          </a:prstGeom>
          <a:ln w="9525">
            <a:solidFill>
              <a:srgbClr val="E8E9EE"/>
            </a:solidFill>
          </a:ln>
          <a:effectLst/>
        </p:spPr>
      </p:cxnSp>
      <p:sp>
        <p:nvSpPr>
          <p:cNvPr id="56" name="TextBox 5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57" name="TextBox 5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15 / 28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 THE EXPERT BENCH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Advised by the people who </a:t>
            </a:r>
            <a:r>
              <a:rPr sz="2250" b="1" i="0">
                <a:solidFill>
                  <a:srgbClr val="4A35FF"/>
                </a:solidFill>
                <a:latin typeface="Montserrat"/>
              </a:rPr>
              <a:t>built India's road safety practice</a:t>
            </a:r>
          </a:p>
        </p:txBody>
      </p:sp>
      <p:sp>
        <p:nvSpPr>
          <p:cNvPr id="7" name="Rounded Rectangle 6"/>
          <p:cNvSpPr/>
          <p:nvPr/>
        </p:nvSpPr>
        <p:spPr>
          <a:xfrm>
            <a:off x="566928" y="1554480"/>
            <a:ext cx="5486400" cy="932688"/>
          </a:xfrm>
          <a:prstGeom prst="roundRect">
            <a:avLst>
              <a:gd name="adj" fmla="val 12000"/>
            </a:avLst>
          </a:prstGeom>
          <a:solidFill>
            <a:srgbClr val="F7F7FA"/>
          </a:solidFill>
          <a:ln>
            <a:noFill/>
          </a:ln>
          <a:effectLst/>
        </p:spPr>
        <p:txBody>
          <a:bodyPr rtlCol="0" anchor="ctr"/>
          <a:lstStyle/>
          <a:p>
            <a:pPr algn="ctr"/>
          </a:p>
        </p:txBody>
      </p:sp>
      <p:pic>
        <p:nvPicPr>
          <p:cNvPr id="8" name="Picture 7" descr="x_gtiwari.png"/>
          <p:cNvPicPr>
            <a:picLocks noChangeAspect="1"/>
          </p:cNvPicPr>
          <p:nvPr/>
        </p:nvPicPr>
        <p:blipFill>
          <a:blip r:embed="rId2"/>
          <a:stretch>
            <a:fillRect/>
          </a:stretch>
        </p:blipFill>
        <p:spPr>
          <a:xfrm>
            <a:off x="694944" y="1682496"/>
            <a:ext cx="676656" cy="676656"/>
          </a:xfrm>
          <a:prstGeom prst="rect">
            <a:avLst/>
          </a:prstGeom>
        </p:spPr>
      </p:pic>
      <p:sp>
        <p:nvSpPr>
          <p:cNvPr id="9" name="TextBox 8"/>
          <p:cNvSpPr txBox="1"/>
          <p:nvPr/>
        </p:nvSpPr>
        <p:spPr>
          <a:xfrm>
            <a:off x="1499616" y="1673352"/>
            <a:ext cx="448056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Prof. Geetam Tiwari, Board of Advisors</a:t>
            </a:r>
          </a:p>
        </p:txBody>
      </p:sp>
      <p:sp>
        <p:nvSpPr>
          <p:cNvPr id="10" name="TextBox 9"/>
          <p:cNvSpPr txBox="1"/>
          <p:nvPr/>
        </p:nvSpPr>
        <p:spPr>
          <a:xfrm>
            <a:off x="1499616" y="1965960"/>
            <a:ext cx="448056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Professor Emerita &amp; Chair, TRIP Centre, IIT Delhi · four decades of transport safety research</a:t>
            </a:r>
          </a:p>
        </p:txBody>
      </p:sp>
      <p:sp>
        <p:nvSpPr>
          <p:cNvPr id="11" name="Rounded Rectangle 10"/>
          <p:cNvSpPr/>
          <p:nvPr/>
        </p:nvSpPr>
        <p:spPr>
          <a:xfrm>
            <a:off x="6263640" y="1554480"/>
            <a:ext cx="5349240" cy="932688"/>
          </a:xfrm>
          <a:prstGeom prst="roundRect">
            <a:avLst>
              <a:gd name="adj" fmla="val 12000"/>
            </a:avLst>
          </a:prstGeom>
          <a:solidFill>
            <a:srgbClr val="F7F7FA"/>
          </a:solidFill>
          <a:ln>
            <a:noFill/>
          </a:ln>
          <a:effectLst/>
        </p:spPr>
        <p:txBody>
          <a:bodyPr rtlCol="0" anchor="ctr"/>
          <a:lstStyle/>
          <a:p>
            <a:pPr algn="ctr"/>
          </a:p>
        </p:txBody>
      </p:sp>
      <p:pic>
        <p:nvPicPr>
          <p:cNvPr id="12" name="Picture 11" descr="x_tewari.png"/>
          <p:cNvPicPr>
            <a:picLocks noChangeAspect="1"/>
          </p:cNvPicPr>
          <p:nvPr/>
        </p:nvPicPr>
        <p:blipFill>
          <a:blip r:embed="rId3"/>
          <a:stretch>
            <a:fillRect/>
          </a:stretch>
        </p:blipFill>
        <p:spPr>
          <a:xfrm>
            <a:off x="6391656" y="1682496"/>
            <a:ext cx="676656" cy="676656"/>
          </a:xfrm>
          <a:prstGeom prst="rect">
            <a:avLst/>
          </a:prstGeom>
        </p:spPr>
      </p:pic>
      <p:sp>
        <p:nvSpPr>
          <p:cNvPr id="13" name="TextBox 12"/>
          <p:cNvSpPr txBox="1"/>
          <p:nvPr/>
        </p:nvSpPr>
        <p:spPr>
          <a:xfrm>
            <a:off x="7196328" y="1673352"/>
            <a:ext cx="429768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Piyush Tewari, Board of Advisors</a:t>
            </a:r>
          </a:p>
        </p:txBody>
      </p:sp>
      <p:sp>
        <p:nvSpPr>
          <p:cNvPr id="14" name="TextBox 13"/>
          <p:cNvSpPr txBox="1"/>
          <p:nvPr/>
        </p:nvSpPr>
        <p:spPr>
          <a:xfrm>
            <a:off x="7196328" y="1965960"/>
            <a:ext cx="429768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Founder &amp; CEO, SaveLIFE Foundation · Architect of the Good Samaritan Law · Zero-Fatality Corridors</a:t>
            </a:r>
          </a:p>
        </p:txBody>
      </p:sp>
      <p:sp>
        <p:nvSpPr>
          <p:cNvPr id="15" name="TextBox 14"/>
          <p:cNvSpPr txBox="1"/>
          <p:nvPr/>
        </p:nvSpPr>
        <p:spPr>
          <a:xfrm>
            <a:off x="566928" y="2697480"/>
            <a:ext cx="10058400" cy="237744"/>
          </a:xfrm>
          <a:prstGeom prst="rect">
            <a:avLst/>
          </a:prstGeom>
          <a:noFill/>
        </p:spPr>
        <p:txBody>
          <a:bodyPr wrap="square" lIns="0" rIns="0" tIns="0" bIns="0" anchor="t">
            <a:spAutoFit/>
          </a:bodyPr>
          <a:lstStyle/>
          <a:p>
            <a:pPr algn="l">
              <a:lnSpc>
                <a:spcPct val="128000"/>
              </a:lnSpc>
            </a:pPr>
            <a:r>
              <a:rPr sz="850" b="1" i="0" spc="160">
                <a:solidFill>
                  <a:srgbClr val="6E7180"/>
                </a:solidFill>
                <a:latin typeface="Montserrat"/>
              </a:rPr>
              <a:t>JURY, MENTORS &amp; REVIEWERS AROUND OUR WORK</a:t>
            </a:r>
          </a:p>
        </p:txBody>
      </p:sp>
      <p:pic>
        <p:nvPicPr>
          <p:cNvPr id="16" name="Picture 15" descr="x_midha.png"/>
          <p:cNvPicPr>
            <a:picLocks noChangeAspect="1"/>
          </p:cNvPicPr>
          <p:nvPr/>
        </p:nvPicPr>
        <p:blipFill>
          <a:blip r:embed="rId4"/>
          <a:stretch>
            <a:fillRect/>
          </a:stretch>
        </p:blipFill>
        <p:spPr>
          <a:xfrm>
            <a:off x="1353312" y="2999232"/>
            <a:ext cx="640080" cy="640080"/>
          </a:xfrm>
          <a:prstGeom prst="rect">
            <a:avLst/>
          </a:prstGeom>
        </p:spPr>
      </p:pic>
      <p:sp>
        <p:nvSpPr>
          <p:cNvPr id="17" name="TextBox 16"/>
          <p:cNvSpPr txBox="1"/>
          <p:nvPr/>
        </p:nvSpPr>
        <p:spPr>
          <a:xfrm>
            <a:off x="566928"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Justice J.R. Midha</a:t>
            </a:r>
          </a:p>
        </p:txBody>
      </p:sp>
      <p:sp>
        <p:nvSpPr>
          <p:cNvPr id="18" name="TextBox 17"/>
          <p:cNvSpPr txBox="1"/>
          <p:nvPr/>
        </p:nvSpPr>
        <p:spPr>
          <a:xfrm>
            <a:off x="566928"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Delhi High Court (Retd.)</a:t>
            </a:r>
          </a:p>
        </p:txBody>
      </p:sp>
      <p:pic>
        <p:nvPicPr>
          <p:cNvPr id="19" name="Picture 18" descr="x_damle.png"/>
          <p:cNvPicPr>
            <a:picLocks noChangeAspect="1"/>
          </p:cNvPicPr>
          <p:nvPr/>
        </p:nvPicPr>
        <p:blipFill>
          <a:blip r:embed="rId5"/>
          <a:stretch>
            <a:fillRect/>
          </a:stretch>
        </p:blipFill>
        <p:spPr>
          <a:xfrm>
            <a:off x="3566160" y="2999232"/>
            <a:ext cx="640080" cy="640080"/>
          </a:xfrm>
          <a:prstGeom prst="rect">
            <a:avLst/>
          </a:prstGeom>
        </p:spPr>
      </p:pic>
      <p:sp>
        <p:nvSpPr>
          <p:cNvPr id="20" name="TextBox 19"/>
          <p:cNvSpPr txBox="1"/>
          <p:nvPr/>
        </p:nvSpPr>
        <p:spPr>
          <a:xfrm>
            <a:off x="2779776"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Abhay Damle</a:t>
            </a:r>
          </a:p>
        </p:txBody>
      </p:sp>
      <p:sp>
        <p:nvSpPr>
          <p:cNvPr id="21" name="TextBox 20"/>
          <p:cNvSpPr txBox="1"/>
          <p:nvPr/>
        </p:nvSpPr>
        <p:spPr>
          <a:xfrm>
            <a:off x="2779776"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Ex-JS, MoRTH</a:t>
            </a:r>
          </a:p>
        </p:txBody>
      </p:sp>
      <p:pic>
        <p:nvPicPr>
          <p:cNvPr id="22" name="Picture 21" descr="x_dange.png"/>
          <p:cNvPicPr>
            <a:picLocks noChangeAspect="1"/>
          </p:cNvPicPr>
          <p:nvPr/>
        </p:nvPicPr>
        <p:blipFill>
          <a:blip r:embed="rId6"/>
          <a:stretch>
            <a:fillRect/>
          </a:stretch>
        </p:blipFill>
        <p:spPr>
          <a:xfrm>
            <a:off x="5779008" y="2999232"/>
            <a:ext cx="640080" cy="640080"/>
          </a:xfrm>
          <a:prstGeom prst="rect">
            <a:avLst/>
          </a:prstGeom>
        </p:spPr>
      </p:pic>
      <p:sp>
        <p:nvSpPr>
          <p:cNvPr id="23" name="TextBox 22"/>
          <p:cNvSpPr txBox="1"/>
          <p:nvPr/>
        </p:nvSpPr>
        <p:spPr>
          <a:xfrm>
            <a:off x="4992624"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Vaibhav Dange</a:t>
            </a:r>
          </a:p>
        </p:txBody>
      </p:sp>
      <p:sp>
        <p:nvSpPr>
          <p:cNvPr id="24" name="TextBox 23"/>
          <p:cNvSpPr txBox="1"/>
          <p:nvPr/>
        </p:nvSpPr>
        <p:spPr>
          <a:xfrm>
            <a:off x="4992624"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Ex-Advisor, MoRTH</a:t>
            </a:r>
          </a:p>
        </p:txBody>
      </p:sp>
      <p:pic>
        <p:nvPicPr>
          <p:cNvPr id="25" name="Picture 24" descr="x_tandon.png"/>
          <p:cNvPicPr>
            <a:picLocks noChangeAspect="1"/>
          </p:cNvPicPr>
          <p:nvPr/>
        </p:nvPicPr>
        <p:blipFill>
          <a:blip r:embed="rId7"/>
          <a:stretch>
            <a:fillRect/>
          </a:stretch>
        </p:blipFill>
        <p:spPr>
          <a:xfrm>
            <a:off x="7991856" y="2999232"/>
            <a:ext cx="640080" cy="640080"/>
          </a:xfrm>
          <a:prstGeom prst="rect">
            <a:avLst/>
          </a:prstGeom>
        </p:spPr>
      </p:pic>
      <p:sp>
        <p:nvSpPr>
          <p:cNvPr id="26" name="TextBox 25"/>
          <p:cNvSpPr txBox="1"/>
          <p:nvPr/>
        </p:nvSpPr>
        <p:spPr>
          <a:xfrm>
            <a:off x="7205472"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Dr. Maya Tandon</a:t>
            </a:r>
          </a:p>
        </p:txBody>
      </p:sp>
      <p:sp>
        <p:nvSpPr>
          <p:cNvPr id="27" name="TextBox 26"/>
          <p:cNvSpPr txBox="1"/>
          <p:nvPr/>
        </p:nvSpPr>
        <p:spPr>
          <a:xfrm>
            <a:off x="7205472"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Sahayta Trust</a:t>
            </a:r>
          </a:p>
        </p:txBody>
      </p:sp>
      <p:pic>
        <p:nvPicPr>
          <p:cNvPr id="28" name="Picture 27" descr="x_ratnam.png"/>
          <p:cNvPicPr>
            <a:picLocks noChangeAspect="1"/>
          </p:cNvPicPr>
          <p:nvPr/>
        </p:nvPicPr>
        <p:blipFill>
          <a:blip r:embed="rId8"/>
          <a:stretch>
            <a:fillRect/>
          </a:stretch>
        </p:blipFill>
        <p:spPr>
          <a:xfrm>
            <a:off x="10204704" y="2999232"/>
            <a:ext cx="640080" cy="640080"/>
          </a:xfrm>
          <a:prstGeom prst="rect">
            <a:avLst/>
          </a:prstGeom>
        </p:spPr>
      </p:pic>
      <p:sp>
        <p:nvSpPr>
          <p:cNvPr id="29" name="TextBox 28"/>
          <p:cNvSpPr txBox="1"/>
          <p:nvPr/>
        </p:nvSpPr>
        <p:spPr>
          <a:xfrm>
            <a:off x="9418320"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 Venkat Ratnam</a:t>
            </a:r>
          </a:p>
        </p:txBody>
      </p:sp>
      <p:sp>
        <p:nvSpPr>
          <p:cNvPr id="30" name="TextBox 29"/>
          <p:cNvSpPr txBox="1"/>
          <p:nvPr/>
        </p:nvSpPr>
        <p:spPr>
          <a:xfrm>
            <a:off x="9418320"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Government of Punjab</a:t>
            </a:r>
          </a:p>
        </p:txBody>
      </p:sp>
      <p:pic>
        <p:nvPicPr>
          <p:cNvPr id="31" name="Picture 30" descr="x_asrivastava.png"/>
          <p:cNvPicPr>
            <a:picLocks noChangeAspect="1"/>
          </p:cNvPicPr>
          <p:nvPr/>
        </p:nvPicPr>
        <p:blipFill>
          <a:blip r:embed="rId9"/>
          <a:stretch>
            <a:fillRect/>
          </a:stretch>
        </p:blipFill>
        <p:spPr>
          <a:xfrm>
            <a:off x="1353312" y="4206240"/>
            <a:ext cx="640080" cy="640080"/>
          </a:xfrm>
          <a:prstGeom prst="rect">
            <a:avLst/>
          </a:prstGeom>
        </p:spPr>
      </p:pic>
      <p:sp>
        <p:nvSpPr>
          <p:cNvPr id="32" name="TextBox 31"/>
          <p:cNvSpPr txBox="1"/>
          <p:nvPr/>
        </p:nvSpPr>
        <p:spPr>
          <a:xfrm>
            <a:off x="566928"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Akhilesh Srivastava</a:t>
            </a:r>
          </a:p>
        </p:txBody>
      </p:sp>
      <p:sp>
        <p:nvSpPr>
          <p:cNvPr id="33" name="TextBox 32"/>
          <p:cNvSpPr txBox="1"/>
          <p:nvPr/>
        </p:nvSpPr>
        <p:spPr>
          <a:xfrm>
            <a:off x="566928"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ITS India · IRF</a:t>
            </a:r>
          </a:p>
        </p:txBody>
      </p:sp>
      <p:pic>
        <p:nvPicPr>
          <p:cNvPr id="34" name="Picture 33" descr="x_raman.png"/>
          <p:cNvPicPr>
            <a:picLocks noChangeAspect="1"/>
          </p:cNvPicPr>
          <p:nvPr/>
        </p:nvPicPr>
        <p:blipFill>
          <a:blip r:embed="rId10"/>
          <a:stretch>
            <a:fillRect/>
          </a:stretch>
        </p:blipFill>
        <p:spPr>
          <a:xfrm>
            <a:off x="3566160" y="4206240"/>
            <a:ext cx="640080" cy="640080"/>
          </a:xfrm>
          <a:prstGeom prst="rect">
            <a:avLst/>
          </a:prstGeom>
        </p:spPr>
      </p:pic>
      <p:sp>
        <p:nvSpPr>
          <p:cNvPr id="35" name="TextBox 34"/>
          <p:cNvSpPr txBox="1"/>
          <p:nvPr/>
        </p:nvSpPr>
        <p:spPr>
          <a:xfrm>
            <a:off x="2779776"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Aishwarya Raman</a:t>
            </a:r>
          </a:p>
        </p:txBody>
      </p:sp>
      <p:sp>
        <p:nvSpPr>
          <p:cNvPr id="36" name="TextBox 35"/>
          <p:cNvSpPr txBox="1"/>
          <p:nvPr/>
        </p:nvSpPr>
        <p:spPr>
          <a:xfrm>
            <a:off x="2779776"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OMI Foundation</a:t>
            </a:r>
          </a:p>
        </p:txBody>
      </p:sp>
      <p:pic>
        <p:nvPicPr>
          <p:cNvPr id="37" name="Picture 36" descr="x_nkumar.png"/>
          <p:cNvPicPr>
            <a:picLocks noChangeAspect="1"/>
          </p:cNvPicPr>
          <p:nvPr/>
        </p:nvPicPr>
        <p:blipFill>
          <a:blip r:embed="rId11"/>
          <a:stretch>
            <a:fillRect/>
          </a:stretch>
        </p:blipFill>
        <p:spPr>
          <a:xfrm>
            <a:off x="5779008" y="4206240"/>
            <a:ext cx="640080" cy="640080"/>
          </a:xfrm>
          <a:prstGeom prst="rect">
            <a:avLst/>
          </a:prstGeom>
        </p:spPr>
      </p:pic>
      <p:sp>
        <p:nvSpPr>
          <p:cNvPr id="38" name="TextBox 37"/>
          <p:cNvSpPr txBox="1"/>
          <p:nvPr/>
        </p:nvSpPr>
        <p:spPr>
          <a:xfrm>
            <a:off x="4992624"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Neeraj Kumar</a:t>
            </a:r>
          </a:p>
        </p:txBody>
      </p:sp>
      <p:sp>
        <p:nvSpPr>
          <p:cNvPr id="39" name="TextBox 38"/>
          <p:cNvSpPr txBox="1"/>
          <p:nvPr/>
        </p:nvSpPr>
        <p:spPr>
          <a:xfrm>
            <a:off x="4992624"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Tata AIG</a:t>
            </a:r>
          </a:p>
        </p:txBody>
      </p:sp>
      <p:pic>
        <p:nvPicPr>
          <p:cNvPr id="40" name="Picture 39" descr="x_pandey.png"/>
          <p:cNvPicPr>
            <a:picLocks noChangeAspect="1"/>
          </p:cNvPicPr>
          <p:nvPr/>
        </p:nvPicPr>
        <p:blipFill>
          <a:blip r:embed="rId12"/>
          <a:stretch>
            <a:fillRect/>
          </a:stretch>
        </p:blipFill>
        <p:spPr>
          <a:xfrm>
            <a:off x="7991856" y="4206240"/>
            <a:ext cx="640080" cy="640080"/>
          </a:xfrm>
          <a:prstGeom prst="rect">
            <a:avLst/>
          </a:prstGeom>
        </p:spPr>
      </p:pic>
      <p:sp>
        <p:nvSpPr>
          <p:cNvPr id="41" name="TextBox 40"/>
          <p:cNvSpPr txBox="1"/>
          <p:nvPr/>
        </p:nvSpPr>
        <p:spPr>
          <a:xfrm>
            <a:off x="7205472"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R.S. Pandey</a:t>
            </a:r>
          </a:p>
        </p:txBody>
      </p:sp>
      <p:sp>
        <p:nvSpPr>
          <p:cNvPr id="42" name="TextBox 41"/>
          <p:cNvSpPr txBox="1"/>
          <p:nvPr/>
        </p:nvSpPr>
        <p:spPr>
          <a:xfrm>
            <a:off x="7205472"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FICCI Road Safety</a:t>
            </a:r>
          </a:p>
        </p:txBody>
      </p:sp>
      <p:pic>
        <p:nvPicPr>
          <p:cNvPr id="43" name="Picture 42" descr="x_dash.png"/>
          <p:cNvPicPr>
            <a:picLocks noChangeAspect="1"/>
          </p:cNvPicPr>
          <p:nvPr/>
        </p:nvPicPr>
        <p:blipFill>
          <a:blip r:embed="rId13"/>
          <a:stretch>
            <a:fillRect/>
          </a:stretch>
        </p:blipFill>
        <p:spPr>
          <a:xfrm>
            <a:off x="10204704" y="4206240"/>
            <a:ext cx="640080" cy="640080"/>
          </a:xfrm>
          <a:prstGeom prst="rect">
            <a:avLst/>
          </a:prstGeom>
        </p:spPr>
      </p:pic>
      <p:sp>
        <p:nvSpPr>
          <p:cNvPr id="44" name="TextBox 43"/>
          <p:cNvSpPr txBox="1"/>
          <p:nvPr/>
        </p:nvSpPr>
        <p:spPr>
          <a:xfrm>
            <a:off x="9418320"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Dipak K. Dash</a:t>
            </a:r>
          </a:p>
        </p:txBody>
      </p:sp>
      <p:sp>
        <p:nvSpPr>
          <p:cNvPr id="45" name="TextBox 44"/>
          <p:cNvSpPr txBox="1"/>
          <p:nvPr/>
        </p:nvSpPr>
        <p:spPr>
          <a:xfrm>
            <a:off x="9418320"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Times of India</a:t>
            </a:r>
          </a:p>
        </p:txBody>
      </p:sp>
      <p:sp>
        <p:nvSpPr>
          <p:cNvPr id="46" name="Rounded Rectangle 45"/>
          <p:cNvSpPr/>
          <p:nvPr/>
        </p:nvSpPr>
        <p:spPr>
          <a:xfrm>
            <a:off x="566928" y="5559552"/>
            <a:ext cx="11057839" cy="621792"/>
          </a:xfrm>
          <a:prstGeom prst="roundRect">
            <a:avLst>
              <a:gd name="adj" fmla="val 14000"/>
            </a:avLst>
          </a:prstGeom>
          <a:solidFill>
            <a:srgbClr val="F7F7FA"/>
          </a:solidFill>
          <a:ln>
            <a:noFill/>
          </a:ln>
          <a:effectLst/>
        </p:spPr>
        <p:txBody>
          <a:bodyPr rtlCol="0" anchor="ctr"/>
          <a:lstStyle/>
          <a:p>
            <a:pPr algn="ctr"/>
          </a:p>
        </p:txBody>
      </p:sp>
      <p:sp>
        <p:nvSpPr>
          <p:cNvPr id="47" name="TextBox 46"/>
          <p:cNvSpPr txBox="1"/>
          <p:nvPr/>
        </p:nvSpPr>
        <p:spPr>
          <a:xfrm>
            <a:off x="768096" y="5623560"/>
            <a:ext cx="10646359" cy="502920"/>
          </a:xfrm>
          <a:prstGeom prst="rect">
            <a:avLst/>
          </a:prstGeom>
          <a:noFill/>
        </p:spPr>
        <p:txBody>
          <a:bodyPr wrap="square" lIns="0" rIns="0" tIns="0" bIns="0" anchor="t">
            <a:spAutoFit/>
          </a:bodyPr>
          <a:lstStyle/>
          <a:p>
            <a:pPr algn="l">
              <a:lnSpc>
                <a:spcPct val="125000"/>
              </a:lnSpc>
            </a:pPr>
            <a:r>
              <a:rPr sz="900" b="1" i="0">
                <a:solidFill>
                  <a:srgbClr val="16181D"/>
                </a:solidFill>
                <a:latin typeface="Geist"/>
              </a:rPr>
              <a:t>Engaged through the National Road Safety Dialogue Series: </a:t>
            </a:r>
            <a:r>
              <a:rPr sz="900" b="0" i="0">
                <a:solidFill>
                  <a:srgbClr val="6E7180"/>
                </a:solidFill>
                <a:latin typeface="Geist"/>
              </a:rPr>
              <a:t>Balraj Bhanot (ex-Chair, CMVR-TSC) · I.V. Rao (TERI; ex-Maruti Suzuki) · D.P. Saste (CIRT / ex-MoRTH) · Dr. Sushma Sagar (AIIMS Trauma) · Dr. S. Velmurugan (CSIR-CRRI), and jurors from OMI, NIUA, WRI, CII and Tata AIG.</a:t>
            </a:r>
          </a:p>
        </p:txBody>
      </p:sp>
      <p:cxnSp>
        <p:nvCxnSpPr>
          <p:cNvPr id="48" name="Connector 47"/>
          <p:cNvCxnSpPr/>
          <p:nvPr/>
        </p:nvCxnSpPr>
        <p:spPr>
          <a:xfrm>
            <a:off x="566928" y="6455664"/>
            <a:ext cx="11057839" cy="0"/>
          </a:xfrm>
          <a:prstGeom prst="line">
            <a:avLst/>
          </a:prstGeom>
          <a:ln w="9525">
            <a:solidFill>
              <a:srgbClr val="E8E9EE"/>
            </a:solidFill>
          </a:ln>
          <a:effectLst/>
        </p:spPr>
      </p:cxnSp>
      <p:sp>
        <p:nvSpPr>
          <p:cNvPr id="49" name="TextBox 4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50" name="TextBox 4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16 / 28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WHAT IT IS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Project Rakshak, </a:t>
            </a:r>
            <a:r>
              <a:rPr sz="2250" b="1" i="0">
                <a:solidFill>
                  <a:srgbClr val="4A35FF"/>
                </a:solidFill>
                <a:latin typeface="Montserrat"/>
              </a:rPr>
              <a:t>in one sentence</a:t>
            </a:r>
          </a:p>
        </p:txBody>
      </p:sp>
      <p:sp>
        <p:nvSpPr>
          <p:cNvPr id="7" name="TextBox 6"/>
          <p:cNvSpPr txBox="1"/>
          <p:nvPr/>
        </p:nvSpPr>
        <p:spPr>
          <a:xfrm>
            <a:off x="566928" y="1572768"/>
            <a:ext cx="10972800" cy="777240"/>
          </a:xfrm>
          <a:prstGeom prst="rect">
            <a:avLst/>
          </a:prstGeom>
          <a:noFill/>
        </p:spPr>
        <p:txBody>
          <a:bodyPr wrap="square" lIns="0" rIns="0" tIns="0" bIns="0" anchor="t">
            <a:spAutoFit/>
          </a:bodyPr>
          <a:lstStyle/>
          <a:p>
            <a:pPr algn="l">
              <a:lnSpc>
                <a:spcPct val="135000"/>
              </a:lnSpc>
            </a:pPr>
            <a:r>
              <a:rPr sz="1550" b="0" i="0">
                <a:solidFill>
                  <a:srgbClr val="16181D"/>
                </a:solidFill>
                <a:latin typeface="Montserrat"/>
              </a:rPr>
              <a:t>Trained student teams, guided by senior road-safety experts, audit dangerous road locations, and Crashfree India walks each recommended fix through the road-owning authority until it is built.</a:t>
            </a:r>
          </a:p>
        </p:txBody>
      </p:sp>
      <p:sp>
        <p:nvSpPr>
          <p:cNvPr id="8" name="Rounded Rectangle 7"/>
          <p:cNvSpPr/>
          <p:nvPr/>
        </p:nvSpPr>
        <p:spPr>
          <a:xfrm>
            <a:off x="566928" y="2514600"/>
            <a:ext cx="3611880" cy="301752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guntur_junction.jpg_3.95x1.55_0.40.jpg"/>
          <p:cNvPicPr>
            <a:picLocks noChangeAspect="1"/>
          </p:cNvPicPr>
          <p:nvPr/>
        </p:nvPicPr>
        <p:blipFill>
          <a:blip r:embed="rId2"/>
          <a:stretch>
            <a:fillRect/>
          </a:stretch>
        </p:blipFill>
        <p:spPr>
          <a:xfrm>
            <a:off x="566928" y="2514600"/>
            <a:ext cx="3611880" cy="1417320"/>
          </a:xfrm>
          <a:prstGeom prst="rect">
            <a:avLst/>
          </a:prstGeom>
        </p:spPr>
      </p:pic>
      <p:sp>
        <p:nvSpPr>
          <p:cNvPr id="10" name="Rectangle 9"/>
          <p:cNvSpPr/>
          <p:nvPr/>
        </p:nvSpPr>
        <p:spPr>
          <a:xfrm>
            <a:off x="566928" y="2514600"/>
            <a:ext cx="3611880" cy="1417320"/>
          </a:xfrm>
          <a:prstGeom prst="rect">
            <a:avLst/>
          </a:prstGeom>
          <a:noFill/>
          <a:ln w="12700">
            <a:solidFill>
              <a:srgbClr val="E8E9EE"/>
            </a:solidFill>
          </a:ln>
          <a:effectLst/>
        </p:spPr>
        <p:txBody>
          <a:bodyPr rtlCol="0" anchor="ctr"/>
          <a:lstStyle/>
          <a:p>
            <a:pPr algn="ctr"/>
          </a:p>
        </p:txBody>
      </p:sp>
      <p:sp>
        <p:nvSpPr>
          <p:cNvPr id="11" name="Oval 10"/>
          <p:cNvSpPr/>
          <p:nvPr/>
        </p:nvSpPr>
        <p:spPr>
          <a:xfrm>
            <a:off x="704088" y="4069080"/>
            <a:ext cx="384048" cy="384048"/>
          </a:xfrm>
          <a:prstGeom prst="ellipse">
            <a:avLst/>
          </a:prstGeom>
          <a:solidFill>
            <a:srgbClr val="EFEDFF"/>
          </a:solidFill>
          <a:ln>
            <a:noFill/>
          </a:ln>
          <a:effectLst/>
        </p:spPr>
        <p:txBody>
          <a:bodyPr rtlCol="0" anchor="ctr"/>
          <a:lstStyle/>
          <a:p>
            <a:pPr algn="ctr"/>
          </a:p>
        </p:txBody>
      </p:sp>
      <p:pic>
        <p:nvPicPr>
          <p:cNvPr id="12" name="Picture 11" descr="clipboard-list_4A35FF_256_2.0.png"/>
          <p:cNvPicPr>
            <a:picLocks noChangeAspect="1"/>
          </p:cNvPicPr>
          <p:nvPr/>
        </p:nvPicPr>
        <p:blipFill>
          <a:blip r:embed="rId3"/>
          <a:stretch>
            <a:fillRect/>
          </a:stretch>
        </p:blipFill>
        <p:spPr>
          <a:xfrm>
            <a:off x="796259" y="4161251"/>
            <a:ext cx="199704" cy="199704"/>
          </a:xfrm>
          <a:prstGeom prst="rect">
            <a:avLst/>
          </a:prstGeom>
        </p:spPr>
      </p:pic>
      <p:sp>
        <p:nvSpPr>
          <p:cNvPr id="13" name="TextBox 12"/>
          <p:cNvSpPr txBox="1"/>
          <p:nvPr/>
        </p:nvSpPr>
        <p:spPr>
          <a:xfrm>
            <a:off x="1207008" y="4123944"/>
            <a:ext cx="2834640"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Students audit</a:t>
            </a:r>
          </a:p>
        </p:txBody>
      </p:sp>
      <p:sp>
        <p:nvSpPr>
          <p:cNvPr id="14" name="TextBox 13"/>
          <p:cNvSpPr txBox="1"/>
          <p:nvPr/>
        </p:nvSpPr>
        <p:spPr>
          <a:xfrm>
            <a:off x="704088" y="4544568"/>
            <a:ext cx="333756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Teams from IITs, NITs and SPAs collect data on-site: traffic, conflicts, 900+ stakeholder surveys.</a:t>
            </a:r>
          </a:p>
        </p:txBody>
      </p:sp>
      <p:sp>
        <p:nvSpPr>
          <p:cNvPr id="15" name="Rounded Rectangle 14"/>
          <p:cNvSpPr/>
          <p:nvPr/>
        </p:nvSpPr>
        <p:spPr>
          <a:xfrm>
            <a:off x="4288536" y="2514600"/>
            <a:ext cx="3611880" cy="301752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6" name="Picture 15" descr="ph_auth_files.jpeg_3.95x1.55_0.30.jpg"/>
          <p:cNvPicPr>
            <a:picLocks noChangeAspect="1"/>
          </p:cNvPicPr>
          <p:nvPr/>
        </p:nvPicPr>
        <p:blipFill>
          <a:blip r:embed="rId4"/>
          <a:stretch>
            <a:fillRect/>
          </a:stretch>
        </p:blipFill>
        <p:spPr>
          <a:xfrm>
            <a:off x="4288536" y="2514600"/>
            <a:ext cx="3611880" cy="1417320"/>
          </a:xfrm>
          <a:prstGeom prst="rect">
            <a:avLst/>
          </a:prstGeom>
        </p:spPr>
      </p:pic>
      <p:sp>
        <p:nvSpPr>
          <p:cNvPr id="17" name="Rectangle 16"/>
          <p:cNvSpPr/>
          <p:nvPr/>
        </p:nvSpPr>
        <p:spPr>
          <a:xfrm>
            <a:off x="4288536" y="2514600"/>
            <a:ext cx="3611880" cy="1417320"/>
          </a:xfrm>
          <a:prstGeom prst="rect">
            <a:avLst/>
          </a:prstGeom>
          <a:noFill/>
          <a:ln w="12700">
            <a:solidFill>
              <a:srgbClr val="E8E9EE"/>
            </a:solidFill>
          </a:ln>
          <a:effectLst/>
        </p:spPr>
        <p:txBody>
          <a:bodyPr rtlCol="0" anchor="ctr"/>
          <a:lstStyle/>
          <a:p>
            <a:pPr algn="ctr"/>
          </a:p>
        </p:txBody>
      </p:sp>
      <p:sp>
        <p:nvSpPr>
          <p:cNvPr id="18" name="Oval 17"/>
          <p:cNvSpPr/>
          <p:nvPr/>
        </p:nvSpPr>
        <p:spPr>
          <a:xfrm>
            <a:off x="4425696" y="4069080"/>
            <a:ext cx="384048" cy="384048"/>
          </a:xfrm>
          <a:prstGeom prst="ellipse">
            <a:avLst/>
          </a:prstGeom>
          <a:solidFill>
            <a:srgbClr val="EFEDFF"/>
          </a:solidFill>
          <a:ln>
            <a:noFill/>
          </a:ln>
          <a:effectLst/>
        </p:spPr>
        <p:txBody>
          <a:bodyPr rtlCol="0" anchor="ctr"/>
          <a:lstStyle/>
          <a:p>
            <a:pPr algn="ctr"/>
          </a:p>
        </p:txBody>
      </p:sp>
      <p:pic>
        <p:nvPicPr>
          <p:cNvPr id="19" name="Picture 18" descr="badge-check_4A35FF_256_2.0.png"/>
          <p:cNvPicPr>
            <a:picLocks noChangeAspect="1"/>
          </p:cNvPicPr>
          <p:nvPr/>
        </p:nvPicPr>
        <p:blipFill>
          <a:blip r:embed="rId5"/>
          <a:stretch>
            <a:fillRect/>
          </a:stretch>
        </p:blipFill>
        <p:spPr>
          <a:xfrm>
            <a:off x="4517867" y="4161251"/>
            <a:ext cx="199704" cy="199704"/>
          </a:xfrm>
          <a:prstGeom prst="rect">
            <a:avLst/>
          </a:prstGeom>
        </p:spPr>
      </p:pic>
      <p:sp>
        <p:nvSpPr>
          <p:cNvPr id="20" name="TextBox 19"/>
          <p:cNvSpPr txBox="1"/>
          <p:nvPr/>
        </p:nvSpPr>
        <p:spPr>
          <a:xfrm>
            <a:off x="4928616" y="4123944"/>
            <a:ext cx="2834640"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Experts verify</a:t>
            </a:r>
          </a:p>
        </p:txBody>
      </p:sp>
      <p:sp>
        <p:nvSpPr>
          <p:cNvPr id="21" name="TextBox 20"/>
          <p:cNvSpPr txBox="1"/>
          <p:nvPr/>
        </p:nvSpPr>
        <p:spPr>
          <a:xfrm>
            <a:off x="4425696" y="4544568"/>
            <a:ext cx="333756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Mentors anchor every audit to IRC codes and MoRTH checklists before anything is proposed.</a:t>
            </a:r>
          </a:p>
        </p:txBody>
      </p:sp>
      <p:sp>
        <p:nvSpPr>
          <p:cNvPr id="22" name="Rounded Rectangle 21"/>
          <p:cNvSpPr/>
          <p:nvPr/>
        </p:nvSpPr>
        <p:spPr>
          <a:xfrm>
            <a:off x="8010144" y="2514600"/>
            <a:ext cx="3611880" cy="301752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3" name="Picture 22" descr="implementation_work.jpg_3.95x1.55_0.30.jpg"/>
          <p:cNvPicPr>
            <a:picLocks noChangeAspect="1"/>
          </p:cNvPicPr>
          <p:nvPr/>
        </p:nvPicPr>
        <p:blipFill>
          <a:blip r:embed="rId6"/>
          <a:stretch>
            <a:fillRect/>
          </a:stretch>
        </p:blipFill>
        <p:spPr>
          <a:xfrm>
            <a:off x="8010144" y="2514600"/>
            <a:ext cx="3611880" cy="1417320"/>
          </a:xfrm>
          <a:prstGeom prst="rect">
            <a:avLst/>
          </a:prstGeom>
        </p:spPr>
      </p:pic>
      <p:sp>
        <p:nvSpPr>
          <p:cNvPr id="24" name="Rectangle 23"/>
          <p:cNvSpPr/>
          <p:nvPr/>
        </p:nvSpPr>
        <p:spPr>
          <a:xfrm>
            <a:off x="8010144" y="2514600"/>
            <a:ext cx="3611880" cy="1417320"/>
          </a:xfrm>
          <a:prstGeom prst="rect">
            <a:avLst/>
          </a:prstGeom>
          <a:noFill/>
          <a:ln w="12700">
            <a:solidFill>
              <a:srgbClr val="E8E9EE"/>
            </a:solidFill>
          </a:ln>
          <a:effectLst/>
        </p:spPr>
        <p:txBody>
          <a:bodyPr rtlCol="0" anchor="ctr"/>
          <a:lstStyle/>
          <a:p>
            <a:pPr algn="ctr"/>
          </a:p>
        </p:txBody>
      </p:sp>
      <p:sp>
        <p:nvSpPr>
          <p:cNvPr id="25" name="Oval 24"/>
          <p:cNvSpPr/>
          <p:nvPr/>
        </p:nvSpPr>
        <p:spPr>
          <a:xfrm>
            <a:off x="8147304" y="4069080"/>
            <a:ext cx="384048" cy="384048"/>
          </a:xfrm>
          <a:prstGeom prst="ellipse">
            <a:avLst/>
          </a:prstGeom>
          <a:solidFill>
            <a:srgbClr val="EFEDFF"/>
          </a:solidFill>
          <a:ln>
            <a:noFill/>
          </a:ln>
          <a:effectLst/>
        </p:spPr>
        <p:txBody>
          <a:bodyPr rtlCol="0" anchor="ctr"/>
          <a:lstStyle/>
          <a:p>
            <a:pPr algn="ctr"/>
          </a:p>
        </p:txBody>
      </p:sp>
      <p:pic>
        <p:nvPicPr>
          <p:cNvPr id="26" name="Picture 25" descr="hard-hat_4A35FF_256_2.0.png"/>
          <p:cNvPicPr>
            <a:picLocks noChangeAspect="1"/>
          </p:cNvPicPr>
          <p:nvPr/>
        </p:nvPicPr>
        <p:blipFill>
          <a:blip r:embed="rId7"/>
          <a:stretch>
            <a:fillRect/>
          </a:stretch>
        </p:blipFill>
        <p:spPr>
          <a:xfrm>
            <a:off x="8239475" y="4161251"/>
            <a:ext cx="199704" cy="199704"/>
          </a:xfrm>
          <a:prstGeom prst="rect">
            <a:avLst/>
          </a:prstGeom>
        </p:spPr>
      </p:pic>
      <p:sp>
        <p:nvSpPr>
          <p:cNvPr id="27" name="TextBox 26"/>
          <p:cNvSpPr txBox="1"/>
          <p:nvPr/>
        </p:nvSpPr>
        <p:spPr>
          <a:xfrm>
            <a:off x="8650224" y="4123944"/>
            <a:ext cx="2834640"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Authorities build</a:t>
            </a:r>
          </a:p>
        </p:txBody>
      </p:sp>
      <p:sp>
        <p:nvSpPr>
          <p:cNvPr id="28" name="TextBox 27"/>
          <p:cNvSpPr txBox="1"/>
          <p:nvPr/>
        </p:nvSpPr>
        <p:spPr>
          <a:xfrm>
            <a:off x="8147304" y="4544568"/>
            <a:ext cx="333756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The fix goes to the PWD, corporation or NHAI in its own format, and we track it to completion.</a:t>
            </a:r>
          </a:p>
        </p:txBody>
      </p:sp>
      <p:sp>
        <p:nvSpPr>
          <p:cNvPr id="29" name="TextBox 28"/>
          <p:cNvSpPr txBox="1"/>
          <p:nvPr/>
        </p:nvSpPr>
        <p:spPr>
          <a:xfrm>
            <a:off x="566928" y="5760720"/>
            <a:ext cx="11057839" cy="320040"/>
          </a:xfrm>
          <a:prstGeom prst="rect">
            <a:avLst/>
          </a:prstGeom>
          <a:noFill/>
        </p:spPr>
        <p:txBody>
          <a:bodyPr wrap="square" lIns="0" rIns="0" tIns="0" bIns="0" anchor="t">
            <a:spAutoFit/>
          </a:bodyPr>
          <a:lstStyle/>
          <a:p>
            <a:pPr algn="l">
              <a:lnSpc>
                <a:spcPct val="120000"/>
              </a:lnSpc>
            </a:pPr>
            <a:r>
              <a:rPr sz="1000" b="1" i="0">
                <a:solidFill>
                  <a:srgbClr val="16181D"/>
                </a:solidFill>
                <a:latin typeface="Geist"/>
              </a:rPr>
              <a:t>Four phases each cohort: </a:t>
            </a:r>
            <a:r>
              <a:rPr sz="1000" b="0" i="0">
                <a:solidFill>
                  <a:srgbClr val="6E7180"/>
                </a:solidFill>
                <a:latin typeface="Geist"/>
              </a:rPr>
              <a:t>Research &amp; problem identification  →  Stakeholder engagement &amp; audits  →  Analysis &amp; costed solutions  →  Reporting &amp; authority engagement</a:t>
            </a:r>
          </a:p>
        </p:txBody>
      </p:sp>
      <p:cxnSp>
        <p:nvCxnSpPr>
          <p:cNvPr id="30" name="Connector 29"/>
          <p:cNvCxnSpPr/>
          <p:nvPr/>
        </p:nvCxnSpPr>
        <p:spPr>
          <a:xfrm>
            <a:off x="566928" y="6455664"/>
            <a:ext cx="11057839" cy="0"/>
          </a:xfrm>
          <a:prstGeom prst="line">
            <a:avLst/>
          </a:prstGeom>
          <a:ln w="9525">
            <a:solidFill>
              <a:srgbClr val="E8E9EE"/>
            </a:solidFill>
          </a:ln>
          <a:effectLst/>
        </p:spPr>
      </p:cxnSp>
      <p:sp>
        <p:nvSpPr>
          <p:cNvPr id="31" name="TextBox 30"/>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2" name="TextBox 3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17 / 28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WHY IT MATTERS TO WG-2</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Identification has outpaced rectification, </a:t>
            </a:r>
            <a:r>
              <a:rPr sz="2250" b="1" i="0">
                <a:solidFill>
                  <a:srgbClr val="4A35FF"/>
                </a:solidFill>
                <a:latin typeface="Montserrat"/>
              </a:rPr>
              <a:t>capacity is the constraint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The knowledge exists; the pipeline that turns identified risk into completed engineering needs more trained hands.</a:t>
            </a:r>
          </a:p>
        </p:txBody>
      </p:sp>
      <p:sp>
        <p:nvSpPr>
          <p:cNvPr id="8" name="Rounded Rectangle 7"/>
          <p:cNvSpPr/>
          <p:nvPr/>
        </p:nvSpPr>
        <p:spPr>
          <a:xfrm>
            <a:off x="566928" y="2103120"/>
            <a:ext cx="3108960" cy="1188720"/>
          </a:xfrm>
          <a:prstGeom prst="roundRect">
            <a:avLst>
              <a:gd name="adj" fmla="val 14000"/>
            </a:avLst>
          </a:prstGeom>
          <a:solidFill>
            <a:srgbClr val="F7F7FA"/>
          </a:solidFill>
          <a:ln>
            <a:noFill/>
          </a:ln>
          <a:effectLst/>
        </p:spPr>
        <p:txBody>
          <a:bodyPr rtlCol="0" anchor="ctr"/>
          <a:lstStyle/>
          <a:p>
            <a:pPr algn="ctr"/>
          </a:p>
        </p:txBody>
      </p:sp>
      <p:sp>
        <p:nvSpPr>
          <p:cNvPr id="9" name="TextBox 8"/>
          <p:cNvSpPr txBox="1"/>
          <p:nvPr/>
        </p:nvSpPr>
        <p:spPr>
          <a:xfrm>
            <a:off x="694944" y="2194560"/>
            <a:ext cx="2852928" cy="502920"/>
          </a:xfrm>
          <a:prstGeom prst="rect">
            <a:avLst/>
          </a:prstGeom>
          <a:noFill/>
        </p:spPr>
        <p:txBody>
          <a:bodyPr wrap="square" lIns="0" rIns="0" tIns="0" bIns="0" anchor="t">
            <a:spAutoFit/>
          </a:bodyPr>
          <a:lstStyle/>
          <a:p>
            <a:pPr algn="l">
              <a:lnSpc>
                <a:spcPct val="100000"/>
              </a:lnSpc>
            </a:pPr>
            <a:r>
              <a:rPr sz="3000" b="1" i="0">
                <a:solidFill>
                  <a:srgbClr val="4A35FF"/>
                </a:solidFill>
                <a:latin typeface="Montserrat"/>
              </a:rPr>
              <a:t>13,795</a:t>
            </a:r>
          </a:p>
        </p:txBody>
      </p:sp>
      <p:sp>
        <p:nvSpPr>
          <p:cNvPr id="10" name="TextBox 9"/>
          <p:cNvSpPr txBox="1"/>
          <p:nvPr/>
        </p:nvSpPr>
        <p:spPr>
          <a:xfrm>
            <a:off x="694944" y="2651760"/>
            <a:ext cx="2852928" cy="6400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black spots identified nationally (MoRTH)</a:t>
            </a:r>
          </a:p>
        </p:txBody>
      </p:sp>
      <p:sp>
        <p:nvSpPr>
          <p:cNvPr id="11" name="Rounded Rectangle 10"/>
          <p:cNvSpPr/>
          <p:nvPr/>
        </p:nvSpPr>
        <p:spPr>
          <a:xfrm>
            <a:off x="3813048" y="2103120"/>
            <a:ext cx="3108960" cy="1188720"/>
          </a:xfrm>
          <a:prstGeom prst="roundRect">
            <a:avLst>
              <a:gd name="adj" fmla="val 14000"/>
            </a:avLst>
          </a:prstGeom>
          <a:solidFill>
            <a:srgbClr val="F7F7FA"/>
          </a:solidFill>
          <a:ln>
            <a:noFill/>
          </a:ln>
          <a:effectLst/>
        </p:spPr>
        <p:txBody>
          <a:bodyPr rtlCol="0" anchor="ctr"/>
          <a:lstStyle/>
          <a:p>
            <a:pPr algn="ctr"/>
          </a:p>
        </p:txBody>
      </p:sp>
      <p:sp>
        <p:nvSpPr>
          <p:cNvPr id="12" name="TextBox 11"/>
          <p:cNvSpPr txBox="1"/>
          <p:nvPr/>
        </p:nvSpPr>
        <p:spPr>
          <a:xfrm>
            <a:off x="3941064" y="2194560"/>
            <a:ext cx="2852928" cy="502920"/>
          </a:xfrm>
          <a:prstGeom prst="rect">
            <a:avLst/>
          </a:prstGeom>
          <a:noFill/>
        </p:spPr>
        <p:txBody>
          <a:bodyPr wrap="square" lIns="0" rIns="0" tIns="0" bIns="0" anchor="t">
            <a:spAutoFit/>
          </a:bodyPr>
          <a:lstStyle/>
          <a:p>
            <a:pPr algn="l">
              <a:lnSpc>
                <a:spcPct val="100000"/>
              </a:lnSpc>
            </a:pPr>
            <a:r>
              <a:rPr sz="3000" b="1" i="0">
                <a:solidFill>
                  <a:srgbClr val="4A35FF"/>
                </a:solidFill>
                <a:latin typeface="Montserrat"/>
              </a:rPr>
              <a:t>5,036</a:t>
            </a:r>
          </a:p>
        </p:txBody>
      </p:sp>
      <p:sp>
        <p:nvSpPr>
          <p:cNvPr id="13" name="TextBox 12"/>
          <p:cNvSpPr txBox="1"/>
          <p:nvPr/>
        </p:nvSpPr>
        <p:spPr>
          <a:xfrm>
            <a:off x="3941064" y="2651760"/>
            <a:ext cx="2852928" cy="6400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permanently rectified so far (Parliamentary Standing Committee, 2024)</a:t>
            </a:r>
          </a:p>
        </p:txBody>
      </p:sp>
      <p:sp>
        <p:nvSpPr>
          <p:cNvPr id="14" name="Rounded Rectangle 13"/>
          <p:cNvSpPr/>
          <p:nvPr/>
        </p:nvSpPr>
        <p:spPr>
          <a:xfrm>
            <a:off x="7059168" y="2103120"/>
            <a:ext cx="3108960" cy="1188720"/>
          </a:xfrm>
          <a:prstGeom prst="roundRect">
            <a:avLst>
              <a:gd name="adj" fmla="val 14000"/>
            </a:avLst>
          </a:prstGeom>
          <a:solidFill>
            <a:srgbClr val="F7F7FA"/>
          </a:solidFill>
          <a:ln>
            <a:noFill/>
          </a:ln>
          <a:effectLst/>
        </p:spPr>
        <p:txBody>
          <a:bodyPr rtlCol="0" anchor="ctr"/>
          <a:lstStyle/>
          <a:p>
            <a:pPr algn="ctr"/>
          </a:p>
        </p:txBody>
      </p:sp>
      <p:sp>
        <p:nvSpPr>
          <p:cNvPr id="15" name="TextBox 14"/>
          <p:cNvSpPr txBox="1"/>
          <p:nvPr/>
        </p:nvSpPr>
        <p:spPr>
          <a:xfrm>
            <a:off x="7187184" y="2194560"/>
            <a:ext cx="2852928" cy="502920"/>
          </a:xfrm>
          <a:prstGeom prst="rect">
            <a:avLst/>
          </a:prstGeom>
          <a:noFill/>
        </p:spPr>
        <p:txBody>
          <a:bodyPr wrap="square" lIns="0" rIns="0" tIns="0" bIns="0" anchor="t">
            <a:spAutoFit/>
          </a:bodyPr>
          <a:lstStyle/>
          <a:p>
            <a:pPr algn="l">
              <a:lnSpc>
                <a:spcPct val="100000"/>
              </a:lnSpc>
            </a:pPr>
            <a:r>
              <a:rPr sz="3000" b="1" i="0">
                <a:solidFill>
                  <a:srgbClr val="0A9955"/>
                </a:solidFill>
                <a:latin typeface="Montserrat"/>
              </a:rPr>
              <a:t>20–80%</a:t>
            </a:r>
          </a:p>
        </p:txBody>
      </p:sp>
      <p:sp>
        <p:nvSpPr>
          <p:cNvPr id="16" name="TextBox 15"/>
          <p:cNvSpPr txBox="1"/>
          <p:nvPr/>
        </p:nvSpPr>
        <p:spPr>
          <a:xfrm>
            <a:off x="7187184" y="2651760"/>
            <a:ext cx="2852928" cy="6400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crash reduction where low-cost engineering fixes are applied (iRAP &amp; PIARC)</a:t>
            </a:r>
          </a:p>
        </p:txBody>
      </p:sp>
      <p:sp>
        <p:nvSpPr>
          <p:cNvPr id="17" name="TextBox 16"/>
          <p:cNvSpPr txBox="1"/>
          <p:nvPr/>
        </p:nvSpPr>
        <p:spPr>
          <a:xfrm>
            <a:off x="566928" y="3611880"/>
            <a:ext cx="6675120" cy="1188720"/>
          </a:xfrm>
          <a:prstGeom prst="rect">
            <a:avLst/>
          </a:prstGeom>
          <a:noFill/>
        </p:spPr>
        <p:txBody>
          <a:bodyPr wrap="square" lIns="0" rIns="0" tIns="0" bIns="0" anchor="t">
            <a:spAutoFit/>
          </a:bodyPr>
          <a:lstStyle/>
          <a:p>
            <a:pPr algn="l">
              <a:lnSpc>
                <a:spcPct val="140000"/>
              </a:lnSpc>
            </a:pPr>
            <a:r>
              <a:rPr sz="1100" b="0" i="0">
                <a:solidFill>
                  <a:srgbClr val="16181D"/>
                </a:solidFill>
                <a:latin typeface="Geist"/>
              </a:rPr>
              <a:t>Raised crossings, traffic calming, lighting and safer intersections are proven, affordable counter-measures. What limits progress is steady, supervised auditing capacity and follow-through, working under the road-owning authority.</a:t>
            </a:r>
          </a:p>
        </p:txBody>
      </p:sp>
      <p:sp>
        <p:nvSpPr>
          <p:cNvPr id="18" name="Rounded Rectangle 17"/>
          <p:cNvSpPr/>
          <p:nvPr/>
        </p:nvSpPr>
        <p:spPr>
          <a:xfrm>
            <a:off x="566928" y="5029200"/>
            <a:ext cx="6675120" cy="868680"/>
          </a:xfrm>
          <a:prstGeom prst="roundRect">
            <a:avLst>
              <a:gd name="adj" fmla="val 12000"/>
            </a:avLst>
          </a:prstGeom>
          <a:solidFill>
            <a:srgbClr val="EFEDFF"/>
          </a:solidFill>
          <a:ln>
            <a:noFill/>
          </a:ln>
          <a:effectLst/>
        </p:spPr>
        <p:txBody>
          <a:bodyPr rtlCol="0" anchor="ctr"/>
          <a:lstStyle/>
          <a:p>
            <a:pPr algn="ctr"/>
          </a:p>
        </p:txBody>
      </p:sp>
      <p:sp>
        <p:nvSpPr>
          <p:cNvPr id="19" name="TextBox 18"/>
          <p:cNvSpPr txBox="1"/>
          <p:nvPr/>
        </p:nvSpPr>
        <p:spPr>
          <a:xfrm>
            <a:off x="768096" y="5138928"/>
            <a:ext cx="6309360" cy="685800"/>
          </a:xfrm>
          <a:prstGeom prst="rect">
            <a:avLst/>
          </a:prstGeom>
          <a:noFill/>
        </p:spPr>
        <p:txBody>
          <a:bodyPr wrap="square" lIns="0" rIns="0" tIns="0" bIns="0" anchor="t">
            <a:spAutoFit/>
          </a:bodyPr>
          <a:lstStyle/>
          <a:p>
            <a:pPr algn="l">
              <a:lnSpc>
                <a:spcPct val="130000"/>
              </a:lnSpc>
            </a:pPr>
            <a:r>
              <a:rPr sz="1050" b="1" i="0">
                <a:solidFill>
                  <a:srgbClr val="4A35FF"/>
                </a:solidFill>
                <a:latin typeface="Geist"/>
              </a:rPr>
              <a:t>Project Rakshak was designed for precisely this constraint: </a:t>
            </a:r>
            <a:r>
              <a:rPr sz="1050" b="0" i="0">
                <a:solidFill>
                  <a:srgbClr val="4A35FF"/>
                </a:solidFill>
                <a:latin typeface="Geist"/>
              </a:rPr>
              <a:t>trained auditing capacity that supports road-owning agencies, and tracks every fix to completion.</a:t>
            </a:r>
          </a:p>
        </p:txBody>
      </p:sp>
      <p:pic>
        <p:nvPicPr>
          <p:cNvPr id="20" name="Picture 19" descr="ph_auth_desk.jpeg_4.35x2.50_0.35.jpg"/>
          <p:cNvPicPr>
            <a:picLocks noChangeAspect="1"/>
          </p:cNvPicPr>
          <p:nvPr/>
        </p:nvPicPr>
        <p:blipFill>
          <a:blip r:embed="rId2"/>
          <a:stretch>
            <a:fillRect/>
          </a:stretch>
        </p:blipFill>
        <p:spPr>
          <a:xfrm>
            <a:off x="7635240" y="3611880"/>
            <a:ext cx="3977639" cy="2286000"/>
          </a:xfrm>
          <a:prstGeom prst="rect">
            <a:avLst/>
          </a:prstGeom>
        </p:spPr>
      </p:pic>
      <p:sp>
        <p:nvSpPr>
          <p:cNvPr id="21" name="Rectangle 20"/>
          <p:cNvSpPr/>
          <p:nvPr/>
        </p:nvSpPr>
        <p:spPr>
          <a:xfrm>
            <a:off x="7635240" y="3611880"/>
            <a:ext cx="3977639" cy="2286000"/>
          </a:xfrm>
          <a:prstGeom prst="rect">
            <a:avLst/>
          </a:prstGeom>
          <a:noFill/>
          <a:ln w="12700">
            <a:solidFill>
              <a:srgbClr val="E8E9EE"/>
            </a:solidFill>
          </a:ln>
          <a:effectLst/>
        </p:spPr>
        <p:txBody>
          <a:bodyPr rtlCol="0" anchor="ctr"/>
          <a:lstStyle/>
          <a:p>
            <a:pPr algn="ctr"/>
          </a:p>
        </p:txBody>
      </p:sp>
      <p:sp>
        <p:nvSpPr>
          <p:cNvPr id="22" name="TextBox 21"/>
          <p:cNvSpPr txBox="1"/>
          <p:nvPr/>
        </p:nvSpPr>
        <p:spPr>
          <a:xfrm>
            <a:off x="7635240" y="5943600"/>
            <a:ext cx="39776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Audit findings on the executive engineer's desk, the road-owning authority acts.</a:t>
            </a:r>
          </a:p>
        </p:txBody>
      </p:sp>
      <p:cxnSp>
        <p:nvCxnSpPr>
          <p:cNvPr id="23" name="Connector 22"/>
          <p:cNvCxnSpPr/>
          <p:nvPr/>
        </p:nvCxnSpPr>
        <p:spPr>
          <a:xfrm>
            <a:off x="566928" y="6455664"/>
            <a:ext cx="11057839" cy="0"/>
          </a:xfrm>
          <a:prstGeom prst="line">
            <a:avLst/>
          </a:prstGeom>
          <a:ln w="9525">
            <a:solidFill>
              <a:srgbClr val="E8E9EE"/>
            </a:solidFill>
          </a:ln>
          <a:effectLst/>
        </p:spPr>
      </p:cxnSp>
      <p:sp>
        <p:nvSpPr>
          <p:cNvPr id="24" name="TextBox 23"/>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25" name="TextBox 24"/>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18 / 28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YEAR ONE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Cohort 1: a </a:t>
            </a:r>
            <a:r>
              <a:rPr sz="2250" b="1" i="0">
                <a:solidFill>
                  <a:srgbClr val="4A35FF"/>
                </a:solidFill>
                <a:latin typeface="Montserrat"/>
              </a:rPr>
              <a:t>national footprint</a:t>
            </a:r>
            <a:r>
              <a:rPr sz="2250" b="1" i="0">
                <a:solidFill>
                  <a:srgbClr val="16181D"/>
                </a:solidFill>
                <a:latin typeface="Montserrat"/>
              </a:rPr>
              <a:t>, now delivering</a:t>
            </a:r>
          </a:p>
        </p:txBody>
      </p:sp>
      <p:sp>
        <p:nvSpPr>
          <p:cNvPr id="7" name="Rounded Rectangle 6"/>
          <p:cNvSpPr/>
          <p:nvPr/>
        </p:nvSpPr>
        <p:spPr>
          <a:xfrm>
            <a:off x="566928" y="1965960"/>
            <a:ext cx="1783080" cy="1143000"/>
          </a:xfrm>
          <a:prstGeom prst="roundRect">
            <a:avLst>
              <a:gd name="adj" fmla="val 12000"/>
            </a:avLst>
          </a:prstGeom>
          <a:solidFill>
            <a:srgbClr val="F7F7FA"/>
          </a:solidFill>
          <a:ln>
            <a:noFill/>
          </a:ln>
          <a:effectLst/>
        </p:spPr>
        <p:txBody>
          <a:bodyPr rtlCol="0" anchor="ctr"/>
          <a:lstStyle/>
          <a:p>
            <a:pPr algn="ctr"/>
          </a:p>
        </p:txBody>
      </p:sp>
      <p:sp>
        <p:nvSpPr>
          <p:cNvPr id="8" name="TextBox 7"/>
          <p:cNvSpPr txBox="1"/>
          <p:nvPr/>
        </p:nvSpPr>
        <p:spPr>
          <a:xfrm>
            <a:off x="694944" y="207568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120+</a:t>
            </a:r>
          </a:p>
        </p:txBody>
      </p:sp>
      <p:sp>
        <p:nvSpPr>
          <p:cNvPr id="9" name="TextBox 8"/>
          <p:cNvSpPr txBox="1"/>
          <p:nvPr/>
        </p:nvSpPr>
        <p:spPr>
          <a:xfrm>
            <a:off x="694944" y="253288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locations screened</a:t>
            </a:r>
          </a:p>
        </p:txBody>
      </p:sp>
      <p:sp>
        <p:nvSpPr>
          <p:cNvPr id="10" name="TextBox 9"/>
          <p:cNvSpPr txBox="1"/>
          <p:nvPr/>
        </p:nvSpPr>
        <p:spPr>
          <a:xfrm>
            <a:off x="2331720" y="233172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11" name="Rounded Rectangle 10"/>
          <p:cNvSpPr/>
          <p:nvPr/>
        </p:nvSpPr>
        <p:spPr>
          <a:xfrm>
            <a:off x="2487168" y="1965960"/>
            <a:ext cx="1783080" cy="1143000"/>
          </a:xfrm>
          <a:prstGeom prst="roundRect">
            <a:avLst>
              <a:gd name="adj" fmla="val 12000"/>
            </a:avLst>
          </a:prstGeom>
          <a:solidFill>
            <a:srgbClr val="F7F7FA"/>
          </a:solidFill>
          <a:ln>
            <a:noFill/>
          </a:ln>
          <a:effectLst/>
        </p:spPr>
        <p:txBody>
          <a:bodyPr rtlCol="0" anchor="ctr"/>
          <a:lstStyle/>
          <a:p>
            <a:pPr algn="ctr"/>
          </a:p>
        </p:txBody>
      </p:sp>
      <p:sp>
        <p:nvSpPr>
          <p:cNvPr id="12" name="TextBox 11"/>
          <p:cNvSpPr txBox="1"/>
          <p:nvPr/>
        </p:nvSpPr>
        <p:spPr>
          <a:xfrm>
            <a:off x="2615184" y="207568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31</a:t>
            </a:r>
          </a:p>
        </p:txBody>
      </p:sp>
      <p:sp>
        <p:nvSpPr>
          <p:cNvPr id="13" name="TextBox 12"/>
          <p:cNvSpPr txBox="1"/>
          <p:nvPr/>
        </p:nvSpPr>
        <p:spPr>
          <a:xfrm>
            <a:off x="2615184" y="253288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sites audited, 11 official black spots</a:t>
            </a:r>
          </a:p>
        </p:txBody>
      </p:sp>
      <p:sp>
        <p:nvSpPr>
          <p:cNvPr id="14" name="TextBox 13"/>
          <p:cNvSpPr txBox="1"/>
          <p:nvPr/>
        </p:nvSpPr>
        <p:spPr>
          <a:xfrm>
            <a:off x="4251960" y="233172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15" name="Rounded Rectangle 14"/>
          <p:cNvSpPr/>
          <p:nvPr/>
        </p:nvSpPr>
        <p:spPr>
          <a:xfrm>
            <a:off x="4407408" y="1965960"/>
            <a:ext cx="1783080" cy="1143000"/>
          </a:xfrm>
          <a:prstGeom prst="roundRect">
            <a:avLst>
              <a:gd name="adj" fmla="val 12000"/>
            </a:avLst>
          </a:prstGeom>
          <a:solidFill>
            <a:srgbClr val="F7F7FA"/>
          </a:solidFill>
          <a:ln>
            <a:noFill/>
          </a:ln>
          <a:effectLst/>
        </p:spPr>
        <p:txBody>
          <a:bodyPr rtlCol="0" anchor="ctr"/>
          <a:lstStyle/>
          <a:p>
            <a:pPr algn="ctr"/>
          </a:p>
        </p:txBody>
      </p:sp>
      <p:sp>
        <p:nvSpPr>
          <p:cNvPr id="16" name="TextBox 15"/>
          <p:cNvSpPr txBox="1"/>
          <p:nvPr/>
        </p:nvSpPr>
        <p:spPr>
          <a:xfrm>
            <a:off x="4535424" y="207568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25+</a:t>
            </a:r>
          </a:p>
        </p:txBody>
      </p:sp>
      <p:sp>
        <p:nvSpPr>
          <p:cNvPr id="17" name="TextBox 16"/>
          <p:cNvSpPr txBox="1"/>
          <p:nvPr/>
        </p:nvSpPr>
        <p:spPr>
          <a:xfrm>
            <a:off x="4535424" y="253288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written authority approvals</a:t>
            </a:r>
          </a:p>
        </p:txBody>
      </p:sp>
      <p:sp>
        <p:nvSpPr>
          <p:cNvPr id="18" name="TextBox 17"/>
          <p:cNvSpPr txBox="1"/>
          <p:nvPr/>
        </p:nvSpPr>
        <p:spPr>
          <a:xfrm>
            <a:off x="6172200" y="233172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19" name="Rounded Rectangle 18"/>
          <p:cNvSpPr/>
          <p:nvPr/>
        </p:nvSpPr>
        <p:spPr>
          <a:xfrm>
            <a:off x="6327648" y="1965960"/>
            <a:ext cx="1783080" cy="1143000"/>
          </a:xfrm>
          <a:prstGeom prst="roundRect">
            <a:avLst>
              <a:gd name="adj" fmla="val 12000"/>
            </a:avLst>
          </a:prstGeom>
          <a:solidFill>
            <a:srgbClr val="4A35FF"/>
          </a:solidFill>
          <a:ln>
            <a:noFill/>
          </a:ln>
          <a:effectLst/>
        </p:spPr>
        <p:txBody>
          <a:bodyPr rtlCol="0" anchor="ctr"/>
          <a:lstStyle/>
          <a:p>
            <a:pPr algn="ctr"/>
          </a:p>
        </p:txBody>
      </p:sp>
      <p:sp>
        <p:nvSpPr>
          <p:cNvPr id="20" name="TextBox 19"/>
          <p:cNvSpPr txBox="1"/>
          <p:nvPr/>
        </p:nvSpPr>
        <p:spPr>
          <a:xfrm>
            <a:off x="6455664" y="2075688"/>
            <a:ext cx="1554480" cy="502920"/>
          </a:xfrm>
          <a:prstGeom prst="rect">
            <a:avLst/>
          </a:prstGeom>
          <a:noFill/>
        </p:spPr>
        <p:txBody>
          <a:bodyPr wrap="square" lIns="0" rIns="0" tIns="0" bIns="0" anchor="t">
            <a:spAutoFit/>
          </a:bodyPr>
          <a:lstStyle/>
          <a:p>
            <a:pPr algn="l">
              <a:lnSpc>
                <a:spcPct val="100000"/>
              </a:lnSpc>
            </a:pPr>
            <a:r>
              <a:rPr sz="2400" b="1" i="0">
                <a:solidFill>
                  <a:srgbClr val="FFFFFF"/>
                </a:solidFill>
                <a:latin typeface="Montserrat"/>
              </a:rPr>
              <a:t>15</a:t>
            </a:r>
          </a:p>
        </p:txBody>
      </p:sp>
      <p:sp>
        <p:nvSpPr>
          <p:cNvPr id="21" name="TextBox 20"/>
          <p:cNvSpPr txBox="1"/>
          <p:nvPr/>
        </p:nvSpPr>
        <p:spPr>
          <a:xfrm>
            <a:off x="6455664" y="2532888"/>
            <a:ext cx="1554480" cy="502920"/>
          </a:xfrm>
          <a:prstGeom prst="rect">
            <a:avLst/>
          </a:prstGeom>
          <a:noFill/>
        </p:spPr>
        <p:txBody>
          <a:bodyPr wrap="square" lIns="0" rIns="0" tIns="0" bIns="0" anchor="t">
            <a:spAutoFit/>
          </a:bodyPr>
          <a:lstStyle/>
          <a:p>
            <a:pPr algn="l">
              <a:lnSpc>
                <a:spcPct val="110000"/>
              </a:lnSpc>
            </a:pPr>
            <a:r>
              <a:rPr sz="850" b="0" i="0">
                <a:solidFill>
                  <a:srgbClr val="FFFFFF"/>
                </a:solidFill>
                <a:latin typeface="Geist"/>
              </a:rPr>
              <a:t>sites in implementation, 7 fully built</a:t>
            </a:r>
          </a:p>
        </p:txBody>
      </p:sp>
      <p:sp>
        <p:nvSpPr>
          <p:cNvPr id="22" name="TextBox 21"/>
          <p:cNvSpPr txBox="1"/>
          <p:nvPr/>
        </p:nvSpPr>
        <p:spPr>
          <a:xfrm>
            <a:off x="566928" y="3310128"/>
            <a:ext cx="7498079" cy="274320"/>
          </a:xfrm>
          <a:prstGeom prst="rect">
            <a:avLst/>
          </a:prstGeom>
          <a:noFill/>
        </p:spPr>
        <p:txBody>
          <a:bodyPr wrap="square" lIns="0" rIns="0" tIns="0" bIns="0" anchor="t">
            <a:spAutoFit/>
          </a:bodyPr>
          <a:lstStyle/>
          <a:p>
            <a:pPr algn="l">
              <a:lnSpc>
                <a:spcPct val="130000"/>
              </a:lnSpc>
            </a:pPr>
            <a:r>
              <a:rPr sz="1000" b="0" i="0">
                <a:solidFill>
                  <a:srgbClr val="6E7180"/>
                </a:solidFill>
                <a:latin typeface="Geist"/>
              </a:rPr>
              <a:t>31 student teams · 20 institutions including nine IITs · 900+ stakeholder surveys · 17 subject-matter experts guiding and reviewing every audit</a:t>
            </a:r>
          </a:p>
        </p:txBody>
      </p:sp>
      <p:sp>
        <p:nvSpPr>
          <p:cNvPr id="23" name="TextBox 22"/>
          <p:cNvSpPr txBox="1"/>
          <p:nvPr/>
        </p:nvSpPr>
        <p:spPr>
          <a:xfrm>
            <a:off x="566928" y="3749039"/>
            <a:ext cx="7498079" cy="685800"/>
          </a:xfrm>
          <a:prstGeom prst="rect">
            <a:avLst/>
          </a:prstGeom>
          <a:noFill/>
        </p:spPr>
        <p:txBody>
          <a:bodyPr wrap="square" lIns="0" rIns="0" tIns="0" bIns="0" anchor="t">
            <a:spAutoFit/>
          </a:bodyPr>
          <a:lstStyle/>
          <a:p>
            <a:pPr algn="l">
              <a:lnSpc>
                <a:spcPct val="135000"/>
              </a:lnSpc>
            </a:pPr>
            <a:r>
              <a:rPr sz="1000" b="0" i="0">
                <a:solidFill>
                  <a:srgbClr val="6E7180"/>
                </a:solidFill>
                <a:latin typeface="Geist"/>
              </a:rPr>
              <a:t>North: Ropar, Dehradun, Roorkee, Delhi, Lucknow, Varanasi · East: Guwahati, Durgapur · West &amp; Central: Indore, Mumbai, Surat · South: Vijayawada, Guntur, Kozhikode, Chennai, among 18 cities.</a:t>
            </a:r>
          </a:p>
        </p:txBody>
      </p:sp>
      <p:sp>
        <p:nvSpPr>
          <p:cNvPr id="24" name="Rounded Rectangle 23"/>
          <p:cNvSpPr/>
          <p:nvPr/>
        </p:nvSpPr>
        <p:spPr>
          <a:xfrm>
            <a:off x="566928" y="4709160"/>
            <a:ext cx="7498079" cy="1188720"/>
          </a:xfrm>
          <a:prstGeom prst="roundRect">
            <a:avLst>
              <a:gd name="adj" fmla="val 10000"/>
            </a:avLst>
          </a:prstGeom>
          <a:solidFill>
            <a:srgbClr val="FDF3E3"/>
          </a:solidFill>
          <a:ln>
            <a:noFill/>
          </a:ln>
          <a:effectLst/>
        </p:spPr>
        <p:txBody>
          <a:bodyPr rtlCol="0" anchor="ctr"/>
          <a:lstStyle/>
          <a:p>
            <a:pPr algn="ctr"/>
          </a:p>
        </p:txBody>
      </p:sp>
      <p:sp>
        <p:nvSpPr>
          <p:cNvPr id="25" name="TextBox 24"/>
          <p:cNvSpPr txBox="1"/>
          <p:nvPr/>
        </p:nvSpPr>
        <p:spPr>
          <a:xfrm>
            <a:off x="768096" y="4846320"/>
            <a:ext cx="7132320" cy="914400"/>
          </a:xfrm>
          <a:prstGeom prst="rect">
            <a:avLst/>
          </a:prstGeom>
          <a:noFill/>
        </p:spPr>
        <p:txBody>
          <a:bodyPr wrap="square" lIns="0" rIns="0" tIns="0" bIns="0" anchor="t">
            <a:spAutoFit/>
          </a:bodyPr>
          <a:lstStyle/>
          <a:p>
            <a:pPr algn="l">
              <a:lnSpc>
                <a:spcPct val="130000"/>
              </a:lnSpc>
            </a:pPr>
            <a:r>
              <a:rPr sz="1050" b="1" i="0">
                <a:solidFill>
                  <a:srgbClr val="E58900"/>
                </a:solidFill>
                <a:latin typeface="Geist"/>
              </a:rPr>
              <a:t>Estimated 20–50% crash reduction at treated sites once complete </a:t>
            </a:r>
            <a:r>
              <a:rPr sz="1050" b="0" i="0">
                <a:solidFill>
                  <a:srgbClr val="E58900"/>
                </a:solidFill>
                <a:latin typeface="Geist"/>
              </a:rPr>
              <a:t>, based on WHO / iRAP evidence for these counter-measures; we will verify with before-and-after data as implementations finish.</a:t>
            </a:r>
          </a:p>
        </p:txBody>
      </p:sp>
      <p:pic>
        <p:nvPicPr>
          <p:cNvPr id="26" name="Picture 25" descr="cfi_map_dots.png"/>
          <p:cNvPicPr>
            <a:picLocks noChangeAspect="1"/>
          </p:cNvPicPr>
          <p:nvPr/>
        </p:nvPicPr>
        <p:blipFill>
          <a:blip r:embed="rId2"/>
          <a:stretch>
            <a:fillRect/>
          </a:stretch>
        </p:blipFill>
        <p:spPr>
          <a:xfrm>
            <a:off x="8321040" y="1920240"/>
            <a:ext cx="3291840" cy="3911357"/>
          </a:xfrm>
          <a:prstGeom prst="rect">
            <a:avLst/>
          </a:prstGeom>
        </p:spPr>
      </p:pic>
      <p:sp>
        <p:nvSpPr>
          <p:cNvPr id="27" name="Rectangle 26"/>
          <p:cNvSpPr/>
          <p:nvPr/>
        </p:nvSpPr>
        <p:spPr>
          <a:xfrm>
            <a:off x="8321040" y="1920240"/>
            <a:ext cx="3291840" cy="3911357"/>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8321040" y="5877317"/>
            <a:ext cx="3291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Cohort-1 sites across India.</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19 / 28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THE PAPER TRAIL</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Approvals </a:t>
            </a:r>
            <a:r>
              <a:rPr sz="2250" b="1" i="0">
                <a:solidFill>
                  <a:srgbClr val="4A35FF"/>
                </a:solidFill>
                <a:latin typeface="Montserrat"/>
              </a:rPr>
              <a:t>in writing</a:t>
            </a:r>
            <a:r>
              <a:rPr sz="2250" b="1" i="0">
                <a:solidFill>
                  <a:srgbClr val="16181D"/>
                </a:solidFill>
                <a:latin typeface="Montserrat"/>
              </a:rPr>
              <a:t>, from the authorities that own the roads</a:t>
            </a:r>
          </a:p>
        </p:txBody>
      </p:sp>
      <p:pic>
        <p:nvPicPr>
          <p:cNvPr id="7" name="Picture 6" descr="Crashzero.png_1.92x2.50_0.00.jpg"/>
          <p:cNvPicPr>
            <a:picLocks noChangeAspect="1"/>
          </p:cNvPicPr>
          <p:nvPr/>
        </p:nvPicPr>
        <p:blipFill>
          <a:blip r:embed="rId2"/>
          <a:stretch>
            <a:fillRect/>
          </a:stretch>
        </p:blipFill>
        <p:spPr>
          <a:xfrm>
            <a:off x="566928" y="1828800"/>
            <a:ext cx="1755648" cy="2286000"/>
          </a:xfrm>
          <a:prstGeom prst="rect">
            <a:avLst/>
          </a:prstGeom>
        </p:spPr>
      </p:pic>
      <p:sp>
        <p:nvSpPr>
          <p:cNvPr id="8" name="Rectangle 7"/>
          <p:cNvSpPr/>
          <p:nvPr/>
        </p:nvSpPr>
        <p:spPr>
          <a:xfrm>
            <a:off x="566928" y="1828800"/>
            <a:ext cx="1755648" cy="2286000"/>
          </a:xfrm>
          <a:prstGeom prst="rect">
            <a:avLst/>
          </a:prstGeom>
          <a:noFill/>
          <a:ln w="12700">
            <a:solidFill>
              <a:srgbClr val="E8E9EE"/>
            </a:solidFill>
          </a:ln>
          <a:effectLst/>
        </p:spPr>
        <p:txBody>
          <a:bodyPr rtlCol="0" anchor="ctr"/>
          <a:lstStyle/>
          <a:p>
            <a:pPr algn="ctr"/>
          </a:p>
        </p:txBody>
      </p:sp>
      <p:pic>
        <p:nvPicPr>
          <p:cNvPr id="9" name="Picture 8" descr="Pathrakshak.png_1.92x2.50_0.00.jpg"/>
          <p:cNvPicPr>
            <a:picLocks noChangeAspect="1"/>
          </p:cNvPicPr>
          <p:nvPr/>
        </p:nvPicPr>
        <p:blipFill>
          <a:blip r:embed="rId3"/>
          <a:stretch>
            <a:fillRect/>
          </a:stretch>
        </p:blipFill>
        <p:spPr>
          <a:xfrm>
            <a:off x="2423160" y="1828800"/>
            <a:ext cx="1755648" cy="2286000"/>
          </a:xfrm>
          <a:prstGeom prst="rect">
            <a:avLst/>
          </a:prstGeom>
        </p:spPr>
      </p:pic>
      <p:sp>
        <p:nvSpPr>
          <p:cNvPr id="10" name="Rectangle 9"/>
          <p:cNvSpPr/>
          <p:nvPr/>
        </p:nvSpPr>
        <p:spPr>
          <a:xfrm>
            <a:off x="2423160" y="1828800"/>
            <a:ext cx="1755648" cy="2286000"/>
          </a:xfrm>
          <a:prstGeom prst="rect">
            <a:avLst/>
          </a:prstGeom>
          <a:noFill/>
          <a:ln w="12700">
            <a:solidFill>
              <a:srgbClr val="E8E9EE"/>
            </a:solidFill>
          </a:ln>
          <a:effectLst/>
        </p:spPr>
        <p:txBody>
          <a:bodyPr rtlCol="0" anchor="ctr"/>
          <a:lstStyle/>
          <a:p>
            <a:pPr algn="ctr"/>
          </a:p>
        </p:txBody>
      </p:sp>
      <p:pic>
        <p:nvPicPr>
          <p:cNvPr id="11" name="Picture 10" descr="Safegrid.png_1.92x2.50_0.00.jpg"/>
          <p:cNvPicPr>
            <a:picLocks noChangeAspect="1"/>
          </p:cNvPicPr>
          <p:nvPr/>
        </p:nvPicPr>
        <p:blipFill>
          <a:blip r:embed="rId4"/>
          <a:stretch>
            <a:fillRect/>
          </a:stretch>
        </p:blipFill>
        <p:spPr>
          <a:xfrm>
            <a:off x="4279392" y="1828800"/>
            <a:ext cx="1755648" cy="2286000"/>
          </a:xfrm>
          <a:prstGeom prst="rect">
            <a:avLst/>
          </a:prstGeom>
        </p:spPr>
      </p:pic>
      <p:sp>
        <p:nvSpPr>
          <p:cNvPr id="12" name="Rectangle 11"/>
          <p:cNvSpPr/>
          <p:nvPr/>
        </p:nvSpPr>
        <p:spPr>
          <a:xfrm>
            <a:off x="4279392" y="1828800"/>
            <a:ext cx="1755648" cy="2286000"/>
          </a:xfrm>
          <a:prstGeom prst="rect">
            <a:avLst/>
          </a:prstGeom>
          <a:noFill/>
          <a:ln w="12700">
            <a:solidFill>
              <a:srgbClr val="E8E9EE"/>
            </a:solidFill>
          </a:ln>
          <a:effectLst/>
        </p:spPr>
        <p:txBody>
          <a:bodyPr rtlCol="0" anchor="ctr"/>
          <a:lstStyle/>
          <a:p>
            <a:pPr algn="ctr"/>
          </a:p>
        </p:txBody>
      </p:sp>
      <p:pic>
        <p:nvPicPr>
          <p:cNvPr id="13" name="Picture 12" descr="Sentinels.png_1.92x2.50_0.00.jpg"/>
          <p:cNvPicPr>
            <a:picLocks noChangeAspect="1"/>
          </p:cNvPicPr>
          <p:nvPr/>
        </p:nvPicPr>
        <p:blipFill>
          <a:blip r:embed="rId5"/>
          <a:stretch>
            <a:fillRect/>
          </a:stretch>
        </p:blipFill>
        <p:spPr>
          <a:xfrm>
            <a:off x="6135624" y="1828800"/>
            <a:ext cx="1755648" cy="2286000"/>
          </a:xfrm>
          <a:prstGeom prst="rect">
            <a:avLst/>
          </a:prstGeom>
        </p:spPr>
      </p:pic>
      <p:sp>
        <p:nvSpPr>
          <p:cNvPr id="14" name="Rectangle 13"/>
          <p:cNvSpPr/>
          <p:nvPr/>
        </p:nvSpPr>
        <p:spPr>
          <a:xfrm>
            <a:off x="6135624" y="1828800"/>
            <a:ext cx="1755648" cy="2286000"/>
          </a:xfrm>
          <a:prstGeom prst="rect">
            <a:avLst/>
          </a:prstGeom>
          <a:noFill/>
          <a:ln w="12700">
            <a:solidFill>
              <a:srgbClr val="E8E9EE"/>
            </a:solidFill>
          </a:ln>
          <a:effectLst/>
        </p:spPr>
        <p:txBody>
          <a:bodyPr rtlCol="0" anchor="ctr"/>
          <a:lstStyle/>
          <a:p>
            <a:pPr algn="ctr"/>
          </a:p>
        </p:txBody>
      </p:sp>
      <p:pic>
        <p:nvPicPr>
          <p:cNvPr id="15" name="Picture 14" descr="Vision_Zero_Squad.png_1.92x2.50_0.00.jpg"/>
          <p:cNvPicPr>
            <a:picLocks noChangeAspect="1"/>
          </p:cNvPicPr>
          <p:nvPr/>
        </p:nvPicPr>
        <p:blipFill>
          <a:blip r:embed="rId6"/>
          <a:stretch>
            <a:fillRect/>
          </a:stretch>
        </p:blipFill>
        <p:spPr>
          <a:xfrm>
            <a:off x="7991856" y="1828800"/>
            <a:ext cx="1755648" cy="2286000"/>
          </a:xfrm>
          <a:prstGeom prst="rect">
            <a:avLst/>
          </a:prstGeom>
        </p:spPr>
      </p:pic>
      <p:sp>
        <p:nvSpPr>
          <p:cNvPr id="16" name="Rectangle 15"/>
          <p:cNvSpPr/>
          <p:nvPr/>
        </p:nvSpPr>
        <p:spPr>
          <a:xfrm>
            <a:off x="7991856" y="1828800"/>
            <a:ext cx="1755648" cy="2286000"/>
          </a:xfrm>
          <a:prstGeom prst="rect">
            <a:avLst/>
          </a:prstGeom>
          <a:noFill/>
          <a:ln w="12700">
            <a:solidFill>
              <a:srgbClr val="E8E9EE"/>
            </a:solidFill>
          </a:ln>
          <a:effectLst/>
        </p:spPr>
        <p:txBody>
          <a:bodyPr rtlCol="0" anchor="ctr"/>
          <a:lstStyle/>
          <a:p>
            <a:pPr algn="ctr"/>
          </a:p>
        </p:txBody>
      </p:sp>
      <p:pic>
        <p:nvPicPr>
          <p:cNvPr id="17" name="Picture 16" descr="Visioneers.png_1.92x2.50_0.00.jpg"/>
          <p:cNvPicPr>
            <a:picLocks noChangeAspect="1"/>
          </p:cNvPicPr>
          <p:nvPr/>
        </p:nvPicPr>
        <p:blipFill>
          <a:blip r:embed="rId7"/>
          <a:stretch>
            <a:fillRect/>
          </a:stretch>
        </p:blipFill>
        <p:spPr>
          <a:xfrm>
            <a:off x="9848088" y="1828800"/>
            <a:ext cx="1755648" cy="2286000"/>
          </a:xfrm>
          <a:prstGeom prst="rect">
            <a:avLst/>
          </a:prstGeom>
        </p:spPr>
      </p:pic>
      <p:sp>
        <p:nvSpPr>
          <p:cNvPr id="18" name="Rectangle 17"/>
          <p:cNvSpPr/>
          <p:nvPr/>
        </p:nvSpPr>
        <p:spPr>
          <a:xfrm>
            <a:off x="9848088" y="1828800"/>
            <a:ext cx="1755648" cy="2286000"/>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566928" y="4297680"/>
            <a:ext cx="11057839"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A sample of the 25+ approval and acknowledgement letters issued by public works and district authorities.</a:t>
            </a:r>
          </a:p>
        </p:txBody>
      </p:sp>
      <p:sp>
        <p:nvSpPr>
          <p:cNvPr id="20" name="TextBox 19"/>
          <p:cNvSpPr txBox="1"/>
          <p:nvPr/>
        </p:nvSpPr>
        <p:spPr>
          <a:xfrm>
            <a:off x="566928" y="4681728"/>
            <a:ext cx="3017520" cy="237744"/>
          </a:xfrm>
          <a:prstGeom prst="rect">
            <a:avLst/>
          </a:prstGeom>
          <a:noFill/>
        </p:spPr>
        <p:txBody>
          <a:bodyPr wrap="square" lIns="0" rIns="0" tIns="0" bIns="0" anchor="t">
            <a:spAutoFit/>
          </a:bodyPr>
          <a:lstStyle/>
          <a:p>
            <a:pPr algn="l">
              <a:lnSpc>
                <a:spcPct val="128000"/>
              </a:lnSpc>
            </a:pPr>
            <a:r>
              <a:rPr sz="850" b="1" i="0" spc="160">
                <a:solidFill>
                  <a:srgbClr val="6E7180"/>
                </a:solidFill>
                <a:latin typeface="Montserrat"/>
              </a:rPr>
              <a:t>APPROVING AUTHORITIES INCLUDE</a:t>
            </a:r>
          </a:p>
        </p:txBody>
      </p:sp>
      <p:sp>
        <p:nvSpPr>
          <p:cNvPr id="21" name="Rounded Rectangle 20"/>
          <p:cNvSpPr/>
          <p:nvPr/>
        </p:nvSpPr>
        <p:spPr>
          <a:xfrm>
            <a:off x="566928" y="4974336"/>
            <a:ext cx="2139696" cy="384048"/>
          </a:xfrm>
          <a:prstGeom prst="roundRect">
            <a:avLst>
              <a:gd name="adj" fmla="val 50000"/>
            </a:avLst>
          </a:prstGeom>
          <a:solidFill>
            <a:srgbClr val="E9F7F0"/>
          </a:solidFill>
          <a:ln>
            <a:noFill/>
          </a:ln>
          <a:effectLst/>
        </p:spPr>
        <p:txBody>
          <a:bodyPr rtlCol="0" anchor="ctr"/>
          <a:lstStyle/>
          <a:p>
            <a:pPr algn="ctr"/>
          </a:p>
        </p:txBody>
      </p:sp>
      <p:sp>
        <p:nvSpPr>
          <p:cNvPr id="22" name="TextBox 21"/>
          <p:cNvSpPr txBox="1"/>
          <p:nvPr/>
        </p:nvSpPr>
        <p:spPr>
          <a:xfrm>
            <a:off x="585216" y="49743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PWD Kerala</a:t>
            </a:r>
          </a:p>
        </p:txBody>
      </p:sp>
      <p:sp>
        <p:nvSpPr>
          <p:cNvPr id="23" name="Rounded Rectangle 22"/>
          <p:cNvSpPr/>
          <p:nvPr/>
        </p:nvSpPr>
        <p:spPr>
          <a:xfrm>
            <a:off x="2779776" y="4974336"/>
            <a:ext cx="2139696" cy="384048"/>
          </a:xfrm>
          <a:prstGeom prst="roundRect">
            <a:avLst>
              <a:gd name="adj" fmla="val 50000"/>
            </a:avLst>
          </a:prstGeom>
          <a:solidFill>
            <a:srgbClr val="E9F7F0"/>
          </a:solidFill>
          <a:ln>
            <a:noFill/>
          </a:ln>
          <a:effectLst/>
        </p:spPr>
        <p:txBody>
          <a:bodyPr rtlCol="0" anchor="ctr"/>
          <a:lstStyle/>
          <a:p>
            <a:pPr algn="ctr"/>
          </a:p>
        </p:txBody>
      </p:sp>
      <p:sp>
        <p:nvSpPr>
          <p:cNvPr id="24" name="TextBox 23"/>
          <p:cNvSpPr txBox="1"/>
          <p:nvPr/>
        </p:nvSpPr>
        <p:spPr>
          <a:xfrm>
            <a:off x="2798064" y="49743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PWD Uttar Pradesh</a:t>
            </a:r>
          </a:p>
        </p:txBody>
      </p:sp>
      <p:sp>
        <p:nvSpPr>
          <p:cNvPr id="25" name="Rounded Rectangle 24"/>
          <p:cNvSpPr/>
          <p:nvPr/>
        </p:nvSpPr>
        <p:spPr>
          <a:xfrm>
            <a:off x="4992624" y="4974336"/>
            <a:ext cx="2139696" cy="384048"/>
          </a:xfrm>
          <a:prstGeom prst="roundRect">
            <a:avLst>
              <a:gd name="adj" fmla="val 50000"/>
            </a:avLst>
          </a:prstGeom>
          <a:solidFill>
            <a:srgbClr val="E9F7F0"/>
          </a:solidFill>
          <a:ln>
            <a:noFill/>
          </a:ln>
          <a:effectLst/>
        </p:spPr>
        <p:txBody>
          <a:bodyPr rtlCol="0" anchor="ctr"/>
          <a:lstStyle/>
          <a:p>
            <a:pPr algn="ctr"/>
          </a:p>
        </p:txBody>
      </p:sp>
      <p:sp>
        <p:nvSpPr>
          <p:cNvPr id="26" name="TextBox 25"/>
          <p:cNvSpPr txBox="1"/>
          <p:nvPr/>
        </p:nvSpPr>
        <p:spPr>
          <a:xfrm>
            <a:off x="5010912" y="49743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PWD Punjab</a:t>
            </a:r>
          </a:p>
        </p:txBody>
      </p:sp>
      <p:sp>
        <p:nvSpPr>
          <p:cNvPr id="27" name="Rounded Rectangle 26"/>
          <p:cNvSpPr/>
          <p:nvPr/>
        </p:nvSpPr>
        <p:spPr>
          <a:xfrm>
            <a:off x="7205472" y="4974336"/>
            <a:ext cx="2139696" cy="384048"/>
          </a:xfrm>
          <a:prstGeom prst="roundRect">
            <a:avLst>
              <a:gd name="adj" fmla="val 50000"/>
            </a:avLst>
          </a:prstGeom>
          <a:solidFill>
            <a:srgbClr val="E9F7F0"/>
          </a:solidFill>
          <a:ln>
            <a:noFill/>
          </a:ln>
          <a:effectLst/>
        </p:spPr>
        <p:txBody>
          <a:bodyPr rtlCol="0" anchor="ctr"/>
          <a:lstStyle/>
          <a:p>
            <a:pPr algn="ctr"/>
          </a:p>
        </p:txBody>
      </p:sp>
      <p:sp>
        <p:nvSpPr>
          <p:cNvPr id="28" name="TextBox 27"/>
          <p:cNvSpPr txBox="1"/>
          <p:nvPr/>
        </p:nvSpPr>
        <p:spPr>
          <a:xfrm>
            <a:off x="7223760" y="49743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CPWD + Addl. Collector, Indore</a:t>
            </a:r>
          </a:p>
        </p:txBody>
      </p:sp>
      <p:sp>
        <p:nvSpPr>
          <p:cNvPr id="29" name="Rounded Rectangle 28"/>
          <p:cNvSpPr/>
          <p:nvPr/>
        </p:nvSpPr>
        <p:spPr>
          <a:xfrm>
            <a:off x="566928" y="5431536"/>
            <a:ext cx="2139696" cy="384048"/>
          </a:xfrm>
          <a:prstGeom prst="roundRect">
            <a:avLst>
              <a:gd name="adj" fmla="val 50000"/>
            </a:avLst>
          </a:prstGeom>
          <a:solidFill>
            <a:srgbClr val="E9F7F0"/>
          </a:solidFill>
          <a:ln>
            <a:noFill/>
          </a:ln>
          <a:effectLst/>
        </p:spPr>
        <p:txBody>
          <a:bodyPr rtlCol="0" anchor="ctr"/>
          <a:lstStyle/>
          <a:p>
            <a:pPr algn="ctr"/>
          </a:p>
        </p:txBody>
      </p:sp>
      <p:sp>
        <p:nvSpPr>
          <p:cNvPr id="30" name="TextBox 29"/>
          <p:cNvSpPr txBox="1"/>
          <p:nvPr/>
        </p:nvSpPr>
        <p:spPr>
          <a:xfrm>
            <a:off x="585216" y="54315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ADDA Durgapur</a:t>
            </a:r>
          </a:p>
        </p:txBody>
      </p:sp>
      <p:sp>
        <p:nvSpPr>
          <p:cNvPr id="31" name="Rounded Rectangle 30"/>
          <p:cNvSpPr/>
          <p:nvPr/>
        </p:nvSpPr>
        <p:spPr>
          <a:xfrm>
            <a:off x="2779776" y="5431536"/>
            <a:ext cx="2139696" cy="384048"/>
          </a:xfrm>
          <a:prstGeom prst="roundRect">
            <a:avLst>
              <a:gd name="adj" fmla="val 50000"/>
            </a:avLst>
          </a:prstGeom>
          <a:solidFill>
            <a:srgbClr val="E9F7F0"/>
          </a:solidFill>
          <a:ln>
            <a:noFill/>
          </a:ln>
          <a:effectLst/>
        </p:spPr>
        <p:txBody>
          <a:bodyPr rtlCol="0" anchor="ctr"/>
          <a:lstStyle/>
          <a:p>
            <a:pPr algn="ctr"/>
          </a:p>
        </p:txBody>
      </p:sp>
      <p:sp>
        <p:nvSpPr>
          <p:cNvPr id="32" name="TextBox 31"/>
          <p:cNvSpPr txBox="1"/>
          <p:nvPr/>
        </p:nvSpPr>
        <p:spPr>
          <a:xfrm>
            <a:off x="2798064" y="54315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R&amp;B Andhra Pradesh</a:t>
            </a:r>
          </a:p>
        </p:txBody>
      </p:sp>
      <p:sp>
        <p:nvSpPr>
          <p:cNvPr id="33" name="Rounded Rectangle 32"/>
          <p:cNvSpPr/>
          <p:nvPr/>
        </p:nvSpPr>
        <p:spPr>
          <a:xfrm>
            <a:off x="4992624" y="5431536"/>
            <a:ext cx="2139696" cy="384048"/>
          </a:xfrm>
          <a:prstGeom prst="roundRect">
            <a:avLst>
              <a:gd name="adj" fmla="val 50000"/>
            </a:avLst>
          </a:prstGeom>
          <a:solidFill>
            <a:srgbClr val="E9F7F0"/>
          </a:solidFill>
          <a:ln>
            <a:noFill/>
          </a:ln>
          <a:effectLst/>
        </p:spPr>
        <p:txBody>
          <a:bodyPr rtlCol="0" anchor="ctr"/>
          <a:lstStyle/>
          <a:p>
            <a:pPr algn="ctr"/>
          </a:p>
        </p:txBody>
      </p:sp>
      <p:sp>
        <p:nvSpPr>
          <p:cNvPr id="34" name="TextBox 33"/>
          <p:cNvSpPr txBox="1"/>
          <p:nvPr/>
        </p:nvSpPr>
        <p:spPr>
          <a:xfrm>
            <a:off x="5010912" y="54315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GCC Chennai</a:t>
            </a:r>
          </a:p>
        </p:txBody>
      </p:sp>
      <p:sp>
        <p:nvSpPr>
          <p:cNvPr id="35" name="Rounded Rectangle 34"/>
          <p:cNvSpPr/>
          <p:nvPr/>
        </p:nvSpPr>
        <p:spPr>
          <a:xfrm>
            <a:off x="7205472" y="5431536"/>
            <a:ext cx="2139696" cy="384048"/>
          </a:xfrm>
          <a:prstGeom prst="roundRect">
            <a:avLst>
              <a:gd name="adj" fmla="val 50000"/>
            </a:avLst>
          </a:prstGeom>
          <a:solidFill>
            <a:srgbClr val="E9F7F0"/>
          </a:solidFill>
          <a:ln>
            <a:noFill/>
          </a:ln>
          <a:effectLst/>
        </p:spPr>
        <p:txBody>
          <a:bodyPr rtlCol="0" anchor="ctr"/>
          <a:lstStyle/>
          <a:p>
            <a:pPr algn="ctr"/>
          </a:p>
        </p:txBody>
      </p:sp>
      <p:sp>
        <p:nvSpPr>
          <p:cNvPr id="36" name="TextBox 35"/>
          <p:cNvSpPr txBox="1"/>
          <p:nvPr/>
        </p:nvSpPr>
        <p:spPr>
          <a:xfrm>
            <a:off x="7223760" y="54315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BMC Mumbai</a:t>
            </a:r>
          </a:p>
        </p:txBody>
      </p:sp>
      <p:sp>
        <p:nvSpPr>
          <p:cNvPr id="37" name="Rounded Rectangle 36"/>
          <p:cNvSpPr/>
          <p:nvPr/>
        </p:nvSpPr>
        <p:spPr>
          <a:xfrm>
            <a:off x="9555480" y="4892040"/>
            <a:ext cx="100584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8" name="Picture 37" descr="lg_pwd.png"/>
          <p:cNvPicPr>
            <a:picLocks noChangeAspect="1"/>
          </p:cNvPicPr>
          <p:nvPr/>
        </p:nvPicPr>
        <p:blipFill>
          <a:blip r:embed="rId8"/>
          <a:stretch>
            <a:fillRect/>
          </a:stretch>
        </p:blipFill>
        <p:spPr>
          <a:xfrm>
            <a:off x="9796696" y="5001768"/>
            <a:ext cx="523407" cy="347472"/>
          </a:xfrm>
          <a:prstGeom prst="rect">
            <a:avLst/>
          </a:prstGeom>
        </p:spPr>
      </p:pic>
      <p:sp>
        <p:nvSpPr>
          <p:cNvPr id="39" name="Rounded Rectangle 38"/>
          <p:cNvSpPr/>
          <p:nvPr/>
        </p:nvSpPr>
        <p:spPr>
          <a:xfrm>
            <a:off x="10625328" y="4892040"/>
            <a:ext cx="100584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0" name="Picture 39" descr="lg_nhai.png"/>
          <p:cNvPicPr>
            <a:picLocks noChangeAspect="1"/>
          </p:cNvPicPr>
          <p:nvPr/>
        </p:nvPicPr>
        <p:blipFill>
          <a:blip r:embed="rId9"/>
          <a:stretch>
            <a:fillRect/>
          </a:stretch>
        </p:blipFill>
        <p:spPr>
          <a:xfrm>
            <a:off x="10864762" y="5001768"/>
            <a:ext cx="526971" cy="347472"/>
          </a:xfrm>
          <a:prstGeom prst="rect">
            <a:avLst/>
          </a:prstGeom>
        </p:spPr>
      </p:pic>
      <p:sp>
        <p:nvSpPr>
          <p:cNvPr id="41" name="Rounded Rectangle 40"/>
          <p:cNvSpPr/>
          <p:nvPr/>
        </p:nvSpPr>
        <p:spPr>
          <a:xfrm>
            <a:off x="9555480" y="5504688"/>
            <a:ext cx="100584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2" name="Picture 41" descr="lg_indore_nn.png"/>
          <p:cNvPicPr>
            <a:picLocks noChangeAspect="1"/>
          </p:cNvPicPr>
          <p:nvPr/>
        </p:nvPicPr>
        <p:blipFill>
          <a:blip r:embed="rId10"/>
          <a:stretch>
            <a:fillRect/>
          </a:stretch>
        </p:blipFill>
        <p:spPr>
          <a:xfrm>
            <a:off x="9909629" y="5614416"/>
            <a:ext cx="297542" cy="347472"/>
          </a:xfrm>
          <a:prstGeom prst="rect">
            <a:avLst/>
          </a:prstGeom>
        </p:spPr>
      </p:pic>
      <p:sp>
        <p:nvSpPr>
          <p:cNvPr id="43" name="Rounded Rectangle 42"/>
          <p:cNvSpPr/>
          <p:nvPr/>
        </p:nvSpPr>
        <p:spPr>
          <a:xfrm>
            <a:off x="10625328" y="5504688"/>
            <a:ext cx="100584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4" name="Picture 43" descr="lg_dlsa.png"/>
          <p:cNvPicPr>
            <a:picLocks noChangeAspect="1"/>
          </p:cNvPicPr>
          <p:nvPr/>
        </p:nvPicPr>
        <p:blipFill>
          <a:blip r:embed="rId11"/>
          <a:stretch>
            <a:fillRect/>
          </a:stretch>
        </p:blipFill>
        <p:spPr>
          <a:xfrm>
            <a:off x="10980420" y="5614416"/>
            <a:ext cx="295656" cy="347472"/>
          </a:xfrm>
          <a:prstGeom prst="rect">
            <a:avLst/>
          </a:prstGeom>
        </p:spPr>
      </p:pic>
      <p:cxnSp>
        <p:nvCxnSpPr>
          <p:cNvPr id="45" name="Connector 44"/>
          <p:cNvCxnSpPr/>
          <p:nvPr/>
        </p:nvCxnSpPr>
        <p:spPr>
          <a:xfrm>
            <a:off x="566928" y="6455664"/>
            <a:ext cx="11057839" cy="0"/>
          </a:xfrm>
          <a:prstGeom prst="line">
            <a:avLst/>
          </a:prstGeom>
          <a:ln w="9525">
            <a:solidFill>
              <a:srgbClr val="E8E9EE"/>
            </a:solidFill>
          </a:ln>
          <a:effectLst/>
        </p:spPr>
      </p:cxnSp>
      <p:sp>
        <p:nvSpPr>
          <p:cNvPr id="46" name="TextBox 4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47" name="TextBox 4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20 / 28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ON THE GROUND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From approval to construction, </a:t>
            </a:r>
            <a:r>
              <a:rPr sz="2250" b="1" i="0">
                <a:solidFill>
                  <a:srgbClr val="4A35FF"/>
                </a:solidFill>
                <a:latin typeface="Montserrat"/>
              </a:rPr>
              <a:t>and to completion</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Live status from our public implementation tracker, August 2026.</a:t>
            </a:r>
          </a:p>
        </p:txBody>
      </p:sp>
      <p:pic>
        <p:nvPicPr>
          <p:cNvPr id="8" name="Picture 7" descr="iv_durgapur_parking.png_2.60x1.75_0.35.jpg"/>
          <p:cNvPicPr>
            <a:picLocks noChangeAspect="1"/>
          </p:cNvPicPr>
          <p:nvPr/>
        </p:nvPicPr>
        <p:blipFill>
          <a:blip r:embed="rId2"/>
          <a:stretch>
            <a:fillRect/>
          </a:stretch>
        </p:blipFill>
        <p:spPr>
          <a:xfrm>
            <a:off x="566928" y="2011680"/>
            <a:ext cx="2377440" cy="1600200"/>
          </a:xfrm>
          <a:prstGeom prst="rect">
            <a:avLst/>
          </a:prstGeom>
        </p:spPr>
      </p:pic>
      <p:sp>
        <p:nvSpPr>
          <p:cNvPr id="9" name="Rectangle 8"/>
          <p:cNvSpPr/>
          <p:nvPr/>
        </p:nvSpPr>
        <p:spPr>
          <a:xfrm>
            <a:off x="566928" y="2011680"/>
            <a:ext cx="2377440" cy="16002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3657600"/>
            <a:ext cx="2377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Parking rationalisation, Durgapur</a:t>
            </a:r>
          </a:p>
        </p:txBody>
      </p:sp>
      <p:pic>
        <p:nvPicPr>
          <p:cNvPr id="11" name="Picture 10" descr="iv_guntur_markings.png_2.60x1.75_0.40.jpg"/>
          <p:cNvPicPr>
            <a:picLocks noChangeAspect="1"/>
          </p:cNvPicPr>
          <p:nvPr/>
        </p:nvPicPr>
        <p:blipFill>
          <a:blip r:embed="rId3"/>
          <a:stretch>
            <a:fillRect/>
          </a:stretch>
        </p:blipFill>
        <p:spPr>
          <a:xfrm>
            <a:off x="3054096" y="2011680"/>
            <a:ext cx="2377440" cy="1600200"/>
          </a:xfrm>
          <a:prstGeom prst="rect">
            <a:avLst/>
          </a:prstGeom>
        </p:spPr>
      </p:pic>
      <p:sp>
        <p:nvSpPr>
          <p:cNvPr id="12" name="Rectangle 11"/>
          <p:cNvSpPr/>
          <p:nvPr/>
        </p:nvSpPr>
        <p:spPr>
          <a:xfrm>
            <a:off x="3054096" y="2011680"/>
            <a:ext cx="2377440" cy="1600200"/>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3054096" y="3657600"/>
            <a:ext cx="2377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Fresh markings, Guntur</a:t>
            </a:r>
          </a:p>
        </p:txBody>
      </p:sp>
      <p:pic>
        <p:nvPicPr>
          <p:cNvPr id="14" name="Picture 13" descr="iv_indore_footpath.png_2.60x1.75_0.40.jpg"/>
          <p:cNvPicPr>
            <a:picLocks noChangeAspect="1"/>
          </p:cNvPicPr>
          <p:nvPr/>
        </p:nvPicPr>
        <p:blipFill>
          <a:blip r:embed="rId4"/>
          <a:stretch>
            <a:fillRect/>
          </a:stretch>
        </p:blipFill>
        <p:spPr>
          <a:xfrm>
            <a:off x="566928" y="4023360"/>
            <a:ext cx="2377440" cy="1600200"/>
          </a:xfrm>
          <a:prstGeom prst="rect">
            <a:avLst/>
          </a:prstGeom>
        </p:spPr>
      </p:pic>
      <p:sp>
        <p:nvSpPr>
          <p:cNvPr id="15" name="Rectangle 14"/>
          <p:cNvSpPr/>
          <p:nvPr/>
        </p:nvSpPr>
        <p:spPr>
          <a:xfrm>
            <a:off x="566928" y="4023360"/>
            <a:ext cx="2377440" cy="1600200"/>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566928" y="5669280"/>
            <a:ext cx="2377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Footpath construction, Indore</a:t>
            </a:r>
          </a:p>
        </p:txBody>
      </p:sp>
      <p:pic>
        <p:nvPicPr>
          <p:cNvPr id="17" name="Picture 16" descr="iv_mumbai_signage.png_2.60x1.75_0.35.jpg"/>
          <p:cNvPicPr>
            <a:picLocks noChangeAspect="1"/>
          </p:cNvPicPr>
          <p:nvPr/>
        </p:nvPicPr>
        <p:blipFill>
          <a:blip r:embed="rId5"/>
          <a:stretch>
            <a:fillRect/>
          </a:stretch>
        </p:blipFill>
        <p:spPr>
          <a:xfrm>
            <a:off x="3054096" y="4023360"/>
            <a:ext cx="2377440" cy="1600200"/>
          </a:xfrm>
          <a:prstGeom prst="rect">
            <a:avLst/>
          </a:prstGeom>
        </p:spPr>
      </p:pic>
      <p:sp>
        <p:nvSpPr>
          <p:cNvPr id="18" name="Rectangle 17"/>
          <p:cNvSpPr/>
          <p:nvPr/>
        </p:nvSpPr>
        <p:spPr>
          <a:xfrm>
            <a:off x="3054096" y="4023360"/>
            <a:ext cx="2377440" cy="1600200"/>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3054096" y="5669280"/>
            <a:ext cx="2377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Signage, Mumbai</a:t>
            </a:r>
          </a:p>
        </p:txBody>
      </p:sp>
      <p:sp>
        <p:nvSpPr>
          <p:cNvPr id="20" name="Rounded Rectangle 19"/>
          <p:cNvSpPr/>
          <p:nvPr/>
        </p:nvSpPr>
        <p:spPr>
          <a:xfrm>
            <a:off x="5669280" y="2011680"/>
            <a:ext cx="5943600" cy="1572768"/>
          </a:xfrm>
          <a:prstGeom prst="roundRect">
            <a:avLst>
              <a:gd name="adj" fmla="val 8000"/>
            </a:avLst>
          </a:prstGeom>
          <a:solidFill>
            <a:srgbClr val="E9F7F0"/>
          </a:solidFill>
          <a:ln>
            <a:noFill/>
          </a:ln>
          <a:effectLst/>
        </p:spPr>
        <p:txBody>
          <a:bodyPr rtlCol="0" anchor="ctr"/>
          <a:lstStyle/>
          <a:p>
            <a:pPr algn="ctr"/>
          </a:p>
        </p:txBody>
      </p:sp>
      <p:sp>
        <p:nvSpPr>
          <p:cNvPr id="21" name="TextBox 20"/>
          <p:cNvSpPr txBox="1"/>
          <p:nvPr/>
        </p:nvSpPr>
        <p:spPr>
          <a:xfrm>
            <a:off x="5870448" y="2139696"/>
            <a:ext cx="5577840" cy="274320"/>
          </a:xfrm>
          <a:prstGeom prst="rect">
            <a:avLst/>
          </a:prstGeom>
          <a:noFill/>
        </p:spPr>
        <p:txBody>
          <a:bodyPr wrap="square" lIns="0" rIns="0" tIns="0" bIns="0" anchor="t">
            <a:spAutoFit/>
          </a:bodyPr>
          <a:lstStyle/>
          <a:p>
            <a:pPr algn="l">
              <a:lnSpc>
                <a:spcPct val="128000"/>
              </a:lnSpc>
            </a:pPr>
            <a:r>
              <a:rPr sz="1300" b="1" i="0">
                <a:solidFill>
                  <a:srgbClr val="0A9955"/>
                </a:solidFill>
                <a:latin typeface="Geist"/>
              </a:rPr>
              <a:t>7 sites fully implemented</a:t>
            </a:r>
          </a:p>
        </p:txBody>
      </p:sp>
      <p:sp>
        <p:nvSpPr>
          <p:cNvPr id="22" name="TextBox 21"/>
          <p:cNvSpPr txBox="1"/>
          <p:nvPr/>
        </p:nvSpPr>
        <p:spPr>
          <a:xfrm>
            <a:off x="5870448" y="2487168"/>
            <a:ext cx="5577840" cy="1005840"/>
          </a:xfrm>
          <a:prstGeom prst="rect">
            <a:avLst/>
          </a:prstGeom>
          <a:noFill/>
        </p:spPr>
        <p:txBody>
          <a:bodyPr wrap="square" lIns="0" rIns="0" tIns="0" bIns="0" anchor="t">
            <a:spAutoFit/>
          </a:bodyPr>
          <a:lstStyle/>
          <a:p>
            <a:pPr algn="l">
              <a:lnSpc>
                <a:spcPct val="135000"/>
              </a:lnSpc>
            </a:pPr>
            <a:r>
              <a:rPr sz="950" b="0" i="0">
                <a:solidFill>
                  <a:srgbClr val="16181D"/>
                </a:solidFill>
                <a:latin typeface="Geist"/>
              </a:rPr>
              <a:t>Outer Ring Road (Delhi) · IIT Madras Taramani Gate (Chennai) · Dafi Toll Plaza (Varanasi) · Akurli Road Underpass (Mumbai) · C-49 Commercial Area (Durgapur) · Chuttugunta Circle (Guntur) · Rau Gol Square (Indore)</a:t>
            </a:r>
          </a:p>
        </p:txBody>
      </p:sp>
      <p:sp>
        <p:nvSpPr>
          <p:cNvPr id="23" name="Rounded Rectangle 22"/>
          <p:cNvSpPr/>
          <p:nvPr/>
        </p:nvSpPr>
        <p:spPr>
          <a:xfrm>
            <a:off x="5669280" y="3730752"/>
            <a:ext cx="5943600" cy="868680"/>
          </a:xfrm>
          <a:prstGeom prst="roundRect">
            <a:avLst>
              <a:gd name="adj" fmla="val 8000"/>
            </a:avLst>
          </a:prstGeom>
          <a:solidFill>
            <a:srgbClr val="F7F7FA"/>
          </a:solidFill>
          <a:ln>
            <a:noFill/>
          </a:ln>
          <a:effectLst/>
        </p:spPr>
        <p:txBody>
          <a:bodyPr rtlCol="0" anchor="ctr"/>
          <a:lstStyle/>
          <a:p>
            <a:pPr algn="ctr"/>
          </a:p>
        </p:txBody>
      </p:sp>
      <p:sp>
        <p:nvSpPr>
          <p:cNvPr id="24" name="TextBox 23"/>
          <p:cNvSpPr txBox="1"/>
          <p:nvPr/>
        </p:nvSpPr>
        <p:spPr>
          <a:xfrm>
            <a:off x="5870448" y="3840480"/>
            <a:ext cx="5577840" cy="640080"/>
          </a:xfrm>
          <a:prstGeom prst="rect">
            <a:avLst/>
          </a:prstGeom>
          <a:noFill/>
        </p:spPr>
        <p:txBody>
          <a:bodyPr wrap="square" lIns="0" rIns="0" tIns="0" bIns="0" anchor="t">
            <a:spAutoFit/>
          </a:bodyPr>
          <a:lstStyle/>
          <a:p>
            <a:pPr algn="l">
              <a:lnSpc>
                <a:spcPct val="130000"/>
              </a:lnSpc>
            </a:pPr>
            <a:r>
              <a:rPr sz="950" b="1" i="0">
                <a:solidFill>
                  <a:srgbClr val="4A35FF"/>
                </a:solidFill>
                <a:latin typeface="Geist"/>
              </a:rPr>
              <a:t>6 more partially implemented </a:t>
            </a:r>
            <a:r>
              <a:rPr sz="950" b="0" i="0">
                <a:solidFill>
                  <a:srgbClr val="6E7180"/>
                </a:solidFill>
                <a:latin typeface="Geist"/>
              </a:rPr>
              <a:t>: Kunnamangalam &amp; Chevayur (Kozhikode), TIDEL Park (Chennai), Shivpur (Varanasi), Tejaji Nagar (Indore), Civil Lines (Roorkee); action initiated at further sites.</a:t>
            </a:r>
          </a:p>
        </p:txBody>
      </p:sp>
      <p:sp>
        <p:nvSpPr>
          <p:cNvPr id="25" name="Rounded Rectangle 24"/>
          <p:cNvSpPr/>
          <p:nvPr/>
        </p:nvSpPr>
        <p:spPr>
          <a:xfrm>
            <a:off x="5669280" y="4736592"/>
            <a:ext cx="5943600" cy="118872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6" name="TextBox 25"/>
          <p:cNvSpPr txBox="1"/>
          <p:nvPr/>
        </p:nvSpPr>
        <p:spPr>
          <a:xfrm>
            <a:off x="5870448" y="4846320"/>
            <a:ext cx="5577840" cy="274320"/>
          </a:xfrm>
          <a:prstGeom prst="rect">
            <a:avLst/>
          </a:prstGeom>
          <a:noFill/>
        </p:spPr>
        <p:txBody>
          <a:bodyPr wrap="square" lIns="0" rIns="0" tIns="0" bIns="0" anchor="t">
            <a:spAutoFit/>
          </a:bodyPr>
          <a:lstStyle/>
          <a:p>
            <a:pPr algn="l">
              <a:lnSpc>
                <a:spcPct val="128000"/>
              </a:lnSpc>
            </a:pPr>
            <a:r>
              <a:rPr sz="850" b="1" i="0" spc="120">
                <a:solidFill>
                  <a:srgbClr val="4A35FF"/>
                </a:solidFill>
                <a:latin typeface="Montserrat"/>
              </a:rPr>
              <a:t>MARQUEE CASE, OUTER RING ROAD, SOUTH DELHI</a:t>
            </a:r>
          </a:p>
        </p:txBody>
      </p:sp>
      <p:sp>
        <p:nvSpPr>
          <p:cNvPr id="27" name="TextBox 26"/>
          <p:cNvSpPr txBox="1"/>
          <p:nvPr/>
        </p:nvSpPr>
        <p:spPr>
          <a:xfrm>
            <a:off x="5870448" y="5138928"/>
            <a:ext cx="5577840" cy="731520"/>
          </a:xfrm>
          <a:prstGeom prst="rect">
            <a:avLst/>
          </a:prstGeom>
          <a:noFill/>
        </p:spPr>
        <p:txBody>
          <a:bodyPr wrap="square" lIns="0" rIns="0" tIns="0" bIns="0" anchor="t">
            <a:spAutoFit/>
          </a:bodyPr>
          <a:lstStyle/>
          <a:p>
            <a:pPr algn="l">
              <a:lnSpc>
                <a:spcPct val="130000"/>
              </a:lnSpc>
            </a:pPr>
            <a:r>
              <a:rPr sz="950" b="0" i="0">
                <a:solidFill>
                  <a:srgbClr val="16181D"/>
                </a:solidFill>
                <a:latin typeface="Geist"/>
              </a:rPr>
              <a:t>On our audit, PWD built a continuous 1.8 m accessible pedestrian corridor, upgraded drainage at ponding sites, installed bollards against footpath encroachment, and deployed camera-backed speed-feedback boards.</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21 / 28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TRANSPARENCY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public dashboard tracks </a:t>
            </a:r>
            <a:r>
              <a:rPr sz="2250" b="1" i="0">
                <a:solidFill>
                  <a:srgbClr val="4A35FF"/>
                </a:solidFill>
                <a:latin typeface="Montserrat"/>
              </a:rPr>
              <a:t>every site to completion</a:t>
            </a:r>
          </a:p>
        </p:txBody>
      </p:sp>
      <p:pic>
        <p:nvPicPr>
          <p:cNvPr id="7" name="Picture 6" descr="opt_rakshak_dashboard_full_1500.jpg"/>
          <p:cNvPicPr>
            <a:picLocks noChangeAspect="1"/>
          </p:cNvPicPr>
          <p:nvPr/>
        </p:nvPicPr>
        <p:blipFill>
          <a:blip r:embed="rId2"/>
          <a:stretch>
            <a:fillRect/>
          </a:stretch>
        </p:blipFill>
        <p:spPr>
          <a:xfrm>
            <a:off x="566928" y="1810512"/>
            <a:ext cx="6949440" cy="3085551"/>
          </a:xfrm>
          <a:prstGeom prst="rect">
            <a:avLst/>
          </a:prstGeom>
        </p:spPr>
      </p:pic>
      <p:sp>
        <p:nvSpPr>
          <p:cNvPr id="8" name="Rectangle 7"/>
          <p:cNvSpPr/>
          <p:nvPr/>
        </p:nvSpPr>
        <p:spPr>
          <a:xfrm>
            <a:off x="566928" y="1810512"/>
            <a:ext cx="6949440" cy="3085551"/>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4941783"/>
            <a:ext cx="6949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Live public dashboard, every site, its authority, risk level and implementation stage.</a:t>
            </a:r>
          </a:p>
        </p:txBody>
      </p:sp>
      <p:sp>
        <p:nvSpPr>
          <p:cNvPr id="10" name="Oval 9"/>
          <p:cNvSpPr/>
          <p:nvPr/>
        </p:nvSpPr>
        <p:spPr>
          <a:xfrm>
            <a:off x="7818120" y="1874519"/>
            <a:ext cx="384048" cy="384048"/>
          </a:xfrm>
          <a:prstGeom prst="ellipse">
            <a:avLst/>
          </a:prstGeom>
          <a:solidFill>
            <a:srgbClr val="EFEDFF"/>
          </a:solidFill>
          <a:ln>
            <a:noFill/>
          </a:ln>
          <a:effectLst/>
        </p:spPr>
        <p:txBody>
          <a:bodyPr rtlCol="0" anchor="ctr"/>
          <a:lstStyle/>
          <a:p>
            <a:pPr algn="ctr"/>
          </a:p>
        </p:txBody>
      </p:sp>
      <p:pic>
        <p:nvPicPr>
          <p:cNvPr id="11" name="Picture 10" descr="route_4A35FF_256_2.0.png"/>
          <p:cNvPicPr>
            <a:picLocks noChangeAspect="1"/>
          </p:cNvPicPr>
          <p:nvPr/>
        </p:nvPicPr>
        <p:blipFill>
          <a:blip r:embed="rId3"/>
          <a:stretch>
            <a:fillRect/>
          </a:stretch>
        </p:blipFill>
        <p:spPr>
          <a:xfrm>
            <a:off x="7910291" y="1966690"/>
            <a:ext cx="199704" cy="199704"/>
          </a:xfrm>
          <a:prstGeom prst="rect">
            <a:avLst/>
          </a:prstGeom>
        </p:spPr>
      </p:pic>
      <p:sp>
        <p:nvSpPr>
          <p:cNvPr id="12" name="TextBox 11"/>
          <p:cNvSpPr txBox="1"/>
          <p:nvPr/>
        </p:nvSpPr>
        <p:spPr>
          <a:xfrm>
            <a:off x="8348472" y="1847087"/>
            <a:ext cx="329184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Every site tracked</a:t>
            </a:r>
          </a:p>
        </p:txBody>
      </p:sp>
      <p:sp>
        <p:nvSpPr>
          <p:cNvPr id="13" name="TextBox 12"/>
          <p:cNvSpPr txBox="1"/>
          <p:nvPr/>
        </p:nvSpPr>
        <p:spPr>
          <a:xfrm>
            <a:off x="8348472" y="2148839"/>
            <a:ext cx="329184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From submission through approval to completed construction, regardless of who audited it.</a:t>
            </a:r>
          </a:p>
        </p:txBody>
      </p:sp>
      <p:sp>
        <p:nvSpPr>
          <p:cNvPr id="14" name="Oval 13"/>
          <p:cNvSpPr/>
          <p:nvPr/>
        </p:nvSpPr>
        <p:spPr>
          <a:xfrm>
            <a:off x="7818120" y="3246119"/>
            <a:ext cx="384048" cy="384048"/>
          </a:xfrm>
          <a:prstGeom prst="ellipse">
            <a:avLst/>
          </a:prstGeom>
          <a:solidFill>
            <a:srgbClr val="E7F4F4"/>
          </a:solidFill>
          <a:ln>
            <a:noFill/>
          </a:ln>
          <a:effectLst/>
        </p:spPr>
        <p:txBody>
          <a:bodyPr rtlCol="0" anchor="ctr"/>
          <a:lstStyle/>
          <a:p>
            <a:pPr algn="ctr"/>
          </a:p>
        </p:txBody>
      </p:sp>
      <p:pic>
        <p:nvPicPr>
          <p:cNvPr id="15" name="Picture 14" descr="git-compare_0E8A8A_256_2.0.png"/>
          <p:cNvPicPr>
            <a:picLocks noChangeAspect="1"/>
          </p:cNvPicPr>
          <p:nvPr/>
        </p:nvPicPr>
        <p:blipFill>
          <a:blip r:embed="rId4"/>
          <a:stretch>
            <a:fillRect/>
          </a:stretch>
        </p:blipFill>
        <p:spPr>
          <a:xfrm>
            <a:off x="7910291" y="3338290"/>
            <a:ext cx="199704" cy="199704"/>
          </a:xfrm>
          <a:prstGeom prst="rect">
            <a:avLst/>
          </a:prstGeom>
        </p:spPr>
      </p:pic>
      <p:sp>
        <p:nvSpPr>
          <p:cNvPr id="16" name="TextBox 15"/>
          <p:cNvSpPr txBox="1"/>
          <p:nvPr/>
        </p:nvSpPr>
        <p:spPr>
          <a:xfrm>
            <a:off x="8348472" y="3218687"/>
            <a:ext cx="329184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The PRAGATI parallel</a:t>
            </a:r>
          </a:p>
        </p:txBody>
      </p:sp>
      <p:sp>
        <p:nvSpPr>
          <p:cNvPr id="17" name="TextBox 16"/>
          <p:cNvSpPr txBox="1"/>
          <p:nvPr/>
        </p:nvSpPr>
        <p:spPr>
          <a:xfrm>
            <a:off x="8348472" y="3520439"/>
            <a:ext cx="329184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The PM's PRAGATI platform showed what visible follow-up does for stuck projects. Same principle here, for road safety fixes.</a:t>
            </a:r>
          </a:p>
        </p:txBody>
      </p:sp>
      <p:sp>
        <p:nvSpPr>
          <p:cNvPr id="18" name="Oval 17"/>
          <p:cNvSpPr/>
          <p:nvPr/>
        </p:nvSpPr>
        <p:spPr>
          <a:xfrm>
            <a:off x="7818120" y="4617719"/>
            <a:ext cx="384048" cy="384048"/>
          </a:xfrm>
          <a:prstGeom prst="ellipse">
            <a:avLst/>
          </a:prstGeom>
          <a:solidFill>
            <a:srgbClr val="E9F7F0"/>
          </a:solidFill>
          <a:ln>
            <a:noFill/>
          </a:ln>
          <a:effectLst/>
        </p:spPr>
        <p:txBody>
          <a:bodyPr rtlCol="0" anchor="ctr"/>
          <a:lstStyle/>
          <a:p>
            <a:pPr algn="ctr"/>
          </a:p>
        </p:txBody>
      </p:sp>
      <p:pic>
        <p:nvPicPr>
          <p:cNvPr id="19" name="Picture 18" descr="eye_0A9955_256_2.0.png"/>
          <p:cNvPicPr>
            <a:picLocks noChangeAspect="1"/>
          </p:cNvPicPr>
          <p:nvPr/>
        </p:nvPicPr>
        <p:blipFill>
          <a:blip r:embed="rId5"/>
          <a:stretch>
            <a:fillRect/>
          </a:stretch>
        </p:blipFill>
        <p:spPr>
          <a:xfrm>
            <a:off x="7910291" y="4709890"/>
            <a:ext cx="199704" cy="199704"/>
          </a:xfrm>
          <a:prstGeom prst="rect">
            <a:avLst/>
          </a:prstGeom>
        </p:spPr>
      </p:pic>
      <p:sp>
        <p:nvSpPr>
          <p:cNvPr id="20" name="TextBox 19"/>
          <p:cNvSpPr txBox="1"/>
          <p:nvPr/>
        </p:nvSpPr>
        <p:spPr>
          <a:xfrm>
            <a:off x="8348472" y="4590287"/>
            <a:ext cx="329184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What the Board gains</a:t>
            </a:r>
          </a:p>
        </p:txBody>
      </p:sp>
      <p:sp>
        <p:nvSpPr>
          <p:cNvPr id="21" name="TextBox 20"/>
          <p:cNvSpPr txBox="1"/>
          <p:nvPr/>
        </p:nvSpPr>
        <p:spPr>
          <a:xfrm>
            <a:off x="8348472" y="4892039"/>
            <a:ext cx="329184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An honest, live read on how quickly road-owning agencies can act, evidence for capacity planning, not just compliance.</a:t>
            </a:r>
          </a:p>
        </p:txBody>
      </p:sp>
      <p:cxnSp>
        <p:nvCxnSpPr>
          <p:cNvPr id="22" name="Connector 21"/>
          <p:cNvCxnSpPr/>
          <p:nvPr/>
        </p:nvCxnSpPr>
        <p:spPr>
          <a:xfrm>
            <a:off x="566928" y="6455664"/>
            <a:ext cx="11057839" cy="0"/>
          </a:xfrm>
          <a:prstGeom prst="line">
            <a:avLst/>
          </a:prstGeom>
          <a:ln w="9525">
            <a:solidFill>
              <a:srgbClr val="E8E9EE"/>
            </a:solidFill>
          </a:ln>
          <a:effectLst/>
        </p:spPr>
      </p:cxnSp>
      <p:sp>
        <p:nvSpPr>
          <p:cNvPr id="23" name="TextBox 2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24" name="TextBox 2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22 / 28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METHOD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Anchored to the codes </a:t>
            </a:r>
            <a:r>
              <a:rPr sz="2250" b="1" i="0">
                <a:solidFill>
                  <a:srgbClr val="4A35FF"/>
                </a:solidFill>
                <a:latin typeface="Montserrat"/>
              </a:rPr>
              <a:t>your engineers already use</a:t>
            </a:r>
          </a:p>
        </p:txBody>
      </p:sp>
      <p:sp>
        <p:nvSpPr>
          <p:cNvPr id="7" name="Oval 6"/>
          <p:cNvSpPr/>
          <p:nvPr/>
        </p:nvSpPr>
        <p:spPr>
          <a:xfrm>
            <a:off x="566928" y="1920240"/>
            <a:ext cx="365760" cy="365760"/>
          </a:xfrm>
          <a:prstGeom prst="ellipse">
            <a:avLst/>
          </a:prstGeom>
          <a:solidFill>
            <a:srgbClr val="EFEDFF"/>
          </a:solidFill>
          <a:ln>
            <a:noFill/>
          </a:ln>
          <a:effectLst/>
        </p:spPr>
        <p:txBody>
          <a:bodyPr rtlCol="0" anchor="ctr"/>
          <a:lstStyle/>
          <a:p>
            <a:pPr algn="ctr"/>
          </a:p>
        </p:txBody>
      </p:sp>
      <p:pic>
        <p:nvPicPr>
          <p:cNvPr id="8" name="Picture 7" descr="book-check_4A35FF_256_2.0.png"/>
          <p:cNvPicPr>
            <a:picLocks noChangeAspect="1"/>
          </p:cNvPicPr>
          <p:nvPr/>
        </p:nvPicPr>
        <p:blipFill>
          <a:blip r:embed="rId2"/>
          <a:stretch>
            <a:fillRect/>
          </a:stretch>
        </p:blipFill>
        <p:spPr>
          <a:xfrm>
            <a:off x="654710" y="2008022"/>
            <a:ext cx="190195" cy="190195"/>
          </a:xfrm>
          <a:prstGeom prst="rect">
            <a:avLst/>
          </a:prstGeom>
        </p:spPr>
      </p:pic>
      <p:sp>
        <p:nvSpPr>
          <p:cNvPr id="9" name="TextBox 8"/>
          <p:cNvSpPr txBox="1"/>
          <p:nvPr/>
        </p:nvSpPr>
        <p:spPr>
          <a:xfrm>
            <a:off x="1097280" y="190195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IRC codes &amp; MoRTH checklists</a:t>
            </a:r>
          </a:p>
        </p:txBody>
      </p:sp>
      <p:sp>
        <p:nvSpPr>
          <p:cNvPr id="10" name="TextBox 9"/>
          <p:cNvSpPr txBox="1"/>
          <p:nvPr/>
        </p:nvSpPr>
        <p:spPr>
          <a:xfrm>
            <a:off x="3566160" y="190195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Every audit instrument is built on them, nothing bespoke, nothing incompatible.</a:t>
            </a:r>
          </a:p>
        </p:txBody>
      </p:sp>
      <p:sp>
        <p:nvSpPr>
          <p:cNvPr id="11" name="Oval 10"/>
          <p:cNvSpPr/>
          <p:nvPr/>
        </p:nvSpPr>
        <p:spPr>
          <a:xfrm>
            <a:off x="566928" y="2788920"/>
            <a:ext cx="365760" cy="365760"/>
          </a:xfrm>
          <a:prstGeom prst="ellipse">
            <a:avLst/>
          </a:prstGeom>
          <a:solidFill>
            <a:srgbClr val="E9F7F0"/>
          </a:solidFill>
          <a:ln>
            <a:noFill/>
          </a:ln>
          <a:effectLst/>
        </p:spPr>
        <p:txBody>
          <a:bodyPr rtlCol="0" anchor="ctr"/>
          <a:lstStyle/>
          <a:p>
            <a:pPr algn="ctr"/>
          </a:p>
        </p:txBody>
      </p:sp>
      <p:pic>
        <p:nvPicPr>
          <p:cNvPr id="12" name="Picture 11" descr="link_0A9955_256_2.0.png"/>
          <p:cNvPicPr>
            <a:picLocks noChangeAspect="1"/>
          </p:cNvPicPr>
          <p:nvPr/>
        </p:nvPicPr>
        <p:blipFill>
          <a:blip r:embed="rId3"/>
          <a:stretch>
            <a:fillRect/>
          </a:stretch>
        </p:blipFill>
        <p:spPr>
          <a:xfrm>
            <a:off x="654710" y="2876702"/>
            <a:ext cx="190195" cy="190195"/>
          </a:xfrm>
          <a:prstGeom prst="rect">
            <a:avLst/>
          </a:prstGeom>
        </p:spPr>
      </p:pic>
      <p:sp>
        <p:nvSpPr>
          <p:cNvPr id="13" name="TextBox 12"/>
          <p:cNvSpPr txBox="1"/>
          <p:nvPr/>
        </p:nvSpPr>
        <p:spPr>
          <a:xfrm>
            <a:off x="1097280" y="277063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Expert review at every step</a:t>
            </a:r>
          </a:p>
        </p:txBody>
      </p:sp>
      <p:sp>
        <p:nvSpPr>
          <p:cNvPr id="14" name="TextBox 13"/>
          <p:cNvSpPr txBox="1"/>
          <p:nvPr/>
        </p:nvSpPr>
        <p:spPr>
          <a:xfrm>
            <a:off x="3566160" y="277063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Prof. Geetam Tiwari (TRIP Centre, IIT Delhi) chairs our advisory work; every instrument is expert-reviewed before field use.</a:t>
            </a:r>
          </a:p>
        </p:txBody>
      </p:sp>
      <p:sp>
        <p:nvSpPr>
          <p:cNvPr id="15" name="Oval 14"/>
          <p:cNvSpPr/>
          <p:nvPr/>
        </p:nvSpPr>
        <p:spPr>
          <a:xfrm>
            <a:off x="566928" y="3657600"/>
            <a:ext cx="365760" cy="365760"/>
          </a:xfrm>
          <a:prstGeom prst="ellipse">
            <a:avLst/>
          </a:prstGeom>
          <a:solidFill>
            <a:srgbClr val="FDF3E3"/>
          </a:solidFill>
          <a:ln>
            <a:noFill/>
          </a:ln>
          <a:effectLst/>
        </p:spPr>
        <p:txBody>
          <a:bodyPr rtlCol="0" anchor="ctr"/>
          <a:lstStyle/>
          <a:p>
            <a:pPr algn="ctr"/>
          </a:p>
        </p:txBody>
      </p:sp>
      <p:pic>
        <p:nvPicPr>
          <p:cNvPr id="16" name="Picture 15" descr="graduation-cap_E58900_256_2.0.png"/>
          <p:cNvPicPr>
            <a:picLocks noChangeAspect="1"/>
          </p:cNvPicPr>
          <p:nvPr/>
        </p:nvPicPr>
        <p:blipFill>
          <a:blip r:embed="rId4"/>
          <a:stretch>
            <a:fillRect/>
          </a:stretch>
        </p:blipFill>
        <p:spPr>
          <a:xfrm>
            <a:off x="654710" y="3745382"/>
            <a:ext cx="190195" cy="190195"/>
          </a:xfrm>
          <a:prstGeom prst="rect">
            <a:avLst/>
          </a:prstGeom>
        </p:spPr>
      </p:pic>
      <p:sp>
        <p:nvSpPr>
          <p:cNvPr id="17" name="TextBox 16"/>
          <p:cNvSpPr txBox="1"/>
          <p:nvPr/>
        </p:nvSpPr>
        <p:spPr>
          <a:xfrm>
            <a:off x="1097280" y="36393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Masterclasses before fieldwork</a:t>
            </a:r>
          </a:p>
        </p:txBody>
      </p:sp>
      <p:sp>
        <p:nvSpPr>
          <p:cNvPr id="18" name="TextBox 17"/>
          <p:cNvSpPr txBox="1"/>
          <p:nvPr/>
        </p:nvSpPr>
        <p:spPr>
          <a:xfrm>
            <a:off x="3566160" y="36393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Prof. Tiwari on the Safe System approach; Dr. S. Velmurugan (CSIR-CRRI) on IRC-131 and SP-55.</a:t>
            </a:r>
          </a:p>
        </p:txBody>
      </p:sp>
      <p:sp>
        <p:nvSpPr>
          <p:cNvPr id="19" name="Oval 18"/>
          <p:cNvSpPr/>
          <p:nvPr/>
        </p:nvSpPr>
        <p:spPr>
          <a:xfrm>
            <a:off x="566928" y="4526280"/>
            <a:ext cx="365760" cy="365760"/>
          </a:xfrm>
          <a:prstGeom prst="ellipse">
            <a:avLst/>
          </a:prstGeom>
          <a:solidFill>
            <a:srgbClr val="E7F4F4"/>
          </a:solidFill>
          <a:ln>
            <a:noFill/>
          </a:ln>
          <a:effectLst/>
        </p:spPr>
        <p:txBody>
          <a:bodyPr rtlCol="0" anchor="ctr"/>
          <a:lstStyle/>
          <a:p>
            <a:pPr algn="ctr"/>
          </a:p>
        </p:txBody>
      </p:sp>
      <p:pic>
        <p:nvPicPr>
          <p:cNvPr id="20" name="Picture 19" descr="file-output_0E8A8A_256_2.0.png"/>
          <p:cNvPicPr>
            <a:picLocks noChangeAspect="1"/>
          </p:cNvPicPr>
          <p:nvPr/>
        </p:nvPicPr>
        <p:blipFill>
          <a:blip r:embed="rId5"/>
          <a:stretch>
            <a:fillRect/>
          </a:stretch>
        </p:blipFill>
        <p:spPr>
          <a:xfrm>
            <a:off x="654710" y="4614062"/>
            <a:ext cx="190195" cy="190195"/>
          </a:xfrm>
          <a:prstGeom prst="rect">
            <a:avLst/>
          </a:prstGeom>
        </p:spPr>
      </p:pic>
      <p:sp>
        <p:nvSpPr>
          <p:cNvPr id="21" name="TextBox 20"/>
          <p:cNvSpPr txBox="1"/>
          <p:nvPr/>
        </p:nvSpPr>
        <p:spPr>
          <a:xfrm>
            <a:off x="1097280" y="45079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Handover in the authority's format</a:t>
            </a:r>
          </a:p>
        </p:txBody>
      </p:sp>
      <p:sp>
        <p:nvSpPr>
          <p:cNvPr id="22" name="TextBox 21"/>
          <p:cNvSpPr txBox="1"/>
          <p:nvPr/>
        </p:nvSpPr>
        <p:spPr>
          <a:xfrm>
            <a:off x="3566160" y="450799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Findings arrive as the PWD or corporation needs them, ready to action, tracked publicly after.</a:t>
            </a:r>
          </a:p>
        </p:txBody>
      </p:sp>
      <p:pic>
        <p:nvPicPr>
          <p:cNvPr id="23" name="Picture 22" descr="ph_auth_roundtable.jpeg_4.20x2.50_0.30.jpg"/>
          <p:cNvPicPr>
            <a:picLocks noChangeAspect="1"/>
          </p:cNvPicPr>
          <p:nvPr/>
        </p:nvPicPr>
        <p:blipFill>
          <a:blip r:embed="rId6"/>
          <a:stretch>
            <a:fillRect/>
          </a:stretch>
        </p:blipFill>
        <p:spPr>
          <a:xfrm>
            <a:off x="7772400" y="1920240"/>
            <a:ext cx="3840480" cy="2286000"/>
          </a:xfrm>
          <a:prstGeom prst="rect">
            <a:avLst/>
          </a:prstGeom>
        </p:spPr>
      </p:pic>
      <p:sp>
        <p:nvSpPr>
          <p:cNvPr id="24" name="Rectangle 23"/>
          <p:cNvSpPr/>
          <p:nvPr/>
        </p:nvSpPr>
        <p:spPr>
          <a:xfrm>
            <a:off x="7772400" y="1920240"/>
            <a:ext cx="3840480" cy="2286000"/>
          </a:xfrm>
          <a:prstGeom prst="rect">
            <a:avLst/>
          </a:prstGeom>
          <a:noFill/>
          <a:ln w="12700">
            <a:solidFill>
              <a:srgbClr val="E8E9EE"/>
            </a:solidFill>
          </a:ln>
          <a:effectLst/>
        </p:spPr>
        <p:txBody>
          <a:bodyPr rtlCol="0" anchor="ctr"/>
          <a:lstStyle/>
          <a:p>
            <a:pPr algn="ctr"/>
          </a:p>
        </p:txBody>
      </p:sp>
      <p:sp>
        <p:nvSpPr>
          <p:cNvPr id="25" name="TextBox 24"/>
          <p:cNvSpPr txBox="1"/>
          <p:nvPr/>
        </p:nvSpPr>
        <p:spPr>
          <a:xfrm>
            <a:off x="7772400" y="4251960"/>
            <a:ext cx="38404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Authority engagement is continuous, audit teams present to the engineers who own the road.</a:t>
            </a:r>
          </a:p>
        </p:txBody>
      </p:sp>
      <p:pic>
        <p:nvPicPr>
          <p:cNvPr id="26" name="Picture 25" descr="ph_auth_handover.jpeg_4.20x1.55_0.20.jpg"/>
          <p:cNvPicPr>
            <a:picLocks noChangeAspect="1"/>
          </p:cNvPicPr>
          <p:nvPr/>
        </p:nvPicPr>
        <p:blipFill>
          <a:blip r:embed="rId7"/>
          <a:stretch>
            <a:fillRect/>
          </a:stretch>
        </p:blipFill>
        <p:spPr>
          <a:xfrm>
            <a:off x="7772400" y="4663440"/>
            <a:ext cx="3840480" cy="1417320"/>
          </a:xfrm>
          <a:prstGeom prst="rect">
            <a:avLst/>
          </a:prstGeom>
        </p:spPr>
      </p:pic>
      <p:sp>
        <p:nvSpPr>
          <p:cNvPr id="27" name="Rectangle 26"/>
          <p:cNvSpPr/>
          <p:nvPr/>
        </p:nvSpPr>
        <p:spPr>
          <a:xfrm>
            <a:off x="7772400" y="4663440"/>
            <a:ext cx="3840480" cy="1417320"/>
          </a:xfrm>
          <a:prstGeom prst="rect">
            <a:avLst/>
          </a:prstGeom>
          <a:noFill/>
          <a:ln w="12700">
            <a:solidFill>
              <a:srgbClr val="E8E9EE"/>
            </a:solidFill>
          </a:ln>
          <a:effectLst/>
        </p:spPr>
        <p:txBody>
          <a:bodyPr rtlCol="0" anchor="ctr"/>
          <a:lstStyle/>
          <a:p>
            <a:pPr algn="ct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23 / 28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THE EXPERT LAYER</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Seventeen experts work with us on </a:t>
            </a:r>
            <a:r>
              <a:rPr sz="2250" b="1" i="0">
                <a:solidFill>
                  <a:srgbClr val="4A35FF"/>
                </a:solidFill>
                <a:latin typeface="Montserrat"/>
              </a:rPr>
              <a:t>infrastructure improvement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Academics and practitioners who guide the student teams through fieldwork and independently review every audit before it reaches an authority.</a:t>
            </a:r>
          </a:p>
        </p:txBody>
      </p:sp>
      <p:sp>
        <p:nvSpPr>
          <p:cNvPr id="8" name="Oval 7"/>
          <p:cNvSpPr/>
          <p:nvPr/>
        </p:nvSpPr>
        <p:spPr>
          <a:xfrm>
            <a:off x="1207008" y="2121408"/>
            <a:ext cx="512064" cy="512064"/>
          </a:xfrm>
          <a:prstGeom prst="ellipse">
            <a:avLst/>
          </a:prstGeom>
          <a:solidFill>
            <a:srgbClr val="EFEDFF"/>
          </a:solidFill>
          <a:ln>
            <a:noFill/>
          </a:ln>
          <a:effectLst/>
        </p:spPr>
        <p:txBody>
          <a:bodyPr rtlCol="0" anchor="ctr"/>
          <a:lstStyle/>
          <a:p>
            <a:pPr algn="ctr"/>
          </a:p>
        </p:txBody>
      </p:sp>
      <p:sp>
        <p:nvSpPr>
          <p:cNvPr id="9" name="TextBox 8"/>
          <p:cNvSpPr txBox="1"/>
          <p:nvPr/>
        </p:nvSpPr>
        <p:spPr>
          <a:xfrm>
            <a:off x="1207008" y="2103120"/>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AK</a:t>
            </a:r>
          </a:p>
        </p:txBody>
      </p:sp>
      <p:sp>
        <p:nvSpPr>
          <p:cNvPr id="10" name="TextBox 9"/>
          <p:cNvSpPr txBox="1"/>
          <p:nvPr/>
        </p:nvSpPr>
        <p:spPr>
          <a:xfrm>
            <a:off x="566928" y="2670048"/>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Amandeep Kumar</a:t>
            </a:r>
          </a:p>
        </p:txBody>
      </p:sp>
      <p:sp>
        <p:nvSpPr>
          <p:cNvPr id="11" name="TextBox 10"/>
          <p:cNvSpPr txBox="1"/>
          <p:nvPr/>
        </p:nvSpPr>
        <p:spPr>
          <a:xfrm>
            <a:off x="566928" y="2980944"/>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Urban Transport Planner, KPMG</a:t>
            </a:r>
          </a:p>
        </p:txBody>
      </p:sp>
      <p:sp>
        <p:nvSpPr>
          <p:cNvPr id="12" name="Oval 11"/>
          <p:cNvSpPr/>
          <p:nvPr/>
        </p:nvSpPr>
        <p:spPr>
          <a:xfrm>
            <a:off x="3049524" y="2121408"/>
            <a:ext cx="512064" cy="512064"/>
          </a:xfrm>
          <a:prstGeom prst="ellipse">
            <a:avLst/>
          </a:prstGeom>
          <a:solidFill>
            <a:srgbClr val="EFEDFF"/>
          </a:solidFill>
          <a:ln>
            <a:noFill/>
          </a:ln>
          <a:effectLst/>
        </p:spPr>
        <p:txBody>
          <a:bodyPr rtlCol="0" anchor="ctr"/>
          <a:lstStyle/>
          <a:p>
            <a:pPr algn="ctr"/>
          </a:p>
        </p:txBody>
      </p:sp>
      <p:sp>
        <p:nvSpPr>
          <p:cNvPr id="13" name="TextBox 12"/>
          <p:cNvSpPr txBox="1"/>
          <p:nvPr/>
        </p:nvSpPr>
        <p:spPr>
          <a:xfrm>
            <a:off x="3049524" y="2103120"/>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AB</a:t>
            </a:r>
          </a:p>
        </p:txBody>
      </p:sp>
      <p:sp>
        <p:nvSpPr>
          <p:cNvPr id="14" name="TextBox 13"/>
          <p:cNvSpPr txBox="1"/>
          <p:nvPr/>
        </p:nvSpPr>
        <p:spPr>
          <a:xfrm>
            <a:off x="2409444" y="2670048"/>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Dr. AVA Bharat Kumar</a:t>
            </a:r>
          </a:p>
        </p:txBody>
      </p:sp>
      <p:sp>
        <p:nvSpPr>
          <p:cNvPr id="15" name="TextBox 14"/>
          <p:cNvSpPr txBox="1"/>
          <p:nvPr/>
        </p:nvSpPr>
        <p:spPr>
          <a:xfrm>
            <a:off x="2409444" y="2980944"/>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Asst Prof., Vignan University</a:t>
            </a:r>
          </a:p>
        </p:txBody>
      </p:sp>
      <p:sp>
        <p:nvSpPr>
          <p:cNvPr id="16" name="Oval 15"/>
          <p:cNvSpPr/>
          <p:nvPr/>
        </p:nvSpPr>
        <p:spPr>
          <a:xfrm>
            <a:off x="4892040" y="2121408"/>
            <a:ext cx="512064" cy="512064"/>
          </a:xfrm>
          <a:prstGeom prst="ellipse">
            <a:avLst/>
          </a:prstGeom>
          <a:solidFill>
            <a:srgbClr val="EFEDFF"/>
          </a:solidFill>
          <a:ln>
            <a:noFill/>
          </a:ln>
          <a:effectLst/>
        </p:spPr>
        <p:txBody>
          <a:bodyPr rtlCol="0" anchor="ctr"/>
          <a:lstStyle/>
          <a:p>
            <a:pPr algn="ctr"/>
          </a:p>
        </p:txBody>
      </p:sp>
      <p:sp>
        <p:nvSpPr>
          <p:cNvPr id="17" name="TextBox 16"/>
          <p:cNvSpPr txBox="1"/>
          <p:nvPr/>
        </p:nvSpPr>
        <p:spPr>
          <a:xfrm>
            <a:off x="4892040" y="2103120"/>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AS</a:t>
            </a:r>
          </a:p>
        </p:txBody>
      </p:sp>
      <p:sp>
        <p:nvSpPr>
          <p:cNvPr id="18" name="TextBox 17"/>
          <p:cNvSpPr txBox="1"/>
          <p:nvPr/>
        </p:nvSpPr>
        <p:spPr>
          <a:xfrm>
            <a:off x="4251960" y="2670048"/>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Asha SVT</a:t>
            </a:r>
          </a:p>
        </p:txBody>
      </p:sp>
      <p:sp>
        <p:nvSpPr>
          <p:cNvPr id="19" name="TextBox 18"/>
          <p:cNvSpPr txBox="1"/>
          <p:nvPr/>
        </p:nvSpPr>
        <p:spPr>
          <a:xfrm>
            <a:off x="4251960" y="2980944"/>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Ph.D. Scholar, IIT Delhi</a:t>
            </a:r>
          </a:p>
        </p:txBody>
      </p:sp>
      <p:sp>
        <p:nvSpPr>
          <p:cNvPr id="20" name="Oval 19"/>
          <p:cNvSpPr/>
          <p:nvPr/>
        </p:nvSpPr>
        <p:spPr>
          <a:xfrm>
            <a:off x="6734556" y="2121408"/>
            <a:ext cx="512064" cy="512064"/>
          </a:xfrm>
          <a:prstGeom prst="ellipse">
            <a:avLst/>
          </a:prstGeom>
          <a:solidFill>
            <a:srgbClr val="EFEDFF"/>
          </a:solidFill>
          <a:ln>
            <a:noFill/>
          </a:ln>
          <a:effectLst/>
        </p:spPr>
        <p:txBody>
          <a:bodyPr rtlCol="0" anchor="ctr"/>
          <a:lstStyle/>
          <a:p>
            <a:pPr algn="ctr"/>
          </a:p>
        </p:txBody>
      </p:sp>
      <p:sp>
        <p:nvSpPr>
          <p:cNvPr id="21" name="TextBox 20"/>
          <p:cNvSpPr txBox="1"/>
          <p:nvPr/>
        </p:nvSpPr>
        <p:spPr>
          <a:xfrm>
            <a:off x="6734556" y="2103120"/>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PK</a:t>
            </a:r>
          </a:p>
        </p:txBody>
      </p:sp>
      <p:sp>
        <p:nvSpPr>
          <p:cNvPr id="22" name="TextBox 21"/>
          <p:cNvSpPr txBox="1"/>
          <p:nvPr/>
        </p:nvSpPr>
        <p:spPr>
          <a:xfrm>
            <a:off x="6094476" y="2670048"/>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Parveen Kumar</a:t>
            </a:r>
          </a:p>
        </p:txBody>
      </p:sp>
      <p:sp>
        <p:nvSpPr>
          <p:cNvPr id="23" name="TextBox 22"/>
          <p:cNvSpPr txBox="1"/>
          <p:nvPr/>
        </p:nvSpPr>
        <p:spPr>
          <a:xfrm>
            <a:off x="6094476" y="2980944"/>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Ph.D., IIT Delhi</a:t>
            </a:r>
          </a:p>
        </p:txBody>
      </p:sp>
      <p:sp>
        <p:nvSpPr>
          <p:cNvPr id="24" name="Oval 23"/>
          <p:cNvSpPr/>
          <p:nvPr/>
        </p:nvSpPr>
        <p:spPr>
          <a:xfrm>
            <a:off x="8577072" y="2121408"/>
            <a:ext cx="512064" cy="512064"/>
          </a:xfrm>
          <a:prstGeom prst="ellipse">
            <a:avLst/>
          </a:prstGeom>
          <a:solidFill>
            <a:srgbClr val="EFEDFF"/>
          </a:solidFill>
          <a:ln>
            <a:noFill/>
          </a:ln>
          <a:effectLst/>
        </p:spPr>
        <p:txBody>
          <a:bodyPr rtlCol="0" anchor="ctr"/>
          <a:lstStyle/>
          <a:p>
            <a:pPr algn="ctr"/>
          </a:p>
        </p:txBody>
      </p:sp>
      <p:sp>
        <p:nvSpPr>
          <p:cNvPr id="25" name="TextBox 24"/>
          <p:cNvSpPr txBox="1"/>
          <p:nvPr/>
        </p:nvSpPr>
        <p:spPr>
          <a:xfrm>
            <a:off x="8577072" y="2103120"/>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RK</a:t>
            </a:r>
          </a:p>
        </p:txBody>
      </p:sp>
      <p:sp>
        <p:nvSpPr>
          <p:cNvPr id="26" name="TextBox 25"/>
          <p:cNvSpPr txBox="1"/>
          <p:nvPr/>
        </p:nvSpPr>
        <p:spPr>
          <a:xfrm>
            <a:off x="7936992" y="2670048"/>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Rashmeet Kaur</a:t>
            </a:r>
          </a:p>
        </p:txBody>
      </p:sp>
      <p:sp>
        <p:nvSpPr>
          <p:cNvPr id="27" name="TextBox 26"/>
          <p:cNvSpPr txBox="1"/>
          <p:nvPr/>
        </p:nvSpPr>
        <p:spPr>
          <a:xfrm>
            <a:off x="7936992" y="2980944"/>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Ph.D., IIT Delhi</a:t>
            </a:r>
          </a:p>
        </p:txBody>
      </p:sp>
      <p:sp>
        <p:nvSpPr>
          <p:cNvPr id="28" name="Oval 27"/>
          <p:cNvSpPr/>
          <p:nvPr/>
        </p:nvSpPr>
        <p:spPr>
          <a:xfrm>
            <a:off x="10419588" y="2121408"/>
            <a:ext cx="512064" cy="512064"/>
          </a:xfrm>
          <a:prstGeom prst="ellipse">
            <a:avLst/>
          </a:prstGeom>
          <a:solidFill>
            <a:srgbClr val="EFEDFF"/>
          </a:solidFill>
          <a:ln>
            <a:noFill/>
          </a:ln>
          <a:effectLst/>
        </p:spPr>
        <p:txBody>
          <a:bodyPr rtlCol="0" anchor="ctr"/>
          <a:lstStyle/>
          <a:p>
            <a:pPr algn="ctr"/>
          </a:p>
        </p:txBody>
      </p:sp>
      <p:sp>
        <p:nvSpPr>
          <p:cNvPr id="29" name="TextBox 28"/>
          <p:cNvSpPr txBox="1"/>
          <p:nvPr/>
        </p:nvSpPr>
        <p:spPr>
          <a:xfrm>
            <a:off x="10419588" y="2103120"/>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RK</a:t>
            </a:r>
          </a:p>
        </p:txBody>
      </p:sp>
      <p:sp>
        <p:nvSpPr>
          <p:cNvPr id="30" name="TextBox 29"/>
          <p:cNvSpPr txBox="1"/>
          <p:nvPr/>
        </p:nvSpPr>
        <p:spPr>
          <a:xfrm>
            <a:off x="9779508" y="2670048"/>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Rajat Kalsi</a:t>
            </a:r>
          </a:p>
        </p:txBody>
      </p:sp>
      <p:sp>
        <p:nvSpPr>
          <p:cNvPr id="31" name="TextBox 30"/>
          <p:cNvSpPr txBox="1"/>
          <p:nvPr/>
        </p:nvSpPr>
        <p:spPr>
          <a:xfrm>
            <a:off x="9779508" y="2980944"/>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Road Safety Expert</a:t>
            </a:r>
          </a:p>
        </p:txBody>
      </p:sp>
      <p:sp>
        <p:nvSpPr>
          <p:cNvPr id="32" name="Oval 31"/>
          <p:cNvSpPr/>
          <p:nvPr/>
        </p:nvSpPr>
        <p:spPr>
          <a:xfrm>
            <a:off x="1207008" y="3346704"/>
            <a:ext cx="512064" cy="512064"/>
          </a:xfrm>
          <a:prstGeom prst="ellipse">
            <a:avLst/>
          </a:prstGeom>
          <a:solidFill>
            <a:srgbClr val="EFEDFF"/>
          </a:solidFill>
          <a:ln>
            <a:noFill/>
          </a:ln>
          <a:effectLst/>
        </p:spPr>
        <p:txBody>
          <a:bodyPr rtlCol="0" anchor="ctr"/>
          <a:lstStyle/>
          <a:p>
            <a:pPr algn="ctr"/>
          </a:p>
        </p:txBody>
      </p:sp>
      <p:sp>
        <p:nvSpPr>
          <p:cNvPr id="33" name="TextBox 32"/>
          <p:cNvSpPr txBox="1"/>
          <p:nvPr/>
        </p:nvSpPr>
        <p:spPr>
          <a:xfrm>
            <a:off x="1207008" y="3328416"/>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PA</a:t>
            </a:r>
          </a:p>
        </p:txBody>
      </p:sp>
      <p:sp>
        <p:nvSpPr>
          <p:cNvPr id="34" name="TextBox 33"/>
          <p:cNvSpPr txBox="1"/>
          <p:nvPr/>
        </p:nvSpPr>
        <p:spPr>
          <a:xfrm>
            <a:off x="566928" y="3895344"/>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Priyanshu Aman</a:t>
            </a:r>
          </a:p>
        </p:txBody>
      </p:sp>
      <p:sp>
        <p:nvSpPr>
          <p:cNvPr id="35" name="TextBox 34"/>
          <p:cNvSpPr txBox="1"/>
          <p:nvPr/>
        </p:nvSpPr>
        <p:spPr>
          <a:xfrm>
            <a:off x="566928" y="4206240"/>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Ph.D., IIT Delhi</a:t>
            </a:r>
          </a:p>
        </p:txBody>
      </p:sp>
      <p:sp>
        <p:nvSpPr>
          <p:cNvPr id="36" name="Oval 35"/>
          <p:cNvSpPr/>
          <p:nvPr/>
        </p:nvSpPr>
        <p:spPr>
          <a:xfrm>
            <a:off x="3049524" y="3346704"/>
            <a:ext cx="512064" cy="512064"/>
          </a:xfrm>
          <a:prstGeom prst="ellipse">
            <a:avLst/>
          </a:prstGeom>
          <a:solidFill>
            <a:srgbClr val="EFEDFF"/>
          </a:solidFill>
          <a:ln>
            <a:noFill/>
          </a:ln>
          <a:effectLst/>
        </p:spPr>
        <p:txBody>
          <a:bodyPr rtlCol="0" anchor="ctr"/>
          <a:lstStyle/>
          <a:p>
            <a:pPr algn="ctr"/>
          </a:p>
        </p:txBody>
      </p:sp>
      <p:sp>
        <p:nvSpPr>
          <p:cNvPr id="37" name="TextBox 36"/>
          <p:cNvSpPr txBox="1"/>
          <p:nvPr/>
        </p:nvSpPr>
        <p:spPr>
          <a:xfrm>
            <a:off x="3049524" y="3328416"/>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MN</a:t>
            </a:r>
          </a:p>
        </p:txBody>
      </p:sp>
      <p:sp>
        <p:nvSpPr>
          <p:cNvPr id="38" name="TextBox 37"/>
          <p:cNvSpPr txBox="1"/>
          <p:nvPr/>
        </p:nvSpPr>
        <p:spPr>
          <a:xfrm>
            <a:off x="2409444" y="3895344"/>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Mehraab Nazir</a:t>
            </a:r>
          </a:p>
        </p:txBody>
      </p:sp>
      <p:sp>
        <p:nvSpPr>
          <p:cNvPr id="39" name="TextBox 38"/>
          <p:cNvSpPr txBox="1"/>
          <p:nvPr/>
        </p:nvSpPr>
        <p:spPr>
          <a:xfrm>
            <a:off x="2409444" y="4206240"/>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Ph.D., IIT Delhi</a:t>
            </a:r>
          </a:p>
        </p:txBody>
      </p:sp>
      <p:sp>
        <p:nvSpPr>
          <p:cNvPr id="40" name="Oval 39"/>
          <p:cNvSpPr/>
          <p:nvPr/>
        </p:nvSpPr>
        <p:spPr>
          <a:xfrm>
            <a:off x="4892040" y="3346704"/>
            <a:ext cx="512064" cy="512064"/>
          </a:xfrm>
          <a:prstGeom prst="ellipse">
            <a:avLst/>
          </a:prstGeom>
          <a:solidFill>
            <a:srgbClr val="EFEDFF"/>
          </a:solidFill>
          <a:ln>
            <a:noFill/>
          </a:ln>
          <a:effectLst/>
        </p:spPr>
        <p:txBody>
          <a:bodyPr rtlCol="0" anchor="ctr"/>
          <a:lstStyle/>
          <a:p>
            <a:pPr algn="ctr"/>
          </a:p>
        </p:txBody>
      </p:sp>
      <p:sp>
        <p:nvSpPr>
          <p:cNvPr id="41" name="TextBox 40"/>
          <p:cNvSpPr txBox="1"/>
          <p:nvPr/>
        </p:nvSpPr>
        <p:spPr>
          <a:xfrm>
            <a:off x="4892040" y="3328416"/>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HK</a:t>
            </a:r>
          </a:p>
        </p:txBody>
      </p:sp>
      <p:sp>
        <p:nvSpPr>
          <p:cNvPr id="42" name="TextBox 41"/>
          <p:cNvSpPr txBox="1"/>
          <p:nvPr/>
        </p:nvSpPr>
        <p:spPr>
          <a:xfrm>
            <a:off x="4251960" y="3895344"/>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Dr. Hemant Kumar Suman</a:t>
            </a:r>
          </a:p>
        </p:txBody>
      </p:sp>
      <p:sp>
        <p:nvSpPr>
          <p:cNvPr id="43" name="TextBox 42"/>
          <p:cNvSpPr txBox="1"/>
          <p:nvPr/>
        </p:nvSpPr>
        <p:spPr>
          <a:xfrm>
            <a:off x="4251960" y="4206240"/>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Asst Prof., CTRANS, IIT Roorkee</a:t>
            </a:r>
          </a:p>
        </p:txBody>
      </p:sp>
      <p:sp>
        <p:nvSpPr>
          <p:cNvPr id="44" name="Oval 43"/>
          <p:cNvSpPr/>
          <p:nvPr/>
        </p:nvSpPr>
        <p:spPr>
          <a:xfrm>
            <a:off x="6734556" y="3346704"/>
            <a:ext cx="512064" cy="512064"/>
          </a:xfrm>
          <a:prstGeom prst="ellipse">
            <a:avLst/>
          </a:prstGeom>
          <a:solidFill>
            <a:srgbClr val="EFEDFF"/>
          </a:solidFill>
          <a:ln>
            <a:noFill/>
          </a:ln>
          <a:effectLst/>
        </p:spPr>
        <p:txBody>
          <a:bodyPr rtlCol="0" anchor="ctr"/>
          <a:lstStyle/>
          <a:p>
            <a:pPr algn="ctr"/>
          </a:p>
        </p:txBody>
      </p:sp>
      <p:sp>
        <p:nvSpPr>
          <p:cNvPr id="45" name="TextBox 44"/>
          <p:cNvSpPr txBox="1"/>
          <p:nvPr/>
        </p:nvSpPr>
        <p:spPr>
          <a:xfrm>
            <a:off x="6734556" y="3328416"/>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SS</a:t>
            </a:r>
          </a:p>
        </p:txBody>
      </p:sp>
      <p:sp>
        <p:nvSpPr>
          <p:cNvPr id="46" name="TextBox 45"/>
          <p:cNvSpPr txBox="1"/>
          <p:nvPr/>
        </p:nvSpPr>
        <p:spPr>
          <a:xfrm>
            <a:off x="6094476" y="3895344"/>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Dr. Shriniwas S Arkatkar</a:t>
            </a:r>
          </a:p>
        </p:txBody>
      </p:sp>
      <p:sp>
        <p:nvSpPr>
          <p:cNvPr id="47" name="TextBox 46"/>
          <p:cNvSpPr txBox="1"/>
          <p:nvPr/>
        </p:nvSpPr>
        <p:spPr>
          <a:xfrm>
            <a:off x="6094476" y="4206240"/>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Professor, SVNIT Surat</a:t>
            </a:r>
          </a:p>
        </p:txBody>
      </p:sp>
      <p:sp>
        <p:nvSpPr>
          <p:cNvPr id="48" name="Oval 47"/>
          <p:cNvSpPr/>
          <p:nvPr/>
        </p:nvSpPr>
        <p:spPr>
          <a:xfrm>
            <a:off x="8577072" y="3346704"/>
            <a:ext cx="512064" cy="512064"/>
          </a:xfrm>
          <a:prstGeom prst="ellipse">
            <a:avLst/>
          </a:prstGeom>
          <a:solidFill>
            <a:srgbClr val="EFEDFF"/>
          </a:solidFill>
          <a:ln>
            <a:noFill/>
          </a:ln>
          <a:effectLst/>
        </p:spPr>
        <p:txBody>
          <a:bodyPr rtlCol="0" anchor="ctr"/>
          <a:lstStyle/>
          <a:p>
            <a:pPr algn="ctr"/>
          </a:p>
        </p:txBody>
      </p:sp>
      <p:sp>
        <p:nvSpPr>
          <p:cNvPr id="49" name="TextBox 48"/>
          <p:cNvSpPr txBox="1"/>
          <p:nvPr/>
        </p:nvSpPr>
        <p:spPr>
          <a:xfrm>
            <a:off x="8577072" y="3328416"/>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SP</a:t>
            </a:r>
          </a:p>
        </p:txBody>
      </p:sp>
      <p:sp>
        <p:nvSpPr>
          <p:cNvPr id="50" name="TextBox 49"/>
          <p:cNvSpPr txBox="1"/>
          <p:nvPr/>
        </p:nvSpPr>
        <p:spPr>
          <a:xfrm>
            <a:off x="7936992" y="3895344"/>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Dr. Sandeep Peeke</a:t>
            </a:r>
          </a:p>
        </p:txBody>
      </p:sp>
      <p:sp>
        <p:nvSpPr>
          <p:cNvPr id="51" name="TextBox 50"/>
          <p:cNvSpPr txBox="1"/>
          <p:nvPr/>
        </p:nvSpPr>
        <p:spPr>
          <a:xfrm>
            <a:off x="7936992" y="4206240"/>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Asst Prof., SPA Vijayawada</a:t>
            </a:r>
          </a:p>
        </p:txBody>
      </p:sp>
      <p:sp>
        <p:nvSpPr>
          <p:cNvPr id="52" name="Oval 51"/>
          <p:cNvSpPr/>
          <p:nvPr/>
        </p:nvSpPr>
        <p:spPr>
          <a:xfrm>
            <a:off x="10419588" y="3346704"/>
            <a:ext cx="512064" cy="512064"/>
          </a:xfrm>
          <a:prstGeom prst="ellipse">
            <a:avLst/>
          </a:prstGeom>
          <a:solidFill>
            <a:srgbClr val="EFEDFF"/>
          </a:solidFill>
          <a:ln>
            <a:noFill/>
          </a:ln>
          <a:effectLst/>
        </p:spPr>
        <p:txBody>
          <a:bodyPr rtlCol="0" anchor="ctr"/>
          <a:lstStyle/>
          <a:p>
            <a:pPr algn="ctr"/>
          </a:p>
        </p:txBody>
      </p:sp>
      <p:sp>
        <p:nvSpPr>
          <p:cNvPr id="53" name="TextBox 52"/>
          <p:cNvSpPr txBox="1"/>
          <p:nvPr/>
        </p:nvSpPr>
        <p:spPr>
          <a:xfrm>
            <a:off x="10419588" y="3328416"/>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PK</a:t>
            </a:r>
          </a:p>
        </p:txBody>
      </p:sp>
      <p:sp>
        <p:nvSpPr>
          <p:cNvPr id="54" name="TextBox 53"/>
          <p:cNvSpPr txBox="1"/>
          <p:nvPr/>
        </p:nvSpPr>
        <p:spPr>
          <a:xfrm>
            <a:off x="9779508" y="3895344"/>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Dr. Purnima K Chowdhury</a:t>
            </a:r>
          </a:p>
        </p:txBody>
      </p:sp>
      <p:sp>
        <p:nvSpPr>
          <p:cNvPr id="55" name="TextBox 54"/>
          <p:cNvSpPr txBox="1"/>
          <p:nvPr/>
        </p:nvSpPr>
        <p:spPr>
          <a:xfrm>
            <a:off x="9779508" y="4206240"/>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Asst Prof., SPA Bhopal</a:t>
            </a:r>
          </a:p>
        </p:txBody>
      </p:sp>
      <p:sp>
        <p:nvSpPr>
          <p:cNvPr id="56" name="Oval 55"/>
          <p:cNvSpPr/>
          <p:nvPr/>
        </p:nvSpPr>
        <p:spPr>
          <a:xfrm>
            <a:off x="1207008" y="4572000"/>
            <a:ext cx="512064" cy="512064"/>
          </a:xfrm>
          <a:prstGeom prst="ellipse">
            <a:avLst/>
          </a:prstGeom>
          <a:solidFill>
            <a:srgbClr val="EFEDFF"/>
          </a:solidFill>
          <a:ln>
            <a:noFill/>
          </a:ln>
          <a:effectLst/>
        </p:spPr>
        <p:txBody>
          <a:bodyPr rtlCol="0" anchor="ctr"/>
          <a:lstStyle/>
          <a:p>
            <a:pPr algn="ctr"/>
          </a:p>
        </p:txBody>
      </p:sp>
      <p:sp>
        <p:nvSpPr>
          <p:cNvPr id="57" name="TextBox 56"/>
          <p:cNvSpPr txBox="1"/>
          <p:nvPr/>
        </p:nvSpPr>
        <p:spPr>
          <a:xfrm>
            <a:off x="1207008" y="4553712"/>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AB</a:t>
            </a:r>
          </a:p>
        </p:txBody>
      </p:sp>
      <p:sp>
        <p:nvSpPr>
          <p:cNvPr id="58" name="TextBox 57"/>
          <p:cNvSpPr txBox="1"/>
          <p:nvPr/>
        </p:nvSpPr>
        <p:spPr>
          <a:xfrm>
            <a:off x="566928" y="5120640"/>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Dr. Anshu Bamney</a:t>
            </a:r>
          </a:p>
        </p:txBody>
      </p:sp>
      <p:sp>
        <p:nvSpPr>
          <p:cNvPr id="59" name="TextBox 58"/>
          <p:cNvSpPr txBox="1"/>
          <p:nvPr/>
        </p:nvSpPr>
        <p:spPr>
          <a:xfrm>
            <a:off x="566928" y="5431536"/>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Asst Prof., IIT Mandi</a:t>
            </a:r>
          </a:p>
        </p:txBody>
      </p:sp>
      <p:sp>
        <p:nvSpPr>
          <p:cNvPr id="60" name="Oval 59"/>
          <p:cNvSpPr/>
          <p:nvPr/>
        </p:nvSpPr>
        <p:spPr>
          <a:xfrm>
            <a:off x="3049524" y="4572000"/>
            <a:ext cx="512064" cy="512064"/>
          </a:xfrm>
          <a:prstGeom prst="ellipse">
            <a:avLst/>
          </a:prstGeom>
          <a:solidFill>
            <a:srgbClr val="EFEDFF"/>
          </a:solidFill>
          <a:ln>
            <a:noFill/>
          </a:ln>
          <a:effectLst/>
        </p:spPr>
        <p:txBody>
          <a:bodyPr rtlCol="0" anchor="ctr"/>
          <a:lstStyle/>
          <a:p>
            <a:pPr algn="ctr"/>
          </a:p>
        </p:txBody>
      </p:sp>
      <p:sp>
        <p:nvSpPr>
          <p:cNvPr id="61" name="TextBox 60"/>
          <p:cNvSpPr txBox="1"/>
          <p:nvPr/>
        </p:nvSpPr>
        <p:spPr>
          <a:xfrm>
            <a:off x="3049524" y="4553712"/>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VS</a:t>
            </a:r>
          </a:p>
        </p:txBody>
      </p:sp>
      <p:sp>
        <p:nvSpPr>
          <p:cNvPr id="62" name="TextBox 61"/>
          <p:cNvSpPr txBox="1"/>
          <p:nvPr/>
        </p:nvSpPr>
        <p:spPr>
          <a:xfrm>
            <a:off x="2409444" y="5120640"/>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V. Sai Sesidhar</a:t>
            </a:r>
          </a:p>
        </p:txBody>
      </p:sp>
      <p:sp>
        <p:nvSpPr>
          <p:cNvPr id="63" name="TextBox 62"/>
          <p:cNvSpPr txBox="1"/>
          <p:nvPr/>
        </p:nvSpPr>
        <p:spPr>
          <a:xfrm>
            <a:off x="2409444" y="5431536"/>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Ph.D., IIT Kharagpur</a:t>
            </a:r>
          </a:p>
        </p:txBody>
      </p:sp>
      <p:sp>
        <p:nvSpPr>
          <p:cNvPr id="64" name="Oval 63"/>
          <p:cNvSpPr/>
          <p:nvPr/>
        </p:nvSpPr>
        <p:spPr>
          <a:xfrm>
            <a:off x="4892040" y="4572000"/>
            <a:ext cx="512064" cy="512064"/>
          </a:xfrm>
          <a:prstGeom prst="ellipse">
            <a:avLst/>
          </a:prstGeom>
          <a:solidFill>
            <a:srgbClr val="EFEDFF"/>
          </a:solidFill>
          <a:ln>
            <a:noFill/>
          </a:ln>
          <a:effectLst/>
        </p:spPr>
        <p:txBody>
          <a:bodyPr rtlCol="0" anchor="ctr"/>
          <a:lstStyle/>
          <a:p>
            <a:pPr algn="ctr"/>
          </a:p>
        </p:txBody>
      </p:sp>
      <p:sp>
        <p:nvSpPr>
          <p:cNvPr id="65" name="TextBox 64"/>
          <p:cNvSpPr txBox="1"/>
          <p:nvPr/>
        </p:nvSpPr>
        <p:spPr>
          <a:xfrm>
            <a:off x="4892040" y="4553712"/>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AS</a:t>
            </a:r>
          </a:p>
        </p:txBody>
      </p:sp>
      <p:sp>
        <p:nvSpPr>
          <p:cNvPr id="66" name="TextBox 65"/>
          <p:cNvSpPr txBox="1"/>
          <p:nvPr/>
        </p:nvSpPr>
        <p:spPr>
          <a:xfrm>
            <a:off x="4251960" y="5120640"/>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Ashish Shrivastava</a:t>
            </a:r>
          </a:p>
        </p:txBody>
      </p:sp>
      <p:sp>
        <p:nvSpPr>
          <p:cNvPr id="67" name="TextBox 66"/>
          <p:cNvSpPr txBox="1"/>
          <p:nvPr/>
        </p:nvSpPr>
        <p:spPr>
          <a:xfrm>
            <a:off x="4251960" y="5431536"/>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Engineer, Traffic &amp; Transport Planning</a:t>
            </a:r>
          </a:p>
        </p:txBody>
      </p:sp>
      <p:sp>
        <p:nvSpPr>
          <p:cNvPr id="68" name="Oval 67"/>
          <p:cNvSpPr/>
          <p:nvPr/>
        </p:nvSpPr>
        <p:spPr>
          <a:xfrm>
            <a:off x="6734556" y="4572000"/>
            <a:ext cx="512064" cy="512064"/>
          </a:xfrm>
          <a:prstGeom prst="ellipse">
            <a:avLst/>
          </a:prstGeom>
          <a:solidFill>
            <a:srgbClr val="EFEDFF"/>
          </a:solidFill>
          <a:ln>
            <a:noFill/>
          </a:ln>
          <a:effectLst/>
        </p:spPr>
        <p:txBody>
          <a:bodyPr rtlCol="0" anchor="ctr"/>
          <a:lstStyle/>
          <a:p>
            <a:pPr algn="ctr"/>
          </a:p>
        </p:txBody>
      </p:sp>
      <p:sp>
        <p:nvSpPr>
          <p:cNvPr id="69" name="TextBox 68"/>
          <p:cNvSpPr txBox="1"/>
          <p:nvPr/>
        </p:nvSpPr>
        <p:spPr>
          <a:xfrm>
            <a:off x="6734556" y="4553712"/>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MS</a:t>
            </a:r>
          </a:p>
        </p:txBody>
      </p:sp>
      <p:sp>
        <p:nvSpPr>
          <p:cNvPr id="70" name="TextBox 69"/>
          <p:cNvSpPr txBox="1"/>
          <p:nvPr/>
        </p:nvSpPr>
        <p:spPr>
          <a:xfrm>
            <a:off x="6094476" y="5120640"/>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Mridul Sharotary</a:t>
            </a:r>
          </a:p>
        </p:txBody>
      </p:sp>
      <p:sp>
        <p:nvSpPr>
          <p:cNvPr id="71" name="TextBox 70"/>
          <p:cNvSpPr txBox="1"/>
          <p:nvPr/>
        </p:nvSpPr>
        <p:spPr>
          <a:xfrm>
            <a:off x="6094476" y="5431536"/>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Planner, EY</a:t>
            </a:r>
          </a:p>
        </p:txBody>
      </p:sp>
      <p:sp>
        <p:nvSpPr>
          <p:cNvPr id="72" name="Oval 71"/>
          <p:cNvSpPr/>
          <p:nvPr/>
        </p:nvSpPr>
        <p:spPr>
          <a:xfrm>
            <a:off x="8577072" y="4572000"/>
            <a:ext cx="512064" cy="512064"/>
          </a:xfrm>
          <a:prstGeom prst="ellipse">
            <a:avLst/>
          </a:prstGeom>
          <a:solidFill>
            <a:srgbClr val="EFEDFF"/>
          </a:solidFill>
          <a:ln>
            <a:noFill/>
          </a:ln>
          <a:effectLst/>
        </p:spPr>
        <p:txBody>
          <a:bodyPr rtlCol="0" anchor="ctr"/>
          <a:lstStyle/>
          <a:p>
            <a:pPr algn="ctr"/>
          </a:p>
        </p:txBody>
      </p:sp>
      <p:sp>
        <p:nvSpPr>
          <p:cNvPr id="73" name="TextBox 72"/>
          <p:cNvSpPr txBox="1"/>
          <p:nvPr/>
        </p:nvSpPr>
        <p:spPr>
          <a:xfrm>
            <a:off x="8577072" y="4553712"/>
            <a:ext cx="512064"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KK</a:t>
            </a:r>
          </a:p>
        </p:txBody>
      </p:sp>
      <p:sp>
        <p:nvSpPr>
          <p:cNvPr id="74" name="TextBox 73"/>
          <p:cNvSpPr txBox="1"/>
          <p:nvPr/>
        </p:nvSpPr>
        <p:spPr>
          <a:xfrm>
            <a:off x="7936992" y="5120640"/>
            <a:ext cx="1769364" cy="292608"/>
          </a:xfrm>
          <a:prstGeom prst="rect">
            <a:avLst/>
          </a:prstGeom>
          <a:noFill/>
        </p:spPr>
        <p:txBody>
          <a:bodyPr wrap="square" lIns="0" rIns="0" tIns="0" bIns="0" anchor="t">
            <a:spAutoFit/>
          </a:bodyPr>
          <a:lstStyle/>
          <a:p>
            <a:pPr algn="ctr">
              <a:lnSpc>
                <a:spcPct val="102000"/>
              </a:lnSpc>
            </a:pPr>
            <a:r>
              <a:rPr sz="800" b="1" i="0">
                <a:solidFill>
                  <a:srgbClr val="16181D"/>
                </a:solidFill>
                <a:latin typeface="Montserrat"/>
              </a:rPr>
              <a:t>Kushal Khivansara</a:t>
            </a:r>
          </a:p>
        </p:txBody>
      </p:sp>
      <p:sp>
        <p:nvSpPr>
          <p:cNvPr id="75" name="TextBox 74"/>
          <p:cNvSpPr txBox="1"/>
          <p:nvPr/>
        </p:nvSpPr>
        <p:spPr>
          <a:xfrm>
            <a:off x="7936992" y="5431536"/>
            <a:ext cx="1769364" cy="310896"/>
          </a:xfrm>
          <a:prstGeom prst="rect">
            <a:avLst/>
          </a:prstGeom>
          <a:noFill/>
        </p:spPr>
        <p:txBody>
          <a:bodyPr wrap="square" lIns="0" rIns="0" tIns="0" bIns="0" anchor="t">
            <a:spAutoFit/>
          </a:bodyPr>
          <a:lstStyle/>
          <a:p>
            <a:pPr algn="ctr">
              <a:lnSpc>
                <a:spcPct val="105000"/>
              </a:lnSpc>
            </a:pPr>
            <a:r>
              <a:rPr sz="700" b="0" i="0">
                <a:solidFill>
                  <a:srgbClr val="6E7180"/>
                </a:solidFill>
                <a:latin typeface="Geist"/>
              </a:rPr>
              <a:t>TRIP Centre, IIT Delhi</a:t>
            </a:r>
          </a:p>
        </p:txBody>
      </p:sp>
      <p:sp>
        <p:nvSpPr>
          <p:cNvPr id="76" name="Rounded Rectangle 75"/>
          <p:cNvSpPr/>
          <p:nvPr/>
        </p:nvSpPr>
        <p:spPr>
          <a:xfrm>
            <a:off x="566928" y="5870448"/>
            <a:ext cx="11057839" cy="457200"/>
          </a:xfrm>
          <a:prstGeom prst="roundRect">
            <a:avLst>
              <a:gd name="adj" fmla="val 14000"/>
            </a:avLst>
          </a:prstGeom>
          <a:solidFill>
            <a:srgbClr val="F7F7FA"/>
          </a:solidFill>
          <a:ln>
            <a:noFill/>
          </a:ln>
          <a:effectLst/>
        </p:spPr>
        <p:txBody>
          <a:bodyPr rtlCol="0" anchor="ctr"/>
          <a:lstStyle/>
          <a:p>
            <a:pPr algn="ctr"/>
          </a:p>
        </p:txBody>
      </p:sp>
      <p:sp>
        <p:nvSpPr>
          <p:cNvPr id="77" name="TextBox 76"/>
          <p:cNvSpPr txBox="1"/>
          <p:nvPr/>
        </p:nvSpPr>
        <p:spPr>
          <a:xfrm>
            <a:off x="768096" y="5943600"/>
            <a:ext cx="10646359" cy="329184"/>
          </a:xfrm>
          <a:prstGeom prst="rect">
            <a:avLst/>
          </a:prstGeom>
          <a:noFill/>
        </p:spPr>
        <p:txBody>
          <a:bodyPr wrap="square" lIns="0" rIns="0" tIns="0" bIns="0" anchor="t">
            <a:spAutoFit/>
          </a:bodyPr>
          <a:lstStyle/>
          <a:p>
            <a:pPr algn="l">
              <a:lnSpc>
                <a:spcPct val="120000"/>
              </a:lnSpc>
            </a:pPr>
            <a:r>
              <a:rPr sz="900" b="1" i="0">
                <a:solidFill>
                  <a:srgbClr val="16181D"/>
                </a:solidFill>
                <a:latin typeface="Geist"/>
              </a:rPr>
              <a:t>From IIT Delhi, IIT Roorkee, IIT Mandi, IIT Kharagpur, SVNIT, SPA Vijayawada, SPA Bhopal, Vignan University, KPMG and EY </a:t>
            </a:r>
            <a:r>
              <a:rPr sz="900" b="0" i="0">
                <a:solidFill>
                  <a:srgbClr val="6E7180"/>
                </a:solidFill>
                <a:latin typeface="Geist"/>
              </a:rPr>
              <a:t>, the same mix of academia and practice the Working Group draws on.</a:t>
            </a:r>
          </a:p>
        </p:txBody>
      </p:sp>
      <p:cxnSp>
        <p:nvCxnSpPr>
          <p:cNvPr id="78" name="Connector 77"/>
          <p:cNvCxnSpPr/>
          <p:nvPr/>
        </p:nvCxnSpPr>
        <p:spPr>
          <a:xfrm>
            <a:off x="566928" y="6455664"/>
            <a:ext cx="11057839" cy="0"/>
          </a:xfrm>
          <a:prstGeom prst="line">
            <a:avLst/>
          </a:prstGeom>
          <a:ln w="9525">
            <a:solidFill>
              <a:srgbClr val="E8E9EE"/>
            </a:solidFill>
          </a:ln>
          <a:effectLst/>
        </p:spPr>
      </p:cxnSp>
      <p:sp>
        <p:nvSpPr>
          <p:cNvPr id="79" name="TextBox 7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80" name="TextBox 7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24 / 28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THE LONG VIEW</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Built to be </a:t>
            </a:r>
            <a:r>
              <a:rPr sz="2250" b="1" i="0">
                <a:solidFill>
                  <a:srgbClr val="4A35FF"/>
                </a:solidFill>
                <a:latin typeface="Montserrat"/>
              </a:rPr>
              <a:t>institutionalised</a:t>
            </a:r>
            <a:r>
              <a:rPr sz="2250" b="1" i="0">
                <a:solidFill>
                  <a:srgbClr val="16181D"/>
                </a:solidFill>
                <a:latin typeface="Montserrat"/>
              </a:rPr>
              <a:t>: not built to depend on us</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Three audit tracks matched to road types, and a role for CFI that narrows over time.</a:t>
            </a:r>
          </a:p>
        </p:txBody>
      </p:sp>
      <p:sp>
        <p:nvSpPr>
          <p:cNvPr id="8" name="Rounded Rectangle 7"/>
          <p:cNvSpPr/>
          <p:nvPr/>
        </p:nvSpPr>
        <p:spPr>
          <a:xfrm>
            <a:off x="566928" y="2103120"/>
            <a:ext cx="3611880" cy="1600200"/>
          </a:xfrm>
          <a:prstGeom prst="roundRect">
            <a:avLst>
              <a:gd name="adj" fmla="val 8000"/>
            </a:avLst>
          </a:prstGeom>
          <a:solidFill>
            <a:srgbClr val="F7F7FA"/>
          </a:solidFill>
          <a:ln>
            <a:noFill/>
          </a:ln>
          <a:effectLst/>
        </p:spPr>
        <p:txBody>
          <a:bodyPr rtlCol="0" anchor="ctr"/>
          <a:lstStyle/>
          <a:p>
            <a:pPr algn="ctr"/>
          </a:p>
        </p:txBody>
      </p:sp>
      <p:sp>
        <p:nvSpPr>
          <p:cNvPr id="9" name="Rectangle 8"/>
          <p:cNvSpPr/>
          <p:nvPr/>
        </p:nvSpPr>
        <p:spPr>
          <a:xfrm>
            <a:off x="566928" y="2103120"/>
            <a:ext cx="3611880" cy="384048"/>
          </a:xfrm>
          <a:prstGeom prst="rect">
            <a:avLst/>
          </a:prstGeom>
          <a:solidFill>
            <a:srgbClr val="EFEDFF"/>
          </a:solidFill>
          <a:ln>
            <a:noFill/>
          </a:ln>
          <a:effectLst/>
        </p:spPr>
        <p:txBody>
          <a:bodyPr rtlCol="0" anchor="ctr"/>
          <a:lstStyle/>
          <a:p>
            <a:pPr algn="ctr"/>
          </a:p>
        </p:txBody>
      </p:sp>
      <p:sp>
        <p:nvSpPr>
          <p:cNvPr id="10" name="TextBox 9"/>
          <p:cNvSpPr txBox="1"/>
          <p:nvPr/>
        </p:nvSpPr>
        <p:spPr>
          <a:xfrm>
            <a:off x="713232" y="2167128"/>
            <a:ext cx="3337560" cy="274320"/>
          </a:xfrm>
          <a:prstGeom prst="rect">
            <a:avLst/>
          </a:prstGeom>
          <a:noFill/>
        </p:spPr>
        <p:txBody>
          <a:bodyPr wrap="square" lIns="0" rIns="0" tIns="0" bIns="0" anchor="t">
            <a:spAutoFit/>
          </a:bodyPr>
          <a:lstStyle/>
          <a:p>
            <a:pPr algn="l">
              <a:lnSpc>
                <a:spcPct val="128000"/>
              </a:lnSpc>
            </a:pPr>
            <a:r>
              <a:rPr sz="1100" b="1" i="0">
                <a:solidFill>
                  <a:srgbClr val="4A35FF"/>
                </a:solidFill>
                <a:latin typeface="Montserrat"/>
              </a:rPr>
              <a:t>Track A, Institutional</a:t>
            </a:r>
          </a:p>
        </p:txBody>
      </p:sp>
      <p:sp>
        <p:nvSpPr>
          <p:cNvPr id="11" name="TextBox 10"/>
          <p:cNvSpPr txBox="1"/>
          <p:nvPr/>
        </p:nvSpPr>
        <p:spPr>
          <a:xfrm>
            <a:off x="713232" y="2578608"/>
            <a:ext cx="3319272" cy="548640"/>
          </a:xfrm>
          <a:prstGeom prst="rect">
            <a:avLst/>
          </a:prstGeom>
          <a:noFill/>
        </p:spPr>
        <p:txBody>
          <a:bodyPr wrap="square" lIns="0" rIns="0" tIns="0" bIns="0" anchor="t">
            <a:spAutoFit/>
          </a:bodyPr>
          <a:lstStyle/>
          <a:p>
            <a:pPr algn="l">
              <a:lnSpc>
                <a:spcPct val="125000"/>
              </a:lnSpc>
            </a:pPr>
            <a:r>
              <a:rPr sz="950" b="0" i="0">
                <a:solidFill>
                  <a:srgbClr val="16181D"/>
                </a:solidFill>
                <a:latin typeface="Geist"/>
              </a:rPr>
              <a:t>IIT / NIT / SPA teams under expert mentors</a:t>
            </a:r>
          </a:p>
        </p:txBody>
      </p:sp>
      <p:sp>
        <p:nvSpPr>
          <p:cNvPr id="12" name="TextBox 11"/>
          <p:cNvSpPr txBox="1"/>
          <p:nvPr/>
        </p:nvSpPr>
        <p:spPr>
          <a:xfrm>
            <a:off x="713232" y="3182112"/>
            <a:ext cx="3319272"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Urban arterials, in-town state highways, district roads</a:t>
            </a:r>
          </a:p>
        </p:txBody>
      </p:sp>
      <p:sp>
        <p:nvSpPr>
          <p:cNvPr id="13" name="Rounded Rectangle 12"/>
          <p:cNvSpPr/>
          <p:nvPr/>
        </p:nvSpPr>
        <p:spPr>
          <a:xfrm>
            <a:off x="4288536" y="2103120"/>
            <a:ext cx="3611880" cy="1600200"/>
          </a:xfrm>
          <a:prstGeom prst="roundRect">
            <a:avLst>
              <a:gd name="adj" fmla="val 8000"/>
            </a:avLst>
          </a:prstGeom>
          <a:solidFill>
            <a:srgbClr val="F7F7FA"/>
          </a:solidFill>
          <a:ln>
            <a:noFill/>
          </a:ln>
          <a:effectLst/>
        </p:spPr>
        <p:txBody>
          <a:bodyPr rtlCol="0" anchor="ctr"/>
          <a:lstStyle/>
          <a:p>
            <a:pPr algn="ctr"/>
          </a:p>
        </p:txBody>
      </p:sp>
      <p:sp>
        <p:nvSpPr>
          <p:cNvPr id="14" name="Rectangle 13"/>
          <p:cNvSpPr/>
          <p:nvPr/>
        </p:nvSpPr>
        <p:spPr>
          <a:xfrm>
            <a:off x="4288536" y="2103120"/>
            <a:ext cx="3611880" cy="384048"/>
          </a:xfrm>
          <a:prstGeom prst="rect">
            <a:avLst/>
          </a:prstGeom>
          <a:solidFill>
            <a:srgbClr val="E7F4F4"/>
          </a:solidFill>
          <a:ln>
            <a:noFill/>
          </a:ln>
          <a:effectLst/>
        </p:spPr>
        <p:txBody>
          <a:bodyPr rtlCol="0" anchor="ctr"/>
          <a:lstStyle/>
          <a:p>
            <a:pPr algn="ctr"/>
          </a:p>
        </p:txBody>
      </p:sp>
      <p:sp>
        <p:nvSpPr>
          <p:cNvPr id="15" name="TextBox 14"/>
          <p:cNvSpPr txBox="1"/>
          <p:nvPr/>
        </p:nvSpPr>
        <p:spPr>
          <a:xfrm>
            <a:off x="4434840" y="2167128"/>
            <a:ext cx="3337560" cy="274320"/>
          </a:xfrm>
          <a:prstGeom prst="rect">
            <a:avLst/>
          </a:prstGeom>
          <a:noFill/>
        </p:spPr>
        <p:txBody>
          <a:bodyPr wrap="square" lIns="0" rIns="0" tIns="0" bIns="0" anchor="t">
            <a:spAutoFit/>
          </a:bodyPr>
          <a:lstStyle/>
          <a:p>
            <a:pPr algn="l">
              <a:lnSpc>
                <a:spcPct val="128000"/>
              </a:lnSpc>
            </a:pPr>
            <a:r>
              <a:rPr sz="1100" b="1" i="0">
                <a:solidFill>
                  <a:srgbClr val="0E8A8A"/>
                </a:solidFill>
                <a:latin typeface="Montserrat"/>
              </a:rPr>
              <a:t>Track B, NGO partners</a:t>
            </a:r>
          </a:p>
        </p:txBody>
      </p:sp>
      <p:sp>
        <p:nvSpPr>
          <p:cNvPr id="16" name="TextBox 15"/>
          <p:cNvSpPr txBox="1"/>
          <p:nvPr/>
        </p:nvSpPr>
        <p:spPr>
          <a:xfrm>
            <a:off x="4434840" y="2578608"/>
            <a:ext cx="3319272" cy="548640"/>
          </a:xfrm>
          <a:prstGeom prst="rect">
            <a:avLst/>
          </a:prstGeom>
          <a:noFill/>
        </p:spPr>
        <p:txBody>
          <a:bodyPr wrap="square" lIns="0" rIns="0" tIns="0" bIns="0" anchor="t">
            <a:spAutoFit/>
          </a:bodyPr>
          <a:lstStyle/>
          <a:p>
            <a:pPr algn="l">
              <a:lnSpc>
                <a:spcPct val="125000"/>
              </a:lnSpc>
            </a:pPr>
            <a:r>
              <a:rPr sz="950" b="0" i="0">
                <a:solidFill>
                  <a:srgbClr val="16181D"/>
                </a:solidFill>
                <a:latin typeface="Geist"/>
              </a:rPr>
              <a:t>Field teams; desk-reviewed and re-verified by CFI</a:t>
            </a:r>
          </a:p>
        </p:txBody>
      </p:sp>
      <p:sp>
        <p:nvSpPr>
          <p:cNvPr id="17" name="TextBox 16"/>
          <p:cNvSpPr txBox="1"/>
          <p:nvPr/>
        </p:nvSpPr>
        <p:spPr>
          <a:xfrm>
            <a:off x="4434840" y="3182112"/>
            <a:ext cx="3319272"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District &amp; peri-urban corridors</a:t>
            </a:r>
          </a:p>
        </p:txBody>
      </p:sp>
      <p:sp>
        <p:nvSpPr>
          <p:cNvPr id="18" name="Rounded Rectangle 17"/>
          <p:cNvSpPr/>
          <p:nvPr/>
        </p:nvSpPr>
        <p:spPr>
          <a:xfrm>
            <a:off x="8010144" y="2103120"/>
            <a:ext cx="3611880" cy="1600200"/>
          </a:xfrm>
          <a:prstGeom prst="roundRect">
            <a:avLst>
              <a:gd name="adj" fmla="val 8000"/>
            </a:avLst>
          </a:prstGeom>
          <a:solidFill>
            <a:srgbClr val="F7F7FA"/>
          </a:solidFill>
          <a:ln>
            <a:noFill/>
          </a:ln>
          <a:effectLst/>
        </p:spPr>
        <p:txBody>
          <a:bodyPr rtlCol="0" anchor="ctr"/>
          <a:lstStyle/>
          <a:p>
            <a:pPr algn="ctr"/>
          </a:p>
        </p:txBody>
      </p:sp>
      <p:sp>
        <p:nvSpPr>
          <p:cNvPr id="19" name="Rectangle 18"/>
          <p:cNvSpPr/>
          <p:nvPr/>
        </p:nvSpPr>
        <p:spPr>
          <a:xfrm>
            <a:off x="8010144" y="2103120"/>
            <a:ext cx="3611880" cy="384048"/>
          </a:xfrm>
          <a:prstGeom prst="rect">
            <a:avLst/>
          </a:prstGeom>
          <a:solidFill>
            <a:srgbClr val="FDF3E3"/>
          </a:solidFill>
          <a:ln>
            <a:noFill/>
          </a:ln>
          <a:effectLst/>
        </p:spPr>
        <p:txBody>
          <a:bodyPr rtlCol="0" anchor="ctr"/>
          <a:lstStyle/>
          <a:p>
            <a:pPr algn="ctr"/>
          </a:p>
        </p:txBody>
      </p:sp>
      <p:sp>
        <p:nvSpPr>
          <p:cNvPr id="20" name="TextBox 19"/>
          <p:cNvSpPr txBox="1"/>
          <p:nvPr/>
        </p:nvSpPr>
        <p:spPr>
          <a:xfrm>
            <a:off x="8156448" y="2167128"/>
            <a:ext cx="3337560" cy="274320"/>
          </a:xfrm>
          <a:prstGeom prst="rect">
            <a:avLst/>
          </a:prstGeom>
          <a:noFill/>
        </p:spPr>
        <p:txBody>
          <a:bodyPr wrap="square" lIns="0" rIns="0" tIns="0" bIns="0" anchor="t">
            <a:spAutoFit/>
          </a:bodyPr>
          <a:lstStyle/>
          <a:p>
            <a:pPr algn="l">
              <a:lnSpc>
                <a:spcPct val="128000"/>
              </a:lnSpc>
            </a:pPr>
            <a:r>
              <a:rPr sz="1100" b="1" i="0">
                <a:solidFill>
                  <a:srgbClr val="E58900"/>
                </a:solidFill>
                <a:latin typeface="Montserrat"/>
              </a:rPr>
              <a:t>Track C, Certified RSAs</a:t>
            </a:r>
          </a:p>
        </p:txBody>
      </p:sp>
      <p:sp>
        <p:nvSpPr>
          <p:cNvPr id="21" name="TextBox 20"/>
          <p:cNvSpPr txBox="1"/>
          <p:nvPr/>
        </p:nvSpPr>
        <p:spPr>
          <a:xfrm>
            <a:off x="8156448" y="2578608"/>
            <a:ext cx="3319272" cy="548640"/>
          </a:xfrm>
          <a:prstGeom prst="rect">
            <a:avLst/>
          </a:prstGeom>
          <a:noFill/>
        </p:spPr>
        <p:txBody>
          <a:bodyPr wrap="square" lIns="0" rIns="0" tIns="0" bIns="0" anchor="t">
            <a:spAutoFit/>
          </a:bodyPr>
          <a:lstStyle/>
          <a:p>
            <a:pPr algn="l">
              <a:lnSpc>
                <a:spcPct val="125000"/>
              </a:lnSpc>
            </a:pPr>
            <a:r>
              <a:rPr sz="950" b="0" i="0">
                <a:solidFill>
                  <a:srgbClr val="16181D"/>
                </a:solidFill>
                <a:latin typeface="Geist"/>
              </a:rPr>
              <a:t>CSIR-CRRI-certified auditors, full IRC SP-88</a:t>
            </a:r>
          </a:p>
        </p:txBody>
      </p:sp>
      <p:sp>
        <p:nvSpPr>
          <p:cNvPr id="22" name="TextBox 21"/>
          <p:cNvSpPr txBox="1"/>
          <p:nvPr/>
        </p:nvSpPr>
        <p:spPr>
          <a:xfrm>
            <a:off x="8156448" y="3182112"/>
            <a:ext cx="3319272"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National highways, complex junctions</a:t>
            </a:r>
          </a:p>
        </p:txBody>
      </p:sp>
      <p:sp>
        <p:nvSpPr>
          <p:cNvPr id="23" name="Rounded Rectangle 22"/>
          <p:cNvSpPr/>
          <p:nvPr/>
        </p:nvSpPr>
        <p:spPr>
          <a:xfrm>
            <a:off x="566928" y="4069080"/>
            <a:ext cx="1234440" cy="457200"/>
          </a:xfrm>
          <a:prstGeom prst="roundRect">
            <a:avLst>
              <a:gd name="adj" fmla="val 50000"/>
            </a:avLst>
          </a:prstGeom>
          <a:solidFill>
            <a:srgbClr val="F7F7FA"/>
          </a:solidFill>
          <a:ln>
            <a:noFill/>
          </a:ln>
          <a:effectLst/>
        </p:spPr>
        <p:txBody>
          <a:bodyPr rtlCol="0" anchor="ctr"/>
          <a:lstStyle/>
          <a:p>
            <a:pPr algn="ctr"/>
          </a:p>
        </p:txBody>
      </p:sp>
      <p:sp>
        <p:nvSpPr>
          <p:cNvPr id="24" name="TextBox 23"/>
          <p:cNvSpPr txBox="1"/>
          <p:nvPr/>
        </p:nvSpPr>
        <p:spPr>
          <a:xfrm>
            <a:off x="585216" y="4069080"/>
            <a:ext cx="1197864" cy="457200"/>
          </a:xfrm>
          <a:prstGeom prst="rect">
            <a:avLst/>
          </a:prstGeom>
          <a:noFill/>
        </p:spPr>
        <p:txBody>
          <a:bodyPr wrap="square" lIns="0" rIns="0" tIns="0" bIns="0" anchor="ctr">
            <a:spAutoFit/>
          </a:bodyPr>
          <a:lstStyle/>
          <a:p>
            <a:pPr algn="ctr">
              <a:lnSpc>
                <a:spcPct val="100000"/>
              </a:lnSpc>
            </a:pPr>
            <a:r>
              <a:rPr sz="1000" b="1" i="0">
                <a:solidFill>
                  <a:srgbClr val="4A35FF"/>
                </a:solidFill>
                <a:latin typeface="Montserrat"/>
              </a:rPr>
              <a:t>Today</a:t>
            </a:r>
          </a:p>
        </p:txBody>
      </p:sp>
      <p:sp>
        <p:nvSpPr>
          <p:cNvPr id="25" name="TextBox 24"/>
          <p:cNvSpPr txBox="1"/>
          <p:nvPr/>
        </p:nvSpPr>
        <p:spPr>
          <a:xfrm>
            <a:off x="1984248" y="4114800"/>
            <a:ext cx="9509760" cy="457200"/>
          </a:xfrm>
          <a:prstGeom prst="rect">
            <a:avLst/>
          </a:prstGeom>
          <a:noFill/>
        </p:spPr>
        <p:txBody>
          <a:bodyPr wrap="square" lIns="0" rIns="0" tIns="0" bIns="0" anchor="t">
            <a:spAutoFit/>
          </a:bodyPr>
          <a:lstStyle/>
          <a:p>
            <a:pPr algn="l">
              <a:lnSpc>
                <a:spcPct val="125000"/>
              </a:lnSpc>
            </a:pPr>
            <a:r>
              <a:rPr sz="1050" b="0" i="0">
                <a:solidFill>
                  <a:srgbClr val="6E7180"/>
                </a:solidFill>
                <a:latin typeface="Geist"/>
              </a:rPr>
              <a:t>CFI runs cohorts, quality-controls audits and stewards the public portal.</a:t>
            </a:r>
          </a:p>
        </p:txBody>
      </p:sp>
      <p:sp>
        <p:nvSpPr>
          <p:cNvPr id="26" name="Rounded Rectangle 25"/>
          <p:cNvSpPr/>
          <p:nvPr/>
        </p:nvSpPr>
        <p:spPr>
          <a:xfrm>
            <a:off x="566928" y="4727448"/>
            <a:ext cx="1234440" cy="457200"/>
          </a:xfrm>
          <a:prstGeom prst="roundRect">
            <a:avLst>
              <a:gd name="adj" fmla="val 50000"/>
            </a:avLst>
          </a:prstGeom>
          <a:solidFill>
            <a:srgbClr val="F7F7FA"/>
          </a:solidFill>
          <a:ln>
            <a:noFill/>
          </a:ln>
          <a:effectLst/>
        </p:spPr>
        <p:txBody>
          <a:bodyPr rtlCol="0" anchor="ctr"/>
          <a:lstStyle/>
          <a:p>
            <a:pPr algn="ctr"/>
          </a:p>
        </p:txBody>
      </p:sp>
      <p:sp>
        <p:nvSpPr>
          <p:cNvPr id="27" name="TextBox 26"/>
          <p:cNvSpPr txBox="1"/>
          <p:nvPr/>
        </p:nvSpPr>
        <p:spPr>
          <a:xfrm>
            <a:off x="585216" y="4727448"/>
            <a:ext cx="1197864" cy="457200"/>
          </a:xfrm>
          <a:prstGeom prst="rect">
            <a:avLst/>
          </a:prstGeom>
          <a:noFill/>
        </p:spPr>
        <p:txBody>
          <a:bodyPr wrap="square" lIns="0" rIns="0" tIns="0" bIns="0" anchor="ctr">
            <a:spAutoFit/>
          </a:bodyPr>
          <a:lstStyle/>
          <a:p>
            <a:pPr algn="ctr">
              <a:lnSpc>
                <a:spcPct val="100000"/>
              </a:lnSpc>
            </a:pPr>
            <a:r>
              <a:rPr sz="1000" b="1" i="0">
                <a:solidFill>
                  <a:srgbClr val="0E8A8A"/>
                </a:solidFill>
                <a:latin typeface="Montserrat"/>
              </a:rPr>
              <a:t>Next</a:t>
            </a:r>
          </a:p>
        </p:txBody>
      </p:sp>
      <p:sp>
        <p:nvSpPr>
          <p:cNvPr id="28" name="TextBox 27"/>
          <p:cNvSpPr txBox="1"/>
          <p:nvPr/>
        </p:nvSpPr>
        <p:spPr>
          <a:xfrm>
            <a:off x="1984248" y="4773168"/>
            <a:ext cx="9509760" cy="457200"/>
          </a:xfrm>
          <a:prstGeom prst="rect">
            <a:avLst/>
          </a:prstGeom>
          <a:noFill/>
        </p:spPr>
        <p:txBody>
          <a:bodyPr wrap="square" lIns="0" rIns="0" tIns="0" bIns="0" anchor="t">
            <a:spAutoFit/>
          </a:bodyPr>
          <a:lstStyle/>
          <a:p>
            <a:pPr algn="l">
              <a:lnSpc>
                <a:spcPct val="125000"/>
              </a:lnSpc>
            </a:pPr>
            <a:r>
              <a:rPr sz="1050" b="0" i="0">
                <a:solidFill>
                  <a:srgbClr val="6E7180"/>
                </a:solidFill>
                <a:latin typeface="Geist"/>
              </a:rPr>
              <a:t>Rakshak Audit Manual v1.0 codifies the method; universities field their own teams; NGOs run Track B directly.</a:t>
            </a:r>
          </a:p>
        </p:txBody>
      </p:sp>
      <p:sp>
        <p:nvSpPr>
          <p:cNvPr id="29" name="Rounded Rectangle 28"/>
          <p:cNvSpPr/>
          <p:nvPr/>
        </p:nvSpPr>
        <p:spPr>
          <a:xfrm>
            <a:off x="566928" y="5385816"/>
            <a:ext cx="1234440" cy="457200"/>
          </a:xfrm>
          <a:prstGeom prst="roundRect">
            <a:avLst>
              <a:gd name="adj" fmla="val 50000"/>
            </a:avLst>
          </a:prstGeom>
          <a:solidFill>
            <a:srgbClr val="F7F7FA"/>
          </a:solidFill>
          <a:ln>
            <a:noFill/>
          </a:ln>
          <a:effectLst/>
        </p:spPr>
        <p:txBody>
          <a:bodyPr rtlCol="0" anchor="ctr"/>
          <a:lstStyle/>
          <a:p>
            <a:pPr algn="ctr"/>
          </a:p>
        </p:txBody>
      </p:sp>
      <p:sp>
        <p:nvSpPr>
          <p:cNvPr id="30" name="TextBox 29"/>
          <p:cNvSpPr txBox="1"/>
          <p:nvPr/>
        </p:nvSpPr>
        <p:spPr>
          <a:xfrm>
            <a:off x="585216" y="5385816"/>
            <a:ext cx="1197864" cy="457200"/>
          </a:xfrm>
          <a:prstGeom prst="rect">
            <a:avLst/>
          </a:prstGeom>
          <a:noFill/>
        </p:spPr>
        <p:txBody>
          <a:bodyPr wrap="square" lIns="0" rIns="0" tIns="0" bIns="0" anchor="ctr">
            <a:spAutoFit/>
          </a:bodyPr>
          <a:lstStyle/>
          <a:p>
            <a:pPr algn="ctr">
              <a:lnSpc>
                <a:spcPct val="100000"/>
              </a:lnSpc>
            </a:pPr>
            <a:r>
              <a:rPr sz="1000" b="1" i="0">
                <a:solidFill>
                  <a:srgbClr val="0A9955"/>
                </a:solidFill>
                <a:latin typeface="Montserrat"/>
              </a:rPr>
              <a:t>Mature</a:t>
            </a:r>
          </a:p>
        </p:txBody>
      </p:sp>
      <p:sp>
        <p:nvSpPr>
          <p:cNvPr id="31" name="TextBox 30"/>
          <p:cNvSpPr txBox="1"/>
          <p:nvPr/>
        </p:nvSpPr>
        <p:spPr>
          <a:xfrm>
            <a:off x="1984248" y="5431536"/>
            <a:ext cx="9509760" cy="457200"/>
          </a:xfrm>
          <a:prstGeom prst="rect">
            <a:avLst/>
          </a:prstGeom>
          <a:noFill/>
        </p:spPr>
        <p:txBody>
          <a:bodyPr wrap="square" lIns="0" rIns="0" tIns="0" bIns="0" anchor="t">
            <a:spAutoFit/>
          </a:bodyPr>
          <a:lstStyle/>
          <a:p>
            <a:pPr algn="l">
              <a:lnSpc>
                <a:spcPct val="125000"/>
              </a:lnSpc>
            </a:pPr>
            <a:r>
              <a:rPr sz="1050" b="0" i="0">
                <a:solidFill>
                  <a:srgbClr val="6E7180"/>
                </a:solidFill>
                <a:latin typeface="Geist"/>
              </a:rPr>
              <a:t>States engage certified RSAs for Track C without CFI as intermediary; the portal remains the shared public record.</a:t>
            </a:r>
          </a:p>
        </p:txBody>
      </p:sp>
      <p:cxnSp>
        <p:nvCxnSpPr>
          <p:cNvPr id="32" name="Connector 31"/>
          <p:cNvCxnSpPr/>
          <p:nvPr/>
        </p:nvCxnSpPr>
        <p:spPr>
          <a:xfrm>
            <a:off x="566928" y="6455664"/>
            <a:ext cx="11057839" cy="0"/>
          </a:xfrm>
          <a:prstGeom prst="line">
            <a:avLst/>
          </a:prstGeom>
          <a:ln w="9525">
            <a:solidFill>
              <a:srgbClr val="E8E9EE"/>
            </a:solidFill>
          </a:ln>
          <a:effectLst/>
        </p:spPr>
      </p:cxnSp>
      <p:sp>
        <p:nvSpPr>
          <p:cNvPr id="33" name="TextBox 3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4" name="TextBox 3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25 / 28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VULNERABLE ROAD USERS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growing evidence base on </a:t>
            </a:r>
            <a:r>
              <a:rPr sz="2250" b="1" i="0">
                <a:solidFill>
                  <a:srgbClr val="4A35FF"/>
                </a:solidFill>
                <a:latin typeface="Montserrat"/>
              </a:rPr>
              <a:t>those most at risk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Roughly 70% of India's road crash fatalities are vulnerable road users, pedestrians, motorcyclists, bicyclists.</a:t>
            </a:r>
          </a:p>
        </p:txBody>
      </p:sp>
      <p:sp>
        <p:nvSpPr>
          <p:cNvPr id="8" name="TextBox 7"/>
          <p:cNvSpPr txBox="1"/>
          <p:nvPr/>
        </p:nvSpPr>
        <p:spPr>
          <a:xfrm>
            <a:off x="566928" y="2121408"/>
            <a:ext cx="6949440" cy="237744"/>
          </a:xfrm>
          <a:prstGeom prst="rect">
            <a:avLst/>
          </a:prstGeom>
          <a:noFill/>
        </p:spPr>
        <p:txBody>
          <a:bodyPr wrap="square" lIns="0" rIns="0" tIns="0" bIns="0" anchor="t">
            <a:spAutoFit/>
          </a:bodyPr>
          <a:lstStyle/>
          <a:p>
            <a:pPr algn="l">
              <a:lnSpc>
                <a:spcPct val="128000"/>
              </a:lnSpc>
            </a:pPr>
            <a:r>
              <a:rPr sz="850" b="1" i="0" spc="130">
                <a:solidFill>
                  <a:srgbClr val="4A35FF"/>
                </a:solidFill>
                <a:latin typeface="Montserrat"/>
              </a:rPr>
              <a:t>OUR PUBLISHED STUDY: 'WHEN RISKS BECOME ROUTINE' (FEB 2026)</a:t>
            </a:r>
          </a:p>
        </p:txBody>
      </p:sp>
      <p:sp>
        <p:nvSpPr>
          <p:cNvPr id="9" name="Rounded Rectangle 8"/>
          <p:cNvSpPr/>
          <p:nvPr/>
        </p:nvSpPr>
        <p:spPr>
          <a:xfrm>
            <a:off x="566928" y="2450592"/>
            <a:ext cx="2231136" cy="1042415"/>
          </a:xfrm>
          <a:prstGeom prst="roundRect">
            <a:avLst>
              <a:gd name="adj" fmla="val 10000"/>
            </a:avLst>
          </a:prstGeom>
          <a:solidFill>
            <a:srgbClr val="F7F7FA"/>
          </a:solidFill>
          <a:ln>
            <a:noFill/>
          </a:ln>
          <a:effectLst/>
        </p:spPr>
        <p:txBody>
          <a:bodyPr rtlCol="0" anchor="ctr"/>
          <a:lstStyle/>
          <a:p>
            <a:pPr algn="ctr"/>
          </a:p>
        </p:txBody>
      </p:sp>
      <p:sp>
        <p:nvSpPr>
          <p:cNvPr id="10" name="TextBox 9"/>
          <p:cNvSpPr txBox="1"/>
          <p:nvPr/>
        </p:nvSpPr>
        <p:spPr>
          <a:xfrm>
            <a:off x="704088" y="2542032"/>
            <a:ext cx="2011680" cy="365760"/>
          </a:xfrm>
          <a:prstGeom prst="rect">
            <a:avLst/>
          </a:prstGeom>
          <a:noFill/>
        </p:spPr>
        <p:txBody>
          <a:bodyPr wrap="square" lIns="0" rIns="0" tIns="0" bIns="0" anchor="t">
            <a:spAutoFit/>
          </a:bodyPr>
          <a:lstStyle/>
          <a:p>
            <a:pPr algn="l">
              <a:lnSpc>
                <a:spcPct val="128000"/>
              </a:lnSpc>
            </a:pPr>
            <a:r>
              <a:rPr sz="1800" b="1" i="0">
                <a:solidFill>
                  <a:srgbClr val="4A35FF"/>
                </a:solidFill>
                <a:latin typeface="Montserrat"/>
              </a:rPr>
              <a:t>~45%</a:t>
            </a:r>
          </a:p>
        </p:txBody>
      </p:sp>
      <p:sp>
        <p:nvSpPr>
          <p:cNvPr id="11" name="TextBox 10"/>
          <p:cNvSpPr txBox="1"/>
          <p:nvPr/>
        </p:nvSpPr>
        <p:spPr>
          <a:xfrm>
            <a:off x="704088" y="2926080"/>
            <a:ext cx="201168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of India's crash fatalities are two-wheeler users, rising year on year</a:t>
            </a:r>
          </a:p>
        </p:txBody>
      </p:sp>
      <p:sp>
        <p:nvSpPr>
          <p:cNvPr id="12" name="Rounded Rectangle 11"/>
          <p:cNvSpPr/>
          <p:nvPr/>
        </p:nvSpPr>
        <p:spPr>
          <a:xfrm>
            <a:off x="2907792" y="2450592"/>
            <a:ext cx="2231136" cy="1042415"/>
          </a:xfrm>
          <a:prstGeom prst="roundRect">
            <a:avLst>
              <a:gd name="adj" fmla="val 10000"/>
            </a:avLst>
          </a:prstGeom>
          <a:solidFill>
            <a:srgbClr val="F7F7FA"/>
          </a:solidFill>
          <a:ln>
            <a:noFill/>
          </a:ln>
          <a:effectLst/>
        </p:spPr>
        <p:txBody>
          <a:bodyPr rtlCol="0" anchor="ctr"/>
          <a:lstStyle/>
          <a:p>
            <a:pPr algn="ctr"/>
          </a:p>
        </p:txBody>
      </p:sp>
      <p:sp>
        <p:nvSpPr>
          <p:cNvPr id="13" name="TextBox 12"/>
          <p:cNvSpPr txBox="1"/>
          <p:nvPr/>
        </p:nvSpPr>
        <p:spPr>
          <a:xfrm>
            <a:off x="3044952" y="2542032"/>
            <a:ext cx="2011680" cy="365760"/>
          </a:xfrm>
          <a:prstGeom prst="rect">
            <a:avLst/>
          </a:prstGeom>
          <a:noFill/>
        </p:spPr>
        <p:txBody>
          <a:bodyPr wrap="square" lIns="0" rIns="0" tIns="0" bIns="0" anchor="t">
            <a:spAutoFit/>
          </a:bodyPr>
          <a:lstStyle/>
          <a:p>
            <a:pPr algn="l">
              <a:lnSpc>
                <a:spcPct val="128000"/>
              </a:lnSpc>
            </a:pPr>
            <a:r>
              <a:rPr sz="1800" b="1" i="0">
                <a:solidFill>
                  <a:srgbClr val="4A35FF"/>
                </a:solidFill>
                <a:latin typeface="Montserrat"/>
              </a:rPr>
              <a:t>1 in 2</a:t>
            </a:r>
          </a:p>
        </p:txBody>
      </p:sp>
      <p:sp>
        <p:nvSpPr>
          <p:cNvPr id="14" name="TextBox 13"/>
          <p:cNvSpPr txBox="1"/>
          <p:nvPr/>
        </p:nvSpPr>
        <p:spPr>
          <a:xfrm>
            <a:off x="3044952" y="2926080"/>
            <a:ext cx="201168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delivery riders in a 431-rider Mumbai crash study had already crashed</a:t>
            </a:r>
          </a:p>
        </p:txBody>
      </p:sp>
      <p:sp>
        <p:nvSpPr>
          <p:cNvPr id="15" name="Rounded Rectangle 14"/>
          <p:cNvSpPr/>
          <p:nvPr/>
        </p:nvSpPr>
        <p:spPr>
          <a:xfrm>
            <a:off x="5248656" y="2450592"/>
            <a:ext cx="2231136" cy="1042415"/>
          </a:xfrm>
          <a:prstGeom prst="roundRect">
            <a:avLst>
              <a:gd name="adj" fmla="val 10000"/>
            </a:avLst>
          </a:prstGeom>
          <a:solidFill>
            <a:srgbClr val="F7F7FA"/>
          </a:solidFill>
          <a:ln>
            <a:noFill/>
          </a:ln>
          <a:effectLst/>
        </p:spPr>
        <p:txBody>
          <a:bodyPr rtlCol="0" anchor="ctr"/>
          <a:lstStyle/>
          <a:p>
            <a:pPr algn="ctr"/>
          </a:p>
        </p:txBody>
      </p:sp>
      <p:sp>
        <p:nvSpPr>
          <p:cNvPr id="16" name="TextBox 15"/>
          <p:cNvSpPr txBox="1"/>
          <p:nvPr/>
        </p:nvSpPr>
        <p:spPr>
          <a:xfrm>
            <a:off x="5385816" y="2542032"/>
            <a:ext cx="2011680" cy="365760"/>
          </a:xfrm>
          <a:prstGeom prst="rect">
            <a:avLst/>
          </a:prstGeom>
          <a:noFill/>
        </p:spPr>
        <p:txBody>
          <a:bodyPr wrap="square" lIns="0" rIns="0" tIns="0" bIns="0" anchor="t">
            <a:spAutoFit/>
          </a:bodyPr>
          <a:lstStyle/>
          <a:p>
            <a:pPr algn="l">
              <a:lnSpc>
                <a:spcPct val="128000"/>
              </a:lnSpc>
            </a:pPr>
            <a:r>
              <a:rPr sz="1800" b="1" i="0">
                <a:solidFill>
                  <a:srgbClr val="4A35FF"/>
                </a:solidFill>
                <a:latin typeface="Montserrat"/>
              </a:rPr>
              <a:t>~70%</a:t>
            </a:r>
          </a:p>
        </p:txBody>
      </p:sp>
      <p:sp>
        <p:nvSpPr>
          <p:cNvPr id="17" name="TextBox 16"/>
          <p:cNvSpPr txBox="1"/>
          <p:nvPr/>
        </p:nvSpPr>
        <p:spPr>
          <a:xfrm>
            <a:off x="5385816" y="2926080"/>
            <a:ext cx="201168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of families at our crash-compensation helpdesks are vulnerable road users</a:t>
            </a:r>
          </a:p>
        </p:txBody>
      </p:sp>
      <p:sp>
        <p:nvSpPr>
          <p:cNvPr id="18" name="TextBox 17"/>
          <p:cNvSpPr txBox="1"/>
          <p:nvPr/>
        </p:nvSpPr>
        <p:spPr>
          <a:xfrm>
            <a:off x="566928" y="3639312"/>
            <a:ext cx="6858000" cy="548640"/>
          </a:xfrm>
          <a:prstGeom prst="rect">
            <a:avLst/>
          </a:prstGeom>
          <a:noFill/>
        </p:spPr>
        <p:txBody>
          <a:bodyPr wrap="square" lIns="0" rIns="0" tIns="0" bIns="0" anchor="t">
            <a:spAutoFit/>
          </a:bodyPr>
          <a:lstStyle/>
          <a:p>
            <a:pPr algn="l">
              <a:lnSpc>
                <a:spcPct val="130000"/>
              </a:lnSpc>
            </a:pPr>
            <a:r>
              <a:rPr sz="950" b="0" i="0">
                <a:solidFill>
                  <a:srgbClr val="16181D"/>
                </a:solidFill>
                <a:latin typeface="Geist"/>
              </a:rPr>
              <a:t>Forty pages and 87 references, published February 2026. Enforcement sees the risk too: Bengaluru's challans against delivery riders rose from 30,968 in 2023 to 63,718 in nine months of 2025. The study lands on two first levers, rider training and helmet compliance, and has been shared with platforms and police.</a:t>
            </a:r>
          </a:p>
        </p:txBody>
      </p:sp>
      <p:sp>
        <p:nvSpPr>
          <p:cNvPr id="19" name="Oval 18"/>
          <p:cNvSpPr/>
          <p:nvPr/>
        </p:nvSpPr>
        <p:spPr>
          <a:xfrm>
            <a:off x="566928" y="4434840"/>
            <a:ext cx="365760" cy="365760"/>
          </a:xfrm>
          <a:prstGeom prst="ellipse">
            <a:avLst/>
          </a:prstGeom>
          <a:solidFill>
            <a:srgbClr val="EFEDFF"/>
          </a:solidFill>
          <a:ln>
            <a:noFill/>
          </a:ln>
          <a:effectLst/>
        </p:spPr>
        <p:txBody>
          <a:bodyPr rtlCol="0" anchor="ctr"/>
          <a:lstStyle/>
          <a:p>
            <a:pPr algn="ctr"/>
          </a:p>
        </p:txBody>
      </p:sp>
      <p:pic>
        <p:nvPicPr>
          <p:cNvPr id="20" name="Picture 19" descr="footprints_4A35FF_256_2.0.png"/>
          <p:cNvPicPr>
            <a:picLocks noChangeAspect="1"/>
          </p:cNvPicPr>
          <p:nvPr/>
        </p:nvPicPr>
        <p:blipFill>
          <a:blip r:embed="rId2"/>
          <a:stretch>
            <a:fillRect/>
          </a:stretch>
        </p:blipFill>
        <p:spPr>
          <a:xfrm>
            <a:off x="654710" y="4522622"/>
            <a:ext cx="190195" cy="190195"/>
          </a:xfrm>
          <a:prstGeom prst="rect">
            <a:avLst/>
          </a:prstGeom>
        </p:spPr>
      </p:pic>
      <p:sp>
        <p:nvSpPr>
          <p:cNvPr id="21" name="TextBox 20"/>
          <p:cNvSpPr txBox="1"/>
          <p:nvPr/>
        </p:nvSpPr>
        <p:spPr>
          <a:xfrm>
            <a:off x="1097280" y="4416552"/>
            <a:ext cx="2377440" cy="45720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Pedestrian-first audits</a:t>
            </a:r>
          </a:p>
        </p:txBody>
      </p:sp>
      <p:sp>
        <p:nvSpPr>
          <p:cNvPr id="22" name="TextBox 21"/>
          <p:cNvSpPr txBox="1"/>
          <p:nvPr/>
        </p:nvSpPr>
        <p:spPr>
          <a:xfrm>
            <a:off x="3566160" y="4416552"/>
            <a:ext cx="3794760" cy="685800"/>
          </a:xfrm>
          <a:prstGeom prst="rect">
            <a:avLst/>
          </a:prstGeom>
          <a:noFill/>
        </p:spPr>
        <p:txBody>
          <a:bodyPr wrap="square" lIns="0" rIns="0" tIns="0" bIns="0" anchor="t">
            <a:spAutoFit/>
          </a:bodyPr>
          <a:lstStyle/>
          <a:p>
            <a:pPr algn="l">
              <a:lnSpc>
                <a:spcPct val="122000"/>
              </a:lnSpc>
            </a:pPr>
            <a:r>
              <a:rPr sz="900" b="0" i="0">
                <a:solidFill>
                  <a:srgbClr val="6E7180"/>
                </a:solidFill>
                <a:latin typeface="Geist"/>
              </a:rPr>
              <a:t>Every Rakshak audit documents crossings, footpaths and lighting as designable protections, 900+ stakeholders consulted.</a:t>
            </a:r>
          </a:p>
        </p:txBody>
      </p:sp>
      <p:sp>
        <p:nvSpPr>
          <p:cNvPr id="23" name="Oval 22"/>
          <p:cNvSpPr/>
          <p:nvPr/>
        </p:nvSpPr>
        <p:spPr>
          <a:xfrm>
            <a:off x="566928" y="5111496"/>
            <a:ext cx="365760" cy="365760"/>
          </a:xfrm>
          <a:prstGeom prst="ellipse">
            <a:avLst/>
          </a:prstGeom>
          <a:solidFill>
            <a:srgbClr val="E7F4F4"/>
          </a:solidFill>
          <a:ln>
            <a:noFill/>
          </a:ln>
          <a:effectLst/>
        </p:spPr>
        <p:txBody>
          <a:bodyPr rtlCol="0" anchor="ctr"/>
          <a:lstStyle/>
          <a:p>
            <a:pPr algn="ctr"/>
          </a:p>
        </p:txBody>
      </p:sp>
      <p:pic>
        <p:nvPicPr>
          <p:cNvPr id="24" name="Picture 23" descr="school_0E8A8A_256_2.0.png"/>
          <p:cNvPicPr>
            <a:picLocks noChangeAspect="1"/>
          </p:cNvPicPr>
          <p:nvPr/>
        </p:nvPicPr>
        <p:blipFill>
          <a:blip r:embed="rId3"/>
          <a:stretch>
            <a:fillRect/>
          </a:stretch>
        </p:blipFill>
        <p:spPr>
          <a:xfrm>
            <a:off x="654710" y="5199278"/>
            <a:ext cx="190195" cy="190195"/>
          </a:xfrm>
          <a:prstGeom prst="rect">
            <a:avLst/>
          </a:prstGeom>
        </p:spPr>
      </p:pic>
      <p:sp>
        <p:nvSpPr>
          <p:cNvPr id="25" name="TextBox 24"/>
          <p:cNvSpPr txBox="1"/>
          <p:nvPr/>
        </p:nvSpPr>
        <p:spPr>
          <a:xfrm>
            <a:off x="1097280" y="5093208"/>
            <a:ext cx="2377440" cy="45720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School zones</a:t>
            </a:r>
          </a:p>
        </p:txBody>
      </p:sp>
      <p:sp>
        <p:nvSpPr>
          <p:cNvPr id="26" name="TextBox 25"/>
          <p:cNvSpPr txBox="1"/>
          <p:nvPr/>
        </p:nvSpPr>
        <p:spPr>
          <a:xfrm>
            <a:off x="3566160" y="5093208"/>
            <a:ext cx="3794760" cy="685800"/>
          </a:xfrm>
          <a:prstGeom prst="rect">
            <a:avLst/>
          </a:prstGeom>
          <a:noFill/>
        </p:spPr>
        <p:txBody>
          <a:bodyPr wrap="square" lIns="0" rIns="0" tIns="0" bIns="0" anchor="t">
            <a:spAutoFit/>
          </a:bodyPr>
          <a:lstStyle/>
          <a:p>
            <a:pPr algn="l">
              <a:lnSpc>
                <a:spcPct val="122000"/>
              </a:lnSpc>
            </a:pPr>
            <a:r>
              <a:rPr sz="900" b="0" i="0">
                <a:solidFill>
                  <a:srgbClr val="6E7180"/>
                </a:solidFill>
                <a:latin typeface="Geist"/>
              </a:rPr>
              <a:t>College-led, standards-based school-zone screening under exploration as the next extension of the audit platform.</a:t>
            </a:r>
          </a:p>
        </p:txBody>
      </p:sp>
      <p:sp>
        <p:nvSpPr>
          <p:cNvPr id="27" name="Oval 26"/>
          <p:cNvSpPr/>
          <p:nvPr/>
        </p:nvSpPr>
        <p:spPr>
          <a:xfrm>
            <a:off x="566928" y="5788152"/>
            <a:ext cx="365760" cy="365760"/>
          </a:xfrm>
          <a:prstGeom prst="ellipse">
            <a:avLst/>
          </a:prstGeom>
          <a:solidFill>
            <a:srgbClr val="E9F7F0"/>
          </a:solidFill>
          <a:ln>
            <a:noFill/>
          </a:ln>
          <a:effectLst/>
        </p:spPr>
        <p:txBody>
          <a:bodyPr rtlCol="0" anchor="ctr"/>
          <a:lstStyle/>
          <a:p>
            <a:pPr algn="ctr"/>
          </a:p>
        </p:txBody>
      </p:sp>
      <p:pic>
        <p:nvPicPr>
          <p:cNvPr id="28" name="Picture 27" descr="shield_0A9955_256_2.0.png"/>
          <p:cNvPicPr>
            <a:picLocks noChangeAspect="1"/>
          </p:cNvPicPr>
          <p:nvPr/>
        </p:nvPicPr>
        <p:blipFill>
          <a:blip r:embed="rId4"/>
          <a:stretch>
            <a:fillRect/>
          </a:stretch>
        </p:blipFill>
        <p:spPr>
          <a:xfrm>
            <a:off x="654710" y="5875934"/>
            <a:ext cx="190195" cy="190195"/>
          </a:xfrm>
          <a:prstGeom prst="rect">
            <a:avLst/>
          </a:prstGeom>
        </p:spPr>
      </p:pic>
      <p:sp>
        <p:nvSpPr>
          <p:cNvPr id="29" name="TextBox 28"/>
          <p:cNvSpPr txBox="1"/>
          <p:nvPr/>
        </p:nvSpPr>
        <p:spPr>
          <a:xfrm>
            <a:off x="1097280" y="5769864"/>
            <a:ext cx="2377440" cy="45720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Enforcement that protects VRUs</a:t>
            </a:r>
          </a:p>
        </p:txBody>
      </p:sp>
      <p:sp>
        <p:nvSpPr>
          <p:cNvPr id="30" name="TextBox 29"/>
          <p:cNvSpPr txBox="1"/>
          <p:nvPr/>
        </p:nvSpPr>
        <p:spPr>
          <a:xfrm>
            <a:off x="3566160" y="5769864"/>
            <a:ext cx="3794760" cy="685800"/>
          </a:xfrm>
          <a:prstGeom prst="rect">
            <a:avLst/>
          </a:prstGeom>
          <a:noFill/>
        </p:spPr>
        <p:txBody>
          <a:bodyPr wrap="square" lIns="0" rIns="0" tIns="0" bIns="0" anchor="t">
            <a:spAutoFit/>
          </a:bodyPr>
          <a:lstStyle/>
          <a:p>
            <a:pPr algn="l">
              <a:lnSpc>
                <a:spcPct val="122000"/>
              </a:lnSpc>
            </a:pPr>
            <a:r>
              <a:rPr sz="900" b="0" i="0">
                <a:solidFill>
                  <a:srgbClr val="6E7180"/>
                </a:solidFill>
                <a:latin typeface="Geist"/>
              </a:rPr>
              <a:t>SATARK helps police prioritise the small share of vehicles with the worst records, targeted, fair, technology-led.</a:t>
            </a:r>
          </a:p>
        </p:txBody>
      </p:sp>
      <p:pic>
        <p:nvPicPr>
          <p:cNvPr id="31" name="Picture 30" descr="chart_vru_trends.png"/>
          <p:cNvPicPr>
            <a:picLocks noChangeAspect="1"/>
          </p:cNvPicPr>
          <p:nvPr/>
        </p:nvPicPr>
        <p:blipFill>
          <a:blip r:embed="rId5"/>
          <a:stretch>
            <a:fillRect/>
          </a:stretch>
        </p:blipFill>
        <p:spPr>
          <a:xfrm>
            <a:off x="7772400" y="2121408"/>
            <a:ext cx="2994263" cy="2011680"/>
          </a:xfrm>
          <a:prstGeom prst="rect">
            <a:avLst/>
          </a:prstGeom>
        </p:spPr>
      </p:pic>
      <p:sp>
        <p:nvSpPr>
          <p:cNvPr id="32" name="Rectangle 31"/>
          <p:cNvSpPr/>
          <p:nvPr/>
        </p:nvSpPr>
        <p:spPr>
          <a:xfrm>
            <a:off x="7772400" y="2121408"/>
            <a:ext cx="2994263" cy="2011680"/>
          </a:xfrm>
          <a:prstGeom prst="rect">
            <a:avLst/>
          </a:prstGeom>
          <a:noFill/>
          <a:ln w="12700">
            <a:solidFill>
              <a:srgbClr val="E8E9EE"/>
            </a:solidFill>
          </a:ln>
          <a:effectLst/>
        </p:spPr>
        <p:txBody>
          <a:bodyPr rtlCol="0" anchor="ctr"/>
          <a:lstStyle/>
          <a:p>
            <a:pPr algn="ctr"/>
          </a:p>
        </p:txBody>
      </p:sp>
      <p:sp>
        <p:nvSpPr>
          <p:cNvPr id="33" name="TextBox 32"/>
          <p:cNvSpPr txBox="1"/>
          <p:nvPr/>
        </p:nvSpPr>
        <p:spPr>
          <a:xfrm>
            <a:off x="7772400" y="4178808"/>
            <a:ext cx="2994263"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Fatality trends by road-user type, 2014–2023 (MoRTH; via IndiaSpend).</a:t>
            </a:r>
          </a:p>
        </p:txBody>
      </p:sp>
      <p:pic>
        <p:nvPicPr>
          <p:cNvPr id="34" name="Picture 33" descr="ph_gig_riders.jpg_4.20x1.50_0.35.jpg"/>
          <p:cNvPicPr>
            <a:picLocks noChangeAspect="1"/>
          </p:cNvPicPr>
          <p:nvPr/>
        </p:nvPicPr>
        <p:blipFill>
          <a:blip r:embed="rId6"/>
          <a:stretch>
            <a:fillRect/>
          </a:stretch>
        </p:blipFill>
        <p:spPr>
          <a:xfrm>
            <a:off x="7772400" y="4709160"/>
            <a:ext cx="3840480" cy="1371600"/>
          </a:xfrm>
          <a:prstGeom prst="rect">
            <a:avLst/>
          </a:prstGeom>
        </p:spPr>
      </p:pic>
      <p:sp>
        <p:nvSpPr>
          <p:cNvPr id="35" name="Rectangle 34"/>
          <p:cNvSpPr/>
          <p:nvPr/>
        </p:nvSpPr>
        <p:spPr>
          <a:xfrm>
            <a:off x="7772400" y="4709160"/>
            <a:ext cx="3840480" cy="1371600"/>
          </a:xfrm>
          <a:prstGeom prst="rect">
            <a:avLst/>
          </a:prstGeom>
          <a:noFill/>
          <a:ln w="12700">
            <a:solidFill>
              <a:srgbClr val="E8E9EE"/>
            </a:solidFill>
          </a:ln>
          <a:effectLst/>
        </p:spPr>
        <p:txBody>
          <a:bodyPr rtlCol="0" anchor="ctr"/>
          <a:lstStyle/>
          <a:p>
            <a:pPr algn="ctr"/>
          </a:p>
        </p:txBody>
      </p:sp>
      <p:cxnSp>
        <p:nvCxnSpPr>
          <p:cNvPr id="36" name="Connector 35"/>
          <p:cNvCxnSpPr/>
          <p:nvPr/>
        </p:nvCxnSpPr>
        <p:spPr>
          <a:xfrm>
            <a:off x="566928" y="6455664"/>
            <a:ext cx="11057839" cy="0"/>
          </a:xfrm>
          <a:prstGeom prst="line">
            <a:avLst/>
          </a:prstGeom>
          <a:ln w="9525">
            <a:solidFill>
              <a:srgbClr val="E8E9EE"/>
            </a:solidFill>
          </a:ln>
          <a:effectLst/>
        </p:spPr>
      </p:cxnSp>
      <p:sp>
        <p:nvSpPr>
          <p:cNvPr id="37" name="TextBox 36"/>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8" name="TextBox 37"/>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26 / 28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5 OF 5  ·  OUR CONTRIBUTION</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05 · HOW WE CAN CONTRIBUTE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Four concrete offers to </a:t>
            </a:r>
            <a:r>
              <a:rPr sz="2250" b="1" i="0">
                <a:solidFill>
                  <a:srgbClr val="4A35FF"/>
                </a:solidFill>
                <a:latin typeface="Montserrat"/>
              </a:rPr>
              <a:t>Working Group 2</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All four are ready today, need no funding from the Board, and can begin within weeks.</a:t>
            </a:r>
          </a:p>
        </p:txBody>
      </p:sp>
      <p:sp>
        <p:nvSpPr>
          <p:cNvPr id="8" name="Rounded Rectangle 7"/>
          <p:cNvSpPr/>
          <p:nvPr/>
        </p:nvSpPr>
        <p:spPr>
          <a:xfrm>
            <a:off x="566928" y="2057400"/>
            <a:ext cx="11055096" cy="841248"/>
          </a:xfrm>
          <a:prstGeom prst="roundRect">
            <a:avLst>
              <a:gd name="adj" fmla="val 10000"/>
            </a:avLst>
          </a:prstGeom>
          <a:solidFill>
            <a:srgbClr val="F7F7FA"/>
          </a:solidFill>
          <a:ln>
            <a:noFill/>
          </a:ln>
          <a:effectLst/>
        </p:spPr>
        <p:txBody>
          <a:bodyPr rtlCol="0" anchor="ctr"/>
          <a:lstStyle/>
          <a:p>
            <a:pPr algn="ctr"/>
          </a:p>
        </p:txBody>
      </p:sp>
      <p:sp>
        <p:nvSpPr>
          <p:cNvPr id="9" name="Oval 8"/>
          <p:cNvSpPr/>
          <p:nvPr/>
        </p:nvSpPr>
        <p:spPr>
          <a:xfrm>
            <a:off x="749808" y="2258568"/>
            <a:ext cx="438912" cy="438912"/>
          </a:xfrm>
          <a:prstGeom prst="ellipse">
            <a:avLst/>
          </a:prstGeom>
          <a:solidFill>
            <a:srgbClr val="EFEDFF"/>
          </a:solidFill>
          <a:ln>
            <a:noFill/>
          </a:ln>
          <a:effectLst/>
        </p:spPr>
        <p:txBody>
          <a:bodyPr rtlCol="0" anchor="ctr"/>
          <a:lstStyle/>
          <a:p>
            <a:pPr algn="ctr"/>
          </a:p>
        </p:txBody>
      </p:sp>
      <p:sp>
        <p:nvSpPr>
          <p:cNvPr id="10" name="TextBox 9"/>
          <p:cNvSpPr txBox="1"/>
          <p:nvPr/>
        </p:nvSpPr>
        <p:spPr>
          <a:xfrm>
            <a:off x="749808" y="224759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11" name="TextBox 10"/>
          <p:cNvSpPr txBox="1"/>
          <p:nvPr/>
        </p:nvSpPr>
        <p:spPr>
          <a:xfrm>
            <a:off x="1408176" y="2176272"/>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Ready evidence for standard-setting</a:t>
            </a:r>
          </a:p>
        </p:txBody>
      </p:sp>
      <p:sp>
        <p:nvSpPr>
          <p:cNvPr id="12" name="TextBox 11"/>
          <p:cNvSpPr txBox="1"/>
          <p:nvPr/>
        </p:nvSpPr>
        <p:spPr>
          <a:xfrm>
            <a:off x="5138928" y="2176272"/>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Site-level audit data, crash-pattern analysis and costed intervention designs across emerging hotspots and official black spots, for rectification protocols and speed-management guidance.</a:t>
            </a:r>
          </a:p>
        </p:txBody>
      </p:sp>
      <p:sp>
        <p:nvSpPr>
          <p:cNvPr id="13" name="Rounded Rectangle 12"/>
          <p:cNvSpPr/>
          <p:nvPr/>
        </p:nvSpPr>
        <p:spPr>
          <a:xfrm>
            <a:off x="566928" y="3026664"/>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4" name="Oval 13"/>
          <p:cNvSpPr/>
          <p:nvPr/>
        </p:nvSpPr>
        <p:spPr>
          <a:xfrm>
            <a:off x="749808" y="3227832"/>
            <a:ext cx="438912" cy="438912"/>
          </a:xfrm>
          <a:prstGeom prst="ellipse">
            <a:avLst/>
          </a:prstGeom>
          <a:solidFill>
            <a:srgbClr val="EFEDFF"/>
          </a:solidFill>
          <a:ln>
            <a:noFill/>
          </a:ln>
          <a:effectLst/>
        </p:spPr>
        <p:txBody>
          <a:bodyPr rtlCol="0" anchor="ctr"/>
          <a:lstStyle/>
          <a:p>
            <a:pPr algn="ctr"/>
          </a:p>
        </p:txBody>
      </p:sp>
      <p:sp>
        <p:nvSpPr>
          <p:cNvPr id="15" name="TextBox 14"/>
          <p:cNvSpPr txBox="1"/>
          <p:nvPr/>
        </p:nvSpPr>
        <p:spPr>
          <a:xfrm>
            <a:off x="749808" y="321686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6" name="TextBox 15"/>
          <p:cNvSpPr txBox="1"/>
          <p:nvPr/>
        </p:nvSpPr>
        <p:spPr>
          <a:xfrm>
            <a:off x="1408176" y="3145536"/>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live testing ground</a:t>
            </a:r>
          </a:p>
        </p:txBody>
      </p:sp>
      <p:sp>
        <p:nvSpPr>
          <p:cNvPr id="17" name="TextBox 16"/>
          <p:cNvSpPr txBox="1"/>
          <p:nvPr/>
        </p:nvSpPr>
        <p:spPr>
          <a:xfrm>
            <a:off x="5138928" y="3145536"/>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Active district relationships in Gurugram, South-West Delhi and Jaipur offer a ready pipeline to pilot or stress-test draft recommendations before national rollout.</a:t>
            </a:r>
          </a:p>
        </p:txBody>
      </p:sp>
      <p:sp>
        <p:nvSpPr>
          <p:cNvPr id="18" name="Rounded Rectangle 17"/>
          <p:cNvSpPr/>
          <p:nvPr/>
        </p:nvSpPr>
        <p:spPr>
          <a:xfrm>
            <a:off x="566928" y="3995928"/>
            <a:ext cx="11055096" cy="841248"/>
          </a:xfrm>
          <a:prstGeom prst="roundRect">
            <a:avLst>
              <a:gd name="adj" fmla="val 10000"/>
            </a:avLst>
          </a:prstGeom>
          <a:solidFill>
            <a:srgbClr val="F7F7FA"/>
          </a:solidFill>
          <a:ln>
            <a:noFill/>
          </a:ln>
          <a:effectLst/>
        </p:spPr>
        <p:txBody>
          <a:bodyPr rtlCol="0" anchor="ctr"/>
          <a:lstStyle/>
          <a:p>
            <a:pPr algn="ctr"/>
          </a:p>
        </p:txBody>
      </p:sp>
      <p:sp>
        <p:nvSpPr>
          <p:cNvPr id="19" name="Oval 18"/>
          <p:cNvSpPr/>
          <p:nvPr/>
        </p:nvSpPr>
        <p:spPr>
          <a:xfrm>
            <a:off x="749808" y="4197096"/>
            <a:ext cx="438912" cy="438912"/>
          </a:xfrm>
          <a:prstGeom prst="ellipse">
            <a:avLst/>
          </a:prstGeom>
          <a:solidFill>
            <a:srgbClr val="EFEDFF"/>
          </a:solidFill>
          <a:ln>
            <a:noFill/>
          </a:ln>
          <a:effectLst/>
        </p:spPr>
        <p:txBody>
          <a:bodyPr rtlCol="0" anchor="ctr"/>
          <a:lstStyle/>
          <a:p>
            <a:pPr algn="ctr"/>
          </a:p>
        </p:txBody>
      </p:sp>
      <p:sp>
        <p:nvSpPr>
          <p:cNvPr id="20" name="TextBox 19"/>
          <p:cNvSpPr txBox="1"/>
          <p:nvPr/>
        </p:nvSpPr>
        <p:spPr>
          <a:xfrm>
            <a:off x="749808" y="418612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1" name="TextBox 20"/>
          <p:cNvSpPr txBox="1"/>
          <p:nvPr/>
        </p:nvSpPr>
        <p:spPr>
          <a:xfrm>
            <a:off x="1408176" y="4114800"/>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Ground-level implementation diagnostics</a:t>
            </a:r>
          </a:p>
        </p:txBody>
      </p:sp>
      <p:sp>
        <p:nvSpPr>
          <p:cNvPr id="22" name="TextBox 21"/>
          <p:cNvSpPr txBox="1"/>
          <p:nvPr/>
        </p:nvSpPr>
        <p:spPr>
          <a:xfrm>
            <a:off x="5138928" y="4114800"/>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Granular, field-verified insight into how DRSCs and road-owning agencies actually move, meeting cadence, data use, follow-through.</a:t>
            </a:r>
          </a:p>
        </p:txBody>
      </p:sp>
      <p:sp>
        <p:nvSpPr>
          <p:cNvPr id="23" name="Rounded Rectangle 22"/>
          <p:cNvSpPr/>
          <p:nvPr/>
        </p:nvSpPr>
        <p:spPr>
          <a:xfrm>
            <a:off x="566928" y="4965192"/>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24" name="Oval 23"/>
          <p:cNvSpPr/>
          <p:nvPr/>
        </p:nvSpPr>
        <p:spPr>
          <a:xfrm>
            <a:off x="749808" y="5166360"/>
            <a:ext cx="438912" cy="438912"/>
          </a:xfrm>
          <a:prstGeom prst="ellipse">
            <a:avLst/>
          </a:prstGeom>
          <a:solidFill>
            <a:srgbClr val="EFEDFF"/>
          </a:solidFill>
          <a:ln>
            <a:noFill/>
          </a:ln>
          <a:effectLst/>
        </p:spPr>
        <p:txBody>
          <a:bodyPr rtlCol="0" anchor="ctr"/>
          <a:lstStyle/>
          <a:p>
            <a:pPr algn="ctr"/>
          </a:p>
        </p:txBody>
      </p:sp>
      <p:sp>
        <p:nvSpPr>
          <p:cNvPr id="25" name="TextBox 24"/>
          <p:cNvSpPr txBox="1"/>
          <p:nvPr/>
        </p:nvSpPr>
        <p:spPr>
          <a:xfrm>
            <a:off x="749808" y="515538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26" name="TextBox 25"/>
          <p:cNvSpPr txBox="1"/>
          <p:nvPr/>
        </p:nvSpPr>
        <p:spPr>
          <a:xfrm>
            <a:off x="1408176" y="5084064"/>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Technical bench strength on request</a:t>
            </a:r>
          </a:p>
        </p:txBody>
      </p:sp>
      <p:sp>
        <p:nvSpPr>
          <p:cNvPr id="27" name="TextBox 26"/>
          <p:cNvSpPr txBox="1"/>
          <p:nvPr/>
        </p:nvSpPr>
        <p:spPr>
          <a:xfrm>
            <a:off x="5138928" y="5084064"/>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Our academic and expert network stands ready for drafting, review and technical input on road design, speed and VRU standards.</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27 / 28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A35FF"/>
          </a:solidFill>
          <a:ln>
            <a:noFill/>
          </a:ln>
          <a:effectLst/>
        </p:spPr>
        <p:txBody>
          <a:bodyPr rtlCol="0" anchor="ctr"/>
          <a:lstStyle/>
          <a:p>
            <a:pPr algn="ctr"/>
          </a:p>
        </p:txBody>
      </p:sp>
      <p:pic>
        <p:nvPicPr>
          <p:cNvPr id="3" name="Picture 2" descr="logo_white.png"/>
          <p:cNvPicPr>
            <a:picLocks noChangeAspect="1"/>
          </p:cNvPicPr>
          <p:nvPr/>
        </p:nvPicPr>
        <p:blipFill>
          <a:blip r:embed="rId2"/>
          <a:stretch>
            <a:fillRect/>
          </a:stretch>
        </p:blipFill>
        <p:spPr>
          <a:xfrm>
            <a:off x="566928" y="566928"/>
            <a:ext cx="1828800" cy="252710"/>
          </a:xfrm>
          <a:prstGeom prst="rect">
            <a:avLst/>
          </a:prstGeom>
        </p:spPr>
      </p:pic>
      <p:sp>
        <p:nvSpPr>
          <p:cNvPr id="4" name="TextBox 3"/>
          <p:cNvSpPr txBox="1"/>
          <p:nvPr/>
        </p:nvSpPr>
        <p:spPr>
          <a:xfrm>
            <a:off x="566928" y="1920240"/>
            <a:ext cx="11064240" cy="1280160"/>
          </a:xfrm>
          <a:prstGeom prst="rect">
            <a:avLst/>
          </a:prstGeom>
          <a:noFill/>
        </p:spPr>
        <p:txBody>
          <a:bodyPr wrap="square" lIns="0" rIns="0" tIns="0" bIns="0" anchor="t">
            <a:spAutoFit/>
          </a:bodyPr>
          <a:lstStyle/>
          <a:p>
            <a:pPr algn="l">
              <a:lnSpc>
                <a:spcPct val="120000"/>
              </a:lnSpc>
            </a:pPr>
            <a:r>
              <a:rPr sz="3200" b="1" i="0">
                <a:solidFill>
                  <a:srgbClr val="FFFFFF"/>
                </a:solidFill>
                <a:latin typeface="Montserrat"/>
              </a:rPr>
              <a:t>We would be honoured to contribute</a:t>
            </a:r>
          </a:p>
          <a:p>
            <a:pPr algn="l">
              <a:lnSpc>
                <a:spcPct val="120000"/>
              </a:lnSpc>
            </a:pPr>
            <a:r>
              <a:rPr sz="3200" b="1" i="0">
                <a:solidFill>
                  <a:srgbClr val="FFFFFF"/>
                </a:solidFill>
                <a:latin typeface="Montserrat"/>
              </a:rPr>
              <a:t>to Working Group 2.</a:t>
            </a:r>
          </a:p>
        </p:txBody>
      </p:sp>
      <p:sp>
        <p:nvSpPr>
          <p:cNvPr id="5" name="TextBox 4"/>
          <p:cNvSpPr txBox="1"/>
          <p:nvPr/>
        </p:nvSpPr>
        <p:spPr>
          <a:xfrm>
            <a:off x="566928" y="3520440"/>
            <a:ext cx="10515600" cy="548640"/>
          </a:xfrm>
          <a:prstGeom prst="rect">
            <a:avLst/>
          </a:prstGeom>
          <a:noFill/>
        </p:spPr>
        <p:txBody>
          <a:bodyPr wrap="square" lIns="0" rIns="0" tIns="0" bIns="0" anchor="t">
            <a:spAutoFit/>
          </a:bodyPr>
          <a:lstStyle/>
          <a:p>
            <a:pPr algn="l">
              <a:lnSpc>
                <a:spcPct val="140000"/>
              </a:lnSpc>
            </a:pPr>
            <a:r>
              <a:rPr sz="1250" b="0" i="0">
                <a:solidFill>
                  <a:srgbClr val="C8C0FF"/>
                </a:solidFill>
                <a:latin typeface="Geist"/>
              </a:rPr>
              <a:t>Our evidence, our district relationships, our technology and our expert bench are available to the Board, in whichever form is most useful.</a:t>
            </a:r>
          </a:p>
        </p:txBody>
      </p:sp>
      <p:cxnSp>
        <p:nvCxnSpPr>
          <p:cNvPr id="6" name="Connector 5"/>
          <p:cNvCxnSpPr/>
          <p:nvPr/>
        </p:nvCxnSpPr>
        <p:spPr>
          <a:xfrm>
            <a:off x="566928" y="4315968"/>
            <a:ext cx="4754880" cy="0"/>
          </a:xfrm>
          <a:prstGeom prst="line">
            <a:avLst/>
          </a:prstGeom>
          <a:ln w="12700">
            <a:solidFill>
              <a:srgbClr val="6A55FF"/>
            </a:solidFill>
          </a:ln>
          <a:effectLst/>
        </p:spPr>
      </p:cxnSp>
      <p:sp>
        <p:nvSpPr>
          <p:cNvPr id="7" name="TextBox 6"/>
          <p:cNvSpPr txBox="1"/>
          <p:nvPr/>
        </p:nvSpPr>
        <p:spPr>
          <a:xfrm>
            <a:off x="566928" y="4517136"/>
            <a:ext cx="9875520" cy="777240"/>
          </a:xfrm>
          <a:prstGeom prst="rect">
            <a:avLst/>
          </a:prstGeom>
          <a:noFill/>
        </p:spPr>
        <p:txBody>
          <a:bodyPr wrap="square" lIns="0" rIns="0" tIns="0" bIns="0" anchor="t">
            <a:spAutoFit/>
          </a:bodyPr>
          <a:lstStyle/>
          <a:p>
            <a:pPr algn="l">
              <a:lnSpc>
                <a:spcPct val="135000"/>
              </a:lnSpc>
            </a:pPr>
            <a:r>
              <a:rPr sz="1400" b="1" i="1">
                <a:solidFill>
                  <a:srgbClr val="FFFFFF"/>
                </a:solidFill>
                <a:latin typeface="Montserrat"/>
              </a:rPr>
              <a:t>"We already know what is going wrong. What we need now is more responsibility, more discipline, more respect for life."</a:t>
            </a:r>
          </a:p>
        </p:txBody>
      </p:sp>
      <p:sp>
        <p:nvSpPr>
          <p:cNvPr id="8" name="TextBox 7"/>
          <p:cNvSpPr txBox="1"/>
          <p:nvPr/>
        </p:nvSpPr>
        <p:spPr>
          <a:xfrm>
            <a:off x="566928" y="5175504"/>
            <a:ext cx="7315200" cy="274320"/>
          </a:xfrm>
          <a:prstGeom prst="rect">
            <a:avLst/>
          </a:prstGeom>
          <a:noFill/>
        </p:spPr>
        <p:txBody>
          <a:bodyPr wrap="square" lIns="0" rIns="0" tIns="0" bIns="0" anchor="t">
            <a:spAutoFit/>
          </a:bodyPr>
          <a:lstStyle/>
          <a:p>
            <a:pPr algn="l">
              <a:lnSpc>
                <a:spcPct val="128000"/>
              </a:lnSpc>
            </a:pPr>
            <a:r>
              <a:rPr sz="1000" b="0" i="0">
                <a:solidFill>
                  <a:srgbClr val="C8C0FF"/>
                </a:solidFill>
                <a:latin typeface="Geist"/>
              </a:rPr>
              <a:t>MS Dhoni · Goodwill Ambassador, Crashfree India</a:t>
            </a:r>
          </a:p>
        </p:txBody>
      </p:sp>
      <p:pic>
        <p:nvPicPr>
          <p:cNvPr id="9" name="Picture 8" descr="globe_C8C0FF_256_2.0.png"/>
          <p:cNvPicPr>
            <a:picLocks noChangeAspect="1"/>
          </p:cNvPicPr>
          <p:nvPr/>
        </p:nvPicPr>
        <p:blipFill>
          <a:blip r:embed="rId3"/>
          <a:stretch>
            <a:fillRect/>
          </a:stretch>
        </p:blipFill>
        <p:spPr>
          <a:xfrm>
            <a:off x="566928" y="5614416"/>
            <a:ext cx="256032" cy="256032"/>
          </a:xfrm>
          <a:prstGeom prst="rect">
            <a:avLst/>
          </a:prstGeom>
        </p:spPr>
      </p:pic>
      <p:sp>
        <p:nvSpPr>
          <p:cNvPr id="10" name="TextBox 9"/>
          <p:cNvSpPr txBox="1"/>
          <p:nvPr/>
        </p:nvSpPr>
        <p:spPr>
          <a:xfrm>
            <a:off x="978408" y="5596128"/>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crashfreeindia.org</a:t>
            </a:r>
          </a:p>
        </p:txBody>
      </p:sp>
      <p:pic>
        <p:nvPicPr>
          <p:cNvPr id="11" name="Picture 10" descr="mail_C8C0FF_256_2.0.png"/>
          <p:cNvPicPr>
            <a:picLocks noChangeAspect="1"/>
          </p:cNvPicPr>
          <p:nvPr/>
        </p:nvPicPr>
        <p:blipFill>
          <a:blip r:embed="rId4"/>
          <a:stretch>
            <a:fillRect/>
          </a:stretch>
        </p:blipFill>
        <p:spPr>
          <a:xfrm>
            <a:off x="566928" y="6035040"/>
            <a:ext cx="256032" cy="256032"/>
          </a:xfrm>
          <a:prstGeom prst="rect">
            <a:avLst/>
          </a:prstGeom>
        </p:spPr>
      </p:pic>
      <p:sp>
        <p:nvSpPr>
          <p:cNvPr id="12" name="TextBox 11"/>
          <p:cNvSpPr txBox="1"/>
          <p:nvPr/>
        </p:nvSpPr>
        <p:spPr>
          <a:xfrm>
            <a:off x="978408" y="6016752"/>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akhtar@crashfreeindia.org  ·  helpdesk@crashfreeindia.org</a:t>
            </a:r>
          </a:p>
        </p:txBody>
      </p:sp>
      <p:sp>
        <p:nvSpPr>
          <p:cNvPr id="13" name="TextBox 12"/>
          <p:cNvSpPr txBox="1"/>
          <p:nvPr/>
        </p:nvSpPr>
        <p:spPr>
          <a:xfrm>
            <a:off x="566928" y="6446520"/>
            <a:ext cx="10972800" cy="274320"/>
          </a:xfrm>
          <a:prstGeom prst="rect">
            <a:avLst/>
          </a:prstGeom>
          <a:noFill/>
        </p:spPr>
        <p:txBody>
          <a:bodyPr wrap="square" lIns="0" rIns="0" tIns="0" bIns="0" anchor="t">
            <a:spAutoFit/>
          </a:bodyPr>
          <a:lstStyle/>
          <a:p>
            <a:pPr algn="l">
              <a:lnSpc>
                <a:spcPct val="128000"/>
              </a:lnSpc>
            </a:pPr>
            <a:r>
              <a:rPr sz="950" b="0" i="0">
                <a:solidFill>
                  <a:srgbClr val="C8C0FF"/>
                </a:solidFill>
                <a:latin typeface="Geist"/>
              </a:rPr>
              <a:t>Crashfree India · A Cars24 commitment · Operated by Vision Zero Trust, New Delhi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