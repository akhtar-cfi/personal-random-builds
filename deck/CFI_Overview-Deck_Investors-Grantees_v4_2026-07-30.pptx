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18.png"/><Relationship Id="rId4" Type="http://schemas.openxmlformats.org/officeDocument/2006/relationships/image" Target="../media/image34.png"/><Relationship Id="rId5" Type="http://schemas.openxmlformats.org/officeDocument/2006/relationships/image" Target="../media/image11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6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17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468880" cy="3411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897112" y="0"/>
            <a:ext cx="3294583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247120" y="384048"/>
            <a:ext cx="475488" cy="47548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4-Point Star 5"/>
          <p:cNvSpPr/>
          <p:nvPr/>
        </p:nvSpPr>
        <p:spPr>
          <a:xfrm>
            <a:off x="10991088" y="786384"/>
            <a:ext cx="274320" cy="274320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54312" y="1554480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2952" y="15727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54312" y="2011680"/>
            <a:ext cx="233172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9354312" y="2212848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2952" y="22311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WHO WE ARE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4312" y="2670048"/>
            <a:ext cx="233172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9354312" y="287121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2952" y="28895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WHAT WE DO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4312" y="3328416"/>
            <a:ext cx="233172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9354312" y="352958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8C0FF"/>
                </a:solidFill>
                <a:latin typeface="Montserrat"/>
              </a:rPr>
              <a:t>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2952" y="354787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FFFFFF"/>
                </a:solidFill>
                <a:latin typeface="Montserrat"/>
              </a:rPr>
              <a:t>OUR PEOPLE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62872" y="4261104"/>
            <a:ext cx="2560320" cy="12348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9448" y="4297680"/>
            <a:ext cx="2487168" cy="116167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99448" y="5550791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80">
                <a:solidFill>
                  <a:srgbClr val="C8C0FF"/>
                </a:solidFill>
                <a:latin typeface="Montserrat"/>
              </a:rPr>
              <a:t>Live: crashfreeindia.org/rakshak/dashboard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6263640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00">
                <a:solidFill>
                  <a:srgbClr val="C8C0FF"/>
                </a:solidFill>
                <a:latin typeface="Montserrat"/>
              </a:rPr>
              <a:t>Goodwill Ambassador: MS Dhoni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3317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CRASHFREE INDIA  ·  A CARS24 COMMITMENT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670048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1A1C1C"/>
                </a:solidFill>
                <a:latin typeface="Montserrat"/>
              </a:rPr>
              <a:t>Building safer roads for India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36976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3400" b="1" i="0">
                <a:solidFill>
                  <a:srgbClr val="4A35FF"/>
                </a:solidFill>
                <a:latin typeface="Montserrat"/>
              </a:rPr>
              <a:t>audit by audit, fix by fix.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777589"/>
                </a:solidFill>
                <a:latin typeface="Geist"/>
              </a:rPr>
              <a:t>A nonprofit working alongside government — finding road-safety gaps, getting fixes approved, and staying until they are built.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9160"/>
            <a:ext cx="1783080" cy="36576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709160"/>
            <a:ext cx="15636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A35FF"/>
                </a:solidFill>
                <a:latin typeface="Montserrat"/>
              </a:rPr>
              <a:t>ROAD INFRASTRUCTURE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32888" y="4709160"/>
            <a:ext cx="2011680" cy="36576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42616" y="470916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A35FF"/>
                </a:solidFill>
                <a:latin typeface="Montserrat"/>
              </a:rPr>
              <a:t>ENFORCEMENT TECHNOLOGY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54296" y="4709160"/>
            <a:ext cx="2057400" cy="36576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4024" y="4709160"/>
            <a:ext cx="18379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A35FF"/>
                </a:solidFill>
                <a:latin typeface="Montserrat"/>
              </a:rPr>
              <a:t>POLICY &amp; VICTIM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21424" y="4709160"/>
            <a:ext cx="1828800" cy="36576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31152" y="4709160"/>
            <a:ext cx="16093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30" b="1" i="0">
                <a:solidFill>
                  <a:srgbClr val="4A35FF"/>
                </a:solidFill>
                <a:latin typeface="Montserrat"/>
              </a:rPr>
              <a:t>YOUTH MOBILISATION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5532120"/>
            <a:ext cx="7863840" cy="0"/>
          </a:xfrm>
          <a:prstGeom prst="line">
            <a:avLst/>
          </a:prstGeom>
          <a:ln w="12700">
            <a:solidFill>
              <a:srgbClr val="EDEEF2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640080" y="571500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777589"/>
                </a:solidFill>
                <a:latin typeface="Montserrat"/>
              </a:rPr>
              <a:t>Year one:  </a:t>
            </a:r>
            <a:r>
              <a:rPr sz="1050" b="1" i="0">
                <a:solidFill>
                  <a:srgbClr val="1A1C1C"/>
                </a:solidFill>
                <a:latin typeface="Montserrat"/>
              </a:rPr>
              <a:t>1M+ people reached  ·  18 cities  ·  25+ government approvals  ·  ₹30 Cr+ unpaid challans surfaced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17220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60">
                <a:solidFill>
                  <a:srgbClr val="777589"/>
                </a:solidFill>
                <a:latin typeface="Montserrat"/>
              </a:rPr>
              <a:t>Partner overview  ·  July 2026  ·  crashfreeindia.org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India loses 485 lives on its roads every day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most of them preventable with follow-through.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9377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sz="15000" b="1" i="0">
                <a:solidFill>
                  <a:srgbClr val="F10015"/>
                </a:solidFill>
                <a:latin typeface="Montserrat"/>
              </a:rPr>
              <a:t>485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people killed every single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20" y="4800600"/>
            <a:ext cx="2468880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4248" y="4800600"/>
            <a:ext cx="22494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ONE DEATH EVERY 3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777589"/>
                </a:solidFill>
                <a:latin typeface="Geist"/>
              </a:rPr>
              <a:t>MoRTH, Road Accidents in India 2024: 1,77,175 deaths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000" b="1" i="0">
                <a:solidFill>
                  <a:srgbClr val="4A35FF"/>
                </a:solidFill>
                <a:latin typeface="Montserrat"/>
              </a:rPr>
              <a:t>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218688"/>
            <a:ext cx="5120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C1C"/>
                </a:solidFill>
                <a:latin typeface="Geist"/>
              </a:rPr>
              <a:t>of road deaths involve no traffic violation by the victim — better road design, supported enforcement and faster post-crash care decide who survives.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4325112"/>
            <a:ext cx="109728" cy="109728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2793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Geist"/>
              </a:rPr>
              <a:t>66% of victims are aged 18–34  </a:t>
            </a:r>
            <a:r>
              <a:rPr sz="1000" b="0" i="0">
                <a:solidFill>
                  <a:srgbClr val="777589"/>
                </a:solidFill>
                <a:latin typeface="Geist"/>
              </a:rPr>
              <a:t>— India's workforce bears the loss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4745736"/>
            <a:ext cx="109728" cy="109728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70001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Geist"/>
              </a:rPr>
              <a:t>1% of world's vehicles, 11% of its road deaths  </a:t>
            </a:r>
            <a:r>
              <a:rPr sz="1000" b="0" i="0">
                <a:solidFill>
                  <a:srgbClr val="777589"/>
                </a:solidFill>
                <a:latin typeface="Geist"/>
              </a:rPr>
              <a:t>— the gap is systemic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5166360"/>
            <a:ext cx="109728" cy="109728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1206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Geist"/>
              </a:rPr>
              <a:t>₹80,000 Cr in compensation undelivered  </a:t>
            </a:r>
            <a:r>
              <a:rPr sz="1000" b="0" i="0">
                <a:solidFill>
                  <a:srgbClr val="777589"/>
                </a:solidFill>
                <a:latin typeface="Geist"/>
              </a:rPr>
              <a:t>— the failure continues after the crash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715000"/>
            <a:ext cx="10911535" cy="45720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4A35FF"/>
                </a:solidFill>
                <a:latin typeface="Montserrat"/>
              </a:rPr>
              <a:t>India has strong laws and committed institutions. What they need is more capacity for follow-through — that is the gap we fill.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THE PROBLEM · WHERE WE HELP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Three pendencies we help the system clear.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C8C0FF"/>
                </a:solidFill>
                <a:latin typeface="Geist"/>
              </a:rPr>
              <a:t>We studied how India responds to a road death. Departments know the problems — what they need is dedicated hands, tools and follow-through.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traffic-cone_FFFF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218688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4400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01 · ROAD FIXES 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Audits await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Hazards are identified and studies filed — stretched departments need help converting reports into built fixes.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08576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_FFFF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8304" y="3218688"/>
            <a:ext cx="283464" cy="2834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576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02 · CLAIMS PENDING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₹80,000 Cr awaits families.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10.46 lakh compensation cases pending. Our Gurugram file audit shows where each claim gets stuck — and how to unblock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2834640"/>
            <a:ext cx="3520440" cy="2606040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2752" y="3108960"/>
            <a:ext cx="502920" cy="502920"/>
          </a:xfrm>
          <a:prstGeom prst="ellipse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siren_FFFF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218688"/>
            <a:ext cx="283464" cy="2834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02752" y="376732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03 · RECORDS UNUSED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041648"/>
            <a:ext cx="29718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Montserrat"/>
              </a:rPr>
              <a:t>Enforcement lacks live tools.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645152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C8C0FF"/>
                </a:solidFill>
                <a:latin typeface="Geist"/>
              </a:rPr>
              <a:t>46 crore e-challans on record, ~75% unpaid. Police need technology that turns records into targeted, fair action.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42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Our role: give the system the hands, tools and follow-through to convert intent into outcomes on the ground.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THE PROBLEM · WHERE WE HELP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WHO WE ARE · ABOUT CRASHFREE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A partner to the system — with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hands and tools to finish the job.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A Cars24-backed nonprofit ($3M over 3 years, run by Vision Zero Trust) working with governments towards zero road deaths by 2040.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5577840" cy="196596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OUR PHILOSOPHY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FFFFFF"/>
                </a:solidFill>
                <a:latin typeface="Geist"/>
              </a:rPr>
              <a:t>Road deaths are a solvable systems problem. We work as a support layer to government — auditing on the ground, building tools, and staying with every fix until it is done.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77639"/>
            <a:ext cx="754380" cy="329184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7543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 spc="80">
                <a:solidFill>
                  <a:srgbClr val="FFFFFF"/>
                </a:solidFill>
                <a:latin typeface="Montserrat"/>
              </a:rPr>
              <a:t>AUDIT</a:t>
            </a:r>
          </a:p>
        </p:txBody>
      </p:sp>
      <p:pic>
        <p:nvPicPr>
          <p:cNvPr id="12" name="Picture 11" descr="arrow-right_C8C0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44" y="4041648"/>
            <a:ext cx="182880" cy="1828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961388" y="3977639"/>
            <a:ext cx="987552" cy="329184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1388" y="3977639"/>
            <a:ext cx="98755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 spc="80">
                <a:solidFill>
                  <a:srgbClr val="FFFFFF"/>
                </a:solidFill>
                <a:latin typeface="Montserrat"/>
              </a:rPr>
              <a:t>ADVOCATE</a:t>
            </a:r>
          </a:p>
        </p:txBody>
      </p:sp>
      <p:pic>
        <p:nvPicPr>
          <p:cNvPr id="15" name="Picture 14" descr="arrow-right_C8C0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804" y="4041648"/>
            <a:ext cx="182880" cy="182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241548" y="3977639"/>
            <a:ext cx="1453896" cy="329184"/>
          </a:xfrm>
          <a:prstGeom prst="roundRect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1548" y="3977639"/>
            <a:ext cx="1453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1" i="0" spc="80">
                <a:solidFill>
                  <a:srgbClr val="FFFFFF"/>
                </a:solidFill>
                <a:latin typeface="Montserrat"/>
              </a:rPr>
              <a:t>FOLLOW THROUGH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54880"/>
            <a:ext cx="1325880" cy="7772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4A35FF"/>
                </a:solidFill>
                <a:latin typeface="Montserrat"/>
              </a:rPr>
              <a:t>1M+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9379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people reached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66544" y="4754880"/>
            <a:ext cx="1325880" cy="7772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4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66544" y="519379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cities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4754880"/>
            <a:ext cx="1325880" cy="7772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3008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93008" y="519379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govt approvals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19472" y="4754880"/>
            <a:ext cx="1325880" cy="7772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4846320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5193792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780" b="0" i="0">
                <a:solidFill>
                  <a:srgbClr val="777589"/>
                </a:solidFill>
                <a:latin typeface="Geist"/>
              </a:rPr>
              <a:t>dues surfaced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060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777589"/>
                </a:solidFill>
                <a:latin typeface="Montserrat"/>
              </a:rPr>
              <a:t>FOUR PILLARS OF WORK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2907792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hard-ha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2985516"/>
            <a:ext cx="210312" cy="2103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040880" y="2889504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Road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13639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Project Rakshak — audits that end in built fixes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3566160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scan-lin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3643884"/>
            <a:ext cx="210312" cy="21031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40880" y="3547872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Enforcement technology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79476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SATARK &amp; AI billboards, run with police</a:t>
            </a:r>
          </a:p>
        </p:txBody>
      </p:sp>
      <p:sp>
        <p:nvSpPr>
          <p:cNvPr id="39" name="Oval 38"/>
          <p:cNvSpPr/>
          <p:nvPr/>
        </p:nvSpPr>
        <p:spPr>
          <a:xfrm>
            <a:off x="6537960" y="4224528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hand-helping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684" y="4302252"/>
            <a:ext cx="210312" cy="2103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40880" y="4206240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Policy &amp; victim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453128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Aasha, compensation research, district committees</a:t>
            </a:r>
          </a:p>
        </p:txBody>
      </p:sp>
      <p:sp>
        <p:nvSpPr>
          <p:cNvPr id="43" name="Oval 42"/>
          <p:cNvSpPr/>
          <p:nvPr/>
        </p:nvSpPr>
        <p:spPr>
          <a:xfrm>
            <a:off x="6537960" y="4882896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bar-chart-3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684" y="4960620"/>
            <a:ext cx="210312" cy="2103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40880" y="4864608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Open data &amp; education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111496"/>
            <a:ext cx="4480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Public dashboards, comics, guides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715000"/>
            <a:ext cx="10911535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577900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4A35FF"/>
                </a:solidFill>
                <a:latin typeface="Montserrat"/>
              </a:rPr>
              <a:t>Trustees:  </a:t>
            </a:r>
            <a:r>
              <a:rPr sz="900" b="0" i="0">
                <a:solidFill>
                  <a:srgbClr val="1A1C1C"/>
                </a:solidFill>
                <a:latin typeface="Geist"/>
              </a:rPr>
              <a:t>Amar Srivastava (Founder, IRSC) · Deepanshu Gupta (Founder, IRSC) · Gajendra Jangid (Co-founder, Cars24)      </a:t>
            </a:r>
            <a:r>
              <a:rPr sz="900" b="1" i="0">
                <a:solidFill>
                  <a:srgbClr val="4A35FF"/>
                </a:solidFill>
                <a:latin typeface="Montserrat"/>
              </a:rPr>
              <a:t>Board of Advisors:  </a:t>
            </a:r>
            <a:r>
              <a:rPr sz="900" b="0" i="0">
                <a:solidFill>
                  <a:srgbClr val="1A1C1C"/>
                </a:solidFill>
                <a:latin typeface="Geist"/>
              </a:rPr>
              <a:t>Piyush Tewari (SaveLIFE Foundation) · Prof. Geetam Tiwari (IIT Delhi)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ABOUT CRASHFREE INDIA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WHO WE ARE · 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How we work: audit, advocate,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follow through until the fix is built.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search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52344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6112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Find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Field evidence to IRC / MoRTH standards — blackspots, claim files, enforcement gaps.</a:t>
            </a:r>
          </a:p>
        </p:txBody>
      </p:sp>
      <p:pic>
        <p:nvPicPr>
          <p:cNvPr id="12" name="Picture 11" descr="arrow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3712464"/>
            <a:ext cx="256032" cy="25603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355848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megaphon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2752344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11880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ADVOCATE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Findings published and presented — to district committees, state departments, MoRTH, the press.</a:t>
            </a:r>
          </a:p>
        </p:txBody>
      </p:sp>
      <p:pic>
        <p:nvPicPr>
          <p:cNvPr id="19" name="Picture 18" descr="arrow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3712464"/>
            <a:ext cx="256032" cy="25603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71616" y="2331720"/>
            <a:ext cx="2331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2624328"/>
            <a:ext cx="566928" cy="56692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badge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752344"/>
            <a:ext cx="310896" cy="3108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27648" y="3383280"/>
            <a:ext cx="18196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 spc="120">
                <a:solidFill>
                  <a:srgbClr val="4A35FF"/>
                </a:solidFill>
                <a:latin typeface="Montserrat"/>
              </a:rPr>
              <a:t>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703320"/>
            <a:ext cx="18196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1A1C1C"/>
                </a:solidFill>
                <a:latin typeface="Montserrat"/>
              </a:rPr>
              <a:t>Unblock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4142232"/>
            <a:ext cx="181965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0" i="0">
                <a:solidFill>
                  <a:srgbClr val="777589"/>
                </a:solidFill>
                <a:latin typeface="Geist"/>
              </a:rPr>
              <a:t>Every recommendation tracked in public — from approval to build, from claim to payout.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2331720"/>
            <a:ext cx="2999232" cy="30175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578608"/>
            <a:ext cx="24505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HOW WE STAY FOCUSED</a:t>
            </a:r>
          </a:p>
        </p:txBody>
      </p:sp>
      <p:sp>
        <p:nvSpPr>
          <p:cNvPr id="28" name="Oval 27"/>
          <p:cNvSpPr/>
          <p:nvPr/>
        </p:nvSpPr>
        <p:spPr>
          <a:xfrm>
            <a:off x="8823960" y="2990088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031236"/>
            <a:ext cx="155448" cy="1554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171432" y="2971800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No campaigns without follow-up</a:t>
            </a:r>
          </a:p>
        </p:txBody>
      </p:sp>
      <p:sp>
        <p:nvSpPr>
          <p:cNvPr id="31" name="Oval 30"/>
          <p:cNvSpPr/>
          <p:nvPr/>
        </p:nvSpPr>
        <p:spPr>
          <a:xfrm>
            <a:off x="8823960" y="3410712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451860"/>
            <a:ext cx="155448" cy="1554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71432" y="3392424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No event-counting as impact</a:t>
            </a:r>
          </a:p>
        </p:txBody>
      </p:sp>
      <p:sp>
        <p:nvSpPr>
          <p:cNvPr id="34" name="Oval 33"/>
          <p:cNvSpPr/>
          <p:nvPr/>
        </p:nvSpPr>
        <p:spPr>
          <a:xfrm>
            <a:off x="8823960" y="3831336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3872484"/>
            <a:ext cx="155448" cy="1554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71432" y="3813048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Never duplicating govt's role</a:t>
            </a:r>
          </a:p>
        </p:txBody>
      </p:sp>
      <p:sp>
        <p:nvSpPr>
          <p:cNvPr id="37" name="Oval 36"/>
          <p:cNvSpPr/>
          <p:nvPr/>
        </p:nvSpPr>
        <p:spPr>
          <a:xfrm>
            <a:off x="8823960" y="4251960"/>
            <a:ext cx="237744" cy="237744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x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108" y="4293108"/>
            <a:ext cx="155448" cy="15544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71432" y="4233672"/>
            <a:ext cx="2130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Geist"/>
              </a:rPr>
              <a:t>No reports that end at submission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823960" y="4736592"/>
            <a:ext cx="2450592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8823960" y="4864608"/>
            <a:ext cx="24505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C8C0FF"/>
                </a:solidFill>
                <a:latin typeface="Geist"/>
              </a:rPr>
              <a:t>Every recommendation tracked to implementation.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Institutionally embedded: 4 District Road Safety Committees · MoUs with Jaipur Traffic Police &amp; Gurugram Police · formally tasked by SW Delhi DRSC.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OPERATING MODEL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Four working pillars,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one accountability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Each pillar is explained on the following slides; detailed briefs are in the appendix.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534924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2916936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008376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4752" y="2862072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150">
                <a:solidFill>
                  <a:srgbClr val="777589"/>
                </a:solidFill>
                <a:latin typeface="Montserrat"/>
              </a:rPr>
              <a:t>01 · ROAD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08152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41071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Engineering students audit dangerous roads to official standards; governments approve and build the fixes.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95935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25+ approvals · 15 builds begun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697480"/>
            <a:ext cx="534924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916936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scan-li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3008376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95160" y="2862072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150">
                <a:solidFill>
                  <a:srgbClr val="777589"/>
                </a:solidFill>
                <a:latin typeface="Montserrat"/>
              </a:rPr>
              <a:t>02 · ENFORCEMENT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081528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SATARK &amp; AI billboards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410712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AI reads number plates, checks live records and helps traffic police stop the riskiest vehicles.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959352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₹30 Cr+ dues surfaced · 2 cities 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53128"/>
            <a:ext cx="534924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4672584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hand-helping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6402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44752" y="461772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150">
                <a:solidFill>
                  <a:srgbClr val="777589"/>
                </a:solidFill>
                <a:latin typeface="Montserrat"/>
              </a:rPr>
              <a:t>03 · POLICY &amp; VICTIM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837176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Aasha &amp; compensation reform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516636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Research, victim tools and government partnerships that make legal compensation actually reach families.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571500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100+ victims helped in first 4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453128"/>
            <a:ext cx="5349240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91656" y="4672584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bar-chart-3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096" y="4764024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95160" y="4617720"/>
            <a:ext cx="4343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150">
                <a:solidFill>
                  <a:srgbClr val="777589"/>
                </a:solidFill>
                <a:latin typeface="Montserrat"/>
              </a:rPr>
              <a:t>04 · OPEN DATA &amp; EDUCATION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837176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A1C1C"/>
                </a:solidFill>
                <a:latin typeface="Montserrat"/>
              </a:rPr>
              <a:t>Public platforms &amp; guides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5166360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Self-updating public data tools plus comics and plain-language guides that make problems impossible to ignore.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5715000"/>
            <a:ext cx="4343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4 platforms · 36 states covered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OVERVIEW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01 ROAD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Project Rakshak — engineering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audit dangerous roads; governments fix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A national programme that mobilises trained student teams to audit high-risk locations to official standards and hand authorities ready-to-build 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9572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120">
                <a:solidFill>
                  <a:srgbClr val="4A35FF"/>
                </a:solidFill>
                <a:latin typeface="Montserrat"/>
              </a:rPr>
              <a:t>WHY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33472"/>
            <a:ext cx="23957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Black spots are known and studied — converting reports into built fixes is the bottleneck we remove.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18688" y="239572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120">
                <a:solidFill>
                  <a:srgbClr val="4A35FF"/>
                </a:solidFill>
                <a:latin typeface="Montserrat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2633472"/>
            <a:ext cx="23957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Trained student teams audit to IRC / MoRTH standards and hand authorities ready-to-approve proposals.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7296" y="2395728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120">
                <a:solidFill>
                  <a:srgbClr val="4A35FF"/>
                </a:solidFill>
                <a:latin typeface="Montserrat"/>
              </a:rPr>
              <a:t>WHY WE'RE PLACED TO DO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7296" y="2633472"/>
            <a:ext cx="23957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A 9-IIT talent pipeline, mentors led by Prof. Geetam Tiwari (IIT Delhi), and a public tracking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1691640" cy="12984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2160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7024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locations</a:t>
            </a:r>
          </a:p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screened</a:t>
            </a:r>
          </a:p>
        </p:txBody>
      </p:sp>
      <p:pic>
        <p:nvPicPr>
          <p:cNvPr id="16" name="Picture 15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292" y="4160520"/>
            <a:ext cx="201168" cy="20116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542032" y="3611880"/>
            <a:ext cx="1691640" cy="12984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372160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27024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sites audited ·</a:t>
            </a:r>
          </a:p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11 blackspots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244" y="4160520"/>
            <a:ext cx="201168" cy="20116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43984" y="3611880"/>
            <a:ext cx="1691640" cy="12984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4" y="372160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427024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government</a:t>
            </a:r>
          </a:p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approvals</a:t>
            </a:r>
          </a:p>
        </p:txBody>
      </p:sp>
      <p:pic>
        <p:nvPicPr>
          <p:cNvPr id="24" name="Picture 23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196" y="4160520"/>
            <a:ext cx="201168" cy="20116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345936" y="3611880"/>
            <a:ext cx="1691640" cy="129844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372160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1" i="0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4270248"/>
            <a:ext cx="1691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C8C0FF"/>
                </a:solidFill>
                <a:latin typeface="Geist"/>
              </a:rPr>
              <a:t>builds</a:t>
            </a:r>
          </a:p>
          <a:p>
            <a:pPr algn="ctr">
              <a:lnSpc>
                <a:spcPct val="118000"/>
              </a:lnSpc>
            </a:pPr>
            <a:r>
              <a:rPr sz="850" b="0" i="0">
                <a:solidFill>
                  <a:srgbClr val="C8C0FF"/>
                </a:solidFill>
                <a:latin typeface="Geist"/>
              </a:rPr>
              <a:t>begun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74980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30">
                <a:solidFill>
                  <a:srgbClr val="1A1C1C"/>
                </a:solidFill>
                <a:latin typeface="Montserrat"/>
              </a:rPr>
              <a:t>18 cities · 20 institutions incl. 9 IITs · 900+ stakeholder surveys · every site public on the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13248"/>
            <a:ext cx="7498079" cy="65836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9612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80160" y="5468112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Institutionalising the model: Cohort 2 runs three tracks — students, NGO partners, CRRI-certified auditors — building towards the Rakshak Audit Manual v1.0, usable by NHAI without rework.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66175" y="2359152"/>
            <a:ext cx="3319272" cy="1589303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2395728"/>
            <a:ext cx="3246120" cy="15161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02752" y="3985031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i="1">
                <a:solidFill>
                  <a:srgbClr val="777589"/>
                </a:solidFill>
                <a:latin typeface="Geist"/>
              </a:rPr>
              <a:t>The live implementation dashboard — every site, authority and status public.</a:t>
            </a:r>
          </a:p>
        </p:txBody>
      </p:sp>
      <p:pic>
        <p:nvPicPr>
          <p:cNvPr id="35" name="Picture 34" descr="iv_indore_footp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526280"/>
            <a:ext cx="1035674" cy="14813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02752" y="603504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1">
                <a:solidFill>
                  <a:srgbClr val="777589"/>
                </a:solidFill>
                <a:latin typeface="Geist"/>
              </a:rPr>
              <a:t>Footpath — Indore</a:t>
            </a:r>
          </a:p>
        </p:txBody>
      </p:sp>
      <p:pic>
        <p:nvPicPr>
          <p:cNvPr id="37" name="Picture 36" descr="iv_durgapur_park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2" y="4526280"/>
            <a:ext cx="1022239" cy="148132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94392" y="603504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1">
                <a:solidFill>
                  <a:srgbClr val="777589"/>
                </a:solidFill>
                <a:latin typeface="Geist"/>
              </a:rPr>
              <a:t>Parking — Durgapur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PROJECT RAKSHAK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01 ROAD INFRASTRUCTURE — 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Government approval, in writing: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25+ signed authority letters and counting.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A sample of the approval and acknowledgement letters issued to Rakshak student teams by public works and district authorities.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2752344"/>
            <a:ext cx="2168377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Visione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88920"/>
            <a:ext cx="2095226" cy="2880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742432"/>
            <a:ext cx="241526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Tejaji Nagar, Indore — approved interventions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82777" y="2752344"/>
            <a:ext cx="2298884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Crashz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353" y="2788920"/>
            <a:ext cx="2225733" cy="2880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19353" y="5742432"/>
            <a:ext cx="25457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Kunnamangalam Jn., Kozhikode — PWD Kerala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92557" y="2752344"/>
            <a:ext cx="2298884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athraksh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9133" y="2788920"/>
            <a:ext cx="2225733" cy="2880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29133" y="5742432"/>
            <a:ext cx="25457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Kamta Chauraha, Lucknow — PWD (UP)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02337" y="2752344"/>
            <a:ext cx="2298884" cy="29535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Vision_Zero_Squ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913" y="2788920"/>
            <a:ext cx="2225733" cy="2880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38913" y="5742432"/>
            <a:ext cx="25457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NH-205 &amp; Surjit Chowk, Ropar — PWD (Punjab)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4476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1" i="0" spc="30">
                <a:solidFill>
                  <a:srgbClr val="1A1C1C"/>
                </a:solidFill>
                <a:latin typeface="Montserrat"/>
              </a:rPr>
              <a:t>Authorities include: PWD Kerala · PWD UP · PWD Punjab · CPWD &amp; Addl. Collector Indore · ADDA Durgapur · R&amp;B Andhra Pradesh · GCC Chennai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PROJECT RAKSHAK · APPROVALS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02 ENFORCEMENT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SATARK — an AI platform that helps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police identify and stop high-risk vehicles.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Cameras read every passing number plate and check it against live national records — officers act on evidence instead of stopping vehicles at random.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vehicles scanned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834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₹30 Cr+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7355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pending challans surfaced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947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336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high-risk vehicles intercepted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9476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2 cities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336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Jaipur &amp; Bengaluru · 5 police approvals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92040"/>
            <a:ext cx="896112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892040"/>
            <a:ext cx="676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Plate read</a:t>
            </a:r>
          </a:p>
        </p:txBody>
      </p:sp>
      <p:pic>
        <p:nvPicPr>
          <p:cNvPr id="17" name="Picture 16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4965192"/>
            <a:ext cx="182880" cy="18288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1709928" y="4892040"/>
            <a:ext cx="1027785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19656" y="4892040"/>
            <a:ext cx="80832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Record check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45" y="4965192"/>
            <a:ext cx="182880" cy="1828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911449" y="4892040"/>
            <a:ext cx="961948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21177" y="4892040"/>
            <a:ext cx="74249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Rule engine</a:t>
            </a:r>
          </a:p>
        </p:txBody>
      </p:sp>
      <p:pic>
        <p:nvPicPr>
          <p:cNvPr id="23" name="Picture 22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829" y="4965192"/>
            <a:ext cx="182880" cy="18288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047133" y="4892040"/>
            <a:ext cx="1225295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56861" y="4892040"/>
            <a:ext cx="100583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Billboard + app</a:t>
            </a:r>
          </a:p>
        </p:txBody>
      </p:sp>
      <p:pic>
        <p:nvPicPr>
          <p:cNvPr id="26" name="Picture 25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860" y="4965192"/>
            <a:ext cx="182880" cy="1828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446164" y="4892040"/>
            <a:ext cx="830275" cy="34747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55892" y="4892040"/>
            <a:ext cx="6108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Intercept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532120"/>
            <a:ext cx="5852160" cy="54864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321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Built with police, not for them — departments set the flagging rules; CFI provides the technology. First 72 hours in Jaipur: 1,240 flagged, 58 intercepted.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84848" y="2615184"/>
            <a:ext cx="4782312" cy="2813294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tk_p1_x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2651760"/>
            <a:ext cx="4709160" cy="274014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21424" y="550163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777589"/>
                </a:solidFill>
                <a:latin typeface="Geist"/>
              </a:rPr>
              <a:t>Live SATARK billboard, Rambagh Circle, Jaipur — naming a passing vehicle's 4 pending challans in real time.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SATARK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03 POLICY &amp; VICTIM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Helping crash victims and families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compensation the law promises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0116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450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C1C"/>
                </a:solidFill>
                <a:latin typeface="Montserrat"/>
              </a:rPr>
              <a:t>10.46 lakh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7432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cases 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2377440"/>
            <a:ext cx="329184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450592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C1C"/>
                </a:solidFill>
                <a:latin typeface="Montserrat"/>
              </a:rPr>
              <a:t>205 vs ~25,000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432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hit-and-run claims filed vs eligible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377440"/>
            <a:ext cx="201168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505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C1C"/>
                </a:solidFill>
                <a:latin typeface="Montserrat"/>
              </a:rPr>
              <a:t>3.6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7432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average wait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21624" y="2377440"/>
            <a:ext cx="310896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245059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1A1C1C"/>
                </a:solidFill>
                <a:latin typeface="Montserrat"/>
              </a:rPr>
              <a:t>2 of 102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216" y="27432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files settled in our Gurugram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10128"/>
            <a:ext cx="6492240" cy="269748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WHAT WE BUILT AND DO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822192"/>
            <a:ext cx="292608" cy="292608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bot_FFFF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877056"/>
            <a:ext cx="182880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5880" y="3813048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Aasha — India's first 24/7 multilingual AI chatbot guiding victims step-by-step on WhatsApp &amp; voice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251960"/>
            <a:ext cx="292608" cy="292608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calculator_FFFF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306824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25880" y="4242816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Free Compensation Calculator based on Supreme Court principles (Sarla Verma, Pranay Sethi)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681728"/>
            <a:ext cx="292608" cy="292608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hand-helping_FFFF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736592"/>
            <a:ext cx="182880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25880" y="4672584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Legal helpdesks in hospital trauma wards — 100+ victims supported in the first 4 days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111496"/>
            <a:ext cx="292608" cy="292608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landmark_FFFF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166360"/>
            <a:ext cx="182880" cy="1828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25880" y="5102352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Embedded in 4 District Road Safety Committees — formally tasked by SW Delhi DRSC; fellow placed with Gurugram district offices</a:t>
            </a:r>
          </a:p>
        </p:txBody>
      </p:sp>
      <p:sp>
        <p:nvSpPr>
          <p:cNvPr id="32" name="Oval 31"/>
          <p:cNvSpPr/>
          <p:nvPr/>
        </p:nvSpPr>
        <p:spPr>
          <a:xfrm>
            <a:off x="914400" y="5541264"/>
            <a:ext cx="292608" cy="292608"/>
          </a:xfrm>
          <a:prstGeom prst="ellipse">
            <a:avLst/>
          </a:prstGeom>
          <a:solidFill>
            <a:srgbClr val="5A46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route_FFFF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5596128"/>
            <a:ext cx="182880" cy="182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25880" y="5532120"/>
            <a:ext cx="5532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'Justice Unserved' presented to MoRTH; hit-and-run claim pipeline rebuild underway with Rajasthan Transport Dept.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70064" y="3273552"/>
            <a:ext cx="2042112" cy="277063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guide_p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310128"/>
            <a:ext cx="1968960" cy="269748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9503616" y="3273552"/>
            <a:ext cx="2163571" cy="277063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comp_imag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0192" y="3310128"/>
            <a:ext cx="2090420" cy="26974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06640" y="605332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1">
                <a:solidFill>
                  <a:srgbClr val="777589"/>
                </a:solidFill>
                <a:latin typeface="Geist"/>
              </a:rPr>
              <a:t>Hindi legal-rights guide (hospitals &amp; police stations) · 'Justice Unserved' research brief.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VICTIM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04 OPEN DATA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Public data tools we built so that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road-safety problems cannot be ignored.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Four self-updating platforms — free for government, researchers, journalists and citizens.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331012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map-pinned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953512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6736" y="2898648"/>
            <a:ext cx="2441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National Road Defect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10712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777589"/>
                </a:solidFill>
                <a:latin typeface="Geist"/>
              </a:rPr>
              <a:t>AI reads local news in 13 languages across 146 districts — potholes, missing signage, unlit stretches — mapped publicly.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8" y="2697480"/>
            <a:ext cx="331012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2880360"/>
            <a:ext cx="384048" cy="38404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953512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09744" y="2898648"/>
            <a:ext cx="2441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Road Safety in Parliament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410712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777589"/>
                </a:solidFill>
                <a:latin typeface="Geist"/>
              </a:rPr>
              <a:t>All 1,423 parliamentary road-safety questions since 2014, searchable by MP — 282 sitting MPs have never asked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331012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scal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690872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6736" y="4636008"/>
            <a:ext cx="2441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Supreme Court Litigation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48072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777589"/>
                </a:solidFill>
                <a:latin typeface="Geist"/>
              </a:rPr>
              <a:t>18 live road-safety cases, 190+ orders, every government deadline tracked — 11 already overdue at launch.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33088" y="4434840"/>
            <a:ext cx="3310128" cy="15727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315968" y="4617720"/>
            <a:ext cx="384048" cy="384048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bar-chart-3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69087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09744" y="4636008"/>
            <a:ext cx="2441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National Crash Data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5148072"/>
            <a:ext cx="2944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777589"/>
                </a:solidFill>
                <a:latin typeface="Geist"/>
              </a:rPr>
              <a:t>Official crash statistics (2019–2024) turned into report cards for 36 states and 50 cities — openly licensed.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24927" y="2660904"/>
            <a:ext cx="4005072" cy="2153633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p_p18_x8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4" y="2697480"/>
            <a:ext cx="3931920" cy="208048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61504" y="4851113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Road Safety Resources Hub — the public front door.</a:t>
            </a:r>
          </a:p>
        </p:txBody>
      </p:sp>
      <p:pic>
        <p:nvPicPr>
          <p:cNvPr id="30" name="Picture 29" descr="imp_p14_x7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4" y="5120640"/>
            <a:ext cx="3931920" cy="12245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61504" y="6400083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Citizen hazard-reporting apps — 50+ hazards in first 20 days.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14476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1" i="0" spc="30">
                <a:solidFill>
                  <a:srgbClr val="777589"/>
                </a:solidFill>
                <a:latin typeface="Montserrat"/>
              </a:rPr>
              <a:t>'Justice Unserved' in print: Deccan Herald · ET · Fortune India · IndiaSpend · Moneycontrol · Scroll.in · The Wire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OPEN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WHAT WE DO · YOUTH MOBILISATION &amp; PUBLIC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NextMile, campus programmes and street-level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education that bring citizens into road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40">
                <a:solidFill>
                  <a:srgbClr val="4A35FF"/>
                </a:solidFill>
                <a:latin typeface="Montserrat"/>
              </a:rPr>
              <a:t>NEXTMILE — NATIONAL ROAD SAFETY POLICY IDEATHON (2025)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1536192" cy="137160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52928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700+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1536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registrations from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IITs, IIMs, NLUs</a:t>
            </a:r>
          </a:p>
        </p:txBody>
      </p:sp>
      <p:pic>
        <p:nvPicPr>
          <p:cNvPr id="10" name="Picture 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72" y="3328416"/>
            <a:ext cx="201168" cy="2011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377440" y="2743200"/>
            <a:ext cx="1536192" cy="137160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852928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250+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401568"/>
            <a:ext cx="1536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policy concept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notes submitted</a:t>
            </a:r>
          </a:p>
        </p:txBody>
      </p:sp>
      <p:pic>
        <p:nvPicPr>
          <p:cNvPr id="14" name="Picture 13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3328416"/>
            <a:ext cx="201168" cy="20116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14800" y="2743200"/>
            <a:ext cx="1536192" cy="137160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852928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4A35FF"/>
                </a:solidFill>
                <a:latin typeface="Montserrat"/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01568"/>
            <a:ext cx="1536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teams mentored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for four weeks</a:t>
            </a:r>
          </a:p>
        </p:txBody>
      </p:sp>
      <p:pic>
        <p:nvPicPr>
          <p:cNvPr id="18" name="Picture 17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3328416"/>
            <a:ext cx="201168" cy="20116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852160" y="2743200"/>
            <a:ext cx="1536192" cy="13716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852928"/>
            <a:ext cx="15361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401568"/>
            <a:ext cx="15361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C8C0FF"/>
                </a:solidFill>
                <a:latin typeface="Geist"/>
              </a:rPr>
              <a:t>finalists judged by</a:t>
            </a:r>
          </a:p>
          <a:p>
            <a:pPr algn="ctr">
              <a:lnSpc>
                <a:spcPct val="115000"/>
              </a:lnSpc>
            </a:pPr>
            <a:r>
              <a:rPr sz="830" b="0" i="0">
                <a:solidFill>
                  <a:srgbClr val="C8C0FF"/>
                </a:solidFill>
                <a:latin typeface="Geist"/>
              </a:rPr>
              <a:t>24 national experts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343400"/>
            <a:ext cx="329184" cy="32918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graduation-cap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4411980"/>
            <a:ext cx="192024" cy="19202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3000" y="436168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1A1C1C"/>
                </a:solidFill>
                <a:latin typeface="Geist"/>
              </a:rPr>
              <a:t>Grand Finale at India Habitat Centre, Sept 2025 — jury included Justice J.R. Midha and ex-MoRTH leadership.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4800600"/>
            <a:ext cx="329184" cy="32918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rocke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4869180"/>
            <a:ext cx="192024" cy="19202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43000" y="481888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1A1C1C"/>
                </a:solidFill>
                <a:latin typeface="Geist"/>
              </a:rPr>
              <a:t>Winning ideas feed CFI's own pipeline — compensation reform and rider safety became live workstreams.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257800"/>
            <a:ext cx="329184" cy="32918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book-open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5326380"/>
            <a:ext cx="192024" cy="1920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43000" y="527608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1A1C1C"/>
                </a:solidFill>
                <a:latin typeface="Geist"/>
              </a:rPr>
              <a:t>Street plays, comics and multilingual guides carry road-safety education beyond campuses.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715000"/>
            <a:ext cx="329184" cy="329184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users-round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5783580"/>
            <a:ext cx="192024" cy="1920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43000" y="5733288"/>
            <a:ext cx="6309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1A1C1C"/>
                </a:solidFill>
                <a:latin typeface="Geist"/>
              </a:rPr>
              <a:t>Next: 'Be a Rakshak' university chapters at IITs, NITs and SPAs, with MS Dhoni as the recruiting voice.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2340864"/>
            <a:ext cx="2713482" cy="359359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ideathon_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2377440"/>
            <a:ext cx="2640330" cy="35204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49056" y="596188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1">
                <a:solidFill>
                  <a:srgbClr val="777589"/>
                </a:solidFill>
                <a:latin typeface="Geist"/>
              </a:rPr>
              <a:t>NextMile Grand Finale — winners on stage, Sept 2025.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WHAT WE DO · YOUTH &amp; EDUCATION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IMPACT · OUR FIRST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Year one: measurable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across 18 Indian cities.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users_C8C0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2432304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citizens reached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36392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map-pin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32304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37560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cities 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32704" y="2286000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adge-check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432304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33872" y="2395728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852928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govt approvals won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hard-hat_C8C0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2888" y="3547872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1248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implementations begun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36392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landmark_C8C0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54787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337560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district committees joined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32704" y="3401568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can-line_C8C0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5512" y="3547872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33872" y="3511296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3968496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cities enforcing with SATARK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users-round_C8C0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2888" y="4663440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1248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150+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members &amp; interns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36392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graduation-cap_C8C0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663440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37560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50+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experts engaged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32704" y="4517136"/>
            <a:ext cx="23317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newspaper_C8C0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5512" y="4663440"/>
            <a:ext cx="237744" cy="23774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33872" y="4626864"/>
            <a:ext cx="1965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4A35FF"/>
                </a:solidFill>
                <a:latin typeface="Montserrat"/>
              </a:rPr>
              <a:t>10+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3872" y="5084064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national media features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2286000"/>
            <a:ext cx="3182112" cy="361188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22792" y="248716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THE FIRST 400 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22792" y="287121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Jun 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87121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Launched as a Cars24 commitment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22792" y="337413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Sep 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37413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NextMile finale · first AI billboard live in Bengaluru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22792" y="387705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Jan 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387705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'Justice Unserved' published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2792" y="43799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Apr 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437997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IIT Delhi national forum · Dhoni joins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22792" y="488289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Jun 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88289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SATARK live with Jaipur Police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22792" y="538581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C8C0FF"/>
                </a:solidFill>
                <a:latin typeface="Montserrat"/>
              </a:rPr>
              <a:t>Jul 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5385816"/>
            <a:ext cx="1975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FFFFFF"/>
                </a:solidFill>
                <a:latin typeface="Geist"/>
              </a:rPr>
              <a:t>Rakshak Cohort 2 · 4 open-data products shipped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8064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50">
                <a:solidFill>
                  <a:srgbClr val="777589"/>
                </a:solidFill>
                <a:latin typeface="Montserrat"/>
              </a:rPr>
              <a:t>WORKING ALONGSIDE: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0080" y="6053328"/>
            <a:ext cx="662940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6053328"/>
            <a:ext cx="4434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MoRTH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412748" y="6053328"/>
            <a:ext cx="507491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22476" y="6053328"/>
            <a:ext cx="2880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WHO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29967" y="6053328"/>
            <a:ext cx="740664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5" y="6053328"/>
            <a:ext cx="521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UNICEF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880359" y="6053328"/>
            <a:ext cx="973836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90087" y="6053328"/>
            <a:ext cx="7543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CSIR-CRRI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63923" y="6053328"/>
            <a:ext cx="507491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73651" y="6053328"/>
            <a:ext cx="28803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IRF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81142" y="6053328"/>
            <a:ext cx="662940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90870" y="6053328"/>
            <a:ext cx="4434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FICCI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53810" y="6053328"/>
            <a:ext cx="973836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63538" y="6053328"/>
            <a:ext cx="7543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IIT Delhi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437374" y="6053328"/>
            <a:ext cx="1906524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47102" y="6053328"/>
            <a:ext cx="16870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Jaipur Traffic Police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53626" y="6053328"/>
            <a:ext cx="1440180" cy="3108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63354" y="6053328"/>
            <a:ext cx="122072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A1C1C"/>
                </a:solidFill>
                <a:latin typeface="Montserrat"/>
              </a:rPr>
              <a:t>Gurugram Police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IMPACT · OUR FIRST YEAR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OUR AMBASSADOR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MS Dhoni is Crashfree India's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C8C0FF"/>
                </a:solidFill>
                <a:latin typeface="Montserrat"/>
              </a:rPr>
              <a:t>Goodwill Ambassador.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5577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One of India's most trusted public figures joined us in April 2026, unveiled at our national forum at IIT Delhi. His role — lending his voice where it moves people to act:</a:t>
            </a:r>
          </a:p>
        </p:txBody>
      </p:sp>
      <p:pic>
        <p:nvPicPr>
          <p:cNvPr id="10" name="Picture 9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05071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97763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Inviting India's students to join Project Rakshak road audits</a:t>
            </a:r>
          </a:p>
        </p:txBody>
      </p:sp>
      <p:pic>
        <p:nvPicPr>
          <p:cNvPr id="12" name="Picture 11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389119"/>
            <a:ext cx="182880" cy="18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" y="4361687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Championing safer school zones</a:t>
            </a:r>
          </a:p>
        </p:txBody>
      </p:sp>
      <p:pic>
        <p:nvPicPr>
          <p:cNvPr id="14" name="Picture 13" descr="check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73167"/>
            <a:ext cx="182880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0120" y="4745735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Spreading awareness of victims' compensation rights and Aasha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40680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1">
                <a:solidFill>
                  <a:srgbClr val="FFFFFF"/>
                </a:solidFill>
                <a:latin typeface="Montserrat"/>
              </a:rPr>
              <a:t>“Because every ride deserves to end safely.”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Announcement covered by Business Standard · The Tribune · The Wire</a:t>
            </a:r>
          </a:p>
        </p:txBody>
      </p:sp>
      <p:pic>
        <p:nvPicPr>
          <p:cNvPr id="18" name="Picture 17" descr="dhoni_cutou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78" y="1234440"/>
            <a:ext cx="2837394" cy="4663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138160" y="594360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C8C0FF"/>
                </a:solidFill>
                <a:latin typeface="Geist"/>
              </a:rPr>
              <a:t>CFI shoot · June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OUR AMBASSADOR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OUR PEOPLE · BOARD OF ADVISORS &amp; EXPERTS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Guided by two of India's foremost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road-safety experts.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349240" cy="208483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432304"/>
            <a:ext cx="749808" cy="749808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32304"/>
            <a:ext cx="74980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1" i="0">
                <a:solidFill>
                  <a:srgbClr val="FFFFFF"/>
                </a:solidFill>
                <a:latin typeface="Montserrat"/>
              </a:rPr>
              <a:t>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432304"/>
            <a:ext cx="3977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Piyush Tewari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779776"/>
            <a:ext cx="3977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Founder &amp; CEO, SaveLIFE 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1801368" y="3191256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312724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9" b="0" i="0">
                <a:solidFill>
                  <a:srgbClr val="777589"/>
                </a:solidFill>
                <a:latin typeface="Geist"/>
              </a:rPr>
              <a:t>Architect of India's Good Samaritan Law (Supreme Court, 2016)</a:t>
            </a:r>
          </a:p>
        </p:txBody>
      </p:sp>
      <p:sp>
        <p:nvSpPr>
          <p:cNvPr id="13" name="Oval 12"/>
          <p:cNvSpPr/>
          <p:nvPr/>
        </p:nvSpPr>
        <p:spPr>
          <a:xfrm>
            <a:off x="1801368" y="3566160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35021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9" b="0" i="0">
                <a:solidFill>
                  <a:srgbClr val="777589"/>
                </a:solidFill>
                <a:latin typeface="Geist"/>
              </a:rPr>
              <a:t>Built the Zero Fatality Corridor model — ~40% fewer deaths on Mumbai–Pune Expressway; scaling with MoRTH</a:t>
            </a:r>
          </a:p>
        </p:txBody>
      </p:sp>
      <p:sp>
        <p:nvSpPr>
          <p:cNvPr id="15" name="Oval 14"/>
          <p:cNvSpPr/>
          <p:nvPr/>
        </p:nvSpPr>
        <p:spPr>
          <a:xfrm>
            <a:off x="1801368" y="3941064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87705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9" b="0" i="0">
                <a:solidFill>
                  <a:srgbClr val="777589"/>
                </a:solidFill>
                <a:latin typeface="Geist"/>
              </a:rPr>
              <a:t>Rolex Award for Enterprise · Elevate Prize · MPA, Harvard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194560"/>
            <a:ext cx="5349240" cy="208483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gtiwar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32304"/>
            <a:ext cx="749808" cy="7498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33488" y="2432304"/>
            <a:ext cx="3977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Prof. (Dr.) Geetam Tiwari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79776"/>
            <a:ext cx="3977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Professor Emerita, TRIPC, IIT Delhi</a:t>
            </a:r>
          </a:p>
        </p:txBody>
      </p:sp>
      <p:sp>
        <p:nvSpPr>
          <p:cNvPr id="21" name="Oval 20"/>
          <p:cNvSpPr/>
          <p:nvPr/>
        </p:nvSpPr>
        <p:spPr>
          <a:xfrm>
            <a:off x="7351776" y="3191256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3127248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9" b="0" i="0">
                <a:solidFill>
                  <a:srgbClr val="777589"/>
                </a:solidFill>
                <a:latin typeface="Geist"/>
              </a:rPr>
              <a:t>Three decades leading India's foremost road-safety research centre — a WHO Collaborating Centre</a:t>
            </a:r>
          </a:p>
        </p:txBody>
      </p:sp>
      <p:sp>
        <p:nvSpPr>
          <p:cNvPr id="23" name="Oval 22"/>
          <p:cNvSpPr/>
          <p:nvPr/>
        </p:nvSpPr>
        <p:spPr>
          <a:xfrm>
            <a:off x="7351776" y="3566160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3502152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9" b="0" i="0">
                <a:solidFill>
                  <a:srgbClr val="777589"/>
                </a:solidFill>
                <a:latin typeface="Geist"/>
              </a:rPr>
              <a:t>Global authority on vulnerable road users &amp; safe-system design · PhD, University of Illinois Chicago</a:t>
            </a:r>
          </a:p>
        </p:txBody>
      </p:sp>
      <p:sp>
        <p:nvSpPr>
          <p:cNvPr id="25" name="Oval 24"/>
          <p:cNvSpPr/>
          <p:nvPr/>
        </p:nvSpPr>
        <p:spPr>
          <a:xfrm>
            <a:off x="7351776" y="3941064"/>
            <a:ext cx="73152" cy="73152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2088" y="3877056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9" b="0" i="0">
                <a:solidFill>
                  <a:srgbClr val="777589"/>
                </a:solidFill>
                <a:latin typeface="Geist"/>
              </a:rPr>
              <a:t>Guides Project Rakshak's audit methodology; anchors our Expert Consortium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777589"/>
                </a:solidFill>
                <a:latin typeface="Montserrat"/>
              </a:rPr>
              <a:t>THE EXPERT BENCH BEHIND OUR 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54880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mid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809744"/>
            <a:ext cx="402336" cy="4023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07008" y="480974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Justice J. R. Midha (Retd.)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502920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Delhi High Court · FastDAR architect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6" y="4754880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dam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4809744"/>
            <a:ext cx="402336" cy="4023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901184" y="480974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Abhay Damle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1184" y="502920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Former Joint Secretary, MoRTH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8432" y="4754880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d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4809744"/>
            <a:ext cx="402336" cy="4023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95360" y="480974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Vaibhav Dange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02920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Former Advisor, MoRTH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294376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13232" y="5349240"/>
            <a:ext cx="402336" cy="402336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" y="53492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SV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07008" y="534924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Dr. S. Velmurugan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7008" y="556869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Head, Traffic Engg. &amp; Safety, CSIR-CRRI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34256" y="5294376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07408" y="5349240"/>
            <a:ext cx="402336" cy="402336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07408" y="53492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1184" y="534924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Dr. Richa Ahuja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1184" y="556869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IIT Kharagpur · Rakshak advisor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28432" y="5294376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asrivastav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5349240"/>
            <a:ext cx="402336" cy="402336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595360" y="5349240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Akhilesh Srivastava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56869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ITS India · IRF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5833872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tand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888736"/>
            <a:ext cx="402336" cy="40233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207008" y="588873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Dr. Maya Tandon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07008" y="61081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Sahayta Trust, Jaipur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34256" y="5833872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ratn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8" y="5888736"/>
            <a:ext cx="402336" cy="40233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901184" y="588873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R. Venkat Ratnam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01184" y="61081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DG, Punjab Road Safety Lead Agency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028432" y="5833872"/>
            <a:ext cx="3520440" cy="47548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pande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1584" y="5888736"/>
            <a:ext cx="402336" cy="40233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595360" y="588873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1" i="0">
                <a:solidFill>
                  <a:srgbClr val="1A1C1C"/>
                </a:solidFill>
                <a:latin typeface="Montserrat"/>
              </a:rPr>
              <a:t>Rama Shankar Pandey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610819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FICCI Road Safety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BOARD OF ADVISORS &amp; EXPERTS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OUR PEOPLE ·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A full-time team of eight, three trustees,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and 75+ engineering interns nationwide.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TRUSTEES · VISION ZERO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2651760" cy="12984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2679192"/>
            <a:ext cx="475488" cy="475488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6791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66090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 i="0">
                <a:solidFill>
                  <a:srgbClr val="1A1C1C"/>
                </a:solidFill>
                <a:latin typeface="Montserrat"/>
              </a:rPr>
              <a:t>Amar Srivastava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9169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President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209544"/>
            <a:ext cx="2322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Founder, Indian Road Safety Council — 50,000+ volunteers · Diana Award 2019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9856" y="2514600"/>
            <a:ext cx="2651760" cy="12984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4448" y="2679192"/>
            <a:ext cx="475488" cy="475488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26791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DG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9664" y="266090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 i="0">
                <a:solidFill>
                  <a:srgbClr val="1A1C1C"/>
                </a:solidFill>
                <a:latin typeface="Montserrat"/>
              </a:rPr>
              <a:t>Deepanshu Gupta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664" y="29169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Managing Trustee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209544"/>
            <a:ext cx="2322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Founder, IRSC · Global Youth Coalition for Road Safety leadership 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514600"/>
            <a:ext cx="2651760" cy="12984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64224" y="2679192"/>
            <a:ext cx="475488" cy="475488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6791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GJ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66090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 i="0">
                <a:solidFill>
                  <a:srgbClr val="1A1C1C"/>
                </a:solidFill>
                <a:latin typeface="Montserrat"/>
              </a:rPr>
              <a:t>Gajendra Jangid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169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General Secretary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209544"/>
            <a:ext cx="23225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70" b="0" i="0">
                <a:solidFill>
                  <a:srgbClr val="777589"/>
                </a:solidFill>
                <a:latin typeface="Geist"/>
              </a:rPr>
              <a:t>Co-founder, Cars24 · ex-Schlumberger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68496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60">
                <a:solidFill>
                  <a:srgbClr val="777589"/>
                </a:solidFill>
                <a:latin typeface="Montserrat"/>
              </a:rPr>
              <a:t>FULL-TIME TEAM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2452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433425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3342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AH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315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Akhtar Hussain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70001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Mission Lead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8920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>IIT Delhi · ex-Bain &amp; Co., Deloitte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24912" y="422452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834640" y="433425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3342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55264" y="4315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Shubham Kumar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640" y="470001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Policy Advocacy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48920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>DU + NALSAR · byline: Scroll.in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9744" y="422452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919472" y="433425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19472" y="43342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MY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0096" y="4315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Muskan Yadav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19472" y="470001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Programs · Infrastructure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48920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>TISS Mumbai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94576" y="422452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04304" y="433425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04304" y="43342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4928" y="431596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Aastha Shreeharsh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4304" y="470001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Strategy &amp; Operations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04304" y="489204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>HKUST · quoted in The Wire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" y="523036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9808" y="534009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53400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0432" y="532180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Rohan Sharma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8" y="570585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Cause Marketing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8" y="589788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>ex-Unacademy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24912" y="523036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834640" y="534009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34640" y="53400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IR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55264" y="532180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Ishita Rathore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34640" y="570585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People &amp; Culture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34640" y="589788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09744" y="523036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919472" y="534009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19472" y="53400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YY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0096" y="532180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Yuvraj Yadav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19472" y="570585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Product Design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19472" y="589788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894576" y="5230368"/>
            <a:ext cx="1965960" cy="8961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004304" y="5340096"/>
            <a:ext cx="347472" cy="34747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004304" y="53400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SK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4928" y="5321808"/>
            <a:ext cx="1344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1A1C1C"/>
                </a:solidFill>
                <a:latin typeface="Montserrat"/>
              </a:rPr>
              <a:t>Shipra Kushwaha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04304" y="5705856"/>
            <a:ext cx="1746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4A35FF"/>
                </a:solidFill>
                <a:latin typeface="Geist"/>
              </a:rPr>
              <a:t>Graphic Design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04304" y="5897880"/>
            <a:ext cx="174650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90" b="0" i="0">
                <a:solidFill>
                  <a:srgbClr val="777589"/>
                </a:solidFill>
                <a:latin typeface="Geist"/>
              </a:rPr>
              <a:t/>
            </a:r>
          </a:p>
        </p:txBody>
      </p:sp>
      <p:sp>
        <p:nvSpPr>
          <p:cNvPr id="74" name="Rectangle 73"/>
          <p:cNvSpPr/>
          <p:nvPr/>
        </p:nvSpPr>
        <p:spPr>
          <a:xfrm>
            <a:off x="9041131" y="2478024"/>
            <a:ext cx="2507741" cy="331927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ideathon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7707" y="2514600"/>
            <a:ext cx="2434590" cy="324612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077707" y="5833872"/>
            <a:ext cx="243458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Team members at the NextMile Grand Finale, Sept 2025.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626364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777589"/>
                </a:solidFill>
                <a:latin typeface="Geist"/>
              </a:rPr>
              <a:t>+ 75+ part-time road-engineering interns across India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THE TEAM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920240" cy="265346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6A5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THE YEAR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881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Year two: fewer bets, deeper districts,</a:t>
            </a:r>
          </a:p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and more fixes built on the ground.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8C0FF"/>
                </a:solidFill>
                <a:latin typeface="Montserrat"/>
              </a:rPr>
              <a:t>Every three minutes, a life is lost on an Indian road. Join us in changing that.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881360" cy="0"/>
          </a:xfrm>
          <a:prstGeom prst="line">
            <a:avLst/>
          </a:prstGeom>
          <a:ln w="9525">
            <a:solidFill>
              <a:srgbClr val="6A55FF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640080" y="431596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YEAR TWO, WITH YOU — THE TARGETS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70916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634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150+ blackspots audited by the national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07492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292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Model districts: Gurugram · SW Delhi · Jaipur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44068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949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12+ district-committee presentations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806440"/>
            <a:ext cx="128016" cy="128016"/>
          </a:xfrm>
          <a:prstGeom prst="ellipse">
            <a:avLst/>
          </a:prstGeom>
          <a:solidFill>
            <a:srgbClr val="C8C0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7607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Rakshak Audit Manual v1.0 — usable by NHAI without rework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159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80">
                <a:solidFill>
                  <a:srgbClr val="C8C0FF"/>
                </a:solidFill>
                <a:latin typeface="Montserrat"/>
              </a:rPr>
              <a:t>START THE CONVERSATION</a:t>
            </a:r>
          </a:p>
        </p:txBody>
      </p:sp>
      <p:pic>
        <p:nvPicPr>
          <p:cNvPr id="20" name="Picture 19" descr="globe_C8C0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672584"/>
            <a:ext cx="219456" cy="219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31152" y="46634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crashfreeindia.org</a:t>
            </a:r>
          </a:p>
        </p:txBody>
      </p:sp>
      <p:pic>
        <p:nvPicPr>
          <p:cNvPr id="22" name="Picture 21" descr="mail_C8C0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5056632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31152" y="50474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helpdesk@crashfreeindia.org</a:t>
            </a:r>
          </a:p>
        </p:txBody>
      </p:sp>
      <p:pic>
        <p:nvPicPr>
          <p:cNvPr id="24" name="Picture 23" descr="bar-chart-3_C8C0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5440680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31152" y="54315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Geist"/>
              </a:rPr>
              <a:t>Live proof: crashfreeindia.org/rakshak/dashboard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FFFFFF"/>
                </a:solidFill>
                <a:latin typeface="Montserrat"/>
              </a:rPr>
              <a:t>Lasting change happens when someone owns the follow-through. That is the job we have taken 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Crashfree India · A Cars24 Commitment · operated by Vision Zero Trust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1920240" cy="2653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54864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0" b="1" i="0">
                <a:solidFill>
                  <a:srgbClr val="6A55FF"/>
                </a:solidFill>
                <a:latin typeface="Montserrat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REFERENCE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Appendix: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i="0">
                <a:solidFill>
                  <a:srgbClr val="C8C0FF"/>
                </a:solidFill>
                <a:latin typeface="Montserrat"/>
              </a:rPr>
              <a:t>programme deep-dives.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2628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A1  Project Rakshak — model &amp; Cohort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9145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A2  Rakshak — approvals &amp; site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5663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A3  SATARK — product &amp;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218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A4  'Justice Unserved' — key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8698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A5  Open-data platforms in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A6  NextMile &amp; public 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11733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A7  Press &amp;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APPENDIX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C8C0FF"/>
                </a:solidFill>
                <a:latin typeface="Montserrat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APPENDIX A1 · PROJECT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The Rakshak model: a four-phase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pipeline, now scaling into three tracks.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8288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523744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1" i="0" spc="80">
                <a:solidFill>
                  <a:srgbClr val="4A35FF"/>
                </a:solidFill>
                <a:latin typeface="Montserrat"/>
              </a:rPr>
              <a:t>P1 · Jul–Aug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779776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108960"/>
            <a:ext cx="15361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Teams form at campuses; risks identified via FIRs, RTIs, police data and local media.</a:t>
            </a:r>
          </a:p>
        </p:txBody>
      </p:sp>
      <p:pic>
        <p:nvPicPr>
          <p:cNvPr id="10" name="Picture 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259836"/>
            <a:ext cx="182880" cy="182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660904" y="2377440"/>
            <a:ext cx="18288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7208" y="2523744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1" i="0" spc="80">
                <a:solidFill>
                  <a:srgbClr val="4A35FF"/>
                </a:solidFill>
                <a:latin typeface="Montserrat"/>
              </a:rPr>
              <a:t>P2 · Aug–Sep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7208" y="2779776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Field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108960"/>
            <a:ext cx="15361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30+ stakeholder surveys per team; audits to IRC / MoRTH checklists under expert masterclasses.</a:t>
            </a:r>
          </a:p>
        </p:txBody>
      </p:sp>
      <p:pic>
        <p:nvPicPr>
          <p:cNvPr id="15" name="Picture 14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3259836"/>
            <a:ext cx="182880" cy="182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681728" y="2377440"/>
            <a:ext cx="18288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2523744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1" i="0" spc="80">
                <a:solidFill>
                  <a:srgbClr val="4A35FF"/>
                </a:solidFill>
                <a:latin typeface="Montserrat"/>
              </a:rPr>
              <a:t>P3 · Oct–Nov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779776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3108960"/>
            <a:ext cx="15361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Root-cause analysis; costed, standards-compliant redesigns reviewed by mentors.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259836"/>
            <a:ext cx="182880" cy="1828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702552" y="2377440"/>
            <a:ext cx="1828800" cy="1965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2523744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19" b="1" i="0" spc="80">
                <a:solidFill>
                  <a:srgbClr val="4A35FF"/>
                </a:solidFill>
                <a:latin typeface="Montserrat"/>
              </a:rPr>
              <a:t>P4 · Nov onwards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8856" y="2779776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1A1C1C"/>
                </a:solidFill>
                <a:latin typeface="Montserrat"/>
              </a:rPr>
              <a:t>Accountability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108960"/>
            <a:ext cx="15361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Authority-format reports presented to PWD / municipal / police officials; approvals &amp; builds tracked publicly.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17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60">
                <a:solidFill>
                  <a:srgbClr val="777589"/>
                </a:solidFill>
                <a:latin typeface="Montserrat"/>
              </a:rPr>
              <a:t>COHORT 2 (2026-27) — THREE TRACKS, ALL [TARGETS]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37760"/>
            <a:ext cx="7818120" cy="402336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37760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Institutional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937760"/>
            <a:ext cx="5577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IIT / NIT / SPA student teams — ~90 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413248"/>
            <a:ext cx="7818120" cy="402336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1324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NGO partners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413248"/>
            <a:ext cx="5577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~20 sites · 100% desk review · 10–15% CFI re-checks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888736"/>
            <a:ext cx="7818120" cy="402336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88736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Certified RSAs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888736"/>
            <a:ext cx="55778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A1C1C"/>
                </a:solidFill>
                <a:latin typeface="Geist"/>
              </a:rPr>
              <a:t>CRRI-certified auditors · full IRC SP:88 · 'usable by NHAI without rework' · ~40 sites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41664" y="2340864"/>
            <a:ext cx="2982606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imp_p6_x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377440"/>
            <a:ext cx="2909455" cy="36576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78240" y="6080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Risk heat-map of the 31 audited corridors.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APPENDIX · RAKSHAK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APPENDIX A2 · PROJECT RAKSHAK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From site survey to signed approval: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what the paper trail looks like.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340864"/>
            <a:ext cx="259664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Senti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77440"/>
            <a:ext cx="2523488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893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Chennai: site photos + engineer suggestions (Team Sentinels).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3904" y="2340864"/>
            <a:ext cx="2828821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Safe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377440"/>
            <a:ext cx="2755669" cy="35661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40480" y="59893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Official acknowledgement on state letterhead (Team Safegrid).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377440"/>
            <a:ext cx="4572000" cy="32461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5472" y="2578608"/>
            <a:ext cx="4059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40">
                <a:solidFill>
                  <a:srgbClr val="4A35FF"/>
                </a:solidFill>
                <a:latin typeface="Montserrat"/>
              </a:rPr>
              <a:t>WHAT AUTHORITIES APPROVED (EXAMPLES)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2" y="2926080"/>
            <a:ext cx="405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Tejaji Nagar, Indore  </a:t>
            </a:r>
            <a:r>
              <a:rPr sz="880" b="0" i="0">
                <a:solidFill>
                  <a:srgbClr val="777589"/>
                </a:solidFill>
                <a:latin typeface="Geist"/>
              </a:rPr>
              <a:t>— signal, refuge island, speed calming, footpaths — CPWD &amp; Addl. Collector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3438144"/>
            <a:ext cx="405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Kamta Chauraha, Lucknow  </a:t>
            </a:r>
            <a:r>
              <a:rPr sz="880" b="0" i="0">
                <a:solidFill>
                  <a:srgbClr val="777589"/>
                </a:solidFill>
                <a:latin typeface="Geist"/>
              </a:rPr>
              <a:t>— complete junction redesign package — PWD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3950208"/>
            <a:ext cx="405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NH-205 / Surjit Chowk, Ropar  </a:t>
            </a:r>
            <a:r>
              <a:rPr sz="880" b="0" i="0">
                <a:solidFill>
                  <a:srgbClr val="777589"/>
                </a:solidFill>
                <a:latin typeface="Geist"/>
              </a:rPr>
              <a:t>— high-friction surfacing, signage, crossings — PWD Punjab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5472" y="4462272"/>
            <a:ext cx="405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Kunnamangalam Jn., Kozhikode  </a:t>
            </a:r>
            <a:r>
              <a:rPr sz="880" b="0" i="0">
                <a:solidFill>
                  <a:srgbClr val="777589"/>
                </a:solidFill>
                <a:latin typeface="Geist"/>
              </a:rPr>
              <a:t>— reflective studs, markings, signage — PWD Kerala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5472" y="4974336"/>
            <a:ext cx="40599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Thiruvottiyur Jn., Chennai  </a:t>
            </a:r>
            <a:r>
              <a:rPr sz="880" b="0" i="0">
                <a:solidFill>
                  <a:srgbClr val="777589"/>
                </a:solidFill>
                <a:latin typeface="Geist"/>
              </a:rPr>
              <a:t>— speed breakers repaired to IRC spec, thermoplastic paint — GCC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8978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777589"/>
                </a:solidFill>
                <a:latin typeface="Geist"/>
              </a:rPr>
              <a:t>Full set of 25+ letters available in the Rakshak approvals folder.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APPENDIX · RAKSHAK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APPENDIX A3 · SATARK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Inside SATARK: from camera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intercept in under a minute.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48132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505456"/>
            <a:ext cx="438912" cy="43891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camera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2596896"/>
            <a:ext cx="256032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035808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ANPR camera</a:t>
            </a:r>
          </a:p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reads every plate</a:t>
            </a:r>
          </a:p>
        </p:txBody>
      </p:sp>
      <p:pic>
        <p:nvPicPr>
          <p:cNvPr id="10" name="Picture 9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836" y="2971800"/>
            <a:ext cx="182880" cy="182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304288" y="2377440"/>
            <a:ext cx="148132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25496" y="2505456"/>
            <a:ext cx="438912" cy="43891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bas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936" y="2596896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04288" y="3035808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Live vehicle record</a:t>
            </a:r>
          </a:p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via national APIs</a:t>
            </a:r>
          </a:p>
        </p:txBody>
      </p:sp>
      <p:pic>
        <p:nvPicPr>
          <p:cNvPr id="15" name="Picture 14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1044" y="2971800"/>
            <a:ext cx="182880" cy="18288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968496" y="2377440"/>
            <a:ext cx="148132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9704" y="2505456"/>
            <a:ext cx="438912" cy="43891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list-filter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2596896"/>
            <a:ext cx="256032" cy="2560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68496" y="3035808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Rule engine flags</a:t>
            </a:r>
          </a:p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habitual offenders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2" y="2971800"/>
            <a:ext cx="182880" cy="1828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632704" y="2377440"/>
            <a:ext cx="148132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53912" y="2505456"/>
            <a:ext cx="438912" cy="43891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tv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596896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32704" y="3035808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Public billboard</a:t>
            </a:r>
          </a:p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names the risk</a:t>
            </a:r>
          </a:p>
        </p:txBody>
      </p:sp>
      <p:pic>
        <p:nvPicPr>
          <p:cNvPr id="25" name="Picture 24" descr="chevron-right_6A5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971800"/>
            <a:ext cx="182880" cy="18288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7296912" y="2377440"/>
            <a:ext cx="1481328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18120" y="2505456"/>
            <a:ext cx="438912" cy="438912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shield-check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2596896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296912" y="3035808"/>
            <a:ext cx="1481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Officer app routes</a:t>
            </a:r>
          </a:p>
          <a:p>
            <a:pPr algn="ctr">
              <a:lnSpc>
                <a:spcPct val="118000"/>
              </a:lnSpc>
            </a:pPr>
            <a:r>
              <a:rPr sz="800" b="0" i="0">
                <a:solidFill>
                  <a:srgbClr val="1A1C1C"/>
                </a:solidFill>
                <a:latin typeface="Geist"/>
              </a:rPr>
              <a:t>the interception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977639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20">
                <a:solidFill>
                  <a:srgbClr val="4A35FF"/>
                </a:solidFill>
                <a:latin typeface="Montserrat"/>
              </a:rP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3977639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Live: Jaipur (Rambagh Circle billboard, officer app) &amp; Bengaluru (Trinity Circle billboard) · approvals from 5 police forces · upcoming: Gurugram, Pune, Ahmedabad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44567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20">
                <a:solidFill>
                  <a:srgbClr val="4A35FF"/>
                </a:solidFill>
                <a:latin typeface="Montserrat"/>
              </a:rPr>
              <a:t>OFFICER APP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4544567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Prioritised vehicle queue · full challan history via national APIs · plain-language intelligence summary · one-tap outcome logging (intercepted / missed / dismissed)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111495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20">
                <a:solidFill>
                  <a:srgbClr val="4A35FF"/>
                </a:solidFill>
                <a:latin typeface="Montserrat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111495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46 Cr e-challans issued nationally, ~75% unpaid — SATARK turns that dormant record into live, targeted roadside enforcement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678423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20">
                <a:solidFill>
                  <a:srgbClr val="4A35FF"/>
                </a:solidFill>
                <a:latin typeface="Montserrat"/>
              </a:rPr>
              <a:t>FLAGGING CRITERIA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678423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Set by police, not CFI — e.g. 10+ pending challans or ₹10,000+ outstanding · 20,000+ vehicles flagged on these rules so far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33104" y="2340864"/>
            <a:ext cx="3106143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stk_p1_x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2377440"/>
            <a:ext cx="3032992" cy="356616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69680" y="59893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The officer app: captured vehicle, live intelligence summary.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APPENDIX · SATARK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APPENDIX A4 ·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'Justice Unserved': why crash compensation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fails, in five measured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Published January 2026; launched at IIT Delhi; findings presented to MoRTH and cited by national press.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2084831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670048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ye-off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743200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3099816"/>
            <a:ext cx="1719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74136"/>
            <a:ext cx="171907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70% of low-income families don't know compensation exists; tout networks fill the vacuum.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1" y="2514600"/>
            <a:ext cx="2084831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44951" y="2670048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cloc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3" y="2743200"/>
            <a:ext cx="219456" cy="2194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44951" y="3099816"/>
            <a:ext cx="1719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Timeliness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3374136"/>
            <a:ext cx="171907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3.6-year average claim; typical MACT case runs 8–10 years.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2" y="2514600"/>
            <a:ext cx="2084831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6942" y="2670048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file-x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4" y="2743200"/>
            <a:ext cx="219456" cy="21945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66942" y="3099816"/>
            <a:ext cx="1719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Legal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2" y="3374136"/>
            <a:ext cx="171907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90% of pending hit-and-run claims are stalled on documentation alone.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6053" y="2514600"/>
            <a:ext cx="2084831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88933" y="2670048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trending-down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5" y="2743200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88933" y="3099816"/>
            <a:ext cx="1719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Adequacy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8933" y="3374136"/>
            <a:ext cx="171907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Informal workers valued at minimum wage; courts repeatedly enhance awards on appeal.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28044" y="2514600"/>
            <a:ext cx="2084831" cy="1691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10924" y="2670048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users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76" y="2743200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710924" y="3099816"/>
            <a:ext cx="17190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Equity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4" y="3374136"/>
            <a:ext cx="171907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30" b="0" i="0">
                <a:solidFill>
                  <a:srgbClr val="777589"/>
                </a:solidFill>
                <a:latin typeface="Geist"/>
              </a:rPr>
              <a:t>14% of low-income households receive insurance compensation vs 24% of high-income.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" y="4398264"/>
            <a:ext cx="7388352" cy="1850290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journey_stri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434840"/>
            <a:ext cx="7315200" cy="177713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0080" y="627598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The claim journey we mapped in Jaipur — six institutions from FIR to payment; every hand-off manual today.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398264"/>
            <a:ext cx="3319272" cy="173736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4398264"/>
            <a:ext cx="278892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205 claims filed vs ~25,000 eligible.</a:t>
            </a:r>
          </a:p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The pipeline, not the scheme, is the gap — so that is what we are fixing, office by office.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APPENDIX · JUSTICE UNSERVED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APPENDIX A5 · OPEN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The data commons, in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68580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1284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National Road Defect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31136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4A35FF"/>
                </a:solidFill>
                <a:latin typeface="Geist"/>
              </a:rPr>
              <a:t>cfi-defect-repository.vercel.app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AI reads local-language news daily in 13 languages across 146 districts (Bihar, UP, Rajasthan); defects geocoded and clustered into ranked public hotspot maps with verbatim source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27248"/>
            <a:ext cx="68580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23697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Road Safety in Parliament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255264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4A35FF"/>
                </a:solidFill>
                <a:latin typeface="Geist"/>
              </a:rPr>
              <a:t>road-safety-parliament.vercel.app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511296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1,423 questions across 4 ministries since 2014; find-your-MP report cards; live session tracking; RTI Watch pairs it with CFI's Delhi MACT RTI campaign.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51376"/>
            <a:ext cx="68580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61104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SC Litigation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27939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4A35FF"/>
                </a:solidFill>
                <a:latin typeface="Geist"/>
              </a:rPr>
              <a:t>sc-litigation-tracker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535424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18 live cases, 190+ orders, 27 precedent judgments; an accountability ledger of Supreme Court directions with auto-flipping deadlines — 11 overdue at launch.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75504"/>
            <a:ext cx="68580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28523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Crash Data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3035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0">
                <a:solidFill>
                  <a:srgbClr val="4A35FF"/>
                </a:solidFill>
                <a:latin typeface="Geist"/>
              </a:rPr>
              <a:t>cfi-crash-dashboard.vercel.app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559552"/>
            <a:ext cx="6492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50" b="0" i="0">
                <a:solidFill>
                  <a:srgbClr val="777589"/>
                </a:solidFill>
                <a:latin typeface="Geist"/>
              </a:rPr>
              <a:t>MoRTH's 266-page annual reports productised: 2019–2024 data, report cards for 36 states + 50 cities, 21 verified findings, CC-BY open license.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44383" y="2157984"/>
            <a:ext cx="3913632" cy="2632846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imp_p8_x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94560"/>
            <a:ext cx="3840480" cy="255969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80960" y="4845694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1">
                <a:solidFill>
                  <a:srgbClr val="777589"/>
                </a:solidFill>
                <a:latin typeface="Geist"/>
              </a:rPr>
              <a:t>Live crash-data walkthrough at the NextMile finale — the dashboards in use.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All four platforms are self-updating cloud services — nothing depends on any one person's laptop.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APPENDIX · OPEN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APPENDIX A6 · YOUTH &amp;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NextMile's six policy tracks, and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education assets that travel beyond campuses.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2514600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Speed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331720"/>
            <a:ext cx="2514600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1568" y="2331720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Delivery-rider safety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2331720"/>
            <a:ext cx="2514600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53328" y="2331720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Road-safety data transparency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07208"/>
            <a:ext cx="2514600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07208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Crash-claim compensation reform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807208"/>
            <a:ext cx="2514600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2807208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Local blackspot identification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807208"/>
            <a:ext cx="2514600" cy="3840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807208"/>
            <a:ext cx="22951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4A35FF"/>
                </a:solidFill>
                <a:latin typeface="Montserrat"/>
              </a:rPr>
              <a:t>On-road emergency protocols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ook-ope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3598164"/>
            <a:ext cx="210312" cy="2103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88720" y="3502152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'Know Your Rights with Aasha' comic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5818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Three compensation pathways explained in comic form — Hit &amp; Run Scheme (₹2L), Section 164 no-fault (₹5L), Section 166 full claims.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233672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ile-tex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4311396"/>
            <a:ext cx="210312" cy="2103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8720" y="4215384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Hindi crash-claim guides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471416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4-step claim process, free DLSA legal aid, NALSA 15100, Cashless Treatment Scheme 2025 (₹1.5L / 7 days) — distributed at hospitals and police stations.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46904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heart-puls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" y="5024628"/>
            <a:ext cx="210312" cy="2103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88720" y="4928616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Pre-Hospital Care Primer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18464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Golden Hour, ERSS-112, ambulance benchmarks — India's emergency-response gaps mapped against global standards.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660136"/>
            <a:ext cx="365760" cy="36576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presentation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" y="5737860"/>
            <a:ext cx="210312" cy="2103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88720" y="5641848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Road Safety Dialogue Series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8978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1,000+ participants across sessions with police, transport departments and professionals.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84464" y="2295144"/>
            <a:ext cx="3319272" cy="189983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rkf_p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331720"/>
            <a:ext cx="3246120" cy="18266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21040" y="424984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On stage at the National Road Safety Implementation Forum, IIT Delhi — April 2026.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4464" y="4261104"/>
            <a:ext cx="1352889" cy="208483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nextmile_p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297680"/>
            <a:ext cx="1279738" cy="20116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21040" y="633679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30" b="0" i="1">
                <a:solidFill>
                  <a:srgbClr val="777589"/>
                </a:solidFill>
                <a:latin typeface="Geist"/>
              </a:rPr>
              <a:t>The NextMile newsletter.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APPENDIX · NEXTMILE &amp; EDUCATION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APPENDIX A7 · PRESS &amp;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Where you may have read about 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82296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'Justice Unserved'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30428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Deccan Herald · Economic Times · Fortune India · IndiaSpend · Moneycontrol · Scroll.in · The Wire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0672"/>
            <a:ext cx="82296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MS Dhoni announcement (Apr 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2004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Business Standard · The Tribune · The Wire (PTI) · Team-BHP · MediaBrief · Adgully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86784"/>
            <a:ext cx="82296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9651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Launch coverage (Jun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09651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TheCSRUniverse · Team-BHP · Adgully · MediaInfoline — 'Cars24 launches Crashfree India to eliminate road fatalities by 2040'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82896"/>
            <a:ext cx="8229600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92624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Team bylines &amp; citations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99262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Scroll.in op-ed on underage-driving law (Shubham Kumar) · The Wire / IndiaSpend on gig-rider crash data (Aastha Shreeharsh)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2194560"/>
            <a:ext cx="1810512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comp_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36" y="2231136"/>
            <a:ext cx="1737360" cy="1737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052560" y="4133088"/>
            <a:ext cx="682620" cy="1435608"/>
          </a:xfrm>
          <a:prstGeom prst="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comp_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4169664"/>
            <a:ext cx="609468" cy="13624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52560" y="55961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80" b="0" i="1">
                <a:solidFill>
                  <a:srgbClr val="777589"/>
                </a:solidFill>
                <a:latin typeface="Geist"/>
              </a:rPr>
              <a:t>IndiaSpend citing CFI research, 2026.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crashfreeindia.org  ·  helpdesk@crashfreeindia.org  ·  WhatsApp +91 78380 59367  ·  Live dashboard: crashfreeindia.org/rakshak/dashboard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APPENDIX · PRESS &amp; CONTACT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25 /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