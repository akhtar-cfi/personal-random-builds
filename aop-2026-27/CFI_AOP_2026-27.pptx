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23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99855" y="0"/>
            <a:ext cx="3291840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9357055" y="502920"/>
            <a:ext cx="457200" cy="457200"/>
          </a:xfrm>
          <a:prstGeom prst="star4">
            <a:avLst/>
          </a:prstGeom>
          <a:solidFill>
            <a:srgbClr val="C8C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2103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 spc="180">
                <a:solidFill>
                  <a:srgbClr val="FFFFFF"/>
                </a:solidFill>
                <a:latin typeface="Montserrat"/>
              </a:rPr>
              <a:t>PROJECT RAKSHAK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57055" y="2487168"/>
            <a:ext cx="2377440" cy="0"/>
          </a:xfrm>
          <a:prstGeom prst="line">
            <a:avLst/>
          </a:prstGeom>
          <a:ln w="9525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357055" y="27614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 spc="180">
                <a:solidFill>
                  <a:srgbClr val="FFFFFF"/>
                </a:solidFill>
                <a:latin typeface="Montserrat"/>
              </a:rPr>
              <a:t>HIT &amp; RUN COMPENSATION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357055" y="3145536"/>
            <a:ext cx="2377440" cy="0"/>
          </a:xfrm>
          <a:prstGeom prst="line">
            <a:avLst/>
          </a:prstGeom>
          <a:ln w="9525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357055" y="341985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 spc="180">
                <a:solidFill>
                  <a:srgbClr val="FFFFFF"/>
                </a:solidFill>
                <a:latin typeface="Montserrat"/>
              </a:rPr>
              <a:t>CIVIC &amp; GOVTECH  ·  SATARK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357055" y="3803904"/>
            <a:ext cx="2377440" cy="0"/>
          </a:xfrm>
          <a:prstGeom prst="line">
            <a:avLst/>
          </a:prstGeom>
          <a:ln w="9525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57055" y="407822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 spc="180">
                <a:solidFill>
                  <a:srgbClr val="FFFFFF"/>
                </a:solidFill>
                <a:latin typeface="Montserrat"/>
              </a:rPr>
              <a:t>CAMPAIGN &amp; ENABLERS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57055" y="4462272"/>
            <a:ext cx="2377440" cy="0"/>
          </a:xfrm>
          <a:prstGeom prst="line">
            <a:avLst/>
          </a:prstGeom>
          <a:ln w="9525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57055" y="47365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 spc="180">
                <a:solidFill>
                  <a:srgbClr val="FFFFFF"/>
                </a:solidFill>
                <a:latin typeface="Montserrat"/>
              </a:rPr>
              <a:t>BETS  ·  SSI + GIG RIDER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57055" y="5120640"/>
            <a:ext cx="2377440" cy="0"/>
          </a:xfrm>
          <a:prstGeom prst="line">
            <a:avLst/>
          </a:prstGeom>
          <a:ln w="9525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logo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2103120" cy="290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21488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ANNUAL OPERATING PLAN  ·  JULY 2026 - JUNE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1A1C1C"/>
                </a:solidFill>
                <a:latin typeface="Montserrat"/>
              </a:rPr>
              <a:t>From programmes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4A35FF"/>
                </a:solidFill>
                <a:latin typeface="Montserrat"/>
              </a:rPr>
              <a:t>to institutions.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69080"/>
            <a:ext cx="7680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777589"/>
                </a:solidFill>
                <a:latin typeface="Geist"/>
              </a:rPr>
              <a:t>Year 2 runs three core programmes and one civic-tech vertical, deep not wide.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777589"/>
                </a:solidFill>
                <a:latin typeface="Geist"/>
              </a:rPr>
              <a:t>Everything else is a seed-funded bet that must earn its way to a full budget.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5806440"/>
            <a:ext cx="7680960" cy="0"/>
          </a:xfrm>
          <a:prstGeom prst="line">
            <a:avLst/>
          </a:prstGeom>
          <a:ln w="12700">
            <a:solidFill>
              <a:srgbClr val="ED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9893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 spc="140">
                <a:solidFill>
                  <a:srgbClr val="777589"/>
                </a:solidFill>
                <a:latin typeface="Montserrat"/>
              </a:rPr>
              <a:t>Vision Zero Trust  ·  Internal Planning Document  ·  Budget Rs 6.00 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YEAR 1 IN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What one year of audit-led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put on the 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Cohort 1 proved the model: youth-generated audits can reach district officials and trigger engineering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p-pin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912" y="2715768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71576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83280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Priority sites audited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514600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uilding-2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544" y="2715768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39312" y="271576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3383280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Cities engaged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2514600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check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2715768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9944" y="271576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25+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3383280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Approvals &amp; actions initiated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2514600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ard-hat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6808" y="2715768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271576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3383280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Engineering works begun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24528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4912" y="4425696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" y="4425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900+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093208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Stakeholder surveys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10712" y="4224528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helping_4A35FF_256_2.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5544" y="4425696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39312" y="4425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120+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9312" y="5093208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Victims &amp; families surveyed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1344" y="4224528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ic_4A35FF_256_2.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6176" y="4425696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09944" y="4425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30+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9944" y="5093208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Expert consultations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51976" y="4224528"/>
            <a:ext cx="2587752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egaphone_4A35FF_256_2.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36808" y="4425696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180576" y="4425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4A35FF"/>
                </a:solidFill>
                <a:latin typeface="Montserrat"/>
              </a:rPr>
              <a:t>1M+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0576" y="5093208"/>
            <a:ext cx="2130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Citizens reached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897880"/>
            <a:ext cx="10911535" cy="384048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897880"/>
            <a:ext cx="1091153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150+ members  ·  50+ experts  ·  AASHA chatbot live  ·  MoUs with Gurugram &amp; Jaipur Traffic Police  ·  DRSC integration begun in SW Delhi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LEARNINGS FROM YEAR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Five lessons that rewired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the Year 2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2157984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dge-check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240280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20" y="208483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C1C"/>
                </a:solidFill>
                <a:latin typeface="Montserrat"/>
              </a:rPr>
              <a:t>Credibility is the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08483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Energy and field discovery were strong; report quality must meet DRSC and NHAI standards without rework.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0848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IN Y2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9514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Expert Consortium, certified RSAs, Rakshak Audit Manual v1.0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34640"/>
            <a:ext cx="10911535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" y="3026664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ale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10896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17320" y="295351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C1C"/>
                </a:solidFill>
                <a:latin typeface="Montserrat"/>
              </a:rPr>
              <a:t>Awareness alone doesn't move claims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95351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Institutional incapacity and process non-compliance - not just awareness gaps - drive claim dropout.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95351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IN Y2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16382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Shift from awareness drives to stage-wise scheme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03320"/>
            <a:ext cx="10911535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1248" y="3895344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ap-pin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977640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17320" y="382219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C1C"/>
                </a:solidFill>
                <a:latin typeface="Montserrat"/>
              </a:rPr>
              <a:t>Depth beats breadth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82219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Parallel full-scale sites diluted bandwidth and institutional trust took longer than planned.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82219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IN Y2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03250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Anchor districts + model-district approach; MACT reform deprioritised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11535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1248" y="4764024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lipboard-check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846320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17320" y="46908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C1C"/>
                </a:solidFill>
                <a:latin typeface="Montserrat"/>
              </a:rPr>
              <a:t>Audits die at submission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Most audit programmes stop at report submission; follow-through is where impact happens.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6908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IN Y2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90118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Public accountability loop - every recommendation tracked to implementation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440680"/>
            <a:ext cx="10911535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1248" y="5632704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ndian-rupee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715000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417320" y="555955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C1C"/>
                </a:solidFill>
                <a:latin typeface="Montserrat"/>
              </a:rPr>
              <a:t>Plan what we fund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55955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77589"/>
                </a:solidFill>
                <a:latin typeface="Geist"/>
              </a:rPr>
              <a:t>Prior budget carried unfunded activities and untagged cost lines.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55595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IN Y2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76986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Unit-based budget, quarterly phasing, formula-driven rollups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YEAR 2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One operating model,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run deeper.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arch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157984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98448" y="20391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 spc="120">
                <a:solidFill>
                  <a:srgbClr val="1A1C1C"/>
                </a:solidFill>
                <a:latin typeface="Montserrat"/>
              </a:rPr>
              <a:t>01  · 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33172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Diagnose where systems break - blackspots, claim pipelines, school zones, platform practices - with evidence that survives institutional review.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egaphone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52958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98448" y="34107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 spc="120">
                <a:solidFill>
                  <a:srgbClr val="1A1C1C"/>
                </a:solidFill>
                <a:latin typeface="Montserrat"/>
              </a:rPr>
              <a:t>02  ·  ADVOCATE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70332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Turn evidence into stakeholder action: DRSC integration, co-designed fixes, model districts, a sustained publishing cadence.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check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47823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 spc="120">
                <a:solidFill>
                  <a:srgbClr val="1A1C1C"/>
                </a:solidFill>
                <a:latin typeface="Montserrat"/>
              </a:rPr>
              <a:t>03  ·  HOLD ACCOUNTABLE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07492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77589"/>
                </a:solidFill>
                <a:latin typeface="Geist"/>
              </a:rPr>
              <a:t>Track every recommendation publicly from submission to implementation; escalate from district fixes to system reform.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2011680"/>
            <a:ext cx="3779215" cy="41605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331720"/>
            <a:ext cx="3047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20">
                <a:solidFill>
                  <a:srgbClr val="C8C0FF"/>
                </a:solidFill>
                <a:latin typeface="Montserrat"/>
              </a:rPr>
              <a:t>THE YEAR 2 SHIFT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697480"/>
            <a:ext cx="30476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From programmes</a:t>
            </a:r>
          </a:p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to institutions.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611880"/>
            <a:ext cx="3047695" cy="0"/>
          </a:xfrm>
          <a:prstGeom prst="line">
            <a:avLst/>
          </a:prstGeom>
          <a:ln w="12700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156448" y="386791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3794760"/>
            <a:ext cx="2819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Geist"/>
              </a:rPr>
              <a:t>Expert Consortium + Audit Manual v1.0 give audits institutional authority</a:t>
            </a:r>
          </a:p>
        </p:txBody>
      </p:sp>
      <p:sp>
        <p:nvSpPr>
          <p:cNvPr id="26" name="Oval 25"/>
          <p:cNvSpPr/>
          <p:nvPr/>
        </p:nvSpPr>
        <p:spPr>
          <a:xfrm>
            <a:off x="8156448" y="445312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4379976"/>
            <a:ext cx="2819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Geist"/>
              </a:rPr>
              <a:t>Model districts, not scattered pilots - Gurugram, SW Delhi, anchor cities</a:t>
            </a:r>
          </a:p>
        </p:txBody>
      </p:sp>
      <p:sp>
        <p:nvSpPr>
          <p:cNvPr id="28" name="Oval 27"/>
          <p:cNvSpPr/>
          <p:nvPr/>
        </p:nvSpPr>
        <p:spPr>
          <a:xfrm>
            <a:off x="8156448" y="5038344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4965192"/>
            <a:ext cx="2819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Geist"/>
              </a:rPr>
              <a:t>Civic tech in government hands: SATARK enforcement + four open data products</a:t>
            </a:r>
          </a:p>
        </p:txBody>
      </p:sp>
      <p:sp>
        <p:nvSpPr>
          <p:cNvPr id="30" name="Oval 29"/>
          <p:cNvSpPr/>
          <p:nvPr/>
        </p:nvSpPr>
        <p:spPr>
          <a:xfrm>
            <a:off x="8156448" y="5623560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5550408"/>
            <a:ext cx="2819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Geist"/>
              </a:rPr>
              <a:t>Publishing cadence: monthly field notes, quarterly findings, year-end audit reports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KEY FOCUS AREAS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Three core programmes,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two seed-funded bets.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Each core programme has a north-star outcome and a dedicated budget line. Bets carry seed money only - they scale only if their pilots earn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3511296" cy="22128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724912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ard-hat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825496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36192" y="2724912"/>
            <a:ext cx="23408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1" i="0" spc="150">
                <a:solidFill>
                  <a:srgbClr val="4A35FF"/>
                </a:solidFill>
                <a:latin typeface="Montserrat"/>
              </a:rPr>
              <a:t>CORE 01  ·  RS 1.85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944368"/>
            <a:ext cx="234086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A1C1C"/>
                </a:solidFill>
                <a:latin typeface="Montserrat"/>
              </a:rPr>
              <a:t>Project Rakshak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29626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Institutionalise the national audit pipeline: three-track model, Expert Consortium, Audit Manual v1.0.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87952"/>
            <a:ext cx="2962656" cy="347472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8795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80" b="1" i="0">
                <a:solidFill>
                  <a:srgbClr val="FFFFFF"/>
                </a:solidFill>
                <a:latin typeface="Montserrat"/>
              </a:rPr>
              <a:t>150+ blackspots audited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2487168"/>
            <a:ext cx="3511296" cy="22128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08576" y="2724912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ale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25496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30368" y="2724912"/>
            <a:ext cx="23408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1" i="0" spc="150">
                <a:solidFill>
                  <a:srgbClr val="4A35FF"/>
                </a:solidFill>
                <a:latin typeface="Montserrat"/>
              </a:rPr>
              <a:t>CORE 02  ·  RS 0.60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944368"/>
            <a:ext cx="234086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A1C1C"/>
                </a:solidFill>
                <a:latin typeface="Montserrat"/>
              </a:rPr>
              <a:t>Hit &amp; Run Compensation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383280"/>
            <a:ext cx="29626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Lift claim uptake in two model districts through stage-wise scheme audit and DRSC integration.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08576" y="4187952"/>
            <a:ext cx="2962656" cy="347472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576" y="418795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80" b="1" i="0">
                <a:solidFill>
                  <a:srgbClr val="FFFFFF"/>
                </a:solidFill>
                <a:latin typeface="Montserrat"/>
              </a:rPr>
              <a:t>Claim uptake up in 2 districts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2487168"/>
            <a:ext cx="3511296" cy="221284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2" y="2724912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adar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336" y="2825496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924544" y="2724912"/>
            <a:ext cx="23408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1" i="0" spc="150">
                <a:solidFill>
                  <a:srgbClr val="4A35FF"/>
                </a:solidFill>
                <a:latin typeface="Montserrat"/>
              </a:rPr>
              <a:t>CORE 03  ·  RS 1.00 CR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24544" y="2944368"/>
            <a:ext cx="234086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A1C1C"/>
                </a:solidFill>
                <a:latin typeface="Montserrat"/>
              </a:rPr>
              <a:t>Civic &amp; GovTech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3383280"/>
            <a:ext cx="29626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Scale SATARK - the AI enforcement co-pilot for traffic police - to five cities, and sustain four open data products.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2752" y="4187952"/>
            <a:ext cx="2962656" cy="347472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418795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80" b="1" i="0">
                <a:solidFill>
                  <a:srgbClr val="FFFFFF"/>
                </a:solidFill>
                <a:latin typeface="Montserrat"/>
              </a:rPr>
              <a:t>SATARK live in 5 cities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4A35FF"/>
                </a:solidFill>
                <a:latin typeface="Montserrat"/>
              </a:rPr>
              <a:t>TWO BETS  ·  SEED-FUNDED, STAGE-GATED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75504"/>
            <a:ext cx="5358384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2960" y="5431536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chool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5513832"/>
            <a:ext cx="237744" cy="23774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371600" y="53035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School Safety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559552"/>
            <a:ext cx="3209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The 2,000-school index is parked. Seed: validate the IRC:SP:32 rubric on ~100 schools in one city.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00016" y="5477256"/>
            <a:ext cx="1115568" cy="3291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0016" y="5477256"/>
            <a:ext cx="11155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Rs 0.10 Cr seed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1344" y="5175504"/>
            <a:ext cx="5358384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64224" y="5431536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bike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5513832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12864" y="53035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Gig Rider Safety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2864" y="5559552"/>
            <a:ext cx="3209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The national study is parked. Seed: scoping study + first engagements with delivery platforms.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1280" y="5477256"/>
            <a:ext cx="1115568" cy="3291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41280" y="5477256"/>
            <a:ext cx="11155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1" i="0">
                <a:solidFill>
                  <a:srgbClr val="4A35FF"/>
                </a:solidFill>
                <a:latin typeface="Montserrat"/>
              </a:rPr>
              <a:t>Rs 0.10 Cr seed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DEEP DIVE  ·  CORE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Project Rakshak Cohort 2: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institutionalise the audit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4A35FF"/>
                </a:solidFill>
                <a:latin typeface="Montserrat"/>
              </a:rPr>
              <a:t>THE THREE-TRACK AUDIT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685800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2587752"/>
            <a:ext cx="420624" cy="420624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15184"/>
            <a:ext cx="4206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96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Institutional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761488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IIT / NIT / SPA student teams under expert mentors; IRC-aligned rubric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633472"/>
            <a:ext cx="1051560" cy="3291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633472"/>
            <a:ext cx="1051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~90 sites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28416"/>
            <a:ext cx="685800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3538728"/>
            <a:ext cx="420624" cy="420624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566160"/>
            <a:ext cx="4206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472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NGO Partners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712464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NGO field teams; 100% desk review + 10-15% physical re-checks by CFI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584448"/>
            <a:ext cx="1051560" cy="3291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584448"/>
            <a:ext cx="1051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~20 sites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79392"/>
            <a:ext cx="685800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489704"/>
            <a:ext cx="420624" cy="420624"/>
          </a:xfrm>
          <a:prstGeom prst="ellipse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4206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3982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Certified RSAs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663440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CRRI-certified auditors; full IRC SP:88 - usable by NHAI without rework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535424"/>
            <a:ext cx="1051560" cy="3291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535424"/>
            <a:ext cx="1051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i="0">
                <a:solidFill>
                  <a:srgbClr val="4A35FF"/>
                </a:solidFill>
                <a:latin typeface="Montserrat"/>
              </a:rPr>
              <a:t>~40 sites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4A35FF"/>
                </a:solidFill>
                <a:latin typeface="Montserrat"/>
              </a:rPr>
              <a:t>ANCHOR DISTRICTS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614416"/>
            <a:ext cx="1673352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614416"/>
            <a:ext cx="167335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Gurugram (NH-48)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50592" y="5614416"/>
            <a:ext cx="1961388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5614416"/>
            <a:ext cx="19613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SW Delhi (NH-48/44)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9140" y="5614416"/>
            <a:ext cx="1385316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9140" y="5614416"/>
            <a:ext cx="13853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Jaipur (NH-8)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71616" y="5614416"/>
            <a:ext cx="2345436" cy="34747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1616" y="5614416"/>
            <a:ext cx="234543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1A1C1C"/>
                </a:solidFill>
                <a:latin typeface="Geist"/>
              </a:rPr>
              <a:t>+ 10 exploratory cities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2011680"/>
            <a:ext cx="3733495" cy="411480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2286000"/>
            <a:ext cx="3093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C8C0FF"/>
                </a:solidFill>
                <a:latin typeface="Montserrat"/>
              </a:rPr>
              <a:t>FY 2026-27 TARGETS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2670048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150+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715768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C8C0FF"/>
                </a:solidFill>
                <a:latin typeface="Geist"/>
              </a:rPr>
              <a:t>blackspots audited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236976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100+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282696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C8C0FF"/>
                </a:solidFill>
                <a:latin typeface="Geist"/>
              </a:rPr>
              <a:t>recommendations accepted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3803904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75+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3849624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C8C0FF"/>
                </a:solidFill>
                <a:latin typeface="Geist"/>
              </a:rPr>
              <a:t>implementations initiated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370832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12+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4416552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C8C0FF"/>
                </a:solidFill>
                <a:latin typeface="Geist"/>
              </a:rPr>
              <a:t>DRSC presentations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937760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v1.0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4983480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C8C0FF"/>
                </a:solidFill>
                <a:latin typeface="Geist"/>
              </a:rPr>
              <a:t>Rakshak Audit Manual + 4 Expert Consortium meetings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38160" y="5596128"/>
            <a:ext cx="3093415" cy="0"/>
          </a:xfrm>
          <a:prstGeom prst="line">
            <a:avLst/>
          </a:prstGeom>
          <a:ln w="12700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38160" y="5724144"/>
            <a:ext cx="3093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Budget  </a:t>
            </a:r>
            <a:r>
              <a:rPr sz="1300" b="1" i="0">
                <a:solidFill>
                  <a:srgbClr val="FFFFFF"/>
                </a:solidFill>
                <a:latin typeface="Montserrat"/>
              </a:rPr>
              <a:t>Rs 1.85 Cr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DEEP DIVE  ·  CORE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Hit &amp; Run Compensation: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move the claim rate in two districts.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4A35FF"/>
                </a:solidFill>
                <a:latin typeface="Montserrat"/>
              </a:rPr>
              <a:t>FOUR PILLARS  ·  AUDIT-LED, RESEARCH-EMBEDDED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6858000" cy="7589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2551176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arch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63347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89888" y="247802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Scheme audit &amp; process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724912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 i="0">
                <a:solidFill>
                  <a:srgbClr val="777589"/>
                </a:solidFill>
                <a:latin typeface="Geist"/>
              </a:rPr>
              <a:t>Stage-wise pipeline audit in Gurugram: FIR to GI Council disbursal; 20-30 claims tracked end-to-end.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27832"/>
            <a:ext cx="6858000" cy="7589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3401568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andmark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48386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89888" y="332841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Institutional capacity building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575304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 i="0">
                <a:solidFill>
                  <a:srgbClr val="777589"/>
                </a:solidFill>
                <a:latin typeface="Geist"/>
              </a:rPr>
              <a:t>Fellow-in-Residence at Tehsildar office; SOP reference cards; training-gap assessment - research-embedded, not social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78224"/>
            <a:ext cx="6858000" cy="7589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" y="4251960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ot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34256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89888" y="417880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Victim identification &amp; AASHA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42569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 i="0">
                <a:solidFill>
                  <a:srgbClr val="777589"/>
                </a:solidFill>
                <a:latin typeface="Geist"/>
              </a:rPr>
              <a:t>DLSA-partnered helpdesks; AASHA QR deployment at police stations and trauma centres; usage measured monthly.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28616"/>
            <a:ext cx="6858000" cy="7589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5102352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ile-text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5184648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389888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C1C"/>
                </a:solidFill>
                <a:latin typeface="Montserrat"/>
              </a:rPr>
              <a:t>Policy audit &amp; advocacy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527608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 i="0">
                <a:solidFill>
                  <a:srgbClr val="777589"/>
                </a:solidFill>
                <a:latin typeface="Geist"/>
              </a:rPr>
              <a:t>'Where the Pipeline Breaks' - comprehensive scheme audit submitted to MoRTH; quarterly findings + public brief.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247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1A1C1C"/>
                </a:solidFill>
                <a:latin typeface="Montserrat"/>
              </a:rPr>
              <a:t>Geography:  </a:t>
            </a:r>
            <a:r>
              <a:rPr sz="1000" b="0" i="0">
                <a:solidFill>
                  <a:srgbClr val="777589"/>
                </a:solidFill>
                <a:latin typeface="Geist"/>
              </a:rPr>
              <a:t>Gurugram (primary model district)  ·  SW Delhi (second model district)  ·  Jaipur (comparative node)  ·  Bihar / MP / Rajasthan watchlist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2011680"/>
            <a:ext cx="3733495" cy="411480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286000"/>
            <a:ext cx="3093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C8C0FF"/>
                </a:solidFill>
                <a:latin typeface="Montserrat"/>
              </a:rPr>
              <a:t>FY 2026-27 TARGETS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2670048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706624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model districts with measured claim-uptake lift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236976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-20%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273552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median claim processing time vs Q1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803904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20-30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840480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claims tracked FIR to disbursal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370832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20+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407408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DRSC meetings with H&amp;R on agenda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937760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4974336"/>
            <a:ext cx="1996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scheme audit report to MoRTH (Apr-May '27)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38160" y="5596128"/>
            <a:ext cx="3093415" cy="0"/>
          </a:xfrm>
          <a:prstGeom prst="line">
            <a:avLst/>
          </a:prstGeom>
          <a:ln w="12700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38160" y="5724144"/>
            <a:ext cx="3093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Budget  </a:t>
            </a:r>
            <a:r>
              <a:rPr sz="1300" b="1" i="0">
                <a:solidFill>
                  <a:srgbClr val="FFFFFF"/>
                </a:solidFill>
                <a:latin typeface="Montserrat"/>
              </a:rPr>
              <a:t>Rs 0.60 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DEEP DIVE  ·  CORE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Civic &amp; GovTech: enforcement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knows which vehicle to 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4A35FF"/>
                </a:solidFill>
                <a:latin typeface="Montserrat"/>
              </a:rPr>
              <a:t>SATARK  ·  THE ENFORCEMENT CO-PILOT FOR TRAFFIC POLICE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59152"/>
            <a:ext cx="1207008" cy="60350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1207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ANPR</a:t>
            </a:r>
          </a:p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plate scan</a:t>
            </a:r>
          </a:p>
        </p:txBody>
      </p:sp>
      <p:pic>
        <p:nvPicPr>
          <p:cNvPr id="11" name="Picture 10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376" y="2578608"/>
            <a:ext cx="164592" cy="1645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48256" y="2359152"/>
            <a:ext cx="1207008" cy="60350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8256" y="2359152"/>
            <a:ext cx="1207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ULIP</a:t>
            </a:r>
          </a:p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vehicle records</a:t>
            </a:r>
          </a:p>
        </p:txBody>
      </p:sp>
      <p:pic>
        <p:nvPicPr>
          <p:cNvPr id="14" name="Picture 13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2578608"/>
            <a:ext cx="164592" cy="16459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456432" y="2359152"/>
            <a:ext cx="1207008" cy="60350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2359152"/>
            <a:ext cx="1207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SATARK</a:t>
            </a:r>
          </a:p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rule engine</a:t>
            </a:r>
          </a:p>
        </p:txBody>
      </p:sp>
      <p:pic>
        <p:nvPicPr>
          <p:cNvPr id="17" name="Picture 16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8" y="2578608"/>
            <a:ext cx="164592" cy="16459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864608" y="2359152"/>
            <a:ext cx="1207008" cy="60350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2359152"/>
            <a:ext cx="1207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Billboard +</a:t>
            </a:r>
          </a:p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officer app</a:t>
            </a:r>
          </a:p>
        </p:txBody>
      </p:sp>
      <p:pic>
        <p:nvPicPr>
          <p:cNvPr id="20" name="Picture 19" descr="chevron-right_6A5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2578608"/>
            <a:ext cx="164592" cy="16459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272784" y="2359152"/>
            <a:ext cx="1207008" cy="60350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359152"/>
            <a:ext cx="1207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Interception</a:t>
            </a:r>
          </a:p>
          <a:p>
            <a:pPr algn="ctr">
              <a:lnSpc>
                <a:spcPct val="115000"/>
              </a:lnSpc>
            </a:pPr>
            <a:r>
              <a:rPr sz="819" b="1" i="0">
                <a:solidFill>
                  <a:srgbClr val="1A1C1C"/>
                </a:solidFill>
                <a:latin typeface="Montserrat"/>
              </a:rPr>
              <a:t>logged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00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4A35FF"/>
                </a:solidFill>
                <a:latin typeface="Montserrat"/>
              </a:rPr>
              <a:t>PROVEN IN THE FIELD  ·  CUMULATIVE, LIVE DEPLOYMENTS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529584"/>
            <a:ext cx="3337560" cy="71323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621024"/>
            <a:ext cx="29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4A35FF"/>
                </a:solidFill>
                <a:latin typeface="Montserrat"/>
              </a:rPr>
              <a:t>3,00,000+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931920"/>
            <a:ext cx="2935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vehicles scanned at live sites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0520" y="3529584"/>
            <a:ext cx="3337560" cy="71323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3621024"/>
            <a:ext cx="29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4A35FF"/>
                </a:solidFill>
                <a:latin typeface="Montserrat"/>
              </a:rPr>
              <a:t>Rs 30 Cr+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931920"/>
            <a:ext cx="2935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pending challan value surfaced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379976"/>
            <a:ext cx="3337560" cy="71323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471416"/>
            <a:ext cx="29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4A35FF"/>
                </a:solidFill>
                <a:latin typeface="Montserrat"/>
              </a:rPr>
              <a:t>350+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4782312"/>
            <a:ext cx="2935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vehicles intercepted in the field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0520" y="4379976"/>
            <a:ext cx="3337560" cy="713232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4471416"/>
            <a:ext cx="29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4A35FF"/>
                </a:solidFill>
                <a:latin typeface="Montserrat"/>
              </a:rPr>
              <a:t>2 cities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1688" y="4782312"/>
            <a:ext cx="2935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live today - Jaipur &amp; Bengaluru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3036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4A35FF"/>
                </a:solidFill>
                <a:latin typeface="Montserrat"/>
              </a:rPr>
              <a:t>THE CFI DATA STACK  ·  FOUR OPEN PUBLIC GOODS, SELF-RUNNING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Road-Infrastructure Defect Repository (daily, 146 districts)  ·  Road Safety in Parliament (1,423 questions)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SC Litigation Tracker (18 cases, 190+ orders)  ·  Crash Data Dashboard (RAI 2019-24, open CC-BY)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18120" y="2011680"/>
            <a:ext cx="3733495" cy="411480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2286000"/>
            <a:ext cx="3093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C8C0FF"/>
                </a:solidFill>
                <a:latin typeface="Montserrat"/>
              </a:rPr>
              <a:t>FY 2026-27 TARGETS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2697480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743200"/>
            <a:ext cx="1767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cities live with SATARK - add Gurugram, Pune, Ahmedabad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335584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1,000+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3401568"/>
            <a:ext cx="1767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field interceptions logged (from 350+ today)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4014216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059936"/>
            <a:ext cx="1767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new police partnerships formalised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672584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4718304"/>
            <a:ext cx="1767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0" i="0">
                <a:solidFill>
                  <a:srgbClr val="C8C0FF"/>
                </a:solidFill>
                <a:latin typeface="Geist"/>
              </a:rPr>
              <a:t>open data products sustained &amp; cited in DRSCs and press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138160" y="5596128"/>
            <a:ext cx="3093415" cy="0"/>
          </a:xfrm>
          <a:prstGeom prst="line">
            <a:avLst/>
          </a:prstGeom>
          <a:ln w="12700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38160" y="5724144"/>
            <a:ext cx="3093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Budget  </a:t>
            </a:r>
            <a:r>
              <a:rPr sz="1300" b="1" i="0">
                <a:solidFill>
                  <a:srgbClr val="FFFFFF"/>
                </a:solidFill>
                <a:latin typeface="Montserrat"/>
              </a:rPr>
              <a:t>Rs 1.00 Cr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THE BETS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Two bets, seed-funded now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scaled only if they earn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777589"/>
                </a:solidFill>
                <a:latin typeface="Geist"/>
              </a:rPr>
              <a:t>School Safety and Gig Rider come out of the core budget this year. Each gets a Rs 0.10 Cr seed, released against a board-approved pilot 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5358384" cy="324612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72491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hool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834640"/>
            <a:ext cx="283464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54480" y="27432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1" i="0" spc="150">
                <a:solidFill>
                  <a:srgbClr val="4A35FF"/>
                </a:solidFill>
                <a:latin typeface="Montserrat"/>
              </a:rPr>
              <a:t>BET 01  ·  RS 0.10 CR 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971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C1C"/>
                </a:solidFill>
                <a:latin typeface="Montserrat"/>
              </a:rPr>
              <a:t>School Safety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93008"/>
            <a:ext cx="4809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777589"/>
                </a:solidFill>
                <a:latin typeface="Geist"/>
              </a:rPr>
              <a:t>The 2,000-school, Rs 1.00 Cr index is parked, not killed.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136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THE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33088"/>
            <a:ext cx="480974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1A1C1C"/>
                </a:solidFill>
                <a:latin typeface="Geist"/>
              </a:rPr>
              <a:t>Validate the IRC:SP:32-2023 rubric (44 checks, 13 sections) on ~100 school zones in one anchor city; test the Zone Captain audit model end-to-end.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THE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48097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1A1C1C"/>
                </a:solidFill>
                <a:latin typeface="Geist"/>
              </a:rPr>
              <a:t>A defensible per-school cost and rubric &gt; board approves a funded, multi-city index in Year 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2468880"/>
            <a:ext cx="5358384" cy="3246120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55664" y="272491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ike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2834640"/>
            <a:ext cx="283464" cy="2834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95744" y="27432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1" i="0" spc="150">
                <a:solidFill>
                  <a:srgbClr val="4A35FF"/>
                </a:solidFill>
                <a:latin typeface="Montserrat"/>
              </a:rPr>
              <a:t>BET 02  ·  RS 0.10 CR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4" y="2971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A1C1C"/>
                </a:solidFill>
                <a:latin typeface="Montserrat"/>
              </a:rPr>
              <a:t>Gig Rider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3493008"/>
            <a:ext cx="4809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777589"/>
                </a:solidFill>
                <a:latin typeface="Geist"/>
              </a:rPr>
              <a:t>The national study is parked until the field model is proven.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9136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THE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133088"/>
            <a:ext cx="480974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1A1C1C"/>
                </a:solidFill>
                <a:latin typeface="Geist"/>
              </a:rPr>
              <a:t>Scoping study on gig rider crash data + first structured engagements with delivery platforms and OMI Foundation.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8646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60">
                <a:solidFill>
                  <a:srgbClr val="4A35FF"/>
                </a:solidFill>
                <a:latin typeface="Montserrat"/>
              </a:rPr>
              <a:t>THE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5084064"/>
            <a:ext cx="48097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1A1C1C"/>
                </a:solidFill>
                <a:latin typeface="Geist"/>
              </a:rPr>
              <a:t>3+ platforms at the table and a fundable study design &gt; board approves the full programme in Year 3.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70448"/>
            <a:ext cx="10911535" cy="384048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Montserrat"/>
              </a:rPr>
              <a:t>Bets seed fund Rs 0.20 Cr total  ·  no seed released without a board-approved design  ·  a proven bet returns as a funded Year 3 programme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OBJECTIVES &amp; KPIS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One north star per programme,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measured quarterly.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795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2157984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ard-hat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240280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20" y="2112264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Project Rakshak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7568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4A35FF"/>
                </a:solidFill>
                <a:latin typeface="Montserrat"/>
              </a:rPr>
              <a:t>NORTH 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95144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Geist"/>
              </a:rPr>
              <a:t>75+ implementations initiated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075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777589"/>
                </a:solidFill>
                <a:latin typeface="Montserrat"/>
              </a:rPr>
              <a:t>SUPPORTING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951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150+ audits · 100+ recommendations accepted · 12+ DRSC presentations · Audit Manual v1.0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843784"/>
            <a:ext cx="10911535" cy="795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3035808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118104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17320" y="2990088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Hit &amp; Run Compensation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5351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4A35FF"/>
                </a:solidFill>
                <a:latin typeface="Montserrat"/>
              </a:rPr>
              <a:t>NORTH 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17296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Geist"/>
              </a:rPr>
              <a:t>Claim uptake up in 2 model districts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953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777589"/>
                </a:solidFill>
                <a:latin typeface="Montserrat"/>
              </a:rPr>
              <a:t>SUPPORTING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17296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-20% median processing time · 20-30 claims tracked · 20+ DRSC meetings · audit report to MoRTH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21608"/>
            <a:ext cx="10911535" cy="795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" y="3913632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adar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995928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17320" y="3867912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Civic &amp; GovTech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8313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4A35FF"/>
                </a:solidFill>
                <a:latin typeface="Montserrat"/>
              </a:rPr>
              <a:t>NORTH STAR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05079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Geist"/>
              </a:rPr>
              <a:t>SATARK live in 5 cities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8313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777589"/>
                </a:solidFill>
                <a:latin typeface="Montserrat"/>
              </a:rPr>
              <a:t>SUPPORTING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05079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1,000+ interceptions logged · 3 new police partnerships · 4 open data products cited in DRSCs &amp; press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99432"/>
            <a:ext cx="10911535" cy="795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248" y="4791456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prout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873752"/>
            <a:ext cx="237744" cy="2377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4745736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Bets (SSI + Gig Rider)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47091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4A35FF"/>
                </a:solidFill>
                <a:latin typeface="Montserrat"/>
              </a:rPr>
              <a:t>NORTH STAR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92861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Geist"/>
              </a:rPr>
              <a:t>2 board-ready pilot designs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4709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777589"/>
                </a:solidFill>
                <a:latin typeface="Montserrat"/>
              </a:rPr>
              <a:t>SUPPORTING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928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SSI rubric validated on ~100 schools · gig scoping study · 3+ platform engagements · seed released only on approval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477256"/>
            <a:ext cx="10911535" cy="795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1248" y="5669280"/>
            <a:ext cx="402336" cy="402336"/>
          </a:xfrm>
          <a:prstGeom prst="ellipse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gaphone_4A35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751576"/>
            <a:ext cx="237744" cy="23774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17320" y="56235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Campaign &amp; Comms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55869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4A35FF"/>
                </a:solidFill>
                <a:latin typeface="Montserrat"/>
              </a:rPr>
              <a:t>NORTH STAR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80644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C1C"/>
                </a:solidFill>
                <a:latin typeface="Geist"/>
              </a:rPr>
              <a:t>1M+ engaged via 'Safety is the New Swag'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i="0" spc="140">
                <a:solidFill>
                  <a:srgbClr val="777589"/>
                </a:solidFill>
                <a:latin typeface="Montserrat"/>
              </a:rPr>
              <a:t>SUPPORTING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8064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777589"/>
                </a:solidFill>
                <a:latin typeface="Geist"/>
              </a:rPr>
              <a:t>50 micro-influencers · OOH in 3-4 cities · monthly field notes · quarterly findings · year-end reports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Twelve months,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phased by quarter.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Jul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809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Aug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294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779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264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Nov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749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Dec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234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Jan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719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Feb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204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689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Apr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174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May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6590" y="2011680"/>
            <a:ext cx="704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i="0">
                <a:solidFill>
                  <a:srgbClr val="777589"/>
                </a:solidFill>
                <a:latin typeface="Montserrat"/>
              </a:rPr>
              <a:t>Jun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63240.0" y="2286000"/>
            <a:ext cx="0.0" cy="3840480"/>
          </a:xfrm>
          <a:prstGeom prst="line">
            <a:avLst/>
          </a:prstGeom>
          <a:ln w="9525">
            <a:solidFill>
              <a:srgbClr val="ED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77790.0" y="2286000"/>
            <a:ext cx="0.0" cy="3840480"/>
          </a:xfrm>
          <a:prstGeom prst="line">
            <a:avLst/>
          </a:prstGeom>
          <a:ln w="9525">
            <a:solidFill>
              <a:srgbClr val="ED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92340.0" y="2286000"/>
            <a:ext cx="0.0" cy="3840480"/>
          </a:xfrm>
          <a:prstGeom prst="line">
            <a:avLst/>
          </a:prstGeom>
          <a:ln w="9525">
            <a:solidFill>
              <a:srgbClr val="ED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406890.0" y="2286000"/>
            <a:ext cx="0.0" cy="3840480"/>
          </a:xfrm>
          <a:prstGeom prst="line">
            <a:avLst/>
          </a:prstGeom>
          <a:ln w="9525">
            <a:solidFill>
              <a:srgbClr val="ED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521440.0" y="2286000"/>
            <a:ext cx="0.0" cy="3840480"/>
          </a:xfrm>
          <a:prstGeom prst="line">
            <a:avLst/>
          </a:prstGeom>
          <a:ln w="9525">
            <a:solidFill>
              <a:srgbClr val="ED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2295144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20">
                <a:solidFill>
                  <a:srgbClr val="4A35FF"/>
                </a:solidFill>
                <a:latin typeface="Montserrat"/>
              </a:rPr>
              <a:t>PROJECT RAKSHAK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90672" y="2304288"/>
            <a:ext cx="20596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2318004"/>
            <a:ext cx="18859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Ignition: empanelment &amp; onboarding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95522" y="2574036"/>
            <a:ext cx="558393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05250" y="2587752"/>
            <a:ext cx="541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Audit waves (Tracks A/B/C)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05222" y="2843784"/>
            <a:ext cx="62887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14950" y="2857500"/>
            <a:ext cx="61150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DRSC submissions &amp; tracking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34322" y="3113532"/>
            <a:ext cx="20596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44050" y="3127248"/>
            <a:ext cx="18859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Finale + Audit Manual v1.0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429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20">
                <a:solidFill>
                  <a:srgbClr val="4A35FF"/>
                </a:solidFill>
                <a:latin typeface="Montserrat"/>
              </a:rPr>
              <a:t>HIT &amp; RUN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0672" y="3438144"/>
            <a:ext cx="34693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3451860"/>
            <a:ext cx="32956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District integration &amp; scheme audit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10072" y="3707892"/>
            <a:ext cx="20596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19800" y="3721608"/>
            <a:ext cx="18859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Advocacy &amp; model district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9772" y="3977640"/>
            <a:ext cx="417423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29500" y="3991356"/>
            <a:ext cx="40005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Accountability: report to MoRTH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29310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20">
                <a:solidFill>
                  <a:srgbClr val="4A35FF"/>
                </a:solidFill>
                <a:latin typeface="Montserrat"/>
              </a:rPr>
              <a:t>CIVIC &amp; GOVTECH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90672" y="4302252"/>
            <a:ext cx="276453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0" y="4315968"/>
            <a:ext cx="259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SATARK: Gurugram go-live &amp; rule campaigns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0072" y="4572000"/>
            <a:ext cx="417423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19800" y="4585716"/>
            <a:ext cx="40005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SATARK: Pune &amp; Ahmedabad deployments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90672" y="4841748"/>
            <a:ext cx="840333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0" y="4855464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Data stack: publishing &amp; evaluation cadence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15721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20">
                <a:solidFill>
                  <a:srgbClr val="4A35FF"/>
                </a:solidFill>
                <a:latin typeface="Montserrat"/>
              </a:rPr>
              <a:t>BETS (SEED)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05222" y="5166360"/>
            <a:ext cx="48790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4950" y="5180076"/>
            <a:ext cx="47053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SSI: rubric pilot on ~100 schools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05222" y="5436108"/>
            <a:ext cx="417423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14950" y="5449824"/>
            <a:ext cx="40005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Gig: scoping study &amp; platform talks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75157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 i="0" spc="120">
                <a:solidFill>
                  <a:srgbClr val="4A35FF"/>
                </a:solidFill>
                <a:latin typeface="Montserrat"/>
              </a:rPr>
              <a:t>CAMPAIGN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05222" y="5760720"/>
            <a:ext cx="6288786" cy="214884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14950" y="5774436"/>
            <a:ext cx="61150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1A1C1C"/>
                </a:solidFill>
                <a:latin typeface="Geist"/>
              </a:rPr>
              <a:t>'Safety is the New Swag' build &gt; peak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777589"/>
                </a:solidFill>
                <a:latin typeface="Geist"/>
              </a:rPr>
              <a:t>Running through every month: monthly field notes  ·  quarterly audit findings  ·  Expert Consortium meetings (Sep / Dec / Mar / Jun)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Rs 6.00 Cr,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71% into programmes.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Project Rakshak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167128"/>
            <a:ext cx="4297680" cy="2743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7808" y="21488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1.85 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Trust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670048"/>
            <a:ext cx="3507836" cy="2743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7964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1.51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546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Civic &amp; GovTech (SATARK)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172968"/>
            <a:ext cx="2323070" cy="2743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33198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1.00 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Hit &amp; Run Compensation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675888"/>
            <a:ext cx="1393842" cy="2743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3970" y="3657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0.60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Marketing Campaign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0" y="4178808"/>
            <a:ext cx="1393842" cy="2743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3970" y="4160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0.60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634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Contingency (4%)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4681728"/>
            <a:ext cx="557536" cy="274320"/>
          </a:xfrm>
          <a:prstGeom prst="roundRect">
            <a:avLst/>
          </a:prstGeom>
          <a:solidFill>
            <a:srgbClr val="6A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7664" y="46634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0.24 Cr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663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C1C"/>
                </a:solidFill>
                <a:latin typeface="Geist"/>
              </a:rPr>
              <a:t>Bets seed fund (SSI + Gig)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5184648"/>
            <a:ext cx="464614" cy="27432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4742" y="5166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4A35FF"/>
                </a:solidFill>
                <a:latin typeface="Montserrat"/>
              </a:rPr>
              <a:t>Rs 0.20 Cr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7900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77589"/>
                </a:solidFill>
                <a:latin typeface="Geist"/>
              </a:rPr>
              <a:t>Programme spend Rs 4.25 Cr (71%)  ·  Trust Admin Rs 1.51 Cr (25%)  ·  Contingency Rs 0.24 Cr (4%)  ·  bets held to stage-gated seed funding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2011680"/>
            <a:ext cx="3047695" cy="411480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2286000"/>
            <a:ext cx="2407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200">
                <a:solidFill>
                  <a:srgbClr val="C8C0FF"/>
                </a:solidFill>
                <a:latin typeface="Montserrat"/>
              </a:rPr>
              <a:t>QUARTERLY PHASING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Q1  Jul-Sep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291693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Rs 1.23 Cr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3558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Q2  Oct-Dec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35753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Rs 1.61 Cr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1421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Q3  Jan-Mar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Rs 1.65 Cr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725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8C0FF"/>
                </a:solidFill>
                <a:latin typeface="Geist"/>
              </a:rPr>
              <a:t>Q4  Apr-Jun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4892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Rs 1.52 Cr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23960" y="5486400"/>
            <a:ext cx="2407615" cy="0"/>
          </a:xfrm>
          <a:prstGeom prst="line">
            <a:avLst/>
          </a:prstGeom>
          <a:ln w="12700">
            <a:solidFill>
              <a:srgbClr val="6A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823960" y="5596128"/>
            <a:ext cx="24076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C8C0FF"/>
                </a:solidFill>
                <a:latin typeface="Geist"/>
              </a:rPr>
              <a:t>Detail in the AOP budget</a:t>
            </a:r>
          </a:p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C8C0FF"/>
                </a:solidFill>
                <a:latin typeface="Geist"/>
              </a:rPr>
              <a:t>workbook (v4, formula-driven).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338560" y="292608"/>
            <a:ext cx="457200" cy="45720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064240" y="658368"/>
            <a:ext cx="274320" cy="274320"/>
          </a:xfrm>
          <a:prstGeom prst="star4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4A35FF"/>
                </a:solidFill>
                <a:latin typeface="Montserrat"/>
              </a:rPr>
              <a:t>ENABLERS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412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A1C1C"/>
                </a:solidFill>
                <a:latin typeface="Montserrat"/>
              </a:rPr>
              <a:t>The campaign and the backbone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4A35FF"/>
                </a:solidFill>
                <a:latin typeface="Montserrat"/>
              </a:rPr>
              <a:t>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4A35FF"/>
                </a:solidFill>
                <a:latin typeface="Montserrat"/>
              </a:rPr>
              <a:t>SAFETY IS THE NEW SWAG  ·  Rs 0.60 CR CAMPAIGN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3310128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apperboard_4A35FF_256_2.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6040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98448" y="2596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Media advocacy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99232"/>
            <a:ext cx="28529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Editorial partnerships, radio &amp; podcast integration, PSA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51376" y="2377440"/>
            <a:ext cx="3310128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lay_4A35FF_256_2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06040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09744" y="2596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Digital advocacy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999232"/>
            <a:ext cx="28529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50 micro-influencers, branded short films, #SafeSwag digital IPs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41648"/>
            <a:ext cx="3310128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p-pin_4A35FF_256_2.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70248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98448" y="426110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Offline awareness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63440"/>
            <a:ext cx="28529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OOH in 3-4 cities, guerilla installations, event co-branding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51376" y="4041648"/>
            <a:ext cx="3310128" cy="1481328"/>
          </a:xfrm>
          <a:prstGeom prst="roundRect">
            <a:avLst/>
          </a:prstGeom>
          <a:solidFill>
            <a:srgbClr val="F3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s_4A35FF_256_2.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976" y="4270248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09744" y="426110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1C1C"/>
                </a:solidFill>
                <a:latin typeface="Montserrat"/>
              </a:rPr>
              <a:t>Community mobilization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6" y="4663440"/>
            <a:ext cx="28529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777589"/>
                </a:solidFill>
                <a:latin typeface="Geist"/>
              </a:rPr>
              <a:t>College competitions, app-based engagement, real-life stories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0644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777589"/>
                </a:solidFill>
                <a:latin typeface="Geist"/>
              </a:rPr>
              <a:t>All four campaign pillars are now funded lines (the prior draft budgeted only one of four).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2011680"/>
            <a:ext cx="3733495" cy="4114800"/>
          </a:xfrm>
          <a:prstGeom prst="round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286000"/>
            <a:ext cx="3093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spc="180">
                <a:solidFill>
                  <a:srgbClr val="C8C0FF"/>
                </a:solidFill>
                <a:latin typeface="Montserrat"/>
              </a:rPr>
              <a:t>ORG BACKBONE  ·  RS 1.51 CR</a:t>
            </a:r>
          </a:p>
        </p:txBody>
      </p:sp>
      <p:pic>
        <p:nvPicPr>
          <p:cNvPr id="28" name="Picture 27" descr="users-round_C8C0FF_256_2.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743200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31352" y="2724912"/>
            <a:ext cx="26819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Core team salaries &amp; benefits - Rs 0.78 Cr</a:t>
            </a:r>
          </a:p>
        </p:txBody>
      </p:sp>
      <p:pic>
        <p:nvPicPr>
          <p:cNvPr id="30" name="Picture 29" descr="landmark_C8C0FF_256_2.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3364992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531352" y="3346704"/>
            <a:ext cx="26819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IRSC institutional support &amp; expert consultation - Rs 0.42 Cr</a:t>
            </a:r>
          </a:p>
        </p:txBody>
      </p:sp>
      <p:pic>
        <p:nvPicPr>
          <p:cNvPr id="32" name="Picture 31" descr="bot_C8C0FF_256_2.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0" y="3986784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531352" y="3968496"/>
            <a:ext cx="26819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IT, SaaS &amp; AI tooling (Workspace, Slack, Claude) - Rs 0.14 Cr</a:t>
            </a:r>
          </a:p>
        </p:txBody>
      </p:sp>
      <p:pic>
        <p:nvPicPr>
          <p:cNvPr id="34" name="Picture 33" descr="clipboard-check_C8C0FF_256_2.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38160" y="4608576"/>
            <a:ext cx="256032" cy="2560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531352" y="4590288"/>
            <a:ext cx="26819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M&amp;E, statutory &amp; impact audit - Rs 0.06 Cr</a:t>
            </a:r>
          </a:p>
        </p:txBody>
      </p:sp>
      <p:pic>
        <p:nvPicPr>
          <p:cNvPr id="36" name="Picture 35" descr="briefcase_C8C0FF_256_2.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8160" y="5230368"/>
            <a:ext cx="256032" cy="2560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531352" y="5212080"/>
            <a:ext cx="26819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FFFFFF"/>
                </a:solidFill>
                <a:latin typeface="Geist"/>
              </a:rPr>
              <a:t>Travel, branding, compliance - Rs 0.11 Cr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CRASHFREE INDIA  ·  AOP 2026-27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i="0" spc="160">
                <a:solidFill>
                  <a:srgbClr val="777589"/>
                </a:solidFill>
                <a:latin typeface="Montserrat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11247120" y="320040"/>
            <a:ext cx="502920" cy="502920"/>
          </a:xfrm>
          <a:prstGeom prst="star4">
            <a:avLst/>
          </a:prstGeom>
          <a:solidFill>
            <a:srgbClr val="C8C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0927080" y="731520"/>
            <a:ext cx="292608" cy="292608"/>
          </a:xfrm>
          <a:prstGeom prst="star4">
            <a:avLst/>
          </a:prstGeom>
          <a:solidFill>
            <a:srgbClr val="C8C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2103120" cy="290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554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spc="240">
                <a:solidFill>
                  <a:srgbClr val="C8C0FF"/>
                </a:solidFill>
                <a:latin typeface="Montserrat"/>
              </a:rPr>
              <a:t>WHAT SUCCESS LOOKS LIKE  ·  JUNE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Montserrat"/>
              </a:rPr>
              <a:t>Systems work because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C8C0FF"/>
                </a:solidFill>
                <a:latin typeface="Montserrat"/>
              </a:rPr>
              <a:t>we hold them accountable.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4A35FF_256_3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64992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32918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Geist"/>
              </a:rPr>
              <a:t>75+ engineering implementations initiated through Rakshak's tracked audit pipeline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8620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4A35FF_256_3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182880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385876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Geist"/>
              </a:rPr>
              <a:t>Measured claim-uptake lift in two model districts; scheme audit report on MoRTH's table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4531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4A35FF_256_3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9884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4425696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Geist"/>
              </a:rPr>
              <a:t>SATARK live in five cities with 1,000+ interceptions logged, and four open data products cited in committee rooms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4A35FF_256_3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65776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4992624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Geist"/>
              </a:rPr>
              <a:t>Two board-ready pilot designs that decide whether School Safety and Gig Rider become funded Year 3 programmes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5869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eck_4A35FF_256_3.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32704"/>
            <a:ext cx="182880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5559552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Geist"/>
              </a:rPr>
              <a:t>An Expert Consortium, an Audit Manual, and a publishing cadence that outlive any single cohort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i="0" spc="180">
                <a:solidFill>
                  <a:srgbClr val="C8C0FF"/>
                </a:solidFill>
                <a:latin typeface="Montserrat"/>
              </a:rPr>
              <a:t>CRASHFREE INDIA  ·  AOP 2026-27  ·  INTERNAL PLANNING 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