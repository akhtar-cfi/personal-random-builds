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3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jpg"/><Relationship Id="rId12" Type="http://schemas.openxmlformats.org/officeDocument/2006/relationships/image" Target="../media/image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691640" cy="2337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24367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AUGUST 2026  ·  NEW DELHI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FOR DISCUSSION  ·  CRASHFREE INDIA × TRAFFICURE · GOOGLE MAPS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56816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181D"/>
                </a:solidFill>
                <a:latin typeface="Montserrat"/>
              </a:rPr>
              <a:t>The safety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464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Traffic data already manages congestion.</a:t>
            </a:r>
          </a:p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4A35FF"/>
                </a:solidFill>
                <a:latin typeface="Montserrat"/>
              </a:rPr>
              <a:t>Together it can start preventing crashes.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25196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chool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33974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4297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School Safety Index × speed — prototype built, launching with government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4906670"/>
            <a:ext cx="190195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4864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Live crash hotspots — found in the data, fixed through Project Rakshak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38581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andmar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5473598"/>
            <a:ext cx="190195" cy="1901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543153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The district knowledge pack — joint thought leadership, monthly, where decisions are made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093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Three ideas, one ask: one district's data, 90 days, MVPs built together.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7327" y="63093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crashfreeindia.org</a:t>
            </a:r>
          </a:p>
        </p:txBody>
      </p:sp>
      <p:pic>
        <p:nvPicPr>
          <p:cNvPr id="19" name="Picture 18" descr="slide_ssi_in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051560"/>
            <a:ext cx="3246120" cy="253603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366760" y="1051560"/>
            <a:ext cx="3246120" cy="2536031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633311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School Safety Index, Delhi NCR prototype, live.</a:t>
            </a:r>
          </a:p>
        </p:txBody>
      </p:sp>
      <p:pic>
        <p:nvPicPr>
          <p:cNvPr id="22" name="Picture 21" descr="defect_live.png_3.55x1.60_0.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160520"/>
            <a:ext cx="3246120" cy="14630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366760" y="4160520"/>
            <a:ext cx="3246120" cy="146304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56692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Road-Infrastructure Defect Repository, live.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TRAFFICURE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UNDERSTANDING TRAFFICURE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What TraffiCure is,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and what Pune 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Software only. No cameras, no sensors. Google Maps probe data, turned into a working tool for the people who run the roads.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05740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building-2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14518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0391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Built by Lepton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39112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Google Maps Platform Premier Partner, working with Google since 2010. TraffiCure launched 2025.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898648"/>
            <a:ext cx="365760" cy="365760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gaug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2986430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2880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Runs on Roads Management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80360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Google's public-sector traffic feed, launched Aug 2025. Every road, refreshed every 2 minutes.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739896"/>
            <a:ext cx="365760" cy="365760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mark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827678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7216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Live with Pune City Traffic Police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21608"/>
            <a:ext cx="3794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Deployed January 2026, activated in weeks. Corridors also measured in Delhi, Hyderabad, Ahmedabad.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7091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80">
                <a:solidFill>
                  <a:srgbClr val="6E7180"/>
                </a:solidFill>
                <a:latin typeface="Montserrat"/>
              </a:rPr>
              <a:t>THE PUNE RESULT, POLICE-MEASURED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292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120640"/>
            <a:ext cx="1901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964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559552"/>
            <a:ext cx="19019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roads watched live, every 2 minutes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98648" y="50292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5120640"/>
            <a:ext cx="1901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20 → 26.8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5559552"/>
            <a:ext cx="19019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km/h average speed, in a year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502920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6672" y="5120640"/>
            <a:ext cx="1901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4A35FF"/>
                </a:solidFill>
                <a:latin typeface="Montserrat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5559552"/>
            <a:ext cx="19019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worst junctions ranked and briefed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057400"/>
            <a:ext cx="37947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2240280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60">
                <a:solidFill>
                  <a:srgbClr val="4A35FF"/>
                </a:solidFill>
                <a:latin typeface="Montserrat"/>
              </a:rPr>
              <a:t>WHY PUNE MATTERS TO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2606040"/>
            <a:ext cx="3392424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The police did not stop at watching traffic.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They ranked their worst junctions, diagnosed why each fails, and handed the municipal corporation an engineering brief. Fixes got built.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Data → ranked list → brief to authority → built fix.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That is exactly how Project Rakshak works. Same operating theory, different data.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01 · UNDERSTANDING THE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Five signals in the feed,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read through a safety 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The product was built to manage traffic. Every signal in it has a second life in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148840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gaug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69" y="2249789"/>
            <a:ext cx="218724" cy="2187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6736" y="212140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Live speeds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42316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Every road, every 2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213969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How fast traffic really moves past a school gate at 8 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16352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953512"/>
            <a:ext cx="420624" cy="420624"/>
          </a:xfrm>
          <a:prstGeom prst="ellipse">
            <a:avLst/>
          </a:prstGeom>
          <a:solidFill>
            <a:srgbClr val="E7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atabase_0E8A8A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69" y="3054461"/>
            <a:ext cx="218724" cy="2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6736" y="2926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Speed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22783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Hourly, by road, in BigQuery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944368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Baselines: what is normal, what changed after a fix was built.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21024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758184"/>
            <a:ext cx="420624" cy="420624"/>
          </a:xfrm>
          <a:prstGeom prst="ellipse">
            <a:avLst/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_0A9955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69" y="3859133"/>
            <a:ext cx="218724" cy="2187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16736" y="373075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Vehicle 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03250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Per road, per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374904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Exposure: how many vehicles pass the danger. Priority = risk × exposure.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4567" y="3813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2855" y="381304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26A00"/>
                </a:solidFill>
                <a:latin typeface="Montserrat"/>
              </a:rPr>
              <a:t>NEW · MAY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25696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4562856"/>
            <a:ext cx="420624" cy="420624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zap_B26A00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69" y="4663805"/>
            <a:ext cx="218724" cy="218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16736" y="453542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Harsh braking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736" y="483717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Anonymised points, junction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55371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Near-misses, visible before the crash. Their guide calls it the safety signal nobody else has.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4567" y="46177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2855" y="461772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26A00"/>
                </a:solidFill>
                <a:latin typeface="Montserrat"/>
              </a:rPr>
              <a:t>NEW · MAY 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30368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536752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bot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69" y="5468477"/>
            <a:ext cx="218724" cy="2187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16736" y="534009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User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564184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Crashes and hazards, from Maps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5358384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6181D"/>
                </a:solidFill>
                <a:latin typeface="Geist"/>
              </a:rPr>
              <a:t>Incidents the official record may never see.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24567" y="542239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42855" y="5422392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26A00"/>
                </a:solidFill>
                <a:latin typeface="Montserrat"/>
              </a:rPr>
              <a:t>NEW · MAY 2026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01 · 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01 · SCHOOL SAFETY INDEX × SPEED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Grade every school gate by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measured danger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public 0–100 grade for the road outside every school. Built, live for 3,814 Delhi NCR schools, launching with government. Speed past the gate is the one input it still lacks.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0195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80">
                <a:solidFill>
                  <a:srgbClr val="6E7180"/>
                </a:solidFill>
                <a:latin typeface="Montserrat"/>
              </a:rPr>
              <a:t>WHY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39696"/>
            <a:ext cx="2212848" cy="987552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3113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~10,000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7004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minors die on Indian roads every year (MoRTH)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2139696"/>
            <a:ext cx="2212848" cy="987552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23113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4.6%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67004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of crashes happen in school &amp; college zones (e-DAR)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139696"/>
            <a:ext cx="2212848" cy="987552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223113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267004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Indian cities rank school-zone danger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80">
                <a:solidFill>
                  <a:srgbClr val="6E7180"/>
                </a:solidFill>
                <a:latin typeface="Montserrat"/>
              </a:rPr>
              <a:t>WHY CFI × TRAFFICURE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47872"/>
            <a:ext cx="3364992" cy="932688"/>
          </a:xfrm>
          <a:prstGeom prst="roundRect">
            <a:avLst>
              <a:gd name="adj" fmla="val 1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621024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40">
                <a:solidFill>
                  <a:srgbClr val="4A35FF"/>
                </a:solidFill>
                <a:latin typeface="Montserrat"/>
              </a:rPr>
              <a:t>WHY CFI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40480"/>
            <a:ext cx="307238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81D"/>
                </a:solidFill>
                <a:latin typeface="Geist"/>
              </a:rPr>
              <a:t>The index exists: IRC:SP:32 method, verification, public report cards — and DRSC seats to launch it with government.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6" y="3547872"/>
            <a:ext cx="3364992" cy="932688"/>
          </a:xfrm>
          <a:prstGeom prst="roundRect">
            <a:avLst>
              <a:gd name="adj" fmla="val 1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621024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40">
                <a:solidFill>
                  <a:srgbClr val="0A9955"/>
                </a:solidFill>
                <a:latin typeface="Montserrat"/>
              </a:rPr>
              <a:t>WHY TRAFFICURE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840480"/>
            <a:ext cx="307238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81D"/>
                </a:solidFill>
                <a:latin typeface="Geist"/>
              </a:rPr>
              <a:t>The one input a photo cannot give: speed past the gate at school-run hours, plus counts as exposure. No one else has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681728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80">
                <a:solidFill>
                  <a:srgbClr val="6E7180"/>
                </a:solidFill>
                <a:latin typeface="Montserrat"/>
              </a:rPr>
              <a:t>NEXT STEPS, SPECIFICALLY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" y="4919472"/>
            <a:ext cx="274320" cy="27432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9085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91947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Week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67128" y="49194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Demo access + technical session on 10 gate corridors, already defined on our cloud project.</a:t>
            </a:r>
          </a:p>
        </p:txBody>
      </p:sp>
      <p:sp>
        <p:nvSpPr>
          <p:cNvPr id="30" name="Oval 29"/>
          <p:cNvSpPr/>
          <p:nvPr/>
        </p:nvSpPr>
        <p:spPr>
          <a:xfrm>
            <a:off x="566928" y="5303520"/>
            <a:ext cx="274320" cy="27432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2925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53035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Weeks 2–6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5303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Speed-exposure scoring on the ~100-zone government-launch batch; thresholds agreed up front.</a:t>
            </a:r>
          </a:p>
        </p:txBody>
      </p:sp>
      <p:sp>
        <p:nvSpPr>
          <p:cNvPr id="34" name="Oval 33"/>
          <p:cNvSpPr/>
          <p:nvPr/>
        </p:nvSpPr>
        <p:spPr>
          <a:xfrm>
            <a:off x="566928" y="5687568"/>
            <a:ext cx="274320" cy="27432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6765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56875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Weeks 6–10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7128" y="568756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Speed layer into the public index; student teams field-verify the worst 20 zones.</a:t>
            </a:r>
          </a:p>
        </p:txBody>
      </p:sp>
      <p:sp>
        <p:nvSpPr>
          <p:cNvPr id="38" name="Oval 37"/>
          <p:cNvSpPr/>
          <p:nvPr/>
        </p:nvSpPr>
        <p:spPr>
          <a:xfrm>
            <a:off x="566928" y="6071616"/>
            <a:ext cx="274320" cy="27432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0606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607161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This quarter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67128" y="607161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Government launch of the index — speed layer in, both names on it.</a:t>
            </a:r>
          </a:p>
        </p:txBody>
      </p:sp>
      <p:pic>
        <p:nvPicPr>
          <p:cNvPr id="42" name="Picture 41" descr="slide_ssi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965960"/>
            <a:ext cx="2926080" cy="228600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7818120" y="1965960"/>
            <a:ext cx="2926080" cy="22860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18120" y="4297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Live: the index, worst grades first.</a:t>
            </a:r>
          </a:p>
        </p:txBody>
      </p:sp>
      <p:pic>
        <p:nvPicPr>
          <p:cNvPr id="45" name="Picture 44" descr="opt_slide_ssi_school_15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80560"/>
            <a:ext cx="2062189" cy="16916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7818120" y="4480560"/>
            <a:ext cx="2062189" cy="169164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6217920"/>
            <a:ext cx="2062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 school's report card, evidence pinned.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02 ·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02 · LIVE HOTSPOTS × PROJECT RAKSHAK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Find danger in the data,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fix it on the 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Official blackspot lists go stale for years. The feed refreshes the danger map monthly — and Rakshak already turns danger maps into audits, joint plans and built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128930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zap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" y="2048256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" y="2304288"/>
            <a:ext cx="1197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 i="0">
                <a:solidFill>
                  <a:srgbClr val="16181D"/>
                </a:solidFill>
                <a:latin typeface="Montserrat"/>
              </a:rPr>
              <a:t>Signals + crashes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23113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02536" y="1938528"/>
            <a:ext cx="1289304" cy="841248"/>
          </a:xfrm>
          <a:prstGeom prst="roundRect">
            <a:avLst>
              <a:gd name="adj" fmla="val 12000"/>
            </a:avLst>
          </a:prstGeom>
          <a:solidFill>
            <a:srgbClr val="EFED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layers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60" y="2048256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48256" y="2304288"/>
            <a:ext cx="1197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 i="0">
                <a:solidFill>
                  <a:srgbClr val="16181D"/>
                </a:solidFill>
                <a:latin typeface="Montserrat"/>
              </a:rPr>
              <a:t>Live hotspot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223113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1938528"/>
            <a:ext cx="128930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earch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068" y="2048256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83864" y="2304288"/>
            <a:ext cx="1197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 i="0">
                <a:solidFill>
                  <a:srgbClr val="16181D"/>
                </a:solidFill>
                <a:latin typeface="Montserrat"/>
              </a:rPr>
              <a:t>Rakshak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23113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3752" y="1938528"/>
            <a:ext cx="1289304" cy="841248"/>
          </a:xfrm>
          <a:prstGeom prst="roundRect">
            <a:avLst>
              <a:gd name="adj" fmla="val 12000"/>
            </a:avLst>
          </a:prstGeom>
          <a:solidFill>
            <a:srgbClr val="EFED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andmar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76" y="2048256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19472" y="2304288"/>
            <a:ext cx="1197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 i="0">
                <a:solidFill>
                  <a:srgbClr val="16181D"/>
                </a:solidFill>
                <a:latin typeface="Montserrat"/>
              </a:rPr>
              <a:t>Joint plan to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23113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938528"/>
            <a:ext cx="128930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git-compar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4284" y="204825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5080" y="2304288"/>
            <a:ext cx="1197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 i="0">
                <a:solidFill>
                  <a:srgbClr val="16181D"/>
                </a:solidFill>
                <a:latin typeface="Montserrat"/>
              </a:rPr>
              <a:t>Fix built &amp; 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017520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40">
                <a:solidFill>
                  <a:srgbClr val="6E7180"/>
                </a:solidFill>
                <a:latin typeface="Montserrat"/>
              </a:rPr>
              <a:t>THE DESK DIAGNOSIS — ANSWERS THAT TODAY NEED A PHYSICAL AUDIT</a:t>
            </a:r>
          </a:p>
        </p:txBody>
      </p:sp>
      <p:pic>
        <p:nvPicPr>
          <p:cNvPr id="28" name="Picture 27" descr="timer_B26A00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310128"/>
            <a:ext cx="219456" cy="2194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6112" y="329184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32918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Speeding windows: 11 pm chaos or 8 am school-run?</a:t>
            </a:r>
          </a:p>
        </p:txBody>
      </p:sp>
      <p:pic>
        <p:nvPicPr>
          <p:cNvPr id="31" name="Picture 30" descr="zap_B26A00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1648" y="3310128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370832" y="329184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4336" y="32918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Braking clusters mark the exact conflict point</a:t>
            </a:r>
          </a:p>
        </p:txBody>
      </p:sp>
      <p:pic>
        <p:nvPicPr>
          <p:cNvPr id="34" name="Picture 33" descr="gauge_B26A00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3877056"/>
            <a:ext cx="219456" cy="2194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6112" y="385876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9616" y="3858768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Stop-go congestion, free-flow speeding, or design failure</a:t>
            </a:r>
          </a:p>
        </p:txBody>
      </p:sp>
      <p:pic>
        <p:nvPicPr>
          <p:cNvPr id="37" name="Picture 36" descr="users_B26A00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1648" y="387705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370832" y="385876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Who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858768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Counts say how many people the danger exposes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262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Field teams arrive knowing the corridor's story — </a:t>
            </a:r>
            <a:r>
              <a:rPr sz="950" b="1" i="0">
                <a:solidFill>
                  <a:srgbClr val="16181D"/>
                </a:solidFill>
                <a:latin typeface="Geist"/>
              </a:rPr>
              <a:t>the visit confirms it and designs the fix.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956048"/>
            <a:ext cx="3364992" cy="932688"/>
          </a:xfrm>
          <a:prstGeom prst="roundRect">
            <a:avLst>
              <a:gd name="adj" fmla="val 1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029200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40">
                <a:solidFill>
                  <a:srgbClr val="4A35FF"/>
                </a:solidFill>
                <a:latin typeface="Montserrat"/>
              </a:rPr>
              <a:t>WHY CFI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248656"/>
            <a:ext cx="307238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81D"/>
                </a:solidFill>
                <a:latin typeface="Geist"/>
              </a:rPr>
              <a:t>150+ audits a year, 25+ authority approvals, 4 DRSC seats to table joint plans — and a public tracker for every step.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59936" y="4956048"/>
            <a:ext cx="3364992" cy="932688"/>
          </a:xfrm>
          <a:prstGeom prst="roundRect">
            <a:avLst>
              <a:gd name="adj" fmla="val 1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5029200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40">
                <a:solidFill>
                  <a:srgbClr val="0A9955"/>
                </a:solidFill>
                <a:latin typeface="Montserrat"/>
              </a:rPr>
              <a:t>WHY TRAFFICURE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5248656"/>
            <a:ext cx="307238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81D"/>
                </a:solidFill>
                <a:latin typeface="Geist"/>
              </a:rPr>
              <a:t>The only live all-roads feed, plus the Pune playbook: ranked list → engineering brief → built fix.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0350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4A35FF"/>
                </a:solidFill>
                <a:latin typeface="Geist"/>
              </a:rPr>
              <a:t>First 90 days:  </a:t>
            </a:r>
            <a:r>
              <a:rPr sz="950" b="0" i="0">
                <a:solidFill>
                  <a:srgbClr val="16181D"/>
                </a:solidFill>
                <a:latin typeface="Geist"/>
              </a:rPr>
              <a:t>overlay braking on Jaipur's 96 crash clusters · baseline 2 sites entering construction · live speed panel on the Rakshak dashboard.</a:t>
            </a:r>
          </a:p>
        </p:txBody>
      </p:sp>
      <p:pic>
        <p:nvPicPr>
          <p:cNvPr id="48" name="Picture 47" descr="implementation_work.jpg_4.15x2.20_0.3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120" y="1938528"/>
            <a:ext cx="3794760" cy="201168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7818120" y="1938528"/>
            <a:ext cx="3794760" cy="201168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3995928"/>
            <a:ext cx="3794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 Rakshak fix under construction — one of 15 in implementation.</a:t>
            </a:r>
          </a:p>
        </p:txBody>
      </p:sp>
      <p:pic>
        <p:nvPicPr>
          <p:cNvPr id="51" name="Picture 50" descr="rakshak_approval_let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8120" y="4343400"/>
            <a:ext cx="1348788" cy="160020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7818120" y="4343400"/>
            <a:ext cx="1348788" cy="160020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5989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 authority approval letter. Every site tracked in public: crashfreeindia.org/rakshak/dashboard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IDEA 03 · DRSC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02 · IDEA 03 · THE DISTRICT KNOWLEDGE PACK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Joint thought leadership,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 the table where districts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co-branded CFI × TraffiCure pack on the district's key traffic problems — monthly or bi-monthly, tabled at the District Road Safety Committee.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180">
                <a:solidFill>
                  <a:srgbClr val="6E7180"/>
                </a:solidFill>
                <a:latin typeface="Montserrat"/>
              </a:rPr>
              <a:t>HOW THE FEED BECOMES THE PACK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6858000" cy="512064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gaug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50008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8992" y="234086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Raw speeds &amp;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225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3408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Worst five corridors, ranked by measured speed and delay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16352"/>
            <a:ext cx="68580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chool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53512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29443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School-hour speeds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944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School gates above safe speed at 8 am, named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19856"/>
            <a:ext cx="6858000" cy="512064"/>
          </a:xfrm>
          <a:prstGeom prst="roundRect">
            <a:avLst>
              <a:gd name="adj" fmla="val 12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zap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557016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" y="3547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Harsh-braking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529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35478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The district's top conflict junctions, mapped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23360"/>
            <a:ext cx="68580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git-compar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160520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8992" y="41513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Before / 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133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6181D"/>
                </a:solidFill>
                <a:latin typeface="Geist"/>
              </a:rPr>
              <a:t>Did last meeting's action work? Measured, not claimed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00600"/>
            <a:ext cx="3364992" cy="932688"/>
          </a:xfrm>
          <a:prstGeom prst="roundRect">
            <a:avLst>
              <a:gd name="adj" fmla="val 1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873752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40">
                <a:solidFill>
                  <a:srgbClr val="4A35FF"/>
                </a:solidFill>
                <a:latin typeface="Montserrat"/>
              </a:rPr>
              <a:t>WHY CFI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093208"/>
            <a:ext cx="307238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81D"/>
                </a:solidFill>
                <a:latin typeface="Geist"/>
              </a:rPr>
              <a:t>We sit on four DRSCs, and we write evidence the way government reads it. The pack enters the statutory record.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59936" y="4800600"/>
            <a:ext cx="3364992" cy="932688"/>
          </a:xfrm>
          <a:prstGeom prst="roundRect">
            <a:avLst>
              <a:gd name="adj" fmla="val 1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873752"/>
            <a:ext cx="3072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40">
                <a:solidFill>
                  <a:srgbClr val="0A9955"/>
                </a:solidFill>
                <a:latin typeface="Montserrat"/>
              </a:rPr>
              <a:t>WHY TRAFFICURE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093208"/>
            <a:ext cx="307238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6181D"/>
                </a:solidFill>
                <a:latin typeface="Geist"/>
              </a:rPr>
              <a:t>The data no district has ever seen about itself — attributed, every month, in the room.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797296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4A35FF"/>
                </a:solidFill>
                <a:latin typeface="Geist"/>
              </a:rPr>
              <a:t>The quiet door:  </a:t>
            </a:r>
            <a:r>
              <a:rPr sz="950" b="0" i="0">
                <a:solidFill>
                  <a:srgbClr val="6E7180"/>
                </a:solidFill>
                <a:latin typeface="Geist"/>
              </a:rPr>
              <a:t>around that table sit the district's decision-makers — administration, police, PWD, transport. A page they rely on every month is the most natural introduction a data partnership can have. District trust is where state conversations begin.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1920240"/>
            <a:ext cx="37947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1920240"/>
            <a:ext cx="3794760" cy="4572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2002536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1" i="0" spc="80">
                <a:solidFill>
                  <a:srgbClr val="FFFFFF"/>
                </a:solidFill>
                <a:latin typeface="Montserrat"/>
              </a:rPr>
              <a:t>GURUGRAM ROAD SAFETY BRIEF · SEPT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5420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25420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Corridor watch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27614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NH-48 service road slowest at 6 pm; speeds up 12% at night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3200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3200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School 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34198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3 gates above 40 km/h during morning school-run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38587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048" y="38587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Conflict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407822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Iffco Chowk ramp: highest braking density this month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5171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5048" y="45171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Action 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5048" y="4736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Sector 29 signal retiming: -18% delay, held for 6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1755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8" y="51755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For the record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5394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One recommendation for this meeting, with the data behind 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5833872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0" i="0">
                <a:solidFill>
                  <a:srgbClr val="6E7180"/>
                </a:solidFill>
                <a:latin typeface="Geist"/>
              </a:rPr>
              <a:t>Illustrative contents · co-branded · one page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ABOUT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Six lines of work,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one connected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nonprofit registered as the Vision Zero Trust · Co-founded by Cars24 and the Indian Road Safety Council · 18 cities · everything below is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plementation_work.jpg_3.95x1.28_0.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3611880" cy="11704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Student-led road audits, fixed with authorities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31 sites · 15 in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atark_billboard.jpg_3.95x1.28_0.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38528"/>
            <a:ext cx="3611880" cy="11704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88536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SATARK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AI support that helps police find high-risk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3,00,000+ vehicles screened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38528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h_helpdesk_desk.jpg_3.95x1.28_0.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938528"/>
            <a:ext cx="3611880" cy="11704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10144" y="1938528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182112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Victim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19856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Aasha chatbot, calculator, hospital helpdesks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785616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100+ victims helped in first 4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ctracker.png_3.95x1.28_0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206240"/>
            <a:ext cx="3611880" cy="11704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66928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Open public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Four self-updating data platforms, free to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36 states &amp; 50 cities covered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slide_ssi_school.png_3.95x1.28_0.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4206240"/>
            <a:ext cx="3611880" cy="117043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288536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School Safety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Public grading of school-zone road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3,814 Delhi NCR schools mapped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4206240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ph_ideathon_winners.jpg_3.95x1.28_0.2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4206240"/>
            <a:ext cx="3611880" cy="117043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10144" y="4206240"/>
            <a:ext cx="3611880" cy="1170432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44982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181D"/>
                </a:solidFill>
                <a:latin typeface="Montserrat"/>
              </a:rPr>
              <a:t>Youth &amp;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687568"/>
            <a:ext cx="3355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7180"/>
                </a:solidFill>
                <a:latin typeface="Geist"/>
              </a:rPr>
              <a:t>NextMile ideathon and national dialogue series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605332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2,000+ participants engaged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03 · ABOUT US, SATARK IN THE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SATARK: AI that helps police stop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the right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Built with Cars24 engineers. Reads number plates, checks government records, and alerts officers to repeat offenders, in real time.</a:t>
            </a:r>
          </a:p>
        </p:txBody>
      </p:sp>
      <p:pic>
        <p:nvPicPr>
          <p:cNvPr id="8" name="Picture 7" descr="satark_billboard.jpg_4.35x2.65_0.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3977639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965960"/>
            <a:ext cx="3977639" cy="2423160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43484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Rambagh Circle, Jaipur, live plate, pending challans and dues on a public billboard.</a:t>
            </a:r>
          </a:p>
        </p:txBody>
      </p:sp>
      <p:pic>
        <p:nvPicPr>
          <p:cNvPr id="11" name="Picture 10" descr="satark_officer_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65960"/>
            <a:ext cx="1828800" cy="21502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09160" y="1965960"/>
            <a:ext cx="1828800" cy="2150283"/>
          </a:xfrm>
          <a:prstGeom prst="rect">
            <a:avLst/>
          </a:prstGeom>
          <a:noFill/>
          <a:ln w="12700">
            <a:solidFill>
              <a:srgbClr val="E8E9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1619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view, challans,</a:t>
            </a:r>
          </a:p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RC &amp; compliance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screened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pending challan value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1635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70,019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vehicles found with pending challans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3767328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767328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A9955"/>
                </a:solidFill>
                <a:latin typeface="Montserrat"/>
              </a:rPr>
              <a:t>LIVE · Jaipur &amp; Bengaluru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76732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3767328"/>
            <a:ext cx="1563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NEW · Gurugram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261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Bengaluru's Trinity Circle billboard was India's first, covered by Deccan Herald and national press. Pune and Ahmedabad are next.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" y="5358384"/>
            <a:ext cx="10326319" cy="0"/>
          </a:xfrm>
          <a:prstGeom prst="line">
            <a:avLst/>
          </a:prstGeom>
          <a:ln w="12700">
            <a:solidFill>
              <a:srgbClr val="E8E9EE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1038586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camera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24" y="5244266"/>
            <a:ext cx="228234" cy="2282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ANPR camera</a:t>
            </a:r>
          </a:p>
        </p:txBody>
      </p:sp>
      <p:sp>
        <p:nvSpPr>
          <p:cNvPr id="31" name="Oval 30"/>
          <p:cNvSpPr/>
          <p:nvPr/>
        </p:nvSpPr>
        <p:spPr>
          <a:xfrm>
            <a:off x="242081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can-li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153" y="5244266"/>
            <a:ext cx="228234" cy="22823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4915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Plate read</a:t>
            </a:r>
          </a:p>
        </p:txBody>
      </p:sp>
      <p:sp>
        <p:nvSpPr>
          <p:cNvPr id="34" name="Oval 33"/>
          <p:cNvSpPr/>
          <p:nvPr/>
        </p:nvSpPr>
        <p:spPr>
          <a:xfrm>
            <a:off x="380304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bas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383" y="5244266"/>
            <a:ext cx="228234" cy="228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138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Records check</a:t>
            </a:r>
          </a:p>
        </p:txBody>
      </p:sp>
      <p:sp>
        <p:nvSpPr>
          <p:cNvPr id="37" name="Oval 36"/>
          <p:cNvSpPr/>
          <p:nvPr/>
        </p:nvSpPr>
        <p:spPr>
          <a:xfrm>
            <a:off x="518527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alert-triangle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0613" y="5244266"/>
            <a:ext cx="228234" cy="2282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1361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Risk flag</a:t>
            </a:r>
          </a:p>
        </p:txBody>
      </p:sp>
      <p:sp>
        <p:nvSpPr>
          <p:cNvPr id="40" name="Oval 39"/>
          <p:cNvSpPr/>
          <p:nvPr/>
        </p:nvSpPr>
        <p:spPr>
          <a:xfrm>
            <a:off x="656750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bell-ring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843" y="5244266"/>
            <a:ext cx="228234" cy="2282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9584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Officer alert</a:t>
            </a:r>
          </a:p>
        </p:txBody>
      </p:sp>
      <p:sp>
        <p:nvSpPr>
          <p:cNvPr id="43" name="Oval 42"/>
          <p:cNvSpPr/>
          <p:nvPr/>
        </p:nvSpPr>
        <p:spPr>
          <a:xfrm>
            <a:off x="794973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monitor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5073" y="5244266"/>
            <a:ext cx="228234" cy="2282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7807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Billboard</a:t>
            </a:r>
          </a:p>
        </p:txBody>
      </p:sp>
      <p:sp>
        <p:nvSpPr>
          <p:cNvPr id="46" name="Oval 45"/>
          <p:cNvSpPr/>
          <p:nvPr/>
        </p:nvSpPr>
        <p:spPr>
          <a:xfrm>
            <a:off x="933196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hand_4A35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7303" y="5244266"/>
            <a:ext cx="228234" cy="2282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6030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Interception</a:t>
            </a:r>
          </a:p>
        </p:txBody>
      </p:sp>
      <p:sp>
        <p:nvSpPr>
          <p:cNvPr id="49" name="Oval 48"/>
          <p:cNvSpPr/>
          <p:nvPr/>
        </p:nvSpPr>
        <p:spPr>
          <a:xfrm>
            <a:off x="10714195" y="5138928"/>
            <a:ext cx="438912" cy="438912"/>
          </a:xfrm>
          <a:prstGeom prst="ellipse">
            <a:avLst/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shield-check_4A35FF_256_2.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9533" y="5244266"/>
            <a:ext cx="228234" cy="2282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242537" y="5650992"/>
            <a:ext cx="1382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Enforcement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2927" y="274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850" b="1" i="0" spc="160">
                <a:solidFill>
                  <a:srgbClr val="6E7180"/>
                </a:solidFill>
                <a:latin typeface="Montserrat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04 · 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One district, 90 days,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three MVPs built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Everything on our side is funded and ready. The ask is small and specific.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76272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 spc="140">
                <a:solidFill>
                  <a:srgbClr val="4A35FF"/>
                </a:solidFill>
                <a:latin typeface="Montserrat"/>
              </a:rPr>
              <a:t>WHAT WE WILL DO — AT OUR COST</a:t>
            </a:r>
          </a:p>
        </p:txBody>
      </p:sp>
      <p:pic>
        <p:nvPicPr>
          <p:cNvPr id="10" name="Picture 9" descr="school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56032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856" y="254203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SSI MVP: speed-exposure scores on the ~100-zone launch batch; field-verify worst 20</a:t>
            </a:r>
          </a:p>
        </p:txBody>
      </p:sp>
      <p:pic>
        <p:nvPicPr>
          <p:cNvPr id="12" name="Picture 11" descr="map-pin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108960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3856" y="309067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Rakshak MVP: braking overlay on Jaipur's 96 clusters; live speed panel on the public dashboard</a:t>
            </a:r>
          </a:p>
        </p:txBody>
      </p:sp>
      <p:pic>
        <p:nvPicPr>
          <p:cNvPr id="14" name="Picture 13" descr="landmar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657600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3856" y="363931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Knowledge pack MVP: first co-branded district brief, tabled at a DRSC we sit on</a:t>
            </a:r>
          </a:p>
        </p:txBody>
      </p:sp>
      <p:pic>
        <p:nvPicPr>
          <p:cNvPr id="16" name="Picture 15" descr="users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206240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3856" y="418795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Student field teams, verification, government formatting, all follow-through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E9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176272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 spc="140">
                <a:solidFill>
                  <a:srgbClr val="0A9955"/>
                </a:solidFill>
                <a:latin typeface="Montserrat"/>
              </a:rPr>
              <a:t>WHAT WE ASK OF TRAFFICURE + GOOGLE</a:t>
            </a:r>
          </a:p>
        </p:txBody>
      </p:sp>
      <p:pic>
        <p:nvPicPr>
          <p:cNvPr id="20" name="Picture 19" descr="database_0A9955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2560320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4848" y="254203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Demo access for ONE district — Gurugram or Jaipur: speeds, counts, harsh braking</a:t>
            </a:r>
          </a:p>
        </p:txBody>
      </p:sp>
      <p:pic>
        <p:nvPicPr>
          <p:cNvPr id="22" name="Picture 21" descr="cpu_0A9955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3108960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84848" y="309067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One technical session: Lepton + Maps + CFI, on our corridors, this week</a:t>
            </a:r>
          </a:p>
        </p:txBody>
      </p:sp>
      <p:pic>
        <p:nvPicPr>
          <p:cNvPr id="24" name="Picture 23" descr="badge-check_0A9955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365760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84848" y="363931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Terms for public, attributed use in the index, the dashboard and the pack</a:t>
            </a:r>
          </a:p>
        </p:txBody>
      </p:sp>
      <p:pic>
        <p:nvPicPr>
          <p:cNvPr id="26" name="Picture 25" descr="handshake_0A9955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6" y="4206240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84848" y="4187952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6181D"/>
                </a:solidFill>
                <a:latin typeface="Geist"/>
              </a:rPr>
              <a:t>A named counterpart to review the MVPs with us at day 90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57839" cy="1005840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157216"/>
            <a:ext cx="10600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16181D"/>
                </a:solidFill>
                <a:latin typeface="Geist"/>
              </a:rPr>
              <a:t>The shape of the next 90 days:  </a:t>
            </a:r>
            <a:r>
              <a:rPr sz="1050" b="0" i="0">
                <a:solidFill>
                  <a:srgbClr val="6E7180"/>
                </a:solidFill>
                <a:latin typeface="Geist"/>
              </a:rPr>
              <a:t>demo access on one district → three MVPs built on real data → reviewed together at day 90 → then we decide, with evidence, how far to go. If an MVP fails its test, we say so and shelve it.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566928" y="65288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·  Discussion deck · Crashfree India × TraffiCure, Google Maps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7487" y="652881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28800" cy="252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8288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Traffic data already runs the daily commute.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Together it can start preventing the crash.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74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C8C0FF"/>
                </a:solidFill>
                <a:latin typeface="Geist"/>
              </a:rPr>
              <a:t>Three ideas, one district, ninety days. We bring the method, the field force and the government seats; the data does the rest.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206240"/>
            <a:ext cx="4754880" cy="0"/>
          </a:xfrm>
          <a:prstGeom prst="line">
            <a:avLst/>
          </a:prstGeom>
          <a:ln w="12700">
            <a:solidFill>
              <a:srgbClr val="6A55FF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Akhtar Hussain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Mission Lead · akhtar@crashfreeindia.org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Deepanshu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 · deepanshu@crashfreeindia.org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Gajendra Jangid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47914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Trustee · gajendra@crashfreeindia.org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Crashfree India · A Cars24 commitment · Operated by Vision Zero Trust, New Delhi · crashfreeindia.org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