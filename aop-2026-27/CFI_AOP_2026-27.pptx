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99855" y="0"/>
            <a:ext cx="3291840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9357055" y="502920"/>
            <a:ext cx="457200" cy="457200"/>
          </a:xfrm>
          <a:prstGeom prst="star4">
            <a:avLst/>
          </a:prstGeom>
          <a:solidFill>
            <a:srgbClr val="C8C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21031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180">
                <a:solidFill>
                  <a:srgbClr val="FFFFFF"/>
                </a:solidFill>
                <a:latin typeface="Montserrat"/>
              </a:rPr>
              <a:t>PROJECT RAKSHAK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357055" y="2487168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57055" y="27614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180">
                <a:solidFill>
                  <a:srgbClr val="FFFFFF"/>
                </a:solidFill>
                <a:latin typeface="Montserrat"/>
              </a:rPr>
              <a:t>HIT &amp; RUN COMPENSATION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357055" y="3145536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357055" y="341985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180">
                <a:solidFill>
                  <a:srgbClr val="FFFFFF"/>
                </a:solidFill>
                <a:latin typeface="Montserrat"/>
              </a:rPr>
              <a:t>CIVIC &amp; GOVTECH  ·  SATARK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57055" y="3803904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57055" y="407822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180">
                <a:solidFill>
                  <a:srgbClr val="FFFFFF"/>
                </a:solidFill>
                <a:latin typeface="Montserrat"/>
              </a:rPr>
              <a:t>CAMPAIGN &amp; ENABLERS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57055" y="4462272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357055" y="47365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180">
                <a:solidFill>
                  <a:srgbClr val="FFFFFF"/>
                </a:solidFill>
                <a:latin typeface="Montserrat"/>
              </a:rPr>
              <a:t>BETS  ·  SSI + GIG RIDER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57055" y="5120640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103120" cy="290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21488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ANNUAL OPERATING PLAN  ·  JULY 2026 - JUNE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5146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A1C1C"/>
                </a:solidFill>
                <a:latin typeface="Montserrat"/>
              </a:rPr>
              <a:t>From programmes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4A35FF"/>
                </a:solidFill>
                <a:latin typeface="Montserrat"/>
              </a:rPr>
              <a:t>to institutions.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777589"/>
                </a:solidFill>
                <a:latin typeface="Geist"/>
              </a:rPr>
              <a:t>Year 2 runs three core programmes and one civic-tech vertical, deep not wide.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777589"/>
                </a:solidFill>
                <a:latin typeface="Geist"/>
              </a:rPr>
              <a:t>Everything else is a seed-funded bet that must earn its way to a full budget.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5806440"/>
            <a:ext cx="7680960" cy="0"/>
          </a:xfrm>
          <a:prstGeom prst="line">
            <a:avLst/>
          </a:prstGeom>
          <a:ln w="12700">
            <a:solidFill>
              <a:srgbClr val="ED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98932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40">
                <a:solidFill>
                  <a:srgbClr val="777589"/>
                </a:solidFill>
                <a:latin typeface="Montserrat"/>
              </a:rPr>
              <a:t>Vision Zero Trust  ·  Internal Planning Document  ·  Budget Rs 6.00 Cr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YEAR 1 IN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What one year of audit-led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put on the 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Cohort 1 proved the model: youth-generated audits can reach district officials and trigger engineering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p-pin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2715768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27157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83280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Priority sites audited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2514600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uilding-2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544" y="2715768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39312" y="27157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3383280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Cities engaged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514600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ircle-chec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2715768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9944" y="27157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25+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383280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Approvals &amp; actions initiated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2514600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hard-hat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6808" y="2715768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0576" y="27157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7+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3383280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Engineering works begun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24528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sers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4912" y="4425696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8680" y="442569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900+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93208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Stakeholder surveys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10712" y="4224528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hand-helping_4A35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5544" y="4425696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639312" y="442569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120+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9312" y="5093208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Victims &amp; families surveyed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4224528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ic_4A35FF_256_2.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6176" y="4425696"/>
            <a:ext cx="292608" cy="2926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09944" y="442569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30+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5093208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Expert consultations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1976" y="4224528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egaphone_4A35FF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6808" y="4425696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180576" y="442569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1M+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0576" y="5093208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Citizens reached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897880"/>
            <a:ext cx="10911535" cy="384048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8978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150+ members  ·  50+ experts  ·  AASHA chatbot live  ·  MoUs with Gurugram &amp; Jaipur Traffic Police  ·  DRSC integration begun in SW Delhi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LEARNINGS FROM YEAR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Five lessons that rewired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the Year 2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911535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215798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dge-chec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240280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208483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Credibility is the 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84832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Energy and field discovery were strong; report quality must meet DRSC and NHAI standards without rework.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08483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IN Y2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9514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Expert Consortium, certified RSAs, Rakshak Audit Manual v1.0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34640"/>
            <a:ext cx="10911535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" y="302666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al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108960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17320" y="295351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Awareness alone doesn't move claims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953512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Institutional incapacity and process non-compliance - not just awareness gaps - drive claim dropout.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953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IN Y2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16382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Shift from awareness drives to stage-wise scheme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03320"/>
            <a:ext cx="10911535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389534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ap-pin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977640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17320" y="382219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Depth beats breadth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822192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Parallel full-scale sites diluted bandwidth and institutional trust took longer than planned.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82219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IN Y2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03250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Anchor districts + model-district approach; MACT reform deprioritised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572000"/>
            <a:ext cx="10911535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8" y="476402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lipboard-chec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846320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17320" y="469087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Audits die at submission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690872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Most audit programmes stop at report submission; follow-through is where impact happens.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69087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IN Y2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90118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Public accountability loop - every recommendation tracked to implementation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440680"/>
            <a:ext cx="10911535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41248" y="563270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ndian-rupe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5715000"/>
            <a:ext cx="237744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417320" y="555955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Plan what we fund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5559552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Prior budget carried unfunded activities and untagged cost lines.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5595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IN Y2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576986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Unit-based budget, quarterly phasing, formula-driven rollups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OBJECTIVES  ·  THE DESTINATION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What must be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when Year 2 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10911535" cy="658368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1027145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80">
                <a:solidFill>
                  <a:srgbClr val="C8C0FF"/>
                </a:solidFill>
                <a:latin typeface="Montserrat"/>
              </a:rPr>
              <a:t>POSITION  </a:t>
            </a:r>
            <a:r>
              <a:rPr sz="1100" b="0" i="0">
                <a:solidFill>
                  <a:srgbClr val="FFFFFF"/>
                </a:solidFill>
                <a:latin typeface="Geist"/>
              </a:rPr>
              <a:t>By June 2027, CFI is India's audit-and-accountability institution for road safety - the organisation governments call to find where systems break, and to hold the fix to completion.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61488"/>
            <a:ext cx="5358384" cy="16276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96265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ard-hat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44952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2926080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Rakshak runs inside institutions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00400"/>
            <a:ext cx="4352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An audit pipeline owned by universities, NGO partners and certified RSAs - consortium, Audit Manual v1.0 and a public dashboard - that no longer needs CFI to push every audit.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96512"/>
            <a:ext cx="43525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Y3: national scale through chapters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761488"/>
            <a:ext cx="5358384" cy="16276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82512" y="296265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al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3044952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12864" y="2926080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Compensation fixed, then replicated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2864" y="3200400"/>
            <a:ext cx="4352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Two districts where the hit &amp; run claim pipeline demonstrably works, pilots running beyond them, and the process mapped in 8+ districts - a replication playbook, not a project.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4096512"/>
            <a:ext cx="43525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Y3: state-level adoption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53712"/>
            <a:ext cx="5358384" cy="16276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4754880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radar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837176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4718304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SATARK as public 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992624"/>
            <a:ext cx="4352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Enforcement intelligence live in 30 cities, plus an active exploration track for new govtech products and digital public goods with government partners.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888736"/>
            <a:ext cx="43525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Y3: the road-safety data layer for government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1344" y="4553712"/>
            <a:ext cx="5358384" cy="16276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82512" y="4754880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egaphone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4837176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12864" y="4718304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A public evidence brand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992624"/>
            <a:ext cx="4352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Four open data products cited by committees and press, 1M+ citizens engaged through the campaign, and both bets resolved with board-ready designs.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5888736"/>
            <a:ext cx="43525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Y3: evidence citations drive inbound demand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YEAR 2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One operating model,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run deeper.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arch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157984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8448" y="20391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 spc="120">
                <a:solidFill>
                  <a:srgbClr val="1A1C1C"/>
                </a:solidFill>
                <a:latin typeface="Montserrat"/>
              </a:rPr>
              <a:t>01  · 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331720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Diagnose where systems break - blackspots, claim pipelines, school zones, platform practices - with evidence that survives institutional review.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egaphon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529584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8448" y="34107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 spc="120">
                <a:solidFill>
                  <a:srgbClr val="1A1C1C"/>
                </a:solidFill>
                <a:latin typeface="Montserrat"/>
              </a:rPr>
              <a:t>02  ·  ADVOCATE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703320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Turn evidence into stakeholder action: DRSC integration, co-designed fixes, model districts, a sustained publishing cadence.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ield-chec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901184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47823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 spc="120">
                <a:solidFill>
                  <a:srgbClr val="1A1C1C"/>
                </a:solidFill>
                <a:latin typeface="Montserrat"/>
              </a:rPr>
              <a:t>03  ·  HOLD ACCOUNTABLE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5074920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Track every recommendation publicly from submission to implementation; escalate from district fixes to system reform.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011680"/>
            <a:ext cx="3779215" cy="416052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331720"/>
            <a:ext cx="3047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20">
                <a:solidFill>
                  <a:srgbClr val="C8C0FF"/>
                </a:solidFill>
                <a:latin typeface="Montserrat"/>
              </a:rPr>
              <a:t>THE YEAR 2 SHIFT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697480"/>
            <a:ext cx="30476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From programmes</a:t>
            </a:r>
          </a:p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to institutions.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38160" y="3611880"/>
            <a:ext cx="3047695" cy="0"/>
          </a:xfrm>
          <a:prstGeom prst="line">
            <a:avLst/>
          </a:prstGeom>
          <a:ln w="12700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156448" y="386791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3794760"/>
            <a:ext cx="2819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Geist"/>
              </a:rPr>
              <a:t>Expert Consortium + Audit Manual v1.0 give audits institutional authority</a:t>
            </a:r>
          </a:p>
        </p:txBody>
      </p:sp>
      <p:sp>
        <p:nvSpPr>
          <p:cNvPr id="26" name="Oval 25"/>
          <p:cNvSpPr/>
          <p:nvPr/>
        </p:nvSpPr>
        <p:spPr>
          <a:xfrm>
            <a:off x="8156448" y="445312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4379976"/>
            <a:ext cx="2819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Geist"/>
              </a:rPr>
              <a:t>Model districts, not scattered pilots - Gurugram, SW Delhi, anchor cities</a:t>
            </a:r>
          </a:p>
        </p:txBody>
      </p:sp>
      <p:sp>
        <p:nvSpPr>
          <p:cNvPr id="28" name="Oval 27"/>
          <p:cNvSpPr/>
          <p:nvPr/>
        </p:nvSpPr>
        <p:spPr>
          <a:xfrm>
            <a:off x="8156448" y="5038344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4965192"/>
            <a:ext cx="2819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Geist"/>
              </a:rPr>
              <a:t>Civic tech in government hands: SATARK enforcement + four open data products</a:t>
            </a:r>
          </a:p>
        </p:txBody>
      </p:sp>
      <p:sp>
        <p:nvSpPr>
          <p:cNvPr id="30" name="Oval 29"/>
          <p:cNvSpPr/>
          <p:nvPr/>
        </p:nvSpPr>
        <p:spPr>
          <a:xfrm>
            <a:off x="8156448" y="5623560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5550408"/>
            <a:ext cx="2819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Geist"/>
              </a:rPr>
              <a:t>Publishing cadence: monthly field notes, quarterly findings, year-end audit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KEY FOCUS AREAS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Three core programmes,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two seed-funded bets.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Each core programme has a north-star outcome and a dedicated budget line. Bets carry seed money only - they scale only if their pilots earn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87168"/>
            <a:ext cx="3511296" cy="22128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72491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ard-hat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825496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36192" y="2724912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1" i="0" spc="150">
                <a:solidFill>
                  <a:srgbClr val="4A35FF"/>
                </a:solidFill>
                <a:latin typeface="Montserrat"/>
              </a:rPr>
              <a:t>CORE 01  ·  RS 1.85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944368"/>
            <a:ext cx="23408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Project Rakshak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2962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Institutionalise the national audit pipeline: three-track model, Expert Consortium, Audit Manual v1.0.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87952"/>
            <a:ext cx="2962656" cy="347472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87952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80" b="1" i="0">
                <a:solidFill>
                  <a:srgbClr val="FFFFFF"/>
                </a:solidFill>
                <a:latin typeface="Montserrat"/>
              </a:rPr>
              <a:t>150+ blackspots audited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2487168"/>
            <a:ext cx="3511296" cy="22128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08576" y="272491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al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825496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30368" y="2724912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1" i="0" spc="150">
                <a:solidFill>
                  <a:srgbClr val="4A35FF"/>
                </a:solidFill>
                <a:latin typeface="Montserrat"/>
              </a:rPr>
              <a:t>CORE 02  ·  RS 0.60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2944368"/>
            <a:ext cx="23408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Hit &amp; Run Compensation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3383280"/>
            <a:ext cx="2962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Fix the claim pipeline in two districts, pilot the playbook beyond them, and map the process in 8+ districts.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08576" y="4187952"/>
            <a:ext cx="2962656" cy="347472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8576" y="4187952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80" b="1" i="0">
                <a:solidFill>
                  <a:srgbClr val="FFFFFF"/>
                </a:solidFill>
                <a:latin typeface="Montserrat"/>
              </a:rPr>
              <a:t>2 fixed  ·  8+ mapped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2487168"/>
            <a:ext cx="3511296" cy="22128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02752" y="272491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adar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36" y="2825496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24544" y="2724912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1" i="0" spc="150">
                <a:solidFill>
                  <a:srgbClr val="4A35FF"/>
                </a:solidFill>
                <a:latin typeface="Montserrat"/>
              </a:rPr>
              <a:t>CORE 03  ·  RS 1.00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24544" y="2944368"/>
            <a:ext cx="23408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Civic &amp; GovTech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383280"/>
            <a:ext cx="2962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Scale SATARK - the AI enforcement co-pilot for traffic police - to 30 cities; explore the next govtech products and partnerships.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02752" y="4187952"/>
            <a:ext cx="2962656" cy="347472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4187952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80" b="1" i="0">
                <a:solidFill>
                  <a:srgbClr val="FFFFFF"/>
                </a:solidFill>
                <a:latin typeface="Montserrat"/>
              </a:rPr>
              <a:t>SATARK live in 30 cities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8646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00">
                <a:solidFill>
                  <a:srgbClr val="4A35FF"/>
                </a:solidFill>
                <a:latin typeface="Montserrat"/>
              </a:rPr>
              <a:t>TWO BETS  ·  SEED-FUNDED, STAGE-GATED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175504"/>
            <a:ext cx="5358384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60" y="543153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chool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513832"/>
            <a:ext cx="237744" cy="23774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71600" y="53035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School Safety Index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559552"/>
            <a:ext cx="32095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The 2,000-school index is parked. Seed: validate the IRC:SP:32 rubric on ~100 schools in one city.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0016" y="5477256"/>
            <a:ext cx="1115568" cy="3291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0016" y="5477256"/>
            <a:ext cx="11155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19" b="1" i="0">
                <a:solidFill>
                  <a:srgbClr val="4A35FF"/>
                </a:solidFill>
                <a:latin typeface="Montserrat"/>
              </a:rPr>
              <a:t>Rs 0.10 Cr seed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81344" y="5175504"/>
            <a:ext cx="5358384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64224" y="543153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bik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5513832"/>
            <a:ext cx="237744" cy="23774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912864" y="53035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Gig Rider Safety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12864" y="5559552"/>
            <a:ext cx="32095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The national study is parked. Seed: scoping study + first engagements with delivery platforms.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41280" y="5477256"/>
            <a:ext cx="1115568" cy="3291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0" y="5477256"/>
            <a:ext cx="11155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19" b="1" i="0">
                <a:solidFill>
                  <a:srgbClr val="4A35FF"/>
                </a:solidFill>
                <a:latin typeface="Montserrat"/>
              </a:rPr>
              <a:t>Rs 0.10 Cr seed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DEEP DIVE  ·  CORE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Project Rakshak: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put the audit pipeline inside institutions.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4A35FF"/>
                </a:solidFill>
                <a:latin typeface="Montserrat"/>
              </a:rPr>
              <a:t>THE THREE-TRACK MODEL  ·  RUN BY INSTITUTIONS, NOT BY CFI ALONE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59152"/>
            <a:ext cx="68580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505456"/>
            <a:ext cx="420624" cy="42062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32888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414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Institutional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974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IIT / NIT / SPA student teams under expert mentors; IRC-aligned rubric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551176"/>
            <a:ext cx="1051560" cy="3291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551176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~90 sites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68580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310128"/>
            <a:ext cx="420624" cy="42062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3756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NGO Partners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50215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NGO field teams; 100% desk review + 10-15% physical re-checks by CFI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355848"/>
            <a:ext cx="1051560" cy="3291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355848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~20 sites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68496"/>
            <a:ext cx="68580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114800"/>
            <a:ext cx="420624" cy="42062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42232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0507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Certified RSAs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30682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CRRI-certified auditors; full IRC SP:88 - usable by NHAI without rework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160520"/>
            <a:ext cx="1051560" cy="3291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160520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~40 sites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9145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A1C1C"/>
                </a:solidFill>
                <a:latin typeface="Montserrat"/>
              </a:rPr>
              <a:t>Anchor districts:  </a:t>
            </a:r>
            <a:r>
              <a:rPr sz="950" b="0" i="0">
                <a:solidFill>
                  <a:srgbClr val="777589"/>
                </a:solidFill>
                <a:latin typeface="Geist"/>
              </a:rPr>
              <a:t>Gurugram (NH-48)  ·  SW Delhi (NH-48/44)  ·  Jaipur (NH-8)  ·  +10 exploratory cities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20640"/>
            <a:ext cx="68580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5120640"/>
            <a:ext cx="6858000" cy="29260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4672" y="5221224"/>
            <a:ext cx="91440" cy="91440"/>
          </a:xfrm>
          <a:prstGeom prst="ellipse">
            <a:avLst/>
          </a:prstGeom>
          <a:solidFill>
            <a:srgbClr val="F10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9264" y="5221224"/>
            <a:ext cx="91440" cy="9144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33856" y="5221224"/>
            <a:ext cx="91440" cy="91440"/>
          </a:xfrm>
          <a:prstGeom prst="ellipse">
            <a:avLst/>
          </a:prstGeom>
          <a:solidFill>
            <a:srgbClr val="00A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17320" y="516636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crashfreeindia.org/rakshak/dashboard</a:t>
            </a:r>
          </a:p>
        </p:txBody>
      </p:sp>
      <p:pic>
        <p:nvPicPr>
          <p:cNvPr id="37" name="Picture 36" descr="bar-chart-3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5541264"/>
            <a:ext cx="310896" cy="3108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98448" y="548640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Public accountability dashboard - the institutional spine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5724144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1">
                <a:solidFill>
                  <a:srgbClr val="777589"/>
                </a:solidFill>
                <a:latin typeface="Geist"/>
              </a:rPr>
              <a:t>Every site tracked in public: identification &gt; audit &gt; authority review &gt; engineering implementation.  [Insert live dashboard screenshot before circulation]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2011680"/>
            <a:ext cx="3733495" cy="411480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2286000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00">
                <a:solidFill>
                  <a:srgbClr val="C8C0FF"/>
                </a:solidFill>
                <a:latin typeface="Montserrat"/>
              </a:rPr>
              <a:t>FY 2026-27 TARGETS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2670048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150+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2715768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C8C0FF"/>
                </a:solidFill>
                <a:latin typeface="Geist"/>
              </a:rPr>
              <a:t>blackspots audited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323697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100+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3282696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C8C0FF"/>
                </a:solidFill>
                <a:latin typeface="Geist"/>
              </a:rPr>
              <a:t>recommendations accepted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3803904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75+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3849624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C8C0FF"/>
                </a:solidFill>
                <a:latin typeface="Geist"/>
              </a:rPr>
              <a:t>implementations initiated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370832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12+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4416552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C8C0FF"/>
                </a:solidFill>
                <a:latin typeface="Geist"/>
              </a:rPr>
              <a:t>DRSC presentations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937760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v1.0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4983480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C8C0FF"/>
                </a:solidFill>
                <a:latin typeface="Geist"/>
              </a:rPr>
              <a:t>Rakshak Audit Manual + 4 Expert Consortium meetings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138160" y="5596128"/>
            <a:ext cx="3093415" cy="0"/>
          </a:xfrm>
          <a:prstGeom prst="line">
            <a:avLst/>
          </a:prstGeom>
          <a:ln w="12700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138160" y="5724144"/>
            <a:ext cx="3093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Budget  </a:t>
            </a:r>
            <a:r>
              <a:rPr sz="1300" b="1" i="0">
                <a:solidFill>
                  <a:srgbClr val="FFFFFF"/>
                </a:solidFill>
                <a:latin typeface="Montserrat"/>
              </a:rPr>
              <a:t>Rs 1.85 Cr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DEEP DIVE  ·  CORE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Hit &amp; Run Compensation: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fix two districts, map eight.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00">
                <a:solidFill>
                  <a:srgbClr val="4A35FF"/>
                </a:solidFill>
                <a:latin typeface="Montserrat"/>
              </a:rPr>
              <a:t>FOUR PILLARS  ·  AUDIT-LED, RESEARCH-EMBEDDED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685800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55117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arch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63347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89888" y="247802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Scheme audit &amp; process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724912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Stage-wise pipeline audit in Gurugram: FIR to GI Council disbursal; 20-30 claims tracked end-to-end.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27832"/>
            <a:ext cx="685800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3401568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andmar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48386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89888" y="332841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Institutional capacity building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575304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Fellow-in-Residence at Tehsildar office; SOP reference cards; training-gap assessment - research-embedded, not social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78224"/>
            <a:ext cx="685800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25196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ot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334256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89888" y="417880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Victim identification &amp; AASHA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425696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DLSA-partnered helpdesks; AASHA QR deployment at police stations and trauma centres; usage measured monthly.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28616"/>
            <a:ext cx="685800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5102352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ile-text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184648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89888" y="50292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Policy audit &amp; advocacy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5276088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'Where the Pipeline Breaks' - comprehensive scheme audit submitted to MoRTH; quarterly findings + public brief.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247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Fix &gt; pilot &gt; map:  </a:t>
            </a:r>
            <a:r>
              <a:rPr sz="1000" b="0" i="0">
                <a:solidFill>
                  <a:srgbClr val="777589"/>
                </a:solidFill>
                <a:latin typeface="Geist"/>
              </a:rPr>
              <a:t>FIX Gurugram + SW Delhi (measured uptake lift)  ·  PILOT the playbook in Jaipur + watchlist districts  ·  MAP the claim process in 8+ districts by June 2027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2011680"/>
            <a:ext cx="3733495" cy="411480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286000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00">
                <a:solidFill>
                  <a:srgbClr val="C8C0FF"/>
                </a:solidFill>
                <a:latin typeface="Montserrat"/>
              </a:rPr>
              <a:t>FY 2026-27 TARGETS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670048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2706624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districts FIXED - measured claim-uptake lift, -20% processing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23697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2+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273552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districts PILOTING the fixed-pipeline playbook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803904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8+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3840480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districts process-MAPPED by June 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370832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20-30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4407408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claims tracked FIR to disbursal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937760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4974336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scheme audit report to MoRTH (Apr-May '27)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38160" y="5596128"/>
            <a:ext cx="3093415" cy="0"/>
          </a:xfrm>
          <a:prstGeom prst="line">
            <a:avLst/>
          </a:prstGeom>
          <a:ln w="12700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138160" y="5724144"/>
            <a:ext cx="3093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Budget  </a:t>
            </a:r>
            <a:r>
              <a:rPr sz="1300" b="1" i="0">
                <a:solidFill>
                  <a:srgbClr val="FFFFFF"/>
                </a:solidFill>
                <a:latin typeface="Montserrat"/>
              </a:rPr>
              <a:t>Rs 0.60 Cr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DEEP DIVE  ·  CORE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Civic &amp; GovTech: take SATARK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from 2 cities to 30.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4A35FF"/>
                </a:solidFill>
                <a:latin typeface="Montserrat"/>
              </a:rPr>
              <a:t>SATARK  ·  THE ENFORCEMENT CO-PILOT FOR TRAFFIC POLICE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59152"/>
            <a:ext cx="1207008" cy="60350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59152"/>
            <a:ext cx="1207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ANPR</a:t>
            </a:r>
          </a:p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plate scan</a:t>
            </a:r>
          </a:p>
        </p:txBody>
      </p:sp>
      <p:pic>
        <p:nvPicPr>
          <p:cNvPr id="11" name="Picture 10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6" y="2578608"/>
            <a:ext cx="164592" cy="16459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048256" y="2359152"/>
            <a:ext cx="1207008" cy="60350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8256" y="2359152"/>
            <a:ext cx="1207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ULIP</a:t>
            </a:r>
          </a:p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vehicle records</a:t>
            </a:r>
          </a:p>
        </p:txBody>
      </p:sp>
      <p:pic>
        <p:nvPicPr>
          <p:cNvPr id="14" name="Picture 13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2578608"/>
            <a:ext cx="164592" cy="16459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456432" y="2359152"/>
            <a:ext cx="1207008" cy="60350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2359152"/>
            <a:ext cx="1207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SATARK</a:t>
            </a:r>
          </a:p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rule engine</a:t>
            </a:r>
          </a:p>
        </p:txBody>
      </p:sp>
      <p:pic>
        <p:nvPicPr>
          <p:cNvPr id="17" name="Picture 16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578608"/>
            <a:ext cx="164592" cy="16459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864608" y="2359152"/>
            <a:ext cx="1207008" cy="60350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2359152"/>
            <a:ext cx="1207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Billboard +</a:t>
            </a:r>
          </a:p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officer app</a:t>
            </a:r>
          </a:p>
        </p:txBody>
      </p:sp>
      <p:pic>
        <p:nvPicPr>
          <p:cNvPr id="20" name="Picture 19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2578608"/>
            <a:ext cx="164592" cy="16459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72784" y="2359152"/>
            <a:ext cx="1207008" cy="60350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2359152"/>
            <a:ext cx="1207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Interception</a:t>
            </a:r>
          </a:p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logged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004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4A35FF"/>
                </a:solidFill>
                <a:latin typeface="Montserrat"/>
              </a:rPr>
              <a:t>PROVEN IN THE FIELD  ·  CUMULATIVE, LIVE DEPLOYMENTS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529584"/>
            <a:ext cx="3337560" cy="7132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621024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4A35FF"/>
                </a:solidFill>
                <a:latin typeface="Montserrat"/>
              </a:rPr>
              <a:t>3,00,000+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3931920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vehicles scanned at live sites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3529584"/>
            <a:ext cx="3337560" cy="7132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3621024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4A35FF"/>
                </a:solidFill>
                <a:latin typeface="Montserrat"/>
              </a:rPr>
              <a:t>Rs 30 Cr+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3931920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pending challan value surfaced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379976"/>
            <a:ext cx="3337560" cy="7132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471416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4A35FF"/>
                </a:solidFill>
                <a:latin typeface="Montserrat"/>
              </a:rPr>
              <a:t>350+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4782312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vehicles intercepted in the field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4379976"/>
            <a:ext cx="3337560" cy="7132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4471416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4A35FF"/>
                </a:solidFill>
                <a:latin typeface="Montserrat"/>
              </a:rPr>
              <a:t>2 cities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1688" y="4782312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live today - Jaipur &amp; Bengaluru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23036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4A35FF"/>
                </a:solidFill>
                <a:latin typeface="Montserrat"/>
              </a:rPr>
              <a:t>BEYOND SATARK  ·  DATA STACK + GOVTECH EXPLORATION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486400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Sustain the four open data products: Defect Repository (daily, 146 districts) · Parliament tracker (1,423 questions) · SC Litigation Tracker · Crash Data Dashboard (CC-BY).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Scout the next govtech wedges: new digital public goods, state integrations, and partnerships across the ULIP / MoRTH ecosystem.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2011680"/>
            <a:ext cx="3733495" cy="411480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286000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00">
                <a:solidFill>
                  <a:srgbClr val="C8C0FF"/>
                </a:solidFill>
                <a:latin typeface="Montserrat"/>
              </a:rPr>
              <a:t>FY 2026-27 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26974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743200"/>
            <a:ext cx="1767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cities live with SATARK - Gurugram, Pune &amp; Ahmedabad first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33558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1,000+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401568"/>
            <a:ext cx="1767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field interceptions logged - a floor, not a ceiling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4014216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4059936"/>
            <a:ext cx="1767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open data products sustained &amp; cited in DRSCs and press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672584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2+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4718304"/>
            <a:ext cx="1767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new govtech / DPG opportunities scoped with partners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138160" y="5596128"/>
            <a:ext cx="3093415" cy="0"/>
          </a:xfrm>
          <a:prstGeom prst="line">
            <a:avLst/>
          </a:prstGeom>
          <a:ln w="12700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138160" y="5724144"/>
            <a:ext cx="3093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Budget  </a:t>
            </a:r>
            <a:r>
              <a:rPr sz="1300" b="1" i="0">
                <a:solidFill>
                  <a:srgbClr val="FFFFFF"/>
                </a:solidFill>
                <a:latin typeface="Montserrat"/>
              </a:rPr>
              <a:t>Rs 1.00 Cr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THE BETS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Two bets, seed-funded now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scaled only if they earn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School Safety and Gig Rider come out of the core budget this year. Each gets a Rs 0.10 Cr seed, released against a board-approved pilot design.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5358384" cy="324612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72491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hool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834640"/>
            <a:ext cx="283464" cy="2834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54480" y="27432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 i="0" spc="150">
                <a:solidFill>
                  <a:srgbClr val="4A35FF"/>
                </a:solidFill>
                <a:latin typeface="Montserrat"/>
              </a:rPr>
              <a:t>BET 01  ·  RS 0.10 CR 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7180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C1C"/>
                </a:solidFill>
                <a:latin typeface="Montserrat"/>
              </a:rPr>
              <a:t>School Safety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93008"/>
            <a:ext cx="4809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777589"/>
                </a:solidFill>
                <a:latin typeface="Geist"/>
              </a:rPr>
              <a:t>The 2,000-school, Rs 1.00 Cr index is parked, not killed.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1363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THE SEED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33088"/>
            <a:ext cx="48097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40" b="0" i="0">
                <a:solidFill>
                  <a:srgbClr val="1A1C1C"/>
                </a:solidFill>
                <a:latin typeface="Geist"/>
              </a:rPr>
              <a:t>Validate the IRC:SP:32-2023 rubric (44 checks, 13 sections) on ~100 school zones in one anchor city; test the Zone Captain audit model end-to-end.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6460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THE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84064"/>
            <a:ext cx="48097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40" b="0" i="0">
                <a:solidFill>
                  <a:srgbClr val="1A1C1C"/>
                </a:solidFill>
                <a:latin typeface="Geist"/>
              </a:rPr>
              <a:t>A defensible per-school cost and rubric &gt; board approves a funded, multi-city index in Year 3.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468880"/>
            <a:ext cx="5358384" cy="324612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55664" y="272491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ik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834640"/>
            <a:ext cx="283464" cy="2834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95744" y="27432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 i="0" spc="150">
                <a:solidFill>
                  <a:srgbClr val="4A35FF"/>
                </a:solidFill>
                <a:latin typeface="Montserrat"/>
              </a:rPr>
              <a:t>BET 02  ·  RS 0.10 CR SEED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297180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C1C"/>
                </a:solidFill>
                <a:latin typeface="Montserrat"/>
              </a:rPr>
              <a:t>Gig Rider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3493008"/>
            <a:ext cx="4809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777589"/>
                </a:solidFill>
                <a:latin typeface="Geist"/>
              </a:rPr>
              <a:t>The national study is parked until the field model is proven.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91363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THE SEED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4133088"/>
            <a:ext cx="48097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40" b="0" i="0">
                <a:solidFill>
                  <a:srgbClr val="1A1C1C"/>
                </a:solidFill>
                <a:latin typeface="Geist"/>
              </a:rPr>
              <a:t>Scoping study on gig rider crash data + first structured engagements with delivery platforms and OMI Foundation.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486460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THE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5084064"/>
            <a:ext cx="48097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40" b="0" i="0">
                <a:solidFill>
                  <a:srgbClr val="1A1C1C"/>
                </a:solidFill>
                <a:latin typeface="Geist"/>
              </a:rPr>
              <a:t>3+ platforms at the table and a fundable study design &gt; board approves the full programme in Year 3.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70448"/>
            <a:ext cx="10911535" cy="384048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70448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Montserrat"/>
              </a:rPr>
              <a:t>Bets seed fund Rs 0.20 Cr total  ·  no seed released without a board-approved design  ·  a proven bet returns as a funded Year 3 programme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OBJECTIVES &amp;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One north star per programme,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measured quarterly.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911535" cy="795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215798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ard-hat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240280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2112264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Project Rakshak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7568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NORTH STAR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9514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Geist"/>
              </a:rPr>
              <a:t>75+ implementations initiated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075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777589"/>
                </a:solidFill>
                <a:latin typeface="Montserrat"/>
              </a:rPr>
              <a:t>SUPPORTING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95144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150+ audits · 100+ recommendations accepted · 12+ DRSC presentations · Audit Manual v1.0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43784"/>
            <a:ext cx="10911535" cy="795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3035808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al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11810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17320" y="299008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Hit &amp; Run Compensation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9535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NORTH STAR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17296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Geist"/>
              </a:rPr>
              <a:t>2 districts fixed, 8+ mapped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953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777589"/>
                </a:solidFill>
                <a:latin typeface="Montserrat"/>
              </a:rPr>
              <a:t>SUPPORTING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172968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-20% median processing time · 20-30 claims tracked · pilots beyond model districts · audit report to MoRTH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21608"/>
            <a:ext cx="10911535" cy="795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8" y="3913632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adar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995928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17320" y="386791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Civic &amp; GovTech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83133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NORTH STAR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05079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Geist"/>
              </a:rPr>
              <a:t>SATARK live in 30 cities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8313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777589"/>
                </a:solidFill>
                <a:latin typeface="Montserrat"/>
              </a:rPr>
              <a:t>SUPPORTING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050792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1,000+ interceptions logged · 4 open data products cited in DRSCs &amp; press · 2+ new govtech opportunities scoped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599432"/>
            <a:ext cx="10911535" cy="795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7914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prout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873752"/>
            <a:ext cx="237744" cy="2377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17320" y="4745736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Bets (SSI + Gig Rider)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70916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NORTH STAR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92861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Geist"/>
              </a:rPr>
              <a:t>2 board-ready pilot designs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7091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777589"/>
                </a:solidFill>
                <a:latin typeface="Montserrat"/>
              </a:rPr>
              <a:t>SUPPORTING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4928616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SSI rubric validated on ~100 schools · gig scoping study · 3+ platform engagements · seed released only on approval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477256"/>
            <a:ext cx="10911535" cy="795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1248" y="566928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egaphon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5751576"/>
            <a:ext cx="237744" cy="23774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56235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Campaign &amp; Comms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5869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NORTH STAR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8064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Geist"/>
              </a:rPr>
              <a:t>1M+ engaged via 'Safety is the New Swag'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5586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777589"/>
                </a:solidFill>
                <a:latin typeface="Montserrat"/>
              </a:rPr>
              <a:t>SUPPORTING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5806440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50 micro-influencers · OOH in 3-4 cities · monthly field notes · quarterly findings · year-end reports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Twelve months,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phased by quarter.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011680"/>
            <a:ext cx="70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i="0">
                <a:solidFill>
                  <a:srgbClr val="777589"/>
                </a:solidFill>
                <a:latin typeface="Montserrat"/>
              </a:rPr>
              <a:t>Jul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8090" y="2011680"/>
            <a:ext cx="70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i="0">
                <a:solidFill>
                  <a:srgbClr val="777589"/>
                </a:solidFill>
                <a:latin typeface="Montserrat"/>
              </a:rPr>
              <a:t>Aug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2940" y="2011680"/>
            <a:ext cx="70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i="0">
                <a:solidFill>
                  <a:srgbClr val="777589"/>
                </a:solidFill>
                <a:latin typeface="Montserrat"/>
              </a:rPr>
              <a:t>Sep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7790" y="2011680"/>
            <a:ext cx="70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i="0">
                <a:solidFill>
                  <a:srgbClr val="777589"/>
                </a:solidFill>
                <a:latin typeface="Montserrat"/>
              </a:rPr>
              <a:t>Oct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2640" y="2011680"/>
            <a:ext cx="70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i="0">
                <a:solidFill>
                  <a:srgbClr val="777589"/>
                </a:solidFill>
                <a:latin typeface="Montserrat"/>
              </a:rPr>
              <a:t>Nov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7490" y="2011680"/>
            <a:ext cx="70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i="0">
                <a:solidFill>
                  <a:srgbClr val="777589"/>
                </a:solidFill>
                <a:latin typeface="Montserrat"/>
              </a:rPr>
              <a:t>Dec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2340" y="2011680"/>
            <a:ext cx="70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i="0">
                <a:solidFill>
                  <a:srgbClr val="777589"/>
                </a:solidFill>
                <a:latin typeface="Montserrat"/>
              </a:rPr>
              <a:t>Jan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7190" y="2011680"/>
            <a:ext cx="70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i="0">
                <a:solidFill>
                  <a:srgbClr val="777589"/>
                </a:solidFill>
                <a:latin typeface="Montserrat"/>
              </a:rPr>
              <a:t>Feb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2040" y="2011680"/>
            <a:ext cx="70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i="0">
                <a:solidFill>
                  <a:srgbClr val="777589"/>
                </a:solidFill>
                <a:latin typeface="Montserrat"/>
              </a:rPr>
              <a:t>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6890" y="2011680"/>
            <a:ext cx="70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i="0">
                <a:solidFill>
                  <a:srgbClr val="777589"/>
                </a:solidFill>
                <a:latin typeface="Montserrat"/>
              </a:rPr>
              <a:t>Apr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1740" y="2011680"/>
            <a:ext cx="70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i="0">
                <a:solidFill>
                  <a:srgbClr val="777589"/>
                </a:solidFill>
                <a:latin typeface="Montserrat"/>
              </a:rPr>
              <a:t>May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6590" y="2011680"/>
            <a:ext cx="70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i="0">
                <a:solidFill>
                  <a:srgbClr val="777589"/>
                </a:solidFill>
                <a:latin typeface="Montserrat"/>
              </a:rPr>
              <a:t>Jun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63240.0" y="2286000"/>
            <a:ext cx="0.0" cy="3840480"/>
          </a:xfrm>
          <a:prstGeom prst="line">
            <a:avLst/>
          </a:prstGeom>
          <a:ln w="9525">
            <a:solidFill>
              <a:srgbClr val="ED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77790.0" y="2286000"/>
            <a:ext cx="0.0" cy="3840480"/>
          </a:xfrm>
          <a:prstGeom prst="line">
            <a:avLst/>
          </a:prstGeom>
          <a:ln w="9525">
            <a:solidFill>
              <a:srgbClr val="ED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92340.0" y="2286000"/>
            <a:ext cx="0.0" cy="3840480"/>
          </a:xfrm>
          <a:prstGeom prst="line">
            <a:avLst/>
          </a:prstGeom>
          <a:ln w="9525">
            <a:solidFill>
              <a:srgbClr val="ED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406890.0" y="2286000"/>
            <a:ext cx="0.0" cy="3840480"/>
          </a:xfrm>
          <a:prstGeom prst="line">
            <a:avLst/>
          </a:prstGeom>
          <a:ln w="9525">
            <a:solidFill>
              <a:srgbClr val="ED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521440.0" y="2286000"/>
            <a:ext cx="0.0" cy="3840480"/>
          </a:xfrm>
          <a:prstGeom prst="line">
            <a:avLst/>
          </a:prstGeom>
          <a:ln w="9525">
            <a:solidFill>
              <a:srgbClr val="ED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2295144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PROJECT RAKSHAK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90672" y="2304288"/>
            <a:ext cx="2059686" cy="2148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2318004"/>
            <a:ext cx="18859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C1C"/>
                </a:solidFill>
                <a:latin typeface="Geist"/>
              </a:rPr>
              <a:t>Ignition: empanelment &amp; onboarding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95522" y="2574036"/>
            <a:ext cx="5583936" cy="2148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05250" y="2587752"/>
            <a:ext cx="541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C1C"/>
                </a:solidFill>
                <a:latin typeface="Geist"/>
              </a:rPr>
              <a:t>Audit waves (Tracks A/B/C)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05222" y="2843784"/>
            <a:ext cx="6288786" cy="2148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14950" y="2857500"/>
            <a:ext cx="61150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C1C"/>
                </a:solidFill>
                <a:latin typeface="Geist"/>
              </a:rPr>
              <a:t>DRSC submissions &amp; tracking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34322" y="3113532"/>
            <a:ext cx="2059686" cy="2148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44050" y="3127248"/>
            <a:ext cx="18859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C1C"/>
                </a:solidFill>
                <a:latin typeface="Geist"/>
              </a:rPr>
              <a:t>Finale + Audit Manual v1.0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42900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HIT &amp; RUN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90672" y="3438144"/>
            <a:ext cx="3469386" cy="2148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451860"/>
            <a:ext cx="32956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C1C"/>
                </a:solidFill>
                <a:latin typeface="Geist"/>
              </a:rPr>
              <a:t>Fix: district integration &amp; scheme audit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10072" y="3707892"/>
            <a:ext cx="4174236" cy="2148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19800" y="3721608"/>
            <a:ext cx="40005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C1C"/>
                </a:solidFill>
                <a:latin typeface="Geist"/>
              </a:rPr>
              <a:t>Pilot + map wave (8+ districts)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9772" y="3977640"/>
            <a:ext cx="4174236" cy="2148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29500" y="3991356"/>
            <a:ext cx="40005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C1C"/>
                </a:solidFill>
                <a:latin typeface="Geist"/>
              </a:rPr>
              <a:t>Accountability: report to MoRTH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29310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CIVIC &amp; GOVTECH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90672" y="4302252"/>
            <a:ext cx="4174236" cy="2148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0" y="4315968"/>
            <a:ext cx="40005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C1C"/>
                </a:solidFill>
                <a:latin typeface="Geist"/>
              </a:rPr>
              <a:t>SATARK: Gurugram, Pune, Ahmedabad go-lives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14922" y="4572000"/>
            <a:ext cx="4879086" cy="2148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4650" y="4585716"/>
            <a:ext cx="47053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C1C"/>
                </a:solidFill>
                <a:latin typeface="Geist"/>
              </a:rPr>
              <a:t>SATARK: scale wave to 30 cities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90672" y="4841748"/>
            <a:ext cx="8403336" cy="2148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4855464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C1C"/>
                </a:solidFill>
                <a:latin typeface="Geist"/>
              </a:rPr>
              <a:t>Data stack + govtech exploration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15721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BETS (SEED)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05222" y="5166360"/>
            <a:ext cx="4879086" cy="2148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14950" y="5180076"/>
            <a:ext cx="47053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C1C"/>
                </a:solidFill>
                <a:latin typeface="Geist"/>
              </a:rPr>
              <a:t>SSI: rubric pilot on ~100 schools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05222" y="5436108"/>
            <a:ext cx="4174236" cy="2148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14950" y="5449824"/>
            <a:ext cx="40005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C1C"/>
                </a:solidFill>
                <a:latin typeface="Geist"/>
              </a:rPr>
              <a:t>Gig: scoping study &amp; platform talks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75157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CAMPAIGN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05222" y="5760720"/>
            <a:ext cx="6288786" cy="2148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14950" y="5774436"/>
            <a:ext cx="61150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C1C"/>
                </a:solidFill>
                <a:latin typeface="Geist"/>
              </a:rPr>
              <a:t>'Safety is the New Swag' build &gt; peak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10819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1">
                <a:solidFill>
                  <a:srgbClr val="777589"/>
                </a:solidFill>
                <a:latin typeface="Geist"/>
              </a:rPr>
              <a:t>Running through every month: monthly field notes  ·  quarterly audit findings  ·  Expert Consortium meetings (Sep / Dec / Mar / Jun)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Rs 6.00 Cr,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71% into programmes.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C1C"/>
                </a:solidFill>
                <a:latin typeface="Geist"/>
              </a:rPr>
              <a:t>Project Rakshak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167128"/>
            <a:ext cx="4297680" cy="27432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7808" y="2148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Rs 1.85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C1C"/>
                </a:solidFill>
                <a:latin typeface="Geist"/>
              </a:rPr>
              <a:t>Trust 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670048"/>
            <a:ext cx="3507836" cy="27432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7964" y="26517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Rs 1.51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C1C"/>
                </a:solidFill>
                <a:latin typeface="Geist"/>
              </a:rPr>
              <a:t>Civic &amp; GovTech (SATARK)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172968"/>
            <a:ext cx="2323070" cy="27432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33198" y="31546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Rs 1.00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C1C"/>
                </a:solidFill>
                <a:latin typeface="Geist"/>
              </a:rPr>
              <a:t>Hit &amp; Run Compensation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675888"/>
            <a:ext cx="1393842" cy="27432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3970" y="3657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Rs 0.60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C1C"/>
                </a:solidFill>
                <a:latin typeface="Geist"/>
              </a:rPr>
              <a:t>Marketing Campaign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4178808"/>
            <a:ext cx="1393842" cy="27432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3970" y="4160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Rs 0.60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634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C1C"/>
                </a:solidFill>
                <a:latin typeface="Geist"/>
              </a:rPr>
              <a:t>Contingency (4%)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4681728"/>
            <a:ext cx="557536" cy="274320"/>
          </a:xfrm>
          <a:prstGeom prst="roundRect">
            <a:avLst/>
          </a:prstGeom>
          <a:solidFill>
            <a:srgbClr val="6A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67664" y="46634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Rs 0.24 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663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C1C"/>
                </a:solidFill>
                <a:latin typeface="Geist"/>
              </a:rPr>
              <a:t>Bets seed fund (SSI + Gig)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5184648"/>
            <a:ext cx="464614" cy="27432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4742" y="51663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Rs 0.20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79008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77589"/>
                </a:solidFill>
                <a:latin typeface="Geist"/>
              </a:rPr>
              <a:t>Programme spend Rs 4.25 Cr (71%)  ·  Trust Admin Rs 1.51 Cr (25%)  ·  Contingency Rs 0.24 Cr (4%)  ·  bets held to stage-gated seed funding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2011680"/>
            <a:ext cx="3047695" cy="411480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2286000"/>
            <a:ext cx="2407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00">
                <a:solidFill>
                  <a:srgbClr val="C8C0FF"/>
                </a:solidFill>
                <a:latin typeface="Montserrat"/>
              </a:rPr>
              <a:t>QUARTERLY PHASING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2697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Q1  Jul-Sep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291693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Rs 1.23 Cr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33558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Q2  Oct-Dec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57530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Rs 1.61 Cr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40142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Q3  Jan-Mar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42336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Rs 1.65 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467258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Q4  Apr-Jun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4892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Rs 1.52 Cr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23960" y="5486400"/>
            <a:ext cx="2407615" cy="0"/>
          </a:xfrm>
          <a:prstGeom prst="line">
            <a:avLst/>
          </a:prstGeom>
          <a:ln w="12700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823960" y="5596128"/>
            <a:ext cx="2407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C8C0FF"/>
                </a:solidFill>
                <a:latin typeface="Geist"/>
              </a:rPr>
              <a:t>Detail in the AOP budget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C8C0FF"/>
                </a:solidFill>
                <a:latin typeface="Geist"/>
              </a:rPr>
              <a:t>workbook (v4, formula-driven).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ENABLERS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The campaign and the backbone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behind the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4A35FF"/>
                </a:solidFill>
                <a:latin typeface="Montserrat"/>
              </a:rPr>
              <a:t>SAFETY IS THE NEW SWAG  ·  Rs 0.60 CR CAMPAIGN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3310128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apperboard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06040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98448" y="2596896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Media advocacy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Editorial partnerships, radio &amp; podcast integration, PSA distribution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1376" y="2377440"/>
            <a:ext cx="3310128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lay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606040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09744" y="2596896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Digital advocacy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999232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50 micro-influencers, branded short films, #SafeSwag digital IPs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41648"/>
            <a:ext cx="3310128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p-pin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70248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98448" y="426110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Offline awareness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63440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OOH in 3-4 cities, guerilla installations, event co-branding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51376" y="4041648"/>
            <a:ext cx="3310128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users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4270248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809744" y="426110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Community mobilization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4663440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College competitions, app-based engagement, real-life stories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0644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1">
                <a:solidFill>
                  <a:srgbClr val="777589"/>
                </a:solidFill>
                <a:latin typeface="Geist"/>
              </a:rPr>
              <a:t>All four campaign pillars are now funded lines (the prior draft budgeted only one of four).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2011680"/>
            <a:ext cx="3733495" cy="411480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286000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C8C0FF"/>
                </a:solidFill>
                <a:latin typeface="Montserrat"/>
              </a:rPr>
              <a:t>ORG BACKBONE  ·  RS 1.51 CR</a:t>
            </a:r>
          </a:p>
        </p:txBody>
      </p:sp>
      <p:pic>
        <p:nvPicPr>
          <p:cNvPr id="28" name="Picture 27" descr="users-round_C8C0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2743200"/>
            <a:ext cx="256032" cy="256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531352" y="2724912"/>
            <a:ext cx="2681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Core team salaries &amp; benefits - Rs 0.78 Cr</a:t>
            </a:r>
          </a:p>
        </p:txBody>
      </p:sp>
      <p:pic>
        <p:nvPicPr>
          <p:cNvPr id="30" name="Picture 29" descr="landmark_C8C0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3364992"/>
            <a:ext cx="256032" cy="25603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531352" y="3346704"/>
            <a:ext cx="2681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IRSC institutional support &amp; expert consultation - Rs 0.42 Cr</a:t>
            </a:r>
          </a:p>
        </p:txBody>
      </p:sp>
      <p:pic>
        <p:nvPicPr>
          <p:cNvPr id="32" name="Picture 31" descr="bot_C8C0FF_256_2.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3986784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31352" y="3968496"/>
            <a:ext cx="2681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IT, SaaS &amp; AI tooling (Workspace, Slack, Claude) - Rs 0.14 Cr</a:t>
            </a:r>
          </a:p>
        </p:txBody>
      </p:sp>
      <p:pic>
        <p:nvPicPr>
          <p:cNvPr id="34" name="Picture 33" descr="clipboard-check_C8C0FF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160" y="4608576"/>
            <a:ext cx="256032" cy="2560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31352" y="4590288"/>
            <a:ext cx="2681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M&amp;E, statutory &amp; impact audit - Rs 0.06 Cr</a:t>
            </a:r>
          </a:p>
        </p:txBody>
      </p:sp>
      <p:pic>
        <p:nvPicPr>
          <p:cNvPr id="36" name="Picture 35" descr="briefcase_C8C0FF_256_2.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60" y="5230368"/>
            <a:ext cx="256032" cy="2560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31352" y="5212080"/>
            <a:ext cx="2681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Travel, branding, compliance - Rs 0.11 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247120" y="320040"/>
            <a:ext cx="502920" cy="502920"/>
          </a:xfrm>
          <a:prstGeom prst="star4">
            <a:avLst/>
          </a:prstGeom>
          <a:solidFill>
            <a:srgbClr val="C8C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0927080" y="731520"/>
            <a:ext cx="292608" cy="292608"/>
          </a:xfrm>
          <a:prstGeom prst="star4">
            <a:avLst/>
          </a:prstGeom>
          <a:solidFill>
            <a:srgbClr val="C8C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103120" cy="290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C8C0FF"/>
                </a:solidFill>
                <a:latin typeface="Montserrat"/>
              </a:rPr>
              <a:t>WHAT SUCCESS LOOKS LIKE  ·  JUNE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Systems work because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C8C0FF"/>
                </a:solidFill>
                <a:latin typeface="Montserrat"/>
              </a:rPr>
              <a:t>we hold them accountable.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192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4A35FF_256_3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6499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" y="32918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Rakshak running inside institutions: consortium, Audit Manual v1.0, and a public dashboard tracking 75+ implementations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8620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4A35FF_256_3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31920"/>
            <a:ext cx="182880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385876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Claim pipeline fixed in two districts, piloted beyond them, and mapped in 8+ - a replication playbook, not a project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5312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4A35FF_256_3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98848"/>
            <a:ext cx="182880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4425696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SATARK live in 30 cities, 1,000+ interceptions logged, and a govtech pipeline positioning CFI as government's road-safety data layer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02005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4A35FF_256_3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65776"/>
            <a:ext cx="182880" cy="182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4992624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Two board-ready pilot designs that decide whether School Safety and Gig Rider become funded Year 3 programmes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58698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eck_4A35FF_256_3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32704"/>
            <a:ext cx="182880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5559552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An Expert Consortium, an Audit Manual, and a publishing cadence that outlive any single cohort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80">
                <a:solidFill>
                  <a:srgbClr val="C8C0FF"/>
                </a:solidFill>
                <a:latin typeface="Montserrat"/>
              </a:rPr>
              <a:t>CRASHFREE INDIA  ·  AOP 2026-27  ·  INTERNAL PLANNING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