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image" Target="../media/image19.jpg"/><Relationship Id="rId7" Type="http://schemas.openxmlformats.org/officeDocument/2006/relationships/image" Target="../media/image2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jpg"/><Relationship Id="rId7" Type="http://schemas.openxmlformats.org/officeDocument/2006/relationships/image" Target="../media/image31.png"/><Relationship Id="rId8" Type="http://schemas.openxmlformats.org/officeDocument/2006/relationships/image" Target="../media/image32.png"/><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35.png"/><Relationship Id="rId12"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9.png"/><Relationship Id="rId4" Type="http://schemas.openxmlformats.org/officeDocument/2006/relationships/image" Target="../media/image39.png"/><Relationship Id="rId5" Type="http://schemas.openxmlformats.org/officeDocument/2006/relationships/image" Target="../media/image4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1.jpg"/><Relationship Id="rId4" Type="http://schemas.openxmlformats.org/officeDocument/2006/relationships/image" Target="../media/image37.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8.png"/><Relationship Id="rId4" Type="http://schemas.openxmlformats.org/officeDocument/2006/relationships/image" Target="../media/image45.png"/><Relationship Id="rId5" Type="http://schemas.openxmlformats.org/officeDocument/2006/relationships/image" Target="../media/image4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10.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AUGUST 2026  ·  NEW DELHI</a:t>
            </a:r>
          </a:p>
        </p:txBody>
      </p:sp>
      <p:sp>
        <p:nvSpPr>
          <p:cNvPr id="5" name="TextBox 4"/>
          <p:cNvSpPr txBox="1"/>
          <p:nvPr/>
        </p:nvSpPr>
        <p:spPr>
          <a:xfrm>
            <a:off x="566928" y="1572768"/>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PRE-READ  ·  CRASHFREE INDIA × GOOGLE MAPS PLATFORM</a:t>
            </a:r>
          </a:p>
        </p:txBody>
      </p:sp>
      <p:sp>
        <p:nvSpPr>
          <p:cNvPr id="6" name="TextBox 5"/>
          <p:cNvSpPr txBox="1"/>
          <p:nvPr/>
        </p:nvSpPr>
        <p:spPr>
          <a:xfrm>
            <a:off x="566928" y="1956816"/>
            <a:ext cx="7589520" cy="777240"/>
          </a:xfrm>
          <a:prstGeom prst="rect">
            <a:avLst/>
          </a:prstGeom>
          <a:noFill/>
        </p:spPr>
        <p:txBody>
          <a:bodyPr wrap="square" lIns="0" rIns="0" tIns="0" bIns="0" anchor="t">
            <a:spAutoFit/>
          </a:bodyPr>
          <a:lstStyle/>
          <a:p>
            <a:pPr algn="l">
              <a:lnSpc>
                <a:spcPct val="100000"/>
              </a:lnSpc>
            </a:pPr>
            <a:r>
              <a:rPr sz="4600" b="1" i="0">
                <a:solidFill>
                  <a:srgbClr val="16181D"/>
                </a:solidFill>
                <a:latin typeface="Montserrat"/>
              </a:rPr>
              <a:t>Crashfree India</a:t>
            </a:r>
          </a:p>
        </p:txBody>
      </p:sp>
      <p:sp>
        <p:nvSpPr>
          <p:cNvPr id="7" name="TextBox 6"/>
          <p:cNvSpPr txBox="1"/>
          <p:nvPr/>
        </p:nvSpPr>
        <p:spPr>
          <a:xfrm>
            <a:off x="566928" y="2834640"/>
            <a:ext cx="7589520" cy="777240"/>
          </a:xfrm>
          <a:prstGeom prst="rect">
            <a:avLst/>
          </a:prstGeom>
          <a:noFill/>
        </p:spPr>
        <p:txBody>
          <a:bodyPr wrap="square" lIns="0" rIns="0" tIns="0" bIns="0" anchor="t">
            <a:spAutoFit/>
          </a:bodyPr>
          <a:lstStyle/>
          <a:p>
            <a:pPr algn="l">
              <a:lnSpc>
                <a:spcPct val="125000"/>
              </a:lnSpc>
            </a:pPr>
            <a:r>
              <a:rPr sz="1650" b="1" i="0">
                <a:solidFill>
                  <a:srgbClr val="4A35FF"/>
                </a:solidFill>
                <a:latin typeface="Montserrat"/>
              </a:rPr>
              <a:t>Our public road-safety products, and where</a:t>
            </a:r>
          </a:p>
          <a:p>
            <a:pPr algn="l">
              <a:lnSpc>
                <a:spcPct val="125000"/>
              </a:lnSpc>
            </a:pPr>
            <a:r>
              <a:rPr sz="1650" b="1" i="0">
                <a:solidFill>
                  <a:srgbClr val="4A35FF"/>
                </a:solidFill>
                <a:latin typeface="Montserrat"/>
              </a:rPr>
              <a:t>Roads Management Insights fits them</a:t>
            </a:r>
          </a:p>
        </p:txBody>
      </p:sp>
      <p:sp>
        <p:nvSpPr>
          <p:cNvPr id="8" name="Oval 7"/>
          <p:cNvSpPr/>
          <p:nvPr/>
        </p:nvSpPr>
        <p:spPr>
          <a:xfrm>
            <a:off x="566928" y="4251960"/>
            <a:ext cx="365760" cy="365760"/>
          </a:xfrm>
          <a:prstGeom prst="ellipse">
            <a:avLst/>
          </a:prstGeom>
          <a:solidFill>
            <a:srgbClr val="EFEDFF"/>
          </a:solidFill>
          <a:ln>
            <a:noFill/>
          </a:ln>
          <a:effectLst/>
        </p:spPr>
        <p:txBody>
          <a:bodyPr rtlCol="0" anchor="ctr"/>
          <a:lstStyle/>
          <a:p>
            <a:pPr algn="ctr"/>
          </a:p>
        </p:txBody>
      </p:sp>
      <p:pic>
        <p:nvPicPr>
          <p:cNvPr id="9" name="Picture 8" descr="database_4A35FF_256_2.0.png"/>
          <p:cNvPicPr>
            <a:picLocks noChangeAspect="1"/>
          </p:cNvPicPr>
          <p:nvPr/>
        </p:nvPicPr>
        <p:blipFill>
          <a:blip r:embed="rId3"/>
          <a:stretch>
            <a:fillRect/>
          </a:stretch>
        </p:blipFill>
        <p:spPr>
          <a:xfrm>
            <a:off x="654710" y="4339742"/>
            <a:ext cx="190195" cy="190195"/>
          </a:xfrm>
          <a:prstGeom prst="rect">
            <a:avLst/>
          </a:prstGeom>
        </p:spPr>
      </p:pic>
      <p:sp>
        <p:nvSpPr>
          <p:cNvPr id="10" name="TextBox 9"/>
          <p:cNvSpPr txBox="1"/>
          <p:nvPr/>
        </p:nvSpPr>
        <p:spPr>
          <a:xfrm>
            <a:off x="1078992" y="4297680"/>
            <a:ext cx="731520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Live public data products: defect repository, school safety index, open dashboards</a:t>
            </a:r>
          </a:p>
        </p:txBody>
      </p:sp>
      <p:sp>
        <p:nvSpPr>
          <p:cNvPr id="11" name="Oval 10"/>
          <p:cNvSpPr/>
          <p:nvPr/>
        </p:nvSpPr>
        <p:spPr>
          <a:xfrm>
            <a:off x="566928" y="4818888"/>
            <a:ext cx="365760" cy="365760"/>
          </a:xfrm>
          <a:prstGeom prst="ellipse">
            <a:avLst/>
          </a:prstGeom>
          <a:solidFill>
            <a:srgbClr val="EFEDFF"/>
          </a:solidFill>
          <a:ln>
            <a:noFill/>
          </a:ln>
          <a:effectLst/>
        </p:spPr>
        <p:txBody>
          <a:bodyPr rtlCol="0" anchor="ctr"/>
          <a:lstStyle/>
          <a:p>
            <a:pPr algn="ctr"/>
          </a:p>
        </p:txBody>
      </p:sp>
      <p:pic>
        <p:nvPicPr>
          <p:cNvPr id="12" name="Picture 11" descr="landmark_4A35FF_256_2.0.png"/>
          <p:cNvPicPr>
            <a:picLocks noChangeAspect="1"/>
          </p:cNvPicPr>
          <p:nvPr/>
        </p:nvPicPr>
        <p:blipFill>
          <a:blip r:embed="rId4"/>
          <a:stretch>
            <a:fillRect/>
          </a:stretch>
        </p:blipFill>
        <p:spPr>
          <a:xfrm>
            <a:off x="654710" y="4906670"/>
            <a:ext cx="190195" cy="190195"/>
          </a:xfrm>
          <a:prstGeom prst="rect">
            <a:avLst/>
          </a:prstGeom>
        </p:spPr>
      </p:pic>
      <p:sp>
        <p:nvSpPr>
          <p:cNvPr id="13" name="TextBox 12"/>
          <p:cNvSpPr txBox="1"/>
          <p:nvPr/>
        </p:nvSpPr>
        <p:spPr>
          <a:xfrm>
            <a:off x="1078992" y="4864608"/>
            <a:ext cx="731520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Working inside government: 4 district committees, police MoUs, 25+ written approvals</a:t>
            </a:r>
          </a:p>
        </p:txBody>
      </p:sp>
      <p:sp>
        <p:nvSpPr>
          <p:cNvPr id="14" name="Oval 13"/>
          <p:cNvSpPr/>
          <p:nvPr/>
        </p:nvSpPr>
        <p:spPr>
          <a:xfrm>
            <a:off x="566928" y="5385816"/>
            <a:ext cx="365760" cy="365760"/>
          </a:xfrm>
          <a:prstGeom prst="ellipse">
            <a:avLst/>
          </a:prstGeom>
          <a:solidFill>
            <a:srgbClr val="EFEDFF"/>
          </a:solidFill>
          <a:ln>
            <a:noFill/>
          </a:ln>
          <a:effectLst/>
        </p:spPr>
        <p:txBody>
          <a:bodyPr rtlCol="0" anchor="ctr"/>
          <a:lstStyle/>
          <a:p>
            <a:pPr algn="ctr"/>
          </a:p>
        </p:txBody>
      </p:sp>
      <p:pic>
        <p:nvPicPr>
          <p:cNvPr id="15" name="Picture 14" descr="rocket_4A35FF_256_2.0.png"/>
          <p:cNvPicPr>
            <a:picLocks noChangeAspect="1"/>
          </p:cNvPicPr>
          <p:nvPr/>
        </p:nvPicPr>
        <p:blipFill>
          <a:blip r:embed="rId5"/>
          <a:stretch>
            <a:fillRect/>
          </a:stretch>
        </p:blipFill>
        <p:spPr>
          <a:xfrm>
            <a:off x="654710" y="5473598"/>
            <a:ext cx="190195" cy="190195"/>
          </a:xfrm>
          <a:prstGeom prst="rect">
            <a:avLst/>
          </a:prstGeom>
        </p:spPr>
      </p:pic>
      <p:sp>
        <p:nvSpPr>
          <p:cNvPr id="16" name="TextBox 15"/>
          <p:cNvSpPr txBox="1"/>
          <p:nvPr/>
        </p:nvSpPr>
        <p:spPr>
          <a:xfrm>
            <a:off x="1078992" y="5431536"/>
            <a:ext cx="731520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A pilot ready to start: cloud project configured, Jaipur corridors defined from police records</a:t>
            </a:r>
          </a:p>
        </p:txBody>
      </p:sp>
      <p:sp>
        <p:nvSpPr>
          <p:cNvPr id="17" name="TextBox 16"/>
          <p:cNvSpPr txBox="1"/>
          <p:nvPr/>
        </p:nvSpPr>
        <p:spPr>
          <a:xfrm>
            <a:off x="566928" y="6309360"/>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Prepared for the Roads Management Insights team, Google Maps Platform</a:t>
            </a:r>
          </a:p>
        </p:txBody>
      </p:sp>
      <p:sp>
        <p:nvSpPr>
          <p:cNvPr id="18" name="TextBox 17"/>
          <p:cNvSpPr txBox="1"/>
          <p:nvPr/>
        </p:nvSpPr>
        <p:spPr>
          <a:xfrm>
            <a:off x="9247327" y="630936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19" name="Picture 18" descr="defect_live.png_3.55x1.60_0.00.jpg"/>
          <p:cNvPicPr>
            <a:picLocks noChangeAspect="1"/>
          </p:cNvPicPr>
          <p:nvPr/>
        </p:nvPicPr>
        <p:blipFill>
          <a:blip r:embed="rId6"/>
          <a:stretch>
            <a:fillRect/>
          </a:stretch>
        </p:blipFill>
        <p:spPr>
          <a:xfrm>
            <a:off x="8366760" y="1051560"/>
            <a:ext cx="3246120" cy="1463040"/>
          </a:xfrm>
          <a:prstGeom prst="rect">
            <a:avLst/>
          </a:prstGeom>
        </p:spPr>
      </p:pic>
      <p:sp>
        <p:nvSpPr>
          <p:cNvPr id="20" name="Rectangle 19"/>
          <p:cNvSpPr/>
          <p:nvPr/>
        </p:nvSpPr>
        <p:spPr>
          <a:xfrm>
            <a:off x="8366760" y="1051560"/>
            <a:ext cx="3246120" cy="146304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8366760" y="2560320"/>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The Defect Repository, live, 3 Aug 2026.</a:t>
            </a:r>
          </a:p>
        </p:txBody>
      </p:sp>
      <p:pic>
        <p:nvPicPr>
          <p:cNvPr id="22" name="Picture 21" descr="slide_ssi_index.png"/>
          <p:cNvPicPr>
            <a:picLocks noChangeAspect="1"/>
          </p:cNvPicPr>
          <p:nvPr/>
        </p:nvPicPr>
        <p:blipFill>
          <a:blip r:embed="rId7"/>
          <a:stretch>
            <a:fillRect/>
          </a:stretch>
        </p:blipFill>
        <p:spPr>
          <a:xfrm>
            <a:off x="8366760" y="2926080"/>
            <a:ext cx="3246120" cy="2536031"/>
          </a:xfrm>
          <a:prstGeom prst="rect">
            <a:avLst/>
          </a:prstGeom>
        </p:spPr>
      </p:pic>
      <p:sp>
        <p:nvSpPr>
          <p:cNvPr id="23" name="Rectangle 22"/>
          <p:cNvSpPr/>
          <p:nvPr/>
        </p:nvSpPr>
        <p:spPr>
          <a:xfrm>
            <a:off x="8366760" y="2926080"/>
            <a:ext cx="3246120" cy="2536031"/>
          </a:xfrm>
          <a:prstGeom prst="rect">
            <a:avLst/>
          </a:prstGeom>
          <a:noFill/>
          <a:ln w="12700">
            <a:solidFill>
              <a:srgbClr val="E8E9EE"/>
            </a:solidFill>
          </a:ln>
          <a:effectLst/>
        </p:spPr>
        <p:txBody>
          <a:bodyPr rtlCol="0" anchor="ctr"/>
          <a:lstStyle/>
          <a:p>
            <a:pPr algn="ctr"/>
          </a:p>
        </p:txBody>
      </p:sp>
      <p:sp>
        <p:nvSpPr>
          <p:cNvPr id="24" name="TextBox 23"/>
          <p:cNvSpPr txBox="1"/>
          <p:nvPr/>
        </p:nvSpPr>
        <p:spPr>
          <a:xfrm>
            <a:off x="8366760" y="5507831"/>
            <a:ext cx="324612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School Safety Index, Delhi NCR 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PRE-READ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a:t>
            </a:r>
            <a:r>
              <a:rPr sz="2250" b="1" i="0">
                <a:solidFill>
                  <a:srgbClr val="4A35FF"/>
                </a:solidFill>
                <a:latin typeface="Montserrat"/>
              </a:rPr>
              <a:t>from who we are to a ready pilot</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building-2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691640"/>
            <a:ext cx="475488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About us</a:t>
            </a:r>
          </a:p>
        </p:txBody>
      </p:sp>
      <p:sp>
        <p:nvSpPr>
          <p:cNvPr id="12" name="TextBox 11"/>
          <p:cNvSpPr txBox="1"/>
          <p:nvPr/>
        </p:nvSpPr>
        <p:spPr>
          <a:xfrm>
            <a:off x="2103120" y="1993392"/>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Who we are, and the public products we already run.</a:t>
            </a:r>
          </a:p>
        </p:txBody>
      </p:sp>
      <p:sp>
        <p:nvSpPr>
          <p:cNvPr id="13" name="TextBox 12"/>
          <p:cNvSpPr txBox="1"/>
          <p:nvPr/>
        </p:nvSpPr>
        <p:spPr>
          <a:xfrm>
            <a:off x="10024567" y="1792224"/>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03 – 05</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landmark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24328"/>
            <a:ext cx="475488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Where we work with government</a:t>
            </a:r>
          </a:p>
        </p:txBody>
      </p:sp>
      <p:sp>
        <p:nvSpPr>
          <p:cNvPr id="20" name="TextBox 19"/>
          <p:cNvSpPr txBox="1"/>
          <p:nvPr/>
        </p:nvSpPr>
        <p:spPr>
          <a:xfrm>
            <a:off x="2103120" y="2926080"/>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District committees, police partnerships and written authority approvals.</a:t>
            </a:r>
          </a:p>
        </p:txBody>
      </p:sp>
      <p:sp>
        <p:nvSpPr>
          <p:cNvPr id="21" name="TextBox 20"/>
          <p:cNvSpPr txBox="1"/>
          <p:nvPr/>
        </p:nvSpPr>
        <p:spPr>
          <a:xfrm>
            <a:off x="10024567" y="2724912"/>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06</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gauge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57016"/>
            <a:ext cx="475488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Why speed data, and our read of RMI</a:t>
            </a:r>
          </a:p>
        </p:txBody>
      </p:sp>
      <p:sp>
        <p:nvSpPr>
          <p:cNvPr id="28" name="TextBox 27"/>
          <p:cNvSpPr txBox="1"/>
          <p:nvPr/>
        </p:nvSpPr>
        <p:spPr>
          <a:xfrm>
            <a:off x="2103120" y="3858768"/>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evidence on speed, what we understand RMI provides, what we would like to learn.</a:t>
            </a:r>
          </a:p>
        </p:txBody>
      </p:sp>
      <p:sp>
        <p:nvSpPr>
          <p:cNvPr id="29" name="TextBox 28"/>
          <p:cNvSpPr txBox="1"/>
          <p:nvPr/>
        </p:nvSpPr>
        <p:spPr>
          <a:xfrm>
            <a:off x="10024567" y="3657600"/>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07 – 08</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layers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89704"/>
            <a:ext cx="475488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Three product directions</a:t>
            </a:r>
          </a:p>
        </p:txBody>
      </p:sp>
      <p:sp>
        <p:nvSpPr>
          <p:cNvPr id="36" name="TextBox 35"/>
          <p:cNvSpPr txBox="1"/>
          <p:nvPr/>
        </p:nvSpPr>
        <p:spPr>
          <a:xfrm>
            <a:off x="2103120" y="4791456"/>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Defect Repository, the School Safety Index, and an exploratory enforcement direction.</a:t>
            </a:r>
          </a:p>
        </p:txBody>
      </p:sp>
      <p:sp>
        <p:nvSpPr>
          <p:cNvPr id="37" name="TextBox 36"/>
          <p:cNvSpPr txBox="1"/>
          <p:nvPr/>
        </p:nvSpPr>
        <p:spPr>
          <a:xfrm>
            <a:off x="10024567" y="4590288"/>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09 – 11</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ndshake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22392"/>
            <a:ext cx="475488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A ready pilot, and this call</a:t>
            </a:r>
          </a:p>
        </p:txBody>
      </p:sp>
      <p:sp>
        <p:nvSpPr>
          <p:cNvPr id="44" name="TextBox 43"/>
          <p:cNvSpPr txBox="1"/>
          <p:nvPr/>
        </p:nvSpPr>
        <p:spPr>
          <a:xfrm>
            <a:off x="2103120" y="5724144"/>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What is already configured, the pilot we propose, and the questions we bring.</a:t>
            </a:r>
          </a:p>
        </p:txBody>
      </p:sp>
      <p:sp>
        <p:nvSpPr>
          <p:cNvPr id="45" name="TextBox 44"/>
          <p:cNvSpPr txBox="1"/>
          <p:nvPr/>
        </p:nvSpPr>
        <p:spPr>
          <a:xfrm>
            <a:off x="10024567" y="5522976"/>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12 – 13</a:t>
            </a:r>
          </a:p>
        </p:txBody>
      </p:sp>
      <p:cxnSp>
        <p:nvCxnSpPr>
          <p:cNvPr id="46" name="Connector 45"/>
          <p:cNvCxnSpPr/>
          <p:nvPr/>
        </p:nvCxnSpPr>
        <p:spPr>
          <a:xfrm>
            <a:off x="566928" y="6455664"/>
            <a:ext cx="11057839" cy="0"/>
          </a:xfrm>
          <a:prstGeom prst="line">
            <a:avLst/>
          </a:prstGeom>
          <a:ln w="9525">
            <a:solidFill>
              <a:srgbClr val="E8E9EE"/>
            </a:solidFill>
          </a:ln>
          <a:effectLst/>
        </p:spPr>
      </p:cxnSp>
      <p:sp>
        <p:nvSpPr>
          <p:cNvPr id="47" name="TextBox 46"/>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48" name="TextBox 47"/>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IRC codes and MoRTH checklists.</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Every product in this pre-read is live, public and free: </a:t>
            </a:r>
            <a:r>
              <a:rPr sz="1150" b="0" i="0">
                <a:solidFill>
                  <a:srgbClr val="4A35FF"/>
                </a:solidFill>
                <a:latin typeface="Geist"/>
              </a:rPr>
              <a:t>built once, used by authorities every week, and designed to be shared.</a:t>
            </a:r>
          </a:p>
        </p:txBody>
      </p:sp>
      <p:pic>
        <p:nvPicPr>
          <p:cNvPr id="26" name="Picture 25" descr="cfi_map_dots.png"/>
          <p:cNvPicPr>
            <a:picLocks noChangeAspect="1"/>
          </p:cNvPicPr>
          <p:nvPr/>
        </p:nvPicPr>
        <p:blipFill>
          <a:blip r:embed="rId6"/>
          <a:stretch>
            <a:fillRect/>
          </a:stretch>
        </p:blipFill>
        <p:spPr>
          <a:xfrm>
            <a:off x="8092440" y="1965960"/>
            <a:ext cx="3291840" cy="3911357"/>
          </a:xfrm>
          <a:prstGeom prst="rect">
            <a:avLst/>
          </a:prstGeom>
        </p:spPr>
      </p:pic>
      <p:sp>
        <p:nvSpPr>
          <p:cNvPr id="27" name="Rectangle 26"/>
          <p:cNvSpPr/>
          <p:nvPr/>
        </p:nvSpPr>
        <p:spPr>
          <a:xfrm>
            <a:off x="8092440" y="196596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092440" y="592303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WHAT WE RUN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15 in implementation</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25.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slide_ssi_school.png_3.95x1.28_0.00.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School Safety Index</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Public grading of school-zone road safety</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3,814 Delhi NCR schools mapped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ideathon_winners.jpg_3.95x1.28_0.25.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Live public data platforms,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Each platform turns a scattered public record into structured, citable evidence. Both screenshots are live captures.</a:t>
            </a:r>
          </a:p>
        </p:txBody>
      </p:sp>
      <p:pic>
        <p:nvPicPr>
          <p:cNvPr id="8" name="Picture 7" descr="defect_live.png_6.00x2.62_0.00.jpg"/>
          <p:cNvPicPr>
            <a:picLocks noChangeAspect="1"/>
          </p:cNvPicPr>
          <p:nvPr/>
        </p:nvPicPr>
        <p:blipFill>
          <a:blip r:embed="rId2"/>
          <a:stretch>
            <a:fillRect/>
          </a:stretch>
        </p:blipFill>
        <p:spPr>
          <a:xfrm>
            <a:off x="566928" y="1938528"/>
            <a:ext cx="5486400" cy="2395728"/>
          </a:xfrm>
          <a:prstGeom prst="rect">
            <a:avLst/>
          </a:prstGeom>
        </p:spPr>
      </p:pic>
      <p:sp>
        <p:nvSpPr>
          <p:cNvPr id="9" name="Rectangle 8"/>
          <p:cNvSpPr/>
          <p:nvPr/>
        </p:nvSpPr>
        <p:spPr>
          <a:xfrm>
            <a:off x="566928" y="1938528"/>
            <a:ext cx="5486400" cy="2395728"/>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Road-Infrastructure Defect Repository, live 3 Aug 2026: 502 locations, 618 public incidents, 102 deaths and 302 injuries on record.</a:t>
            </a:r>
          </a:p>
        </p:txBody>
      </p:sp>
      <p:pic>
        <p:nvPicPr>
          <p:cNvPr id="11" name="Picture 10" descr="parliament_live.png_6.00x2.62_0.00.jpg"/>
          <p:cNvPicPr>
            <a:picLocks noChangeAspect="1"/>
          </p:cNvPicPr>
          <p:nvPr/>
        </p:nvPicPr>
        <p:blipFill>
          <a:blip r:embed="rId3"/>
          <a:stretch>
            <a:fillRect/>
          </a:stretch>
        </p:blipFill>
        <p:spPr>
          <a:xfrm>
            <a:off x="6144768" y="1938528"/>
            <a:ext cx="5486400" cy="2395728"/>
          </a:xfrm>
          <a:prstGeom prst="rect">
            <a:avLst/>
          </a:prstGeom>
        </p:spPr>
      </p:pic>
      <p:sp>
        <p:nvSpPr>
          <p:cNvPr id="12" name="Rectangle 11"/>
          <p:cNvSpPr/>
          <p:nvPr/>
        </p:nvSpPr>
        <p:spPr>
          <a:xfrm>
            <a:off x="6144768" y="1938528"/>
            <a:ext cx="5486400" cy="239572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614476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in Parliament: all 1,444 questions since 2014 across four ministries, refreshed continuously.</a:t>
            </a:r>
          </a:p>
        </p:txBody>
      </p:sp>
      <p:sp>
        <p:nvSpPr>
          <p:cNvPr id="14" name="Rounded Rectangle 13"/>
          <p:cNvSpPr/>
          <p:nvPr/>
        </p:nvSpPr>
        <p:spPr>
          <a:xfrm>
            <a:off x="56692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13232" y="5102352"/>
            <a:ext cx="365760" cy="365760"/>
          </a:xfrm>
          <a:prstGeom prst="ellipse">
            <a:avLst/>
          </a:prstGeom>
          <a:solidFill>
            <a:srgbClr val="EFEDFF"/>
          </a:solidFill>
          <a:ln>
            <a:noFill/>
          </a:ln>
          <a:effectLst/>
        </p:spPr>
        <p:txBody>
          <a:bodyPr rtlCol="0" anchor="ctr"/>
          <a:lstStyle/>
          <a:p>
            <a:pPr algn="ctr"/>
          </a:p>
        </p:txBody>
      </p:sp>
      <p:pic>
        <p:nvPicPr>
          <p:cNvPr id="16" name="Picture 15" descr="scale_4A35FF_256_2.0.png"/>
          <p:cNvPicPr>
            <a:picLocks noChangeAspect="1"/>
          </p:cNvPicPr>
          <p:nvPr/>
        </p:nvPicPr>
        <p:blipFill>
          <a:blip r:embed="rId4"/>
          <a:stretch>
            <a:fillRect/>
          </a:stretch>
        </p:blipFill>
        <p:spPr>
          <a:xfrm>
            <a:off x="801014" y="5190134"/>
            <a:ext cx="190195" cy="190195"/>
          </a:xfrm>
          <a:prstGeom prst="rect">
            <a:avLst/>
          </a:prstGeom>
        </p:spPr>
      </p:pic>
      <p:sp>
        <p:nvSpPr>
          <p:cNvPr id="17" name="TextBox 16"/>
          <p:cNvSpPr txBox="1"/>
          <p:nvPr/>
        </p:nvSpPr>
        <p:spPr>
          <a:xfrm>
            <a:off x="118872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Supreme Court Litigation Tracker</a:t>
            </a:r>
          </a:p>
        </p:txBody>
      </p:sp>
      <p:sp>
        <p:nvSpPr>
          <p:cNvPr id="18" name="Rounded Rectangle 17"/>
          <p:cNvSpPr/>
          <p:nvPr/>
        </p:nvSpPr>
        <p:spPr>
          <a:xfrm>
            <a:off x="4572000" y="5093208"/>
            <a:ext cx="1353312" cy="292608"/>
          </a:xfrm>
          <a:prstGeom prst="roundRect">
            <a:avLst>
              <a:gd name="adj" fmla="val 50000"/>
            </a:avLst>
          </a:prstGeom>
          <a:solidFill>
            <a:srgbClr val="EFEDFF"/>
          </a:solidFill>
          <a:ln>
            <a:noFill/>
          </a:ln>
          <a:effectLst/>
        </p:spPr>
        <p:txBody>
          <a:bodyPr rtlCol="0" anchor="ctr"/>
          <a:lstStyle/>
          <a:p>
            <a:pPr algn="ctr"/>
          </a:p>
        </p:txBody>
      </p:sp>
      <p:sp>
        <p:nvSpPr>
          <p:cNvPr id="19" name="TextBox 18"/>
          <p:cNvSpPr txBox="1"/>
          <p:nvPr/>
        </p:nvSpPr>
        <p:spPr>
          <a:xfrm>
            <a:off x="4590288" y="5093208"/>
            <a:ext cx="1316736" cy="292608"/>
          </a:xfrm>
          <a:prstGeom prst="rect">
            <a:avLst/>
          </a:prstGeom>
          <a:noFill/>
        </p:spPr>
        <p:txBody>
          <a:bodyPr wrap="square" lIns="0" rIns="0" tIns="0" bIns="0" anchor="ctr">
            <a:spAutoFit/>
          </a:bodyPr>
          <a:lstStyle/>
          <a:p>
            <a:pPr algn="ctr">
              <a:lnSpc>
                <a:spcPct val="100000"/>
              </a:lnSpc>
            </a:pPr>
            <a:r>
              <a:rPr sz="700" b="1" i="0">
                <a:solidFill>
                  <a:srgbClr val="4A35FF"/>
                </a:solidFill>
                <a:latin typeface="Montserrat"/>
              </a:rPr>
              <a:t>WEEKLY · LIVE</a:t>
            </a:r>
          </a:p>
        </p:txBody>
      </p:sp>
      <p:sp>
        <p:nvSpPr>
          <p:cNvPr id="20" name="TextBox 19"/>
          <p:cNvSpPr txBox="1"/>
          <p:nvPr/>
        </p:nvSpPr>
        <p:spPr>
          <a:xfrm>
            <a:off x="71323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Every systemic road-safety matter before the Supreme Court, orders indexed, precedent judgments digested, refreshed every Tuesday.</a:t>
            </a:r>
          </a:p>
        </p:txBody>
      </p:sp>
      <p:pic>
        <p:nvPicPr>
          <p:cNvPr id="21" name="Picture 20" descr="strip_sctracker.png"/>
          <p:cNvPicPr>
            <a:picLocks noChangeAspect="1"/>
          </p:cNvPicPr>
          <p:nvPr/>
        </p:nvPicPr>
        <p:blipFill>
          <a:blip r:embed="rId5"/>
          <a:stretch>
            <a:fillRect/>
          </a:stretch>
        </p:blipFill>
        <p:spPr>
          <a:xfrm>
            <a:off x="4059936" y="5522976"/>
            <a:ext cx="1847088" cy="362006"/>
          </a:xfrm>
          <a:prstGeom prst="rect">
            <a:avLst/>
          </a:prstGeom>
        </p:spPr>
      </p:pic>
      <p:sp>
        <p:nvSpPr>
          <p:cNvPr id="22" name="Rounded Rectangle 21"/>
          <p:cNvSpPr/>
          <p:nvPr/>
        </p:nvSpPr>
        <p:spPr>
          <a:xfrm>
            <a:off x="614476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3" name="Oval 22"/>
          <p:cNvSpPr/>
          <p:nvPr/>
        </p:nvSpPr>
        <p:spPr>
          <a:xfrm>
            <a:off x="6291072" y="5102352"/>
            <a:ext cx="365760" cy="365760"/>
          </a:xfrm>
          <a:prstGeom prst="ellipse">
            <a:avLst/>
          </a:prstGeom>
          <a:solidFill>
            <a:srgbClr val="FDF3E3"/>
          </a:solidFill>
          <a:ln>
            <a:noFill/>
          </a:ln>
          <a:effectLst/>
        </p:spPr>
        <p:txBody>
          <a:bodyPr rtlCol="0" anchor="ctr"/>
          <a:lstStyle/>
          <a:p>
            <a:pPr algn="ctr"/>
          </a:p>
        </p:txBody>
      </p:sp>
      <p:pic>
        <p:nvPicPr>
          <p:cNvPr id="24" name="Picture 23" descr="bar-chart-3_E58900_256_2.0.png"/>
          <p:cNvPicPr>
            <a:picLocks noChangeAspect="1"/>
          </p:cNvPicPr>
          <p:nvPr/>
        </p:nvPicPr>
        <p:blipFill>
          <a:blip r:embed="rId6"/>
          <a:stretch>
            <a:fillRect/>
          </a:stretch>
        </p:blipFill>
        <p:spPr>
          <a:xfrm>
            <a:off x="6378854" y="5190134"/>
            <a:ext cx="190195" cy="190195"/>
          </a:xfrm>
          <a:prstGeom prst="rect">
            <a:avLst/>
          </a:prstGeom>
        </p:spPr>
      </p:pic>
      <p:sp>
        <p:nvSpPr>
          <p:cNvPr id="25" name="TextBox 24"/>
          <p:cNvSpPr txBox="1"/>
          <p:nvPr/>
        </p:nvSpPr>
        <p:spPr>
          <a:xfrm>
            <a:off x="676656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Crash Data Dashboard</a:t>
            </a:r>
          </a:p>
        </p:txBody>
      </p:sp>
      <p:sp>
        <p:nvSpPr>
          <p:cNvPr id="26" name="Rounded Rectangle 25"/>
          <p:cNvSpPr/>
          <p:nvPr/>
        </p:nvSpPr>
        <p:spPr>
          <a:xfrm>
            <a:off x="10149840" y="5093208"/>
            <a:ext cx="1353312" cy="292608"/>
          </a:xfrm>
          <a:prstGeom prst="roundRect">
            <a:avLst>
              <a:gd name="adj" fmla="val 50000"/>
            </a:avLst>
          </a:prstGeom>
          <a:solidFill>
            <a:srgbClr val="FDF3E3"/>
          </a:solidFill>
          <a:ln>
            <a:noFill/>
          </a:ln>
          <a:effectLst/>
        </p:spPr>
        <p:txBody>
          <a:bodyPr rtlCol="0" anchor="ctr"/>
          <a:lstStyle/>
          <a:p>
            <a:pPr algn="ctr"/>
          </a:p>
        </p:txBody>
      </p:sp>
      <p:sp>
        <p:nvSpPr>
          <p:cNvPr id="27" name="TextBox 26"/>
          <p:cNvSpPr txBox="1"/>
          <p:nvPr/>
        </p:nvSpPr>
        <p:spPr>
          <a:xfrm>
            <a:off x="10168128" y="5093208"/>
            <a:ext cx="1316736" cy="292608"/>
          </a:xfrm>
          <a:prstGeom prst="rect">
            <a:avLst/>
          </a:prstGeom>
          <a:noFill/>
        </p:spPr>
        <p:txBody>
          <a:bodyPr wrap="square" lIns="0" rIns="0" tIns="0" bIns="0" anchor="ctr">
            <a:spAutoFit/>
          </a:bodyPr>
          <a:lstStyle/>
          <a:p>
            <a:pPr algn="ctr">
              <a:lnSpc>
                <a:spcPct val="100000"/>
              </a:lnSpc>
            </a:pPr>
            <a:r>
              <a:rPr sz="700" b="1" i="0">
                <a:solidFill>
                  <a:srgbClr val="E58900"/>
                </a:solidFill>
                <a:latin typeface="Montserrat"/>
              </a:rPr>
              <a:t>ANNUAL · OPEN DATA</a:t>
            </a:r>
          </a:p>
        </p:txBody>
      </p:sp>
      <p:sp>
        <p:nvSpPr>
          <p:cNvPr id="28" name="TextBox 27"/>
          <p:cNvSpPr txBox="1"/>
          <p:nvPr/>
        </p:nvSpPr>
        <p:spPr>
          <a:xfrm>
            <a:off x="629107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MoRTH's annual 'Road Accidents in India' books as a usable product: report cards for 36 states and 50 cities, open licence (CC-BY).</a:t>
            </a:r>
          </a:p>
        </p:txBody>
      </p:sp>
      <p:pic>
        <p:nvPicPr>
          <p:cNvPr id="29" name="Picture 28" descr="strip_crash.png"/>
          <p:cNvPicPr>
            <a:picLocks noChangeAspect="1"/>
          </p:cNvPicPr>
          <p:nvPr/>
        </p:nvPicPr>
        <p:blipFill>
          <a:blip r:embed="rId7"/>
          <a:stretch>
            <a:fillRect/>
          </a:stretch>
        </p:blipFill>
        <p:spPr>
          <a:xfrm>
            <a:off x="9637776" y="5522976"/>
            <a:ext cx="1847088" cy="362006"/>
          </a:xfrm>
          <a:prstGeom prst="rect">
            <a:avLst/>
          </a:prstGeom>
        </p:spPr>
      </p:pic>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GOVERNMENT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WHERE WE WORK WITH GOVERNMENT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Working relationships across </a:t>
            </a:r>
            <a:r>
              <a:rPr sz="2250" b="1" i="0">
                <a:solidFill>
                  <a:srgbClr val="4A35FF"/>
                </a:solidFill>
                <a:latin typeface="Montserrat"/>
              </a:rPr>
              <a:t>the road safety machinery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Roads Management Insights serves road authorities. We work with many of them every week, with formal seats and signed mandates.</a:t>
            </a:r>
          </a:p>
        </p:txBody>
      </p:sp>
      <p:sp>
        <p:nvSpPr>
          <p:cNvPr id="8" name="Oval 7"/>
          <p:cNvSpPr/>
          <p:nvPr/>
        </p:nvSpPr>
        <p:spPr>
          <a:xfrm>
            <a:off x="566928" y="2057400"/>
            <a:ext cx="365760" cy="365760"/>
          </a:xfrm>
          <a:prstGeom prst="ellipse">
            <a:avLst/>
          </a:prstGeom>
          <a:solidFill>
            <a:srgbClr val="EFEDFF"/>
          </a:solidFill>
          <a:ln>
            <a:noFill/>
          </a:ln>
          <a:effectLst/>
        </p:spPr>
        <p:txBody>
          <a:bodyPr rtlCol="0" anchor="ctr"/>
          <a:lstStyle/>
          <a:p>
            <a:pPr algn="ctr"/>
          </a:p>
        </p:txBody>
      </p:sp>
      <p:pic>
        <p:nvPicPr>
          <p:cNvPr id="9" name="Picture 8" descr="landmark_4A35FF_256_2.0.png"/>
          <p:cNvPicPr>
            <a:picLocks noChangeAspect="1"/>
          </p:cNvPicPr>
          <p:nvPr/>
        </p:nvPicPr>
        <p:blipFill>
          <a:blip r:embed="rId2"/>
          <a:stretch>
            <a:fillRect/>
          </a:stretch>
        </p:blipFill>
        <p:spPr>
          <a:xfrm>
            <a:off x="654710" y="2145182"/>
            <a:ext cx="190195" cy="190195"/>
          </a:xfrm>
          <a:prstGeom prst="rect">
            <a:avLst/>
          </a:prstGeom>
        </p:spPr>
      </p:pic>
      <p:sp>
        <p:nvSpPr>
          <p:cNvPr id="10" name="TextBox 9"/>
          <p:cNvSpPr txBox="1"/>
          <p:nvPr/>
        </p:nvSpPr>
        <p:spPr>
          <a:xfrm>
            <a:off x="1097280" y="20391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Four District Road Safety Committees</a:t>
            </a:r>
          </a:p>
        </p:txBody>
      </p:sp>
      <p:sp>
        <p:nvSpPr>
          <p:cNvPr id="11" name="TextBox 10"/>
          <p:cNvSpPr txBox="1"/>
          <p:nvPr/>
        </p:nvSpPr>
        <p:spPr>
          <a:xfrm>
            <a:off x="3566160" y="203911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Formal member in Gurugram, South-West Delhi, North-West Delhi and Jaipur, the statutory bodies that decide local road-safety action.</a:t>
            </a:r>
          </a:p>
        </p:txBody>
      </p:sp>
      <p:sp>
        <p:nvSpPr>
          <p:cNvPr id="12" name="Oval 11"/>
          <p:cNvSpPr/>
          <p:nvPr/>
        </p:nvSpPr>
        <p:spPr>
          <a:xfrm>
            <a:off x="566928" y="2953512"/>
            <a:ext cx="365760" cy="365760"/>
          </a:xfrm>
          <a:prstGeom prst="ellipse">
            <a:avLst/>
          </a:prstGeom>
          <a:solidFill>
            <a:srgbClr val="E9F7F0"/>
          </a:solidFill>
          <a:ln>
            <a:noFill/>
          </a:ln>
          <a:effectLst/>
        </p:spPr>
        <p:txBody>
          <a:bodyPr rtlCol="0" anchor="ctr"/>
          <a:lstStyle/>
          <a:p>
            <a:pPr algn="ctr"/>
          </a:p>
        </p:txBody>
      </p:sp>
      <p:pic>
        <p:nvPicPr>
          <p:cNvPr id="13" name="Picture 12" descr="shield_0A9955_256_2.0.png"/>
          <p:cNvPicPr>
            <a:picLocks noChangeAspect="1"/>
          </p:cNvPicPr>
          <p:nvPr/>
        </p:nvPicPr>
        <p:blipFill>
          <a:blip r:embed="rId3"/>
          <a:stretch>
            <a:fillRect/>
          </a:stretch>
        </p:blipFill>
        <p:spPr>
          <a:xfrm>
            <a:off x="654710" y="3041294"/>
            <a:ext cx="190195" cy="190195"/>
          </a:xfrm>
          <a:prstGeom prst="rect">
            <a:avLst/>
          </a:prstGeom>
        </p:spPr>
      </p:pic>
      <p:sp>
        <p:nvSpPr>
          <p:cNvPr id="14" name="TextBox 13"/>
          <p:cNvSpPr txBox="1"/>
          <p:nvPr/>
        </p:nvSpPr>
        <p:spPr>
          <a:xfrm>
            <a:off x="1097280" y="293522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Police partnerships</a:t>
            </a:r>
          </a:p>
        </p:txBody>
      </p:sp>
      <p:sp>
        <p:nvSpPr>
          <p:cNvPr id="15" name="TextBox 14"/>
          <p:cNvSpPr txBox="1"/>
          <p:nvPr/>
        </p:nvSpPr>
        <p:spPr>
          <a:xfrm>
            <a:off x="3566160" y="2935224"/>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MoUs with Jaipur Traffic Police and Gurugram Police; SATARK runs with police in three cities; challan and crash (e-DAR) data flow through these relationships.</a:t>
            </a:r>
          </a:p>
        </p:txBody>
      </p:sp>
      <p:sp>
        <p:nvSpPr>
          <p:cNvPr id="16" name="Oval 15"/>
          <p:cNvSpPr/>
          <p:nvPr/>
        </p:nvSpPr>
        <p:spPr>
          <a:xfrm>
            <a:off x="566928" y="3849624"/>
            <a:ext cx="365760" cy="365760"/>
          </a:xfrm>
          <a:prstGeom prst="ellipse">
            <a:avLst/>
          </a:prstGeom>
          <a:solidFill>
            <a:srgbClr val="FDF3E3"/>
          </a:solidFill>
          <a:ln>
            <a:noFill/>
          </a:ln>
          <a:effectLst/>
        </p:spPr>
        <p:txBody>
          <a:bodyPr rtlCol="0" anchor="ctr"/>
          <a:lstStyle/>
          <a:p>
            <a:pPr algn="ctr"/>
          </a:p>
        </p:txBody>
      </p:sp>
      <p:pic>
        <p:nvPicPr>
          <p:cNvPr id="17" name="Picture 16" descr="badge-check_E58900_256_2.0.png"/>
          <p:cNvPicPr>
            <a:picLocks noChangeAspect="1"/>
          </p:cNvPicPr>
          <p:nvPr/>
        </p:nvPicPr>
        <p:blipFill>
          <a:blip r:embed="rId4"/>
          <a:stretch>
            <a:fillRect/>
          </a:stretch>
        </p:blipFill>
        <p:spPr>
          <a:xfrm>
            <a:off x="654710" y="3937406"/>
            <a:ext cx="190195" cy="190195"/>
          </a:xfrm>
          <a:prstGeom prst="rect">
            <a:avLst/>
          </a:prstGeom>
        </p:spPr>
      </p:pic>
      <p:sp>
        <p:nvSpPr>
          <p:cNvPr id="18" name="TextBox 17"/>
          <p:cNvSpPr txBox="1"/>
          <p:nvPr/>
        </p:nvSpPr>
        <p:spPr>
          <a:xfrm>
            <a:off x="1097280" y="383133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Written authority approvals</a:t>
            </a:r>
          </a:p>
        </p:txBody>
      </p:sp>
      <p:sp>
        <p:nvSpPr>
          <p:cNvPr id="19" name="TextBox 18"/>
          <p:cNvSpPr txBox="1"/>
          <p:nvPr/>
        </p:nvSpPr>
        <p:spPr>
          <a:xfrm>
            <a:off x="3566160" y="383133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25+ approvals in writing from road-owning authorities across six states: PWDs of Kerala, UP and Punjab, CPWD, R&amp;B Andhra, GCC Chennai, ADDA Durgapur, Indore.</a:t>
            </a:r>
          </a:p>
        </p:txBody>
      </p:sp>
      <p:sp>
        <p:nvSpPr>
          <p:cNvPr id="20" name="Oval 19"/>
          <p:cNvSpPr/>
          <p:nvPr/>
        </p:nvSpPr>
        <p:spPr>
          <a:xfrm>
            <a:off x="566928" y="4745736"/>
            <a:ext cx="365760" cy="365760"/>
          </a:xfrm>
          <a:prstGeom prst="ellipse">
            <a:avLst/>
          </a:prstGeom>
          <a:solidFill>
            <a:srgbClr val="E7F4F4"/>
          </a:solidFill>
          <a:ln>
            <a:noFill/>
          </a:ln>
          <a:effectLst/>
        </p:spPr>
        <p:txBody>
          <a:bodyPr rtlCol="0" anchor="ctr"/>
          <a:lstStyle/>
          <a:p>
            <a:pPr algn="ctr"/>
          </a:p>
        </p:txBody>
      </p:sp>
      <p:pic>
        <p:nvPicPr>
          <p:cNvPr id="21" name="Picture 20" descr="scale_0E8A8A_256_2.0.png"/>
          <p:cNvPicPr>
            <a:picLocks noChangeAspect="1"/>
          </p:cNvPicPr>
          <p:nvPr/>
        </p:nvPicPr>
        <p:blipFill>
          <a:blip r:embed="rId5"/>
          <a:stretch>
            <a:fillRect/>
          </a:stretch>
        </p:blipFill>
        <p:spPr>
          <a:xfrm>
            <a:off x="654710" y="4833518"/>
            <a:ext cx="190195" cy="190195"/>
          </a:xfrm>
          <a:prstGeom prst="rect">
            <a:avLst/>
          </a:prstGeom>
        </p:spPr>
      </p:pic>
      <p:sp>
        <p:nvSpPr>
          <p:cNvPr id="22" name="TextBox 21"/>
          <p:cNvSpPr txBox="1"/>
          <p:nvPr/>
        </p:nvSpPr>
        <p:spPr>
          <a:xfrm>
            <a:off x="1097280" y="472744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National institutions</a:t>
            </a:r>
          </a:p>
        </p:txBody>
      </p:sp>
      <p:sp>
        <p:nvSpPr>
          <p:cNvPr id="23" name="TextBox 22"/>
          <p:cNvSpPr txBox="1"/>
          <p:nvPr/>
        </p:nvSpPr>
        <p:spPr>
          <a:xfrm>
            <a:off x="3566160" y="472744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Expressions of Interest submitted to National Road Safety Board Working Groups 2 and 5; Rajasthan's compensation scheme mapped office-by-office with the Transport Department.</a:t>
            </a:r>
          </a:p>
        </p:txBody>
      </p:sp>
      <p:pic>
        <p:nvPicPr>
          <p:cNvPr id="24" name="Picture 23" descr="ph_auth_roundtable.jpeg_4.10x2.40_0.30.jpg"/>
          <p:cNvPicPr>
            <a:picLocks noChangeAspect="1"/>
          </p:cNvPicPr>
          <p:nvPr/>
        </p:nvPicPr>
        <p:blipFill>
          <a:blip r:embed="rId6"/>
          <a:stretch>
            <a:fillRect/>
          </a:stretch>
        </p:blipFill>
        <p:spPr>
          <a:xfrm>
            <a:off x="7863840" y="2057400"/>
            <a:ext cx="3749039" cy="2194560"/>
          </a:xfrm>
          <a:prstGeom prst="rect">
            <a:avLst/>
          </a:prstGeom>
        </p:spPr>
      </p:pic>
      <p:sp>
        <p:nvSpPr>
          <p:cNvPr id="25" name="Rectangle 24"/>
          <p:cNvSpPr/>
          <p:nvPr/>
        </p:nvSpPr>
        <p:spPr>
          <a:xfrm>
            <a:off x="7863840" y="2057400"/>
            <a:ext cx="3749039" cy="2194560"/>
          </a:xfrm>
          <a:prstGeom prst="rect">
            <a:avLst/>
          </a:prstGeom>
          <a:noFill/>
          <a:ln w="12700">
            <a:solidFill>
              <a:srgbClr val="E8E9EE"/>
            </a:solidFill>
          </a:ln>
          <a:effectLst/>
        </p:spPr>
        <p:txBody>
          <a:bodyPr rtlCol="0" anchor="ctr"/>
          <a:lstStyle/>
          <a:p>
            <a:pPr algn="ctr"/>
          </a:p>
        </p:txBody>
      </p:sp>
      <p:sp>
        <p:nvSpPr>
          <p:cNvPr id="26" name="TextBox 25"/>
          <p:cNvSpPr txBox="1"/>
          <p:nvPr/>
        </p:nvSpPr>
        <p:spPr>
          <a:xfrm>
            <a:off x="7863840" y="4297680"/>
            <a:ext cx="37490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Presenting audit findings to the engineers who own the road.</a:t>
            </a:r>
          </a:p>
        </p:txBody>
      </p:sp>
      <p:sp>
        <p:nvSpPr>
          <p:cNvPr id="27" name="TextBox 26"/>
          <p:cNvSpPr txBox="1"/>
          <p:nvPr/>
        </p:nvSpPr>
        <p:spPr>
          <a:xfrm>
            <a:off x="7863840" y="4800600"/>
            <a:ext cx="3749039" cy="237744"/>
          </a:xfrm>
          <a:prstGeom prst="rect">
            <a:avLst/>
          </a:prstGeom>
          <a:noFill/>
        </p:spPr>
        <p:txBody>
          <a:bodyPr wrap="square" lIns="0" rIns="0" tIns="0" bIns="0" anchor="t">
            <a:spAutoFit/>
          </a:bodyPr>
          <a:lstStyle/>
          <a:p>
            <a:pPr algn="l">
              <a:lnSpc>
                <a:spcPct val="128000"/>
              </a:lnSpc>
            </a:pPr>
            <a:r>
              <a:rPr sz="800" b="1" i="0" spc="150">
                <a:solidFill>
                  <a:srgbClr val="6E7180"/>
                </a:solidFill>
                <a:latin typeface="Montserrat"/>
              </a:rPr>
              <a:t>AUTHORITIES WE WORK WITH</a:t>
            </a:r>
          </a:p>
        </p:txBody>
      </p:sp>
      <p:sp>
        <p:nvSpPr>
          <p:cNvPr id="28" name="Rounded Rectangle 27"/>
          <p:cNvSpPr/>
          <p:nvPr/>
        </p:nvSpPr>
        <p:spPr>
          <a:xfrm>
            <a:off x="7863840" y="5084064"/>
            <a:ext cx="118872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9" name="Picture 28" descr="lg_nhai.png"/>
          <p:cNvPicPr>
            <a:picLocks noChangeAspect="1"/>
          </p:cNvPicPr>
          <p:nvPr/>
        </p:nvPicPr>
        <p:blipFill>
          <a:blip r:embed="rId7"/>
          <a:stretch>
            <a:fillRect/>
          </a:stretch>
        </p:blipFill>
        <p:spPr>
          <a:xfrm>
            <a:off x="8194714" y="5193792"/>
            <a:ext cx="526971" cy="347472"/>
          </a:xfrm>
          <a:prstGeom prst="rect">
            <a:avLst/>
          </a:prstGeom>
        </p:spPr>
      </p:pic>
      <p:sp>
        <p:nvSpPr>
          <p:cNvPr id="30" name="Rounded Rectangle 29"/>
          <p:cNvSpPr/>
          <p:nvPr/>
        </p:nvSpPr>
        <p:spPr>
          <a:xfrm>
            <a:off x="9162288" y="5084064"/>
            <a:ext cx="118872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1" name="Picture 30" descr="lg_pwd.png"/>
          <p:cNvPicPr>
            <a:picLocks noChangeAspect="1"/>
          </p:cNvPicPr>
          <p:nvPr/>
        </p:nvPicPr>
        <p:blipFill>
          <a:blip r:embed="rId8"/>
          <a:stretch>
            <a:fillRect/>
          </a:stretch>
        </p:blipFill>
        <p:spPr>
          <a:xfrm>
            <a:off x="9494944" y="5193792"/>
            <a:ext cx="523407" cy="347472"/>
          </a:xfrm>
          <a:prstGeom prst="rect">
            <a:avLst/>
          </a:prstGeom>
        </p:spPr>
      </p:pic>
      <p:sp>
        <p:nvSpPr>
          <p:cNvPr id="32" name="Rounded Rectangle 31"/>
          <p:cNvSpPr/>
          <p:nvPr/>
        </p:nvSpPr>
        <p:spPr>
          <a:xfrm>
            <a:off x="10460736" y="5084064"/>
            <a:ext cx="118872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3" name="Picture 32" descr="lg_haryana_police.png"/>
          <p:cNvPicPr>
            <a:picLocks noChangeAspect="1"/>
          </p:cNvPicPr>
          <p:nvPr/>
        </p:nvPicPr>
        <p:blipFill>
          <a:blip r:embed="rId9"/>
          <a:stretch>
            <a:fillRect/>
          </a:stretch>
        </p:blipFill>
        <p:spPr>
          <a:xfrm>
            <a:off x="10881360" y="5193792"/>
            <a:ext cx="347472" cy="347472"/>
          </a:xfrm>
          <a:prstGeom prst="rect">
            <a:avLst/>
          </a:prstGeom>
        </p:spPr>
      </p:pic>
      <p:sp>
        <p:nvSpPr>
          <p:cNvPr id="34" name="Rounded Rectangle 33"/>
          <p:cNvSpPr/>
          <p:nvPr/>
        </p:nvSpPr>
        <p:spPr>
          <a:xfrm>
            <a:off x="7863840" y="5742432"/>
            <a:ext cx="118872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5" name="Picture 34" descr="lg_indore_nn.png"/>
          <p:cNvPicPr>
            <a:picLocks noChangeAspect="1"/>
          </p:cNvPicPr>
          <p:nvPr/>
        </p:nvPicPr>
        <p:blipFill>
          <a:blip r:embed="rId10"/>
          <a:stretch>
            <a:fillRect/>
          </a:stretch>
        </p:blipFill>
        <p:spPr>
          <a:xfrm>
            <a:off x="8309429" y="5852160"/>
            <a:ext cx="297542" cy="347472"/>
          </a:xfrm>
          <a:prstGeom prst="rect">
            <a:avLst/>
          </a:prstGeom>
        </p:spPr>
      </p:pic>
      <p:sp>
        <p:nvSpPr>
          <p:cNvPr id="36" name="Rounded Rectangle 35"/>
          <p:cNvSpPr/>
          <p:nvPr/>
        </p:nvSpPr>
        <p:spPr>
          <a:xfrm>
            <a:off x="9162288" y="5742432"/>
            <a:ext cx="118872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7" name="Picture 36" descr="lg_dlsa.png"/>
          <p:cNvPicPr>
            <a:picLocks noChangeAspect="1"/>
          </p:cNvPicPr>
          <p:nvPr/>
        </p:nvPicPr>
        <p:blipFill>
          <a:blip r:embed="rId11"/>
          <a:stretch>
            <a:fillRect/>
          </a:stretch>
        </p:blipFill>
        <p:spPr>
          <a:xfrm>
            <a:off x="9608820" y="5852160"/>
            <a:ext cx="295656" cy="347472"/>
          </a:xfrm>
          <a:prstGeom prst="rect">
            <a:avLst/>
          </a:prstGeom>
        </p:spPr>
      </p:pic>
      <p:sp>
        <p:nvSpPr>
          <p:cNvPr id="38" name="Rounded Rectangle 37"/>
          <p:cNvSpPr/>
          <p:nvPr/>
        </p:nvSpPr>
        <p:spPr>
          <a:xfrm>
            <a:off x="10460736" y="5742432"/>
            <a:ext cx="1188720" cy="566928"/>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9" name="Picture 38" descr="lg_kolkata_police.png"/>
          <p:cNvPicPr>
            <a:picLocks noChangeAspect="1"/>
          </p:cNvPicPr>
          <p:nvPr/>
        </p:nvPicPr>
        <p:blipFill>
          <a:blip r:embed="rId12"/>
          <a:stretch>
            <a:fillRect/>
          </a:stretch>
        </p:blipFill>
        <p:spPr>
          <a:xfrm>
            <a:off x="10875042" y="5852160"/>
            <a:ext cx="360107" cy="347472"/>
          </a:xfrm>
          <a:prstGeom prst="rect">
            <a:avLst/>
          </a:prstGeom>
        </p:spPr>
      </p:pic>
      <p:cxnSp>
        <p:nvCxnSpPr>
          <p:cNvPr id="40" name="Connector 39"/>
          <p:cNvCxnSpPr/>
          <p:nvPr/>
        </p:nvCxnSpPr>
        <p:spPr>
          <a:xfrm>
            <a:off x="566928" y="6455664"/>
            <a:ext cx="11057839" cy="0"/>
          </a:xfrm>
          <a:prstGeom prst="line">
            <a:avLst/>
          </a:prstGeom>
          <a:ln w="9525">
            <a:solidFill>
              <a:srgbClr val="E8E9EE"/>
            </a:solidFill>
          </a:ln>
          <a:effectLst/>
        </p:spPr>
      </p:cxnSp>
      <p:sp>
        <p:nvSpPr>
          <p:cNvPr id="41" name="TextBox 40"/>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42" name="TextBox 4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SPEED &amp; RMI</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WHY SPEED DATA MATTERS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Speed decides </a:t>
            </a:r>
            <a:r>
              <a:rPr sz="2250" b="1" i="0">
                <a:solidFill>
                  <a:srgbClr val="4A35FF"/>
                </a:solidFill>
                <a:latin typeface="Montserrat"/>
              </a:rPr>
              <a:t>what a crash becomes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case for measuring speed is written in the official record. Managed speeds are the single most direct lever on survival.</a:t>
            </a:r>
          </a:p>
        </p:txBody>
      </p:sp>
      <p:sp>
        <p:nvSpPr>
          <p:cNvPr id="8" name="Rounded Rectangle 7"/>
          <p:cNvSpPr/>
          <p:nvPr/>
        </p:nvSpPr>
        <p:spPr>
          <a:xfrm>
            <a:off x="566928" y="2148840"/>
            <a:ext cx="3611880" cy="1572768"/>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31520" y="2258568"/>
            <a:ext cx="3282696" cy="457200"/>
          </a:xfrm>
          <a:prstGeom prst="rect">
            <a:avLst/>
          </a:prstGeom>
          <a:noFill/>
        </p:spPr>
        <p:txBody>
          <a:bodyPr wrap="square" lIns="0" rIns="0" tIns="0" bIns="0" anchor="t">
            <a:spAutoFit/>
          </a:bodyPr>
          <a:lstStyle/>
          <a:p>
            <a:pPr algn="l">
              <a:lnSpc>
                <a:spcPct val="128000"/>
              </a:lnSpc>
            </a:pPr>
            <a:r>
              <a:rPr sz="2200" b="1" i="0">
                <a:solidFill>
                  <a:srgbClr val="4A35FF"/>
                </a:solidFill>
                <a:latin typeface="Montserrat"/>
              </a:rPr>
              <a:t>72.4%</a:t>
            </a:r>
          </a:p>
        </p:txBody>
      </p:sp>
      <p:sp>
        <p:nvSpPr>
          <p:cNvPr id="10" name="TextBox 9"/>
          <p:cNvSpPr txBox="1"/>
          <p:nvPr/>
        </p:nvSpPr>
        <p:spPr>
          <a:xfrm>
            <a:off x="731520" y="2770632"/>
            <a:ext cx="3282696" cy="566928"/>
          </a:xfrm>
          <a:prstGeom prst="rect">
            <a:avLst/>
          </a:prstGeom>
          <a:noFill/>
        </p:spPr>
        <p:txBody>
          <a:bodyPr wrap="square" lIns="0" rIns="0" tIns="0" bIns="0" anchor="t">
            <a:spAutoFit/>
          </a:bodyPr>
          <a:lstStyle/>
          <a:p>
            <a:pPr algn="l">
              <a:lnSpc>
                <a:spcPct val="120000"/>
              </a:lnSpc>
            </a:pPr>
            <a:r>
              <a:rPr sz="900" b="0" i="0">
                <a:solidFill>
                  <a:srgbClr val="16181D"/>
                </a:solidFill>
                <a:latin typeface="Geist"/>
              </a:rPr>
              <a:t>of crashes on India's National Highways are attributed to speed (72.5% of the deaths)</a:t>
            </a:r>
          </a:p>
        </p:txBody>
      </p:sp>
      <p:sp>
        <p:nvSpPr>
          <p:cNvPr id="11" name="TextBox 10"/>
          <p:cNvSpPr txBox="1"/>
          <p:nvPr/>
        </p:nvSpPr>
        <p:spPr>
          <a:xfrm>
            <a:off x="731520" y="3429000"/>
            <a:ext cx="3282696" cy="237744"/>
          </a:xfrm>
          <a:prstGeom prst="rect">
            <a:avLst/>
          </a:prstGeom>
          <a:noFill/>
        </p:spPr>
        <p:txBody>
          <a:bodyPr wrap="square" lIns="0" rIns="0" tIns="0" bIns="0" anchor="t">
            <a:spAutoFit/>
          </a:bodyPr>
          <a:lstStyle/>
          <a:p>
            <a:pPr algn="l">
              <a:lnSpc>
                <a:spcPct val="100000"/>
              </a:lnSpc>
            </a:pPr>
            <a:r>
              <a:rPr sz="750" b="0" i="1">
                <a:solidFill>
                  <a:srgbClr val="6E7180"/>
                </a:solidFill>
                <a:latin typeface="Geist"/>
              </a:rPr>
              <a:t>MoRTH, Road Accidents in India 2023</a:t>
            </a:r>
          </a:p>
        </p:txBody>
      </p:sp>
      <p:sp>
        <p:nvSpPr>
          <p:cNvPr id="12" name="Rounded Rectangle 11"/>
          <p:cNvSpPr/>
          <p:nvPr/>
        </p:nvSpPr>
        <p:spPr>
          <a:xfrm>
            <a:off x="4288536" y="2148840"/>
            <a:ext cx="3611880" cy="1572768"/>
          </a:xfrm>
          <a:prstGeom prst="roundRect">
            <a:avLst>
              <a:gd name="adj" fmla="val 8000"/>
            </a:avLst>
          </a:prstGeom>
          <a:solidFill>
            <a:srgbClr val="F7F7FA"/>
          </a:solidFill>
          <a:ln>
            <a:noFill/>
          </a:ln>
          <a:effectLst/>
        </p:spPr>
        <p:txBody>
          <a:bodyPr rtlCol="0" anchor="ctr"/>
          <a:lstStyle/>
          <a:p>
            <a:pPr algn="ctr"/>
          </a:p>
        </p:txBody>
      </p:sp>
      <p:sp>
        <p:nvSpPr>
          <p:cNvPr id="13" name="TextBox 12"/>
          <p:cNvSpPr txBox="1"/>
          <p:nvPr/>
        </p:nvSpPr>
        <p:spPr>
          <a:xfrm>
            <a:off x="4453128" y="2258568"/>
            <a:ext cx="3282696" cy="457200"/>
          </a:xfrm>
          <a:prstGeom prst="rect">
            <a:avLst/>
          </a:prstGeom>
          <a:noFill/>
        </p:spPr>
        <p:txBody>
          <a:bodyPr wrap="square" lIns="0" rIns="0" tIns="0" bIns="0" anchor="t">
            <a:spAutoFit/>
          </a:bodyPr>
          <a:lstStyle/>
          <a:p>
            <a:pPr algn="l">
              <a:lnSpc>
                <a:spcPct val="128000"/>
              </a:lnSpc>
            </a:pPr>
            <a:r>
              <a:rPr sz="2200" b="1" i="0">
                <a:solidFill>
                  <a:srgbClr val="4A35FF"/>
                </a:solidFill>
                <a:latin typeface="Montserrat"/>
              </a:rPr>
              <a:t>10% → 90%</a:t>
            </a:r>
          </a:p>
        </p:txBody>
      </p:sp>
      <p:sp>
        <p:nvSpPr>
          <p:cNvPr id="14" name="TextBox 13"/>
          <p:cNvSpPr txBox="1"/>
          <p:nvPr/>
        </p:nvSpPr>
        <p:spPr>
          <a:xfrm>
            <a:off x="4453128" y="2770632"/>
            <a:ext cx="3282696" cy="566928"/>
          </a:xfrm>
          <a:prstGeom prst="rect">
            <a:avLst/>
          </a:prstGeom>
          <a:noFill/>
        </p:spPr>
        <p:txBody>
          <a:bodyPr wrap="square" lIns="0" rIns="0" tIns="0" bIns="0" anchor="t">
            <a:spAutoFit/>
          </a:bodyPr>
          <a:lstStyle/>
          <a:p>
            <a:pPr algn="l">
              <a:lnSpc>
                <a:spcPct val="120000"/>
              </a:lnSpc>
            </a:pPr>
            <a:r>
              <a:rPr sz="900" b="0" i="0">
                <a:solidFill>
                  <a:srgbClr val="16181D"/>
                </a:solidFill>
                <a:latin typeface="Geist"/>
              </a:rPr>
              <a:t>a pedestrian's fatality risk as impact speed rises from 30 to 70 km/h</a:t>
            </a:r>
          </a:p>
        </p:txBody>
      </p:sp>
      <p:sp>
        <p:nvSpPr>
          <p:cNvPr id="15" name="TextBox 14"/>
          <p:cNvSpPr txBox="1"/>
          <p:nvPr/>
        </p:nvSpPr>
        <p:spPr>
          <a:xfrm>
            <a:off x="4453128" y="3429000"/>
            <a:ext cx="3282696" cy="237744"/>
          </a:xfrm>
          <a:prstGeom prst="rect">
            <a:avLst/>
          </a:prstGeom>
          <a:noFill/>
        </p:spPr>
        <p:txBody>
          <a:bodyPr wrap="square" lIns="0" rIns="0" tIns="0" bIns="0" anchor="t">
            <a:spAutoFit/>
          </a:bodyPr>
          <a:lstStyle/>
          <a:p>
            <a:pPr algn="l">
              <a:lnSpc>
                <a:spcPct val="100000"/>
              </a:lnSpc>
            </a:pPr>
            <a:r>
              <a:rPr sz="750" b="0" i="1">
                <a:solidFill>
                  <a:srgbClr val="6E7180"/>
                </a:solidFill>
                <a:latin typeface="Geist"/>
              </a:rPr>
              <a:t>Austroads, 2015</a:t>
            </a:r>
          </a:p>
        </p:txBody>
      </p:sp>
      <p:sp>
        <p:nvSpPr>
          <p:cNvPr id="16" name="Rounded Rectangle 15"/>
          <p:cNvSpPr/>
          <p:nvPr/>
        </p:nvSpPr>
        <p:spPr>
          <a:xfrm>
            <a:off x="8010144" y="2148840"/>
            <a:ext cx="3611880" cy="1572768"/>
          </a:xfrm>
          <a:prstGeom prst="roundRect">
            <a:avLst>
              <a:gd name="adj" fmla="val 8000"/>
            </a:avLst>
          </a:prstGeom>
          <a:solidFill>
            <a:srgbClr val="F7F7FA"/>
          </a:solidFill>
          <a:ln>
            <a:noFill/>
          </a:ln>
          <a:effectLst/>
        </p:spPr>
        <p:txBody>
          <a:bodyPr rtlCol="0" anchor="ctr"/>
          <a:lstStyle/>
          <a:p>
            <a:pPr algn="ctr"/>
          </a:p>
        </p:txBody>
      </p:sp>
      <p:sp>
        <p:nvSpPr>
          <p:cNvPr id="17" name="TextBox 16"/>
          <p:cNvSpPr txBox="1"/>
          <p:nvPr/>
        </p:nvSpPr>
        <p:spPr>
          <a:xfrm>
            <a:off x="8174736" y="2258568"/>
            <a:ext cx="3282696" cy="457200"/>
          </a:xfrm>
          <a:prstGeom prst="rect">
            <a:avLst/>
          </a:prstGeom>
          <a:noFill/>
        </p:spPr>
        <p:txBody>
          <a:bodyPr wrap="square" lIns="0" rIns="0" tIns="0" bIns="0" anchor="t">
            <a:spAutoFit/>
          </a:bodyPr>
          <a:lstStyle/>
          <a:p>
            <a:pPr algn="l">
              <a:lnSpc>
                <a:spcPct val="128000"/>
              </a:lnSpc>
            </a:pPr>
            <a:r>
              <a:rPr sz="2200" b="1" i="0">
                <a:solidFill>
                  <a:srgbClr val="4A35FF"/>
                </a:solidFill>
                <a:latin typeface="Montserrat"/>
              </a:rPr>
              <a:t>3–4%</a:t>
            </a:r>
          </a:p>
        </p:txBody>
      </p:sp>
      <p:sp>
        <p:nvSpPr>
          <p:cNvPr id="18" name="TextBox 17"/>
          <p:cNvSpPr txBox="1"/>
          <p:nvPr/>
        </p:nvSpPr>
        <p:spPr>
          <a:xfrm>
            <a:off x="8174736" y="2770632"/>
            <a:ext cx="3282696" cy="566928"/>
          </a:xfrm>
          <a:prstGeom prst="rect">
            <a:avLst/>
          </a:prstGeom>
          <a:noFill/>
        </p:spPr>
        <p:txBody>
          <a:bodyPr wrap="square" lIns="0" rIns="0" tIns="0" bIns="0" anchor="t">
            <a:spAutoFit/>
          </a:bodyPr>
          <a:lstStyle/>
          <a:p>
            <a:pPr algn="l">
              <a:lnSpc>
                <a:spcPct val="120000"/>
              </a:lnSpc>
            </a:pPr>
            <a:r>
              <a:rPr sz="900" b="0" i="0">
                <a:solidFill>
                  <a:srgbClr val="16181D"/>
                </a:solidFill>
                <a:latin typeface="Geist"/>
              </a:rPr>
              <a:t>fewer fatal crashes for every 1 km/h reduction in mean traffic speed</a:t>
            </a:r>
          </a:p>
        </p:txBody>
      </p:sp>
      <p:sp>
        <p:nvSpPr>
          <p:cNvPr id="19" name="TextBox 18"/>
          <p:cNvSpPr txBox="1"/>
          <p:nvPr/>
        </p:nvSpPr>
        <p:spPr>
          <a:xfrm>
            <a:off x="8174736" y="3429000"/>
            <a:ext cx="3282696" cy="237744"/>
          </a:xfrm>
          <a:prstGeom prst="rect">
            <a:avLst/>
          </a:prstGeom>
          <a:noFill/>
        </p:spPr>
        <p:txBody>
          <a:bodyPr wrap="square" lIns="0" rIns="0" tIns="0" bIns="0" anchor="t">
            <a:spAutoFit/>
          </a:bodyPr>
          <a:lstStyle/>
          <a:p>
            <a:pPr algn="l">
              <a:lnSpc>
                <a:spcPct val="100000"/>
              </a:lnSpc>
            </a:pPr>
            <a:r>
              <a:rPr sz="750" b="0" i="1">
                <a:solidFill>
                  <a:srgbClr val="6E7180"/>
                </a:solidFill>
                <a:latin typeface="Geist"/>
              </a:rPr>
              <a:t>World Bank, Guide for Safe Speeds 2024</a:t>
            </a:r>
          </a:p>
        </p:txBody>
      </p:sp>
      <p:sp>
        <p:nvSpPr>
          <p:cNvPr id="20" name="Rounded Rectangle 19"/>
          <p:cNvSpPr/>
          <p:nvPr/>
        </p:nvSpPr>
        <p:spPr>
          <a:xfrm>
            <a:off x="566928" y="4069080"/>
            <a:ext cx="11057839" cy="1417320"/>
          </a:xfrm>
          <a:prstGeom prst="roundRect">
            <a:avLst>
              <a:gd name="adj" fmla="val 10000"/>
            </a:avLst>
          </a:prstGeom>
          <a:solidFill>
            <a:srgbClr val="EFEDFF"/>
          </a:solidFill>
          <a:ln>
            <a:noFill/>
          </a:ln>
          <a:effectLst/>
        </p:spPr>
        <p:txBody>
          <a:bodyPr rtlCol="0" anchor="ctr"/>
          <a:lstStyle/>
          <a:p>
            <a:pPr algn="ctr"/>
          </a:p>
        </p:txBody>
      </p:sp>
      <p:sp>
        <p:nvSpPr>
          <p:cNvPr id="21" name="Oval 20"/>
          <p:cNvSpPr/>
          <p:nvPr/>
        </p:nvSpPr>
        <p:spPr>
          <a:xfrm>
            <a:off x="768096" y="4279392"/>
            <a:ext cx="402336" cy="402336"/>
          </a:xfrm>
          <a:prstGeom prst="ellipse">
            <a:avLst/>
          </a:prstGeom>
          <a:solidFill>
            <a:srgbClr val="FFFFFF"/>
          </a:solidFill>
          <a:ln>
            <a:noFill/>
          </a:ln>
          <a:effectLst/>
        </p:spPr>
        <p:txBody>
          <a:bodyPr rtlCol="0" anchor="ctr"/>
          <a:lstStyle/>
          <a:p>
            <a:pPr algn="ctr"/>
          </a:p>
        </p:txBody>
      </p:sp>
      <p:pic>
        <p:nvPicPr>
          <p:cNvPr id="22" name="Picture 21" descr="map-pin_4A35FF_256_2.0.png"/>
          <p:cNvPicPr>
            <a:picLocks noChangeAspect="1"/>
          </p:cNvPicPr>
          <p:nvPr/>
        </p:nvPicPr>
        <p:blipFill>
          <a:blip r:embed="rId2"/>
          <a:stretch>
            <a:fillRect/>
          </a:stretch>
        </p:blipFill>
        <p:spPr>
          <a:xfrm>
            <a:off x="864656" y="4375952"/>
            <a:ext cx="209214" cy="209214"/>
          </a:xfrm>
          <a:prstGeom prst="rect">
            <a:avLst/>
          </a:prstGeom>
        </p:spPr>
      </p:pic>
      <p:sp>
        <p:nvSpPr>
          <p:cNvPr id="23" name="TextBox 22"/>
          <p:cNvSpPr txBox="1"/>
          <p:nvPr/>
        </p:nvSpPr>
        <p:spPr>
          <a:xfrm>
            <a:off x="1344168" y="4251960"/>
            <a:ext cx="10058400" cy="274320"/>
          </a:xfrm>
          <a:prstGeom prst="rect">
            <a:avLst/>
          </a:prstGeom>
          <a:noFill/>
        </p:spPr>
        <p:txBody>
          <a:bodyPr wrap="square" lIns="0" rIns="0" tIns="0" bIns="0" anchor="t">
            <a:spAutoFit/>
          </a:bodyPr>
          <a:lstStyle/>
          <a:p>
            <a:pPr algn="l">
              <a:lnSpc>
                <a:spcPct val="128000"/>
              </a:lnSpc>
            </a:pPr>
            <a:r>
              <a:rPr sz="1100" b="1" i="0">
                <a:solidFill>
                  <a:srgbClr val="4A35FF"/>
                </a:solidFill>
                <a:latin typeface="Montserrat"/>
              </a:rPr>
              <a:t>And in the crash records we work with every week</a:t>
            </a:r>
          </a:p>
        </p:txBody>
      </p:sp>
      <p:sp>
        <p:nvSpPr>
          <p:cNvPr id="24" name="TextBox 23"/>
          <p:cNvSpPr txBox="1"/>
          <p:nvPr/>
        </p:nvSpPr>
        <p:spPr>
          <a:xfrm>
            <a:off x="1344168" y="4572000"/>
            <a:ext cx="10058400" cy="777240"/>
          </a:xfrm>
          <a:prstGeom prst="rect">
            <a:avLst/>
          </a:prstGeom>
          <a:noFill/>
        </p:spPr>
        <p:txBody>
          <a:bodyPr wrap="square" lIns="0" rIns="0" tIns="0" bIns="0" anchor="t">
            <a:spAutoFit/>
          </a:bodyPr>
          <a:lstStyle/>
          <a:p>
            <a:pPr algn="l">
              <a:lnSpc>
                <a:spcPct val="135000"/>
              </a:lnSpc>
            </a:pPr>
            <a:r>
              <a:rPr sz="1050" b="0" i="0">
                <a:solidFill>
                  <a:srgbClr val="16181D"/>
                </a:solidFill>
                <a:latin typeface="Geist"/>
              </a:rPr>
              <a:t>In the 361 GPS-located crashes at Jaipur's notified blackspots (2022–24, police e-DAR records via our District Road Safety Committee seat), high speed is the single most recorded violation. The worst cluster alone, on the Jaipur–Kishangarh Expressway near Bhankrota, carries 23 deaths from 13 crashes within about 150 metres.</a:t>
            </a:r>
          </a:p>
        </p:txBody>
      </p:sp>
      <p:sp>
        <p:nvSpPr>
          <p:cNvPr id="25" name="TextBox 24"/>
          <p:cNvSpPr txBox="1"/>
          <p:nvPr/>
        </p:nvSpPr>
        <p:spPr>
          <a:xfrm>
            <a:off x="566928" y="5760720"/>
            <a:ext cx="11057839" cy="365760"/>
          </a:xfrm>
          <a:prstGeom prst="rect">
            <a:avLst/>
          </a:prstGeom>
          <a:noFill/>
        </p:spPr>
        <p:txBody>
          <a:bodyPr wrap="square" lIns="0" rIns="0" tIns="0" bIns="0" anchor="t">
            <a:spAutoFit/>
          </a:bodyPr>
          <a:lstStyle/>
          <a:p>
            <a:pPr algn="l">
              <a:lnSpc>
                <a:spcPct val="130000"/>
              </a:lnSpc>
            </a:pPr>
            <a:r>
              <a:rPr sz="1050" b="0" i="0">
                <a:solidFill>
                  <a:srgbClr val="6E7180"/>
                </a:solidFill>
                <a:latin typeface="Geist"/>
              </a:rPr>
              <a:t>What no one measures today is the speed itself: continuously, corridor by corridor, hour by hour. That is the layer Roads Management Insights carries.</a:t>
            </a:r>
          </a:p>
        </p:txBody>
      </p:sp>
      <p:cxnSp>
        <p:nvCxnSpPr>
          <p:cNvPr id="26" name="Connector 25"/>
          <p:cNvCxnSpPr/>
          <p:nvPr/>
        </p:nvCxnSpPr>
        <p:spPr>
          <a:xfrm>
            <a:off x="566928" y="6455664"/>
            <a:ext cx="11057839" cy="0"/>
          </a:xfrm>
          <a:prstGeom prst="line">
            <a:avLst/>
          </a:prstGeom>
          <a:ln w="9525">
            <a:solidFill>
              <a:srgbClr val="E8E9EE"/>
            </a:solidFill>
          </a:ln>
          <a:effectLst/>
        </p:spPr>
      </p:cxnSp>
      <p:sp>
        <p:nvSpPr>
          <p:cNvPr id="27" name="TextBox 26"/>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28" name="TextBox 27"/>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SPEED &amp; RMI</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READ OF RMI</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What we understand RMI provides, </a:t>
            </a:r>
            <a:r>
              <a:rPr sz="2250" b="1" i="0">
                <a:solidFill>
                  <a:srgbClr val="4A35FF"/>
                </a:solidFill>
                <a:latin typeface="Montserrat"/>
              </a:rPr>
              <a:t>and what we would like to learn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Written after hands-on setup on Google Cloud. Please correct us wherever our understanding is incomplete.</a:t>
            </a:r>
          </a:p>
        </p:txBody>
      </p:sp>
      <p:sp>
        <p:nvSpPr>
          <p:cNvPr id="8" name="Rounded Rectangle 7"/>
          <p:cNvSpPr/>
          <p:nvPr/>
        </p:nvSpPr>
        <p:spPr>
          <a:xfrm>
            <a:off x="566928" y="2103120"/>
            <a:ext cx="5486400" cy="35661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TextBox 8"/>
          <p:cNvSpPr txBox="1"/>
          <p:nvPr/>
        </p:nvSpPr>
        <p:spPr>
          <a:xfrm>
            <a:off x="795528" y="2286000"/>
            <a:ext cx="5029200" cy="237744"/>
          </a:xfrm>
          <a:prstGeom prst="rect">
            <a:avLst/>
          </a:prstGeom>
          <a:noFill/>
        </p:spPr>
        <p:txBody>
          <a:bodyPr wrap="square" lIns="0" rIns="0" tIns="0" bIns="0" anchor="t">
            <a:spAutoFit/>
          </a:bodyPr>
          <a:lstStyle/>
          <a:p>
            <a:pPr algn="l">
              <a:lnSpc>
                <a:spcPct val="128000"/>
              </a:lnSpc>
            </a:pPr>
            <a:r>
              <a:rPr sz="900" b="1" i="0" spc="150">
                <a:solidFill>
                  <a:srgbClr val="4A35FF"/>
                </a:solidFill>
                <a:latin typeface="Montserrat"/>
              </a:rPr>
              <a:t>OUR CURRENT UNDERSTANDING</a:t>
            </a:r>
          </a:p>
        </p:txBody>
      </p:sp>
      <p:sp>
        <p:nvSpPr>
          <p:cNvPr id="10" name="Oval 9"/>
          <p:cNvSpPr/>
          <p:nvPr/>
        </p:nvSpPr>
        <p:spPr>
          <a:xfrm>
            <a:off x="822960" y="2697480"/>
            <a:ext cx="128016" cy="128016"/>
          </a:xfrm>
          <a:prstGeom prst="ellipse">
            <a:avLst/>
          </a:prstGeom>
          <a:solidFill>
            <a:srgbClr val="4A35FF"/>
          </a:solidFill>
          <a:ln>
            <a:noFill/>
          </a:ln>
          <a:effectLst/>
        </p:spPr>
        <p:txBody>
          <a:bodyPr rtlCol="0" anchor="ctr"/>
          <a:lstStyle/>
          <a:p>
            <a:pPr algn="ctr"/>
          </a:p>
        </p:txBody>
      </p:sp>
      <p:sp>
        <p:nvSpPr>
          <p:cNvPr id="11" name="TextBox 10"/>
          <p:cNvSpPr txBox="1"/>
          <p:nvPr/>
        </p:nvSpPr>
        <p:spPr>
          <a:xfrm>
            <a:off x="1078992" y="2633472"/>
            <a:ext cx="4846320" cy="274320"/>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Historical travel times &amp; speeds</a:t>
            </a:r>
          </a:p>
        </p:txBody>
      </p:sp>
      <p:sp>
        <p:nvSpPr>
          <p:cNvPr id="12" name="TextBox 11"/>
          <p:cNvSpPr txBox="1"/>
          <p:nvPr/>
        </p:nvSpPr>
        <p:spPr>
          <a:xfrm>
            <a:off x="1078992" y="2889504"/>
            <a:ext cx="4846320"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per subscribed corridor, accumulated hourly into BigQuery from subscription day onward</a:t>
            </a:r>
          </a:p>
        </p:txBody>
      </p:sp>
      <p:sp>
        <p:nvSpPr>
          <p:cNvPr id="13" name="Oval 12"/>
          <p:cNvSpPr/>
          <p:nvPr/>
        </p:nvSpPr>
        <p:spPr>
          <a:xfrm>
            <a:off x="822960" y="3447288"/>
            <a:ext cx="128016" cy="128016"/>
          </a:xfrm>
          <a:prstGeom prst="ellipse">
            <a:avLst/>
          </a:prstGeom>
          <a:solidFill>
            <a:srgbClr val="4A35FF"/>
          </a:solidFill>
          <a:ln>
            <a:noFill/>
          </a:ln>
          <a:effectLst/>
        </p:spPr>
        <p:txBody>
          <a:bodyPr rtlCol="0" anchor="ctr"/>
          <a:lstStyle/>
          <a:p>
            <a:pPr algn="ctr"/>
          </a:p>
        </p:txBody>
      </p:sp>
      <p:sp>
        <p:nvSpPr>
          <p:cNvPr id="14" name="TextBox 13"/>
          <p:cNvSpPr txBox="1"/>
          <p:nvPr/>
        </p:nvSpPr>
        <p:spPr>
          <a:xfrm>
            <a:off x="1078992" y="3383280"/>
            <a:ext cx="4846320" cy="274320"/>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Near-real-time speeds</a:t>
            </a:r>
          </a:p>
        </p:txBody>
      </p:sp>
      <p:sp>
        <p:nvSpPr>
          <p:cNvPr id="15" name="TextBox 14"/>
          <p:cNvSpPr txBox="1"/>
          <p:nvPr/>
        </p:nvSpPr>
        <p:spPr>
          <a:xfrm>
            <a:off x="1078992" y="3639312"/>
            <a:ext cx="4846320"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segment-level readings refreshed roughly every two minutes, streamed via Pub/Sub</a:t>
            </a:r>
          </a:p>
        </p:txBody>
      </p:sp>
      <p:sp>
        <p:nvSpPr>
          <p:cNvPr id="16" name="Oval 15"/>
          <p:cNvSpPr/>
          <p:nvPr/>
        </p:nvSpPr>
        <p:spPr>
          <a:xfrm>
            <a:off x="822960" y="4197096"/>
            <a:ext cx="128016" cy="128016"/>
          </a:xfrm>
          <a:prstGeom prst="ellipse">
            <a:avLst/>
          </a:prstGeom>
          <a:solidFill>
            <a:srgbClr val="4A35FF"/>
          </a:solidFill>
          <a:ln>
            <a:noFill/>
          </a:ln>
          <a:effectLst/>
        </p:spPr>
        <p:txBody>
          <a:bodyPr rtlCol="0" anchor="ctr"/>
          <a:lstStyle/>
          <a:p>
            <a:pPr algn="ctr"/>
          </a:p>
        </p:txBody>
      </p:sp>
      <p:sp>
        <p:nvSpPr>
          <p:cNvPr id="17" name="TextBox 16"/>
          <p:cNvSpPr txBox="1"/>
          <p:nvPr/>
        </p:nvSpPr>
        <p:spPr>
          <a:xfrm>
            <a:off x="1078992" y="4133088"/>
            <a:ext cx="4846320" cy="274320"/>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Congestion vs free-flow</a:t>
            </a:r>
          </a:p>
        </p:txBody>
      </p:sp>
      <p:sp>
        <p:nvSpPr>
          <p:cNvPr id="18" name="TextBox 17"/>
          <p:cNvSpPr txBox="1"/>
          <p:nvPr/>
        </p:nvSpPr>
        <p:spPr>
          <a:xfrm>
            <a:off x="1078992" y="4389120"/>
            <a:ext cx="4846320"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actual against baseline travel time, showing where and when a road degrades</a:t>
            </a:r>
          </a:p>
        </p:txBody>
      </p:sp>
      <p:sp>
        <p:nvSpPr>
          <p:cNvPr id="19" name="Oval 18"/>
          <p:cNvSpPr/>
          <p:nvPr/>
        </p:nvSpPr>
        <p:spPr>
          <a:xfrm>
            <a:off x="822960" y="4946904"/>
            <a:ext cx="128016" cy="128016"/>
          </a:xfrm>
          <a:prstGeom prst="ellipse">
            <a:avLst/>
          </a:prstGeom>
          <a:solidFill>
            <a:srgbClr val="4A35FF"/>
          </a:solidFill>
          <a:ln>
            <a:noFill/>
          </a:ln>
          <a:effectLst/>
        </p:spPr>
        <p:txBody>
          <a:bodyPr rtlCol="0" anchor="ctr"/>
          <a:lstStyle/>
          <a:p>
            <a:pPr algn="ctr"/>
          </a:p>
        </p:txBody>
      </p:sp>
      <p:sp>
        <p:nvSpPr>
          <p:cNvPr id="20" name="TextBox 19"/>
          <p:cNvSpPr txBox="1"/>
          <p:nvPr/>
        </p:nvSpPr>
        <p:spPr>
          <a:xfrm>
            <a:off x="1078992" y="4882896"/>
            <a:ext cx="4846320" cy="274320"/>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Anomaly events</a:t>
            </a:r>
          </a:p>
        </p:txBody>
      </p:sp>
      <p:sp>
        <p:nvSpPr>
          <p:cNvPr id="21" name="TextBox 20"/>
          <p:cNvSpPr txBox="1"/>
          <p:nvPr/>
        </p:nvSpPr>
        <p:spPr>
          <a:xfrm>
            <a:off x="1078992" y="5138928"/>
            <a:ext cx="4846320" cy="45720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sudden slowdown flags, the typical signature of a crash or closure, in near real time</a:t>
            </a:r>
          </a:p>
        </p:txBody>
      </p:sp>
      <p:sp>
        <p:nvSpPr>
          <p:cNvPr id="22" name="Rounded Rectangle 21"/>
          <p:cNvSpPr/>
          <p:nvPr/>
        </p:nvSpPr>
        <p:spPr>
          <a:xfrm>
            <a:off x="6263640" y="2103120"/>
            <a:ext cx="5349240" cy="3566160"/>
          </a:xfrm>
          <a:prstGeom prst="roundRect">
            <a:avLst>
              <a:gd name="adj" fmla="val 8000"/>
            </a:avLst>
          </a:prstGeom>
          <a:solidFill>
            <a:srgbClr val="4A35FF"/>
          </a:solidFill>
          <a:ln>
            <a:noFill/>
          </a:ln>
          <a:effectLst/>
        </p:spPr>
        <p:txBody>
          <a:bodyPr rtlCol="0" anchor="ctr"/>
          <a:lstStyle/>
          <a:p>
            <a:pPr algn="ctr"/>
          </a:p>
        </p:txBody>
      </p:sp>
      <p:sp>
        <p:nvSpPr>
          <p:cNvPr id="23" name="TextBox 22"/>
          <p:cNvSpPr txBox="1"/>
          <p:nvPr/>
        </p:nvSpPr>
        <p:spPr>
          <a:xfrm>
            <a:off x="6492240" y="2286000"/>
            <a:ext cx="4892040" cy="237744"/>
          </a:xfrm>
          <a:prstGeom prst="rect">
            <a:avLst/>
          </a:prstGeom>
          <a:noFill/>
        </p:spPr>
        <p:txBody>
          <a:bodyPr wrap="square" lIns="0" rIns="0" tIns="0" bIns="0" anchor="t">
            <a:spAutoFit/>
          </a:bodyPr>
          <a:lstStyle/>
          <a:p>
            <a:pPr algn="l">
              <a:lnSpc>
                <a:spcPct val="128000"/>
              </a:lnSpc>
            </a:pPr>
            <a:r>
              <a:rPr sz="900" b="1" i="0" spc="150">
                <a:solidFill>
                  <a:srgbClr val="C8C0FF"/>
                </a:solidFill>
                <a:latin typeface="Montserrat"/>
              </a:rPr>
              <a:t>WHAT WE WOULD LIKE TO LEARN FROM YOU</a:t>
            </a:r>
          </a:p>
        </p:txBody>
      </p:sp>
      <p:sp>
        <p:nvSpPr>
          <p:cNvPr id="24" name="TextBox 23"/>
          <p:cNvSpPr txBox="1"/>
          <p:nvPr/>
        </p:nvSpPr>
        <p:spPr>
          <a:xfrm>
            <a:off x="6492240" y="2670048"/>
            <a:ext cx="4892040" cy="594360"/>
          </a:xfrm>
          <a:prstGeom prst="rect">
            <a:avLst/>
          </a:prstGeom>
          <a:noFill/>
        </p:spPr>
        <p:txBody>
          <a:bodyPr wrap="square" lIns="0" rIns="0" tIns="0" bIns="0" anchor="t">
            <a:spAutoFit/>
          </a:bodyPr>
          <a:lstStyle/>
          <a:p>
            <a:pPr algn="l">
              <a:lnSpc>
                <a:spcPct val="125000"/>
              </a:lnSpc>
            </a:pPr>
            <a:r>
              <a:rPr sz="950" b="0" i="0">
                <a:solidFill>
                  <a:srgbClr val="FFFFFF"/>
                </a:solidFill>
                <a:latin typeface="Geist"/>
              </a:rPr>
              <a:t>Does RMI, or its roadmap, include crash-risk or hotspot layers, like the accident-prone-area alerts consumer Maps ships in India?</a:t>
            </a:r>
          </a:p>
        </p:txBody>
      </p:sp>
      <p:sp>
        <p:nvSpPr>
          <p:cNvPr id="25" name="TextBox 24"/>
          <p:cNvSpPr txBox="1"/>
          <p:nvPr/>
        </p:nvSpPr>
        <p:spPr>
          <a:xfrm>
            <a:off x="6492240" y="3419856"/>
            <a:ext cx="4892040" cy="594360"/>
          </a:xfrm>
          <a:prstGeom prst="rect">
            <a:avLst/>
          </a:prstGeom>
          <a:noFill/>
        </p:spPr>
        <p:txBody>
          <a:bodyPr wrap="square" lIns="0" rIns="0" tIns="0" bIns="0" anchor="t">
            <a:spAutoFit/>
          </a:bodyPr>
          <a:lstStyle/>
          <a:p>
            <a:pPr algn="l">
              <a:lnSpc>
                <a:spcPct val="125000"/>
              </a:lnSpc>
            </a:pPr>
            <a:r>
              <a:rPr sz="950" b="0" i="0">
                <a:solidFill>
                  <a:srgbClr val="FFFFFF"/>
                </a:solidFill>
                <a:latin typeface="Geist"/>
              </a:rPr>
              <a:t>What segment granularity and coverage should we expect on smaller urban streets, for example the roads outside schools?</a:t>
            </a:r>
          </a:p>
        </p:txBody>
      </p:sp>
      <p:sp>
        <p:nvSpPr>
          <p:cNvPr id="26" name="TextBox 25"/>
          <p:cNvSpPr txBox="1"/>
          <p:nvPr/>
        </p:nvSpPr>
        <p:spPr>
          <a:xfrm>
            <a:off x="6492240" y="4169664"/>
            <a:ext cx="4892040" cy="594360"/>
          </a:xfrm>
          <a:prstGeom prst="rect">
            <a:avLst/>
          </a:prstGeom>
          <a:noFill/>
        </p:spPr>
        <p:txBody>
          <a:bodyPr wrap="square" lIns="0" rIns="0" tIns="0" bIns="0" anchor="t">
            <a:spAutoFit/>
          </a:bodyPr>
          <a:lstStyle/>
          <a:p>
            <a:pPr algn="l">
              <a:lnSpc>
                <a:spcPct val="125000"/>
              </a:lnSpc>
            </a:pPr>
            <a:r>
              <a:rPr sz="950" b="0" i="0">
                <a:solidFill>
                  <a:srgbClr val="FFFFFF"/>
                </a:solidFill>
                <a:latin typeface="Geist"/>
              </a:rPr>
              <a:t>Can the speed-limit layer behind the India rollout be joined to RMI speeds for compliance analysis?</a:t>
            </a:r>
          </a:p>
        </p:txBody>
      </p:sp>
      <p:sp>
        <p:nvSpPr>
          <p:cNvPr id="27" name="TextBox 26"/>
          <p:cNvSpPr txBox="1"/>
          <p:nvPr/>
        </p:nvSpPr>
        <p:spPr>
          <a:xfrm>
            <a:off x="6492240" y="4919472"/>
            <a:ext cx="4892040" cy="594360"/>
          </a:xfrm>
          <a:prstGeom prst="rect">
            <a:avLst/>
          </a:prstGeom>
          <a:noFill/>
        </p:spPr>
        <p:txBody>
          <a:bodyPr wrap="square" lIns="0" rIns="0" tIns="0" bIns="0" anchor="t">
            <a:spAutoFit/>
          </a:bodyPr>
          <a:lstStyle/>
          <a:p>
            <a:pPr algn="l">
              <a:lnSpc>
                <a:spcPct val="125000"/>
              </a:lnSpc>
            </a:pPr>
            <a:r>
              <a:rPr sz="950" b="0" i="0">
                <a:solidFill>
                  <a:srgbClr val="FFFFFF"/>
                </a:solidFill>
                <a:latin typeface="Geist"/>
              </a:rPr>
              <a:t>How do NGO and authority partnerships access RMI in practice: scope, terms, and the role Lepton plays?</a:t>
            </a:r>
          </a:p>
        </p:txBody>
      </p:sp>
      <p:sp>
        <p:nvSpPr>
          <p:cNvPr id="28" name="TextBox 27"/>
          <p:cNvSpPr txBox="1"/>
          <p:nvPr/>
        </p:nvSpPr>
        <p:spPr>
          <a:xfrm>
            <a:off x="566928" y="5897880"/>
            <a:ext cx="11057839" cy="320040"/>
          </a:xfrm>
          <a:prstGeom prst="rect">
            <a:avLst/>
          </a:prstGeom>
          <a:noFill/>
        </p:spPr>
        <p:txBody>
          <a:bodyPr wrap="square" lIns="0" rIns="0" tIns="0" bIns="0" anchor="t">
            <a:spAutoFit/>
          </a:bodyPr>
          <a:lstStyle/>
          <a:p>
            <a:pPr algn="l">
              <a:lnSpc>
                <a:spcPct val="120000"/>
              </a:lnSpc>
            </a:pPr>
            <a:r>
              <a:rPr sz="950" b="0" i="1">
                <a:solidFill>
                  <a:srgbClr val="6E7180"/>
                </a:solidFill>
                <a:latin typeface="Geist"/>
              </a:rPr>
              <a:t>As we understand it, RMI works at the level of traffic streams: no number plates and no individual vehicles. Police crash records are ours to bring.</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THE PRODUCTS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PRODUCT 1, THE DEFECT REPOSITORY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national defect map, </a:t>
            </a:r>
            <a:r>
              <a:rPr sz="2250" b="1" i="0">
                <a:solidFill>
                  <a:srgbClr val="4A35FF"/>
                </a:solidFill>
                <a:latin typeface="Montserrat"/>
              </a:rPr>
              <a:t>built jointly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Live today, built by us, open to all. With government blackspot data and the RMI speed layer, it becomes a national road-risk product.</a:t>
            </a:r>
          </a:p>
        </p:txBody>
      </p:sp>
      <p:pic>
        <p:nvPicPr>
          <p:cNvPr id="8" name="Picture 7" descr="defect_live.png_6.10x2.75_0.00.jpg"/>
          <p:cNvPicPr>
            <a:picLocks noChangeAspect="1"/>
          </p:cNvPicPr>
          <p:nvPr/>
        </p:nvPicPr>
        <p:blipFill>
          <a:blip r:embed="rId2"/>
          <a:stretch>
            <a:fillRect/>
          </a:stretch>
        </p:blipFill>
        <p:spPr>
          <a:xfrm>
            <a:off x="566928" y="1965960"/>
            <a:ext cx="5577840" cy="2514600"/>
          </a:xfrm>
          <a:prstGeom prst="rect">
            <a:avLst/>
          </a:prstGeom>
        </p:spPr>
      </p:pic>
      <p:sp>
        <p:nvSpPr>
          <p:cNvPr id="9" name="Rectangle 8"/>
          <p:cNvSpPr/>
          <p:nvPr/>
        </p:nvSpPr>
        <p:spPr>
          <a:xfrm>
            <a:off x="566928" y="1965960"/>
            <a:ext cx="5577840" cy="25146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526280"/>
            <a:ext cx="5577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Live, 3 Aug 2026: 502 locations, 618 public incidents, 102 deaths, 302 injuries on record; filters by state, district, road type, defect and priority.</a:t>
            </a:r>
          </a:p>
        </p:txBody>
      </p:sp>
      <p:sp>
        <p:nvSpPr>
          <p:cNvPr id="11" name="Rounded Rectangle 10"/>
          <p:cNvSpPr/>
          <p:nvPr/>
        </p:nvSpPr>
        <p:spPr>
          <a:xfrm>
            <a:off x="566928" y="5138928"/>
            <a:ext cx="1316736" cy="566928"/>
          </a:xfrm>
          <a:prstGeom prst="roundRect">
            <a:avLst>
              <a:gd name="adj" fmla="val 12000"/>
            </a:avLst>
          </a:prstGeom>
          <a:solidFill>
            <a:srgbClr val="E7F4F4"/>
          </a:solidFill>
          <a:ln>
            <a:noFill/>
          </a:ln>
          <a:effectLst/>
        </p:spPr>
        <p:txBody>
          <a:bodyPr rtlCol="0" anchor="ctr"/>
          <a:lstStyle/>
          <a:p>
            <a:pPr algn="ctr"/>
          </a:p>
        </p:txBody>
      </p:sp>
      <p:sp>
        <p:nvSpPr>
          <p:cNvPr id="12" name="TextBox 11"/>
          <p:cNvSpPr txBox="1"/>
          <p:nvPr/>
        </p:nvSpPr>
        <p:spPr>
          <a:xfrm>
            <a:off x="658368" y="5193792"/>
            <a:ext cx="1133856" cy="237744"/>
          </a:xfrm>
          <a:prstGeom prst="rect">
            <a:avLst/>
          </a:prstGeom>
          <a:noFill/>
        </p:spPr>
        <p:txBody>
          <a:bodyPr wrap="square" lIns="0" rIns="0" tIns="0" bIns="0" anchor="t">
            <a:spAutoFit/>
          </a:bodyPr>
          <a:lstStyle/>
          <a:p>
            <a:pPr algn="l">
              <a:lnSpc>
                <a:spcPct val="100000"/>
              </a:lnSpc>
            </a:pPr>
            <a:r>
              <a:rPr sz="1100" b="1" i="0">
                <a:solidFill>
                  <a:srgbClr val="0E8A8A"/>
                </a:solidFill>
                <a:latin typeface="Montserrat"/>
              </a:rPr>
              <a:t>146</a:t>
            </a:r>
          </a:p>
        </p:txBody>
      </p:sp>
      <p:sp>
        <p:nvSpPr>
          <p:cNvPr id="13" name="TextBox 12"/>
          <p:cNvSpPr txBox="1"/>
          <p:nvPr/>
        </p:nvSpPr>
        <p:spPr>
          <a:xfrm>
            <a:off x="658368" y="5431536"/>
            <a:ext cx="1133856" cy="237744"/>
          </a:xfrm>
          <a:prstGeom prst="rect">
            <a:avLst/>
          </a:prstGeom>
          <a:noFill/>
        </p:spPr>
        <p:txBody>
          <a:bodyPr wrap="square" lIns="0" rIns="0" tIns="0" bIns="0" anchor="t">
            <a:spAutoFit/>
          </a:bodyPr>
          <a:lstStyle/>
          <a:p>
            <a:pPr algn="l">
              <a:lnSpc>
                <a:spcPct val="100000"/>
              </a:lnSpc>
            </a:pPr>
            <a:r>
              <a:rPr sz="650" b="0" i="0">
                <a:solidFill>
                  <a:srgbClr val="6E7180"/>
                </a:solidFill>
                <a:latin typeface="Geist"/>
              </a:rPr>
              <a:t>districts scanned daily</a:t>
            </a:r>
          </a:p>
        </p:txBody>
      </p:sp>
      <p:sp>
        <p:nvSpPr>
          <p:cNvPr id="14" name="Rounded Rectangle 13"/>
          <p:cNvSpPr/>
          <p:nvPr/>
        </p:nvSpPr>
        <p:spPr>
          <a:xfrm>
            <a:off x="1993392" y="5138928"/>
            <a:ext cx="1316736" cy="566928"/>
          </a:xfrm>
          <a:prstGeom prst="roundRect">
            <a:avLst>
              <a:gd name="adj" fmla="val 12000"/>
            </a:avLst>
          </a:prstGeom>
          <a:solidFill>
            <a:srgbClr val="E7F4F4"/>
          </a:solidFill>
          <a:ln>
            <a:noFill/>
          </a:ln>
          <a:effectLst/>
        </p:spPr>
        <p:txBody>
          <a:bodyPr rtlCol="0" anchor="ctr"/>
          <a:lstStyle/>
          <a:p>
            <a:pPr algn="ctr"/>
          </a:p>
        </p:txBody>
      </p:sp>
      <p:sp>
        <p:nvSpPr>
          <p:cNvPr id="15" name="TextBox 14"/>
          <p:cNvSpPr txBox="1"/>
          <p:nvPr/>
        </p:nvSpPr>
        <p:spPr>
          <a:xfrm>
            <a:off x="2084832" y="5193792"/>
            <a:ext cx="1133856" cy="237744"/>
          </a:xfrm>
          <a:prstGeom prst="rect">
            <a:avLst/>
          </a:prstGeom>
          <a:noFill/>
        </p:spPr>
        <p:txBody>
          <a:bodyPr wrap="square" lIns="0" rIns="0" tIns="0" bIns="0" anchor="t">
            <a:spAutoFit/>
          </a:bodyPr>
          <a:lstStyle/>
          <a:p>
            <a:pPr algn="l">
              <a:lnSpc>
                <a:spcPct val="100000"/>
              </a:lnSpc>
            </a:pPr>
            <a:r>
              <a:rPr sz="1100" b="1" i="0">
                <a:solidFill>
                  <a:srgbClr val="0E8A8A"/>
                </a:solidFill>
                <a:latin typeface="Montserrat"/>
              </a:rPr>
              <a:t>13</a:t>
            </a:r>
          </a:p>
        </p:txBody>
      </p:sp>
      <p:sp>
        <p:nvSpPr>
          <p:cNvPr id="16" name="TextBox 15"/>
          <p:cNvSpPr txBox="1"/>
          <p:nvPr/>
        </p:nvSpPr>
        <p:spPr>
          <a:xfrm>
            <a:off x="2084832" y="5431536"/>
            <a:ext cx="1133856" cy="237744"/>
          </a:xfrm>
          <a:prstGeom prst="rect">
            <a:avLst/>
          </a:prstGeom>
          <a:noFill/>
        </p:spPr>
        <p:txBody>
          <a:bodyPr wrap="square" lIns="0" rIns="0" tIns="0" bIns="0" anchor="t">
            <a:spAutoFit/>
          </a:bodyPr>
          <a:lstStyle/>
          <a:p>
            <a:pPr algn="l">
              <a:lnSpc>
                <a:spcPct val="100000"/>
              </a:lnSpc>
            </a:pPr>
            <a:r>
              <a:rPr sz="650" b="0" i="0">
                <a:solidFill>
                  <a:srgbClr val="6E7180"/>
                </a:solidFill>
                <a:latin typeface="Geist"/>
              </a:rPr>
              <a:t>languages read</a:t>
            </a:r>
          </a:p>
        </p:txBody>
      </p:sp>
      <p:sp>
        <p:nvSpPr>
          <p:cNvPr id="17" name="Rounded Rectangle 16"/>
          <p:cNvSpPr/>
          <p:nvPr/>
        </p:nvSpPr>
        <p:spPr>
          <a:xfrm>
            <a:off x="3419856" y="5138928"/>
            <a:ext cx="1316736" cy="566928"/>
          </a:xfrm>
          <a:prstGeom prst="roundRect">
            <a:avLst>
              <a:gd name="adj" fmla="val 12000"/>
            </a:avLst>
          </a:prstGeom>
          <a:solidFill>
            <a:srgbClr val="E7F4F4"/>
          </a:solidFill>
          <a:ln>
            <a:noFill/>
          </a:ln>
          <a:effectLst/>
        </p:spPr>
        <p:txBody>
          <a:bodyPr rtlCol="0" anchor="ctr"/>
          <a:lstStyle/>
          <a:p>
            <a:pPr algn="ctr"/>
          </a:p>
        </p:txBody>
      </p:sp>
      <p:sp>
        <p:nvSpPr>
          <p:cNvPr id="18" name="TextBox 17"/>
          <p:cNvSpPr txBox="1"/>
          <p:nvPr/>
        </p:nvSpPr>
        <p:spPr>
          <a:xfrm>
            <a:off x="3511296" y="5193792"/>
            <a:ext cx="1133856" cy="237744"/>
          </a:xfrm>
          <a:prstGeom prst="rect">
            <a:avLst/>
          </a:prstGeom>
          <a:noFill/>
        </p:spPr>
        <p:txBody>
          <a:bodyPr wrap="square" lIns="0" rIns="0" tIns="0" bIns="0" anchor="t">
            <a:spAutoFit/>
          </a:bodyPr>
          <a:lstStyle/>
          <a:p>
            <a:pPr algn="l">
              <a:lnSpc>
                <a:spcPct val="100000"/>
              </a:lnSpc>
            </a:pPr>
            <a:r>
              <a:rPr sz="1100" b="1" i="0">
                <a:solidFill>
                  <a:srgbClr val="0E8A8A"/>
                </a:solidFill>
                <a:latin typeface="Montserrat"/>
              </a:rPr>
              <a:t>21</a:t>
            </a:r>
          </a:p>
        </p:txBody>
      </p:sp>
      <p:sp>
        <p:nvSpPr>
          <p:cNvPr id="19" name="TextBox 18"/>
          <p:cNvSpPr txBox="1"/>
          <p:nvPr/>
        </p:nvSpPr>
        <p:spPr>
          <a:xfrm>
            <a:off x="3511296" y="5431536"/>
            <a:ext cx="1133856" cy="237744"/>
          </a:xfrm>
          <a:prstGeom prst="rect">
            <a:avLst/>
          </a:prstGeom>
          <a:noFill/>
        </p:spPr>
        <p:txBody>
          <a:bodyPr wrap="square" lIns="0" rIns="0" tIns="0" bIns="0" anchor="t">
            <a:spAutoFit/>
          </a:bodyPr>
          <a:lstStyle/>
          <a:p>
            <a:pPr algn="l">
              <a:lnSpc>
                <a:spcPct val="100000"/>
              </a:lnSpc>
            </a:pPr>
            <a:r>
              <a:rPr sz="650" b="0" i="0">
                <a:solidFill>
                  <a:srgbClr val="6E7180"/>
                </a:solidFill>
                <a:latin typeface="Geist"/>
              </a:rPr>
              <a:t>defect codes</a:t>
            </a:r>
          </a:p>
        </p:txBody>
      </p:sp>
      <p:sp>
        <p:nvSpPr>
          <p:cNvPr id="20" name="Rounded Rectangle 19"/>
          <p:cNvSpPr/>
          <p:nvPr/>
        </p:nvSpPr>
        <p:spPr>
          <a:xfrm>
            <a:off x="4846320" y="5138928"/>
            <a:ext cx="1316736" cy="566928"/>
          </a:xfrm>
          <a:prstGeom prst="roundRect">
            <a:avLst>
              <a:gd name="adj" fmla="val 12000"/>
            </a:avLst>
          </a:prstGeom>
          <a:solidFill>
            <a:srgbClr val="E7F4F4"/>
          </a:solidFill>
          <a:ln>
            <a:noFill/>
          </a:ln>
          <a:effectLst/>
        </p:spPr>
        <p:txBody>
          <a:bodyPr rtlCol="0" anchor="ctr"/>
          <a:lstStyle/>
          <a:p>
            <a:pPr algn="ctr"/>
          </a:p>
        </p:txBody>
      </p:sp>
      <p:sp>
        <p:nvSpPr>
          <p:cNvPr id="21" name="TextBox 20"/>
          <p:cNvSpPr txBox="1"/>
          <p:nvPr/>
        </p:nvSpPr>
        <p:spPr>
          <a:xfrm>
            <a:off x="4937760" y="5193792"/>
            <a:ext cx="1133856" cy="237744"/>
          </a:xfrm>
          <a:prstGeom prst="rect">
            <a:avLst/>
          </a:prstGeom>
          <a:noFill/>
        </p:spPr>
        <p:txBody>
          <a:bodyPr wrap="square" lIns="0" rIns="0" tIns="0" bIns="0" anchor="t">
            <a:spAutoFit/>
          </a:bodyPr>
          <a:lstStyle/>
          <a:p>
            <a:pPr algn="l">
              <a:lnSpc>
                <a:spcPct val="100000"/>
              </a:lnSpc>
            </a:pPr>
            <a:r>
              <a:rPr sz="1100" b="1" i="0">
                <a:solidFill>
                  <a:srgbClr val="0E8A8A"/>
                </a:solidFill>
                <a:latin typeface="Montserrat"/>
              </a:rPr>
              <a:t>Daily</a:t>
            </a:r>
          </a:p>
        </p:txBody>
      </p:sp>
      <p:sp>
        <p:nvSpPr>
          <p:cNvPr id="22" name="TextBox 21"/>
          <p:cNvSpPr txBox="1"/>
          <p:nvPr/>
        </p:nvSpPr>
        <p:spPr>
          <a:xfrm>
            <a:off x="4937760" y="5431536"/>
            <a:ext cx="1133856" cy="237744"/>
          </a:xfrm>
          <a:prstGeom prst="rect">
            <a:avLst/>
          </a:prstGeom>
          <a:noFill/>
        </p:spPr>
        <p:txBody>
          <a:bodyPr wrap="square" lIns="0" rIns="0" tIns="0" bIns="0" anchor="t">
            <a:spAutoFit/>
          </a:bodyPr>
          <a:lstStyle/>
          <a:p>
            <a:pPr algn="l">
              <a:lnSpc>
                <a:spcPct val="100000"/>
              </a:lnSpc>
            </a:pPr>
            <a:r>
              <a:rPr sz="650" b="0" i="0">
                <a:solidFill>
                  <a:srgbClr val="6E7180"/>
                </a:solidFill>
                <a:latin typeface="Geist"/>
              </a:rPr>
              <a:t>07:00 IST auto-run</a:t>
            </a:r>
          </a:p>
        </p:txBody>
      </p:sp>
      <p:sp>
        <p:nvSpPr>
          <p:cNvPr id="23" name="Oval 22"/>
          <p:cNvSpPr/>
          <p:nvPr/>
        </p:nvSpPr>
        <p:spPr>
          <a:xfrm>
            <a:off x="6446520" y="1965960"/>
            <a:ext cx="384048" cy="384048"/>
          </a:xfrm>
          <a:prstGeom prst="ellipse">
            <a:avLst/>
          </a:prstGeom>
          <a:solidFill>
            <a:srgbClr val="EFEDFF"/>
          </a:solidFill>
          <a:ln>
            <a:noFill/>
          </a:ln>
          <a:effectLst/>
        </p:spPr>
        <p:txBody>
          <a:bodyPr rtlCol="0" anchor="ctr"/>
          <a:lstStyle/>
          <a:p>
            <a:pPr algn="ctr"/>
          </a:p>
        </p:txBody>
      </p:sp>
      <p:pic>
        <p:nvPicPr>
          <p:cNvPr id="24" name="Picture 23" descr="layers_4A35FF_256_2.0.png"/>
          <p:cNvPicPr>
            <a:picLocks noChangeAspect="1"/>
          </p:cNvPicPr>
          <p:nvPr/>
        </p:nvPicPr>
        <p:blipFill>
          <a:blip r:embed="rId3"/>
          <a:stretch>
            <a:fillRect/>
          </a:stretch>
        </p:blipFill>
        <p:spPr>
          <a:xfrm>
            <a:off x="6538691" y="2058131"/>
            <a:ext cx="199704" cy="199704"/>
          </a:xfrm>
          <a:prstGeom prst="rect">
            <a:avLst/>
          </a:prstGeom>
        </p:spPr>
      </p:pic>
      <p:sp>
        <p:nvSpPr>
          <p:cNvPr id="25" name="TextBox 24"/>
          <p:cNvSpPr txBox="1"/>
          <p:nvPr/>
        </p:nvSpPr>
        <p:spPr>
          <a:xfrm>
            <a:off x="6976872" y="1938528"/>
            <a:ext cx="4572000" cy="292608"/>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What we bring</a:t>
            </a:r>
          </a:p>
        </p:txBody>
      </p:sp>
      <p:sp>
        <p:nvSpPr>
          <p:cNvPr id="26" name="TextBox 25"/>
          <p:cNvSpPr txBox="1"/>
          <p:nvPr/>
        </p:nvSpPr>
        <p:spPr>
          <a:xfrm>
            <a:off x="6976872" y="2240280"/>
            <a:ext cx="457200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live news-mined repository, human-reviewed with source evidence, plus government blackspot data we already hold: MoRTH's 13,795 notified black spots, and Jaipur's 96 police-mapped crash clusters.</a:t>
            </a:r>
          </a:p>
        </p:txBody>
      </p:sp>
      <p:sp>
        <p:nvSpPr>
          <p:cNvPr id="27" name="Oval 26"/>
          <p:cNvSpPr/>
          <p:nvPr/>
        </p:nvSpPr>
        <p:spPr>
          <a:xfrm>
            <a:off x="6446520" y="3264408"/>
            <a:ext cx="384048" cy="384048"/>
          </a:xfrm>
          <a:prstGeom prst="ellipse">
            <a:avLst/>
          </a:prstGeom>
          <a:solidFill>
            <a:srgbClr val="E7F4F4"/>
          </a:solidFill>
          <a:ln>
            <a:noFill/>
          </a:ln>
          <a:effectLst/>
        </p:spPr>
        <p:txBody>
          <a:bodyPr rtlCol="0" anchor="ctr"/>
          <a:lstStyle/>
          <a:p>
            <a:pPr algn="ctr"/>
          </a:p>
        </p:txBody>
      </p:sp>
      <p:pic>
        <p:nvPicPr>
          <p:cNvPr id="28" name="Picture 27" descr="gauge_0E8A8A_256_2.0.png"/>
          <p:cNvPicPr>
            <a:picLocks noChangeAspect="1"/>
          </p:cNvPicPr>
          <p:nvPr/>
        </p:nvPicPr>
        <p:blipFill>
          <a:blip r:embed="rId4"/>
          <a:stretch>
            <a:fillRect/>
          </a:stretch>
        </p:blipFill>
        <p:spPr>
          <a:xfrm>
            <a:off x="6538691" y="3356579"/>
            <a:ext cx="199704" cy="199704"/>
          </a:xfrm>
          <a:prstGeom prst="rect">
            <a:avLst/>
          </a:prstGeom>
        </p:spPr>
      </p:pic>
      <p:sp>
        <p:nvSpPr>
          <p:cNvPr id="29" name="TextBox 28"/>
          <p:cNvSpPr txBox="1"/>
          <p:nvPr/>
        </p:nvSpPr>
        <p:spPr>
          <a:xfrm>
            <a:off x="6976872" y="3236976"/>
            <a:ext cx="4572000" cy="292608"/>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What RMI adds</a:t>
            </a:r>
          </a:p>
        </p:txBody>
      </p:sp>
      <p:sp>
        <p:nvSpPr>
          <p:cNvPr id="30" name="TextBox 29"/>
          <p:cNvSpPr txBox="1"/>
          <p:nvPr/>
        </p:nvSpPr>
        <p:spPr>
          <a:xfrm>
            <a:off x="6976872" y="3538728"/>
            <a:ext cx="457200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The measured speed and anomaly layer on defect corridors, so every reported defect carries real exposure alongside the report.</a:t>
            </a:r>
          </a:p>
        </p:txBody>
      </p:sp>
      <p:sp>
        <p:nvSpPr>
          <p:cNvPr id="31" name="Oval 30"/>
          <p:cNvSpPr/>
          <p:nvPr/>
        </p:nvSpPr>
        <p:spPr>
          <a:xfrm>
            <a:off x="6446520" y="4562856"/>
            <a:ext cx="384048" cy="384048"/>
          </a:xfrm>
          <a:prstGeom prst="ellipse">
            <a:avLst/>
          </a:prstGeom>
          <a:solidFill>
            <a:srgbClr val="E9F7F0"/>
          </a:solidFill>
          <a:ln>
            <a:noFill/>
          </a:ln>
          <a:effectLst/>
        </p:spPr>
        <p:txBody>
          <a:bodyPr rtlCol="0" anchor="ctr"/>
          <a:lstStyle/>
          <a:p>
            <a:pPr algn="ctr"/>
          </a:p>
        </p:txBody>
      </p:sp>
      <p:pic>
        <p:nvPicPr>
          <p:cNvPr id="32" name="Picture 31" descr="git-compare_0A9955_256_2.0.png"/>
          <p:cNvPicPr>
            <a:picLocks noChangeAspect="1"/>
          </p:cNvPicPr>
          <p:nvPr/>
        </p:nvPicPr>
        <p:blipFill>
          <a:blip r:embed="rId5"/>
          <a:stretch>
            <a:fillRect/>
          </a:stretch>
        </p:blipFill>
        <p:spPr>
          <a:xfrm>
            <a:off x="6538691" y="4655027"/>
            <a:ext cx="199704" cy="199704"/>
          </a:xfrm>
          <a:prstGeom prst="rect">
            <a:avLst/>
          </a:prstGeom>
        </p:spPr>
      </p:pic>
      <p:sp>
        <p:nvSpPr>
          <p:cNvPr id="33" name="TextBox 32"/>
          <p:cNvSpPr txBox="1"/>
          <p:nvPr/>
        </p:nvSpPr>
        <p:spPr>
          <a:xfrm>
            <a:off x="6976872" y="4535424"/>
            <a:ext cx="4572000" cy="292608"/>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What it becomes</a:t>
            </a:r>
          </a:p>
        </p:txBody>
      </p:sp>
      <p:sp>
        <p:nvSpPr>
          <p:cNvPr id="34" name="TextBox 33"/>
          <p:cNvSpPr txBox="1"/>
          <p:nvPr/>
        </p:nvSpPr>
        <p:spPr>
          <a:xfrm>
            <a:off x="6976872" y="4837176"/>
            <a:ext cx="4572000" cy="91440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One public map where defects, crashes and speeds meet: a joint evidence product for authorities, published with attribution on every chart.</a:t>
            </a:r>
          </a:p>
        </p:txBody>
      </p:sp>
      <p:cxnSp>
        <p:nvCxnSpPr>
          <p:cNvPr id="35" name="Connector 34"/>
          <p:cNvCxnSpPr/>
          <p:nvPr/>
        </p:nvCxnSpPr>
        <p:spPr>
          <a:xfrm>
            <a:off x="566928" y="6455664"/>
            <a:ext cx="11057839" cy="0"/>
          </a:xfrm>
          <a:prstGeom prst="line">
            <a:avLst/>
          </a:prstGeom>
          <a:ln w="9525">
            <a:solidFill>
              <a:srgbClr val="E8E9EE"/>
            </a:solidFill>
          </a:ln>
          <a:effectLst/>
        </p:spPr>
      </p:cxnSp>
      <p:sp>
        <p:nvSpPr>
          <p:cNvPr id="36" name="TextBox 35"/>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37" name="TextBox 3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THE PRODUCTS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PRODUCT 2, THE SCHOOL SAFETY INDEX</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School-zone safety, graded in public, </a:t>
            </a:r>
            <a:r>
              <a:rPr sz="2250" b="1" i="0">
                <a:solidFill>
                  <a:srgbClr val="4A35FF"/>
                </a:solidFill>
                <a:latin typeface="Montserrat"/>
              </a:rPr>
              <a:t>school by school</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Running today on Google's own imagery and APIs. RMI would add the one input a photograph cannot give: the speed past the gate.</a:t>
            </a:r>
          </a:p>
        </p:txBody>
      </p:sp>
      <p:pic>
        <p:nvPicPr>
          <p:cNvPr id="8" name="Picture 7" descr="slide_ssi_index.png"/>
          <p:cNvPicPr>
            <a:picLocks noChangeAspect="1"/>
          </p:cNvPicPr>
          <p:nvPr/>
        </p:nvPicPr>
        <p:blipFill>
          <a:blip r:embed="rId2"/>
          <a:stretch>
            <a:fillRect/>
          </a:stretch>
        </p:blipFill>
        <p:spPr>
          <a:xfrm>
            <a:off x="566928" y="1965960"/>
            <a:ext cx="2788920" cy="2178843"/>
          </a:xfrm>
          <a:prstGeom prst="rect">
            <a:avLst/>
          </a:prstGeom>
        </p:spPr>
      </p:pic>
      <p:sp>
        <p:nvSpPr>
          <p:cNvPr id="9" name="Rectangle 8"/>
          <p:cNvSpPr/>
          <p:nvPr/>
        </p:nvSpPr>
        <p:spPr>
          <a:xfrm>
            <a:off x="566928" y="1965960"/>
            <a:ext cx="2788920" cy="2178843"/>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190523"/>
            <a:ext cx="278892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public index, worst grades first.</a:t>
            </a:r>
          </a:p>
        </p:txBody>
      </p:sp>
      <p:pic>
        <p:nvPicPr>
          <p:cNvPr id="11" name="Picture 10" descr="opt_slide_ssi_school_1500.jpg"/>
          <p:cNvPicPr>
            <a:picLocks noChangeAspect="1"/>
          </p:cNvPicPr>
          <p:nvPr/>
        </p:nvPicPr>
        <p:blipFill>
          <a:blip r:embed="rId3"/>
          <a:stretch>
            <a:fillRect/>
          </a:stretch>
        </p:blipFill>
        <p:spPr>
          <a:xfrm>
            <a:off x="3520440" y="1965960"/>
            <a:ext cx="2786742" cy="2286000"/>
          </a:xfrm>
          <a:prstGeom prst="rect">
            <a:avLst/>
          </a:prstGeom>
        </p:spPr>
      </p:pic>
      <p:sp>
        <p:nvSpPr>
          <p:cNvPr id="12" name="Rectangle 11"/>
          <p:cNvSpPr/>
          <p:nvPr/>
        </p:nvSpPr>
        <p:spPr>
          <a:xfrm>
            <a:off x="3520440" y="1965960"/>
            <a:ext cx="2786742" cy="228600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3520440" y="4297680"/>
            <a:ext cx="2786742"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A school's report card, with pinned</a:t>
            </a:r>
          </a:p>
          <a:p>
            <a:pPr algn="l">
              <a:lnSpc>
                <a:spcPct val="112000"/>
              </a:lnSpc>
            </a:pPr>
            <a:r>
              <a:rPr sz="850" b="0" i="0">
                <a:solidFill>
                  <a:srgbClr val="6E7180"/>
                </a:solidFill>
                <a:latin typeface="Geist"/>
              </a:rPr>
              <a:t>Street View evidence.</a:t>
            </a:r>
          </a:p>
        </p:txBody>
      </p:sp>
      <p:sp>
        <p:nvSpPr>
          <p:cNvPr id="14" name="TextBox 13"/>
          <p:cNvSpPr txBox="1"/>
          <p:nvPr/>
        </p:nvSpPr>
        <p:spPr>
          <a:xfrm>
            <a:off x="566928" y="4800600"/>
            <a:ext cx="576072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HOW IT WORKS TODAY</a:t>
            </a:r>
          </a:p>
        </p:txBody>
      </p:sp>
      <p:sp>
        <p:nvSpPr>
          <p:cNvPr id="15" name="Oval 14"/>
          <p:cNvSpPr/>
          <p:nvPr/>
        </p:nvSpPr>
        <p:spPr>
          <a:xfrm>
            <a:off x="566928" y="5120640"/>
            <a:ext cx="329184" cy="329184"/>
          </a:xfrm>
          <a:prstGeom prst="ellipse">
            <a:avLst/>
          </a:prstGeom>
          <a:solidFill>
            <a:srgbClr val="EFEDFF"/>
          </a:solidFill>
          <a:ln>
            <a:noFill/>
          </a:ln>
          <a:effectLst/>
        </p:spPr>
        <p:txBody>
          <a:bodyPr rtlCol="0" anchor="ctr"/>
          <a:lstStyle/>
          <a:p>
            <a:pPr algn="ctr"/>
          </a:p>
        </p:txBody>
      </p:sp>
      <p:pic>
        <p:nvPicPr>
          <p:cNvPr id="16" name="Picture 15" descr="map-pin_4A35FF_256_2.0.png"/>
          <p:cNvPicPr>
            <a:picLocks noChangeAspect="1"/>
          </p:cNvPicPr>
          <p:nvPr/>
        </p:nvPicPr>
        <p:blipFill>
          <a:blip r:embed="rId4"/>
          <a:stretch>
            <a:fillRect/>
          </a:stretch>
        </p:blipFill>
        <p:spPr>
          <a:xfrm>
            <a:off x="645932" y="5199644"/>
            <a:ext cx="171175" cy="171175"/>
          </a:xfrm>
          <a:prstGeom prst="rect">
            <a:avLst/>
          </a:prstGeom>
        </p:spPr>
      </p:pic>
      <p:sp>
        <p:nvSpPr>
          <p:cNvPr id="17" name="TextBox 16"/>
          <p:cNvSpPr txBox="1"/>
          <p:nvPr/>
        </p:nvSpPr>
        <p:spPr>
          <a:xfrm>
            <a:off x="1005840" y="5148072"/>
            <a:ext cx="2468880" cy="411480"/>
          </a:xfrm>
          <a:prstGeom prst="rect">
            <a:avLst/>
          </a:prstGeom>
          <a:noFill/>
        </p:spPr>
        <p:txBody>
          <a:bodyPr wrap="square" lIns="0" rIns="0" tIns="0" bIns="0" anchor="t">
            <a:spAutoFit/>
          </a:bodyPr>
          <a:lstStyle/>
          <a:p>
            <a:pPr algn="l">
              <a:lnSpc>
                <a:spcPct val="110000"/>
              </a:lnSpc>
            </a:pPr>
            <a:r>
              <a:rPr sz="800" b="0" i="0">
                <a:solidFill>
                  <a:srgbClr val="16181D"/>
                </a:solidFill>
                <a:latin typeface="Geist"/>
              </a:rPr>
              <a:t>3,814 Delhi NCR schools sourced via the Places API</a:t>
            </a:r>
          </a:p>
        </p:txBody>
      </p:sp>
      <p:sp>
        <p:nvSpPr>
          <p:cNvPr id="18" name="Oval 17"/>
          <p:cNvSpPr/>
          <p:nvPr/>
        </p:nvSpPr>
        <p:spPr>
          <a:xfrm>
            <a:off x="3493008" y="5120640"/>
            <a:ext cx="329184" cy="329184"/>
          </a:xfrm>
          <a:prstGeom prst="ellipse">
            <a:avLst/>
          </a:prstGeom>
          <a:solidFill>
            <a:srgbClr val="EFEDFF"/>
          </a:solidFill>
          <a:ln>
            <a:noFill/>
          </a:ln>
          <a:effectLst/>
        </p:spPr>
        <p:txBody>
          <a:bodyPr rtlCol="0" anchor="ctr"/>
          <a:lstStyle/>
          <a:p>
            <a:pPr algn="ctr"/>
          </a:p>
        </p:txBody>
      </p:sp>
      <p:pic>
        <p:nvPicPr>
          <p:cNvPr id="19" name="Picture 18" descr="camera_4A35FF_256_2.0.png"/>
          <p:cNvPicPr>
            <a:picLocks noChangeAspect="1"/>
          </p:cNvPicPr>
          <p:nvPr/>
        </p:nvPicPr>
        <p:blipFill>
          <a:blip r:embed="rId5"/>
          <a:stretch>
            <a:fillRect/>
          </a:stretch>
        </p:blipFill>
        <p:spPr>
          <a:xfrm>
            <a:off x="3572012" y="5199644"/>
            <a:ext cx="171175" cy="171175"/>
          </a:xfrm>
          <a:prstGeom prst="rect">
            <a:avLst/>
          </a:prstGeom>
        </p:spPr>
      </p:pic>
      <p:sp>
        <p:nvSpPr>
          <p:cNvPr id="20" name="TextBox 19"/>
          <p:cNvSpPr txBox="1"/>
          <p:nvPr/>
        </p:nvSpPr>
        <p:spPr>
          <a:xfrm>
            <a:off x="3931920" y="5148072"/>
            <a:ext cx="2468880" cy="411480"/>
          </a:xfrm>
          <a:prstGeom prst="rect">
            <a:avLst/>
          </a:prstGeom>
          <a:noFill/>
        </p:spPr>
        <p:txBody>
          <a:bodyPr wrap="square" lIns="0" rIns="0" tIns="0" bIns="0" anchor="t">
            <a:spAutoFit/>
          </a:bodyPr>
          <a:lstStyle/>
          <a:p>
            <a:pPr algn="l">
              <a:lnSpc>
                <a:spcPct val="110000"/>
              </a:lnSpc>
            </a:pPr>
            <a:r>
              <a:rPr sz="800" b="0" i="0">
                <a:solidFill>
                  <a:srgbClr val="16181D"/>
                </a:solidFill>
                <a:latin typeface="Geist"/>
              </a:rPr>
              <a:t>Street View coverage checked; 90% of schools have imagery</a:t>
            </a:r>
          </a:p>
        </p:txBody>
      </p:sp>
      <p:sp>
        <p:nvSpPr>
          <p:cNvPr id="21" name="Oval 20"/>
          <p:cNvSpPr/>
          <p:nvPr/>
        </p:nvSpPr>
        <p:spPr>
          <a:xfrm>
            <a:off x="566928" y="5632704"/>
            <a:ext cx="329184" cy="329184"/>
          </a:xfrm>
          <a:prstGeom prst="ellipse">
            <a:avLst/>
          </a:prstGeom>
          <a:solidFill>
            <a:srgbClr val="EFEDFF"/>
          </a:solidFill>
          <a:ln>
            <a:noFill/>
          </a:ln>
          <a:effectLst/>
        </p:spPr>
        <p:txBody>
          <a:bodyPr rtlCol="0" anchor="ctr"/>
          <a:lstStyle/>
          <a:p>
            <a:pPr algn="ctr"/>
          </a:p>
        </p:txBody>
      </p:sp>
      <p:pic>
        <p:nvPicPr>
          <p:cNvPr id="22" name="Picture 21" descr="search-check_4A35FF_256_2.0.png"/>
          <p:cNvPicPr>
            <a:picLocks noChangeAspect="1"/>
          </p:cNvPicPr>
          <p:nvPr/>
        </p:nvPicPr>
        <p:blipFill>
          <a:blip r:embed="rId6"/>
          <a:stretch>
            <a:fillRect/>
          </a:stretch>
        </p:blipFill>
        <p:spPr>
          <a:xfrm>
            <a:off x="645932" y="5711708"/>
            <a:ext cx="171175" cy="171175"/>
          </a:xfrm>
          <a:prstGeom prst="rect">
            <a:avLst/>
          </a:prstGeom>
        </p:spPr>
      </p:pic>
      <p:sp>
        <p:nvSpPr>
          <p:cNvPr id="23" name="TextBox 22"/>
          <p:cNvSpPr txBox="1"/>
          <p:nvPr/>
        </p:nvSpPr>
        <p:spPr>
          <a:xfrm>
            <a:off x="1005840" y="5660136"/>
            <a:ext cx="2468880" cy="411480"/>
          </a:xfrm>
          <a:prstGeom prst="rect">
            <a:avLst/>
          </a:prstGeom>
          <a:noFill/>
        </p:spPr>
        <p:txBody>
          <a:bodyPr wrap="square" lIns="0" rIns="0" tIns="0" bIns="0" anchor="t">
            <a:spAutoFit/>
          </a:bodyPr>
          <a:lstStyle/>
          <a:p>
            <a:pPr algn="l">
              <a:lnSpc>
                <a:spcPct val="110000"/>
              </a:lnSpc>
            </a:pPr>
            <a:r>
              <a:rPr sz="800" b="0" i="0">
                <a:solidFill>
                  <a:srgbClr val="16181D"/>
                </a:solidFill>
                <a:latin typeface="Geist"/>
              </a:rPr>
              <a:t>AI desk audit against an IRC SP:32 rubric, adversarially verified</a:t>
            </a:r>
          </a:p>
        </p:txBody>
      </p:sp>
      <p:sp>
        <p:nvSpPr>
          <p:cNvPr id="24" name="Oval 23"/>
          <p:cNvSpPr/>
          <p:nvPr/>
        </p:nvSpPr>
        <p:spPr>
          <a:xfrm>
            <a:off x="3493008" y="5632704"/>
            <a:ext cx="329184" cy="329184"/>
          </a:xfrm>
          <a:prstGeom prst="ellipse">
            <a:avLst/>
          </a:prstGeom>
          <a:solidFill>
            <a:srgbClr val="EFEDFF"/>
          </a:solidFill>
          <a:ln>
            <a:noFill/>
          </a:ln>
          <a:effectLst/>
        </p:spPr>
        <p:txBody>
          <a:bodyPr rtlCol="0" anchor="ctr"/>
          <a:lstStyle/>
          <a:p>
            <a:pPr algn="ctr"/>
          </a:p>
        </p:txBody>
      </p:sp>
      <p:pic>
        <p:nvPicPr>
          <p:cNvPr id="25" name="Picture 24" descr="users_4A35FF_256_2.0.png"/>
          <p:cNvPicPr>
            <a:picLocks noChangeAspect="1"/>
          </p:cNvPicPr>
          <p:nvPr/>
        </p:nvPicPr>
        <p:blipFill>
          <a:blip r:embed="rId7"/>
          <a:stretch>
            <a:fillRect/>
          </a:stretch>
        </p:blipFill>
        <p:spPr>
          <a:xfrm>
            <a:off x="3572012" y="5711708"/>
            <a:ext cx="171175" cy="171175"/>
          </a:xfrm>
          <a:prstGeom prst="rect">
            <a:avLst/>
          </a:prstGeom>
        </p:spPr>
      </p:pic>
      <p:sp>
        <p:nvSpPr>
          <p:cNvPr id="26" name="TextBox 25"/>
          <p:cNvSpPr txBox="1"/>
          <p:nvPr/>
        </p:nvSpPr>
        <p:spPr>
          <a:xfrm>
            <a:off x="3931920" y="5660136"/>
            <a:ext cx="2468880" cy="411480"/>
          </a:xfrm>
          <a:prstGeom prst="rect">
            <a:avLst/>
          </a:prstGeom>
          <a:noFill/>
        </p:spPr>
        <p:txBody>
          <a:bodyPr wrap="square" lIns="0" rIns="0" tIns="0" bIns="0" anchor="t">
            <a:spAutoFit/>
          </a:bodyPr>
          <a:lstStyle/>
          <a:p>
            <a:pPr algn="l">
              <a:lnSpc>
                <a:spcPct val="110000"/>
              </a:lnSpc>
            </a:pPr>
            <a:r>
              <a:rPr sz="800" b="0" i="0">
                <a:solidFill>
                  <a:srgbClr val="16181D"/>
                </a:solidFill>
                <a:latin typeface="Geist"/>
              </a:rPr>
              <a:t>Student teams field-verify the worst-graded zones</a:t>
            </a:r>
          </a:p>
        </p:txBody>
      </p:sp>
      <p:sp>
        <p:nvSpPr>
          <p:cNvPr id="27" name="Rounded Rectangle 26"/>
          <p:cNvSpPr/>
          <p:nvPr/>
        </p:nvSpPr>
        <p:spPr>
          <a:xfrm>
            <a:off x="6537960" y="1965960"/>
            <a:ext cx="5074920" cy="1737360"/>
          </a:xfrm>
          <a:prstGeom prst="roundRect">
            <a:avLst>
              <a:gd name="adj" fmla="val 8000"/>
            </a:avLst>
          </a:prstGeom>
          <a:solidFill>
            <a:srgbClr val="EFEDFF"/>
          </a:solidFill>
          <a:ln>
            <a:noFill/>
          </a:ln>
          <a:effectLst/>
        </p:spPr>
        <p:txBody>
          <a:bodyPr rtlCol="0" anchor="ctr"/>
          <a:lstStyle/>
          <a:p>
            <a:pPr algn="ctr"/>
          </a:p>
        </p:txBody>
      </p:sp>
      <p:sp>
        <p:nvSpPr>
          <p:cNvPr id="28" name="TextBox 27"/>
          <p:cNvSpPr txBox="1"/>
          <p:nvPr/>
        </p:nvSpPr>
        <p:spPr>
          <a:xfrm>
            <a:off x="6739128" y="2121408"/>
            <a:ext cx="4663440" cy="237744"/>
          </a:xfrm>
          <a:prstGeom prst="rect">
            <a:avLst/>
          </a:prstGeom>
          <a:noFill/>
        </p:spPr>
        <p:txBody>
          <a:bodyPr wrap="square" lIns="0" rIns="0" tIns="0" bIns="0" anchor="t">
            <a:spAutoFit/>
          </a:bodyPr>
          <a:lstStyle/>
          <a:p>
            <a:pPr algn="l">
              <a:lnSpc>
                <a:spcPct val="128000"/>
              </a:lnSpc>
            </a:pPr>
            <a:r>
              <a:rPr sz="900" b="1" i="0" spc="140">
                <a:solidFill>
                  <a:srgbClr val="4A35FF"/>
                </a:solidFill>
                <a:latin typeface="Montserrat"/>
              </a:rPr>
              <a:t>WHERE RMI FITS</a:t>
            </a:r>
          </a:p>
        </p:txBody>
      </p:sp>
      <p:sp>
        <p:nvSpPr>
          <p:cNvPr id="29" name="TextBox 28"/>
          <p:cNvSpPr txBox="1"/>
          <p:nvPr/>
        </p:nvSpPr>
        <p:spPr>
          <a:xfrm>
            <a:off x="6739128" y="2414016"/>
            <a:ext cx="4663440" cy="1188720"/>
          </a:xfrm>
          <a:prstGeom prst="rect">
            <a:avLst/>
          </a:prstGeom>
          <a:noFill/>
        </p:spPr>
        <p:txBody>
          <a:bodyPr wrap="square" lIns="0" rIns="0" tIns="0" bIns="0" anchor="t">
            <a:spAutoFit/>
          </a:bodyPr>
          <a:lstStyle/>
          <a:p>
            <a:pPr algn="l">
              <a:lnSpc>
                <a:spcPct val="130000"/>
              </a:lnSpc>
            </a:pPr>
            <a:r>
              <a:rPr sz="950" b="0" i="0">
                <a:solidFill>
                  <a:srgbClr val="16181D"/>
                </a:solidFill>
                <a:latin typeface="Geist"/>
              </a:rPr>
              <a:t>Imagery shows the missing crossing and the absent speed hump. RMI would add a speed-exposure score per school zone: the share of school-run hours with traffic above safe speed at the gate. Together they rank every school by measured danger, and prove the change after a district builds the fix.</a:t>
            </a:r>
          </a:p>
        </p:txBody>
      </p:sp>
      <p:sp>
        <p:nvSpPr>
          <p:cNvPr id="30" name="Rounded Rectangle 29"/>
          <p:cNvSpPr/>
          <p:nvPr/>
        </p:nvSpPr>
        <p:spPr>
          <a:xfrm>
            <a:off x="6537960" y="3886200"/>
            <a:ext cx="5074920" cy="178308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1" name="TextBox 30"/>
          <p:cNvSpPr txBox="1"/>
          <p:nvPr/>
        </p:nvSpPr>
        <p:spPr>
          <a:xfrm>
            <a:off x="6739128" y="4041648"/>
            <a:ext cx="4663440" cy="237744"/>
          </a:xfrm>
          <a:prstGeom prst="rect">
            <a:avLst/>
          </a:prstGeom>
          <a:noFill/>
        </p:spPr>
        <p:txBody>
          <a:bodyPr wrap="square" lIns="0" rIns="0" tIns="0" bIns="0" anchor="t">
            <a:spAutoFit/>
          </a:bodyPr>
          <a:lstStyle/>
          <a:p>
            <a:pPr algn="l">
              <a:lnSpc>
                <a:spcPct val="128000"/>
              </a:lnSpc>
            </a:pPr>
            <a:r>
              <a:rPr sz="900" b="1" i="0" spc="140">
                <a:solidFill>
                  <a:srgbClr val="0A9955"/>
                </a:solidFill>
                <a:latin typeface="Montserrat"/>
              </a:rPr>
              <a:t>READY IN JAIPUR</a:t>
            </a:r>
          </a:p>
        </p:txBody>
      </p:sp>
      <p:sp>
        <p:nvSpPr>
          <p:cNvPr id="32" name="TextBox 31"/>
          <p:cNvSpPr txBox="1"/>
          <p:nvPr/>
        </p:nvSpPr>
        <p:spPr>
          <a:xfrm>
            <a:off x="6739128" y="4352544"/>
            <a:ext cx="1005840" cy="274320"/>
          </a:xfrm>
          <a:prstGeom prst="rect">
            <a:avLst/>
          </a:prstGeom>
          <a:noFill/>
        </p:spPr>
        <p:txBody>
          <a:bodyPr wrap="square" lIns="0" rIns="0" tIns="0" bIns="0" anchor="t">
            <a:spAutoFit/>
          </a:bodyPr>
          <a:lstStyle/>
          <a:p>
            <a:pPr algn="l">
              <a:lnSpc>
                <a:spcPct val="100000"/>
              </a:lnSpc>
            </a:pPr>
            <a:r>
              <a:rPr sz="1200" b="1" i="0">
                <a:solidFill>
                  <a:srgbClr val="0A9955"/>
                </a:solidFill>
                <a:latin typeface="Montserrat"/>
              </a:rPr>
              <a:t>1,572</a:t>
            </a:r>
          </a:p>
        </p:txBody>
      </p:sp>
      <p:sp>
        <p:nvSpPr>
          <p:cNvPr id="33" name="TextBox 32"/>
          <p:cNvSpPr txBox="1"/>
          <p:nvPr/>
        </p:nvSpPr>
        <p:spPr>
          <a:xfrm>
            <a:off x="7818120" y="4370832"/>
            <a:ext cx="3611880" cy="36576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Jaipur schools already mapped for the next city build</a:t>
            </a:r>
          </a:p>
        </p:txBody>
      </p:sp>
      <p:sp>
        <p:nvSpPr>
          <p:cNvPr id="34" name="TextBox 33"/>
          <p:cNvSpPr txBox="1"/>
          <p:nvPr/>
        </p:nvSpPr>
        <p:spPr>
          <a:xfrm>
            <a:off x="6739128" y="4773168"/>
            <a:ext cx="1005840" cy="274320"/>
          </a:xfrm>
          <a:prstGeom prst="rect">
            <a:avLst/>
          </a:prstGeom>
          <a:noFill/>
        </p:spPr>
        <p:txBody>
          <a:bodyPr wrap="square" lIns="0" rIns="0" tIns="0" bIns="0" anchor="t">
            <a:spAutoFit/>
          </a:bodyPr>
          <a:lstStyle/>
          <a:p>
            <a:pPr algn="l">
              <a:lnSpc>
                <a:spcPct val="100000"/>
              </a:lnSpc>
            </a:pPr>
            <a:r>
              <a:rPr sz="1200" b="1" i="0">
                <a:solidFill>
                  <a:srgbClr val="0A9955"/>
                </a:solidFill>
                <a:latin typeface="Montserrat"/>
              </a:rPr>
              <a:t>361</a:t>
            </a:r>
          </a:p>
        </p:txBody>
      </p:sp>
      <p:sp>
        <p:nvSpPr>
          <p:cNvPr id="35" name="TextBox 34"/>
          <p:cNvSpPr txBox="1"/>
          <p:nvPr/>
        </p:nvSpPr>
        <p:spPr>
          <a:xfrm>
            <a:off x="7818120" y="4791456"/>
            <a:ext cx="3611880" cy="36576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GPS-located crashes at notified blackspots inform corridor choice</a:t>
            </a:r>
          </a:p>
        </p:txBody>
      </p:sp>
      <p:sp>
        <p:nvSpPr>
          <p:cNvPr id="36" name="TextBox 35"/>
          <p:cNvSpPr txBox="1"/>
          <p:nvPr/>
        </p:nvSpPr>
        <p:spPr>
          <a:xfrm>
            <a:off x="6739128" y="5193792"/>
            <a:ext cx="1005840" cy="274320"/>
          </a:xfrm>
          <a:prstGeom prst="rect">
            <a:avLst/>
          </a:prstGeom>
          <a:noFill/>
        </p:spPr>
        <p:txBody>
          <a:bodyPr wrap="square" lIns="0" rIns="0" tIns="0" bIns="0" anchor="t">
            <a:spAutoFit/>
          </a:bodyPr>
          <a:lstStyle/>
          <a:p>
            <a:pPr algn="l">
              <a:lnSpc>
                <a:spcPct val="100000"/>
              </a:lnSpc>
            </a:pPr>
            <a:r>
              <a:rPr sz="1200" b="1" i="0">
                <a:solidFill>
                  <a:srgbClr val="0A9955"/>
                </a:solidFill>
                <a:latin typeface="Montserrat"/>
              </a:rPr>
              <a:t>4 DRSCs</a:t>
            </a:r>
          </a:p>
        </p:txBody>
      </p:sp>
      <p:sp>
        <p:nvSpPr>
          <p:cNvPr id="37" name="TextBox 36"/>
          <p:cNvSpPr txBox="1"/>
          <p:nvPr/>
        </p:nvSpPr>
        <p:spPr>
          <a:xfrm>
            <a:off x="7818120" y="5212080"/>
            <a:ext cx="3611880" cy="36576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our committee seats carry the findings into the statutory forum</a:t>
            </a:r>
          </a:p>
        </p:txBody>
      </p:sp>
      <p:cxnSp>
        <p:nvCxnSpPr>
          <p:cNvPr id="38" name="Connector 37"/>
          <p:cNvCxnSpPr/>
          <p:nvPr/>
        </p:nvCxnSpPr>
        <p:spPr>
          <a:xfrm>
            <a:off x="566928" y="6455664"/>
            <a:ext cx="11057839" cy="0"/>
          </a:xfrm>
          <a:prstGeom prst="line">
            <a:avLst/>
          </a:prstGeom>
          <a:ln w="9525">
            <a:solidFill>
              <a:srgbClr val="E8E9EE"/>
            </a:solidFill>
          </a:ln>
          <a:effectLst/>
        </p:spPr>
      </p:cxnSp>
      <p:sp>
        <p:nvSpPr>
          <p:cNvPr id="39" name="TextBox 38"/>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40" name="TextBox 3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THE PRODUCTS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PRODUCT 3, AN EXPLORATORY DIRECTION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Enforcement support, </a:t>
            </a:r>
            <a:r>
              <a:rPr sz="2250" b="1" i="0">
                <a:solidFill>
                  <a:srgbClr val="4A35FF"/>
                </a:solidFill>
                <a:latin typeface="Montserrat"/>
              </a:rPr>
              <a:t>shaped together if useful</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An early idea, listed for completeness. It builds only on assets we already run with police partners, and carries no commitments.</a:t>
            </a:r>
          </a:p>
        </p:txBody>
      </p:sp>
      <p:sp>
        <p:nvSpPr>
          <p:cNvPr id="8" name="Rounded Rectangle 7"/>
          <p:cNvSpPr/>
          <p:nvPr/>
        </p:nvSpPr>
        <p:spPr>
          <a:xfrm>
            <a:off x="566928" y="1920240"/>
            <a:ext cx="2651760" cy="365760"/>
          </a:xfrm>
          <a:prstGeom prst="roundRect">
            <a:avLst>
              <a:gd name="adj" fmla="val 50000"/>
            </a:avLst>
          </a:prstGeom>
          <a:solidFill>
            <a:srgbClr val="FDF3E3"/>
          </a:solidFill>
          <a:ln>
            <a:noFill/>
          </a:ln>
          <a:effectLst/>
        </p:spPr>
        <p:txBody>
          <a:bodyPr rtlCol="0" anchor="ctr"/>
          <a:lstStyle/>
          <a:p>
            <a:pPr algn="ctr"/>
          </a:p>
        </p:txBody>
      </p:sp>
      <p:sp>
        <p:nvSpPr>
          <p:cNvPr id="9" name="TextBox 8"/>
          <p:cNvSpPr txBox="1"/>
          <p:nvPr/>
        </p:nvSpPr>
        <p:spPr>
          <a:xfrm>
            <a:off x="585216" y="1920240"/>
            <a:ext cx="2615184" cy="365760"/>
          </a:xfrm>
          <a:prstGeom prst="rect">
            <a:avLst/>
          </a:prstGeom>
          <a:noFill/>
        </p:spPr>
        <p:txBody>
          <a:bodyPr wrap="square" lIns="0" rIns="0" tIns="0" bIns="0" anchor="ctr">
            <a:spAutoFit/>
          </a:bodyPr>
          <a:lstStyle/>
          <a:p>
            <a:pPr algn="ctr">
              <a:lnSpc>
                <a:spcPct val="100000"/>
              </a:lnSpc>
            </a:pPr>
            <a:r>
              <a:rPr sz="850" b="1" i="0">
                <a:solidFill>
                  <a:srgbClr val="E58900"/>
                </a:solidFill>
                <a:latin typeface="Montserrat"/>
              </a:rPr>
              <a:t>EXPLORATORY · TO SHAPE TOGETHER</a:t>
            </a:r>
          </a:p>
        </p:txBody>
      </p:sp>
      <p:sp>
        <p:nvSpPr>
          <p:cNvPr id="10" name="Oval 9"/>
          <p:cNvSpPr/>
          <p:nvPr/>
        </p:nvSpPr>
        <p:spPr>
          <a:xfrm>
            <a:off x="566928" y="2514600"/>
            <a:ext cx="365760" cy="365760"/>
          </a:xfrm>
          <a:prstGeom prst="ellipse">
            <a:avLst/>
          </a:prstGeom>
          <a:solidFill>
            <a:srgbClr val="E9F7F0"/>
          </a:solidFill>
          <a:ln>
            <a:noFill/>
          </a:ln>
          <a:effectLst/>
        </p:spPr>
        <p:txBody>
          <a:bodyPr rtlCol="0" anchor="ctr"/>
          <a:lstStyle/>
          <a:p>
            <a:pPr algn="ctr"/>
          </a:p>
        </p:txBody>
      </p:sp>
      <p:pic>
        <p:nvPicPr>
          <p:cNvPr id="11" name="Picture 10" descr="shield_0A9955_256_2.0.png"/>
          <p:cNvPicPr>
            <a:picLocks noChangeAspect="1"/>
          </p:cNvPicPr>
          <p:nvPr/>
        </p:nvPicPr>
        <p:blipFill>
          <a:blip r:embed="rId2"/>
          <a:stretch>
            <a:fillRect/>
          </a:stretch>
        </p:blipFill>
        <p:spPr>
          <a:xfrm>
            <a:off x="654710" y="2602382"/>
            <a:ext cx="190195" cy="190195"/>
          </a:xfrm>
          <a:prstGeom prst="rect">
            <a:avLst/>
          </a:prstGeom>
        </p:spPr>
      </p:pic>
      <p:sp>
        <p:nvSpPr>
          <p:cNvPr id="12" name="TextBox 11"/>
          <p:cNvSpPr txBox="1"/>
          <p:nvPr/>
        </p:nvSpPr>
        <p:spPr>
          <a:xfrm>
            <a:off x="1097280" y="24963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What already runs</a:t>
            </a:r>
          </a:p>
        </p:txBody>
      </p:sp>
      <p:sp>
        <p:nvSpPr>
          <p:cNvPr id="13" name="TextBox 12"/>
          <p:cNvSpPr txBox="1"/>
          <p:nvPr/>
        </p:nvSpPr>
        <p:spPr>
          <a:xfrm>
            <a:off x="3566160" y="249631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SATARK screens vehicles for police in Jaipur, Bengaluru and Gurugram, 3,00,000+ screened; challan billboards operate in public view; MoUs govern the data.</a:t>
            </a:r>
          </a:p>
        </p:txBody>
      </p:sp>
      <p:sp>
        <p:nvSpPr>
          <p:cNvPr id="14" name="Oval 13"/>
          <p:cNvSpPr/>
          <p:nvPr/>
        </p:nvSpPr>
        <p:spPr>
          <a:xfrm>
            <a:off x="566928" y="3483864"/>
            <a:ext cx="365760" cy="365760"/>
          </a:xfrm>
          <a:prstGeom prst="ellipse">
            <a:avLst/>
          </a:prstGeom>
          <a:solidFill>
            <a:srgbClr val="EFEDFF"/>
          </a:solidFill>
          <a:ln>
            <a:noFill/>
          </a:ln>
          <a:effectLst/>
        </p:spPr>
        <p:txBody>
          <a:bodyPr rtlCol="0" anchor="ctr"/>
          <a:lstStyle/>
          <a:p>
            <a:pPr algn="ctr"/>
          </a:p>
        </p:txBody>
      </p:sp>
      <p:pic>
        <p:nvPicPr>
          <p:cNvPr id="15" name="Picture 14" descr="gauge_4A35FF_256_2.0.png"/>
          <p:cNvPicPr>
            <a:picLocks noChangeAspect="1"/>
          </p:cNvPicPr>
          <p:nvPr/>
        </p:nvPicPr>
        <p:blipFill>
          <a:blip r:embed="rId3"/>
          <a:stretch>
            <a:fillRect/>
          </a:stretch>
        </p:blipFill>
        <p:spPr>
          <a:xfrm>
            <a:off x="654710" y="3571646"/>
            <a:ext cx="190195" cy="190195"/>
          </a:xfrm>
          <a:prstGeom prst="rect">
            <a:avLst/>
          </a:prstGeom>
        </p:spPr>
      </p:pic>
      <p:sp>
        <p:nvSpPr>
          <p:cNvPr id="16" name="TextBox 15"/>
          <p:cNvSpPr txBox="1"/>
          <p:nvPr/>
        </p:nvSpPr>
        <p:spPr>
          <a:xfrm>
            <a:off x="1097280" y="346557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What RMI could add</a:t>
            </a:r>
          </a:p>
        </p:txBody>
      </p:sp>
      <p:sp>
        <p:nvSpPr>
          <p:cNvPr id="17" name="TextBox 16"/>
          <p:cNvSpPr txBox="1"/>
          <p:nvPr/>
        </p:nvSpPr>
        <p:spPr>
          <a:xfrm>
            <a:off x="3566160" y="346557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 weekly view of where and when speeding concentrates near people, so patrols, camera vans and SATARK sites stand where the risk is, corridor-hour by corridor-hour.</a:t>
            </a:r>
          </a:p>
        </p:txBody>
      </p:sp>
      <p:sp>
        <p:nvSpPr>
          <p:cNvPr id="18" name="Oval 17"/>
          <p:cNvSpPr/>
          <p:nvPr/>
        </p:nvSpPr>
        <p:spPr>
          <a:xfrm>
            <a:off x="566928" y="4453128"/>
            <a:ext cx="365760" cy="365760"/>
          </a:xfrm>
          <a:prstGeom prst="ellipse">
            <a:avLst/>
          </a:prstGeom>
          <a:solidFill>
            <a:srgbClr val="E7F4F4"/>
          </a:solidFill>
          <a:ln>
            <a:noFill/>
          </a:ln>
          <a:effectLst/>
        </p:spPr>
        <p:txBody>
          <a:bodyPr rtlCol="0" anchor="ctr"/>
          <a:lstStyle/>
          <a:p>
            <a:pPr algn="ctr"/>
          </a:p>
        </p:txBody>
      </p:sp>
      <p:pic>
        <p:nvPicPr>
          <p:cNvPr id="19" name="Picture 18" descr="badge-check_0E8A8A_256_2.0.png"/>
          <p:cNvPicPr>
            <a:picLocks noChangeAspect="1"/>
          </p:cNvPicPr>
          <p:nvPr/>
        </p:nvPicPr>
        <p:blipFill>
          <a:blip r:embed="rId4"/>
          <a:stretch>
            <a:fillRect/>
          </a:stretch>
        </p:blipFill>
        <p:spPr>
          <a:xfrm>
            <a:off x="654710" y="4540910"/>
            <a:ext cx="190195" cy="190195"/>
          </a:xfrm>
          <a:prstGeom prst="rect">
            <a:avLst/>
          </a:prstGeom>
        </p:spPr>
      </p:pic>
      <p:sp>
        <p:nvSpPr>
          <p:cNvPr id="20" name="TextBox 19"/>
          <p:cNvSpPr txBox="1"/>
          <p:nvPr/>
        </p:nvSpPr>
        <p:spPr>
          <a:xfrm>
            <a:off x="1097280" y="443484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How we would keep it honest</a:t>
            </a:r>
          </a:p>
        </p:txBody>
      </p:sp>
      <p:sp>
        <p:nvSpPr>
          <p:cNvPr id="21" name="TextBox 20"/>
          <p:cNvSpPr txBox="1"/>
          <p:nvPr/>
        </p:nvSpPr>
        <p:spPr>
          <a:xfrm>
            <a:off x="3566160" y="443484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Success measured as speeds before and after a deployment, never as challan counts; no vehicle identification anywhere in the loop; a small pilot before any scale.</a:t>
            </a:r>
          </a:p>
        </p:txBody>
      </p:sp>
      <p:pic>
        <p:nvPicPr>
          <p:cNvPr id="22" name="Picture 21" descr="satark_billboard.jpg_4.10x2.60_0.42.jpg"/>
          <p:cNvPicPr>
            <a:picLocks noChangeAspect="1"/>
          </p:cNvPicPr>
          <p:nvPr/>
        </p:nvPicPr>
        <p:blipFill>
          <a:blip r:embed="rId5"/>
          <a:stretch>
            <a:fillRect/>
          </a:stretch>
        </p:blipFill>
        <p:spPr>
          <a:xfrm>
            <a:off x="7863840" y="2514600"/>
            <a:ext cx="3749039" cy="2377440"/>
          </a:xfrm>
          <a:prstGeom prst="rect">
            <a:avLst/>
          </a:prstGeom>
        </p:spPr>
      </p:pic>
      <p:sp>
        <p:nvSpPr>
          <p:cNvPr id="23" name="Rectangle 22"/>
          <p:cNvSpPr/>
          <p:nvPr/>
        </p:nvSpPr>
        <p:spPr>
          <a:xfrm>
            <a:off x="7863840" y="2514600"/>
            <a:ext cx="3749039" cy="2377440"/>
          </a:xfrm>
          <a:prstGeom prst="rect">
            <a:avLst/>
          </a:prstGeom>
          <a:noFill/>
          <a:ln w="12700">
            <a:solidFill>
              <a:srgbClr val="E8E9EE"/>
            </a:solidFill>
          </a:ln>
          <a:effectLst/>
        </p:spPr>
        <p:txBody>
          <a:bodyPr rtlCol="0" anchor="ctr"/>
          <a:lstStyle/>
          <a:p>
            <a:pPr algn="ctr"/>
          </a:p>
        </p:txBody>
      </p:sp>
      <p:sp>
        <p:nvSpPr>
          <p:cNvPr id="24" name="TextBox 23"/>
          <p:cNvSpPr txBox="1"/>
          <p:nvPr/>
        </p:nvSpPr>
        <p:spPr>
          <a:xfrm>
            <a:off x="7863840" y="4937760"/>
            <a:ext cx="37490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A SATARK challan billboard, live with Jaipur Traffic Police.</a:t>
            </a:r>
          </a:p>
        </p:txBody>
      </p:sp>
      <p:sp>
        <p:nvSpPr>
          <p:cNvPr id="25" name="Rounded Rectangle 24"/>
          <p:cNvSpPr/>
          <p:nvPr/>
        </p:nvSpPr>
        <p:spPr>
          <a:xfrm>
            <a:off x="566928" y="5623560"/>
            <a:ext cx="6949440" cy="548640"/>
          </a:xfrm>
          <a:prstGeom prst="roundRect">
            <a:avLst>
              <a:gd name="adj" fmla="val 14000"/>
            </a:avLst>
          </a:prstGeom>
          <a:solidFill>
            <a:srgbClr val="F7F7FA"/>
          </a:solidFill>
          <a:ln>
            <a:noFill/>
          </a:ln>
          <a:effectLst/>
        </p:spPr>
        <p:txBody>
          <a:bodyPr rtlCol="0" anchor="ctr"/>
          <a:lstStyle/>
          <a:p>
            <a:pPr algn="ctr"/>
          </a:p>
        </p:txBody>
      </p:sp>
      <p:sp>
        <p:nvSpPr>
          <p:cNvPr id="26" name="TextBox 25"/>
          <p:cNvSpPr txBox="1"/>
          <p:nvPr/>
        </p:nvSpPr>
        <p:spPr>
          <a:xfrm>
            <a:off x="749808" y="5715000"/>
            <a:ext cx="6583680" cy="384048"/>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Everything named here is ours or the police's. </a:t>
            </a:r>
            <a:r>
              <a:rPr sz="950" b="0" i="0">
                <a:solidFill>
                  <a:srgbClr val="6E7180"/>
                </a:solidFill>
                <a:latin typeface="Geist"/>
              </a:rPr>
              <a:t>No third party is required for a first version.</a:t>
            </a:r>
          </a:p>
        </p:txBody>
      </p:sp>
      <p:cxnSp>
        <p:nvCxnSpPr>
          <p:cNvPr id="27" name="Connector 26"/>
          <p:cNvCxnSpPr/>
          <p:nvPr/>
        </p:nvCxnSpPr>
        <p:spPr>
          <a:xfrm>
            <a:off x="566928" y="6455664"/>
            <a:ext cx="11057839" cy="0"/>
          </a:xfrm>
          <a:prstGeom prst="line">
            <a:avLst/>
          </a:prstGeom>
          <a:ln w="9525">
            <a:solidFill>
              <a:srgbClr val="E8E9EE"/>
            </a:solidFill>
          </a:ln>
          <a:effectLst/>
        </p:spPr>
      </p:cxnSp>
      <p:sp>
        <p:nvSpPr>
          <p:cNvPr id="28" name="TextBox 27"/>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29" name="TextBox 2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THE PILOT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A PILOT THAT IS READY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Configured, scripted, </a:t>
            </a:r>
            <a:r>
              <a:rPr sz="2250" b="1" i="0">
                <a:solidFill>
                  <a:srgbClr val="4A35FF"/>
                </a:solidFill>
                <a:latin typeface="Montserrat"/>
              </a:rPr>
              <a:t>and waiting on one enablement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We prepared the ground before asking for the conversation. Everything on our side of a pilot is already done.</a:t>
            </a:r>
          </a:p>
        </p:txBody>
      </p:sp>
      <p:sp>
        <p:nvSpPr>
          <p:cNvPr id="8" name="Oval 7"/>
          <p:cNvSpPr/>
          <p:nvPr/>
        </p:nvSpPr>
        <p:spPr>
          <a:xfrm>
            <a:off x="566928" y="2057400"/>
            <a:ext cx="365760" cy="365760"/>
          </a:xfrm>
          <a:prstGeom prst="ellipse">
            <a:avLst/>
          </a:prstGeom>
          <a:solidFill>
            <a:srgbClr val="EFEDFF"/>
          </a:solidFill>
          <a:ln>
            <a:noFill/>
          </a:ln>
          <a:effectLst/>
        </p:spPr>
        <p:txBody>
          <a:bodyPr rtlCol="0" anchor="ctr"/>
          <a:lstStyle/>
          <a:p>
            <a:pPr algn="ctr"/>
          </a:p>
        </p:txBody>
      </p:sp>
      <p:pic>
        <p:nvPicPr>
          <p:cNvPr id="9" name="Picture 8" descr="cpu_4A35FF_256_2.0.png"/>
          <p:cNvPicPr>
            <a:picLocks noChangeAspect="1"/>
          </p:cNvPicPr>
          <p:nvPr/>
        </p:nvPicPr>
        <p:blipFill>
          <a:blip r:embed="rId2"/>
          <a:stretch>
            <a:fillRect/>
          </a:stretch>
        </p:blipFill>
        <p:spPr>
          <a:xfrm>
            <a:off x="654710" y="2145182"/>
            <a:ext cx="190195" cy="190195"/>
          </a:xfrm>
          <a:prstGeom prst="rect">
            <a:avLst/>
          </a:prstGeom>
        </p:spPr>
      </p:pic>
      <p:sp>
        <p:nvSpPr>
          <p:cNvPr id="10" name="TextBox 9"/>
          <p:cNvSpPr txBox="1"/>
          <p:nvPr/>
        </p:nvSpPr>
        <p:spPr>
          <a:xfrm>
            <a:off x="1097280" y="20391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Cloud project configured</a:t>
            </a:r>
          </a:p>
        </p:txBody>
      </p:sp>
      <p:sp>
        <p:nvSpPr>
          <p:cNvPr id="11" name="TextBox 10"/>
          <p:cNvSpPr txBox="1"/>
          <p:nvPr/>
        </p:nvSpPr>
        <p:spPr>
          <a:xfrm>
            <a:off x="3566160" y="2039112"/>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Roads API, BigQuery, Analytics Hub and Pub/Sub enabled on our Google Cloud project, verified end to end from Cloud Shell.</a:t>
            </a:r>
          </a:p>
        </p:txBody>
      </p:sp>
      <p:sp>
        <p:nvSpPr>
          <p:cNvPr id="12" name="Oval 11"/>
          <p:cNvSpPr/>
          <p:nvPr/>
        </p:nvSpPr>
        <p:spPr>
          <a:xfrm>
            <a:off x="566928" y="2953512"/>
            <a:ext cx="365760" cy="365760"/>
          </a:xfrm>
          <a:prstGeom prst="ellipse">
            <a:avLst/>
          </a:prstGeom>
          <a:solidFill>
            <a:srgbClr val="E9F7F0"/>
          </a:solidFill>
          <a:ln>
            <a:noFill/>
          </a:ln>
          <a:effectLst/>
        </p:spPr>
        <p:txBody>
          <a:bodyPr rtlCol="0" anchor="ctr"/>
          <a:lstStyle/>
          <a:p>
            <a:pPr algn="ctr"/>
          </a:p>
        </p:txBody>
      </p:sp>
      <p:pic>
        <p:nvPicPr>
          <p:cNvPr id="13" name="Picture 12" descr="route_0A9955_256_2.0.png"/>
          <p:cNvPicPr>
            <a:picLocks noChangeAspect="1"/>
          </p:cNvPicPr>
          <p:nvPr/>
        </p:nvPicPr>
        <p:blipFill>
          <a:blip r:embed="rId3"/>
          <a:stretch>
            <a:fillRect/>
          </a:stretch>
        </p:blipFill>
        <p:spPr>
          <a:xfrm>
            <a:off x="654710" y="3041294"/>
            <a:ext cx="190195" cy="190195"/>
          </a:xfrm>
          <a:prstGeom prst="rect">
            <a:avLst/>
          </a:prstGeom>
        </p:spPr>
      </p:pic>
      <p:sp>
        <p:nvSpPr>
          <p:cNvPr id="14" name="TextBox 13"/>
          <p:cNvSpPr txBox="1"/>
          <p:nvPr/>
        </p:nvSpPr>
        <p:spPr>
          <a:xfrm>
            <a:off x="1097280" y="293522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Seven route subscriptions scripted</a:t>
            </a:r>
          </a:p>
        </p:txBody>
      </p:sp>
      <p:sp>
        <p:nvSpPr>
          <p:cNvPr id="15" name="TextBox 14"/>
          <p:cNvSpPr txBox="1"/>
          <p:nvPr/>
        </p:nvSpPr>
        <p:spPr>
          <a:xfrm>
            <a:off x="3566160" y="2935224"/>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Five Jaipur blackspot corridors chosen from police crash records (162 deaths combined, 2022–24) and two school-zone test segments, ready to fire.</a:t>
            </a:r>
          </a:p>
        </p:txBody>
      </p:sp>
      <p:sp>
        <p:nvSpPr>
          <p:cNvPr id="16" name="Oval 15"/>
          <p:cNvSpPr/>
          <p:nvPr/>
        </p:nvSpPr>
        <p:spPr>
          <a:xfrm>
            <a:off x="566928" y="3849624"/>
            <a:ext cx="365760" cy="365760"/>
          </a:xfrm>
          <a:prstGeom prst="ellipse">
            <a:avLst/>
          </a:prstGeom>
          <a:solidFill>
            <a:srgbClr val="FDF3E3"/>
          </a:solidFill>
          <a:ln>
            <a:noFill/>
          </a:ln>
          <a:effectLst/>
        </p:spPr>
        <p:txBody>
          <a:bodyPr rtlCol="0" anchor="ctr"/>
          <a:lstStyle/>
          <a:p>
            <a:pPr algn="ctr"/>
          </a:p>
        </p:txBody>
      </p:sp>
      <p:pic>
        <p:nvPicPr>
          <p:cNvPr id="17" name="Picture 16" descr="landmark_E58900_256_2.0.png"/>
          <p:cNvPicPr>
            <a:picLocks noChangeAspect="1"/>
          </p:cNvPicPr>
          <p:nvPr/>
        </p:nvPicPr>
        <p:blipFill>
          <a:blip r:embed="rId4"/>
          <a:stretch>
            <a:fillRect/>
          </a:stretch>
        </p:blipFill>
        <p:spPr>
          <a:xfrm>
            <a:off x="654710" y="3937406"/>
            <a:ext cx="190195" cy="190195"/>
          </a:xfrm>
          <a:prstGeom prst="rect">
            <a:avLst/>
          </a:prstGeom>
        </p:spPr>
      </p:pic>
      <p:sp>
        <p:nvSpPr>
          <p:cNvPr id="18" name="TextBox 17"/>
          <p:cNvSpPr txBox="1"/>
          <p:nvPr/>
        </p:nvSpPr>
        <p:spPr>
          <a:xfrm>
            <a:off x="1097280" y="383133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A lawful channel for action</a:t>
            </a:r>
          </a:p>
        </p:txBody>
      </p:sp>
      <p:sp>
        <p:nvSpPr>
          <p:cNvPr id="19" name="TextBox 18"/>
          <p:cNvSpPr txBox="1"/>
          <p:nvPr/>
        </p:nvSpPr>
        <p:spPr>
          <a:xfrm>
            <a:off x="3566160" y="3831336"/>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Our Jaipur District Road Safety Committee seat carries every finding into the statutory forum that can act on it.</a:t>
            </a:r>
          </a:p>
        </p:txBody>
      </p:sp>
      <p:sp>
        <p:nvSpPr>
          <p:cNvPr id="20" name="Oval 19"/>
          <p:cNvSpPr/>
          <p:nvPr/>
        </p:nvSpPr>
        <p:spPr>
          <a:xfrm>
            <a:off x="566928" y="4745736"/>
            <a:ext cx="365760" cy="365760"/>
          </a:xfrm>
          <a:prstGeom prst="ellipse">
            <a:avLst/>
          </a:prstGeom>
          <a:solidFill>
            <a:srgbClr val="E7F4F4"/>
          </a:solidFill>
          <a:ln>
            <a:noFill/>
          </a:ln>
          <a:effectLst/>
        </p:spPr>
        <p:txBody>
          <a:bodyPr rtlCol="0" anchor="ctr"/>
          <a:lstStyle/>
          <a:p>
            <a:pPr algn="ctr"/>
          </a:p>
        </p:txBody>
      </p:sp>
      <p:pic>
        <p:nvPicPr>
          <p:cNvPr id="21" name="Picture 20" descr="users_0E8A8A_256_2.0.png"/>
          <p:cNvPicPr>
            <a:picLocks noChangeAspect="1"/>
          </p:cNvPicPr>
          <p:nvPr/>
        </p:nvPicPr>
        <p:blipFill>
          <a:blip r:embed="rId5"/>
          <a:stretch>
            <a:fillRect/>
          </a:stretch>
        </p:blipFill>
        <p:spPr>
          <a:xfrm>
            <a:off x="654710" y="4833518"/>
            <a:ext cx="190195" cy="190195"/>
          </a:xfrm>
          <a:prstGeom prst="rect">
            <a:avLst/>
          </a:prstGeom>
        </p:spPr>
      </p:pic>
      <p:sp>
        <p:nvSpPr>
          <p:cNvPr id="22" name="TextBox 21"/>
          <p:cNvSpPr txBox="1"/>
          <p:nvPr/>
        </p:nvSpPr>
        <p:spPr>
          <a:xfrm>
            <a:off x="1097280" y="472744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Ground truth on call</a:t>
            </a:r>
          </a:p>
        </p:txBody>
      </p:sp>
      <p:sp>
        <p:nvSpPr>
          <p:cNvPr id="23" name="TextBox 22"/>
          <p:cNvSpPr txBox="1"/>
          <p:nvPr/>
        </p:nvSpPr>
        <p:spPr>
          <a:xfrm>
            <a:off x="3566160" y="4727448"/>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Student audit teams verify in the field what the data flags, closing the loop between measurement and reality.</a:t>
            </a:r>
          </a:p>
        </p:txBody>
      </p:sp>
      <p:sp>
        <p:nvSpPr>
          <p:cNvPr id="24" name="Rounded Rectangle 23"/>
          <p:cNvSpPr/>
          <p:nvPr/>
        </p:nvSpPr>
        <p:spPr>
          <a:xfrm>
            <a:off x="7498079" y="2057400"/>
            <a:ext cx="4114800" cy="2103120"/>
          </a:xfrm>
          <a:prstGeom prst="roundRect">
            <a:avLst>
              <a:gd name="adj" fmla="val 8000"/>
            </a:avLst>
          </a:prstGeom>
          <a:solidFill>
            <a:srgbClr val="4A35FF"/>
          </a:solidFill>
          <a:ln>
            <a:noFill/>
          </a:ln>
          <a:effectLst/>
        </p:spPr>
        <p:txBody>
          <a:bodyPr rtlCol="0" anchor="ctr"/>
          <a:lstStyle/>
          <a:p>
            <a:pPr algn="ctr"/>
          </a:p>
        </p:txBody>
      </p:sp>
      <p:sp>
        <p:nvSpPr>
          <p:cNvPr id="25" name="TextBox 24"/>
          <p:cNvSpPr txBox="1"/>
          <p:nvPr/>
        </p:nvSpPr>
        <p:spPr>
          <a:xfrm>
            <a:off x="7726679" y="2240280"/>
            <a:ext cx="3657600" cy="237744"/>
          </a:xfrm>
          <a:prstGeom prst="rect">
            <a:avLst/>
          </a:prstGeom>
          <a:noFill/>
        </p:spPr>
        <p:txBody>
          <a:bodyPr wrap="square" lIns="0" rIns="0" tIns="0" bIns="0" anchor="t">
            <a:spAutoFit/>
          </a:bodyPr>
          <a:lstStyle/>
          <a:p>
            <a:pPr algn="l">
              <a:lnSpc>
                <a:spcPct val="128000"/>
              </a:lnSpc>
            </a:pPr>
            <a:r>
              <a:rPr sz="900" b="1" i="0" spc="140">
                <a:solidFill>
                  <a:srgbClr val="C8C0FF"/>
                </a:solidFill>
                <a:latin typeface="Montserrat"/>
              </a:rPr>
              <a:t>THE PILOT WE PROPOSE</a:t>
            </a:r>
          </a:p>
        </p:txBody>
      </p:sp>
      <p:sp>
        <p:nvSpPr>
          <p:cNvPr id="26" name="TextBox 25"/>
          <p:cNvSpPr txBox="1"/>
          <p:nvPr/>
        </p:nvSpPr>
        <p:spPr>
          <a:xfrm>
            <a:off x="7726679" y="2560320"/>
            <a:ext cx="3657600" cy="1463040"/>
          </a:xfrm>
          <a:prstGeom prst="rect">
            <a:avLst/>
          </a:prstGeom>
          <a:noFill/>
        </p:spPr>
        <p:txBody>
          <a:bodyPr wrap="square" lIns="0" rIns="0" tIns="0" bIns="0" anchor="t">
            <a:spAutoFit/>
          </a:bodyPr>
          <a:lstStyle/>
          <a:p>
            <a:pPr algn="l">
              <a:lnSpc>
                <a:spcPct val="132000"/>
              </a:lnSpc>
            </a:pPr>
            <a:r>
              <a:rPr sz="1000" b="0" i="0">
                <a:solidFill>
                  <a:srgbClr val="FFFFFF"/>
                </a:solidFill>
                <a:latin typeface="Geist"/>
              </a:rPr>
              <a:t>Roads Management Insights enabled on our configured project for a 90-day Jaipur pilot: five corridors and fifty school zones. We can be receiving data into BigQuery the same day, and present the first speed-beside-crash evidence at the next District Road Safety Committee meeting.</a:t>
            </a:r>
          </a:p>
        </p:txBody>
      </p:sp>
      <p:sp>
        <p:nvSpPr>
          <p:cNvPr id="27" name="Rounded Rectangle 26"/>
          <p:cNvSpPr/>
          <p:nvPr/>
        </p:nvSpPr>
        <p:spPr>
          <a:xfrm>
            <a:off x="7498079" y="4343400"/>
            <a:ext cx="4114800" cy="1737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8" name="TextBox 27"/>
          <p:cNvSpPr txBox="1"/>
          <p:nvPr/>
        </p:nvSpPr>
        <p:spPr>
          <a:xfrm>
            <a:off x="7726679" y="4498848"/>
            <a:ext cx="3657600" cy="237744"/>
          </a:xfrm>
          <a:prstGeom prst="rect">
            <a:avLst/>
          </a:prstGeom>
          <a:noFill/>
        </p:spPr>
        <p:txBody>
          <a:bodyPr wrap="square" lIns="0" rIns="0" tIns="0" bIns="0" anchor="t">
            <a:spAutoFit/>
          </a:bodyPr>
          <a:lstStyle/>
          <a:p>
            <a:pPr algn="l">
              <a:lnSpc>
                <a:spcPct val="128000"/>
              </a:lnSpc>
            </a:pPr>
            <a:r>
              <a:rPr sz="900" b="1" i="0" spc="140">
                <a:solidFill>
                  <a:srgbClr val="6E7180"/>
                </a:solidFill>
                <a:latin typeface="Montserrat"/>
              </a:rPr>
              <a:t>A PRECEDENT WE ADMIRE</a:t>
            </a:r>
          </a:p>
        </p:txBody>
      </p:sp>
      <p:sp>
        <p:nvSpPr>
          <p:cNvPr id="29" name="TextBox 28"/>
          <p:cNvSpPr txBox="1"/>
          <p:nvPr/>
        </p:nvSpPr>
        <p:spPr>
          <a:xfrm>
            <a:off x="7726679" y="4791456"/>
            <a:ext cx="3703320" cy="1188720"/>
          </a:xfrm>
          <a:prstGeom prst="rect">
            <a:avLst/>
          </a:prstGeom>
          <a:noFill/>
        </p:spPr>
        <p:txBody>
          <a:bodyPr wrap="square" lIns="0" rIns="0" tIns="0" bIns="0" anchor="t">
            <a:spAutoFit/>
          </a:bodyPr>
          <a:lstStyle/>
          <a:p>
            <a:pPr algn="l">
              <a:lnSpc>
                <a:spcPct val="128000"/>
              </a:lnSpc>
            </a:pPr>
            <a:r>
              <a:rPr sz="950" b="0" i="0">
                <a:solidFill>
                  <a:srgbClr val="16181D"/>
                </a:solidFill>
                <a:latin typeface="Geist"/>
              </a:rPr>
              <a:t>Google.org funds iRAP's Star Rating for Schools programme in Vietnam. India has no lead partner for school-zone safety yet. Every output of this pilot is published openly, with Google Maps Platform attribution on each chart.</a:t>
            </a:r>
          </a:p>
        </p:txBody>
      </p:sp>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THE PILOT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FOR THIS CALL</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What we would like to figure out </a:t>
            </a:r>
            <a:r>
              <a:rPr sz="2250" b="1" i="0">
                <a:solidFill>
                  <a:srgbClr val="4A35FF"/>
                </a:solidFill>
                <a:latin typeface="Montserrat"/>
              </a:rPr>
              <a:t>together</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questions, held loosely. The ranking of products is ours to lose; the starting point is yours to shape.</a:t>
            </a:r>
          </a:p>
        </p:txBody>
      </p:sp>
      <p:sp>
        <p:nvSpPr>
          <p:cNvPr id="8" name="Rounded Rectangle 7"/>
          <p:cNvSpPr/>
          <p:nvPr/>
        </p:nvSpPr>
        <p:spPr>
          <a:xfrm>
            <a:off x="566928" y="2103120"/>
            <a:ext cx="5468112" cy="1737360"/>
          </a:xfrm>
          <a:prstGeom prst="roundRect">
            <a:avLst>
              <a:gd name="adj" fmla="val 8000"/>
            </a:avLst>
          </a:prstGeom>
          <a:solidFill>
            <a:srgbClr val="F7F7FA"/>
          </a:solidFill>
          <a:ln>
            <a:noFill/>
          </a:ln>
          <a:effectLst/>
        </p:spPr>
        <p:txBody>
          <a:bodyPr rtlCol="0" anchor="ctr"/>
          <a:lstStyle/>
          <a:p>
            <a:pPr algn="ctr"/>
          </a:p>
        </p:txBody>
      </p:sp>
      <p:sp>
        <p:nvSpPr>
          <p:cNvPr id="9" name="Oval 8"/>
          <p:cNvSpPr/>
          <p:nvPr/>
        </p:nvSpPr>
        <p:spPr>
          <a:xfrm>
            <a:off x="749808" y="2286000"/>
            <a:ext cx="420624" cy="420624"/>
          </a:xfrm>
          <a:prstGeom prst="ellipse">
            <a:avLst/>
          </a:prstGeom>
          <a:solidFill>
            <a:srgbClr val="EFEDFF"/>
          </a:solidFill>
          <a:ln>
            <a:noFill/>
          </a:ln>
          <a:effectLst/>
        </p:spPr>
        <p:txBody>
          <a:bodyPr rtlCol="0" anchor="ctr"/>
          <a:lstStyle/>
          <a:p>
            <a:pPr algn="ctr"/>
          </a:p>
        </p:txBody>
      </p:sp>
      <p:pic>
        <p:nvPicPr>
          <p:cNvPr id="10" name="Picture 9" descr="message-square_4A35FF_256_2.0.png"/>
          <p:cNvPicPr>
            <a:picLocks noChangeAspect="1"/>
          </p:cNvPicPr>
          <p:nvPr/>
        </p:nvPicPr>
        <p:blipFill>
          <a:blip r:embed="rId2"/>
          <a:stretch>
            <a:fillRect/>
          </a:stretch>
        </p:blipFill>
        <p:spPr>
          <a:xfrm>
            <a:off x="850757" y="2386949"/>
            <a:ext cx="218724" cy="218724"/>
          </a:xfrm>
          <a:prstGeom prst="rect">
            <a:avLst/>
          </a:prstGeom>
        </p:spPr>
      </p:pic>
      <p:sp>
        <p:nvSpPr>
          <p:cNvPr id="11" name="TextBox 10"/>
          <p:cNvSpPr txBox="1"/>
          <p:nvPr/>
        </p:nvSpPr>
        <p:spPr>
          <a:xfrm>
            <a:off x="1316736" y="2340864"/>
            <a:ext cx="4553712" cy="292608"/>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Correct our read of RMI</a:t>
            </a:r>
          </a:p>
        </p:txBody>
      </p:sp>
      <p:sp>
        <p:nvSpPr>
          <p:cNvPr id="12" name="TextBox 11"/>
          <p:cNvSpPr txBox="1"/>
          <p:nvPr/>
        </p:nvSpPr>
        <p:spPr>
          <a:xfrm>
            <a:off x="749808" y="2761488"/>
            <a:ext cx="5102352" cy="9601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Where is our understanding of the data wrong or incomplete? What exists that we have not seen: risk layers, hotspot analytics, the speed-limit layer?</a:t>
            </a:r>
          </a:p>
        </p:txBody>
      </p:sp>
      <p:sp>
        <p:nvSpPr>
          <p:cNvPr id="13" name="Rounded Rectangle 12"/>
          <p:cNvSpPr/>
          <p:nvPr/>
        </p:nvSpPr>
        <p:spPr>
          <a:xfrm>
            <a:off x="6153912" y="2103120"/>
            <a:ext cx="5468112" cy="1737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6336792" y="2286000"/>
            <a:ext cx="420624" cy="420624"/>
          </a:xfrm>
          <a:prstGeom prst="ellipse">
            <a:avLst/>
          </a:prstGeom>
          <a:solidFill>
            <a:srgbClr val="EFEDFF"/>
          </a:solidFill>
          <a:ln>
            <a:noFill/>
          </a:ln>
          <a:effectLst/>
        </p:spPr>
        <p:txBody>
          <a:bodyPr rtlCol="0" anchor="ctr"/>
          <a:lstStyle/>
          <a:p>
            <a:pPr algn="ctr"/>
          </a:p>
        </p:txBody>
      </p:sp>
      <p:pic>
        <p:nvPicPr>
          <p:cNvPr id="15" name="Picture 14" descr="target_4A35FF_256_2.0.png"/>
          <p:cNvPicPr>
            <a:picLocks noChangeAspect="1"/>
          </p:cNvPicPr>
          <p:nvPr/>
        </p:nvPicPr>
        <p:blipFill>
          <a:blip r:embed="rId3"/>
          <a:stretch>
            <a:fillRect/>
          </a:stretch>
        </p:blipFill>
        <p:spPr>
          <a:xfrm>
            <a:off x="6437741" y="2386949"/>
            <a:ext cx="218724" cy="218724"/>
          </a:xfrm>
          <a:prstGeom prst="rect">
            <a:avLst/>
          </a:prstGeom>
        </p:spPr>
      </p:pic>
      <p:sp>
        <p:nvSpPr>
          <p:cNvPr id="16" name="TextBox 15"/>
          <p:cNvSpPr txBox="1"/>
          <p:nvPr/>
        </p:nvSpPr>
        <p:spPr>
          <a:xfrm>
            <a:off x="6903720" y="2340864"/>
            <a:ext cx="4553712" cy="292608"/>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Choose the starting product</a:t>
            </a:r>
          </a:p>
        </p:txBody>
      </p:sp>
      <p:sp>
        <p:nvSpPr>
          <p:cNvPr id="17" name="TextBox 16"/>
          <p:cNvSpPr txBox="1"/>
          <p:nvPr/>
        </p:nvSpPr>
        <p:spPr>
          <a:xfrm>
            <a:off x="6336792" y="2761488"/>
            <a:ext cx="5102352" cy="9601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Which direction is most interesting from your side, for India and for RMI's own story: the Defect Repository, the School Safety Index, or something we have not thought of?</a:t>
            </a:r>
          </a:p>
        </p:txBody>
      </p:sp>
      <p:sp>
        <p:nvSpPr>
          <p:cNvPr id="18" name="Rounded Rectangle 17"/>
          <p:cNvSpPr/>
          <p:nvPr/>
        </p:nvSpPr>
        <p:spPr>
          <a:xfrm>
            <a:off x="566928" y="3986784"/>
            <a:ext cx="5468112" cy="1737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9" name="Oval 18"/>
          <p:cNvSpPr/>
          <p:nvPr/>
        </p:nvSpPr>
        <p:spPr>
          <a:xfrm>
            <a:off x="749808" y="4169664"/>
            <a:ext cx="420624" cy="420624"/>
          </a:xfrm>
          <a:prstGeom prst="ellipse">
            <a:avLst/>
          </a:prstGeom>
          <a:solidFill>
            <a:srgbClr val="EFEDFF"/>
          </a:solidFill>
          <a:ln>
            <a:noFill/>
          </a:ln>
          <a:effectLst/>
        </p:spPr>
        <p:txBody>
          <a:bodyPr rtlCol="0" anchor="ctr"/>
          <a:lstStyle/>
          <a:p>
            <a:pPr algn="ctr"/>
          </a:p>
        </p:txBody>
      </p:sp>
      <p:pic>
        <p:nvPicPr>
          <p:cNvPr id="20" name="Picture 19" descr="handshake_4A35FF_256_2.0.png"/>
          <p:cNvPicPr>
            <a:picLocks noChangeAspect="1"/>
          </p:cNvPicPr>
          <p:nvPr/>
        </p:nvPicPr>
        <p:blipFill>
          <a:blip r:embed="rId4"/>
          <a:stretch>
            <a:fillRect/>
          </a:stretch>
        </p:blipFill>
        <p:spPr>
          <a:xfrm>
            <a:off x="850757" y="4270613"/>
            <a:ext cx="218724" cy="218724"/>
          </a:xfrm>
          <a:prstGeom prst="rect">
            <a:avLst/>
          </a:prstGeom>
        </p:spPr>
      </p:pic>
      <p:sp>
        <p:nvSpPr>
          <p:cNvPr id="21" name="TextBox 20"/>
          <p:cNvSpPr txBox="1"/>
          <p:nvPr/>
        </p:nvSpPr>
        <p:spPr>
          <a:xfrm>
            <a:off x="1316736" y="4224528"/>
            <a:ext cx="4553712" cy="292608"/>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What makes this valuable for your team</a:t>
            </a:r>
          </a:p>
        </p:txBody>
      </p:sp>
      <p:sp>
        <p:nvSpPr>
          <p:cNvPr id="22" name="TextBox 21"/>
          <p:cNvSpPr txBox="1"/>
          <p:nvPr/>
        </p:nvSpPr>
        <p:spPr>
          <a:xfrm>
            <a:off x="749808" y="4645152"/>
            <a:ext cx="5102352" cy="9601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Ground-truth data, a documented public-impact deployment, a partner already inside district machinery: tell us which of these matters most to you.</a:t>
            </a:r>
          </a:p>
        </p:txBody>
      </p:sp>
      <p:sp>
        <p:nvSpPr>
          <p:cNvPr id="23" name="Rounded Rectangle 22"/>
          <p:cNvSpPr/>
          <p:nvPr/>
        </p:nvSpPr>
        <p:spPr>
          <a:xfrm>
            <a:off x="6153912" y="3986784"/>
            <a:ext cx="5468112" cy="1737360"/>
          </a:xfrm>
          <a:prstGeom prst="roundRect">
            <a:avLst>
              <a:gd name="adj" fmla="val 8000"/>
            </a:avLst>
          </a:prstGeom>
          <a:solidFill>
            <a:srgbClr val="F7F7FA"/>
          </a:solidFill>
          <a:ln>
            <a:noFill/>
          </a:ln>
          <a:effectLst/>
        </p:spPr>
        <p:txBody>
          <a:bodyPr rtlCol="0" anchor="ctr"/>
          <a:lstStyle/>
          <a:p>
            <a:pPr algn="ctr"/>
          </a:p>
        </p:txBody>
      </p:sp>
      <p:sp>
        <p:nvSpPr>
          <p:cNvPr id="24" name="Oval 23"/>
          <p:cNvSpPr/>
          <p:nvPr/>
        </p:nvSpPr>
        <p:spPr>
          <a:xfrm>
            <a:off x="6336792" y="4169664"/>
            <a:ext cx="420624" cy="420624"/>
          </a:xfrm>
          <a:prstGeom prst="ellipse">
            <a:avLst/>
          </a:prstGeom>
          <a:solidFill>
            <a:srgbClr val="EFEDFF"/>
          </a:solidFill>
          <a:ln>
            <a:noFill/>
          </a:ln>
          <a:effectLst/>
        </p:spPr>
        <p:txBody>
          <a:bodyPr rtlCol="0" anchor="ctr"/>
          <a:lstStyle/>
          <a:p>
            <a:pPr algn="ctr"/>
          </a:p>
        </p:txBody>
      </p:sp>
      <p:pic>
        <p:nvPicPr>
          <p:cNvPr id="25" name="Picture 24" descr="rocket_4A35FF_256_2.0.png"/>
          <p:cNvPicPr>
            <a:picLocks noChangeAspect="1"/>
          </p:cNvPicPr>
          <p:nvPr/>
        </p:nvPicPr>
        <p:blipFill>
          <a:blip r:embed="rId5"/>
          <a:stretch>
            <a:fillRect/>
          </a:stretch>
        </p:blipFill>
        <p:spPr>
          <a:xfrm>
            <a:off x="6437741" y="4270613"/>
            <a:ext cx="218724" cy="218724"/>
          </a:xfrm>
          <a:prstGeom prst="rect">
            <a:avLst/>
          </a:prstGeom>
        </p:spPr>
      </p:pic>
      <p:sp>
        <p:nvSpPr>
          <p:cNvPr id="26" name="TextBox 25"/>
          <p:cNvSpPr txBox="1"/>
          <p:nvPr/>
        </p:nvSpPr>
        <p:spPr>
          <a:xfrm>
            <a:off x="6903720" y="4224528"/>
            <a:ext cx="4553712" cy="292608"/>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The practical next step</a:t>
            </a:r>
          </a:p>
        </p:txBody>
      </p:sp>
      <p:sp>
        <p:nvSpPr>
          <p:cNvPr id="27" name="TextBox 26"/>
          <p:cNvSpPr txBox="1"/>
          <p:nvPr/>
        </p:nvSpPr>
        <p:spPr>
          <a:xfrm>
            <a:off x="6336792" y="4645152"/>
            <a:ext cx="5102352" cy="9601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A technical working session with the Lepton and Maps teams, looking at real data together. Our cloud project and corridor definitions are ready whenever useful.</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Pre-read for Google Maps Platform, Roads Management Insights</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2011680"/>
            <a:ext cx="11064240" cy="777240"/>
          </a:xfrm>
          <a:prstGeom prst="rect">
            <a:avLst/>
          </a:prstGeom>
          <a:noFill/>
        </p:spPr>
        <p:txBody>
          <a:bodyPr wrap="square" lIns="0" rIns="0" tIns="0" bIns="0" anchor="t">
            <a:spAutoFit/>
          </a:bodyPr>
          <a:lstStyle/>
          <a:p>
            <a:pPr algn="l">
              <a:lnSpc>
                <a:spcPct val="115000"/>
              </a:lnSpc>
            </a:pPr>
            <a:r>
              <a:rPr sz="3200" b="1" i="0">
                <a:solidFill>
                  <a:srgbClr val="FFFFFF"/>
                </a:solidFill>
                <a:latin typeface="Montserrat"/>
              </a:rPr>
              <a:t>Your maps see every road in India.</a:t>
            </a:r>
          </a:p>
        </p:txBody>
      </p:sp>
      <p:sp>
        <p:nvSpPr>
          <p:cNvPr id="5" name="TextBox 4"/>
          <p:cNvSpPr txBox="1"/>
          <p:nvPr/>
        </p:nvSpPr>
        <p:spPr>
          <a:xfrm>
            <a:off x="566928" y="2788920"/>
            <a:ext cx="11064240" cy="777240"/>
          </a:xfrm>
          <a:prstGeom prst="rect">
            <a:avLst/>
          </a:prstGeom>
          <a:noFill/>
        </p:spPr>
        <p:txBody>
          <a:bodyPr wrap="square" lIns="0" rIns="0" tIns="0" bIns="0" anchor="t">
            <a:spAutoFit/>
          </a:bodyPr>
          <a:lstStyle/>
          <a:p>
            <a:pPr algn="l">
              <a:lnSpc>
                <a:spcPct val="120000"/>
              </a:lnSpc>
            </a:pPr>
            <a:r>
              <a:rPr sz="2200" b="1" i="0">
                <a:solidFill>
                  <a:srgbClr val="C8C0FF"/>
                </a:solidFill>
                <a:latin typeface="Montserrat"/>
              </a:rPr>
              <a:t>We would like to put them to work</a:t>
            </a:r>
          </a:p>
          <a:p>
            <a:pPr algn="l">
              <a:lnSpc>
                <a:spcPct val="120000"/>
              </a:lnSpc>
            </a:pPr>
            <a:r>
              <a:rPr sz="2200" b="1" i="0">
                <a:solidFill>
                  <a:srgbClr val="C8C0FF"/>
                </a:solidFill>
                <a:latin typeface="Montserrat"/>
              </a:rPr>
              <a:t>for the people on those roads.</a:t>
            </a:r>
          </a:p>
        </p:txBody>
      </p:sp>
      <p:sp>
        <p:nvSpPr>
          <p:cNvPr id="6" name="TextBox 5"/>
          <p:cNvSpPr txBox="1"/>
          <p:nvPr/>
        </p:nvSpPr>
        <p:spPr>
          <a:xfrm>
            <a:off x="566928" y="4160520"/>
            <a:ext cx="9601200" cy="457200"/>
          </a:xfrm>
          <a:prstGeom prst="rect">
            <a:avLst/>
          </a:prstGeom>
          <a:noFill/>
        </p:spPr>
        <p:txBody>
          <a:bodyPr wrap="square" lIns="0" rIns="0" tIns="0" bIns="0" anchor="t">
            <a:spAutoFit/>
          </a:bodyPr>
          <a:lstStyle/>
          <a:p>
            <a:pPr algn="l">
              <a:lnSpc>
                <a:spcPct val="130000"/>
              </a:lnSpc>
            </a:pPr>
            <a:r>
              <a:rPr sz="1200" b="0" i="0">
                <a:solidFill>
                  <a:srgbClr val="FFFFFF"/>
                </a:solidFill>
                <a:latin typeface="Geist"/>
              </a:rPr>
              <a:t>We look forward to the conversation.</a:t>
            </a:r>
          </a:p>
        </p:txBody>
      </p:sp>
      <p:cxnSp>
        <p:nvCxnSpPr>
          <p:cNvPr id="7" name="Connector 6"/>
          <p:cNvCxnSpPr/>
          <p:nvPr/>
        </p:nvCxnSpPr>
        <p:spPr>
          <a:xfrm>
            <a:off x="566928" y="4846320"/>
            <a:ext cx="4754880" cy="0"/>
          </a:xfrm>
          <a:prstGeom prst="line">
            <a:avLst/>
          </a:prstGeom>
          <a:ln w="12700">
            <a:solidFill>
              <a:srgbClr val="6A55FF"/>
            </a:solidFill>
          </a:ln>
          <a:effectLst/>
        </p:spPr>
      </p:cxnSp>
      <p:sp>
        <p:nvSpPr>
          <p:cNvPr id="8" name="TextBox 7"/>
          <p:cNvSpPr txBox="1"/>
          <p:nvPr/>
        </p:nvSpPr>
        <p:spPr>
          <a:xfrm>
            <a:off x="566928" y="5120640"/>
            <a:ext cx="3566160" cy="274320"/>
          </a:xfrm>
          <a:prstGeom prst="rect">
            <a:avLst/>
          </a:prstGeom>
          <a:noFill/>
        </p:spPr>
        <p:txBody>
          <a:bodyPr wrap="square" lIns="0" rIns="0" tIns="0" bIns="0" anchor="t">
            <a:spAutoFit/>
          </a:bodyPr>
          <a:lstStyle/>
          <a:p>
            <a:pPr algn="l">
              <a:lnSpc>
                <a:spcPct val="128000"/>
              </a:lnSpc>
            </a:pPr>
            <a:r>
              <a:rPr sz="1200" b="1" i="0">
                <a:solidFill>
                  <a:srgbClr val="FFFFFF"/>
                </a:solidFill>
                <a:latin typeface="Montserrat"/>
              </a:rPr>
              <a:t>Akhtar Hussain</a:t>
            </a:r>
          </a:p>
        </p:txBody>
      </p:sp>
      <p:sp>
        <p:nvSpPr>
          <p:cNvPr id="9" name="TextBox 8"/>
          <p:cNvSpPr txBox="1"/>
          <p:nvPr/>
        </p:nvSpPr>
        <p:spPr>
          <a:xfrm>
            <a:off x="566928" y="5413248"/>
            <a:ext cx="3566160" cy="274320"/>
          </a:xfrm>
          <a:prstGeom prst="rect">
            <a:avLst/>
          </a:prstGeom>
          <a:noFill/>
        </p:spPr>
        <p:txBody>
          <a:bodyPr wrap="square" lIns="0" rIns="0" tIns="0" bIns="0" anchor="t">
            <a:spAutoFit/>
          </a:bodyPr>
          <a:lstStyle/>
          <a:p>
            <a:pPr algn="l">
              <a:lnSpc>
                <a:spcPct val="110000"/>
              </a:lnSpc>
            </a:pPr>
            <a:r>
              <a:rPr sz="950" b="0" i="0">
                <a:solidFill>
                  <a:srgbClr val="C8C0FF"/>
                </a:solidFill>
                <a:latin typeface="Geist"/>
              </a:rPr>
              <a:t>Mission Lead · akhtar@crashfreeindia.org</a:t>
            </a:r>
          </a:p>
        </p:txBody>
      </p:sp>
      <p:sp>
        <p:nvSpPr>
          <p:cNvPr id="10" name="TextBox 9"/>
          <p:cNvSpPr txBox="1"/>
          <p:nvPr/>
        </p:nvSpPr>
        <p:spPr>
          <a:xfrm>
            <a:off x="4279391" y="5120640"/>
            <a:ext cx="3566160" cy="274320"/>
          </a:xfrm>
          <a:prstGeom prst="rect">
            <a:avLst/>
          </a:prstGeom>
          <a:noFill/>
        </p:spPr>
        <p:txBody>
          <a:bodyPr wrap="square" lIns="0" rIns="0" tIns="0" bIns="0" anchor="t">
            <a:spAutoFit/>
          </a:bodyPr>
          <a:lstStyle/>
          <a:p>
            <a:pPr algn="l">
              <a:lnSpc>
                <a:spcPct val="128000"/>
              </a:lnSpc>
            </a:pPr>
            <a:r>
              <a:rPr sz="1200" b="1" i="0">
                <a:solidFill>
                  <a:srgbClr val="FFFFFF"/>
                </a:solidFill>
                <a:latin typeface="Montserrat"/>
              </a:rPr>
              <a:t>Deepanshu Gupta</a:t>
            </a:r>
          </a:p>
        </p:txBody>
      </p:sp>
      <p:sp>
        <p:nvSpPr>
          <p:cNvPr id="11" name="TextBox 10"/>
          <p:cNvSpPr txBox="1"/>
          <p:nvPr/>
        </p:nvSpPr>
        <p:spPr>
          <a:xfrm>
            <a:off x="4279391" y="5413248"/>
            <a:ext cx="3566160" cy="274320"/>
          </a:xfrm>
          <a:prstGeom prst="rect">
            <a:avLst/>
          </a:prstGeom>
          <a:noFill/>
        </p:spPr>
        <p:txBody>
          <a:bodyPr wrap="square" lIns="0" rIns="0" tIns="0" bIns="0" anchor="t">
            <a:spAutoFit/>
          </a:bodyPr>
          <a:lstStyle/>
          <a:p>
            <a:pPr algn="l">
              <a:lnSpc>
                <a:spcPct val="110000"/>
              </a:lnSpc>
            </a:pPr>
            <a:r>
              <a:rPr sz="950" b="0" i="0">
                <a:solidFill>
                  <a:srgbClr val="C8C0FF"/>
                </a:solidFill>
                <a:latin typeface="Geist"/>
              </a:rPr>
              <a:t>Trustee · deepanshu@crashfreeindia.org</a:t>
            </a:r>
          </a:p>
        </p:txBody>
      </p:sp>
      <p:sp>
        <p:nvSpPr>
          <p:cNvPr id="12" name="TextBox 11"/>
          <p:cNvSpPr txBox="1"/>
          <p:nvPr/>
        </p:nvSpPr>
        <p:spPr>
          <a:xfrm>
            <a:off x="7991854" y="5120640"/>
            <a:ext cx="3566160" cy="274320"/>
          </a:xfrm>
          <a:prstGeom prst="rect">
            <a:avLst/>
          </a:prstGeom>
          <a:noFill/>
        </p:spPr>
        <p:txBody>
          <a:bodyPr wrap="square" lIns="0" rIns="0" tIns="0" bIns="0" anchor="t">
            <a:spAutoFit/>
          </a:bodyPr>
          <a:lstStyle/>
          <a:p>
            <a:pPr algn="l">
              <a:lnSpc>
                <a:spcPct val="128000"/>
              </a:lnSpc>
            </a:pPr>
            <a:r>
              <a:rPr sz="1200" b="1" i="0">
                <a:solidFill>
                  <a:srgbClr val="FFFFFF"/>
                </a:solidFill>
                <a:latin typeface="Montserrat"/>
              </a:rPr>
              <a:t>Gajendra Jangid</a:t>
            </a:r>
          </a:p>
        </p:txBody>
      </p:sp>
      <p:sp>
        <p:nvSpPr>
          <p:cNvPr id="13" name="TextBox 12"/>
          <p:cNvSpPr txBox="1"/>
          <p:nvPr/>
        </p:nvSpPr>
        <p:spPr>
          <a:xfrm>
            <a:off x="7991854" y="5413248"/>
            <a:ext cx="3566160" cy="274320"/>
          </a:xfrm>
          <a:prstGeom prst="rect">
            <a:avLst/>
          </a:prstGeom>
          <a:noFill/>
        </p:spPr>
        <p:txBody>
          <a:bodyPr wrap="square" lIns="0" rIns="0" tIns="0" bIns="0" anchor="t">
            <a:spAutoFit/>
          </a:bodyPr>
          <a:lstStyle/>
          <a:p>
            <a:pPr algn="l">
              <a:lnSpc>
                <a:spcPct val="110000"/>
              </a:lnSpc>
            </a:pPr>
            <a:r>
              <a:rPr sz="950" b="0" i="0">
                <a:solidFill>
                  <a:srgbClr val="C8C0FF"/>
                </a:solidFill>
                <a:latin typeface="Geist"/>
              </a:rPr>
              <a:t>Trustee · gajendra@crashfreeindia.org</a:t>
            </a:r>
          </a:p>
        </p:txBody>
      </p:sp>
      <p:sp>
        <p:nvSpPr>
          <p:cNvPr id="14" name="TextBox 13"/>
          <p:cNvSpPr txBox="1"/>
          <p:nvPr/>
        </p:nvSpPr>
        <p:spPr>
          <a:xfrm>
            <a:off x="566928" y="640080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 · crashfreeindia.org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